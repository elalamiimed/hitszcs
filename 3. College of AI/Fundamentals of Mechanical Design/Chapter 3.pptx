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emf" ContentType="image/x-emf"/>
  <Default Extension="wmf" ContentType="image/x-wmf"/>
  <Default Extension="gif" ContentType="image/gif"/>
  <Default Extension="wmv" ContentType="video/x-ms-wmv"/>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media10.webm" ContentType="video/webm"/>
  <Override PartName="/ppt/media/media12.webm" ContentType="video/webm"/>
  <Override PartName="/ppt/media/media13.webm" ContentType="video/webm"/>
  <Override PartName="/ppt/media/media14.webm" ContentType="video/webm"/>
  <Override PartName="/ppt/media/media15.webm" ContentType="video/webm"/>
  <Override PartName="/ppt/media/media5.webm" ContentType="video/webm"/>
  <Override PartName="/ppt/media/media6.webm" ContentType="video/webm"/>
  <Override PartName="/ppt/media/media7.webm" ContentType="video/webm"/>
  <Override PartName="/ppt/media/media8.webm" ContentType="video/webm"/>
  <Override PartName="/ppt/media/media9.webm" ContentType="video/webm"/>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7" r:id="rId3"/>
    <p:sldMasterId id="2147483679" r:id="rId4"/>
  </p:sldMasterIdLst>
  <p:notesMasterIdLst>
    <p:notesMasterId r:id="rId6"/>
  </p:notesMasterIdLst>
  <p:handoutMasterIdLst>
    <p:handoutMasterId r:id="rId67"/>
  </p:handoutMasterIdLst>
  <p:sldIdLst>
    <p:sldId id="292" r:id="rId5"/>
    <p:sldId id="729" r:id="rId7"/>
    <p:sldId id="787" r:id="rId8"/>
    <p:sldId id="730" r:id="rId9"/>
    <p:sldId id="758" r:id="rId10"/>
    <p:sldId id="674" r:id="rId11"/>
    <p:sldId id="759" r:id="rId12"/>
    <p:sldId id="760" r:id="rId13"/>
    <p:sldId id="761" r:id="rId14"/>
    <p:sldId id="762" r:id="rId15"/>
    <p:sldId id="734" r:id="rId16"/>
    <p:sldId id="337" r:id="rId17"/>
    <p:sldId id="338" r:id="rId18"/>
    <p:sldId id="339" r:id="rId19"/>
    <p:sldId id="788" r:id="rId20"/>
    <p:sldId id="789" r:id="rId21"/>
    <p:sldId id="685" r:id="rId22"/>
    <p:sldId id="344" r:id="rId23"/>
    <p:sldId id="456" r:id="rId24"/>
    <p:sldId id="353" r:id="rId25"/>
    <p:sldId id="436" r:id="rId26"/>
    <p:sldId id="354" r:id="rId27"/>
    <p:sldId id="355" r:id="rId28"/>
    <p:sldId id="356" r:id="rId29"/>
    <p:sldId id="686" r:id="rId30"/>
    <p:sldId id="735" r:id="rId31"/>
    <p:sldId id="736" r:id="rId32"/>
    <p:sldId id="741" r:id="rId33"/>
    <p:sldId id="737" r:id="rId34"/>
    <p:sldId id="738" r:id="rId35"/>
    <p:sldId id="733" r:id="rId36"/>
    <p:sldId id="763" r:id="rId37"/>
    <p:sldId id="753" r:id="rId38"/>
    <p:sldId id="765" r:id="rId39"/>
    <p:sldId id="770" r:id="rId40"/>
    <p:sldId id="771" r:id="rId41"/>
    <p:sldId id="422" r:id="rId42"/>
    <p:sldId id="455" r:id="rId43"/>
    <p:sldId id="775" r:id="rId44"/>
    <p:sldId id="776" r:id="rId45"/>
    <p:sldId id="777" r:id="rId46"/>
    <p:sldId id="784" r:id="rId47"/>
    <p:sldId id="785" r:id="rId48"/>
    <p:sldId id="786" r:id="rId49"/>
    <p:sldId id="743" r:id="rId50"/>
    <p:sldId id="744" r:id="rId51"/>
    <p:sldId id="749" r:id="rId52"/>
    <p:sldId id="752" r:id="rId53"/>
    <p:sldId id="750" r:id="rId54"/>
    <p:sldId id="769" r:id="rId55"/>
    <p:sldId id="780" r:id="rId56"/>
    <p:sldId id="781" r:id="rId57"/>
    <p:sldId id="782" r:id="rId58"/>
    <p:sldId id="739" r:id="rId59"/>
    <p:sldId id="690" r:id="rId60"/>
    <p:sldId id="691" r:id="rId61"/>
    <p:sldId id="692" r:id="rId62"/>
    <p:sldId id="693" r:id="rId63"/>
    <p:sldId id="698" r:id="rId64"/>
    <p:sldId id="694" r:id="rId65"/>
    <p:sldId id="725" r:id="rId66"/>
  </p:sldIdLst>
  <p:sldSz cx="12192000" cy="6858000"/>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1E84"/>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5078" autoAdjust="0"/>
  </p:normalViewPr>
  <p:slideViewPr>
    <p:cSldViewPr snapToGrid="0">
      <p:cViewPr varScale="1">
        <p:scale>
          <a:sx n="79" d="100"/>
          <a:sy n="79" d="100"/>
        </p:scale>
        <p:origin x="845" y="4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0" Type="http://schemas.openxmlformats.org/officeDocument/2006/relationships/tableStyles" Target="tableStyles.xml"/><Relationship Id="rId7" Type="http://schemas.openxmlformats.org/officeDocument/2006/relationships/slide" Target="slides/slide2.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83.emf"/><Relationship Id="rId8" Type="http://schemas.openxmlformats.org/officeDocument/2006/relationships/image" Target="../media/image82.emf"/><Relationship Id="rId7" Type="http://schemas.openxmlformats.org/officeDocument/2006/relationships/image" Target="../media/image81.emf"/><Relationship Id="rId6" Type="http://schemas.openxmlformats.org/officeDocument/2006/relationships/image" Target="../media/image80.emf"/><Relationship Id="rId5" Type="http://schemas.openxmlformats.org/officeDocument/2006/relationships/image" Target="../media/image79.emf"/><Relationship Id="rId4" Type="http://schemas.openxmlformats.org/officeDocument/2006/relationships/image" Target="../media/image78.emf"/><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image" Target="../media/image75.png"/></Relationships>
</file>

<file path=ppt/drawings/_rels/vmlDrawing5.vml.rels><?xml version="1.0" encoding="UTF-8" standalone="yes"?>
<Relationships xmlns="http://schemas.openxmlformats.org/package/2006/relationships"><Relationship Id="rId9" Type="http://schemas.openxmlformats.org/officeDocument/2006/relationships/image" Target="../media/image93.emf"/><Relationship Id="rId8" Type="http://schemas.openxmlformats.org/officeDocument/2006/relationships/image" Target="../media/image92.emf"/><Relationship Id="rId7" Type="http://schemas.openxmlformats.org/officeDocument/2006/relationships/image" Target="../media/image91.emf"/><Relationship Id="rId6" Type="http://schemas.openxmlformats.org/officeDocument/2006/relationships/image" Target="../media/image90.emf"/><Relationship Id="rId5" Type="http://schemas.openxmlformats.org/officeDocument/2006/relationships/image" Target="../media/image89.emf"/><Relationship Id="rId4" Type="http://schemas.openxmlformats.org/officeDocument/2006/relationships/image" Target="../media/image88.emf"/><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image" Target="../media/image85.png"/></Relationships>
</file>

<file path=ppt/drawings/_rels/vmlDrawing6.vml.rels><?xml version="1.0" encoding="UTF-8" standalone="yes"?>
<Relationships xmlns="http://schemas.openxmlformats.org/package/2006/relationships"><Relationship Id="rId9" Type="http://schemas.openxmlformats.org/officeDocument/2006/relationships/image" Target="../media/image103.emf"/><Relationship Id="rId8" Type="http://schemas.openxmlformats.org/officeDocument/2006/relationships/image" Target="../media/image102.emf"/><Relationship Id="rId7" Type="http://schemas.openxmlformats.org/officeDocument/2006/relationships/image" Target="../media/image101.emf"/><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image" Target="../media/image95.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11.wmf"/><Relationship Id="rId1" Type="http://schemas.openxmlformats.org/officeDocument/2006/relationships/image" Target="../media/image10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11.wmf"/><Relationship Id="rId1" Type="http://schemas.openxmlformats.org/officeDocument/2006/relationships/image" Target="../media/image10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11.wmf"/><Relationship Id="rId1" Type="http://schemas.openxmlformats.org/officeDocument/2006/relationships/image" Target="../media/image105.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126.wmf"/><Relationship Id="rId3" Type="http://schemas.openxmlformats.org/officeDocument/2006/relationships/image" Target="../media/image107.wmf"/><Relationship Id="rId2" Type="http://schemas.openxmlformats.org/officeDocument/2006/relationships/image" Target="../media/image111.wmf"/><Relationship Id="rId1" Type="http://schemas.openxmlformats.org/officeDocument/2006/relationships/image" Target="../media/image105.w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160.wmf"/><Relationship Id="rId5" Type="http://schemas.openxmlformats.org/officeDocument/2006/relationships/image" Target="../media/image159.wmf"/><Relationship Id="rId4" Type="http://schemas.openxmlformats.org/officeDocument/2006/relationships/image" Target="../media/image145.emf"/><Relationship Id="rId3" Type="http://schemas.openxmlformats.org/officeDocument/2006/relationships/image" Target="../media/image144.emf"/><Relationship Id="rId2" Type="http://schemas.openxmlformats.org/officeDocument/2006/relationships/image" Target="../media/image143.wmf"/><Relationship Id="rId1" Type="http://schemas.openxmlformats.org/officeDocument/2006/relationships/image" Target="../media/image142.e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73.emf"/><Relationship Id="rId8" Type="http://schemas.openxmlformats.org/officeDocument/2006/relationships/image" Target="../media/image172.wmf"/><Relationship Id="rId7" Type="http://schemas.openxmlformats.org/officeDocument/2006/relationships/image" Target="../media/image171.emf"/><Relationship Id="rId6" Type="http://schemas.openxmlformats.org/officeDocument/2006/relationships/image" Target="../media/image170.emf"/><Relationship Id="rId5" Type="http://schemas.openxmlformats.org/officeDocument/2006/relationships/image" Target="../media/image169.emf"/><Relationship Id="rId4" Type="http://schemas.openxmlformats.org/officeDocument/2006/relationships/image" Target="../media/image168.emf"/><Relationship Id="rId3" Type="http://schemas.openxmlformats.org/officeDocument/2006/relationships/image" Target="../media/image167.emf"/><Relationship Id="rId2" Type="http://schemas.openxmlformats.org/officeDocument/2006/relationships/image" Target="../media/image166.wmf"/><Relationship Id="rId15" Type="http://schemas.openxmlformats.org/officeDocument/2006/relationships/image" Target="../media/image188.emf"/><Relationship Id="rId14" Type="http://schemas.openxmlformats.org/officeDocument/2006/relationships/image" Target="../media/image187.emf"/><Relationship Id="rId13" Type="http://schemas.openxmlformats.org/officeDocument/2006/relationships/image" Target="../media/image186.wmf"/><Relationship Id="rId12" Type="http://schemas.openxmlformats.org/officeDocument/2006/relationships/image" Target="../media/image185.wmf"/><Relationship Id="rId11" Type="http://schemas.openxmlformats.org/officeDocument/2006/relationships/image" Target="../media/image175.emf"/><Relationship Id="rId10" Type="http://schemas.openxmlformats.org/officeDocument/2006/relationships/image" Target="../media/image174.emf"/><Relationship Id="rId1" Type="http://schemas.openxmlformats.org/officeDocument/2006/relationships/image" Target="../media/image165.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73.emf"/><Relationship Id="rId8" Type="http://schemas.openxmlformats.org/officeDocument/2006/relationships/image" Target="../media/image172.wmf"/><Relationship Id="rId7" Type="http://schemas.openxmlformats.org/officeDocument/2006/relationships/image" Target="../media/image171.emf"/><Relationship Id="rId6" Type="http://schemas.openxmlformats.org/officeDocument/2006/relationships/image" Target="../media/image170.emf"/><Relationship Id="rId5" Type="http://schemas.openxmlformats.org/officeDocument/2006/relationships/image" Target="../media/image169.emf"/><Relationship Id="rId4" Type="http://schemas.openxmlformats.org/officeDocument/2006/relationships/image" Target="../media/image168.emf"/><Relationship Id="rId3" Type="http://schemas.openxmlformats.org/officeDocument/2006/relationships/image" Target="../media/image167.emf"/><Relationship Id="rId2" Type="http://schemas.openxmlformats.org/officeDocument/2006/relationships/image" Target="../media/image166.wmf"/><Relationship Id="rId15" Type="http://schemas.openxmlformats.org/officeDocument/2006/relationships/image" Target="../media/image188.emf"/><Relationship Id="rId14" Type="http://schemas.openxmlformats.org/officeDocument/2006/relationships/image" Target="../media/image187.emf"/><Relationship Id="rId13" Type="http://schemas.openxmlformats.org/officeDocument/2006/relationships/image" Target="../media/image186.wmf"/><Relationship Id="rId12" Type="http://schemas.openxmlformats.org/officeDocument/2006/relationships/image" Target="../media/image185.wmf"/><Relationship Id="rId11" Type="http://schemas.openxmlformats.org/officeDocument/2006/relationships/image" Target="../media/image175.emf"/><Relationship Id="rId10" Type="http://schemas.openxmlformats.org/officeDocument/2006/relationships/image" Target="../media/image174.emf"/><Relationship Id="rId1" Type="http://schemas.openxmlformats.org/officeDocument/2006/relationships/image" Target="../media/image165.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69.emf"/><Relationship Id="rId7" Type="http://schemas.openxmlformats.org/officeDocument/2006/relationships/image" Target="../media/image170.emf"/><Relationship Id="rId6" Type="http://schemas.openxmlformats.org/officeDocument/2006/relationships/image" Target="../media/image198.emf"/><Relationship Id="rId5" Type="http://schemas.openxmlformats.org/officeDocument/2006/relationships/image" Target="../media/image197.e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96.emf"/><Relationship Id="rId1" Type="http://schemas.openxmlformats.org/officeDocument/2006/relationships/image" Target="../media/image195.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46.emf"/><Relationship Id="rId1" Type="http://schemas.openxmlformats.org/officeDocument/2006/relationships/image" Target="../media/image24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55.wmf"/><Relationship Id="rId2" Type="http://schemas.openxmlformats.org/officeDocument/2006/relationships/image" Target="../media/image252.wmf"/><Relationship Id="rId1" Type="http://schemas.openxmlformats.org/officeDocument/2006/relationships/image" Target="../media/image251.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268.wmf"/><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272.wmf"/><Relationship Id="rId2" Type="http://schemas.openxmlformats.org/officeDocument/2006/relationships/image" Target="../media/image266.wmf"/><Relationship Id="rId1" Type="http://schemas.openxmlformats.org/officeDocument/2006/relationships/image" Target="../media/image27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381248" cy="505814"/>
          </a:xfrm>
          <a:prstGeom prst="rect">
            <a:avLst/>
          </a:prstGeom>
        </p:spPr>
        <p:txBody>
          <a:bodyPr vert="horz" lIns="91440" tIns="45720" rIns="91440" bIns="45720" rtlCol="0"/>
          <a:lstStyle>
            <a:lvl1pPr algn="l">
              <a:defRPr sz="1325"/>
            </a:lvl1pPr>
          </a:lstStyle>
          <a:p>
            <a:endParaRPr lang="zh-CN" altLang="en-US"/>
          </a:p>
        </p:txBody>
      </p:sp>
      <p:sp>
        <p:nvSpPr>
          <p:cNvPr id="3" name="日期占位符 2"/>
          <p:cNvSpPr>
            <a:spLocks noGrp="1"/>
          </p:cNvSpPr>
          <p:nvPr>
            <p:ph type="dt" sz="quarter" idx="1"/>
          </p:nvPr>
        </p:nvSpPr>
        <p:spPr>
          <a:xfrm>
            <a:off x="4419826" y="0"/>
            <a:ext cx="3381248" cy="505814"/>
          </a:xfrm>
          <a:prstGeom prst="rect">
            <a:avLst/>
          </a:prstGeom>
        </p:spPr>
        <p:txBody>
          <a:bodyPr vert="horz" lIns="91440" tIns="45720" rIns="91440" bIns="45720" rtlCol="0"/>
          <a:lstStyle>
            <a:lvl1pPr algn="r">
              <a:defRPr sz="132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575447"/>
            <a:ext cx="3381248" cy="505813"/>
          </a:xfrm>
          <a:prstGeom prst="rect">
            <a:avLst/>
          </a:prstGeom>
        </p:spPr>
        <p:txBody>
          <a:bodyPr vert="horz" lIns="91440" tIns="45720" rIns="91440" bIns="45720" rtlCol="0" anchor="b"/>
          <a:lstStyle>
            <a:lvl1pPr algn="l">
              <a:defRPr sz="1325"/>
            </a:lvl1pPr>
          </a:lstStyle>
          <a:p>
            <a:endParaRPr lang="zh-CN" altLang="en-US"/>
          </a:p>
        </p:txBody>
      </p:sp>
      <p:sp>
        <p:nvSpPr>
          <p:cNvPr id="5" name="灯片编号占位符 4"/>
          <p:cNvSpPr>
            <a:spLocks noGrp="1"/>
          </p:cNvSpPr>
          <p:nvPr>
            <p:ph type="sldNum" sz="quarter" idx="3"/>
          </p:nvPr>
        </p:nvSpPr>
        <p:spPr>
          <a:xfrm>
            <a:off x="4419826" y="9575447"/>
            <a:ext cx="3381248" cy="505813"/>
          </a:xfrm>
          <a:prstGeom prst="rect">
            <a:avLst/>
          </a:prstGeom>
        </p:spPr>
        <p:txBody>
          <a:bodyPr vert="horz" lIns="91440" tIns="45720" rIns="91440" bIns="45720" rtlCol="0" anchor="b"/>
          <a:lstStyle>
            <a:lvl1pPr algn="r">
              <a:defRPr sz="132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zh-CN" altLang="en-US"/>
          </a:p>
        </p:txBody>
      </p:sp>
      <p:sp>
        <p:nvSpPr>
          <p:cNvPr id="3" name="日期占位符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314C23DD-722B-4EA9-95FA-D2637971767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zh-CN" altLang="en-US"/>
          </a:p>
        </p:txBody>
      </p:sp>
      <p:sp>
        <p:nvSpPr>
          <p:cNvPr id="5" name="备注占位符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72AC8ED-967C-4C9D-B57E-4DAB8B6750D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xfrm>
            <a:off x="204788" y="806450"/>
            <a:ext cx="7162800" cy="4029075"/>
          </a:xfrm>
        </p:spPr>
      </p:sp>
      <p:sp>
        <p:nvSpPr>
          <p:cNvPr id="48131" name="备注占位符 2"/>
          <p:cNvSpPr>
            <a:spLocks noGrp="1"/>
          </p:cNvSpPr>
          <p:nvPr>
            <p:ph type="body" idx="1"/>
          </p:nvPr>
        </p:nvSpPr>
        <p:spPr>
          <a:noFill/>
        </p:spPr>
        <p:txBody>
          <a:bodyPr/>
          <a:lstStyle/>
          <a:p>
            <a:endParaRPr lang="zh-CN" altLang="en-US">
              <a:latin typeface="Arial" panose="020B0604020202020204" pitchFamily="34" charset="0"/>
              <a:ea typeface="宋体" panose="02010600030101010101" pitchFamily="2" charset="-122"/>
            </a:endParaRPr>
          </a:p>
        </p:txBody>
      </p:sp>
      <p:sp>
        <p:nvSpPr>
          <p:cNvPr id="48132" name="灯片编号占位符 3"/>
          <p:cNvSpPr>
            <a:spLocks noGrp="1"/>
          </p:cNvSpPr>
          <p:nvPr>
            <p:ph type="sldNum" sz="quarter" idx="5"/>
          </p:nvPr>
        </p:nvSpPr>
        <p:spPr>
          <a:noFill/>
          <a:ln>
            <a:miter lim="800000"/>
          </a:ln>
        </p:spPr>
        <p:txBody>
          <a:bodyPr/>
          <a:lstStyle/>
          <a:p>
            <a:fld id="{1AB003F0-0BE5-488F-8941-E2AFD8F1EE1D}" type="slidenum">
              <a:rPr lang="en-US" altLang="zh-CN" smtClean="0">
                <a:solidFill>
                  <a:srgbClr val="000000"/>
                </a:solidFill>
              </a:rPr>
            </a:fld>
            <a:endParaRPr lang="en-US" altLang="zh-CN">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知道发动机的工作原理是通过燃烧，带动活塞做上下运动，然后通过连杆，变换成主轴的转动，主轴的转动再通过一系类机械传动，带动车轮转动。那我们来看内燃机燃烧有什么特点，是不是反应速度很快，而且是不是充满各种不确定性，那么在这种情况下它是如何做到进气门启闭的精准控制的呢。 这就和我们这节课所学的凸轮机构有关了，书上这个地方没有细讲，只是说可以用在这里，让人感觉只是有个凸起来的形状把进气门顶起来这么简单，其实真正的精髓在这。 两个基本教学目标，</a:t>
            </a:r>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下面我们就用这个案例大家领略一下凸轮机构实现控制的奥妙之处，以及从应用端出发，设计凸轮的一般步骤。 </a:t>
            </a:r>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Let's do a quick review quiz on what we've covered:</a:t>
            </a:r>
            <a:endParaRPr lang="en-US" altLang="zh-CN"/>
          </a:p>
          <a:p>
            <a:r>
              <a:rPr lang="en-US" altLang="zh-CN"/>
              <a:t>**Q1: Advantages of mechanical automation?** [P]</a:t>
            </a:r>
            <a:endParaRPr lang="en-US" altLang="zh-CN"/>
          </a:p>
          <a:p>
            <a:r>
              <a:rPr lang="en-US" altLang="zh-CN"/>
              <a:t>(a) Shared power source — no separate drive/transmission/control hardware; (b) perfect synchronization — no response time; (c) durability, reliability, low cost.</a:t>
            </a:r>
            <a:endParaRPr lang="en-US" altLang="zh-CN"/>
          </a:p>
          <a:p>
            <a:r>
              <a:rPr lang="en-US" altLang="zh-CN"/>
              <a:t>**Q2: The most common control mechanism in mechanical automation? Its composition? Higher or lower pair? What controls motion?** [P]</a:t>
            </a:r>
            <a:endParaRPr lang="en-US" altLang="zh-CN"/>
          </a:p>
          <a:p>
            <a:r>
              <a:rPr lang="en-US" altLang="zh-CN"/>
              <a:t>The cam mechanism. Composed of cam, follower, and frame. It is a higher-pair mechanism. The cam profile controls the motion.</a:t>
            </a:r>
            <a:endParaRPr lang="en-US" altLang="zh-CN"/>
          </a:p>
          <a:p>
            <a:r>
              <a:rPr lang="en-US" altLang="zh-CN"/>
              <a:t>A lower pair is formed by surface contact, while a higher pair is formed by point or line contact between two rigid members. Typical higher pairs include cam-follower pairs and gear meshing pairs.</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**Q3: Classification by follower contact shape, and pros/cons?** [P]</a:t>
            </a:r>
            <a:endParaRPr lang="en-US" altLang="zh-CN"/>
          </a:p>
          <a:p>
            <a:r>
              <a:rPr lang="en-US" altLang="zh-CN"/>
              <a:t>- Knife-edge: simple, any trajectory,</a:t>
            </a:r>
            <a:r>
              <a:rPr lang="zh-CN" altLang="en-US"/>
              <a:t>容易 </a:t>
            </a:r>
            <a:r>
              <a:rPr lang="en-US" altLang="zh-CN"/>
              <a:t>wear.</a:t>
            </a:r>
            <a:endParaRPr lang="en-US" altLang="zh-CN"/>
          </a:p>
          <a:p>
            <a:r>
              <a:rPr lang="en-US" altLang="zh-CN"/>
              <a:t>- Flat-faced: pressure angle = 0, but concave profile → motion distortion.</a:t>
            </a:r>
            <a:endParaRPr lang="en-US" altLang="zh-CN"/>
          </a:p>
          <a:p>
            <a:r>
              <a:rPr lang="en-US" altLang="zh-CN"/>
              <a:t>- Roller: rolling friction, but for convex profiles require ρmin &gt; rr.</a:t>
            </a:r>
            <a:endParaRPr lang="en-US" altLang="zh-CN"/>
          </a:p>
          <a:p>
            <a:endParaRPr lang="en-US" altLang="zh-CN"/>
          </a:p>
          <a:p>
            <a:r>
              <a:rPr lang="en-US" altLang="zh-CN"/>
              <a:t>**Q4: What is kinematic pair locking? Classification?** [P]</a:t>
            </a:r>
            <a:endParaRPr lang="en-US" altLang="zh-CN"/>
          </a:p>
          <a:p>
            <a:r>
              <a:rPr lang="en-US" altLang="zh-CN"/>
              <a:t>Keeping the two paired components in constant contact during motion. Force locking (gravity, spring, magnetic) and form locking (geometry of driving/driven members).</a:t>
            </a:r>
            <a:endParaRPr lang="en-US" altLang="zh-CN"/>
          </a:p>
          <a:p>
            <a:endParaRPr lang="en-US" altLang="zh-CN"/>
          </a:p>
          <a:p>
            <a:r>
              <a:rPr lang="en-US" altLang="zh-CN"/>
              <a:t>**Q5: Motion types of driving/driven links? Advantages of spatial cams?** [P]</a:t>
            </a:r>
            <a:endParaRPr lang="en-US" altLang="zh-CN"/>
          </a:p>
          <a:p>
            <a:r>
              <a:rPr lang="en-US" altLang="zh-CN"/>
              <a:t>Rotary or translational. Spatial cams are compact and can combine with planar cams to produce arbitrary 2D trajectories.</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628737"/>
          <p:cNvSpPr>
            <a:spLocks noGrp="1" noRot="1" noChangeAspect="1" noChangeArrowheads="1" noTextEdit="1"/>
          </p:cNvSpPr>
          <p:nvPr>
            <p:ph type="sldImg" idx="4294967295"/>
          </p:nvPr>
        </p:nvSpPr>
        <p:spPr>
          <a:xfrm>
            <a:off x="204788" y="804863"/>
            <a:ext cx="7164387" cy="4030662"/>
          </a:xfrm>
        </p:spPr>
      </p:sp>
      <p:sp>
        <p:nvSpPr>
          <p:cNvPr id="43011" name="文本占位符 628738"/>
          <p:cNvSpPr>
            <a:spLocks noGrp="1" noChangeArrowheads="1"/>
          </p:cNvSpPr>
          <p:nvPr>
            <p:ph type="body" idx="4294967295"/>
          </p:nvPr>
        </p:nvSpPr>
        <p:spPr/>
        <p:txBody>
          <a:bodyPr/>
          <a:lstStyle/>
          <a:p>
            <a:pPr eaLnBrk="1" hangingPunct="1"/>
            <a:endParaRPr lang="zh-CN" altLang="en-US"/>
          </a:p>
        </p:txBody>
      </p:sp>
      <p:sp>
        <p:nvSpPr>
          <p:cNvPr id="43012" name="页眉占位符 1"/>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机械原理(72学时),申永胜主编</a:t>
            </a:r>
            <a:endParaRPr lang="zh-CN" altLang="en-US">
              <a:latin typeface="Tahoma" panose="020B0604030504040204" pitchFamily="34" charset="0"/>
            </a:endParaRPr>
          </a:p>
        </p:txBody>
      </p:sp>
      <p:sp>
        <p:nvSpPr>
          <p:cNvPr id="43013" name="日期占位符 2"/>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5CB9DE14-0BFC-4AA6-95F7-0EB6F6E1293E}" type="datetime1">
              <a:rPr lang="en-US" altLang="en-US" smtClean="0">
                <a:latin typeface="Tahoma" panose="020B0604030504040204" pitchFamily="34" charset="0"/>
              </a:rPr>
            </a:fld>
            <a:endParaRPr lang="en-AU" altLang="en-US">
              <a:latin typeface="Tahoma" panose="020B0604030504040204" pitchFamily="34" charset="0"/>
            </a:endParaRPr>
          </a:p>
        </p:txBody>
      </p:sp>
      <p:sp>
        <p:nvSpPr>
          <p:cNvPr id="43014" name="页脚占位符 3"/>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第三章 凸轮机构</a:t>
            </a:r>
            <a:endParaRPr lang="zh-CN" altLang="en-US">
              <a:latin typeface="Tahoma" panose="020B0604030504040204" pitchFamily="34" charset="0"/>
            </a:endParaRPr>
          </a:p>
        </p:txBody>
      </p:sp>
      <p:sp>
        <p:nvSpPr>
          <p:cNvPr id="43015" name="灯片编号占位符 4"/>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F690CC3E-1AD8-4449-8D76-499C38D2FB42}" type="slidenum">
              <a:rPr altLang="en-US" smtClean="0">
                <a:latin typeface="Tahoma" panose="020B0604030504040204" pitchFamily="34" charset="0"/>
              </a:rPr>
            </a:fld>
            <a:endParaRPr lang="en-AU" altLang="en-US">
              <a:latin typeface="Tahoma" panose="020B060403050404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Now we come to **3-4: the graphical method for designing disk cam profiles**.</a:t>
            </a:r>
            <a:endParaRPr lang="en-US" altLang="zh-CN"/>
          </a:p>
          <a:p>
            <a:r>
              <a:rPr lang="en-US" altLang="zh-CN"/>
              <a:t>**Basic principle.** The cam rotates CCW at constant speed; the follower translates along its guide. The follower rises by h as the cam rotates from point B to point A.</a:t>
            </a:r>
            <a:endParaRPr lang="en-US" altLang="zh-CN"/>
          </a:p>
          <a:p>
            <a:endParaRPr lang="en-US" altLang="zh-CN"/>
          </a:p>
          <a:p>
            <a:r>
              <a:rPr lang="en-US" altLang="zh-CN"/>
              <a:t>**[Q]** How can we find point B's position when h is known? [P]</a:t>
            </a:r>
            <a:endParaRPr lang="en-US" altLang="zh-CN"/>
          </a:p>
          <a:p>
            <a:endParaRPr lang="en-US" altLang="zh-CN"/>
          </a:p>
          <a:p>
            <a:r>
              <a:rPr lang="en-US" altLang="zh-CN"/>
              <a:t>The key trick is the **inversion method (</a:t>
            </a:r>
            <a:r>
              <a:rPr lang="zh-CN" altLang="en-US"/>
              <a:t>反转法)**: </a:t>
            </a:r>
            <a:r>
              <a:rPr lang="en-US" altLang="zh-CN"/>
              <a:t>fix the cam, and move everything else with a reverse rotation −ω. This does not change the relative motion between the cam and the follower — it's a purely kinematic transformation. It makes drawing much easier because the cam stays still on the page.</a:t>
            </a:r>
            <a:endParaRPr lang="en-US" altLang="zh-CN"/>
          </a:p>
          <a:p>
            <a:endParaRPr lang="en-US" altLang="zh-CN"/>
          </a:p>
          <a:p>
            <a:r>
              <a:rPr lang="en-US" altLang="zh-CN"/>
              <a:t>[CLICK — inversion animation]</a:t>
            </a:r>
            <a:endParaRPr lang="en-US" altLang="zh-CN"/>
          </a:p>
          <a:p>
            <a:r>
              <a:rPr lang="en-US" altLang="zh-CN"/>
              <a:t>**[P]** Emphasize: 'Cam does not move, everything else moves' — the frame rotates backward, and the follower moves along its rotating guide with its own prescribed motion. The envelope of follower positions gives the cam profile.</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sym typeface="+mn-ea"/>
              </a:rPr>
              <a:t>**Basic principle.** The cam rotates CCW at constant speed; the follower translates along its guide. The follower rises by h as the cam rotates from point B to point A.</a:t>
            </a:r>
            <a:endParaRPr lang="en-US" altLang="zh-CN"/>
          </a:p>
          <a:p>
            <a:r>
              <a:rPr lang="en-US" altLang="zh-CN">
                <a:sym typeface="+mn-ea"/>
              </a:rPr>
              <a:t>**[Q]** How can we find point B's position when h is known? [P]</a:t>
            </a:r>
            <a:endParaRPr lang="en-US" altLang="zh-CN"/>
          </a:p>
          <a:p>
            <a:endParaRPr lang="en-US" altLang="zh-CN"/>
          </a:p>
          <a:p>
            <a:r>
              <a:rPr lang="en-US" altLang="zh-CN">
                <a:sym typeface="+mn-ea"/>
              </a:rPr>
              <a:t>The key trick is the **inversion method (</a:t>
            </a:r>
            <a:r>
              <a:rPr lang="zh-CN" altLang="en-US">
                <a:sym typeface="+mn-ea"/>
              </a:rPr>
              <a:t>反转法)**: </a:t>
            </a:r>
            <a:r>
              <a:rPr lang="en-US" altLang="zh-CN">
                <a:sym typeface="+mn-ea"/>
              </a:rPr>
              <a:t>fix the cam, and move everything else with a reverse rotation −ω. This does not change the relative motion between the cam and the follower — it's a purely kinematic transformation. It makes drawing much easier because the cam stays still on the page.</a:t>
            </a:r>
            <a:endParaRPr lang="en-US" altLang="zh-CN"/>
          </a:p>
          <a:p>
            <a:endParaRPr lang="en-US" altLang="zh-CN"/>
          </a:p>
          <a:p>
            <a:r>
              <a:rPr lang="en-US" altLang="zh-CN">
                <a:sym typeface="+mn-ea"/>
              </a:rPr>
              <a:t>[CLICK — inversion animation]</a:t>
            </a:r>
            <a:endParaRPr lang="en-US" altLang="zh-CN"/>
          </a:p>
          <a:p>
            <a:r>
              <a:rPr lang="en-US" altLang="zh-CN">
                <a:sym typeface="+mn-ea"/>
              </a:rPr>
              <a:t>**[P]** Emphasize: 'Cam does not move, everything else moves' — the frame rotates backward, and the follower moves along its rotating guide with its own prescribed motion. The envelope of follower positions gives the cam profile.</a:t>
            </a:r>
            <a:endParaRPr lang="en-US" altLang="zh-CN"/>
          </a:p>
          <a:p>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r>
              <a:rPr lang="en-US" altLang="zh-CN"/>
              <a:t>Example: radial knife-edge follower disk cam.</a:t>
            </a:r>
            <a:endParaRPr lang="en-US" altLang="zh-CN"/>
          </a:p>
          <a:p>
            <a:r>
              <a:rPr lang="en-US" altLang="zh-CN"/>
              <a:t>Given the follower motion law and CCW cam rotation, design the cam profile.</a:t>
            </a:r>
            <a:endParaRPr lang="en-US" altLang="zh-CN"/>
          </a:p>
          <a:p>
            <a:r>
              <a:rPr lang="en-US" altLang="zh-CN"/>
              <a:t>**1.** Find the contact point when the cam rotates 190°. [P] Use inversion: rotate the follower guide by −190°, mark the follower position from the motion law, and the contact point is where the follower tip touches the cam. (lift)</a:t>
            </a:r>
            <a:endParaRPr lang="en-US" altLang="zh-CN"/>
          </a:p>
          <a:p>
            <a:r>
              <a:rPr lang="en-US" altLang="zh-CN"/>
              <a:t>**2.** If 190° can be drawn, can any angle be drawn the same way? [P] Sure! How about 90°? [P] Demonstrate.</a:t>
            </a:r>
            <a:endParaRPr lang="en-US" altLang="zh-CN"/>
          </a:p>
          <a:p>
            <a:r>
              <a:rPr lang="en-US" altLang="zh-CN"/>
              <a:t>**3.** After drawing all angles from 0° to 360°, is the cam profile designed? [P] Yes — connecting the follower tip positions gives the profile.</a:t>
            </a:r>
            <a:endParaRPr lang="en-US" altLang="zh-CN"/>
          </a:p>
          <a:p>
            <a:r>
              <a:rPr lang="en-US" altLang="zh-CN"/>
              <a:t>**4.** Advantages and disadvantages of the knife-edge follower? [P] Simple structure, but wear easily (sliding contact, high contact stress).</a:t>
            </a:r>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746497"/>
          <p:cNvSpPr>
            <a:spLocks noGrp="1" noRot="1" noChangeAspect="1" noChangeArrowheads="1" noTextEdit="1"/>
          </p:cNvSpPr>
          <p:nvPr>
            <p:ph type="sldImg" idx="4294967295"/>
          </p:nvPr>
        </p:nvSpPr>
        <p:spPr>
          <a:xfrm>
            <a:off x="204788" y="804863"/>
            <a:ext cx="7164387" cy="4030662"/>
          </a:xfrm>
          <a:solidFill>
            <a:srgbClr val="FFFFFF"/>
          </a:solidFill>
        </p:spPr>
      </p:sp>
      <p:sp>
        <p:nvSpPr>
          <p:cNvPr id="63491" name="文本占位符 746498"/>
          <p:cNvSpPr>
            <a:spLocks noGrp="1" noChangeArrowheads="1"/>
          </p:cNvSpPr>
          <p:nvPr>
            <p:ph type="body" idx="4294967295"/>
          </p:nvPr>
        </p:nvSpPr>
        <p:spPr>
          <a:solidFill>
            <a:srgbClr val="FFFFFF"/>
          </a:solidFill>
          <a:ln>
            <a:solidFill>
              <a:srgbClr val="000000"/>
            </a:solidFill>
            <a:miter lim="800000"/>
          </a:ln>
        </p:spPr>
        <p:txBody>
          <a:bodyPr/>
          <a:lstStyle/>
          <a:p>
            <a:pPr eaLnBrk="1" hangingPunct="1"/>
            <a:r>
              <a:rPr lang="en-US" altLang="zh-CN"/>
              <a:t>Now the follower guide is offset from the cam center by distance e. The offset circle (</a:t>
            </a:r>
            <a:r>
              <a:rPr lang="zh-CN" altLang="en-US"/>
              <a:t>偏距圆) </a:t>
            </a:r>
            <a:r>
              <a:rPr lang="en-US" altLang="zh-CN"/>
              <a:t>has radius e, centered at the cam center.</a:t>
            </a:r>
            <a:endParaRPr lang="en-US" altLang="zh-CN"/>
          </a:p>
          <a:p>
            <a:pPr eaLnBrk="1" hangingPunct="1"/>
            <a:r>
              <a:rPr lang="en-US" altLang="zh-CN"/>
              <a:t>**[Q]** What is the relationship between the guide direction and the offset circle? [P] **Always tangent.** During inversion, the guide always remains tangent to the offset circle.</a:t>
            </a:r>
            <a:endParaRPr lang="en-US" altLang="zh-CN"/>
          </a:p>
          <a:p>
            <a:pPr eaLnBrk="1" hangingPunct="1"/>
            <a:r>
              <a:rPr lang="en-US" altLang="zh-CN"/>
              <a:t>**[P]** Construct: draw the offset circle; invert the guide step by step (−ω); lay off the follower displacement from the motion law along each tangent; the follower tip positions define the profile.</a:t>
            </a:r>
            <a:endParaRPr lang="en-US" altLang="zh-CN"/>
          </a:p>
          <a:p>
            <a:pPr eaLnBrk="1" hangingPunct="1"/>
            <a:r>
              <a:rPr lang="en-US" altLang="zh-CN"/>
              <a:t>**2.** Find the actual contact point at 190° rotation. **3.** Any angle drawable? Sure!</a:t>
            </a:r>
            <a:endParaRPr lang="en-US" altLang="zh-CN"/>
          </a:p>
        </p:txBody>
      </p:sp>
      <p:sp>
        <p:nvSpPr>
          <p:cNvPr id="63492" name="页眉占位符 1"/>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机械原理(72学时),申永胜主编</a:t>
            </a:r>
            <a:endParaRPr lang="zh-CN" altLang="en-US">
              <a:latin typeface="Tahoma" panose="020B0604030504040204" pitchFamily="34" charset="0"/>
            </a:endParaRPr>
          </a:p>
        </p:txBody>
      </p:sp>
      <p:sp>
        <p:nvSpPr>
          <p:cNvPr id="63493" name="日期占位符 2"/>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7AB384FE-90E5-4925-B413-3628900C233C}" type="datetime1">
              <a:rPr lang="en-US" altLang="en-US" smtClean="0">
                <a:latin typeface="Tahoma" panose="020B0604030504040204" pitchFamily="34" charset="0"/>
              </a:rPr>
            </a:fld>
            <a:endParaRPr lang="en-AU" altLang="en-US">
              <a:latin typeface="Tahoma" panose="020B0604030504040204" pitchFamily="34" charset="0"/>
            </a:endParaRPr>
          </a:p>
        </p:txBody>
      </p:sp>
      <p:sp>
        <p:nvSpPr>
          <p:cNvPr id="63494" name="页脚占位符 3"/>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第三章 凸轮机构</a:t>
            </a:r>
            <a:endParaRPr lang="zh-CN" altLang="en-US">
              <a:latin typeface="Tahoma" panose="020B0604030504040204" pitchFamily="34" charset="0"/>
            </a:endParaRPr>
          </a:p>
        </p:txBody>
      </p:sp>
      <p:sp>
        <p:nvSpPr>
          <p:cNvPr id="63495" name="灯片编号占位符 4"/>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99583572-E540-4F70-AF16-CA362CFE58FE}" type="slidenum">
              <a:rPr altLang="en-US" smtClean="0">
                <a:latin typeface="Tahoma" panose="020B0604030504040204" pitchFamily="34" charset="0"/>
              </a:rPr>
            </a:fld>
            <a:endParaRPr lang="en-AU" altLang="en-US">
              <a:latin typeface="Tahoma" panose="020B060403050404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744449"/>
          <p:cNvSpPr>
            <a:spLocks noGrp="1" noRot="1" noChangeAspect="1" noChangeArrowheads="1" noTextEdit="1"/>
          </p:cNvSpPr>
          <p:nvPr>
            <p:ph type="sldImg" idx="4294967295"/>
          </p:nvPr>
        </p:nvSpPr>
        <p:spPr>
          <a:xfrm>
            <a:off x="139700" y="766763"/>
            <a:ext cx="6821488" cy="3838575"/>
          </a:xfrm>
          <a:solidFill>
            <a:srgbClr val="FFFFFF"/>
          </a:solidFill>
        </p:spPr>
      </p:sp>
      <p:sp>
        <p:nvSpPr>
          <p:cNvPr id="61443" name="文本占位符 744450"/>
          <p:cNvSpPr>
            <a:spLocks noGrp="1" noChangeArrowheads="1"/>
          </p:cNvSpPr>
          <p:nvPr>
            <p:ph type="body" idx="4294967295"/>
          </p:nvPr>
        </p:nvSpPr>
        <p:spPr>
          <a:solidFill>
            <a:srgbClr val="FFFFFF"/>
          </a:solidFill>
          <a:ln>
            <a:solidFill>
              <a:srgbClr val="000000"/>
            </a:solidFill>
            <a:miter lim="800000"/>
          </a:ln>
        </p:spPr>
        <p:txBody>
          <a:bodyPr/>
          <a:lstStyle/>
          <a:p>
            <a:pPr eaLnBrk="1" hangingPunct="1"/>
            <a:endParaRPr lang="zh-CN" altLang="en-US"/>
          </a:p>
        </p:txBody>
      </p:sp>
      <p:sp>
        <p:nvSpPr>
          <p:cNvPr id="61444" name="页眉占位符 1"/>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机械原理(72学时),申永胜主编</a:t>
            </a:r>
            <a:endParaRPr lang="zh-CN" altLang="en-US">
              <a:latin typeface="Tahoma" panose="020B0604030504040204" pitchFamily="34" charset="0"/>
            </a:endParaRPr>
          </a:p>
        </p:txBody>
      </p:sp>
      <p:sp>
        <p:nvSpPr>
          <p:cNvPr id="61445" name="日期占位符 2"/>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2CC2C986-BB2C-485C-AC18-C93D2564D5F7}" type="datetime1">
              <a:rPr lang="en-US" altLang="en-US" smtClean="0">
                <a:latin typeface="Tahoma" panose="020B0604030504040204" pitchFamily="34" charset="0"/>
              </a:rPr>
            </a:fld>
            <a:endParaRPr lang="en-AU" altLang="en-US">
              <a:latin typeface="Tahoma" panose="020B0604030504040204" pitchFamily="34" charset="0"/>
            </a:endParaRPr>
          </a:p>
        </p:txBody>
      </p:sp>
      <p:sp>
        <p:nvSpPr>
          <p:cNvPr id="61446" name="页脚占位符 3"/>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第三章 凸轮机构</a:t>
            </a:r>
            <a:endParaRPr lang="zh-CN" altLang="en-US">
              <a:latin typeface="Tahoma" panose="020B0604030504040204" pitchFamily="34" charset="0"/>
            </a:endParaRPr>
          </a:p>
        </p:txBody>
      </p:sp>
      <p:sp>
        <p:nvSpPr>
          <p:cNvPr id="61447" name="灯片编号占位符 4"/>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C51FADC4-676B-4A2D-9A24-91B77BEA9C40}" type="slidenum">
              <a:rPr altLang="en-US" smtClean="0">
                <a:latin typeface="Tahoma" panose="020B0604030504040204" pitchFamily="34" charset="0"/>
              </a:rPr>
            </a:fld>
            <a:endParaRPr lang="en-AU" altLang="en-US">
              <a:latin typeface="Tahoma" panose="020B060403050404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750593"/>
          <p:cNvSpPr>
            <a:spLocks noGrp="1" noRot="1" noChangeAspect="1" noChangeArrowheads="1" noTextEdit="1"/>
          </p:cNvSpPr>
          <p:nvPr>
            <p:ph type="sldImg" idx="4294967295"/>
          </p:nvPr>
        </p:nvSpPr>
        <p:spPr>
          <a:xfrm>
            <a:off x="139700" y="766763"/>
            <a:ext cx="6821488" cy="3838575"/>
          </a:xfrm>
          <a:solidFill>
            <a:srgbClr val="FFFFFF"/>
          </a:solidFill>
        </p:spPr>
      </p:sp>
      <p:sp>
        <p:nvSpPr>
          <p:cNvPr id="67587" name="文本占位符 750594"/>
          <p:cNvSpPr>
            <a:spLocks noGrp="1" noChangeArrowheads="1"/>
          </p:cNvSpPr>
          <p:nvPr>
            <p:ph type="body" idx="4294967295"/>
          </p:nvPr>
        </p:nvSpPr>
        <p:spPr>
          <a:solidFill>
            <a:srgbClr val="FFFFFF"/>
          </a:solidFill>
          <a:ln>
            <a:solidFill>
              <a:srgbClr val="000000"/>
            </a:solidFill>
            <a:miter lim="800000"/>
          </a:ln>
        </p:spPr>
        <p:txBody>
          <a:bodyPr/>
          <a:lstStyle/>
          <a:p>
            <a:pPr eaLnBrk="1" hangingPunct="1"/>
            <a:endParaRPr lang="zh-CN" altLang="en-US"/>
          </a:p>
        </p:txBody>
      </p:sp>
      <p:sp>
        <p:nvSpPr>
          <p:cNvPr id="67588" name="页眉占位符 1"/>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机械原理(72学时),申永胜主编</a:t>
            </a:r>
            <a:endParaRPr lang="zh-CN" altLang="en-US">
              <a:latin typeface="Tahoma" panose="020B0604030504040204" pitchFamily="34" charset="0"/>
            </a:endParaRPr>
          </a:p>
        </p:txBody>
      </p:sp>
      <p:sp>
        <p:nvSpPr>
          <p:cNvPr id="67589" name="日期占位符 2"/>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36EB6AAE-A454-4547-B175-FFD356D8235E}" type="datetime1">
              <a:rPr lang="en-US" altLang="en-US" smtClean="0">
                <a:latin typeface="Tahoma" panose="020B0604030504040204" pitchFamily="34" charset="0"/>
              </a:rPr>
            </a:fld>
            <a:endParaRPr lang="en-AU" altLang="en-US">
              <a:latin typeface="Tahoma" panose="020B0604030504040204" pitchFamily="34" charset="0"/>
            </a:endParaRPr>
          </a:p>
        </p:txBody>
      </p:sp>
      <p:sp>
        <p:nvSpPr>
          <p:cNvPr id="67590" name="页脚占位符 3"/>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第三章 凸轮机构</a:t>
            </a:r>
            <a:endParaRPr lang="zh-CN" altLang="en-US">
              <a:latin typeface="Tahoma" panose="020B0604030504040204" pitchFamily="34" charset="0"/>
            </a:endParaRPr>
          </a:p>
        </p:txBody>
      </p:sp>
      <p:sp>
        <p:nvSpPr>
          <p:cNvPr id="67591" name="灯片编号占位符 4"/>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6D93FBB7-E00C-4D91-AE5C-49EC56CEC493}" type="slidenum">
              <a:rPr altLang="en-US" smtClean="0">
                <a:latin typeface="Tahoma" panose="020B0604030504040204" pitchFamily="34" charset="0"/>
              </a:rPr>
            </a:fld>
            <a:endParaRPr lang="en-AU" altLang="en-US">
              <a:latin typeface="Tahoma" panose="020B060403050404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742401"/>
          <p:cNvSpPr>
            <a:spLocks noGrp="1" noRot="1" noChangeAspect="1" noChangeArrowheads="1" noTextEdit="1"/>
          </p:cNvSpPr>
          <p:nvPr>
            <p:ph type="sldImg" idx="4294967295"/>
          </p:nvPr>
        </p:nvSpPr>
        <p:spPr>
          <a:xfrm>
            <a:off x="204788" y="804863"/>
            <a:ext cx="7164387" cy="4030662"/>
          </a:xfrm>
          <a:solidFill>
            <a:srgbClr val="FFFFFF"/>
          </a:solidFill>
        </p:spPr>
      </p:sp>
      <p:sp>
        <p:nvSpPr>
          <p:cNvPr id="59395" name="文本占位符 742402"/>
          <p:cNvSpPr>
            <a:spLocks noGrp="1" noChangeArrowheads="1"/>
          </p:cNvSpPr>
          <p:nvPr>
            <p:ph type="body" idx="4294967295"/>
          </p:nvPr>
        </p:nvSpPr>
        <p:spPr>
          <a:solidFill>
            <a:srgbClr val="FFFFFF"/>
          </a:solidFill>
          <a:ln>
            <a:solidFill>
              <a:srgbClr val="000000"/>
            </a:solidFill>
            <a:miter lim="800000"/>
          </a:ln>
        </p:spPr>
        <p:txBody>
          <a:bodyPr/>
          <a:lstStyle/>
          <a:p>
            <a:pPr eaLnBrk="1" hangingPunct="1"/>
            <a:endParaRPr lang="zh-CN" altLang="en-US"/>
          </a:p>
        </p:txBody>
      </p:sp>
      <p:sp>
        <p:nvSpPr>
          <p:cNvPr id="59396" name="页眉占位符 1"/>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机械原理(72学时),申永胜主编</a:t>
            </a:r>
            <a:endParaRPr lang="zh-CN" altLang="en-US">
              <a:latin typeface="Tahoma" panose="020B0604030504040204" pitchFamily="34" charset="0"/>
            </a:endParaRPr>
          </a:p>
        </p:txBody>
      </p:sp>
      <p:sp>
        <p:nvSpPr>
          <p:cNvPr id="59397" name="日期占位符 2"/>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3619F772-13B0-4AC8-82D5-3B8DD56F3F7A}" type="datetime1">
              <a:rPr lang="en-US" altLang="en-US" smtClean="0">
                <a:latin typeface="Tahoma" panose="020B0604030504040204" pitchFamily="34" charset="0"/>
              </a:rPr>
            </a:fld>
            <a:endParaRPr lang="en-AU" altLang="en-US">
              <a:latin typeface="Tahoma" panose="020B0604030504040204" pitchFamily="34" charset="0"/>
            </a:endParaRPr>
          </a:p>
        </p:txBody>
      </p:sp>
      <p:sp>
        <p:nvSpPr>
          <p:cNvPr id="59398" name="页脚占位符 3"/>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第三章 凸轮机构</a:t>
            </a:r>
            <a:endParaRPr lang="zh-CN" altLang="en-US">
              <a:latin typeface="Tahoma" panose="020B0604030504040204" pitchFamily="34" charset="0"/>
            </a:endParaRPr>
          </a:p>
        </p:txBody>
      </p:sp>
      <p:sp>
        <p:nvSpPr>
          <p:cNvPr id="59399" name="灯片编号占位符 4"/>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C30ADDA9-2318-40A0-8DFA-59544171DE2B}" type="slidenum">
              <a:rPr altLang="en-US" smtClean="0">
                <a:latin typeface="Tahoma" panose="020B0604030504040204" pitchFamily="34" charset="0"/>
              </a:rPr>
            </a:fld>
            <a:endParaRPr lang="en-AU" altLang="en-US">
              <a:latin typeface="Tahoma" panose="020B060403050404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752641"/>
          <p:cNvSpPr>
            <a:spLocks noGrp="1" noRot="1" noChangeAspect="1" noChangeArrowheads="1" noTextEdit="1"/>
          </p:cNvSpPr>
          <p:nvPr>
            <p:ph type="sldImg" idx="4294967295"/>
          </p:nvPr>
        </p:nvSpPr>
        <p:spPr>
          <a:xfrm>
            <a:off x="203200" y="776288"/>
            <a:ext cx="6910388" cy="3887787"/>
          </a:xfrm>
          <a:solidFill>
            <a:srgbClr val="FFFFFF"/>
          </a:solidFill>
          <a:ln cap="flat"/>
        </p:spPr>
      </p:sp>
      <p:sp>
        <p:nvSpPr>
          <p:cNvPr id="76803" name="文本占位符 752642"/>
          <p:cNvSpPr>
            <a:spLocks noGrp="1" noChangeArrowheads="1"/>
          </p:cNvSpPr>
          <p:nvPr>
            <p:ph type="body" idx="4294967295"/>
          </p:nvPr>
        </p:nvSpPr>
        <p:spPr>
          <a:solidFill>
            <a:srgbClr val="FFFFFF"/>
          </a:solidFill>
          <a:ln cap="flat">
            <a:solidFill>
              <a:srgbClr val="000000"/>
            </a:solidFill>
            <a:miter lim="800000"/>
          </a:ln>
        </p:spPr>
        <p:txBody>
          <a:bodyPr/>
          <a:lstStyle/>
          <a:p>
            <a:pPr eaLnBrk="1" hangingPunct="1"/>
            <a:endParaRPr lang="zh-CN" altLang="en-US"/>
          </a:p>
        </p:txBody>
      </p:sp>
      <p:sp>
        <p:nvSpPr>
          <p:cNvPr id="76804" name="页眉占位符 1"/>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机械原理(72学时),申永胜主编</a:t>
            </a:r>
            <a:endParaRPr lang="zh-CN" altLang="en-US">
              <a:latin typeface="Tahoma" panose="020B0604030504040204" pitchFamily="34" charset="0"/>
            </a:endParaRPr>
          </a:p>
        </p:txBody>
      </p:sp>
      <p:sp>
        <p:nvSpPr>
          <p:cNvPr id="76805" name="日期占位符 2"/>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fld id="{71742B55-1826-4C4A-A6C5-49147D7E8356}" type="datetime1">
              <a:rPr lang="en-US" altLang="en-US" smtClean="0">
                <a:latin typeface="Tahoma" panose="020B0604030504040204" pitchFamily="34" charset="0"/>
              </a:rPr>
            </a:fld>
            <a:endParaRPr lang="en-AU" altLang="en-US">
              <a:latin typeface="Tahoma" panose="020B0604030504040204" pitchFamily="34" charset="0"/>
            </a:endParaRPr>
          </a:p>
        </p:txBody>
      </p:sp>
      <p:sp>
        <p:nvSpPr>
          <p:cNvPr id="76806" name="页脚占位符 3"/>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661" tIns="48331" rIns="96661" bIns="48331" numCol="1" anchorCtr="0" compatLnSpc="1"/>
          <a:lstStyle>
            <a:lvl1pPr>
              <a:defRPr>
                <a:solidFill>
                  <a:schemeClr val="tx1"/>
                </a:solidFill>
                <a:latin typeface="Arial" panose="020B0604020202020204" pitchFamily="34" charset="0"/>
                <a:ea typeface="宋体" panose="02010600030101010101" pitchFamily="2" charset="-122"/>
              </a:defRPr>
            </a:lvl1pPr>
            <a:lvl2pPr marL="785495" indent="-302260">
              <a:defRPr>
                <a:solidFill>
                  <a:schemeClr val="tx1"/>
                </a:solidFill>
                <a:latin typeface="Arial" panose="020B0604020202020204" pitchFamily="34" charset="0"/>
                <a:ea typeface="宋体" panose="02010600030101010101" pitchFamily="2" charset="-122"/>
              </a:defRPr>
            </a:lvl2pPr>
            <a:lvl3pPr marL="1208405" indent="-241935">
              <a:defRPr>
                <a:solidFill>
                  <a:schemeClr val="tx1"/>
                </a:solidFill>
                <a:latin typeface="Arial" panose="020B0604020202020204" pitchFamily="34" charset="0"/>
                <a:ea typeface="宋体" panose="02010600030101010101" pitchFamily="2" charset="-122"/>
              </a:defRPr>
            </a:lvl3pPr>
            <a:lvl4pPr marL="1691640" indent="-241935">
              <a:defRPr>
                <a:solidFill>
                  <a:schemeClr val="tx1"/>
                </a:solidFill>
                <a:latin typeface="Arial" panose="020B0604020202020204" pitchFamily="34" charset="0"/>
                <a:ea typeface="宋体" panose="02010600030101010101" pitchFamily="2" charset="-122"/>
              </a:defRPr>
            </a:lvl4pPr>
            <a:lvl5pPr marL="2174875" indent="-241935">
              <a:defRPr>
                <a:solidFill>
                  <a:schemeClr val="tx1"/>
                </a:solidFill>
                <a:latin typeface="Arial" panose="020B0604020202020204" pitchFamily="34" charset="0"/>
                <a:ea typeface="宋体" panose="02010600030101010101" pitchFamily="2" charset="-122"/>
              </a:defRPr>
            </a:lvl5pPr>
            <a:lvl6pPr marL="265811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4134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24580"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07815" indent="-24193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a:latin typeface="Tahoma" panose="020B0604030504040204" pitchFamily="34" charset="0"/>
              </a:rPr>
              <a:t>第三章 凸轮机构</a:t>
            </a:r>
            <a:endParaRPr lang="zh-CN" altLang="en-US">
              <a:latin typeface="Tahoma" panose="020B0604030504040204" pitchFamily="34" charset="0"/>
            </a:endParaRPr>
          </a:p>
        </p:txBody>
      </p:sp>
      <p:sp>
        <p:nvSpPr>
          <p:cNvPr id="76807" name="灯片编号占位符 4"/>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785495" indent="-302260">
              <a:spcBef>
                <a:spcPct val="30000"/>
              </a:spcBef>
              <a:defRPr sz="1300">
                <a:solidFill>
                  <a:schemeClr val="tx1"/>
                </a:solidFill>
                <a:latin typeface="Times New Roman" panose="02020603050405020304" pitchFamily="18" charset="0"/>
                <a:ea typeface="宋体" panose="02010600030101010101" pitchFamily="2" charset="-122"/>
              </a:defRPr>
            </a:lvl2pPr>
            <a:lvl3pPr marL="1208405" indent="-241935">
              <a:spcBef>
                <a:spcPct val="30000"/>
              </a:spcBef>
              <a:defRPr sz="1300">
                <a:solidFill>
                  <a:schemeClr val="tx1"/>
                </a:solidFill>
                <a:latin typeface="Times New Roman" panose="02020603050405020304" pitchFamily="18" charset="0"/>
                <a:ea typeface="宋体" panose="02010600030101010101" pitchFamily="2" charset="-122"/>
              </a:defRPr>
            </a:lvl3pPr>
            <a:lvl4pPr marL="1691640" indent="-241935">
              <a:spcBef>
                <a:spcPct val="30000"/>
              </a:spcBef>
              <a:defRPr sz="1300">
                <a:solidFill>
                  <a:schemeClr val="tx1"/>
                </a:solidFill>
                <a:latin typeface="Times New Roman" panose="02020603050405020304" pitchFamily="18" charset="0"/>
                <a:ea typeface="宋体" panose="02010600030101010101" pitchFamily="2" charset="-122"/>
              </a:defRPr>
            </a:lvl4pPr>
            <a:lvl5pPr marL="2174875" indent="-241935">
              <a:spcBef>
                <a:spcPct val="30000"/>
              </a:spcBef>
              <a:defRPr sz="1300">
                <a:solidFill>
                  <a:schemeClr val="tx1"/>
                </a:solidFill>
                <a:latin typeface="Times New Roman" panose="02020603050405020304" pitchFamily="18" charset="0"/>
                <a:ea typeface="宋体" panose="02010600030101010101" pitchFamily="2" charset="-122"/>
              </a:defRPr>
            </a:lvl5pPr>
            <a:lvl6pPr marL="2658110" indent="-24193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141345" indent="-24193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624580" indent="-24193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107815" indent="-24193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20000"/>
              </a:spcBef>
              <a:buFontTx/>
              <a:buNone/>
            </a:pPr>
            <a:fld id="{E446DE38-35B3-4625-B696-8D5BA2636368}" type="slidenum">
              <a:rPr altLang="en-US" smtClean="0">
                <a:latin typeface="Tahoma" panose="020B0604030504040204" pitchFamily="34" charset="0"/>
              </a:rPr>
            </a:fld>
            <a:endParaRPr lang="en-AU" altLang="en-US">
              <a:latin typeface="Tahoma" panose="020B060403050404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defTabSz="966470">
              <a:defRPr/>
            </a:pPr>
            <a:fld id="{172AC8ED-967C-4C9D-B57E-4DAB8B6750D0}" type="slidenum">
              <a:rPr lang="zh-CN" altLang="en-US">
                <a:solidFill>
                  <a:prstClr val="black"/>
                </a:solidFill>
                <a:latin typeface="Calibri" panose="020F0502020204030204"/>
                <a:ea typeface="宋体" panose="02010600030101010101" pitchFamily="2" charset="-122"/>
              </a:rPr>
            </a:fld>
            <a:endParaRPr lang="zh-CN" altLang="en-US">
              <a:solidFill>
                <a:prstClr val="black"/>
              </a:solidFill>
              <a:latin typeface="Calibri" panose="020F0502020204030204"/>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defTabSz="966470">
              <a:defRPr/>
            </a:pPr>
            <a:fld id="{172AC8ED-967C-4C9D-B57E-4DAB8B6750D0}" type="slidenum">
              <a:rPr lang="zh-CN" altLang="en-US">
                <a:solidFill>
                  <a:prstClr val="black"/>
                </a:solidFill>
                <a:latin typeface="Calibri" panose="020F0502020204030204"/>
                <a:ea typeface="宋体" panose="02010600030101010101" pitchFamily="2" charset="-122"/>
              </a:rPr>
            </a:fld>
            <a:endParaRPr lang="zh-CN" altLang="en-US">
              <a:solidFill>
                <a:prstClr val="black"/>
              </a:solidFill>
              <a:latin typeface="Calibri" panose="020F0502020204030204"/>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noProof="0" dirty="0">
                <a:ln>
                  <a:noFill/>
                </a:ln>
                <a:solidFill>
                  <a:srgbClr val="3D7AB7"/>
                </a:solidFill>
                <a:effectLst/>
                <a:uLnTx/>
                <a:uFillTx/>
                <a:latin typeface="楷体" panose="02010609060101010101" pitchFamily="49" charset="-122"/>
                <a:ea typeface="楷体" panose="02010609060101010101" pitchFamily="49" charset="-122"/>
                <a:sym typeface="+mn-ea"/>
              </a:rPr>
              <a:t>回程的时候有弹簧弹力、重力对推杆的</a:t>
            </a:r>
            <a:r>
              <a:rPr lang="zh-CN" altLang="en-US" b="1" noProof="0" dirty="0">
                <a:ln>
                  <a:noFill/>
                </a:ln>
                <a:solidFill>
                  <a:srgbClr val="FF0000"/>
                </a:solidFill>
                <a:effectLst/>
                <a:uLnTx/>
                <a:uFillTx/>
                <a:latin typeface="楷体" panose="02010609060101010101" pitchFamily="49" charset="-122"/>
                <a:ea typeface="楷体" panose="02010609060101010101" pitchFamily="49" charset="-122"/>
                <a:sym typeface="+mn-ea"/>
              </a:rPr>
              <a:t>运动起推动</a:t>
            </a:r>
            <a:r>
              <a:rPr lang="zh-CN" altLang="en-US" b="1" noProof="0" dirty="0">
                <a:ln>
                  <a:noFill/>
                </a:ln>
                <a:solidFill>
                  <a:srgbClr val="3D7AB7"/>
                </a:solidFill>
                <a:effectLst/>
                <a:uLnTx/>
                <a:uFillTx/>
                <a:latin typeface="楷体" panose="02010609060101010101" pitchFamily="49" charset="-122"/>
                <a:ea typeface="楷体" panose="02010609060101010101" pitchFamily="49" charset="-122"/>
                <a:sym typeface="+mn-ea"/>
              </a:rPr>
              <a:t>作用（</a:t>
            </a:r>
            <a:r>
              <a:rPr lang="zh-CN" altLang="en-US" b="1" noProof="0" dirty="0">
                <a:ln>
                  <a:noFill/>
                </a:ln>
                <a:solidFill>
                  <a:srgbClr val="FF0000"/>
                </a:solidFill>
                <a:effectLst/>
                <a:uLnTx/>
                <a:uFillTx/>
                <a:latin typeface="楷体" panose="02010609060101010101" pitchFamily="49" charset="-122"/>
                <a:ea typeface="楷体" panose="02010609060101010101" pitchFamily="49" charset="-122"/>
                <a:sym typeface="+mn-ea"/>
              </a:rPr>
              <a:t>推程的时候起阻碍作用</a:t>
            </a:r>
            <a:r>
              <a:rPr lang="zh-CN" altLang="en-US" b="1" noProof="0" dirty="0">
                <a:ln>
                  <a:noFill/>
                </a:ln>
                <a:solidFill>
                  <a:srgbClr val="3D7AB7"/>
                </a:solidFill>
                <a:effectLst/>
                <a:uLnTx/>
                <a:uFillTx/>
                <a:latin typeface="楷体" panose="02010609060101010101" pitchFamily="49" charset="-122"/>
                <a:ea typeface="楷体" panose="02010609060101010101" pitchFamily="49" charset="-122"/>
                <a:sym typeface="+mn-ea"/>
              </a:rPr>
              <a:t>），推杆不容易卡死</a:t>
            </a:r>
            <a:endParaRPr kumimoji="0" lang="en-AU"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endParaRPr>
          </a:p>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是不是 走路跑步的时候会觉得变扭   刚度太大了可能会产生，伤膝盖，太小了，又会觉得走不稳</a:t>
            </a:r>
            <a:endParaRPr lang="zh-CN" altLang="en-US" dirty="0"/>
          </a:p>
        </p:txBody>
      </p:sp>
      <p:sp>
        <p:nvSpPr>
          <p:cNvPr id="4" name="灯片编号占位符 3"/>
          <p:cNvSpPr>
            <a:spLocks noGrp="1"/>
          </p:cNvSpPr>
          <p:nvPr>
            <p:ph type="sldNum" sz="quarter" idx="5"/>
          </p:nvPr>
        </p:nvSpPr>
        <p:spPr/>
        <p:txBody>
          <a:bodyPr/>
          <a:lstStyle/>
          <a:p>
            <a:fld id="{172AC8ED-967C-4C9D-B57E-4DAB8B6750D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AC8ED-967C-4C9D-B57E-4DAB8B6750D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3" name="AutoShape 7"/>
          <p:cNvSpPr>
            <a:spLocks noChangeArrowheads="1"/>
          </p:cNvSpPr>
          <p:nvPr/>
        </p:nvSpPr>
        <p:spPr bwMode="auto">
          <a:xfrm>
            <a:off x="914400" y="2959422"/>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pPr eaLnBrk="0" fontAlgn="base" hangingPunct="0">
              <a:spcBef>
                <a:spcPct val="0"/>
              </a:spcBef>
              <a:spcAft>
                <a:spcPct val="0"/>
              </a:spcAft>
            </a:pPr>
            <a:endParaRPr lang="zh-CN" altLang="en-US" sz="1800" b="1" i="1">
              <a:solidFill>
                <a:srgbClr val="000000"/>
              </a:solidFill>
              <a:ea typeface="宋体" panose="02010600030101010101" pitchFamily="2" charset="-122"/>
            </a:endParaRPr>
          </a:p>
        </p:txBody>
      </p:sp>
      <p:sp>
        <p:nvSpPr>
          <p:cNvPr id="701443" name="Rectangle 3"/>
          <p:cNvSpPr>
            <a:spLocks noGrp="1" noChangeArrowheads="1"/>
          </p:cNvSpPr>
          <p:nvPr>
            <p:ph type="subTitle" idx="1"/>
          </p:nvPr>
        </p:nvSpPr>
        <p:spPr>
          <a:xfrm>
            <a:off x="935568" y="3833813"/>
            <a:ext cx="10342033" cy="1600200"/>
          </a:xfrm>
        </p:spPr>
        <p:txBody>
          <a:bodyPr/>
          <a:lstStyle>
            <a:lvl1pPr marL="0" indent="0" algn="ctr">
              <a:buFont typeface="Wingdings" panose="05000000000000000000" pitchFamily="2" charset="2"/>
              <a:buNone/>
              <a:defRPr sz="2600"/>
            </a:lvl1pPr>
          </a:lstStyle>
          <a:p>
            <a:pPr lvl="0"/>
            <a:r>
              <a:rPr lang="zh-CN" altLang="en-US" noProof="0"/>
              <a:t>单击此处编辑母版副标题样式</a:t>
            </a:r>
            <a:endParaRPr lang="zh-CN" altLang="en-US" noProof="0"/>
          </a:p>
        </p:txBody>
      </p:sp>
      <p:sp>
        <p:nvSpPr>
          <p:cNvPr id="6" name="Rectangle 4"/>
          <p:cNvSpPr>
            <a:spLocks noGrp="1" noChangeArrowheads="1"/>
          </p:cNvSpPr>
          <p:nvPr userDrawn="1">
            <p:ph type="dt" sz="half" idx="10"/>
          </p:nvPr>
        </p:nvSpPr>
        <p:spPr>
          <a:xfrm>
            <a:off x="914400" y="6248400"/>
            <a:ext cx="2540000" cy="457200"/>
          </a:xfrm>
        </p:spPr>
        <p:txBody>
          <a:bodyPr/>
          <a:lstStyle>
            <a:lvl1pPr>
              <a:defRPr/>
            </a:lvl1pPr>
          </a:lstStyle>
          <a:p>
            <a:pPr>
              <a:defRPr/>
            </a:pPr>
            <a:fld id="{019D99BD-F09B-485F-9A7B-2B3708741E77}" type="datetime1">
              <a:rPr lang="zh-CN" altLang="en-US" smtClean="0">
                <a:solidFill>
                  <a:srgbClr val="000000"/>
                </a:solidFill>
              </a:rPr>
            </a:fld>
            <a:endParaRPr lang="en-US" altLang="zh-CN">
              <a:solidFill>
                <a:srgbClr val="000000"/>
              </a:solidFill>
            </a:endParaRPr>
          </a:p>
        </p:txBody>
      </p:sp>
      <p:sp>
        <p:nvSpPr>
          <p:cNvPr id="7" name="Rectangle 5"/>
          <p:cNvSpPr>
            <a:spLocks noGrp="1" noChangeArrowheads="1"/>
          </p:cNvSpPr>
          <p:nvPr userDrawn="1">
            <p:ph type="ftr" sz="quarter" idx="11"/>
          </p:nvPr>
        </p:nvSpPr>
        <p:spPr>
          <a:xfrm>
            <a:off x="4165600" y="6248400"/>
            <a:ext cx="3860800" cy="457200"/>
          </a:xfrm>
        </p:spPr>
        <p:txBody>
          <a:bodyPr/>
          <a:lstStyle>
            <a:lvl1pPr algn="ctr">
              <a:defRPr>
                <a:ea typeface="宋体" panose="02010600030101010101" pitchFamily="2" charset="-122"/>
              </a:defRPr>
            </a:lvl1pPr>
          </a:lstStyle>
          <a:p>
            <a:pPr>
              <a:defRPr/>
            </a:pPr>
            <a:endParaRPr lang="en-US" altLang="zh-CN">
              <a:solidFill>
                <a:srgbClr val="000000"/>
              </a:solidFill>
            </a:endParaRPr>
          </a:p>
        </p:txBody>
      </p:sp>
      <p:sp>
        <p:nvSpPr>
          <p:cNvPr id="8" name="Rectangle 6"/>
          <p:cNvSpPr>
            <a:spLocks noGrp="1" noChangeArrowheads="1"/>
          </p:cNvSpPr>
          <p:nvPr userDrawn="1">
            <p:ph type="sldNum" sz="quarter" idx="12"/>
          </p:nvPr>
        </p:nvSpPr>
        <p:spPr bwMode="auto">
          <a:xfrm>
            <a:off x="8737600" y="6248400"/>
            <a:ext cx="2540000" cy="457200"/>
          </a:xfrm>
          <a:prstGeom prst="rect">
            <a:avLst/>
          </a:prstGeom>
        </p:spPr>
        <p:txBody>
          <a:bodyPr vert="horz" wrap="square" lIns="91440" tIns="45720" rIns="91440" bIns="45720" numCol="1" anchor="t" anchorCtr="0" compatLnSpc="1"/>
          <a:lstStyle>
            <a:lvl1pPr algn="r" eaLnBrk="1" hangingPunct="1">
              <a:defRPr sz="1200" b="0" i="0">
                <a:latin typeface="Verdana" panose="020B0604030504040204" pitchFamily="34" charset="0"/>
                <a:ea typeface="宋体" panose="02010600030101010101" pitchFamily="2" charset="-122"/>
              </a:defRPr>
            </a:lvl1pPr>
          </a:lstStyle>
          <a:p>
            <a:pPr fontAlgn="base">
              <a:spcBef>
                <a:spcPct val="0"/>
              </a:spcBef>
              <a:spcAft>
                <a:spcPct val="0"/>
              </a:spcAft>
              <a:defRPr/>
            </a:pPr>
            <a:fld id="{63C623F4-CF6D-4BAE-98D8-DB4E2BA6DAFF}" type="slidenum">
              <a:rPr lang="en-US" altLang="zh-CN">
                <a:solidFill>
                  <a:srgbClr val="000000"/>
                </a:solidFill>
              </a:rPr>
            </a:fld>
            <a:endParaRPr lang="en-US" altLang="zh-CN" dirty="0">
              <a:solidFill>
                <a:srgbClr val="000000"/>
              </a:solidFill>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445" y="5192666"/>
            <a:ext cx="2016224" cy="1238060"/>
          </a:xfrm>
          <a:prstGeom prst="rect">
            <a:avLst/>
          </a:prstGeom>
          <a:ln>
            <a:noFill/>
          </a:ln>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3pPr marL="1304925" indent="-395605">
              <a:buFont typeface="Wingdings" panose="05000000000000000000" pitchFamily="2" charset="2"/>
              <a:buChar char="l"/>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6"/>
          <p:cNvSpPr>
            <a:spLocks noGrp="1" noChangeArrowheads="1"/>
          </p:cNvSpPr>
          <p:nvPr>
            <p:ph type="dt" sz="half" idx="10"/>
          </p:nvPr>
        </p:nvSpPr>
        <p:spPr/>
        <p:txBody>
          <a:bodyPr/>
          <a:lstStyle>
            <a:lvl1pPr>
              <a:defRPr/>
            </a:lvl1pPr>
          </a:lstStyle>
          <a:p>
            <a:pPr>
              <a:defRPr/>
            </a:pPr>
            <a:fld id="{6D36CDA4-54FD-4B08-877C-58CBC4E13529}" type="datetime1">
              <a:rPr lang="zh-CN" altLang="en-US" smtClean="0">
                <a:solidFill>
                  <a:srgbClr val="000000"/>
                </a:solidFill>
              </a:rPr>
            </a:fld>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5630BABE-DC85-472F-A1FC-B993EE2B20EA}" type="datetime1">
              <a:rPr lang="zh-CN" altLang="en-US" smtClean="0">
                <a:solidFill>
                  <a:srgbClr val="000000"/>
                </a:solidFill>
              </a:rPr>
            </a:fld>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341439"/>
            <a:ext cx="52324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1251" y="1341439"/>
            <a:ext cx="52324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1A6DD6B8-2034-45DD-A09D-DF74F58E5049}" type="datetime1">
              <a:rPr lang="zh-CN" altLang="en-US" smtClean="0">
                <a:solidFill>
                  <a:srgbClr val="000000"/>
                </a:solidFill>
              </a:rPr>
            </a:fld>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6"/>
          <p:cNvSpPr>
            <a:spLocks noGrp="1" noChangeArrowheads="1"/>
          </p:cNvSpPr>
          <p:nvPr>
            <p:ph type="dt" sz="half" idx="10"/>
          </p:nvPr>
        </p:nvSpPr>
        <p:spPr/>
        <p:txBody>
          <a:bodyPr/>
          <a:lstStyle>
            <a:lvl1pPr>
              <a:defRPr/>
            </a:lvl1pPr>
          </a:lstStyle>
          <a:p>
            <a:pPr>
              <a:defRPr/>
            </a:pPr>
            <a:fld id="{F27BB1E4-8C54-49CE-8649-4DB4F2DF4E65}" type="datetime1">
              <a:rPr lang="zh-CN" altLang="en-US" smtClean="0">
                <a:solidFill>
                  <a:srgbClr val="000000"/>
                </a:solidFill>
              </a:rPr>
            </a:fld>
            <a:endParaRPr lang="en-US" altLang="zh-CN">
              <a:solidFill>
                <a:srgbClr val="000000"/>
              </a:solidFill>
            </a:endParaRPr>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fld id="{A00D0A81-B81E-40BF-B519-461BBA7B5689}" type="datetime1">
              <a:rPr lang="zh-CN" altLang="en-US" smtClean="0">
                <a:solidFill>
                  <a:srgbClr val="000000"/>
                </a:solidFill>
              </a:rPr>
            </a:fld>
            <a:endParaRPr lang="en-US" altLang="zh-CN">
              <a:solidFill>
                <a:srgbClr val="000000"/>
              </a:solidFill>
            </a:endParaRPr>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xfrm>
            <a:off x="0" y="6381750"/>
            <a:ext cx="1353312" cy="476250"/>
          </a:xfrm>
        </p:spPr>
        <p:txBody>
          <a:bodyPr/>
          <a:lstStyle>
            <a:lvl1pPr>
              <a:defRPr/>
            </a:lvl1pPr>
          </a:lstStyle>
          <a:p>
            <a:pPr>
              <a:defRPr/>
            </a:pPr>
            <a:fld id="{38ECF506-4457-417F-9574-CBBEFD9320EB}" type="datetime1">
              <a:rPr lang="zh-CN" altLang="en-US" smtClean="0">
                <a:solidFill>
                  <a:srgbClr val="000000"/>
                </a:solidFill>
              </a:rPr>
            </a:fld>
            <a:endParaRPr lang="en-US" altLang="zh-CN">
              <a:solidFill>
                <a:srgbClr val="000000"/>
              </a:solidFill>
            </a:endParaRPr>
          </a:p>
        </p:txBody>
      </p:sp>
      <p:sp>
        <p:nvSpPr>
          <p:cNvPr id="3" name="Rectangle 7"/>
          <p:cNvSpPr>
            <a:spLocks noGrp="1" noChangeArrowheads="1"/>
          </p:cNvSpPr>
          <p:nvPr>
            <p:ph type="ftr" sz="quarter" idx="11"/>
          </p:nvPr>
        </p:nvSpPr>
        <p:spPr>
          <a:xfrm>
            <a:off x="10808208" y="5913882"/>
            <a:ext cx="1383792" cy="476250"/>
          </a:xfrm>
        </p:spPr>
        <p:txBody>
          <a:bodyPr/>
          <a:lstStyle>
            <a:lvl1pPr>
              <a:defRPr/>
            </a:lvl1pPr>
          </a:lstStyle>
          <a:p>
            <a:pPr>
              <a:defRPr/>
            </a:pPr>
            <a:endParaRPr lang="en-US" altLang="zh-CN">
              <a:solidFill>
                <a:srgbClr val="000000"/>
              </a:solidFill>
            </a:endParaRPr>
          </a:p>
        </p:txBody>
      </p:sp>
      <p:sp>
        <p:nvSpPr>
          <p:cNvPr id="4" name="灯片编号占位符 5"/>
          <p:cNvSpPr>
            <a:spLocks noGrp="1"/>
          </p:cNvSpPr>
          <p:nvPr>
            <p:ph type="sldNum" sz="quarter" idx="12"/>
          </p:nvPr>
        </p:nvSpPr>
        <p:spPr>
          <a:xfrm>
            <a:off x="10768584" y="6446393"/>
            <a:ext cx="1423416" cy="365125"/>
          </a:xfrm>
          <a:prstGeom prst="rect">
            <a:avLst/>
          </a:prstGeom>
        </p:spPr>
        <p:txBody>
          <a:bodyPr/>
          <a:lstStyle/>
          <a:p>
            <a:fld id="{F54A3870-DF25-464D-B6EA-3BA6EAAA2BCA}" type="slidenum">
              <a:rPr lang="zh-CN" altLang="en-US" smtClean="0"/>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fontAlgn="base">
              <a:spcAft>
                <a:spcPct val="0"/>
              </a:spcAft>
              <a:defRPr/>
            </a:pPr>
            <a:fld id="{2D306974-4CE8-485A-96B6-9223886D1DF0}" type="datetime1">
              <a:rPr lang="zh-CN" altLang="en-US" smtClean="0">
                <a:solidFill>
                  <a:srgbClr val="000000"/>
                </a:solidFill>
              </a:rPr>
            </a:fld>
            <a:endParaRPr lang="en-US" altLang="zh-CN">
              <a:solidFill>
                <a:srgbClr val="000000"/>
              </a:solidFill>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en-US" altLang="zh-CN">
              <a:solidFill>
                <a:srgbClr val="000000"/>
              </a:solidFill>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C926B5F7-7804-42C2-87AF-FE396A6AD362}" type="datetime1">
              <a:rPr lang="zh-CN" altLang="en-US" smtClean="0">
                <a:solidFill>
                  <a:srgbClr val="000000"/>
                </a:solidFill>
              </a:rPr>
            </a:fld>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8B353C8F-6CAA-4D65-B49C-FE7AC6212230}" type="datetime1">
              <a:rPr lang="zh-CN" altLang="en-US" smtClean="0">
                <a:solidFill>
                  <a:srgbClr val="000000"/>
                </a:solidFill>
              </a:rPr>
            </a:fld>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DD03BC80-F3B6-401B-AB0C-CD39FCE7729F}" type="datetime1">
              <a:rPr lang="zh-CN" altLang="en-US" smtClean="0">
                <a:solidFill>
                  <a:srgbClr val="000000"/>
                </a:solidFill>
              </a:rPr>
            </a:fld>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8" y="304801"/>
            <a:ext cx="2669116" cy="60039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1"/>
            <a:ext cx="7806267" cy="60039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4F9FEE59-A4DE-4F32-928E-0F40F9780CE7}" type="datetime1">
              <a:rPr lang="zh-CN" altLang="en-US" smtClean="0">
                <a:solidFill>
                  <a:srgbClr val="000000"/>
                </a:solidFill>
              </a:rPr>
            </a:fld>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6762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755651" y="1341439"/>
            <a:ext cx="5232400" cy="4967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1251" y="1341439"/>
            <a:ext cx="5232400" cy="4967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42827657-1F6D-43D0-8959-A6B161B2E75E}" type="datetime1">
              <a:rPr lang="zh-CN" altLang="en-US" smtClean="0">
                <a:solidFill>
                  <a:srgbClr val="000000"/>
                </a:solidFill>
              </a:rPr>
            </a:fld>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6762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755651" y="1341439"/>
            <a:ext cx="5232400" cy="4967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1251" y="1341438"/>
            <a:ext cx="5232400" cy="24066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1251" y="3900489"/>
            <a:ext cx="5232400" cy="24082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6"/>
          <p:cNvSpPr>
            <a:spLocks noGrp="1" noChangeArrowheads="1"/>
          </p:cNvSpPr>
          <p:nvPr>
            <p:ph type="dt" sz="half" idx="10"/>
          </p:nvPr>
        </p:nvSpPr>
        <p:spPr/>
        <p:txBody>
          <a:bodyPr/>
          <a:lstStyle>
            <a:lvl1pPr>
              <a:defRPr/>
            </a:lvl1pPr>
          </a:lstStyle>
          <a:p>
            <a:pPr>
              <a:defRPr/>
            </a:pPr>
            <a:fld id="{B5D9DDB4-0F07-4147-A770-C2BB5A1B7023}" type="datetime1">
              <a:rPr lang="zh-CN" altLang="en-US" smtClean="0">
                <a:solidFill>
                  <a:srgbClr val="000000"/>
                </a:solidFill>
              </a:rPr>
            </a:fld>
            <a:endParaRPr lang="en-US" altLang="zh-CN">
              <a:solidFill>
                <a:srgbClr val="000000"/>
              </a:solidFill>
            </a:endParaRPr>
          </a:p>
        </p:txBody>
      </p:sp>
      <p:sp>
        <p:nvSpPr>
          <p:cNvPr id="7"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6C13C06-7888-47A9-8EC9-46359ED9F9CE}"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54A3870-DF25-464D-B6EA-3BA6EAAA2BCA}" type="slidenum">
              <a:rPr lang="zh-CN" altLang="en-US" smtClean="0"/>
            </a:fld>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3" name="AutoShape 7"/>
          <p:cNvSpPr>
            <a:spLocks noChangeArrowheads="1"/>
          </p:cNvSpPr>
          <p:nvPr/>
        </p:nvSpPr>
        <p:spPr bwMode="auto">
          <a:xfrm>
            <a:off x="914400" y="2959422"/>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pPr eaLnBrk="0" fontAlgn="base" hangingPunct="0">
              <a:spcBef>
                <a:spcPct val="0"/>
              </a:spcBef>
              <a:spcAft>
                <a:spcPct val="0"/>
              </a:spcAft>
            </a:pPr>
            <a:endParaRPr lang="zh-CN" altLang="en-US" sz="1800" b="1" i="1">
              <a:solidFill>
                <a:srgbClr val="000000"/>
              </a:solidFill>
              <a:ea typeface="宋体" panose="02010600030101010101" pitchFamily="2" charset="-122"/>
            </a:endParaRPr>
          </a:p>
        </p:txBody>
      </p:sp>
      <p:sp>
        <p:nvSpPr>
          <p:cNvPr id="701443" name="Rectangle 3"/>
          <p:cNvSpPr>
            <a:spLocks noGrp="1" noChangeArrowheads="1"/>
          </p:cNvSpPr>
          <p:nvPr>
            <p:ph type="subTitle" idx="1"/>
          </p:nvPr>
        </p:nvSpPr>
        <p:spPr>
          <a:xfrm>
            <a:off x="935568" y="3833813"/>
            <a:ext cx="10342033" cy="1600200"/>
          </a:xfrm>
        </p:spPr>
        <p:txBody>
          <a:bodyPr/>
          <a:lstStyle>
            <a:lvl1pPr marL="0" indent="0" algn="ctr">
              <a:buFont typeface="Wingdings" panose="05000000000000000000" pitchFamily="2" charset="2"/>
              <a:buNone/>
              <a:defRPr sz="2600"/>
            </a:lvl1pPr>
          </a:lstStyle>
          <a:p>
            <a:pPr lvl="0"/>
            <a:r>
              <a:rPr lang="zh-CN" altLang="en-US" noProof="0"/>
              <a:t>单击此处编辑母版副标题样式</a:t>
            </a:r>
            <a:endParaRPr lang="zh-CN" altLang="en-US" noProof="0"/>
          </a:p>
        </p:txBody>
      </p:sp>
      <p:sp>
        <p:nvSpPr>
          <p:cNvPr id="6" name="Rectangle 4"/>
          <p:cNvSpPr>
            <a:spLocks noGrp="1" noChangeArrowheads="1"/>
          </p:cNvSpPr>
          <p:nvPr userDrawn="1">
            <p:ph type="dt" sz="half" idx="10"/>
          </p:nvPr>
        </p:nvSpPr>
        <p:spPr>
          <a:xfrm>
            <a:off x="914400" y="6248400"/>
            <a:ext cx="2540000" cy="457200"/>
          </a:xfrm>
        </p:spPr>
        <p:txBody>
          <a:bodyPr/>
          <a:lstStyle>
            <a:lvl1pPr>
              <a:defRPr/>
            </a:lvl1pPr>
          </a:lstStyle>
          <a:p>
            <a:pPr>
              <a:defRPr/>
            </a:pPr>
            <a:fld id="{88D1DD42-8669-45A0-B70B-6A4E9F7A3C49}" type="datetime1">
              <a:rPr lang="zh-CN" altLang="en-US" smtClean="0">
                <a:solidFill>
                  <a:srgbClr val="000000"/>
                </a:solidFill>
              </a:rPr>
            </a:fld>
            <a:endParaRPr lang="en-US" altLang="zh-CN">
              <a:solidFill>
                <a:srgbClr val="000000"/>
              </a:solidFill>
            </a:endParaRPr>
          </a:p>
        </p:txBody>
      </p:sp>
      <p:sp>
        <p:nvSpPr>
          <p:cNvPr id="7" name="Rectangle 5"/>
          <p:cNvSpPr>
            <a:spLocks noGrp="1" noChangeArrowheads="1"/>
          </p:cNvSpPr>
          <p:nvPr userDrawn="1">
            <p:ph type="ftr" sz="quarter" idx="11"/>
          </p:nvPr>
        </p:nvSpPr>
        <p:spPr>
          <a:xfrm>
            <a:off x="4165600" y="6248400"/>
            <a:ext cx="3860800" cy="457200"/>
          </a:xfrm>
        </p:spPr>
        <p:txBody>
          <a:bodyPr/>
          <a:lstStyle>
            <a:lvl1pPr algn="ctr">
              <a:defRPr>
                <a:ea typeface="宋体" panose="02010600030101010101" pitchFamily="2" charset="-122"/>
              </a:defRPr>
            </a:lvl1pPr>
          </a:lstStyle>
          <a:p>
            <a:pPr>
              <a:defRPr/>
            </a:pPr>
            <a:endParaRPr lang="en-US" altLang="zh-CN">
              <a:solidFill>
                <a:srgbClr val="000000"/>
              </a:solidFill>
            </a:endParaRPr>
          </a:p>
        </p:txBody>
      </p:sp>
      <p:sp>
        <p:nvSpPr>
          <p:cNvPr id="8" name="Rectangle 6"/>
          <p:cNvSpPr>
            <a:spLocks noGrp="1" noChangeArrowheads="1"/>
          </p:cNvSpPr>
          <p:nvPr userDrawn="1">
            <p:ph type="sldNum" sz="quarter" idx="12"/>
          </p:nvPr>
        </p:nvSpPr>
        <p:spPr bwMode="auto">
          <a:xfrm>
            <a:off x="8737600" y="6248400"/>
            <a:ext cx="2540000" cy="457200"/>
          </a:xfrm>
          <a:prstGeom prst="rect">
            <a:avLst/>
          </a:prstGeom>
        </p:spPr>
        <p:txBody>
          <a:bodyPr vert="horz" wrap="square" lIns="91440" tIns="45720" rIns="91440" bIns="45720" numCol="1" anchor="t" anchorCtr="0" compatLnSpc="1"/>
          <a:lstStyle>
            <a:lvl1pPr algn="r" eaLnBrk="1" hangingPunct="1">
              <a:defRPr sz="1200" b="0" i="0">
                <a:latin typeface="Verdana" panose="020B0604030504040204" pitchFamily="34" charset="0"/>
                <a:ea typeface="宋体" panose="02010600030101010101" pitchFamily="2" charset="-122"/>
              </a:defRPr>
            </a:lvl1pPr>
          </a:lstStyle>
          <a:p>
            <a:pPr fontAlgn="base">
              <a:spcBef>
                <a:spcPct val="0"/>
              </a:spcBef>
              <a:spcAft>
                <a:spcPct val="0"/>
              </a:spcAft>
              <a:defRPr/>
            </a:pPr>
            <a:fld id="{63C623F4-CF6D-4BAE-98D8-DB4E2BA6DAFF}" type="slidenum">
              <a:rPr lang="en-US" altLang="zh-CN">
                <a:solidFill>
                  <a:srgbClr val="000000"/>
                </a:solidFill>
              </a:rPr>
            </a:fld>
            <a:endParaRPr lang="en-US" altLang="zh-CN" dirty="0">
              <a:solidFill>
                <a:srgbClr val="000000"/>
              </a:solidFill>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445" y="5192666"/>
            <a:ext cx="2016224" cy="1238060"/>
          </a:xfrm>
          <a:prstGeom prst="rect">
            <a:avLst/>
          </a:prstGeom>
          <a:ln>
            <a:noFill/>
          </a:ln>
        </p:spPr>
      </p:pic>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3pPr marL="1304925" indent="-395605">
              <a:buFont typeface="Wingdings" panose="05000000000000000000" pitchFamily="2" charset="2"/>
              <a:buChar char="l"/>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6"/>
          <p:cNvSpPr>
            <a:spLocks noGrp="1" noChangeArrowheads="1"/>
          </p:cNvSpPr>
          <p:nvPr>
            <p:ph type="dt" sz="half" idx="10"/>
          </p:nvPr>
        </p:nvSpPr>
        <p:spPr/>
        <p:txBody>
          <a:bodyPr/>
          <a:lstStyle>
            <a:lvl1pPr>
              <a:defRPr/>
            </a:lvl1pPr>
          </a:lstStyle>
          <a:p>
            <a:pPr>
              <a:defRPr/>
            </a:pPr>
            <a:fld id="{B456B19C-F259-41A2-B069-210F1C0EE466}" type="datetime1">
              <a:rPr lang="zh-CN" altLang="en-US" smtClean="0">
                <a:solidFill>
                  <a:srgbClr val="000000"/>
                </a:solidFill>
              </a:rPr>
            </a:fld>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92F3B23-8B44-4C85-9AA0-7B3F8F351F59}"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819054A-FE54-40D0-AD53-8F51D00AF4A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52159C0-10A5-4B16-8E48-099603310DD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C94291C-AD78-4316-A12A-4C07B7786D1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1686768-2332-4561-85F0-CBA9B5A23C40}"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559EED0-23F7-4A06-B041-478F69627357}"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411A825-3CAB-4781-BA98-9AAF9BD948BF}"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C55DD4E-B35B-4B9B-B6D2-E6BE9688F20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1BEB04A-F74B-4BC2-B8A5-9C4A804824C8}"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84251B2-32A5-47EA-96BE-780FE8FB582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12E4FEF-50A0-4E2C-962C-CD951860873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45DC74-54EE-463C-96CB-DC2C4F186093}"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showMasterSp="0">
  <p:cSld name="标题幻灯片">
    <p:spTree>
      <p:nvGrpSpPr>
        <p:cNvPr id="1" name=""/>
        <p:cNvGrpSpPr/>
        <p:nvPr/>
      </p:nvGrpSpPr>
      <p:grpSpPr>
        <a:xfrm>
          <a:off x="0" y="0"/>
          <a:ext cx="0" cy="0"/>
          <a:chOff x="0" y="0"/>
          <a:chExt cx="0" cy="0"/>
        </a:xfrm>
      </p:grpSpPr>
      <p:sp>
        <p:nvSpPr>
          <p:cNvPr id="2" name="Rectangle 5"/>
          <p:cNvSpPr>
            <a:spLocks noChangeArrowheads="1"/>
          </p:cNvSpPr>
          <p:nvPr userDrawn="1"/>
        </p:nvSpPr>
        <p:spPr bwMode="auto">
          <a:xfrm>
            <a:off x="10905067" y="6511926"/>
            <a:ext cx="1185333" cy="269875"/>
          </a:xfrm>
          <a:prstGeom prst="rect">
            <a:avLst/>
          </a:prstGeom>
          <a:noFill/>
          <a:ln w="9525">
            <a:noFill/>
            <a:miter lim="800000"/>
          </a:ln>
          <a:effectLst/>
        </p:spPr>
        <p:txBody>
          <a:bodyPr/>
          <a:lstStyle/>
          <a:p>
            <a:pPr algn="r">
              <a:defRPr/>
            </a:pPr>
            <a:fld id="{D5A42AB9-BF8B-496B-A2FA-1FE01F0CF08D}" type="slidenum">
              <a:rPr lang="en-US" altLang="zh-CN" sz="1400">
                <a:solidFill>
                  <a:schemeClr val="bg1"/>
                </a:solidFill>
                <a:latin typeface="Arial" panose="020B0604020202020204" pitchFamily="34" charset="0"/>
                <a:ea typeface="楷体_GB2312" pitchFamily="49" charset="-122"/>
              </a:rPr>
            </a:fld>
            <a:endParaRPr lang="en-US" altLang="zh-CN" sz="1400">
              <a:solidFill>
                <a:schemeClr val="bg1"/>
              </a:solidFill>
              <a:latin typeface="Arial" panose="020B0604020202020204" pitchFamily="34" charset="0"/>
              <a:ea typeface="楷体_GB2312" pitchFamily="49" charset="-122"/>
            </a:endParaRPr>
          </a:p>
        </p:txBody>
      </p:sp>
      <p:sp>
        <p:nvSpPr>
          <p:cNvPr id="3" name="Rectangle 6"/>
          <p:cNvSpPr>
            <a:spLocks noChangeArrowheads="1"/>
          </p:cNvSpPr>
          <p:nvPr userDrawn="1"/>
        </p:nvSpPr>
        <p:spPr bwMode="auto">
          <a:xfrm>
            <a:off x="412751" y="174625"/>
            <a:ext cx="9649883" cy="560388"/>
          </a:xfrm>
          <a:prstGeom prst="rect">
            <a:avLst/>
          </a:prstGeom>
          <a:noFill/>
          <a:ln w="9525" algn="ctr">
            <a:noFill/>
            <a:miter lim="800000"/>
          </a:ln>
          <a:effectLst/>
        </p:spPr>
        <p:txBody>
          <a:bodyPr/>
          <a:lstStyle/>
          <a:p>
            <a:pPr>
              <a:defRPr/>
            </a:pPr>
            <a:endParaRPr lang="zh-CN" altLang="zh-CN" sz="2800">
              <a:solidFill>
                <a:srgbClr val="FF3300"/>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4" name="Line 8"/>
          <p:cNvSpPr>
            <a:spLocks noChangeShapeType="1"/>
          </p:cNvSpPr>
          <p:nvPr userDrawn="1"/>
        </p:nvSpPr>
        <p:spPr bwMode="gray">
          <a:xfrm flipV="1">
            <a:off x="300568" y="765175"/>
            <a:ext cx="11688233" cy="0"/>
          </a:xfrm>
          <a:prstGeom prst="line">
            <a:avLst/>
          </a:prstGeom>
          <a:noFill/>
          <a:ln w="76200" cap="rnd">
            <a:solidFill>
              <a:schemeClr val="accent2"/>
            </a:solidFill>
            <a:prstDash val="sysDot"/>
            <a:round/>
          </a:ln>
          <a:effectLst/>
        </p:spPr>
        <p:txBody>
          <a:bodyPr>
            <a:spAutoFit/>
          </a:bodyPr>
          <a:lstStyle/>
          <a:p>
            <a:pPr algn="r">
              <a:defRPr/>
            </a:pPr>
            <a:endParaRPr lang="zh-CN" altLang="en-US" sz="1400" baseline="-25000">
              <a:latin typeface="Arial" panose="020B0604020202020204" pitchFamily="34" charset="0"/>
              <a:ea typeface="楷体_GB2312" pitchFamily="49" charset="-122"/>
            </a:endParaRPr>
          </a:p>
        </p:txBody>
      </p:sp>
      <p:graphicFrame>
        <p:nvGraphicFramePr>
          <p:cNvPr id="5" name="Object 4"/>
          <p:cNvGraphicFramePr>
            <a:graphicFrameLocks noChangeAspect="1"/>
          </p:cNvGraphicFramePr>
          <p:nvPr/>
        </p:nvGraphicFramePr>
        <p:xfrm>
          <a:off x="0" y="0"/>
          <a:ext cx="12192000" cy="908050"/>
        </p:xfrm>
        <a:graphic>
          <a:graphicData uri="http://schemas.openxmlformats.org/presentationml/2006/ole">
            <mc:AlternateContent xmlns:mc="http://schemas.openxmlformats.org/markup-compatibility/2006">
              <mc:Choice xmlns:v="urn:schemas-microsoft-com:vml" Requires="v">
                <p:oleObj spid="_x0000_s121949" name="" r:id="rId2" imgW="7153275" imgH="857250" progId="">
                  <p:embed/>
                </p:oleObj>
              </mc:Choice>
              <mc:Fallback>
                <p:oleObj name="" r:id="rId2" imgW="7153275" imgH="85725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7"/>
          <p:cNvSpPr>
            <a:spLocks noChangeArrowheads="1"/>
          </p:cNvSpPr>
          <p:nvPr userDrawn="1"/>
        </p:nvSpPr>
        <p:spPr bwMode="auto">
          <a:xfrm>
            <a:off x="-16933" y="6489700"/>
            <a:ext cx="12208933" cy="368300"/>
          </a:xfrm>
          <a:prstGeom prst="rect">
            <a:avLst/>
          </a:prstGeom>
          <a:gradFill rotWithShape="1">
            <a:gsLst>
              <a:gs pos="0">
                <a:srgbClr val="CC0000">
                  <a:gamma/>
                  <a:shade val="46275"/>
                  <a:invGamma/>
                </a:srgbClr>
              </a:gs>
              <a:gs pos="100000">
                <a:srgbClr val="CC0000">
                  <a:alpha val="81000"/>
                </a:srgbClr>
              </a:gs>
            </a:gsLst>
            <a:lin ang="5400000" scaled="1"/>
          </a:gradFill>
          <a:ln w="9525">
            <a:solidFill>
              <a:schemeClr val="tx1"/>
            </a:solidFill>
            <a:miter lim="800000"/>
          </a:ln>
          <a:effectLst/>
        </p:spPr>
        <p:txBody>
          <a:bodyPr wrap="none" anchor="ctr"/>
          <a:lstStyle/>
          <a:p>
            <a:pPr algn="r">
              <a:defRPr/>
            </a:pPr>
            <a:endParaRPr lang="zh-CN" altLang="en-US" sz="1400" baseline="-25000">
              <a:latin typeface="Arial" panose="020B0604020202020204" pitchFamily="34" charset="0"/>
              <a:ea typeface="楷体_GB2312" pitchFamily="49" charset="-122"/>
            </a:endParaRPr>
          </a:p>
        </p:txBody>
      </p:sp>
      <p:sp>
        <p:nvSpPr>
          <p:cNvPr id="7" name="Text Box 14" descr="白色大理石"/>
          <p:cNvSpPr txBox="1">
            <a:spLocks noChangeArrowheads="1"/>
          </p:cNvSpPr>
          <p:nvPr userDrawn="1"/>
        </p:nvSpPr>
        <p:spPr bwMode="auto">
          <a:xfrm>
            <a:off x="3086101" y="6475413"/>
            <a:ext cx="6720417" cy="369332"/>
          </a:xfrm>
          <a:prstGeom prst="rect">
            <a:avLst/>
          </a:prstGeom>
          <a:noFill/>
          <a:ln w="9525" algn="ctr">
            <a:noFill/>
            <a:miter lim="800000"/>
          </a:ln>
          <a:effectLst/>
        </p:spPr>
        <p:txBody>
          <a:bodyPr>
            <a:spAutoFit/>
          </a:bodyPr>
          <a:lstStyle/>
          <a:p>
            <a:pPr>
              <a:spcBef>
                <a:spcPct val="50000"/>
              </a:spcBef>
              <a:defRPr/>
            </a:pPr>
            <a:r>
              <a:rPr lang="zh-CN" altLang="en-US" sz="1800">
                <a:solidFill>
                  <a:schemeClr val="bg1"/>
                </a:solidFill>
                <a:latin typeface="华文行楷" panose="02010800040101010101" pitchFamily="2" charset="-122"/>
                <a:ea typeface="华文行楷" panose="02010800040101010101" pitchFamily="2" charset="-122"/>
              </a:rPr>
              <a:t>规格严格       功夫到家</a:t>
            </a:r>
            <a:endParaRPr lang="zh-CN" altLang="en-US" sz="1800">
              <a:solidFill>
                <a:schemeClr val="bg1"/>
              </a:solidFill>
              <a:latin typeface="华文行楷" panose="02010800040101010101" pitchFamily="2" charset="-122"/>
              <a:ea typeface="华文行楷" panose="02010800040101010101" pitchFamily="2" charset="-122"/>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jpe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2" Type="http://schemas.openxmlformats.org/officeDocument/2006/relationships/theme" Target="../theme/theme2.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4.jpeg"/><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676275"/>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755651" y="1341439"/>
            <a:ext cx="10668000" cy="496728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AutoShape 4"/>
          <p:cNvSpPr>
            <a:spLocks noChangeArrowheads="1"/>
          </p:cNvSpPr>
          <p:nvPr/>
        </p:nvSpPr>
        <p:spPr bwMode="auto">
          <a:xfrm>
            <a:off x="791633" y="898525"/>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pPr eaLnBrk="0" fontAlgn="base" hangingPunct="0">
              <a:spcBef>
                <a:spcPct val="0"/>
              </a:spcBef>
              <a:spcAft>
                <a:spcPct val="0"/>
              </a:spcAft>
            </a:pPr>
            <a:endParaRPr lang="zh-CN" altLang="en-US" sz="1800" b="1" i="1">
              <a:solidFill>
                <a:srgbClr val="000000"/>
              </a:solidFill>
              <a:ea typeface="宋体" panose="02010600030101010101" pitchFamily="2" charset="-122"/>
            </a:endParaRPr>
          </a:p>
        </p:txBody>
      </p:sp>
      <p:sp>
        <p:nvSpPr>
          <p:cNvPr id="700422" name="Rectangle 6"/>
          <p:cNvSpPr>
            <a:spLocks noGrp="1" noChangeArrowheads="1"/>
          </p:cNvSpPr>
          <p:nvPr>
            <p:ph type="dt" sz="half" idx="2"/>
          </p:nvPr>
        </p:nvSpPr>
        <p:spPr bwMode="auto">
          <a:xfrm>
            <a:off x="812800" y="6245225"/>
            <a:ext cx="2641600" cy="476250"/>
          </a:xfrm>
          <a:prstGeom prst="rect">
            <a:avLst/>
          </a:prstGeom>
          <a:noFill/>
          <a:ln>
            <a:noFill/>
          </a:ln>
          <a:effectLst/>
        </p:spPr>
        <p:txBody>
          <a:bodyPr vert="horz" wrap="square" lIns="91440" tIns="45720" rIns="91440" bIns="45720" numCol="1" anchor="t" anchorCtr="0" compatLnSpc="1"/>
          <a:lstStyle>
            <a:lvl1pPr eaLnBrk="1" hangingPunct="1">
              <a:spcBef>
                <a:spcPct val="0"/>
              </a:spcBef>
              <a:defRPr sz="1200" b="0" i="0">
                <a:latin typeface="Verdana" panose="020B0604030504040204" pitchFamily="34" charset="0"/>
                <a:ea typeface="宋体" panose="02010600030101010101" pitchFamily="2" charset="-122"/>
              </a:defRPr>
            </a:lvl1pPr>
          </a:lstStyle>
          <a:p>
            <a:pPr fontAlgn="base">
              <a:spcAft>
                <a:spcPct val="0"/>
              </a:spcAft>
              <a:defRPr/>
            </a:pPr>
            <a:fld id="{4DCE7F87-D40E-4586-92EC-79A579E5687E}" type="datetime1">
              <a:rPr lang="zh-CN" altLang="en-US" smtClean="0">
                <a:solidFill>
                  <a:srgbClr val="000000"/>
                </a:solidFill>
              </a:rPr>
            </a:fld>
            <a:endParaRPr lang="en-US" altLang="zh-CN">
              <a:solidFill>
                <a:srgbClr val="000000"/>
              </a:solidFill>
            </a:endParaRPr>
          </a:p>
        </p:txBody>
      </p:sp>
      <p:sp>
        <p:nvSpPr>
          <p:cNvPr id="700423" name="Rectangle 7"/>
          <p:cNvSpPr>
            <a:spLocks noGrp="1" noChangeArrowheads="1"/>
          </p:cNvSpPr>
          <p:nvPr>
            <p:ph type="ftr" sz="quarter" idx="3"/>
          </p:nvPr>
        </p:nvSpPr>
        <p:spPr bwMode="auto">
          <a:xfrm>
            <a:off x="9588501" y="6381750"/>
            <a:ext cx="2603500" cy="476250"/>
          </a:xfrm>
          <a:prstGeom prst="rect">
            <a:avLst/>
          </a:prstGeom>
          <a:noFill/>
          <a:ln>
            <a:noFill/>
          </a:ln>
          <a:effectLst/>
        </p:spPr>
        <p:txBody>
          <a:bodyPr vert="horz" wrap="square" lIns="91440" tIns="45720" rIns="91440" bIns="45720" numCol="1" anchor="t" anchorCtr="0" compatLnSpc="1"/>
          <a:lstStyle>
            <a:lvl1pPr algn="r" eaLnBrk="1" hangingPunct="1">
              <a:defRPr sz="1200" b="0" i="0">
                <a:latin typeface="Verdana" panose="020B0604030504040204" pitchFamily="34" charset="0"/>
                <a:ea typeface="宋体" panose="02010600030101010101" pitchFamily="2" charset="-122"/>
              </a:defRPr>
            </a:lvl1pPr>
          </a:lstStyle>
          <a:p>
            <a:pPr fontAlgn="base">
              <a:spcBef>
                <a:spcPct val="0"/>
              </a:spcBef>
              <a:spcAft>
                <a:spcPct val="0"/>
              </a:spcAft>
              <a:defRPr/>
            </a:pPr>
            <a:endParaRPr lang="en-US" altLang="zh-CN">
              <a:solidFill>
                <a:srgbClr val="000000"/>
              </a:solidFill>
            </a:endParaRPr>
          </a:p>
        </p:txBody>
      </p:sp>
      <p:pic>
        <p:nvPicPr>
          <p:cNvPr id="10" name="图片 9" descr="ca8316c279fe0b090ff4776e"/>
          <p:cNvPicPr/>
          <p:nvPr userDrawn="1"/>
        </p:nvPicPr>
        <p:blipFill>
          <a:blip r:embed="rId19" cstate="print">
            <a:duotone>
              <a:schemeClr val="accent6">
                <a:shade val="45000"/>
                <a:satMod val="135000"/>
              </a:schemeClr>
              <a:prstClr val="white"/>
            </a:duotone>
          </a:blip>
          <a:srcRect l="1344" t="8531" r="72034" b="7974"/>
          <a:stretch>
            <a:fillRect/>
          </a:stretch>
        </p:blipFill>
        <p:spPr bwMode="auto">
          <a:xfrm>
            <a:off x="10528929" y="105271"/>
            <a:ext cx="1106080" cy="682259"/>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8E7D8B-3F5A-40BA-B5E8-CEE6420C06B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45DC74-54EE-463C-96CB-DC2C4F18609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CCECFF"/>
            </a:gs>
          </a:gsLst>
          <a:lin ang="5400000" scaled="1"/>
        </a:gradFill>
        <a:effectLst/>
      </p:bgPr>
    </p:bg>
    <p:spTree>
      <p:nvGrpSpPr>
        <p:cNvPr id="1" name=""/>
        <p:cNvGrpSpPr/>
        <p:nvPr/>
      </p:nvGrpSpPr>
      <p:grpSpPr>
        <a:xfrm>
          <a:off x="0" y="0"/>
          <a:ext cx="0" cy="0"/>
          <a:chOff x="0" y="0"/>
          <a:chExt cx="0" cy="0"/>
        </a:xfrm>
      </p:grpSpPr>
      <p:sp>
        <p:nvSpPr>
          <p:cNvPr id="261125" name="Rectangle 5"/>
          <p:cNvSpPr>
            <a:spLocks noChangeArrowheads="1"/>
          </p:cNvSpPr>
          <p:nvPr/>
        </p:nvSpPr>
        <p:spPr bwMode="auto">
          <a:xfrm>
            <a:off x="10905067" y="6511926"/>
            <a:ext cx="1185333" cy="269875"/>
          </a:xfrm>
          <a:prstGeom prst="rect">
            <a:avLst/>
          </a:prstGeom>
          <a:noFill/>
          <a:ln w="9525">
            <a:noFill/>
            <a:miter lim="800000"/>
          </a:ln>
          <a:effectLst/>
        </p:spPr>
        <p:txBody>
          <a:bodyPr/>
          <a:lstStyle/>
          <a:p>
            <a:pPr algn="r">
              <a:defRPr/>
            </a:pPr>
            <a:fld id="{767AE0CD-429C-4BAD-B8CB-26BBC0891C32}" type="slidenum">
              <a:rPr lang="en-US" altLang="zh-CN" sz="1400">
                <a:solidFill>
                  <a:schemeClr val="bg1"/>
                </a:solidFill>
                <a:latin typeface="Arial" panose="020B0604020202020204" pitchFamily="34" charset="0"/>
                <a:ea typeface="楷体_GB2312" pitchFamily="49" charset="-122"/>
              </a:rPr>
            </a:fld>
            <a:endParaRPr lang="en-US" altLang="zh-CN" sz="1400">
              <a:solidFill>
                <a:schemeClr val="bg1"/>
              </a:solidFill>
              <a:latin typeface="Arial" panose="020B0604020202020204" pitchFamily="34" charset="0"/>
              <a:ea typeface="楷体_GB2312" pitchFamily="49" charset="-122"/>
            </a:endParaRPr>
          </a:p>
        </p:txBody>
      </p:sp>
      <p:sp>
        <p:nvSpPr>
          <p:cNvPr id="41987" name="Rectangle 6"/>
          <p:cNvSpPr>
            <a:spLocks noGrp="1" noChangeArrowheads="1"/>
          </p:cNvSpPr>
          <p:nvPr>
            <p:ph type="body" idx="1"/>
          </p:nvPr>
        </p:nvSpPr>
        <p:spPr bwMode="auto">
          <a:xfrm>
            <a:off x="609600" y="996951"/>
            <a:ext cx="10972800" cy="512921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988" name="Rectangle 7"/>
          <p:cNvSpPr>
            <a:spLocks noGrp="1" noChangeArrowheads="1"/>
          </p:cNvSpPr>
          <p:nvPr>
            <p:ph type="title"/>
          </p:nvPr>
        </p:nvSpPr>
        <p:spPr bwMode="auto">
          <a:xfrm>
            <a:off x="2063751" y="144463"/>
            <a:ext cx="10176933" cy="57785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61131" name="Line 11"/>
          <p:cNvSpPr>
            <a:spLocks noChangeShapeType="1"/>
          </p:cNvSpPr>
          <p:nvPr/>
        </p:nvSpPr>
        <p:spPr bwMode="gray">
          <a:xfrm flipV="1">
            <a:off x="239185" y="836613"/>
            <a:ext cx="11688233" cy="0"/>
          </a:xfrm>
          <a:prstGeom prst="line">
            <a:avLst/>
          </a:prstGeom>
          <a:noFill/>
          <a:ln w="76200" cap="rnd">
            <a:solidFill>
              <a:schemeClr val="accent2"/>
            </a:solidFill>
            <a:prstDash val="sysDot"/>
            <a:round/>
          </a:ln>
          <a:effectLst/>
        </p:spPr>
        <p:txBody>
          <a:bodyPr>
            <a:spAutoFit/>
          </a:bodyPr>
          <a:lstStyle/>
          <a:p>
            <a:pPr algn="r">
              <a:defRPr/>
            </a:pPr>
            <a:endParaRPr lang="zh-CN" altLang="en-US" sz="1400" baseline="-25000">
              <a:latin typeface="Arial" panose="020B0604020202020204" pitchFamily="34" charset="0"/>
              <a:ea typeface="楷体_GB2312" pitchFamily="49" charset="-122"/>
            </a:endParaRPr>
          </a:p>
        </p:txBody>
      </p:sp>
      <p:pic>
        <p:nvPicPr>
          <p:cNvPr id="18455" name="Picture 23" descr="A4-工大校徽"/>
          <p:cNvPicPr>
            <a:picLocks noChangeAspect="1" noChangeArrowheads="1"/>
          </p:cNvPicPr>
          <p:nvPr/>
        </p:nvPicPr>
        <p:blipFill>
          <a:blip r:embed="rId2" cstate="print">
            <a:clrChange>
              <a:clrFrom>
                <a:srgbClr val="FFFFFF"/>
              </a:clrFrom>
              <a:clrTo>
                <a:srgbClr val="FFFFFF">
                  <a:alpha val="0"/>
                </a:srgbClr>
              </a:clrTo>
            </a:clrChange>
            <a:lum contrast="6000"/>
          </a:blip>
          <a:srcRect/>
          <a:stretch>
            <a:fillRect/>
          </a:stretch>
        </p:blipFill>
        <p:spPr bwMode="auto">
          <a:xfrm>
            <a:off x="239184" y="0"/>
            <a:ext cx="1117600" cy="795338"/>
          </a:xfrm>
          <a:prstGeom prst="rect">
            <a:avLst/>
          </a:prstGeom>
          <a:noFill/>
          <a:ln w="9525">
            <a:noFill/>
            <a:miter lim="800000"/>
            <a:headEnd/>
            <a:tailEnd/>
          </a:ln>
          <a:effectLst>
            <a:outerShdw dist="35921" dir="2700000" algn="ctr" rotWithShape="0">
              <a:srgbClr val="808080"/>
            </a:outerShdw>
          </a:effectLst>
        </p:spPr>
      </p:pic>
      <p:sp>
        <p:nvSpPr>
          <p:cNvPr id="261147" name="Rectangle 27"/>
          <p:cNvSpPr>
            <a:spLocks noChangeArrowheads="1"/>
          </p:cNvSpPr>
          <p:nvPr/>
        </p:nvSpPr>
        <p:spPr bwMode="auto">
          <a:xfrm>
            <a:off x="-16933" y="6489700"/>
            <a:ext cx="12208933" cy="368300"/>
          </a:xfrm>
          <a:prstGeom prst="rect">
            <a:avLst/>
          </a:prstGeom>
          <a:gradFill rotWithShape="1">
            <a:gsLst>
              <a:gs pos="0">
                <a:srgbClr val="CC0000">
                  <a:gamma/>
                  <a:shade val="46275"/>
                  <a:invGamma/>
                </a:srgbClr>
              </a:gs>
              <a:gs pos="100000">
                <a:srgbClr val="CC0000">
                  <a:alpha val="81000"/>
                </a:srgbClr>
              </a:gs>
            </a:gsLst>
            <a:lin ang="5400000" scaled="1"/>
          </a:gradFill>
          <a:ln w="9525">
            <a:solidFill>
              <a:schemeClr val="tx1"/>
            </a:solidFill>
            <a:miter lim="800000"/>
          </a:ln>
          <a:effectLst/>
        </p:spPr>
        <p:txBody>
          <a:bodyPr wrap="none" anchor="ctr"/>
          <a:lstStyle/>
          <a:p>
            <a:pPr algn="r">
              <a:defRPr/>
            </a:pPr>
            <a:endParaRPr lang="zh-CN" altLang="en-US" sz="1400" baseline="-25000">
              <a:latin typeface="Arial" panose="020B0604020202020204" pitchFamily="34" charset="0"/>
              <a:ea typeface="楷体_GB2312" pitchFamily="49" charset="-122"/>
            </a:endParaRPr>
          </a:p>
        </p:txBody>
      </p:sp>
      <p:sp>
        <p:nvSpPr>
          <p:cNvPr id="18459" name="Text Box 27" descr="白色大理石"/>
          <p:cNvSpPr txBox="1">
            <a:spLocks noChangeArrowheads="1"/>
          </p:cNvSpPr>
          <p:nvPr/>
        </p:nvSpPr>
        <p:spPr bwMode="auto">
          <a:xfrm>
            <a:off x="3086101" y="6475413"/>
            <a:ext cx="6720417" cy="369332"/>
          </a:xfrm>
          <a:prstGeom prst="rect">
            <a:avLst/>
          </a:prstGeom>
          <a:noFill/>
          <a:ln w="9525" algn="ctr">
            <a:noFill/>
            <a:miter lim="800000"/>
          </a:ln>
          <a:effectLst/>
        </p:spPr>
        <p:txBody>
          <a:bodyPr>
            <a:spAutoFit/>
          </a:bodyPr>
          <a:lstStyle/>
          <a:p>
            <a:pPr>
              <a:spcBef>
                <a:spcPct val="50000"/>
              </a:spcBef>
              <a:defRPr/>
            </a:pPr>
            <a:r>
              <a:rPr lang="zh-CN" altLang="en-US" sz="1800">
                <a:solidFill>
                  <a:schemeClr val="bg1"/>
                </a:solidFill>
                <a:latin typeface="华文行楷" panose="02010800040101010101" pitchFamily="2" charset="-122"/>
                <a:ea typeface="华文行楷" panose="02010800040101010101" pitchFamily="2" charset="-122"/>
              </a:rPr>
              <a:t>规格严格       功夫到家</a:t>
            </a:r>
            <a:endParaRPr lang="zh-CN" altLang="en-US" sz="1800">
              <a:solidFill>
                <a:schemeClr val="bg1"/>
              </a:solidFill>
              <a:latin typeface="华文行楷" panose="02010800040101010101" pitchFamily="2" charset="-122"/>
              <a:ea typeface="华文行楷"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80" r:id="rId1"/>
  </p:sldLayoutIdLst>
  <p:transition/>
  <p:txStyles>
    <p:titleStyle>
      <a:lvl1pPr algn="l" rtl="0" fontAlgn="base">
        <a:spcBef>
          <a:spcPct val="0"/>
        </a:spcBef>
        <a:spcAft>
          <a:spcPct val="0"/>
        </a:spcAft>
        <a:defRPr sz="3200" b="1">
          <a:solidFill>
            <a:srgbClr val="3333CC"/>
          </a:solidFill>
          <a:latin typeface="+mj-lt"/>
          <a:ea typeface="+mj-ea"/>
          <a:cs typeface="+mj-cs"/>
        </a:defRPr>
      </a:lvl1pPr>
      <a:lvl2pPr algn="l" rtl="0" fontAlgn="base">
        <a:spcBef>
          <a:spcPct val="0"/>
        </a:spcBef>
        <a:spcAft>
          <a:spcPct val="0"/>
        </a:spcAft>
        <a:defRPr sz="3200" b="1">
          <a:solidFill>
            <a:srgbClr val="3333CC"/>
          </a:solidFill>
          <a:latin typeface="Arial" panose="020B0604020202020204" pitchFamily="34" charset="0"/>
          <a:ea typeface="宋体" panose="02010600030101010101" pitchFamily="2" charset="-122"/>
        </a:defRPr>
      </a:lvl2pPr>
      <a:lvl3pPr algn="l" rtl="0" fontAlgn="base">
        <a:spcBef>
          <a:spcPct val="0"/>
        </a:spcBef>
        <a:spcAft>
          <a:spcPct val="0"/>
        </a:spcAft>
        <a:defRPr sz="3200" b="1">
          <a:solidFill>
            <a:srgbClr val="3333CC"/>
          </a:solidFill>
          <a:latin typeface="Arial" panose="020B0604020202020204" pitchFamily="34" charset="0"/>
          <a:ea typeface="宋体" panose="02010600030101010101" pitchFamily="2" charset="-122"/>
        </a:defRPr>
      </a:lvl3pPr>
      <a:lvl4pPr algn="l" rtl="0" fontAlgn="base">
        <a:spcBef>
          <a:spcPct val="0"/>
        </a:spcBef>
        <a:spcAft>
          <a:spcPct val="0"/>
        </a:spcAft>
        <a:defRPr sz="3200" b="1">
          <a:solidFill>
            <a:srgbClr val="3333CC"/>
          </a:solidFill>
          <a:latin typeface="Arial" panose="020B0604020202020204" pitchFamily="34" charset="0"/>
          <a:ea typeface="宋体" panose="02010600030101010101" pitchFamily="2" charset="-122"/>
        </a:defRPr>
      </a:lvl4pPr>
      <a:lvl5pPr algn="l" rtl="0" fontAlgn="base">
        <a:spcBef>
          <a:spcPct val="0"/>
        </a:spcBef>
        <a:spcAft>
          <a:spcPct val="0"/>
        </a:spcAft>
        <a:defRPr sz="3200" b="1">
          <a:solidFill>
            <a:srgbClr val="3333CC"/>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b="1">
          <a:solidFill>
            <a:srgbClr val="3333CC"/>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b="1">
          <a:solidFill>
            <a:srgbClr val="3333CC"/>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b="1">
          <a:solidFill>
            <a:srgbClr val="3333CC"/>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b="1">
          <a:solidFill>
            <a:srgbClr val="3333CC"/>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fontAlgn="base">
        <a:spcBef>
          <a:spcPct val="20000"/>
        </a:spcBef>
        <a:spcAft>
          <a:spcPct val="0"/>
        </a:spcAft>
        <a:buChar char="–"/>
        <a:defRPr sz="2400" b="1">
          <a:solidFill>
            <a:schemeClr val="tx1"/>
          </a:solidFill>
          <a:latin typeface="+mn-lt"/>
          <a:ea typeface="+mn-ea"/>
        </a:defRPr>
      </a:lvl2pPr>
      <a:lvl3pPr marL="1143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3pPr>
      <a:lvl4pPr marL="1600200" indent="-228600" algn="l" rtl="0" fontAlgn="base">
        <a:spcBef>
          <a:spcPct val="20000"/>
        </a:spcBef>
        <a:spcAft>
          <a:spcPct val="0"/>
        </a:spcAft>
        <a:buClr>
          <a:schemeClr val="accent2"/>
        </a:buClr>
        <a:buFont typeface="Wingdings" panose="05000000000000000000" pitchFamily="2" charset="2"/>
        <a:buChar char="u"/>
        <a:defRPr sz="2000" b="1">
          <a:solidFill>
            <a:schemeClr val="tx1"/>
          </a:solidFill>
          <a:latin typeface="+mn-lt"/>
          <a:ea typeface="+mn-ea"/>
        </a:defRPr>
      </a:lvl4pPr>
      <a:lvl5pPr marL="2057400" indent="-228600" algn="l" rtl="0" fontAlgn="base">
        <a:spcBef>
          <a:spcPct val="20000"/>
        </a:spcBef>
        <a:spcAft>
          <a:spcPct val="0"/>
        </a:spcAft>
        <a:buChar char="»"/>
        <a:defRPr sz="1600" b="1">
          <a:solidFill>
            <a:schemeClr val="tx1"/>
          </a:solidFill>
          <a:latin typeface="+mn-lt"/>
          <a:ea typeface="+mn-ea"/>
        </a:defRPr>
      </a:lvl5pPr>
      <a:lvl6pPr marL="2514600" indent="-228600" algn="l" rtl="0" eaLnBrk="1" fontAlgn="base" hangingPunct="1">
        <a:spcBef>
          <a:spcPct val="20000"/>
        </a:spcBef>
        <a:spcAft>
          <a:spcPct val="0"/>
        </a:spcAft>
        <a:buChar char="»"/>
        <a:defRPr sz="1600" b="1">
          <a:solidFill>
            <a:schemeClr val="tx1"/>
          </a:solidFill>
          <a:latin typeface="+mn-lt"/>
          <a:ea typeface="+mn-ea"/>
        </a:defRPr>
      </a:lvl6pPr>
      <a:lvl7pPr marL="2971800" indent="-228600" algn="l" rtl="0" eaLnBrk="1" fontAlgn="base" hangingPunct="1">
        <a:spcBef>
          <a:spcPct val="20000"/>
        </a:spcBef>
        <a:spcAft>
          <a:spcPct val="0"/>
        </a:spcAft>
        <a:buChar char="»"/>
        <a:defRPr sz="1600" b="1">
          <a:solidFill>
            <a:schemeClr val="tx1"/>
          </a:solidFill>
          <a:latin typeface="+mn-lt"/>
          <a:ea typeface="+mn-ea"/>
        </a:defRPr>
      </a:lvl7pPr>
      <a:lvl8pPr marL="3429000" indent="-228600" algn="l" rtl="0" eaLnBrk="1" fontAlgn="base" hangingPunct="1">
        <a:spcBef>
          <a:spcPct val="20000"/>
        </a:spcBef>
        <a:spcAft>
          <a:spcPct val="0"/>
        </a:spcAft>
        <a:buChar char="»"/>
        <a:defRPr sz="1600" b="1">
          <a:solidFill>
            <a:schemeClr val="tx1"/>
          </a:solidFill>
          <a:latin typeface="+mn-lt"/>
          <a:ea typeface="+mn-ea"/>
        </a:defRPr>
      </a:lvl8pPr>
      <a:lvl9pPr marL="3886200" indent="-228600" algn="l" rtl="0" eaLnBrk="1" fontAlgn="base" hangingPunct="1">
        <a:spcBef>
          <a:spcPct val="20000"/>
        </a:spcBef>
        <a:spcAft>
          <a:spcPct val="0"/>
        </a:spcAft>
        <a:buChar char="»"/>
        <a:defRPr sz="16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microsoft.com/office/2007/relationships/media" Target="../media/media1.wmv"/><Relationship Id="rId2" Type="http://schemas.openxmlformats.org/officeDocument/2006/relationships/video" Target="../media/media1.wmv"/><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microsoft.com/office/2007/relationships/media" Target="../media/media2.mp4"/><Relationship Id="rId1" Type="http://schemas.openxmlformats.org/officeDocument/2006/relationships/video" Target="../media/media2.mp4"/></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microsoft.com/office/2007/relationships/media" Target="../media/media3.wmv"/><Relationship Id="rId1" Type="http://schemas.openxmlformats.org/officeDocument/2006/relationships/video" Target="../media/media3.wmv"/></Relationships>
</file>

<file path=ppt/slides/_rels/slide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 Id="rId3" Type="http://schemas.openxmlformats.org/officeDocument/2006/relationships/image" Target="../media/image6.png"/><Relationship Id="rId2" Type="http://schemas.microsoft.com/office/2007/relationships/media" Target="../media/media1.wmv"/><Relationship Id="rId18" Type="http://schemas.openxmlformats.org/officeDocument/2006/relationships/notesSlide" Target="../notesSlides/notesSlide3.xml"/><Relationship Id="rId17" Type="http://schemas.openxmlformats.org/officeDocument/2006/relationships/slideLayout" Target="../slideLayouts/slideLayout7.xml"/><Relationship Id="rId16" Type="http://schemas.openxmlformats.org/officeDocument/2006/relationships/image" Target="../media/image22.png"/><Relationship Id="rId15" Type="http://schemas.openxmlformats.org/officeDocument/2006/relationships/image" Target="../media/image21.png"/><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video" Target="../media/media1.wmv"/></Relationships>
</file>

<file path=ppt/slides/_rels/slide6.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9.png"/><Relationship Id="rId7" Type="http://schemas.openxmlformats.org/officeDocument/2006/relationships/image" Target="../media/image13.png"/><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image" Target="../media/image5.png"/><Relationship Id="rId3" Type="http://schemas.openxmlformats.org/officeDocument/2006/relationships/image" Target="../media/image6.png"/><Relationship Id="rId2" Type="http://schemas.microsoft.com/office/2007/relationships/media" Target="../media/media1.wmv"/><Relationship Id="rId13" Type="http://schemas.openxmlformats.org/officeDocument/2006/relationships/notesSlide" Target="../notesSlides/notesSlide4.xml"/><Relationship Id="rId12" Type="http://schemas.openxmlformats.org/officeDocument/2006/relationships/slideLayout" Target="../slideLayouts/slideLayout7.xml"/><Relationship Id="rId11" Type="http://schemas.openxmlformats.org/officeDocument/2006/relationships/image" Target="../media/image22.png"/><Relationship Id="rId10" Type="http://schemas.openxmlformats.org/officeDocument/2006/relationships/image" Target="../media/image20.png"/><Relationship Id="rId1" Type="http://schemas.openxmlformats.org/officeDocument/2006/relationships/video" Target="../media/media1.wmv"/></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 Id="rId3" Type="http://schemas.openxmlformats.org/officeDocument/2006/relationships/image" Target="../media/image6.png"/><Relationship Id="rId2" Type="http://schemas.microsoft.com/office/2007/relationships/media" Target="../media/media1.wmv"/><Relationship Id="rId11" Type="http://schemas.openxmlformats.org/officeDocument/2006/relationships/notesSlide" Target="../notesSlides/notesSlide5.xml"/><Relationship Id="rId10" Type="http://schemas.openxmlformats.org/officeDocument/2006/relationships/slideLayout" Target="../slideLayouts/slideLayout7.xml"/><Relationship Id="rId1" Type="http://schemas.openxmlformats.org/officeDocument/2006/relationships/video" Target="../media/media1.wmv"/></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5.png"/><Relationship Id="rId3" Type="http://schemas.openxmlformats.org/officeDocument/2006/relationships/image" Target="../media/image6.png"/><Relationship Id="rId2" Type="http://schemas.microsoft.com/office/2007/relationships/media" Target="../media/media1.wmv"/><Relationship Id="rId1" Type="http://schemas.openxmlformats.org/officeDocument/2006/relationships/video" Target="../media/media1.wmv"/></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5.png"/><Relationship Id="rId3" Type="http://schemas.openxmlformats.org/officeDocument/2006/relationships/image" Target="../media/image6.png"/><Relationship Id="rId2" Type="http://schemas.microsoft.com/office/2007/relationships/media" Target="../media/media1.wmv"/><Relationship Id="rId1" Type="http://schemas.openxmlformats.org/officeDocument/2006/relationships/video" Target="../media/media1.wmv"/></Relationships>
</file>

<file path=ppt/slides/_rels/slide10.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27.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 Id="rId3" Type="http://schemas.openxmlformats.org/officeDocument/2006/relationships/image" Target="../media/image6.png"/><Relationship Id="rId2" Type="http://schemas.microsoft.com/office/2007/relationships/media" Target="../media/media1.wmv"/><Relationship Id="rId11" Type="http://schemas.openxmlformats.org/officeDocument/2006/relationships/notesSlide" Target="../notesSlides/notesSlide8.xml"/><Relationship Id="rId10" Type="http://schemas.openxmlformats.org/officeDocument/2006/relationships/slideLayout" Target="../slideLayouts/slideLayout7.xml"/><Relationship Id="rId1" Type="http://schemas.openxmlformats.org/officeDocument/2006/relationships/video" Target="../media/media1.wmv"/></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png"/><Relationship Id="rId7" Type="http://schemas.openxmlformats.org/officeDocument/2006/relationships/image" Target="../media/image28.png"/><Relationship Id="rId6" Type="http://schemas.openxmlformats.org/officeDocument/2006/relationships/image" Target="../media/image25.png"/><Relationship Id="rId5" Type="http://schemas.openxmlformats.org/officeDocument/2006/relationships/image" Target="../media/image6.png"/><Relationship Id="rId4" Type="http://schemas.microsoft.com/office/2007/relationships/media" Target="../media/media1.wmv"/><Relationship Id="rId3" Type="http://schemas.openxmlformats.org/officeDocument/2006/relationships/video" Target="../media/media1.wmv"/><Relationship Id="rId2" Type="http://schemas.openxmlformats.org/officeDocument/2006/relationships/slide" Target="slide23.xml"/><Relationship Id="rId1" Type="http://schemas.openxmlformats.org/officeDocument/2006/relationships/slide" Target="slide14.xml"/></Relationships>
</file>

<file path=ppt/slides/_rels/slide12.xml.rels><?xml version="1.0" encoding="UTF-8" standalone="yes"?>
<Relationships xmlns="http://schemas.openxmlformats.org/package/2006/relationships"><Relationship Id="rId9" Type="http://schemas.openxmlformats.org/officeDocument/2006/relationships/image" Target="../media/image31.png"/><Relationship Id="rId8" Type="http://schemas.microsoft.com/office/2007/relationships/media" Target="../media/media6.webm"/><Relationship Id="rId7" Type="http://schemas.openxmlformats.org/officeDocument/2006/relationships/video" Target="../media/media6.webm"/><Relationship Id="rId6" Type="http://schemas.openxmlformats.org/officeDocument/2006/relationships/image" Target="../media/image30.png"/><Relationship Id="rId5" Type="http://schemas.microsoft.com/office/2007/relationships/media" Target="../media/media5.webm"/><Relationship Id="rId4" Type="http://schemas.openxmlformats.org/officeDocument/2006/relationships/video" Target="../media/media5.webm"/><Relationship Id="rId3" Type="http://schemas.openxmlformats.org/officeDocument/2006/relationships/image" Target="../media/image29.png"/><Relationship Id="rId2" Type="http://schemas.microsoft.com/office/2007/relationships/media" Target="../media/media4.mp4"/><Relationship Id="rId12" Type="http://schemas.openxmlformats.org/officeDocument/2006/relationships/notesSlide" Target="../notesSlides/notesSlide9.xml"/><Relationship Id="rId11" Type="http://schemas.openxmlformats.org/officeDocument/2006/relationships/slideLayout" Target="../slideLayouts/slideLayout7.xml"/><Relationship Id="rId10" Type="http://schemas.openxmlformats.org/officeDocument/2006/relationships/image" Target="../media/image28.png"/><Relationship Id="rId1" Type="http://schemas.openxmlformats.org/officeDocument/2006/relationships/video" Target="../media/media4.mp4"/></Relationships>
</file>

<file path=ppt/slides/_rels/slide13.xml.rels><?xml version="1.0" encoding="UTF-8" standalone="yes"?>
<Relationships xmlns="http://schemas.openxmlformats.org/package/2006/relationships"><Relationship Id="rId9" Type="http://schemas.openxmlformats.org/officeDocument/2006/relationships/image" Target="../media/image34.png"/><Relationship Id="rId8" Type="http://schemas.microsoft.com/office/2007/relationships/media" Target="../media/media9.webm"/><Relationship Id="rId7" Type="http://schemas.openxmlformats.org/officeDocument/2006/relationships/video" Target="../media/media9.webm"/><Relationship Id="rId6" Type="http://schemas.openxmlformats.org/officeDocument/2006/relationships/image" Target="../media/image33.png"/><Relationship Id="rId5" Type="http://schemas.microsoft.com/office/2007/relationships/media" Target="../media/media8.webm"/><Relationship Id="rId4" Type="http://schemas.openxmlformats.org/officeDocument/2006/relationships/video" Target="../media/media8.webm"/><Relationship Id="rId3" Type="http://schemas.openxmlformats.org/officeDocument/2006/relationships/image" Target="../media/image32.png"/><Relationship Id="rId20" Type="http://schemas.openxmlformats.org/officeDocument/2006/relationships/notesSlide" Target="../notesSlides/notesSlide10.xml"/><Relationship Id="rId2" Type="http://schemas.microsoft.com/office/2007/relationships/media" Target="../media/media7.webm"/><Relationship Id="rId19" Type="http://schemas.openxmlformats.org/officeDocument/2006/relationships/slideLayout" Target="../slideLayouts/slideLayout7.xml"/><Relationship Id="rId18" Type="http://schemas.openxmlformats.org/officeDocument/2006/relationships/image" Target="../media/image38.png"/><Relationship Id="rId17" Type="http://schemas.openxmlformats.org/officeDocument/2006/relationships/image" Target="../media/image30.png"/><Relationship Id="rId16" Type="http://schemas.microsoft.com/office/2007/relationships/media" Target="../media/media5.webm"/><Relationship Id="rId15" Type="http://schemas.openxmlformats.org/officeDocument/2006/relationships/video" Target="../media/media5.webm"/><Relationship Id="rId14" Type="http://schemas.openxmlformats.org/officeDocument/2006/relationships/image" Target="../media/image37.png"/><Relationship Id="rId13" Type="http://schemas.microsoft.com/office/2007/relationships/media" Target="../media/media10.webm"/><Relationship Id="rId12" Type="http://schemas.openxmlformats.org/officeDocument/2006/relationships/video" Target="../media/media10.webm"/><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video" Target="../media/media7.webm"/></Relationships>
</file>

<file path=ppt/slides/_rels/slide14.xml.rels><?xml version="1.0" encoding="UTF-8" standalone="yes"?>
<Relationships xmlns="http://schemas.openxmlformats.org/package/2006/relationships"><Relationship Id="rId9" Type="http://schemas.openxmlformats.org/officeDocument/2006/relationships/image" Target="../media/image41.png"/><Relationship Id="rId8" Type="http://schemas.microsoft.com/office/2007/relationships/media" Target="../media/media13.webm"/><Relationship Id="rId7" Type="http://schemas.openxmlformats.org/officeDocument/2006/relationships/video" Target="../media/media13.webm"/><Relationship Id="rId6" Type="http://schemas.openxmlformats.org/officeDocument/2006/relationships/image" Target="../media/image40.png"/><Relationship Id="rId5" Type="http://schemas.microsoft.com/office/2007/relationships/media" Target="../media/media12.webm"/><Relationship Id="rId4" Type="http://schemas.openxmlformats.org/officeDocument/2006/relationships/video" Target="../media/media12.webm"/><Relationship Id="rId3" Type="http://schemas.openxmlformats.org/officeDocument/2006/relationships/image" Target="../media/image39.png"/><Relationship Id="rId21" Type="http://schemas.openxmlformats.org/officeDocument/2006/relationships/notesSlide" Target="../notesSlides/notesSlide11.xml"/><Relationship Id="rId20" Type="http://schemas.openxmlformats.org/officeDocument/2006/relationships/slideLayout" Target="../slideLayouts/slideLayout7.xml"/><Relationship Id="rId2" Type="http://schemas.microsoft.com/office/2007/relationships/media" Target="../media/media11.wmv"/><Relationship Id="rId19" Type="http://schemas.openxmlformats.org/officeDocument/2006/relationships/image" Target="../media/image44.GIF"/><Relationship Id="rId18" Type="http://schemas.openxmlformats.org/officeDocument/2006/relationships/image" Target="../media/image30.png"/><Relationship Id="rId17" Type="http://schemas.microsoft.com/office/2007/relationships/media" Target="../media/media5.webm"/><Relationship Id="rId16" Type="http://schemas.openxmlformats.org/officeDocument/2006/relationships/video" Target="../media/media5.webm"/><Relationship Id="rId15" Type="http://schemas.openxmlformats.org/officeDocument/2006/relationships/image" Target="../media/image43.png"/><Relationship Id="rId14" Type="http://schemas.microsoft.com/office/2007/relationships/media" Target="../media/media15.webm"/><Relationship Id="rId13" Type="http://schemas.openxmlformats.org/officeDocument/2006/relationships/video" Target="../media/media15.webm"/><Relationship Id="rId12" Type="http://schemas.openxmlformats.org/officeDocument/2006/relationships/image" Target="../media/image42.png"/><Relationship Id="rId11" Type="http://schemas.microsoft.com/office/2007/relationships/media" Target="../media/media14.webm"/><Relationship Id="rId10" Type="http://schemas.openxmlformats.org/officeDocument/2006/relationships/video" Target="../media/media14.webm"/><Relationship Id="rId1" Type="http://schemas.openxmlformats.org/officeDocument/2006/relationships/video" Target="../media/media11.wmv"/></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9.png"/><Relationship Id="rId2" Type="http://schemas.microsoft.com/office/2007/relationships/media" Target="../media/media3.wmv"/><Relationship Id="rId1" Type="http://schemas.openxmlformats.org/officeDocument/2006/relationships/video" Target="../media/media3.wmv"/></Relationships>
</file>

<file path=ppt/slides/_rels/slide16.xml.rels><?xml version="1.0" encoding="UTF-8" standalone="yes"?>
<Relationships xmlns="http://schemas.openxmlformats.org/package/2006/relationships"><Relationship Id="rId9" Type="http://schemas.microsoft.com/office/2007/relationships/media" Target="../media/media6.webm"/><Relationship Id="rId8" Type="http://schemas.openxmlformats.org/officeDocument/2006/relationships/video" Target="../media/media6.webm"/><Relationship Id="rId7" Type="http://schemas.openxmlformats.org/officeDocument/2006/relationships/image" Target="../media/image45.png"/><Relationship Id="rId6" Type="http://schemas.openxmlformats.org/officeDocument/2006/relationships/image" Target="../media/image29.png"/><Relationship Id="rId5" Type="http://schemas.microsoft.com/office/2007/relationships/media" Target="../media/media4.mp4"/><Relationship Id="rId4" Type="http://schemas.openxmlformats.org/officeDocument/2006/relationships/video" Target="../media/media4.mp4"/><Relationship Id="rId3" Type="http://schemas.openxmlformats.org/officeDocument/2006/relationships/image" Target="../media/image30.png"/><Relationship Id="rId2" Type="http://schemas.microsoft.com/office/2007/relationships/media" Target="../media/media5.webm"/><Relationship Id="rId15" Type="http://schemas.openxmlformats.org/officeDocument/2006/relationships/notesSlide" Target="../notesSlides/notesSlide13.xml"/><Relationship Id="rId14" Type="http://schemas.openxmlformats.org/officeDocument/2006/relationships/slideLayout" Target="../slideLayouts/slideLayout7.xml"/><Relationship Id="rId13" Type="http://schemas.openxmlformats.org/officeDocument/2006/relationships/image" Target="../media/image46.png"/><Relationship Id="rId12" Type="http://schemas.microsoft.com/office/2007/relationships/media" Target="../media/media16.mp4"/><Relationship Id="rId11" Type="http://schemas.openxmlformats.org/officeDocument/2006/relationships/video" Target="../media/media16.mp4"/><Relationship Id="rId10" Type="http://schemas.openxmlformats.org/officeDocument/2006/relationships/image" Target="../media/image31.png"/><Relationship Id="rId1" Type="http://schemas.openxmlformats.org/officeDocument/2006/relationships/video" Target="../media/media5.webm"/></Relationships>
</file>

<file path=ppt/slides/_rels/slide17.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slide" Target="slide23.xml"/><Relationship Id="rId7" Type="http://schemas.openxmlformats.org/officeDocument/2006/relationships/slide" Target="slide14.xml"/><Relationship Id="rId6" Type="http://schemas.openxmlformats.org/officeDocument/2006/relationships/image" Target="../media/image47.png"/><Relationship Id="rId5" Type="http://schemas.openxmlformats.org/officeDocument/2006/relationships/image" Target="../media/image28.png"/><Relationship Id="rId4" Type="http://schemas.openxmlformats.org/officeDocument/2006/relationships/image" Target="../media/image25.png"/><Relationship Id="rId3" Type="http://schemas.openxmlformats.org/officeDocument/2006/relationships/image" Target="../media/image6.png"/><Relationship Id="rId2" Type="http://schemas.microsoft.com/office/2007/relationships/media" Target="../media/media1.wmv"/><Relationship Id="rId11" Type="http://schemas.openxmlformats.org/officeDocument/2006/relationships/slideLayout" Target="../slideLayouts/slideLayout7.xml"/><Relationship Id="rId10" Type="http://schemas.openxmlformats.org/officeDocument/2006/relationships/image" Target="../media/image24.png"/><Relationship Id="rId1" Type="http://schemas.openxmlformats.org/officeDocument/2006/relationships/video" Target="../media/media1.wmv"/></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2.wmf"/><Relationship Id="rId7" Type="http://schemas.openxmlformats.org/officeDocument/2006/relationships/oleObject" Target="../embeddings/oleObject4.bin"/><Relationship Id="rId6" Type="http://schemas.openxmlformats.org/officeDocument/2006/relationships/image" Target="../media/image51.wmf"/><Relationship Id="rId5" Type="http://schemas.openxmlformats.org/officeDocument/2006/relationships/oleObject" Target="../embeddings/oleObject3.bin"/><Relationship Id="rId4" Type="http://schemas.openxmlformats.org/officeDocument/2006/relationships/image" Target="../media/image50.wmf"/><Relationship Id="rId3" Type="http://schemas.openxmlformats.org/officeDocument/2006/relationships/oleObject" Target="../embeddings/oleObject2.bin"/><Relationship Id="rId20" Type="http://schemas.openxmlformats.org/officeDocument/2006/relationships/notesSlide" Target="../notesSlides/notesSlide14.xml"/><Relationship Id="rId2" Type="http://schemas.openxmlformats.org/officeDocument/2006/relationships/image" Target="../media/image49.png"/><Relationship Id="rId19" Type="http://schemas.openxmlformats.org/officeDocument/2006/relationships/vmlDrawing" Target="../drawings/vmlDrawing2.vml"/><Relationship Id="rId18" Type="http://schemas.openxmlformats.org/officeDocument/2006/relationships/slideLayout" Target="../slideLayouts/slideLayout7.xml"/><Relationship Id="rId17" Type="http://schemas.openxmlformats.org/officeDocument/2006/relationships/oleObject" Target="../embeddings/oleObject9.bin"/><Relationship Id="rId16" Type="http://schemas.openxmlformats.org/officeDocument/2006/relationships/image" Target="../media/image56.wmf"/><Relationship Id="rId15" Type="http://schemas.openxmlformats.org/officeDocument/2006/relationships/oleObject" Target="../embeddings/oleObject8.bin"/><Relationship Id="rId14" Type="http://schemas.openxmlformats.org/officeDocument/2006/relationships/image" Target="../media/image55.wmf"/><Relationship Id="rId13" Type="http://schemas.openxmlformats.org/officeDocument/2006/relationships/oleObject" Target="../embeddings/oleObject7.bin"/><Relationship Id="rId12" Type="http://schemas.openxmlformats.org/officeDocument/2006/relationships/image" Target="../media/image54.wmf"/><Relationship Id="rId11" Type="http://schemas.openxmlformats.org/officeDocument/2006/relationships/oleObject" Target="../embeddings/oleObject6.bin"/><Relationship Id="rId10" Type="http://schemas.openxmlformats.org/officeDocument/2006/relationships/image" Target="../media/image53.png"/><Relationship Id="rId1" Type="http://schemas.openxmlformats.org/officeDocument/2006/relationships/image" Target="../media/image48.pn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60.wmf"/><Relationship Id="rId7" Type="http://schemas.openxmlformats.org/officeDocument/2006/relationships/oleObject" Target="../embeddings/oleObject13.bin"/><Relationship Id="rId6" Type="http://schemas.openxmlformats.org/officeDocument/2006/relationships/image" Target="../media/image59.wmf"/><Relationship Id="rId5" Type="http://schemas.openxmlformats.org/officeDocument/2006/relationships/oleObject" Target="../embeddings/oleObject12.bin"/><Relationship Id="rId4" Type="http://schemas.openxmlformats.org/officeDocument/2006/relationships/image" Target="../media/image58.wmf"/><Relationship Id="rId3" Type="http://schemas.openxmlformats.org/officeDocument/2006/relationships/oleObject" Target="../embeddings/oleObject11.bin"/><Relationship Id="rId23" Type="http://schemas.openxmlformats.org/officeDocument/2006/relationships/notesSlide" Target="../notesSlides/notesSlide15.xml"/><Relationship Id="rId22" Type="http://schemas.openxmlformats.org/officeDocument/2006/relationships/vmlDrawing" Target="../drawings/vmlDrawing3.vml"/><Relationship Id="rId21" Type="http://schemas.openxmlformats.org/officeDocument/2006/relationships/slideLayout" Target="../slideLayouts/slideLayout7.xml"/><Relationship Id="rId20" Type="http://schemas.openxmlformats.org/officeDocument/2006/relationships/image" Target="../media/image71.png"/><Relationship Id="rId2" Type="http://schemas.openxmlformats.org/officeDocument/2006/relationships/image" Target="../media/image57.wmf"/><Relationship Id="rId19" Type="http://schemas.openxmlformats.org/officeDocument/2006/relationships/image" Target="../media/image70.png"/><Relationship Id="rId18" Type="http://schemas.openxmlformats.org/officeDocument/2006/relationships/image" Target="../media/image69.png"/><Relationship Id="rId17" Type="http://schemas.openxmlformats.org/officeDocument/2006/relationships/image" Target="../media/image68.wmf"/><Relationship Id="rId16" Type="http://schemas.openxmlformats.org/officeDocument/2006/relationships/image" Target="../media/image67.wmf"/><Relationship Id="rId15" Type="http://schemas.openxmlformats.org/officeDocument/2006/relationships/image" Target="../media/image66.png"/><Relationship Id="rId14" Type="http://schemas.openxmlformats.org/officeDocument/2006/relationships/image" Target="../media/image65.png"/><Relationship Id="rId13" Type="http://schemas.openxmlformats.org/officeDocument/2006/relationships/image" Target="../media/image64.png"/><Relationship Id="rId12" Type="http://schemas.openxmlformats.org/officeDocument/2006/relationships/image" Target="../media/image63.wmf"/><Relationship Id="rId11" Type="http://schemas.openxmlformats.org/officeDocument/2006/relationships/image" Target="../media/image62.wmf"/><Relationship Id="rId10" Type="http://schemas.openxmlformats.org/officeDocument/2006/relationships/image" Target="../media/image61.wmf"/><Relationship Id="rId1"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png"/><Relationship Id="rId7" Type="http://schemas.openxmlformats.org/officeDocument/2006/relationships/image" Target="../media/image72.png"/><Relationship Id="rId6" Type="http://schemas.openxmlformats.org/officeDocument/2006/relationships/image" Target="../media/image6.png"/><Relationship Id="rId5" Type="http://schemas.microsoft.com/office/2007/relationships/media" Target="../media/media1.wmv"/><Relationship Id="rId4" Type="http://schemas.openxmlformats.org/officeDocument/2006/relationships/video" Target="../media/media1.wmv"/><Relationship Id="rId3" Type="http://schemas.openxmlformats.org/officeDocument/2006/relationships/slide" Target="slide45.xml"/><Relationship Id="rId2" Type="http://schemas.openxmlformats.org/officeDocument/2006/relationships/slide" Target="slide24.xml"/><Relationship Id="rId10" Type="http://schemas.openxmlformats.org/officeDocument/2006/relationships/notesSlide" Target="../notesSlides/notesSlide16.xml"/><Relationship Id="rId1" Type="http://schemas.openxmlformats.org/officeDocument/2006/relationships/slide" Target="slide23.xml"/></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image" Target="../media/image23.png"/><Relationship Id="rId5" Type="http://schemas.openxmlformats.org/officeDocument/2006/relationships/image" Target="../media/image74.png"/><Relationship Id="rId4" Type="http://schemas.openxmlformats.org/officeDocument/2006/relationships/image" Target="../media/image6.png"/><Relationship Id="rId3" Type="http://schemas.microsoft.com/office/2007/relationships/media" Target="../media/media1.wmv"/><Relationship Id="rId2" Type="http://schemas.openxmlformats.org/officeDocument/2006/relationships/video" Target="../media/media1.wmv"/><Relationship Id="rId1" Type="http://schemas.openxmlformats.org/officeDocument/2006/relationships/image" Target="../media/image73.png"/></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78.emf"/><Relationship Id="rId7" Type="http://schemas.openxmlformats.org/officeDocument/2006/relationships/oleObject" Target="../embeddings/oleObject18.bin"/><Relationship Id="rId6" Type="http://schemas.openxmlformats.org/officeDocument/2006/relationships/image" Target="../media/image77.emf"/><Relationship Id="rId5" Type="http://schemas.openxmlformats.org/officeDocument/2006/relationships/oleObject" Target="../embeddings/oleObject17.bin"/><Relationship Id="rId4" Type="http://schemas.openxmlformats.org/officeDocument/2006/relationships/image" Target="../media/image76.emf"/><Relationship Id="rId3" Type="http://schemas.openxmlformats.org/officeDocument/2006/relationships/oleObject" Target="../embeddings/oleObject16.bin"/><Relationship Id="rId22" Type="http://schemas.openxmlformats.org/officeDocument/2006/relationships/notesSlide" Target="../notesSlides/notesSlide18.xml"/><Relationship Id="rId21" Type="http://schemas.openxmlformats.org/officeDocument/2006/relationships/vmlDrawing" Target="../drawings/vmlDrawing4.vml"/><Relationship Id="rId20" Type="http://schemas.openxmlformats.org/officeDocument/2006/relationships/slideLayout" Target="../slideLayouts/slideLayout7.xml"/><Relationship Id="rId2" Type="http://schemas.openxmlformats.org/officeDocument/2006/relationships/image" Target="../media/image75.png"/><Relationship Id="rId19" Type="http://schemas.openxmlformats.org/officeDocument/2006/relationships/image" Target="../media/image84.png"/><Relationship Id="rId18" Type="http://schemas.openxmlformats.org/officeDocument/2006/relationships/image" Target="../media/image83.emf"/><Relationship Id="rId17" Type="http://schemas.openxmlformats.org/officeDocument/2006/relationships/oleObject" Target="../embeddings/oleObject23.bin"/><Relationship Id="rId16" Type="http://schemas.openxmlformats.org/officeDocument/2006/relationships/image" Target="../media/image82.emf"/><Relationship Id="rId15" Type="http://schemas.openxmlformats.org/officeDocument/2006/relationships/oleObject" Target="../embeddings/oleObject22.bin"/><Relationship Id="rId14" Type="http://schemas.openxmlformats.org/officeDocument/2006/relationships/image" Target="../media/image81.emf"/><Relationship Id="rId13" Type="http://schemas.openxmlformats.org/officeDocument/2006/relationships/oleObject" Target="../embeddings/oleObject21.bin"/><Relationship Id="rId12" Type="http://schemas.openxmlformats.org/officeDocument/2006/relationships/image" Target="../media/image80.emf"/><Relationship Id="rId11" Type="http://schemas.openxmlformats.org/officeDocument/2006/relationships/oleObject" Target="../embeddings/oleObject20.bin"/><Relationship Id="rId10" Type="http://schemas.openxmlformats.org/officeDocument/2006/relationships/image" Target="../media/image79.emf"/><Relationship Id="rId1" Type="http://schemas.openxmlformats.org/officeDocument/2006/relationships/oleObject" Target="../embeddings/oleObject15.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88.emf"/><Relationship Id="rId7" Type="http://schemas.openxmlformats.org/officeDocument/2006/relationships/oleObject" Target="../embeddings/oleObject27.bin"/><Relationship Id="rId6" Type="http://schemas.openxmlformats.org/officeDocument/2006/relationships/image" Target="../media/image87.emf"/><Relationship Id="rId5" Type="http://schemas.openxmlformats.org/officeDocument/2006/relationships/oleObject" Target="../embeddings/oleObject26.bin"/><Relationship Id="rId4" Type="http://schemas.openxmlformats.org/officeDocument/2006/relationships/image" Target="../media/image86.emf"/><Relationship Id="rId3" Type="http://schemas.openxmlformats.org/officeDocument/2006/relationships/oleObject" Target="../embeddings/oleObject25.bin"/><Relationship Id="rId22" Type="http://schemas.openxmlformats.org/officeDocument/2006/relationships/notesSlide" Target="../notesSlides/notesSlide19.xml"/><Relationship Id="rId21" Type="http://schemas.openxmlformats.org/officeDocument/2006/relationships/vmlDrawing" Target="../drawings/vmlDrawing5.vml"/><Relationship Id="rId20" Type="http://schemas.openxmlformats.org/officeDocument/2006/relationships/slideLayout" Target="../slideLayouts/slideLayout7.xml"/><Relationship Id="rId2" Type="http://schemas.openxmlformats.org/officeDocument/2006/relationships/image" Target="../media/image85.png"/><Relationship Id="rId19" Type="http://schemas.openxmlformats.org/officeDocument/2006/relationships/image" Target="../media/image94.png"/><Relationship Id="rId18" Type="http://schemas.openxmlformats.org/officeDocument/2006/relationships/image" Target="../media/image93.emf"/><Relationship Id="rId17" Type="http://schemas.openxmlformats.org/officeDocument/2006/relationships/oleObject" Target="../embeddings/oleObject32.bin"/><Relationship Id="rId16" Type="http://schemas.openxmlformats.org/officeDocument/2006/relationships/image" Target="../media/image92.emf"/><Relationship Id="rId15" Type="http://schemas.openxmlformats.org/officeDocument/2006/relationships/oleObject" Target="../embeddings/oleObject31.bin"/><Relationship Id="rId14" Type="http://schemas.openxmlformats.org/officeDocument/2006/relationships/image" Target="../media/image91.emf"/><Relationship Id="rId13" Type="http://schemas.openxmlformats.org/officeDocument/2006/relationships/oleObject" Target="../embeddings/oleObject30.bin"/><Relationship Id="rId12" Type="http://schemas.openxmlformats.org/officeDocument/2006/relationships/image" Target="../media/image90.emf"/><Relationship Id="rId11" Type="http://schemas.openxmlformats.org/officeDocument/2006/relationships/oleObject" Target="../embeddings/oleObject29.bin"/><Relationship Id="rId10" Type="http://schemas.openxmlformats.org/officeDocument/2006/relationships/image" Target="../media/image89.emf"/><Relationship Id="rId1" Type="http://schemas.openxmlformats.org/officeDocument/2006/relationships/oleObject" Target="../embeddings/oleObject24.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98.emf"/><Relationship Id="rId7" Type="http://schemas.openxmlformats.org/officeDocument/2006/relationships/oleObject" Target="../embeddings/oleObject36.bin"/><Relationship Id="rId6" Type="http://schemas.openxmlformats.org/officeDocument/2006/relationships/image" Target="../media/image97.emf"/><Relationship Id="rId5" Type="http://schemas.openxmlformats.org/officeDocument/2006/relationships/oleObject" Target="../embeddings/oleObject35.bin"/><Relationship Id="rId4" Type="http://schemas.openxmlformats.org/officeDocument/2006/relationships/image" Target="../media/image96.emf"/><Relationship Id="rId3" Type="http://schemas.openxmlformats.org/officeDocument/2006/relationships/oleObject" Target="../embeddings/oleObject34.bin"/><Relationship Id="rId22" Type="http://schemas.openxmlformats.org/officeDocument/2006/relationships/notesSlide" Target="../notesSlides/notesSlide20.xml"/><Relationship Id="rId21" Type="http://schemas.openxmlformats.org/officeDocument/2006/relationships/vmlDrawing" Target="../drawings/vmlDrawing6.vml"/><Relationship Id="rId20" Type="http://schemas.openxmlformats.org/officeDocument/2006/relationships/slideLayout" Target="../slideLayouts/slideLayout7.xml"/><Relationship Id="rId2" Type="http://schemas.openxmlformats.org/officeDocument/2006/relationships/image" Target="../media/image95.png"/><Relationship Id="rId19" Type="http://schemas.openxmlformats.org/officeDocument/2006/relationships/image" Target="../media/image104.png"/><Relationship Id="rId18" Type="http://schemas.openxmlformats.org/officeDocument/2006/relationships/image" Target="../media/image103.emf"/><Relationship Id="rId17" Type="http://schemas.openxmlformats.org/officeDocument/2006/relationships/oleObject" Target="../embeddings/oleObject41.bin"/><Relationship Id="rId16" Type="http://schemas.openxmlformats.org/officeDocument/2006/relationships/image" Target="../media/image102.emf"/><Relationship Id="rId15" Type="http://schemas.openxmlformats.org/officeDocument/2006/relationships/oleObject" Target="../embeddings/oleObject40.bin"/><Relationship Id="rId14" Type="http://schemas.openxmlformats.org/officeDocument/2006/relationships/image" Target="../media/image101.emf"/><Relationship Id="rId13" Type="http://schemas.openxmlformats.org/officeDocument/2006/relationships/oleObject" Target="../embeddings/oleObject39.bin"/><Relationship Id="rId12" Type="http://schemas.openxmlformats.org/officeDocument/2006/relationships/image" Target="../media/image100.emf"/><Relationship Id="rId11" Type="http://schemas.openxmlformats.org/officeDocument/2006/relationships/oleObject" Target="../embeddings/oleObject38.bin"/><Relationship Id="rId10" Type="http://schemas.openxmlformats.org/officeDocument/2006/relationships/image" Target="../media/image99.emf"/><Relationship Id="rId1"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9" Type="http://schemas.openxmlformats.org/officeDocument/2006/relationships/slide" Target="slide14.xml"/><Relationship Id="rId8" Type="http://schemas.openxmlformats.org/officeDocument/2006/relationships/image" Target="../media/image23.png"/><Relationship Id="rId7" Type="http://schemas.openxmlformats.org/officeDocument/2006/relationships/image" Target="../media/image47.png"/><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image" Target="../media/image72.png"/><Relationship Id="rId3" Type="http://schemas.openxmlformats.org/officeDocument/2006/relationships/image" Target="../media/image6.png"/><Relationship Id="rId2" Type="http://schemas.microsoft.com/office/2007/relationships/media" Target="../media/media1.wmv"/><Relationship Id="rId12" Type="http://schemas.openxmlformats.org/officeDocument/2006/relationships/notesSlide" Target="../notesSlides/notesSlide21.xml"/><Relationship Id="rId11" Type="http://schemas.openxmlformats.org/officeDocument/2006/relationships/slideLayout" Target="../slideLayouts/slideLayout7.xml"/><Relationship Id="rId10" Type="http://schemas.openxmlformats.org/officeDocument/2006/relationships/slide" Target="slide23.xml"/><Relationship Id="rId1" Type="http://schemas.openxmlformats.org/officeDocument/2006/relationships/video" Target="../media/media1.wmv"/></Relationships>
</file>

<file path=ppt/slides/_rels/slide26.xml.rels><?xml version="1.0" encoding="UTF-8" standalone="yes"?>
<Relationships xmlns="http://schemas.openxmlformats.org/package/2006/relationships"><Relationship Id="rId9" Type="http://schemas.openxmlformats.org/officeDocument/2006/relationships/image" Target="../media/image108.png"/><Relationship Id="rId8" Type="http://schemas.openxmlformats.org/officeDocument/2006/relationships/oleObject" Target="../embeddings/oleObject45.bin"/><Relationship Id="rId7" Type="http://schemas.openxmlformats.org/officeDocument/2006/relationships/image" Target="../media/image107.wmf"/><Relationship Id="rId6" Type="http://schemas.openxmlformats.org/officeDocument/2006/relationships/oleObject" Target="../embeddings/oleObject44.bin"/><Relationship Id="rId5" Type="http://schemas.openxmlformats.org/officeDocument/2006/relationships/image" Target="../media/image106.wmf"/><Relationship Id="rId4" Type="http://schemas.openxmlformats.org/officeDocument/2006/relationships/oleObject" Target="../embeddings/oleObject43.bin"/><Relationship Id="rId3" Type="http://schemas.openxmlformats.org/officeDocument/2006/relationships/image" Target="../media/image105.wmf"/><Relationship Id="rId2" Type="http://schemas.openxmlformats.org/officeDocument/2006/relationships/oleObject" Target="../embeddings/oleObject42.bin"/><Relationship Id="rId13" Type="http://schemas.openxmlformats.org/officeDocument/2006/relationships/notesSlide" Target="../notesSlides/notesSlide22.xml"/><Relationship Id="rId12" Type="http://schemas.openxmlformats.org/officeDocument/2006/relationships/vmlDrawing" Target="../drawings/vmlDrawing7.vml"/><Relationship Id="rId11" Type="http://schemas.openxmlformats.org/officeDocument/2006/relationships/slideLayout" Target="../slideLayouts/slideLayout7.xml"/><Relationship Id="rId10" Type="http://schemas.openxmlformats.org/officeDocument/2006/relationships/image" Target="../media/image109.png"/><Relationship Id="rId1" Type="http://schemas.openxmlformats.org/officeDocument/2006/relationships/image" Target="../media/image49.png"/></Relationships>
</file>

<file path=ppt/slides/_rels/slide27.xml.rels><?xml version="1.0" encoding="UTF-8" standalone="yes"?>
<Relationships xmlns="http://schemas.openxmlformats.org/package/2006/relationships"><Relationship Id="rId9" Type="http://schemas.openxmlformats.org/officeDocument/2006/relationships/video" Target="../media/media5.webm"/><Relationship Id="rId8" Type="http://schemas.openxmlformats.org/officeDocument/2006/relationships/image" Target="../media/image108.png"/><Relationship Id="rId7" Type="http://schemas.openxmlformats.org/officeDocument/2006/relationships/oleObject" Target="../embeddings/oleObject49.bin"/><Relationship Id="rId6" Type="http://schemas.openxmlformats.org/officeDocument/2006/relationships/image" Target="../media/image107.wmf"/><Relationship Id="rId5" Type="http://schemas.openxmlformats.org/officeDocument/2006/relationships/oleObject" Target="../embeddings/oleObject48.bin"/><Relationship Id="rId4" Type="http://schemas.openxmlformats.org/officeDocument/2006/relationships/image" Target="../media/image106.wmf"/><Relationship Id="rId3" Type="http://schemas.openxmlformats.org/officeDocument/2006/relationships/oleObject" Target="../embeddings/oleObject47.bin"/><Relationship Id="rId2" Type="http://schemas.openxmlformats.org/officeDocument/2006/relationships/image" Target="../media/image105.wmf"/><Relationship Id="rId16" Type="http://schemas.openxmlformats.org/officeDocument/2006/relationships/notesSlide" Target="../notesSlides/notesSlide23.xml"/><Relationship Id="rId15" Type="http://schemas.openxmlformats.org/officeDocument/2006/relationships/vmlDrawing" Target="../drawings/vmlDrawing8.vml"/><Relationship Id="rId14" Type="http://schemas.openxmlformats.org/officeDocument/2006/relationships/slideLayout" Target="../slideLayouts/slideLayout4.xml"/><Relationship Id="rId13" Type="http://schemas.openxmlformats.org/officeDocument/2006/relationships/audio" Target="../media/audio2.wav"/><Relationship Id="rId12" Type="http://schemas.openxmlformats.org/officeDocument/2006/relationships/audio" Target="../media/audio1.wav"/><Relationship Id="rId11" Type="http://schemas.openxmlformats.org/officeDocument/2006/relationships/image" Target="../media/image30.png"/><Relationship Id="rId10" Type="http://schemas.microsoft.com/office/2007/relationships/media" Target="../media/media5.webm"/><Relationship Id="rId1" Type="http://schemas.openxmlformats.org/officeDocument/2006/relationships/oleObject" Target="../embeddings/oleObject46.bin"/></Relationships>
</file>

<file path=ppt/slides/_rels/slide2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oleObject" Target="../embeddings/oleObject53.bin"/><Relationship Id="rId7" Type="http://schemas.openxmlformats.org/officeDocument/2006/relationships/image" Target="../media/image107.wmf"/><Relationship Id="rId6" Type="http://schemas.openxmlformats.org/officeDocument/2006/relationships/oleObject" Target="../embeddings/oleObject52.bin"/><Relationship Id="rId5" Type="http://schemas.openxmlformats.org/officeDocument/2006/relationships/image" Target="../media/image111.wmf"/><Relationship Id="rId4" Type="http://schemas.openxmlformats.org/officeDocument/2006/relationships/oleObject" Target="../embeddings/oleObject51.bin"/><Relationship Id="rId3" Type="http://schemas.openxmlformats.org/officeDocument/2006/relationships/image" Target="../media/image105.wmf"/><Relationship Id="rId2" Type="http://schemas.openxmlformats.org/officeDocument/2006/relationships/oleObject" Target="../embeddings/oleObject50.bin"/><Relationship Id="rId13" Type="http://schemas.openxmlformats.org/officeDocument/2006/relationships/notesSlide" Target="../notesSlides/notesSlide24.xml"/><Relationship Id="rId12" Type="http://schemas.openxmlformats.org/officeDocument/2006/relationships/vmlDrawing" Target="../drawings/vmlDrawing9.vml"/><Relationship Id="rId11" Type="http://schemas.openxmlformats.org/officeDocument/2006/relationships/slideLayout" Target="../slideLayouts/slideLayout4.xml"/><Relationship Id="rId10" Type="http://schemas.openxmlformats.org/officeDocument/2006/relationships/audio" Target="../media/audio2.wav"/><Relationship Id="rId1" Type="http://schemas.openxmlformats.org/officeDocument/2006/relationships/image" Target="../media/image110.png"/></Relationships>
</file>

<file path=ppt/slides/_rels/slide29.xml.rels><?xml version="1.0" encoding="UTF-8" standalone="yes"?>
<Relationships xmlns="http://schemas.openxmlformats.org/package/2006/relationships"><Relationship Id="rId9" Type="http://schemas.openxmlformats.org/officeDocument/2006/relationships/video" Target="../media/media6.webm"/><Relationship Id="rId8" Type="http://schemas.openxmlformats.org/officeDocument/2006/relationships/oleObject" Target="../embeddings/oleObject57.bin"/><Relationship Id="rId7" Type="http://schemas.openxmlformats.org/officeDocument/2006/relationships/image" Target="../media/image107.wmf"/><Relationship Id="rId6" Type="http://schemas.openxmlformats.org/officeDocument/2006/relationships/oleObject" Target="../embeddings/oleObject56.bin"/><Relationship Id="rId5" Type="http://schemas.openxmlformats.org/officeDocument/2006/relationships/image" Target="../media/image111.wmf"/><Relationship Id="rId4" Type="http://schemas.openxmlformats.org/officeDocument/2006/relationships/oleObject" Target="../embeddings/oleObject55.bin"/><Relationship Id="rId3" Type="http://schemas.openxmlformats.org/officeDocument/2006/relationships/image" Target="../media/image105.wmf"/><Relationship Id="rId2" Type="http://schemas.openxmlformats.org/officeDocument/2006/relationships/oleObject" Target="../embeddings/oleObject54.bin"/><Relationship Id="rId17" Type="http://schemas.openxmlformats.org/officeDocument/2006/relationships/notesSlide" Target="../notesSlides/notesSlide25.xml"/><Relationship Id="rId16" Type="http://schemas.openxmlformats.org/officeDocument/2006/relationships/vmlDrawing" Target="../drawings/vmlDrawing10.vml"/><Relationship Id="rId15" Type="http://schemas.openxmlformats.org/officeDocument/2006/relationships/slideLayout" Target="../slideLayouts/slideLayout4.xml"/><Relationship Id="rId14" Type="http://schemas.openxmlformats.org/officeDocument/2006/relationships/audio" Target="../media/audio1.wav"/><Relationship Id="rId13" Type="http://schemas.openxmlformats.org/officeDocument/2006/relationships/image" Target="../media/image114.png"/><Relationship Id="rId12" Type="http://schemas.openxmlformats.org/officeDocument/2006/relationships/image" Target="../media/image113.png"/><Relationship Id="rId11" Type="http://schemas.openxmlformats.org/officeDocument/2006/relationships/image" Target="../media/image31.png"/><Relationship Id="rId10" Type="http://schemas.microsoft.com/office/2007/relationships/media" Target="../media/media6.webm"/><Relationship Id="rId1" Type="http://schemas.openxmlformats.org/officeDocument/2006/relationships/image" Target="../media/image112.png"/></Relationships>
</file>

<file path=ppt/slides/_rels/slide30.xml.rels><?xml version="1.0" encoding="UTF-8" standalone="yes"?>
<Relationships xmlns="http://schemas.openxmlformats.org/package/2006/relationships"><Relationship Id="rId9" Type="http://schemas.openxmlformats.org/officeDocument/2006/relationships/video" Target="../media/media14.webm"/><Relationship Id="rId8" Type="http://schemas.openxmlformats.org/officeDocument/2006/relationships/image" Target="../media/image112.png"/><Relationship Id="rId7" Type="http://schemas.openxmlformats.org/officeDocument/2006/relationships/oleObject" Target="../embeddings/oleObject61.bin"/><Relationship Id="rId6" Type="http://schemas.openxmlformats.org/officeDocument/2006/relationships/image" Target="../media/image107.wmf"/><Relationship Id="rId5" Type="http://schemas.openxmlformats.org/officeDocument/2006/relationships/oleObject" Target="../embeddings/oleObject60.bin"/><Relationship Id="rId4" Type="http://schemas.openxmlformats.org/officeDocument/2006/relationships/image" Target="../media/image111.wmf"/><Relationship Id="rId3" Type="http://schemas.openxmlformats.org/officeDocument/2006/relationships/oleObject" Target="../embeddings/oleObject59.bin"/><Relationship Id="rId2" Type="http://schemas.openxmlformats.org/officeDocument/2006/relationships/image" Target="../media/image105.wmf"/><Relationship Id="rId15" Type="http://schemas.openxmlformats.org/officeDocument/2006/relationships/notesSlide" Target="../notesSlides/notesSlide26.xml"/><Relationship Id="rId14" Type="http://schemas.openxmlformats.org/officeDocument/2006/relationships/vmlDrawing" Target="../drawings/vmlDrawing11.vml"/><Relationship Id="rId13" Type="http://schemas.openxmlformats.org/officeDocument/2006/relationships/slideLayout" Target="../slideLayouts/slideLayout4.xml"/><Relationship Id="rId12" Type="http://schemas.openxmlformats.org/officeDocument/2006/relationships/audio" Target="../media/audio1.wav"/><Relationship Id="rId11" Type="http://schemas.openxmlformats.org/officeDocument/2006/relationships/image" Target="../media/image42.png"/><Relationship Id="rId10" Type="http://schemas.microsoft.com/office/2007/relationships/media" Target="../media/media14.webm"/><Relationship Id="rId1" Type="http://schemas.openxmlformats.org/officeDocument/2006/relationships/oleObject" Target="../embeddings/oleObject58.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118.png"/><Relationship Id="rId7" Type="http://schemas.openxmlformats.org/officeDocument/2006/relationships/image" Target="../media/image72.png"/><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 Id="rId3" Type="http://schemas.openxmlformats.org/officeDocument/2006/relationships/image" Target="../media/image6.png"/><Relationship Id="rId2" Type="http://schemas.microsoft.com/office/2007/relationships/media" Target="../media/media1.wmv"/><Relationship Id="rId13" Type="http://schemas.openxmlformats.org/officeDocument/2006/relationships/notesSlide" Target="../notesSlides/notesSlide28.xml"/><Relationship Id="rId12" Type="http://schemas.openxmlformats.org/officeDocument/2006/relationships/slideLayout" Target="../slideLayouts/slideLayout7.xml"/><Relationship Id="rId11" Type="http://schemas.openxmlformats.org/officeDocument/2006/relationships/image" Target="../media/image119.png"/><Relationship Id="rId10" Type="http://schemas.openxmlformats.org/officeDocument/2006/relationships/image" Target="../media/image28.png"/><Relationship Id="rId1" Type="http://schemas.openxmlformats.org/officeDocument/2006/relationships/video" Target="../media/media1.wmv"/></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123.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4.xml"/><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image" Target="../media/image12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image" Target="../media/image121.png"/></Relationships>
</file>

<file path=ppt/slides/_rels/slide37.xml.rels><?xml version="1.0" encoding="UTF-8" standalone="yes"?>
<Relationships xmlns="http://schemas.openxmlformats.org/package/2006/relationships"><Relationship Id="rId9" Type="http://schemas.openxmlformats.org/officeDocument/2006/relationships/image" Target="../media/image108.png"/><Relationship Id="rId8" Type="http://schemas.openxmlformats.org/officeDocument/2006/relationships/image" Target="../media/image126.wmf"/><Relationship Id="rId7" Type="http://schemas.openxmlformats.org/officeDocument/2006/relationships/oleObject" Target="../embeddings/oleObject65.bin"/><Relationship Id="rId6" Type="http://schemas.openxmlformats.org/officeDocument/2006/relationships/image" Target="../media/image107.wmf"/><Relationship Id="rId5" Type="http://schemas.openxmlformats.org/officeDocument/2006/relationships/oleObject" Target="../embeddings/oleObject64.bin"/><Relationship Id="rId4" Type="http://schemas.openxmlformats.org/officeDocument/2006/relationships/image" Target="../media/image111.wmf"/><Relationship Id="rId3" Type="http://schemas.openxmlformats.org/officeDocument/2006/relationships/oleObject" Target="../embeddings/oleObject63.bin"/><Relationship Id="rId2" Type="http://schemas.openxmlformats.org/officeDocument/2006/relationships/image" Target="../media/image105.wmf"/><Relationship Id="rId17" Type="http://schemas.openxmlformats.org/officeDocument/2006/relationships/notesSlide" Target="../notesSlides/notesSlide32.xml"/><Relationship Id="rId16" Type="http://schemas.openxmlformats.org/officeDocument/2006/relationships/vmlDrawing" Target="../drawings/vmlDrawing12.vml"/><Relationship Id="rId15" Type="http://schemas.openxmlformats.org/officeDocument/2006/relationships/slideLayout" Target="../slideLayouts/slideLayout4.xml"/><Relationship Id="rId14" Type="http://schemas.openxmlformats.org/officeDocument/2006/relationships/audio" Target="../media/audio2.wav"/><Relationship Id="rId13" Type="http://schemas.openxmlformats.org/officeDocument/2006/relationships/audio" Target="../media/audio1.wav"/><Relationship Id="rId12" Type="http://schemas.openxmlformats.org/officeDocument/2006/relationships/image" Target="../media/image29.png"/><Relationship Id="rId11" Type="http://schemas.microsoft.com/office/2007/relationships/media" Target="../media/media4.mp4"/><Relationship Id="rId10" Type="http://schemas.openxmlformats.org/officeDocument/2006/relationships/video" Target="../media/media4.mp4"/><Relationship Id="rId1" Type="http://schemas.openxmlformats.org/officeDocument/2006/relationships/oleObject" Target="../embeddings/oleObject62.bin"/></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4.xml"/><Relationship Id="rId5" Type="http://schemas.openxmlformats.org/officeDocument/2006/relationships/audio" Target="../media/audio6.wav"/><Relationship Id="rId4" Type="http://schemas.openxmlformats.org/officeDocument/2006/relationships/audio" Target="../media/audio5.wav"/><Relationship Id="rId3" Type="http://schemas.openxmlformats.org/officeDocument/2006/relationships/audio" Target="../media/audio4.wav"/><Relationship Id="rId2" Type="http://schemas.openxmlformats.org/officeDocument/2006/relationships/audio" Target="../media/audio3.wav"/><Relationship Id="rId1" Type="http://schemas.openxmlformats.org/officeDocument/2006/relationships/image" Target="../media/image12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0.png"/></Relationships>
</file>

<file path=ppt/slides/_rels/slide4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132.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slideLayout" Target="../slideLayouts/slideLayout4.xml"/><Relationship Id="rId12" Type="http://schemas.openxmlformats.org/officeDocument/2006/relationships/image" Target="../media/image134.png"/><Relationship Id="rId11" Type="http://schemas.openxmlformats.org/officeDocument/2006/relationships/image" Target="../media/image133.png"/><Relationship Id="rId10" Type="http://schemas.openxmlformats.org/officeDocument/2006/relationships/tags" Target="../tags/tag8.xml"/><Relationship Id="rId1" Type="http://schemas.openxmlformats.org/officeDocument/2006/relationships/image" Target="../media/image131.png"/></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36.png"/><Relationship Id="rId7" Type="http://schemas.openxmlformats.org/officeDocument/2006/relationships/image" Target="../media/image134.png"/><Relationship Id="rId6" Type="http://schemas.openxmlformats.org/officeDocument/2006/relationships/image" Target="../media/image135.png"/><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131.pn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38.png"/><Relationship Id="rId7" Type="http://schemas.openxmlformats.org/officeDocument/2006/relationships/image" Target="../media/image134.png"/><Relationship Id="rId6" Type="http://schemas.openxmlformats.org/officeDocument/2006/relationships/image" Target="../media/image137.png"/><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image" Target="../media/image131.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7.xml"/><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image" Target="../media/image139.png"/></Relationships>
</file>

<file path=ppt/slides/_rels/slide46.xml.rels><?xml version="1.0" encoding="UTF-8" standalone="yes"?>
<Relationships xmlns="http://schemas.openxmlformats.org/package/2006/relationships"><Relationship Id="rId9" Type="http://schemas.openxmlformats.org/officeDocument/2006/relationships/image" Target="../media/image146.png"/><Relationship Id="rId8" Type="http://schemas.openxmlformats.org/officeDocument/2006/relationships/image" Target="../media/image145.emf"/><Relationship Id="rId7" Type="http://schemas.openxmlformats.org/officeDocument/2006/relationships/oleObject" Target="../embeddings/oleObject69.bin"/><Relationship Id="rId6" Type="http://schemas.openxmlformats.org/officeDocument/2006/relationships/image" Target="../media/image144.emf"/><Relationship Id="rId5" Type="http://schemas.openxmlformats.org/officeDocument/2006/relationships/oleObject" Target="../embeddings/oleObject68.bin"/><Relationship Id="rId4" Type="http://schemas.openxmlformats.org/officeDocument/2006/relationships/image" Target="../media/image143.wmf"/><Relationship Id="rId32" Type="http://schemas.openxmlformats.org/officeDocument/2006/relationships/notesSlide" Target="../notesSlides/notesSlide35.xml"/><Relationship Id="rId31" Type="http://schemas.openxmlformats.org/officeDocument/2006/relationships/vmlDrawing" Target="../drawings/vmlDrawing13.vml"/><Relationship Id="rId30" Type="http://schemas.openxmlformats.org/officeDocument/2006/relationships/slideLayout" Target="../slideLayouts/slideLayout7.xml"/><Relationship Id="rId3" Type="http://schemas.openxmlformats.org/officeDocument/2006/relationships/oleObject" Target="../embeddings/oleObject67.bin"/><Relationship Id="rId29" Type="http://schemas.openxmlformats.org/officeDocument/2006/relationships/image" Target="../media/image164.png"/><Relationship Id="rId28" Type="http://schemas.openxmlformats.org/officeDocument/2006/relationships/image" Target="../media/image163.png"/><Relationship Id="rId27" Type="http://schemas.openxmlformats.org/officeDocument/2006/relationships/image" Target="../media/image162.png"/><Relationship Id="rId26" Type="http://schemas.openxmlformats.org/officeDocument/2006/relationships/image" Target="../media/image161.png"/><Relationship Id="rId25" Type="http://schemas.openxmlformats.org/officeDocument/2006/relationships/image" Target="../media/image160.wmf"/><Relationship Id="rId24" Type="http://schemas.openxmlformats.org/officeDocument/2006/relationships/oleObject" Target="../embeddings/oleObject71.bin"/><Relationship Id="rId23" Type="http://schemas.openxmlformats.org/officeDocument/2006/relationships/image" Target="../media/image159.wmf"/><Relationship Id="rId22" Type="http://schemas.openxmlformats.org/officeDocument/2006/relationships/oleObject" Target="../embeddings/oleObject70.bin"/><Relationship Id="rId21" Type="http://schemas.openxmlformats.org/officeDocument/2006/relationships/image" Target="../media/image158.png"/><Relationship Id="rId20" Type="http://schemas.openxmlformats.org/officeDocument/2006/relationships/image" Target="../media/image157.png"/><Relationship Id="rId2" Type="http://schemas.openxmlformats.org/officeDocument/2006/relationships/image" Target="../media/image142.emf"/><Relationship Id="rId19" Type="http://schemas.openxmlformats.org/officeDocument/2006/relationships/image" Target="../media/image156.png"/><Relationship Id="rId18" Type="http://schemas.openxmlformats.org/officeDocument/2006/relationships/image" Target="../media/image155.png"/><Relationship Id="rId17" Type="http://schemas.openxmlformats.org/officeDocument/2006/relationships/image" Target="../media/image154.png"/><Relationship Id="rId16" Type="http://schemas.openxmlformats.org/officeDocument/2006/relationships/image" Target="../media/image153.png"/><Relationship Id="rId15" Type="http://schemas.openxmlformats.org/officeDocument/2006/relationships/image" Target="../media/image152.png"/><Relationship Id="rId14" Type="http://schemas.openxmlformats.org/officeDocument/2006/relationships/image" Target="../media/image151.png"/><Relationship Id="rId13" Type="http://schemas.openxmlformats.org/officeDocument/2006/relationships/image" Target="../media/image150.png"/><Relationship Id="rId12" Type="http://schemas.openxmlformats.org/officeDocument/2006/relationships/image" Target="../media/image149.png"/><Relationship Id="rId11" Type="http://schemas.openxmlformats.org/officeDocument/2006/relationships/image" Target="../media/image148.png"/><Relationship Id="rId10" Type="http://schemas.openxmlformats.org/officeDocument/2006/relationships/image" Target="../media/image147.png"/><Relationship Id="rId1" Type="http://schemas.openxmlformats.org/officeDocument/2006/relationships/oleObject" Target="../embeddings/oleObject66.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168.emf"/><Relationship Id="rId7" Type="http://schemas.openxmlformats.org/officeDocument/2006/relationships/oleObject" Target="../embeddings/oleObject75.bin"/><Relationship Id="rId6" Type="http://schemas.openxmlformats.org/officeDocument/2006/relationships/image" Target="../media/image167.emf"/><Relationship Id="rId5" Type="http://schemas.openxmlformats.org/officeDocument/2006/relationships/oleObject" Target="../embeddings/oleObject74.bin"/><Relationship Id="rId48" Type="http://schemas.openxmlformats.org/officeDocument/2006/relationships/notesSlide" Target="../notesSlides/notesSlide36.xml"/><Relationship Id="rId47" Type="http://schemas.openxmlformats.org/officeDocument/2006/relationships/vmlDrawing" Target="../drawings/vmlDrawing14.vml"/><Relationship Id="rId46" Type="http://schemas.openxmlformats.org/officeDocument/2006/relationships/slideLayout" Target="../slideLayouts/slideLayout7.xml"/><Relationship Id="rId45" Type="http://schemas.openxmlformats.org/officeDocument/2006/relationships/image" Target="../media/image193.png"/><Relationship Id="rId44" Type="http://schemas.openxmlformats.org/officeDocument/2006/relationships/image" Target="../media/image192.png"/><Relationship Id="rId43" Type="http://schemas.openxmlformats.org/officeDocument/2006/relationships/image" Target="../media/image191.png"/><Relationship Id="rId42" Type="http://schemas.openxmlformats.org/officeDocument/2006/relationships/image" Target="../media/image190.png"/><Relationship Id="rId41" Type="http://schemas.openxmlformats.org/officeDocument/2006/relationships/image" Target="../media/image189.png"/><Relationship Id="rId40" Type="http://schemas.openxmlformats.org/officeDocument/2006/relationships/image" Target="../media/image188.emf"/><Relationship Id="rId4" Type="http://schemas.openxmlformats.org/officeDocument/2006/relationships/image" Target="../media/image166.wmf"/><Relationship Id="rId39" Type="http://schemas.openxmlformats.org/officeDocument/2006/relationships/oleObject" Target="../embeddings/oleObject86.bin"/><Relationship Id="rId38" Type="http://schemas.openxmlformats.org/officeDocument/2006/relationships/image" Target="../media/image187.emf"/><Relationship Id="rId37" Type="http://schemas.openxmlformats.org/officeDocument/2006/relationships/oleObject" Target="../embeddings/oleObject85.bin"/><Relationship Id="rId36" Type="http://schemas.openxmlformats.org/officeDocument/2006/relationships/image" Target="../media/image186.wmf"/><Relationship Id="rId35" Type="http://schemas.openxmlformats.org/officeDocument/2006/relationships/oleObject" Target="../embeddings/oleObject84.bin"/><Relationship Id="rId34" Type="http://schemas.openxmlformats.org/officeDocument/2006/relationships/image" Target="../media/image185.wmf"/><Relationship Id="rId33" Type="http://schemas.openxmlformats.org/officeDocument/2006/relationships/oleObject" Target="../embeddings/oleObject83.bin"/><Relationship Id="rId32" Type="http://schemas.openxmlformats.org/officeDocument/2006/relationships/image" Target="../media/image184.png"/><Relationship Id="rId31" Type="http://schemas.openxmlformats.org/officeDocument/2006/relationships/image" Target="../media/image183.png"/><Relationship Id="rId30" Type="http://schemas.openxmlformats.org/officeDocument/2006/relationships/image" Target="../media/image163.png"/><Relationship Id="rId3" Type="http://schemas.openxmlformats.org/officeDocument/2006/relationships/oleObject" Target="../embeddings/oleObject73.bin"/><Relationship Id="rId29" Type="http://schemas.openxmlformats.org/officeDocument/2006/relationships/image" Target="../media/image182.png"/><Relationship Id="rId28" Type="http://schemas.openxmlformats.org/officeDocument/2006/relationships/image" Target="../media/image181.png"/><Relationship Id="rId27" Type="http://schemas.openxmlformats.org/officeDocument/2006/relationships/image" Target="../media/image180.png"/><Relationship Id="rId26" Type="http://schemas.openxmlformats.org/officeDocument/2006/relationships/image" Target="../media/image179.png"/><Relationship Id="rId25" Type="http://schemas.openxmlformats.org/officeDocument/2006/relationships/image" Target="../media/image178.png"/><Relationship Id="rId24" Type="http://schemas.openxmlformats.org/officeDocument/2006/relationships/image" Target="../media/image177.png"/><Relationship Id="rId23" Type="http://schemas.openxmlformats.org/officeDocument/2006/relationships/image" Target="../media/image176.png"/><Relationship Id="rId22" Type="http://schemas.openxmlformats.org/officeDocument/2006/relationships/image" Target="../media/image175.emf"/><Relationship Id="rId21" Type="http://schemas.openxmlformats.org/officeDocument/2006/relationships/oleObject" Target="../embeddings/oleObject82.bin"/><Relationship Id="rId20" Type="http://schemas.openxmlformats.org/officeDocument/2006/relationships/image" Target="../media/image174.emf"/><Relationship Id="rId2" Type="http://schemas.openxmlformats.org/officeDocument/2006/relationships/image" Target="../media/image165.wmf"/><Relationship Id="rId19" Type="http://schemas.openxmlformats.org/officeDocument/2006/relationships/oleObject" Target="../embeddings/oleObject81.bin"/><Relationship Id="rId18" Type="http://schemas.openxmlformats.org/officeDocument/2006/relationships/image" Target="../media/image173.emf"/><Relationship Id="rId17" Type="http://schemas.openxmlformats.org/officeDocument/2006/relationships/oleObject" Target="../embeddings/oleObject80.bin"/><Relationship Id="rId16" Type="http://schemas.openxmlformats.org/officeDocument/2006/relationships/image" Target="../media/image172.wmf"/><Relationship Id="rId15" Type="http://schemas.openxmlformats.org/officeDocument/2006/relationships/oleObject" Target="../embeddings/oleObject79.bin"/><Relationship Id="rId14" Type="http://schemas.openxmlformats.org/officeDocument/2006/relationships/image" Target="../media/image171.emf"/><Relationship Id="rId13" Type="http://schemas.openxmlformats.org/officeDocument/2006/relationships/oleObject" Target="../embeddings/oleObject78.bin"/><Relationship Id="rId12" Type="http://schemas.openxmlformats.org/officeDocument/2006/relationships/image" Target="../media/image170.emf"/><Relationship Id="rId11" Type="http://schemas.openxmlformats.org/officeDocument/2006/relationships/oleObject" Target="../embeddings/oleObject77.bin"/><Relationship Id="rId10" Type="http://schemas.openxmlformats.org/officeDocument/2006/relationships/image" Target="../media/image169.emf"/><Relationship Id="rId1" Type="http://schemas.openxmlformats.org/officeDocument/2006/relationships/oleObject" Target="../embeddings/oleObject72.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168.emf"/><Relationship Id="rId7" Type="http://schemas.openxmlformats.org/officeDocument/2006/relationships/oleObject" Target="../embeddings/oleObject90.bin"/><Relationship Id="rId6" Type="http://schemas.openxmlformats.org/officeDocument/2006/relationships/image" Target="../media/image167.emf"/><Relationship Id="rId5" Type="http://schemas.openxmlformats.org/officeDocument/2006/relationships/oleObject" Target="../embeddings/oleObject89.bin"/><Relationship Id="rId4" Type="http://schemas.openxmlformats.org/officeDocument/2006/relationships/image" Target="../media/image166.wmf"/><Relationship Id="rId38" Type="http://schemas.openxmlformats.org/officeDocument/2006/relationships/notesSlide" Target="../notesSlides/notesSlide37.xml"/><Relationship Id="rId37" Type="http://schemas.openxmlformats.org/officeDocument/2006/relationships/vmlDrawing" Target="../drawings/vmlDrawing15.vml"/><Relationship Id="rId36" Type="http://schemas.openxmlformats.org/officeDocument/2006/relationships/slideLayout" Target="../slideLayouts/slideLayout7.xml"/><Relationship Id="rId35" Type="http://schemas.openxmlformats.org/officeDocument/2006/relationships/image" Target="../media/image176.png"/><Relationship Id="rId34" Type="http://schemas.openxmlformats.org/officeDocument/2006/relationships/image" Target="../media/image193.png"/><Relationship Id="rId33" Type="http://schemas.openxmlformats.org/officeDocument/2006/relationships/image" Target="../media/image192.png"/><Relationship Id="rId32" Type="http://schemas.openxmlformats.org/officeDocument/2006/relationships/image" Target="../media/image188.emf"/><Relationship Id="rId31" Type="http://schemas.openxmlformats.org/officeDocument/2006/relationships/oleObject" Target="../embeddings/oleObject101.bin"/><Relationship Id="rId30" Type="http://schemas.openxmlformats.org/officeDocument/2006/relationships/image" Target="../media/image187.emf"/><Relationship Id="rId3" Type="http://schemas.openxmlformats.org/officeDocument/2006/relationships/oleObject" Target="../embeddings/oleObject88.bin"/><Relationship Id="rId29" Type="http://schemas.openxmlformats.org/officeDocument/2006/relationships/oleObject" Target="../embeddings/oleObject100.bin"/><Relationship Id="rId28" Type="http://schemas.openxmlformats.org/officeDocument/2006/relationships/image" Target="../media/image186.wmf"/><Relationship Id="rId27" Type="http://schemas.openxmlformats.org/officeDocument/2006/relationships/oleObject" Target="../embeddings/oleObject99.bin"/><Relationship Id="rId26" Type="http://schemas.openxmlformats.org/officeDocument/2006/relationships/image" Target="../media/image185.wmf"/><Relationship Id="rId25" Type="http://schemas.openxmlformats.org/officeDocument/2006/relationships/oleObject" Target="../embeddings/oleObject98.bin"/><Relationship Id="rId24" Type="http://schemas.openxmlformats.org/officeDocument/2006/relationships/image" Target="../media/image163.png"/><Relationship Id="rId23" Type="http://schemas.openxmlformats.org/officeDocument/2006/relationships/image" Target="../media/image178.png"/><Relationship Id="rId22" Type="http://schemas.openxmlformats.org/officeDocument/2006/relationships/image" Target="../media/image175.emf"/><Relationship Id="rId21" Type="http://schemas.openxmlformats.org/officeDocument/2006/relationships/oleObject" Target="../embeddings/oleObject97.bin"/><Relationship Id="rId20" Type="http://schemas.openxmlformats.org/officeDocument/2006/relationships/image" Target="../media/image174.emf"/><Relationship Id="rId2" Type="http://schemas.openxmlformats.org/officeDocument/2006/relationships/image" Target="../media/image165.wmf"/><Relationship Id="rId19" Type="http://schemas.openxmlformats.org/officeDocument/2006/relationships/oleObject" Target="../embeddings/oleObject96.bin"/><Relationship Id="rId18" Type="http://schemas.openxmlformats.org/officeDocument/2006/relationships/image" Target="../media/image173.emf"/><Relationship Id="rId17" Type="http://schemas.openxmlformats.org/officeDocument/2006/relationships/oleObject" Target="../embeddings/oleObject95.bin"/><Relationship Id="rId16" Type="http://schemas.openxmlformats.org/officeDocument/2006/relationships/image" Target="../media/image172.wmf"/><Relationship Id="rId15" Type="http://schemas.openxmlformats.org/officeDocument/2006/relationships/oleObject" Target="../embeddings/oleObject94.bin"/><Relationship Id="rId14" Type="http://schemas.openxmlformats.org/officeDocument/2006/relationships/image" Target="../media/image171.emf"/><Relationship Id="rId13" Type="http://schemas.openxmlformats.org/officeDocument/2006/relationships/oleObject" Target="../embeddings/oleObject93.bin"/><Relationship Id="rId12" Type="http://schemas.openxmlformats.org/officeDocument/2006/relationships/image" Target="../media/image170.emf"/><Relationship Id="rId11" Type="http://schemas.openxmlformats.org/officeDocument/2006/relationships/oleObject" Target="../embeddings/oleObject92.bin"/><Relationship Id="rId10" Type="http://schemas.openxmlformats.org/officeDocument/2006/relationships/image" Target="../media/image169.emf"/><Relationship Id="rId1" Type="http://schemas.openxmlformats.org/officeDocument/2006/relationships/oleObject" Target="../embeddings/oleObject87.bin"/></Relationships>
</file>

<file path=ppt/slides/_rels/slide49.xml.rels><?xml version="1.0" encoding="UTF-8" standalone="yes"?>
<Relationships xmlns="http://schemas.openxmlformats.org/package/2006/relationships"><Relationship Id="rId9" Type="http://schemas.openxmlformats.org/officeDocument/2006/relationships/image" Target="../media/image166.wmf"/><Relationship Id="rId8" Type="http://schemas.openxmlformats.org/officeDocument/2006/relationships/oleObject" Target="../embeddings/oleObject105.bin"/><Relationship Id="rId7" Type="http://schemas.openxmlformats.org/officeDocument/2006/relationships/image" Target="../media/image165.wmf"/><Relationship Id="rId6" Type="http://schemas.openxmlformats.org/officeDocument/2006/relationships/oleObject" Target="../embeddings/oleObject104.bin"/><Relationship Id="rId5" Type="http://schemas.openxmlformats.org/officeDocument/2006/relationships/image" Target="../media/image196.emf"/><Relationship Id="rId4" Type="http://schemas.openxmlformats.org/officeDocument/2006/relationships/oleObject" Target="../embeddings/oleObject103.bin"/><Relationship Id="rId30" Type="http://schemas.openxmlformats.org/officeDocument/2006/relationships/notesSlide" Target="../notesSlides/notesSlide38.xml"/><Relationship Id="rId3" Type="http://schemas.openxmlformats.org/officeDocument/2006/relationships/image" Target="../media/image195.emf"/><Relationship Id="rId29" Type="http://schemas.openxmlformats.org/officeDocument/2006/relationships/vmlDrawing" Target="../drawings/vmlDrawing16.vml"/><Relationship Id="rId28" Type="http://schemas.openxmlformats.org/officeDocument/2006/relationships/slideLayout" Target="../slideLayouts/slideLayout7.xml"/><Relationship Id="rId27" Type="http://schemas.openxmlformats.org/officeDocument/2006/relationships/image" Target="../media/image208.png"/><Relationship Id="rId26" Type="http://schemas.openxmlformats.org/officeDocument/2006/relationships/image" Target="../media/image207.png"/><Relationship Id="rId25" Type="http://schemas.openxmlformats.org/officeDocument/2006/relationships/image" Target="../media/image206.png"/><Relationship Id="rId24" Type="http://schemas.openxmlformats.org/officeDocument/2006/relationships/image" Target="../media/image205.png"/><Relationship Id="rId23" Type="http://schemas.openxmlformats.org/officeDocument/2006/relationships/image" Target="../media/image204.png"/><Relationship Id="rId22" Type="http://schemas.openxmlformats.org/officeDocument/2006/relationships/image" Target="../media/image203.png"/><Relationship Id="rId21" Type="http://schemas.openxmlformats.org/officeDocument/2006/relationships/image" Target="../media/image202.png"/><Relationship Id="rId20" Type="http://schemas.openxmlformats.org/officeDocument/2006/relationships/image" Target="../media/image201.png"/><Relationship Id="rId2" Type="http://schemas.openxmlformats.org/officeDocument/2006/relationships/oleObject" Target="../embeddings/oleObject102.bin"/><Relationship Id="rId19" Type="http://schemas.openxmlformats.org/officeDocument/2006/relationships/image" Target="../media/image200.png"/><Relationship Id="rId18" Type="http://schemas.openxmlformats.org/officeDocument/2006/relationships/image" Target="../media/image199.png"/><Relationship Id="rId17" Type="http://schemas.openxmlformats.org/officeDocument/2006/relationships/image" Target="../media/image169.emf"/><Relationship Id="rId16" Type="http://schemas.openxmlformats.org/officeDocument/2006/relationships/oleObject" Target="../embeddings/oleObject109.bin"/><Relationship Id="rId15" Type="http://schemas.openxmlformats.org/officeDocument/2006/relationships/image" Target="../media/image170.emf"/><Relationship Id="rId14" Type="http://schemas.openxmlformats.org/officeDocument/2006/relationships/oleObject" Target="../embeddings/oleObject108.bin"/><Relationship Id="rId13" Type="http://schemas.openxmlformats.org/officeDocument/2006/relationships/image" Target="../media/image198.emf"/><Relationship Id="rId12" Type="http://schemas.openxmlformats.org/officeDocument/2006/relationships/oleObject" Target="../embeddings/oleObject107.bin"/><Relationship Id="rId11" Type="http://schemas.openxmlformats.org/officeDocument/2006/relationships/image" Target="../media/image197.emf"/><Relationship Id="rId10" Type="http://schemas.openxmlformats.org/officeDocument/2006/relationships/oleObject" Target="../embeddings/oleObject106.bin"/><Relationship Id="rId1" Type="http://schemas.openxmlformats.org/officeDocument/2006/relationships/image" Target="../media/image194.png"/></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12.png"/><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image" Target="../media/image209.png"/></Relationships>
</file>

<file path=ppt/slides/_rels/slide51.xml.rels><?xml version="1.0" encoding="UTF-8" standalone="yes"?>
<Relationships xmlns="http://schemas.openxmlformats.org/package/2006/relationships"><Relationship Id="rId9" Type="http://schemas.openxmlformats.org/officeDocument/2006/relationships/image" Target="../media/image214.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1" Type="http://schemas.openxmlformats.org/officeDocument/2006/relationships/slideLayout" Target="../slideLayouts/slideLayout4.xml"/><Relationship Id="rId10" Type="http://schemas.openxmlformats.org/officeDocument/2006/relationships/image" Target="../media/image215.png"/><Relationship Id="rId1" Type="http://schemas.openxmlformats.org/officeDocument/2006/relationships/image" Target="../media/image213.png"/></Relationships>
</file>

<file path=ppt/slides/_rels/slide52.xml.rels><?xml version="1.0" encoding="UTF-8" standalone="yes"?>
<Relationships xmlns="http://schemas.openxmlformats.org/package/2006/relationships"><Relationship Id="rId9" Type="http://schemas.openxmlformats.org/officeDocument/2006/relationships/image" Target="../media/image214.png"/><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1" Type="http://schemas.openxmlformats.org/officeDocument/2006/relationships/slideLayout" Target="../slideLayouts/slideLayout4.xml"/><Relationship Id="rId10" Type="http://schemas.openxmlformats.org/officeDocument/2006/relationships/image" Target="../media/image217.png"/><Relationship Id="rId1" Type="http://schemas.openxmlformats.org/officeDocument/2006/relationships/image" Target="../media/image216.png"/></Relationships>
</file>

<file path=ppt/slides/_rels/slide53.xml.rels><?xml version="1.0" encoding="UTF-8" standalone="yes"?>
<Relationships xmlns="http://schemas.openxmlformats.org/package/2006/relationships"><Relationship Id="rId9" Type="http://schemas.openxmlformats.org/officeDocument/2006/relationships/image" Target="../media/image219.png"/><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3" Type="http://schemas.openxmlformats.org/officeDocument/2006/relationships/slideLayout" Target="../slideLayouts/slideLayout4.xml"/><Relationship Id="rId12" Type="http://schemas.openxmlformats.org/officeDocument/2006/relationships/image" Target="../media/image221.png"/><Relationship Id="rId11" Type="http://schemas.openxmlformats.org/officeDocument/2006/relationships/image" Target="../media/image220.png"/><Relationship Id="rId10" Type="http://schemas.openxmlformats.org/officeDocument/2006/relationships/image" Target="../media/image215.png"/><Relationship Id="rId1" Type="http://schemas.openxmlformats.org/officeDocument/2006/relationships/image" Target="../media/image218.png"/></Relationships>
</file>

<file path=ppt/slides/_rels/slide54.xml.rels><?xml version="1.0" encoding="UTF-8" standalone="yes"?>
<Relationships xmlns="http://schemas.openxmlformats.org/package/2006/relationships"><Relationship Id="rId9" Type="http://schemas.openxmlformats.org/officeDocument/2006/relationships/image" Target="../media/image230.png"/><Relationship Id="rId8" Type="http://schemas.openxmlformats.org/officeDocument/2006/relationships/image" Target="../media/image229.png"/><Relationship Id="rId7" Type="http://schemas.openxmlformats.org/officeDocument/2006/relationships/image" Target="../media/image228.png"/><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png"/><Relationship Id="rId3" Type="http://schemas.openxmlformats.org/officeDocument/2006/relationships/image" Target="../media/image224.png"/><Relationship Id="rId2" Type="http://schemas.openxmlformats.org/officeDocument/2006/relationships/image" Target="../media/image223.png"/><Relationship Id="rId19" Type="http://schemas.openxmlformats.org/officeDocument/2006/relationships/notesSlide" Target="../notesSlides/notesSlide39.xml"/><Relationship Id="rId18" Type="http://schemas.openxmlformats.org/officeDocument/2006/relationships/slideLayout" Target="../slideLayouts/slideLayout18.xml"/><Relationship Id="rId17" Type="http://schemas.openxmlformats.org/officeDocument/2006/relationships/image" Target="../media/image238.png"/><Relationship Id="rId16" Type="http://schemas.openxmlformats.org/officeDocument/2006/relationships/image" Target="../media/image237.png"/><Relationship Id="rId15" Type="http://schemas.openxmlformats.org/officeDocument/2006/relationships/image" Target="../media/image236.png"/><Relationship Id="rId14" Type="http://schemas.openxmlformats.org/officeDocument/2006/relationships/image" Target="../media/image235.png"/><Relationship Id="rId13" Type="http://schemas.openxmlformats.org/officeDocument/2006/relationships/image" Target="../media/image234.png"/><Relationship Id="rId12" Type="http://schemas.openxmlformats.org/officeDocument/2006/relationships/image" Target="../media/image233.png"/><Relationship Id="rId11" Type="http://schemas.openxmlformats.org/officeDocument/2006/relationships/image" Target="../media/image232.png"/><Relationship Id="rId10" Type="http://schemas.openxmlformats.org/officeDocument/2006/relationships/image" Target="../media/image231.png"/><Relationship Id="rId1" Type="http://schemas.openxmlformats.org/officeDocument/2006/relationships/image" Target="../media/image222.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image" Target="../media/image239.png"/></Relationships>
</file>

<file path=ppt/slides/_rels/slide56.xml.rels><?xml version="1.0" encoding="UTF-8" standalone="yes"?>
<Relationships xmlns="http://schemas.openxmlformats.org/package/2006/relationships"><Relationship Id="rId9" Type="http://schemas.openxmlformats.org/officeDocument/2006/relationships/image" Target="../media/image248.png"/><Relationship Id="rId8" Type="http://schemas.openxmlformats.org/officeDocument/2006/relationships/image" Target="../media/image247.png"/><Relationship Id="rId7" Type="http://schemas.openxmlformats.org/officeDocument/2006/relationships/image" Target="../media/image246.emf"/><Relationship Id="rId6" Type="http://schemas.openxmlformats.org/officeDocument/2006/relationships/oleObject" Target="../embeddings/oleObject111.bin"/><Relationship Id="rId5" Type="http://schemas.openxmlformats.org/officeDocument/2006/relationships/image" Target="../media/image245.png"/><Relationship Id="rId4" Type="http://schemas.openxmlformats.org/officeDocument/2006/relationships/image" Target="../media/image244.png"/><Relationship Id="rId3" Type="http://schemas.openxmlformats.org/officeDocument/2006/relationships/image" Target="../media/image243.png"/><Relationship Id="rId2" Type="http://schemas.openxmlformats.org/officeDocument/2006/relationships/image" Target="../media/image242.wmf"/><Relationship Id="rId12" Type="http://schemas.openxmlformats.org/officeDocument/2006/relationships/vmlDrawing" Target="../drawings/vmlDrawing17.vml"/><Relationship Id="rId11" Type="http://schemas.openxmlformats.org/officeDocument/2006/relationships/slideLayout" Target="../slideLayouts/slideLayout4.xml"/><Relationship Id="rId10" Type="http://schemas.openxmlformats.org/officeDocument/2006/relationships/image" Target="../media/image249.png"/><Relationship Id="rId1" Type="http://schemas.openxmlformats.org/officeDocument/2006/relationships/oleObject" Target="../embeddings/oleObject110.bin"/></Relationships>
</file>

<file path=ppt/slides/_rels/slide57.xml.rels><?xml version="1.0" encoding="UTF-8" standalone="yes"?>
<Relationships xmlns="http://schemas.openxmlformats.org/package/2006/relationships"><Relationship Id="rId9" Type="http://schemas.openxmlformats.org/officeDocument/2006/relationships/image" Target="../media/image255.wmf"/><Relationship Id="rId8" Type="http://schemas.openxmlformats.org/officeDocument/2006/relationships/oleObject" Target="../embeddings/oleObject114.bin"/><Relationship Id="rId7" Type="http://schemas.openxmlformats.org/officeDocument/2006/relationships/image" Target="../media/image254.png"/><Relationship Id="rId6" Type="http://schemas.openxmlformats.org/officeDocument/2006/relationships/image" Target="../media/image253.png"/><Relationship Id="rId5" Type="http://schemas.openxmlformats.org/officeDocument/2006/relationships/image" Target="../media/image252.wmf"/><Relationship Id="rId4" Type="http://schemas.openxmlformats.org/officeDocument/2006/relationships/oleObject" Target="../embeddings/oleObject113.bin"/><Relationship Id="rId3" Type="http://schemas.openxmlformats.org/officeDocument/2006/relationships/image" Target="../media/image251.wmf"/><Relationship Id="rId2" Type="http://schemas.openxmlformats.org/officeDocument/2006/relationships/oleObject" Target="../embeddings/oleObject112.bin"/><Relationship Id="rId13" Type="http://schemas.openxmlformats.org/officeDocument/2006/relationships/vmlDrawing" Target="../drawings/vmlDrawing18.vml"/><Relationship Id="rId12" Type="http://schemas.openxmlformats.org/officeDocument/2006/relationships/slideLayout" Target="../slideLayouts/slideLayout4.xml"/><Relationship Id="rId11" Type="http://schemas.openxmlformats.org/officeDocument/2006/relationships/image" Target="../media/image257.png"/><Relationship Id="rId10" Type="http://schemas.openxmlformats.org/officeDocument/2006/relationships/image" Target="../media/image256.png"/><Relationship Id="rId1" Type="http://schemas.openxmlformats.org/officeDocument/2006/relationships/image" Target="../media/image250.png"/></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263.png"/><Relationship Id="rId6" Type="http://schemas.openxmlformats.org/officeDocument/2006/relationships/image" Target="../media/image262.png"/><Relationship Id="rId5" Type="http://schemas.openxmlformats.org/officeDocument/2006/relationships/image" Target="../media/image261.png"/><Relationship Id="rId4" Type="http://schemas.openxmlformats.org/officeDocument/2006/relationships/image" Target="../media/image253.png"/><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image" Target="../media/image258.png"/></Relationships>
</file>

<file path=ppt/slides/_rels/slide59.xml.rels><?xml version="1.0" encoding="UTF-8" standalone="yes"?>
<Relationships xmlns="http://schemas.openxmlformats.org/package/2006/relationships"><Relationship Id="rId9" Type="http://schemas.openxmlformats.org/officeDocument/2006/relationships/image" Target="../media/image268.wmf"/><Relationship Id="rId8" Type="http://schemas.openxmlformats.org/officeDocument/2006/relationships/oleObject" Target="../embeddings/oleObject118.bin"/><Relationship Id="rId7" Type="http://schemas.openxmlformats.org/officeDocument/2006/relationships/image" Target="../media/image267.wmf"/><Relationship Id="rId6" Type="http://schemas.openxmlformats.org/officeDocument/2006/relationships/oleObject" Target="../embeddings/oleObject117.bin"/><Relationship Id="rId5" Type="http://schemas.openxmlformats.org/officeDocument/2006/relationships/image" Target="../media/image266.wmf"/><Relationship Id="rId4" Type="http://schemas.openxmlformats.org/officeDocument/2006/relationships/oleObject" Target="../embeddings/oleObject116.bin"/><Relationship Id="rId3" Type="http://schemas.openxmlformats.org/officeDocument/2006/relationships/image" Target="../media/image265.wmf"/><Relationship Id="rId2" Type="http://schemas.openxmlformats.org/officeDocument/2006/relationships/oleObject" Target="../embeddings/oleObject115.bin"/><Relationship Id="rId15" Type="http://schemas.openxmlformats.org/officeDocument/2006/relationships/vmlDrawing" Target="../drawings/vmlDrawing19.vml"/><Relationship Id="rId14" Type="http://schemas.openxmlformats.org/officeDocument/2006/relationships/slideLayout" Target="../slideLayouts/slideLayout4.xml"/><Relationship Id="rId13" Type="http://schemas.openxmlformats.org/officeDocument/2006/relationships/image" Target="../media/image241.png"/><Relationship Id="rId12" Type="http://schemas.openxmlformats.org/officeDocument/2006/relationships/image" Target="../media/image270.png"/><Relationship Id="rId11" Type="http://schemas.openxmlformats.org/officeDocument/2006/relationships/image" Target="../media/image240.png"/><Relationship Id="rId10" Type="http://schemas.openxmlformats.org/officeDocument/2006/relationships/image" Target="../media/image269.png"/><Relationship Id="rId1" Type="http://schemas.openxmlformats.org/officeDocument/2006/relationships/image" Target="../media/image264.png"/></Relationships>
</file>

<file path=ppt/slides/_rels/slide60.xml.rels><?xml version="1.0" encoding="UTF-8" standalone="yes"?>
<Relationships xmlns="http://schemas.openxmlformats.org/package/2006/relationships"><Relationship Id="rId9" Type="http://schemas.openxmlformats.org/officeDocument/2006/relationships/image" Target="../media/image275.png"/><Relationship Id="rId8" Type="http://schemas.openxmlformats.org/officeDocument/2006/relationships/image" Target="../media/image274.png"/><Relationship Id="rId7" Type="http://schemas.openxmlformats.org/officeDocument/2006/relationships/image" Target="../media/image273.png"/><Relationship Id="rId6" Type="http://schemas.openxmlformats.org/officeDocument/2006/relationships/image" Target="../media/image272.wmf"/><Relationship Id="rId5" Type="http://schemas.openxmlformats.org/officeDocument/2006/relationships/oleObject" Target="../embeddings/oleObject121.bin"/><Relationship Id="rId4" Type="http://schemas.openxmlformats.org/officeDocument/2006/relationships/image" Target="../media/image266.wmf"/><Relationship Id="rId3" Type="http://schemas.openxmlformats.org/officeDocument/2006/relationships/oleObject" Target="../embeddings/oleObject120.bin"/><Relationship Id="rId2" Type="http://schemas.openxmlformats.org/officeDocument/2006/relationships/image" Target="../media/image271.wmf"/><Relationship Id="rId11" Type="http://schemas.openxmlformats.org/officeDocument/2006/relationships/vmlDrawing" Target="../drawings/vmlDrawing20.vml"/><Relationship Id="rId10" Type="http://schemas.openxmlformats.org/officeDocument/2006/relationships/slideLayout" Target="../slideLayouts/slideLayout4.xml"/><Relationship Id="rId1" Type="http://schemas.openxmlformats.org/officeDocument/2006/relationships/oleObject" Target="../embeddings/oleObject119.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4100" name="Rectangle 2"/>
          <p:cNvSpPr>
            <a:spLocks noGrp="1" noChangeArrowheads="1"/>
          </p:cNvSpPr>
          <p:nvPr/>
        </p:nvSpPr>
        <p:spPr bwMode="auto">
          <a:xfrm>
            <a:off x="848995" y="950595"/>
            <a:ext cx="10793095" cy="1817370"/>
          </a:xfrm>
          <a:prstGeom prst="rect">
            <a:avLst/>
          </a:prstGeom>
          <a:noFill/>
          <a:ln w="9525">
            <a:noFill/>
            <a:miter lim="800000"/>
          </a:ln>
        </p:spPr>
        <p:txBody>
          <a:bodyPr wrap="square" anchor="ctr"/>
          <a:lstStyle/>
          <a:p>
            <a:pPr algn="ctr" eaLnBrk="0" fontAlgn="base" hangingPunct="0">
              <a:lnSpc>
                <a:spcPct val="125000"/>
              </a:lnSpc>
              <a:spcBef>
                <a:spcPct val="0"/>
              </a:spcBef>
              <a:spcAft>
                <a:spcPct val="0"/>
              </a:spcAft>
            </a:pPr>
            <a:r>
              <a:rPr lang="zh-CN" altLang="en-US" sz="4000" spc="100" dirty="0">
                <a:solidFill>
                  <a:schemeClr val="accent2">
                    <a:lumMod val="75000"/>
                  </a:schemeClr>
                </a:solidFill>
                <a:ea typeface="微软雅黑" panose="020B0503020204020204" pitchFamily="34" charset="-122"/>
                <a:sym typeface="Arial" panose="020B0604020202020204" pitchFamily="34" charset="0"/>
              </a:rPr>
              <a:t>Fundamentals of Mechanical Design</a:t>
            </a:r>
            <a:endParaRPr lang="en-US" altLang="zh-CN" sz="4000" spc="100" dirty="0">
              <a:solidFill>
                <a:schemeClr val="accent2">
                  <a:lumMod val="75000"/>
                </a:schemeClr>
              </a:solidFill>
              <a:ea typeface="微软雅黑" panose="020B0503020204020204" pitchFamily="34" charset="-122"/>
              <a:sym typeface="Arial" panose="020B0604020202020204" pitchFamily="34" charset="0"/>
            </a:endParaRPr>
          </a:p>
          <a:p>
            <a:pPr algn="ctr" eaLnBrk="0" fontAlgn="base" hangingPunct="0">
              <a:lnSpc>
                <a:spcPct val="125000"/>
              </a:lnSpc>
              <a:spcBef>
                <a:spcPct val="0"/>
              </a:spcBef>
              <a:spcAft>
                <a:spcPct val="0"/>
              </a:spcAft>
            </a:pPr>
            <a:r>
              <a:rPr lang="zh-CN" altLang="en-US" sz="4000" spc="100" dirty="0">
                <a:solidFill>
                  <a:schemeClr val="accent2">
                    <a:lumMod val="75000"/>
                  </a:schemeClr>
                </a:solidFill>
                <a:ea typeface="微软雅黑" panose="020B0503020204020204" pitchFamily="34" charset="-122"/>
                <a:sym typeface="Arial" panose="020B0604020202020204" pitchFamily="34" charset="0"/>
              </a:rPr>
              <a:t>Chapter 3
Cam Mechanisms</a:t>
            </a:r>
            <a:endParaRPr lang="zh-CN" altLang="en-US" sz="4000" spc="100" dirty="0">
              <a:solidFill>
                <a:schemeClr val="accent2">
                  <a:lumMod val="75000"/>
                </a:schemeClr>
              </a:solidFill>
              <a:ea typeface="微软雅黑" panose="020B0503020204020204" pitchFamily="34" charset="-122"/>
              <a:sym typeface="Arial" panose="020B0604020202020204" pitchFamily="34" charset="0"/>
            </a:endParaRPr>
          </a:p>
        </p:txBody>
      </p:sp>
      <p:sp>
        <p:nvSpPr>
          <p:cNvPr id="4" name="文本框 3"/>
          <p:cNvSpPr txBox="1"/>
          <p:nvPr/>
        </p:nvSpPr>
        <p:spPr>
          <a:xfrm>
            <a:off x="3221221" y="5175759"/>
            <a:ext cx="5760640" cy="1706880"/>
          </a:xfrm>
          <a:prstGeom prst="rect">
            <a:avLst/>
          </a:prstGeom>
          <a:noFill/>
        </p:spPr>
        <p:txBody>
          <a:bodyPr wrap="square" rtlCol="0">
            <a:spAutoFit/>
          </a:bodyPr>
          <a:lstStyle/>
          <a:p>
            <a:pPr algn="ctr" eaLnBrk="0" fontAlgn="base" hangingPunct="0">
              <a:lnSpc>
                <a:spcPct val="125000"/>
              </a:lnSpc>
              <a:spcBef>
                <a:spcPct val="0"/>
              </a:spcBef>
              <a:spcAft>
                <a:spcPct val="0"/>
              </a:spcAft>
            </a:pPr>
            <a:r>
              <a:rPr lang="zh-CN" altLang="en-US" sz="2800" dirty="0">
                <a:solidFill>
                  <a:srgbClr val="000000"/>
                </a:solidFill>
                <a:latin typeface="华文楷体" panose="02010600040101010101" pitchFamily="2" charset="-122"/>
                <a:ea typeface="华文楷体" panose="02010600040101010101" pitchFamily="2" charset="-122"/>
              </a:rPr>
              <a:t>Harbin Institute of Technology (Shenzhen)</a:t>
            </a:r>
            <a:endParaRPr lang="en-US" altLang="zh-CN" sz="2800" dirty="0">
              <a:solidFill>
                <a:srgbClr val="000000"/>
              </a:solidFill>
              <a:latin typeface="华文楷体" panose="02010600040101010101" pitchFamily="2" charset="-122"/>
              <a:ea typeface="华文楷体" panose="02010600040101010101" pitchFamily="2" charset="-122"/>
            </a:endParaRPr>
          </a:p>
          <a:p>
            <a:pPr algn="ctr" eaLnBrk="0" fontAlgn="base" hangingPunct="0">
              <a:lnSpc>
                <a:spcPct val="125000"/>
              </a:lnSpc>
              <a:spcBef>
                <a:spcPct val="0"/>
              </a:spcBef>
              <a:spcAft>
                <a:spcPct val="0"/>
              </a:spcAft>
            </a:pPr>
            <a:endParaRPr lang="zh-CN" altLang="en-US" sz="2800"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advTm="1411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007745" y="319405"/>
            <a:ext cx="9589770"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3-1 Characteristics and Applications of Cam Mechanisms</a:t>
            </a:r>
            <a:endParaRPr lang="en-US" altLang="zh-CN" sz="2800" dirty="0">
              <a:solidFill>
                <a:schemeClr val="accent2">
                  <a:lumMod val="75000"/>
                </a:schemeClr>
              </a:solidFill>
            </a:endParaRPr>
          </a:p>
        </p:txBody>
      </p:sp>
      <p:sp>
        <p:nvSpPr>
          <p:cNvPr id="10" name="文本框 9"/>
          <p:cNvSpPr txBox="1"/>
          <p:nvPr/>
        </p:nvSpPr>
        <p:spPr>
          <a:xfrm>
            <a:off x="267020" y="2466900"/>
            <a:ext cx="2068681" cy="461665"/>
          </a:xfrm>
          <a:prstGeom prst="rect">
            <a:avLst/>
          </a:prstGeom>
          <a:noFill/>
        </p:spPr>
        <p:txBody>
          <a:bodyPr wrap="square">
            <a:spAutoFit/>
          </a:bodyPr>
          <a:lstStyle/>
          <a:p>
            <a:pPr algn="ctr"/>
            <a:r>
              <a:rPr lang="zh-CN" altLang="en-US" sz="2400" b="1" dirty="0">
                <a:solidFill>
                  <a:srgbClr val="201E84"/>
                </a:solidFill>
                <a:latin typeface="微软雅黑" panose="020B0503020204020204" pitchFamily="34" charset="-122"/>
                <a:ea typeface="微软雅黑" panose="020B0503020204020204" pitchFamily="34" charset="-122"/>
              </a:rPr>
              <a:t>Automobile Engine</a:t>
            </a:r>
            <a:endParaRPr lang="en-US" altLang="zh-CN" sz="2400" b="1" dirty="0">
              <a:solidFill>
                <a:srgbClr val="201E84"/>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53478" y="4892042"/>
            <a:ext cx="9128346" cy="706755"/>
          </a:xfrm>
          <a:prstGeom prst="rect">
            <a:avLst/>
          </a:prstGeom>
          <a:noFill/>
        </p:spPr>
        <p:txBody>
          <a:bodyPr wrap="square">
            <a:spAutoFit/>
          </a:bodyPr>
          <a:lstStyle/>
          <a:p>
            <a:pPr algn="ctr"/>
            <a:r>
              <a:rPr lang="zh-CN" altLang="en-US" sz="2000" b="1" dirty="0">
                <a:solidFill>
                  <a:srgbClr val="201E84"/>
                </a:solidFill>
                <a:latin typeface="微软雅黑" panose="020B0503020204020204" pitchFamily="34" charset="-122"/>
                <a:ea typeface="微软雅黑" panose="020B0503020204020204" pitchFamily="34" charset="-122"/>
              </a:rPr>
              <a:t>How to achieve </a:t>
            </a:r>
            <a:r>
              <a:rPr lang="zh-CN" altLang="en-US" sz="2000" b="1" dirty="0">
                <a:solidFill>
                  <a:srgbClr val="FF0000"/>
                </a:solidFill>
                <a:latin typeface="微软雅黑" panose="020B0503020204020204" pitchFamily="34" charset="-122"/>
                <a:ea typeface="微软雅黑" panose="020B0503020204020204" pitchFamily="34" charset="-122"/>
              </a:rPr>
              <a:t>precise intake/exhaust valve control</a:t>
            </a:r>
            <a:r>
              <a:rPr lang="zh-CN" altLang="en-US" sz="2000" b="1" dirty="0">
                <a:solidFill>
                  <a:srgbClr val="201E84"/>
                </a:solidFill>
                <a:latin typeface="微软雅黑" panose="020B0503020204020204" pitchFamily="34" charset="-122"/>
                <a:ea typeface="微软雅黑" panose="020B0503020204020204" pitchFamily="34" charset="-122"/>
              </a:rPr>
              <a:t> under </a:t>
            </a:r>
            <a:r>
              <a:rPr lang="zh-CN" altLang="en-US" sz="2000" b="1" dirty="0">
                <a:solidFill>
                  <a:srgbClr val="FF0000"/>
                </a:solidFill>
                <a:latin typeface="微软雅黑" panose="020B0503020204020204" pitchFamily="34" charset="-122"/>
                <a:ea typeface="微软雅黑" panose="020B0503020204020204" pitchFamily="34" charset="-122"/>
              </a:rPr>
              <a:t>highly dynamic, uncertain</a:t>
            </a:r>
            <a:r>
              <a:rPr lang="zh-CN" altLang="en-US" sz="2000" b="1" dirty="0">
                <a:solidFill>
                  <a:srgbClr val="201E84"/>
                </a:solidFill>
                <a:latin typeface="微软雅黑" panose="020B0503020204020204" pitchFamily="34" charset="-122"/>
                <a:ea typeface="微软雅黑" panose="020B0503020204020204" pitchFamily="34" charset="-122"/>
              </a:rPr>
              <a:t> combustion conditions?</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2" name="矩形 11"/>
          <p:cNvSpPr/>
          <p:nvPr/>
        </p:nvSpPr>
        <p:spPr>
          <a:xfrm>
            <a:off x="2100580" y="5743575"/>
            <a:ext cx="9031605" cy="922020"/>
          </a:xfrm>
          <a:prstGeom prst="rect">
            <a:avLst/>
          </a:prstGeom>
        </p:spPr>
        <p:txBody>
          <a:bodyPr wrap="square">
            <a:spAutoFit/>
          </a:bodyPr>
          <a:lstStyle/>
          <a:p>
            <a:r>
              <a:rPr lang="en-US" altLang="zh-CN" b="1" dirty="0">
                <a:solidFill>
                  <a:srgbClr val="201E84"/>
                </a:solidFill>
                <a:latin typeface="微软雅黑" panose="020B0503020204020204" pitchFamily="34" charset="-122"/>
                <a:ea typeface="微软雅黑" panose="020B0503020204020204" pitchFamily="34" charset="-122"/>
              </a:rPr>
              <a:t>Objective</a:t>
            </a:r>
            <a:r>
              <a:rPr lang="zh-CN" altLang="en-US" b="1" dirty="0">
                <a:solidFill>
                  <a:srgbClr val="201E84"/>
                </a:solidFill>
                <a:latin typeface="微软雅黑" panose="020B0503020204020204" pitchFamily="34" charset="-122"/>
                <a:ea typeface="微软雅黑" panose="020B0503020204020204" pitchFamily="34" charset="-122"/>
              </a:rPr>
              <a:t>: Characteristics &amp; Applications of Cam Mechanisms</a:t>
            </a:r>
            <a:endParaRPr lang="en-US" altLang="zh-CN" b="1" dirty="0">
              <a:solidFill>
                <a:srgbClr val="201E84"/>
              </a:solidFill>
              <a:latin typeface="微软雅黑" panose="020B0503020204020204" pitchFamily="34" charset="-122"/>
              <a:ea typeface="微软雅黑" panose="020B0503020204020204" pitchFamily="34" charset="-122"/>
            </a:endParaRPr>
          </a:p>
          <a:p>
            <a:r>
              <a:rPr lang="en-US" altLang="zh-CN" b="1" dirty="0">
                <a:solidFill>
                  <a:srgbClr val="FF0000"/>
                </a:solidFill>
                <a:latin typeface="微软雅黑" panose="020B0503020204020204" pitchFamily="34" charset="-122"/>
                <a:ea typeface="微软雅黑" panose="020B0503020204020204" pitchFamily="34" charset="-122"/>
              </a:rPr>
              <a:t>1. Understand working principle and characteristics</a:t>
            </a:r>
            <a:endParaRPr lang="en-US" altLang="zh-CN" b="1" dirty="0">
              <a:solidFill>
                <a:srgbClr val="FF0000"/>
              </a:solidFill>
              <a:latin typeface="微软雅黑" panose="020B0503020204020204" pitchFamily="34" charset="-122"/>
              <a:ea typeface="微软雅黑" panose="020B0503020204020204" pitchFamily="34" charset="-122"/>
            </a:endParaRPr>
          </a:p>
          <a:p>
            <a:r>
              <a:rPr lang="en-US" altLang="zh-CN" b="1" dirty="0">
                <a:solidFill>
                  <a:srgbClr val="FF0000"/>
                </a:solidFill>
                <a:latin typeface="微软雅黑" panose="020B0503020204020204" pitchFamily="34" charset="-122"/>
                <a:ea typeface="微软雅黑" panose="020B0503020204020204" pitchFamily="34" charset="-122"/>
              </a:rPr>
              <a:t>2. Master cam mechanism design procedure</a:t>
            </a:r>
            <a:endParaRPr lang="en-US" altLang="zh-CN" b="1" dirty="0">
              <a:solidFill>
                <a:srgbClr val="FF0000"/>
              </a:solidFill>
              <a:latin typeface="微软雅黑" panose="020B0503020204020204" pitchFamily="34" charset="-122"/>
              <a:ea typeface="微软雅黑" panose="020B0503020204020204" pitchFamily="34" charset="-122"/>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sp>
        <p:nvSpPr>
          <p:cNvPr id="14" name="矩形 13"/>
          <p:cNvSpPr/>
          <p:nvPr/>
        </p:nvSpPr>
        <p:spPr bwMode="auto">
          <a:xfrm>
            <a:off x="5180736" y="1342162"/>
            <a:ext cx="1082741" cy="88031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pic>
        <p:nvPicPr>
          <p:cNvPr id="16" name="图片 15"/>
          <p:cNvPicPr>
            <a:picLocks noChangeAspect="1"/>
          </p:cNvPicPr>
          <p:nvPr/>
        </p:nvPicPr>
        <p:blipFill>
          <a:blip r:embed="rId1"/>
          <a:stretch>
            <a:fillRect/>
          </a:stretch>
        </p:blipFill>
        <p:spPr>
          <a:xfrm rot="18644243">
            <a:off x="4009001" y="1200874"/>
            <a:ext cx="436376" cy="585720"/>
          </a:xfrm>
          <a:prstGeom prst="rect">
            <a:avLst/>
          </a:prstGeom>
        </p:spPr>
      </p:pic>
      <p:pic>
        <p:nvPicPr>
          <p:cNvPr id="18" name="图片 17"/>
          <p:cNvPicPr>
            <a:picLocks noChangeAspect="1"/>
          </p:cNvPicPr>
          <p:nvPr/>
        </p:nvPicPr>
        <p:blipFill>
          <a:blip r:embed="rId1"/>
          <a:stretch>
            <a:fillRect/>
          </a:stretch>
        </p:blipFill>
        <p:spPr>
          <a:xfrm rot="18664587">
            <a:off x="3808663" y="1126294"/>
            <a:ext cx="328815" cy="441373"/>
          </a:xfrm>
          <a:prstGeom prst="rect">
            <a:avLst/>
          </a:prstGeom>
        </p:spPr>
      </p:pic>
      <p:pic>
        <p:nvPicPr>
          <p:cNvPr id="19" name="图片 18"/>
          <p:cNvPicPr>
            <a:picLocks noChangeAspect="1"/>
          </p:cNvPicPr>
          <p:nvPr/>
        </p:nvPicPr>
        <p:blipFill>
          <a:blip r:embed="rId1"/>
          <a:stretch>
            <a:fillRect/>
          </a:stretch>
        </p:blipFill>
        <p:spPr>
          <a:xfrm>
            <a:off x="3741370" y="1089691"/>
            <a:ext cx="70837" cy="354543"/>
          </a:xfrm>
          <a:prstGeom prst="rect">
            <a:avLst/>
          </a:prstGeom>
        </p:spPr>
      </p:pic>
      <p:pic>
        <p:nvPicPr>
          <p:cNvPr id="20" name="图片 19"/>
          <p:cNvPicPr>
            <a:picLocks noChangeAspect="1"/>
          </p:cNvPicPr>
          <p:nvPr/>
        </p:nvPicPr>
        <p:blipFill>
          <a:blip r:embed="rId1"/>
          <a:stretch>
            <a:fillRect/>
          </a:stretch>
        </p:blipFill>
        <p:spPr>
          <a:xfrm rot="18644243">
            <a:off x="1739300" y="1125604"/>
            <a:ext cx="332281" cy="450888"/>
          </a:xfrm>
          <a:prstGeom prst="rect">
            <a:avLst/>
          </a:prstGeom>
        </p:spPr>
      </p:pic>
      <p:pic>
        <p:nvPicPr>
          <p:cNvPr id="21" name="图片 20"/>
          <p:cNvPicPr>
            <a:picLocks noChangeAspect="1"/>
          </p:cNvPicPr>
          <p:nvPr/>
        </p:nvPicPr>
        <p:blipFill>
          <a:blip r:embed="rId1"/>
          <a:stretch>
            <a:fillRect/>
          </a:stretch>
        </p:blipFill>
        <p:spPr>
          <a:xfrm rot="16200000">
            <a:off x="4730818" y="3420486"/>
            <a:ext cx="198226" cy="1636909"/>
          </a:xfrm>
          <a:prstGeom prst="rect">
            <a:avLst/>
          </a:prstGeom>
        </p:spPr>
      </p:pic>
      <p:pic>
        <p:nvPicPr>
          <p:cNvPr id="23" name="内燃机WMV">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3116018" y="1248132"/>
            <a:ext cx="4492636" cy="3369477"/>
          </a:xfrm>
          <a:prstGeom prst="rect">
            <a:avLst/>
          </a:prstGeom>
        </p:spPr>
      </p:pic>
      <p:sp>
        <p:nvSpPr>
          <p:cNvPr id="24" name="矩形 23"/>
          <p:cNvSpPr/>
          <p:nvPr/>
        </p:nvSpPr>
        <p:spPr bwMode="auto">
          <a:xfrm>
            <a:off x="3095524" y="1227033"/>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5" name="Text Box 23"/>
          <p:cNvSpPr txBox="1">
            <a:spLocks noChangeArrowheads="1"/>
          </p:cNvSpPr>
          <p:nvPr/>
        </p:nvSpPr>
        <p:spPr bwMode="auto">
          <a:xfrm>
            <a:off x="2664460" y="395033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2840355" y="290068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4084238" y="300402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4101371" y="341099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3223374" y="140958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963545" y="224028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4043496" y="160964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2" name="Line 24"/>
          <p:cNvSpPr>
            <a:spLocks noChangeShapeType="1"/>
          </p:cNvSpPr>
          <p:nvPr/>
        </p:nvSpPr>
        <p:spPr bwMode="auto">
          <a:xfrm flipH="1">
            <a:off x="4101372" y="190745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3" name="Line 24"/>
          <p:cNvSpPr>
            <a:spLocks noChangeShapeType="1"/>
          </p:cNvSpPr>
          <p:nvPr/>
        </p:nvSpPr>
        <p:spPr bwMode="auto">
          <a:xfrm flipV="1">
            <a:off x="5475958" y="210541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6527771" y="189988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5766310" y="364669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6" name="Text Box 23"/>
          <p:cNvSpPr txBox="1">
            <a:spLocks noChangeArrowheads="1"/>
          </p:cNvSpPr>
          <p:nvPr/>
        </p:nvSpPr>
        <p:spPr bwMode="auto">
          <a:xfrm>
            <a:off x="6311265" y="235839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7" name="Line 24"/>
          <p:cNvSpPr>
            <a:spLocks noChangeShapeType="1"/>
          </p:cNvSpPr>
          <p:nvPr/>
        </p:nvSpPr>
        <p:spPr bwMode="auto">
          <a:xfrm flipV="1">
            <a:off x="5077704" y="257159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6383020" y="4347210"/>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pic>
        <p:nvPicPr>
          <p:cNvPr id="39" name="图片 38"/>
          <p:cNvPicPr>
            <a:picLocks noChangeAspect="1"/>
          </p:cNvPicPr>
          <p:nvPr/>
        </p:nvPicPr>
        <p:blipFill>
          <a:blip r:embed="rId5"/>
          <a:stretch>
            <a:fillRect/>
          </a:stretch>
        </p:blipFill>
        <p:spPr>
          <a:xfrm>
            <a:off x="8438272" y="1341222"/>
            <a:ext cx="1836583" cy="3338259"/>
          </a:xfrm>
          <a:prstGeom prst="rect">
            <a:avLst/>
          </a:prstGeom>
        </p:spPr>
      </p:pic>
      <p:sp>
        <p:nvSpPr>
          <p:cNvPr id="40" name="Line 24"/>
          <p:cNvSpPr>
            <a:spLocks noChangeShapeType="1"/>
          </p:cNvSpPr>
          <p:nvPr/>
        </p:nvSpPr>
        <p:spPr bwMode="auto">
          <a:xfrm flipH="1">
            <a:off x="6633737" y="4316448"/>
            <a:ext cx="2541794" cy="1200329"/>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square"/>
          <a:lstStyle/>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3"/>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23"/>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3"/>
                                        </p:tgtEl>
                                      </p:cBhvr>
                                    </p:cmd>
                                  </p:childTnLst>
                                </p:cTn>
                              </p:par>
                            </p:childTnLst>
                          </p:cTn>
                        </p:par>
                      </p:childTnLst>
                    </p:cTn>
                  </p:par>
                </p:childTnLst>
              </p:cTn>
              <p:nextCondLst>
                <p:cond evt="onClick" delay="0">
                  <p:tgtEl>
                    <p:spTgt spid="23"/>
                  </p:tgtEl>
                </p:cond>
              </p:nextCondLst>
            </p:seq>
            <p:video>
              <p:cMediaNode vol="80000">
                <p:cTn id="24" repeatCount="indefinite" fill="hold" display="0">
                  <p:stCondLst>
                    <p:cond delay="indefinite"/>
                  </p:stCondLst>
                </p:cTn>
                <p:tgtEl>
                  <p:spTgt spid="23"/>
                </p:tgtEl>
              </p:cMediaNode>
            </p:video>
          </p:childTnLst>
        </p:cTn>
      </p:par>
    </p:tnLst>
    <p:bldLst>
      <p:bldP spid="12" grpId="0"/>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F54A3870-DF25-464D-B6EA-3BA6EAAA2BCA}" type="slidenum">
              <a:rPr lang="zh-CN" altLang="en-US" smtClean="0"/>
            </a:fld>
            <a:endParaRPr lang="zh-CN" altLang="en-US"/>
          </a:p>
        </p:txBody>
      </p:sp>
      <p:sp>
        <p:nvSpPr>
          <p:cNvPr id="8" name="TextBox 8"/>
          <p:cNvSpPr txBox="1"/>
          <p:nvPr/>
        </p:nvSpPr>
        <p:spPr>
          <a:xfrm>
            <a:off x="1007745" y="319405"/>
            <a:ext cx="9589770"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3-1 Characteristics and Applications of Cam Mechanisms</a:t>
            </a:r>
            <a:endParaRPr lang="en-US" altLang="zh-CN" sz="2800" dirty="0">
              <a:solidFill>
                <a:schemeClr val="accent2">
                  <a:lumMod val="75000"/>
                </a:schemeClr>
              </a:solidFill>
            </a:endParaRPr>
          </a:p>
        </p:txBody>
      </p:sp>
      <p:pic>
        <p:nvPicPr>
          <p:cNvPr id="3" name="cam">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532130" y="1116330"/>
            <a:ext cx="10863580" cy="5300980"/>
          </a:xfrm>
          <a:prstGeom prst="rect">
            <a:avLst/>
          </a:prstGeom>
        </p:spPr>
      </p:pic>
    </p:spTree>
  </p:cSld>
  <p:clrMapOvr>
    <a:masterClrMapping/>
  </p:clrMapOvr>
  <p:transition/>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007745" y="319405"/>
            <a:ext cx="93745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3-1 Characteristics and Applications of Cam Mechanisms</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pic>
        <p:nvPicPr>
          <p:cNvPr id="16" name="凸轮abc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696167" y="1089399"/>
            <a:ext cx="4068618" cy="3254894"/>
          </a:xfrm>
          <a:prstGeom prst="rect">
            <a:avLst/>
          </a:prstGeom>
        </p:spPr>
      </p:pic>
      <p:sp>
        <p:nvSpPr>
          <p:cNvPr id="19" name="矩形 18"/>
          <p:cNvSpPr/>
          <p:nvPr/>
        </p:nvSpPr>
        <p:spPr>
          <a:xfrm>
            <a:off x="95910" y="4648483"/>
            <a:ext cx="12096090" cy="706755"/>
          </a:xfrm>
          <a:prstGeom prst="rect">
            <a:avLst/>
          </a:prstGeom>
        </p:spPr>
        <p:txBody>
          <a:bodyPr wrap="square">
            <a:spAutoFit/>
          </a:bodyPr>
          <a:lstStyle/>
          <a:p>
            <a:r>
              <a:rPr lang="zh-CN" altLang="en-US" sz="2000" b="1" kern="0" dirty="0">
                <a:solidFill>
                  <a:srgbClr val="FF0000"/>
                </a:solidFill>
                <a:latin typeface="微软雅黑" panose="020B0503020204020204" pitchFamily="34" charset="-122"/>
                <a:ea typeface="微软雅黑" panose="020B0503020204020204" pitchFamily="34" charset="-122"/>
                <a:cs typeface="+mj-cs"/>
              </a:rPr>
              <a:t>The cam rotates uniformly — how does it control the follower's dwell at lowest/highest points and the motion between them?</a:t>
            </a:r>
            <a:endParaRPr lang="zh-CN" altLang="en-US" sz="2000" b="1" kern="0" dirty="0">
              <a:solidFill>
                <a:srgbClr val="FF0000"/>
              </a:solidFill>
              <a:latin typeface="微软雅黑" panose="020B0503020204020204" pitchFamily="34" charset="-122"/>
              <a:ea typeface="微软雅黑" panose="020B0503020204020204" pitchFamily="34" charset="-122"/>
              <a:cs typeface="+mj-cs"/>
            </a:endParaRPr>
          </a:p>
        </p:txBody>
      </p:sp>
      <p:grpSp>
        <p:nvGrpSpPr>
          <p:cNvPr id="3" name="组合 2"/>
          <p:cNvGrpSpPr/>
          <p:nvPr/>
        </p:nvGrpSpPr>
        <p:grpSpPr>
          <a:xfrm>
            <a:off x="1497233" y="1142905"/>
            <a:ext cx="5039824" cy="3369950"/>
            <a:chOff x="7069" y="1325927"/>
            <a:chExt cx="5039824" cy="3369950"/>
          </a:xfrm>
        </p:grpSpPr>
        <p:pic>
          <p:nvPicPr>
            <p:cNvPr id="20" name="凸轮abc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308691" y="1325927"/>
              <a:ext cx="3738202" cy="2990562"/>
            </a:xfrm>
            <a:prstGeom prst="rect">
              <a:avLst/>
            </a:prstGeom>
          </p:spPr>
        </p:pic>
        <p:grpSp>
          <p:nvGrpSpPr>
            <p:cNvPr id="21" name="组合 20"/>
            <p:cNvGrpSpPr/>
            <p:nvPr/>
          </p:nvGrpSpPr>
          <p:grpSpPr>
            <a:xfrm>
              <a:off x="7069" y="1819801"/>
              <a:ext cx="4959575" cy="2876076"/>
              <a:chOff x="6094333" y="2007364"/>
              <a:chExt cx="4959575" cy="2876076"/>
            </a:xfrm>
          </p:grpSpPr>
          <p:grpSp>
            <p:nvGrpSpPr>
              <p:cNvPr id="22" name="组合 21"/>
              <p:cNvGrpSpPr/>
              <p:nvPr/>
            </p:nvGrpSpPr>
            <p:grpSpPr>
              <a:xfrm>
                <a:off x="8269767" y="2007364"/>
                <a:ext cx="2784141" cy="2876076"/>
                <a:chOff x="8335755" y="1958541"/>
                <a:chExt cx="2784141" cy="2876076"/>
              </a:xfrm>
            </p:grpSpPr>
            <p:sp>
              <p:nvSpPr>
                <p:cNvPr id="29" name="矩形 28"/>
                <p:cNvSpPr/>
                <p:nvPr/>
              </p:nvSpPr>
              <p:spPr>
                <a:xfrm>
                  <a:off x="8335755" y="4374242"/>
                  <a:ext cx="2712085" cy="460375"/>
                </a:xfrm>
                <a:prstGeom prst="rect">
                  <a:avLst/>
                </a:prstGeom>
              </p:spPr>
              <p:txBody>
                <a:bodyPr wrap="none">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Cam Mechanism</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
              <p:nvSpPr>
                <p:cNvPr id="30" name="矩形 29"/>
                <p:cNvSpPr/>
                <p:nvPr/>
              </p:nvSpPr>
              <p:spPr bwMode="auto">
                <a:xfrm>
                  <a:off x="10306017" y="1958541"/>
                  <a:ext cx="813879" cy="36933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grpSp>
          <p:sp>
            <p:nvSpPr>
              <p:cNvPr id="23" name="Text Box 7"/>
              <p:cNvSpPr txBox="1">
                <a:spLocks noChangeArrowheads="1"/>
              </p:cNvSpPr>
              <p:nvPr/>
            </p:nvSpPr>
            <p:spPr bwMode="auto">
              <a:xfrm>
                <a:off x="6538198" y="2647107"/>
                <a:ext cx="1715514"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ctr" eaLnBrk="1" hangingPunct="1">
                  <a:spcBef>
                    <a:spcPct val="50000"/>
                  </a:spcBef>
                </a:pPr>
                <a:r>
                  <a:rPr lang="en-US" altLang="zh-CN" sz="2400" b="0" dirty="0">
                    <a:solidFill>
                      <a:schemeClr val="tx1"/>
                    </a:solidFill>
                    <a:latin typeface="微软雅黑" panose="020B0503020204020204" pitchFamily="34" charset="-122"/>
                    <a:ea typeface="微软雅黑" panose="020B0503020204020204" pitchFamily="34" charset="-122"/>
                  </a:rPr>
                  <a:t>push rod</a:t>
                </a:r>
                <a:r>
                  <a:rPr lang="zh-CN" altLang="en-US" sz="2400" b="0" dirty="0">
                    <a:solidFill>
                      <a:schemeClr val="tx1"/>
                    </a:solidFill>
                    <a:latin typeface="微软雅黑" panose="020B0503020204020204" pitchFamily="34" charset="-122"/>
                    <a:ea typeface="微软雅黑" panose="020B0503020204020204" pitchFamily="34" charset="-122"/>
                  </a:rPr>
                  <a:t>（</a:t>
                </a:r>
                <a:r>
                  <a:rPr lang="en-US" altLang="zh-CN" sz="2400" b="0" dirty="0">
                    <a:solidFill>
                      <a:srgbClr val="FF0000"/>
                    </a:solidFill>
                    <a:latin typeface="微软雅黑" panose="020B0503020204020204" pitchFamily="34" charset="-122"/>
                    <a:ea typeface="微软雅黑" panose="020B0503020204020204" pitchFamily="34" charset="-122"/>
                  </a:rPr>
                  <a:t>follower</a:t>
                </a:r>
                <a:r>
                  <a:rPr lang="zh-CN" altLang="en-US" sz="2400" b="0" dirty="0">
                    <a:solidFill>
                      <a:schemeClr val="tx1"/>
                    </a:solidFill>
                    <a:latin typeface="微软雅黑" panose="020B0503020204020204" pitchFamily="34" charset="-122"/>
                    <a:ea typeface="微软雅黑" panose="020B0503020204020204" pitchFamily="34" charset="-122"/>
                  </a:rPr>
                  <a:t>）</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24" name="Text Box 17"/>
              <p:cNvSpPr txBox="1">
                <a:spLocks noChangeArrowheads="1"/>
              </p:cNvSpPr>
              <p:nvPr/>
            </p:nvSpPr>
            <p:spPr bwMode="auto">
              <a:xfrm>
                <a:off x="6094333" y="3715514"/>
                <a:ext cx="25622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ctr" eaLnBrk="1" hangingPunct="1">
                  <a:spcBef>
                    <a:spcPct val="50000"/>
                  </a:spcBef>
                </a:pPr>
                <a:r>
                  <a:rPr lang="en-US" altLang="zh-CN" sz="2400" b="0" dirty="0">
                    <a:solidFill>
                      <a:schemeClr val="tx1"/>
                    </a:solidFill>
                    <a:latin typeface="微软雅黑" panose="020B0503020204020204" pitchFamily="34" charset="-122"/>
                    <a:ea typeface="微软雅黑" panose="020B0503020204020204" pitchFamily="34" charset="-122"/>
                  </a:rPr>
                  <a:t>Cam</a:t>
                </a:r>
                <a:endParaRPr lang="en-US" altLang="zh-CN" sz="2400" b="0" dirty="0">
                  <a:solidFill>
                    <a:schemeClr val="tx1"/>
                  </a:solidFill>
                  <a:latin typeface="微软雅黑" panose="020B0503020204020204" pitchFamily="34" charset="-122"/>
                  <a:ea typeface="微软雅黑" panose="020B0503020204020204" pitchFamily="34" charset="-122"/>
                </a:endParaRPr>
              </a:p>
              <a:p>
                <a:pPr algn="ctr" eaLnBrk="1" hangingPunct="1">
                  <a:spcBef>
                    <a:spcPct val="50000"/>
                  </a:spcBef>
                </a:pPr>
                <a:r>
                  <a:rPr lang="zh-CN" altLang="en-US" sz="2400" b="0" dirty="0">
                    <a:solidFill>
                      <a:schemeClr val="tx1"/>
                    </a:solidFill>
                    <a:latin typeface="微软雅黑" panose="020B0503020204020204" pitchFamily="34" charset="-122"/>
                    <a:ea typeface="微软雅黑" panose="020B0503020204020204" pitchFamily="34" charset="-122"/>
                  </a:rPr>
                  <a:t>（</a:t>
                </a:r>
                <a:r>
                  <a:rPr lang="en-US" altLang="zh-CN" sz="2400" b="0" dirty="0">
                    <a:solidFill>
                      <a:srgbClr val="FF0000"/>
                    </a:solidFill>
                    <a:latin typeface="微软雅黑" panose="020B0503020204020204" pitchFamily="34" charset="-122"/>
                    <a:ea typeface="微软雅黑" panose="020B0503020204020204" pitchFamily="34" charset="-122"/>
                  </a:rPr>
                  <a:t>driving part</a:t>
                </a:r>
                <a:r>
                  <a:rPr lang="zh-CN" altLang="en-US" sz="2400" b="0" dirty="0">
                    <a:solidFill>
                      <a:schemeClr val="tx1"/>
                    </a:solidFill>
                    <a:latin typeface="微软雅黑" panose="020B0503020204020204" pitchFamily="34" charset="-122"/>
                    <a:ea typeface="微软雅黑" panose="020B0503020204020204" pitchFamily="34" charset="-122"/>
                  </a:rPr>
                  <a:t>）</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25" name="Text Box 23"/>
              <p:cNvSpPr txBox="1">
                <a:spLocks noChangeArrowheads="1"/>
              </p:cNvSpPr>
              <p:nvPr/>
            </p:nvSpPr>
            <p:spPr bwMode="auto">
              <a:xfrm>
                <a:off x="6681073" y="2138174"/>
                <a:ext cx="14300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en-US" altLang="zh-CN" sz="2400" b="0" dirty="0">
                    <a:solidFill>
                      <a:schemeClr val="tx1"/>
                    </a:solidFill>
                    <a:latin typeface="微软雅黑" panose="020B0503020204020204" pitchFamily="34" charset="-122"/>
                    <a:ea typeface="微软雅黑" panose="020B0503020204020204" pitchFamily="34" charset="-122"/>
                  </a:rPr>
                  <a:t>frame</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26" name="Line 24"/>
              <p:cNvSpPr>
                <a:spLocks noChangeShapeType="1"/>
              </p:cNvSpPr>
              <p:nvPr/>
            </p:nvSpPr>
            <p:spPr bwMode="auto">
              <a:xfrm flipH="1" flipV="1">
                <a:off x="7792015" y="2376696"/>
                <a:ext cx="1485127"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微软雅黑" panose="020B0503020204020204" pitchFamily="34" charset="-122"/>
                  <a:ea typeface="微软雅黑" panose="020B0503020204020204" pitchFamily="34" charset="-122"/>
                </a:endParaRPr>
              </a:p>
            </p:txBody>
          </p:sp>
          <p:sp>
            <p:nvSpPr>
              <p:cNvPr id="27" name="Line 25"/>
              <p:cNvSpPr>
                <a:spLocks noChangeShapeType="1"/>
              </p:cNvSpPr>
              <p:nvPr/>
            </p:nvSpPr>
            <p:spPr bwMode="auto">
              <a:xfrm flipV="1">
                <a:off x="7792016" y="2624283"/>
                <a:ext cx="1568491" cy="25365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flipV="1">
                <a:off x="7708651" y="3579748"/>
                <a:ext cx="1584775" cy="40898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微软雅黑" panose="020B0503020204020204" pitchFamily="34" charset="-122"/>
                  <a:ea typeface="微软雅黑" panose="020B0503020204020204" pitchFamily="34" charset="-122"/>
                </a:endParaRPr>
              </a:p>
            </p:txBody>
          </p:sp>
        </p:grpSp>
      </p:grpSp>
      <p:sp>
        <p:nvSpPr>
          <p:cNvPr id="34" name="文本框 33"/>
          <p:cNvSpPr txBox="1"/>
          <p:nvPr/>
        </p:nvSpPr>
        <p:spPr>
          <a:xfrm>
            <a:off x="221615" y="5292090"/>
            <a:ext cx="11687175" cy="645160"/>
          </a:xfrm>
          <a:prstGeom prst="rect">
            <a:avLst/>
          </a:prstGeom>
          <a:noFill/>
        </p:spPr>
        <p:txBody>
          <a:bodyPr wrap="square">
            <a:spAutoFit/>
          </a:bodyPr>
          <a:lstStyle/>
          <a:p>
            <a:r>
              <a:rPr lang="zh-CN" altLang="en-US" b="1" kern="0" dirty="0">
                <a:latin typeface="微软雅黑" panose="020B0503020204020204" pitchFamily="34" charset="-122"/>
                <a:ea typeface="微软雅黑" panose="020B0503020204020204" pitchFamily="34" charset="-122"/>
                <a:cs typeface="+mj-cs"/>
              </a:rPr>
              <a:t>Through cam profile design, any desired motion law can be achieved — the most commonly used control mechanism in machinery.</a:t>
            </a:r>
            <a:endParaRPr lang="zh-CN" altLang="en-US" b="1" kern="0" dirty="0">
              <a:solidFill>
                <a:srgbClr val="FF0000"/>
              </a:solidFill>
              <a:latin typeface="微软雅黑" panose="020B0503020204020204" pitchFamily="34" charset="-122"/>
              <a:ea typeface="微软雅黑" panose="020B0503020204020204" pitchFamily="34" charset="-122"/>
              <a:cs typeface="+mj-cs"/>
            </a:endParaRPr>
          </a:p>
        </p:txBody>
      </p:sp>
      <p:sp>
        <p:nvSpPr>
          <p:cNvPr id="35" name="Text Box 11"/>
          <p:cNvSpPr txBox="1">
            <a:spLocks noChangeArrowheads="1"/>
          </p:cNvSpPr>
          <p:nvPr/>
        </p:nvSpPr>
        <p:spPr bwMode="auto">
          <a:xfrm>
            <a:off x="603605" y="1073762"/>
            <a:ext cx="81588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defRPr/>
            </a:pPr>
            <a:r>
              <a:rPr lang="zh-CN" altLang="en-US" sz="2400" dirty="0">
                <a:solidFill>
                  <a:srgbClr val="201E84"/>
                </a:solidFill>
                <a:latin typeface="微软雅黑" panose="020B0503020204020204" pitchFamily="34" charset="-122"/>
                <a:ea typeface="微软雅黑" panose="020B0503020204020204" pitchFamily="34" charset="-122"/>
              </a:rPr>
              <a:t>Working Principle &amp; Characteristics</a:t>
            </a:r>
            <a:endParaRPr lang="zh-CN" altLang="en-US" sz="2400" dirty="0">
              <a:solidFill>
                <a:srgbClr val="201E84"/>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5759229" y="1822667"/>
            <a:ext cx="1000000" cy="1730820"/>
          </a:xfrm>
          <a:prstGeom prst="rect">
            <a:avLst/>
          </a:prstGeom>
        </p:spPr>
      </p:pic>
      <p:pic>
        <p:nvPicPr>
          <p:cNvPr id="38" name="图片 37"/>
          <p:cNvPicPr>
            <a:picLocks noChangeAspect="1"/>
          </p:cNvPicPr>
          <p:nvPr/>
        </p:nvPicPr>
        <p:blipFill>
          <a:blip r:embed="rId4"/>
          <a:stretch>
            <a:fillRect/>
          </a:stretch>
        </p:blipFill>
        <p:spPr>
          <a:xfrm>
            <a:off x="10050900" y="1915183"/>
            <a:ext cx="1000000" cy="1730820"/>
          </a:xfrm>
          <a:prstGeom prst="rect">
            <a:avLst/>
          </a:prstGeom>
        </p:spPr>
      </p:pic>
      <p:sp>
        <p:nvSpPr>
          <p:cNvPr id="39" name="文本框 38"/>
          <p:cNvSpPr txBox="1"/>
          <p:nvPr/>
        </p:nvSpPr>
        <p:spPr>
          <a:xfrm>
            <a:off x="95885" y="5869940"/>
            <a:ext cx="9373870" cy="368300"/>
          </a:xfrm>
          <a:prstGeom prst="rect">
            <a:avLst/>
          </a:prstGeom>
          <a:noFill/>
        </p:spPr>
        <p:txBody>
          <a:bodyPr wrap="square">
            <a:spAutoFit/>
          </a:bodyPr>
          <a:lstStyle/>
          <a:p>
            <a:r>
              <a:rPr lang="zh-CN" altLang="en-US" b="1" kern="0" dirty="0">
                <a:solidFill>
                  <a:srgbClr val="FF0000"/>
                </a:solidFill>
                <a:latin typeface="微软雅黑" panose="020B0503020204020204" pitchFamily="34" charset="-122"/>
                <a:ea typeface="微软雅黑" panose="020B0503020204020204" pitchFamily="34" charset="-122"/>
                <a:cs typeface="+mj-cs"/>
              </a:rPr>
              <a:t>Can a servo motor achieve any desired motion? What controls its motion?</a:t>
            </a:r>
            <a:endParaRPr lang="zh-CN" altLang="en-US" b="1" kern="0" dirty="0">
              <a:solidFill>
                <a:srgbClr val="FF0000"/>
              </a:solidFill>
              <a:latin typeface="微软雅黑" panose="020B0503020204020204" pitchFamily="34" charset="-122"/>
              <a:ea typeface="微软雅黑" panose="020B0503020204020204" pitchFamily="34" charset="-122"/>
              <a:cs typeface="+mj-cs"/>
            </a:endParaRPr>
          </a:p>
        </p:txBody>
      </p:sp>
      <p:sp>
        <p:nvSpPr>
          <p:cNvPr id="32" name="文本框 31"/>
          <p:cNvSpPr txBox="1"/>
          <p:nvPr/>
        </p:nvSpPr>
        <p:spPr>
          <a:xfrm>
            <a:off x="66040" y="6238240"/>
            <a:ext cx="9403715" cy="368300"/>
          </a:xfrm>
          <a:prstGeom prst="rect">
            <a:avLst/>
          </a:prstGeom>
          <a:noFill/>
        </p:spPr>
        <p:txBody>
          <a:bodyPr wrap="square">
            <a:spAutoFit/>
          </a:bodyPr>
          <a:lstStyle/>
          <a:p>
            <a:r>
              <a:rPr lang="zh-CN" altLang="en-US" b="1" kern="0" dirty="0">
                <a:latin typeface="微软雅黑" panose="020B0503020204020204" pitchFamily="34" charset="-122"/>
                <a:ea typeface="微软雅黑" panose="020B0503020204020204" pitchFamily="34" charset="-122"/>
                <a:cs typeface="+mj-cs"/>
              </a:rPr>
              <a:t>Compared to servo motors, what are the disadvantages of cam mechanisms?</a:t>
            </a:r>
            <a:endParaRPr lang="zh-CN" altLang="en-US" b="1" kern="0" dirty="0">
              <a:latin typeface="微软雅黑" panose="020B0503020204020204" pitchFamily="34" charset="-122"/>
              <a:ea typeface="微软雅黑" panose="020B0503020204020204" pitchFamily="34" charset="-122"/>
              <a:cs typeface="+mj-cs"/>
            </a:endParaRPr>
          </a:p>
        </p:txBody>
      </p:sp>
      <p:sp>
        <p:nvSpPr>
          <p:cNvPr id="33" name="文本框 32"/>
          <p:cNvSpPr txBox="1"/>
          <p:nvPr/>
        </p:nvSpPr>
        <p:spPr>
          <a:xfrm>
            <a:off x="9112181" y="6038886"/>
            <a:ext cx="2876884" cy="461665"/>
          </a:xfrm>
          <a:prstGeom prst="rect">
            <a:avLst/>
          </a:prstGeom>
          <a:noFill/>
        </p:spPr>
        <p:txBody>
          <a:bodyPr wrap="square">
            <a:spAutoFit/>
          </a:bodyPr>
          <a:lstStyle/>
          <a:p>
            <a:r>
              <a:rPr lang="zh-CN" altLang="en-US" sz="2400" b="1" kern="0" dirty="0">
                <a:solidFill>
                  <a:srgbClr val="FF0000"/>
                </a:solidFill>
                <a:latin typeface="微软雅黑" panose="020B0503020204020204" pitchFamily="34" charset="-122"/>
                <a:ea typeface="微软雅黑" panose="020B0503020204020204" pitchFamily="34" charset="-122"/>
                <a:cs typeface="+mj-cs"/>
              </a:rPr>
              <a:t>What are the advantages?</a:t>
            </a:r>
            <a:endParaRPr lang="zh-CN" altLang="en-US" sz="2400" b="1" kern="0" dirty="0">
              <a:solidFill>
                <a:srgbClr val="FF000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200" fill="hold"/>
                                        <p:tgtEl>
                                          <p:spTgt spid="16"/>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16"/>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repeatCount="indefinite" fill="hold" display="0">
                  <p:stCondLst>
                    <p:cond delay="indefinite"/>
                  </p:stCondLst>
                </p:cTn>
                <p:tgtEl>
                  <p:spTgt spid="16"/>
                </p:tgtEl>
              </p:cMediaNode>
            </p:video>
            <p:video>
              <p:cMediaNode vol="80000">
                <p:cTn id="26" fill="hold" display="0">
                  <p:stCondLst>
                    <p:cond delay="indefinite"/>
                  </p:stCondLst>
                </p:cTn>
                <p:tgtEl>
                  <p:spTgt spid="20"/>
                </p:tgtEl>
              </p:cMediaNode>
            </p:video>
          </p:childTnLst>
        </p:cTn>
      </p:par>
    </p:tnLst>
    <p:bldLst>
      <p:bldP spid="34" grpId="0"/>
      <p:bldP spid="39" grpId="0"/>
      <p:bldP spid="32"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3128" y="1915517"/>
            <a:ext cx="4492636" cy="3369477"/>
          </a:xfrm>
          <a:prstGeom prst="rect">
            <a:avLst/>
          </a:prstGeom>
        </p:spPr>
      </p:pic>
      <p:sp>
        <p:nvSpPr>
          <p:cNvPr id="24" name="矩形 23"/>
          <p:cNvSpPr/>
          <p:nvPr/>
        </p:nvSpPr>
        <p:spPr bwMode="auto">
          <a:xfrm>
            <a:off x="318034" y="2031578"/>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TextBox 8"/>
          <p:cNvSpPr txBox="1"/>
          <p:nvPr/>
        </p:nvSpPr>
        <p:spPr>
          <a:xfrm>
            <a:off x="1007745" y="319405"/>
            <a:ext cx="92094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3-1 Characteristics and Applications of Cam Mechanisms</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pic>
        <p:nvPicPr>
          <p:cNvPr id="36" name="图片 35"/>
          <p:cNvPicPr>
            <a:picLocks noChangeAspect="1"/>
          </p:cNvPicPr>
          <p:nvPr/>
        </p:nvPicPr>
        <p:blipFill>
          <a:blip r:embed="rId4"/>
          <a:stretch>
            <a:fillRect/>
          </a:stretch>
        </p:blipFill>
        <p:spPr>
          <a:xfrm rot="18644243">
            <a:off x="959333" y="1889462"/>
            <a:ext cx="436376" cy="585720"/>
          </a:xfrm>
          <a:prstGeom prst="rect">
            <a:avLst/>
          </a:prstGeom>
        </p:spPr>
      </p:pic>
      <p:pic>
        <p:nvPicPr>
          <p:cNvPr id="37" name="图片 36"/>
          <p:cNvPicPr>
            <a:picLocks noChangeAspect="1"/>
          </p:cNvPicPr>
          <p:nvPr/>
        </p:nvPicPr>
        <p:blipFill>
          <a:blip r:embed="rId4"/>
          <a:stretch>
            <a:fillRect/>
          </a:stretch>
        </p:blipFill>
        <p:spPr>
          <a:xfrm rot="16200000">
            <a:off x="883297" y="1278137"/>
            <a:ext cx="228474" cy="964549"/>
          </a:xfrm>
          <a:prstGeom prst="rect">
            <a:avLst/>
          </a:prstGeom>
        </p:spPr>
      </p:pic>
      <p:pic>
        <p:nvPicPr>
          <p:cNvPr id="40" name="图片 39"/>
          <p:cNvPicPr>
            <a:picLocks noChangeAspect="1"/>
          </p:cNvPicPr>
          <p:nvPr/>
        </p:nvPicPr>
        <p:blipFill>
          <a:blip r:embed="rId4"/>
          <a:stretch>
            <a:fillRect/>
          </a:stretch>
        </p:blipFill>
        <p:spPr>
          <a:xfrm rot="18664587">
            <a:off x="802707" y="1694430"/>
            <a:ext cx="328815" cy="441373"/>
          </a:xfrm>
          <a:prstGeom prst="rect">
            <a:avLst/>
          </a:prstGeom>
        </p:spPr>
      </p:pic>
      <p:pic>
        <p:nvPicPr>
          <p:cNvPr id="45" name="图片 44"/>
          <p:cNvPicPr>
            <a:picLocks noChangeAspect="1"/>
          </p:cNvPicPr>
          <p:nvPr/>
        </p:nvPicPr>
        <p:blipFill>
          <a:blip r:embed="rId4"/>
          <a:stretch>
            <a:fillRect/>
          </a:stretch>
        </p:blipFill>
        <p:spPr>
          <a:xfrm>
            <a:off x="735414" y="1657827"/>
            <a:ext cx="70837" cy="354543"/>
          </a:xfrm>
          <a:prstGeom prst="rect">
            <a:avLst/>
          </a:prstGeom>
        </p:spPr>
      </p:pic>
      <p:pic>
        <p:nvPicPr>
          <p:cNvPr id="48" name="图片 47"/>
          <p:cNvPicPr>
            <a:picLocks noChangeAspect="1"/>
          </p:cNvPicPr>
          <p:nvPr/>
        </p:nvPicPr>
        <p:blipFill>
          <a:blip r:embed="rId4"/>
          <a:stretch>
            <a:fillRect/>
          </a:stretch>
        </p:blipFill>
        <p:spPr>
          <a:xfrm rot="18644243">
            <a:off x="2182166" y="1696061"/>
            <a:ext cx="332281" cy="450888"/>
          </a:xfrm>
          <a:prstGeom prst="rect">
            <a:avLst/>
          </a:prstGeom>
        </p:spPr>
      </p:pic>
      <p:pic>
        <p:nvPicPr>
          <p:cNvPr id="50" name="图片 49"/>
          <p:cNvPicPr>
            <a:picLocks noChangeAspect="1"/>
          </p:cNvPicPr>
          <p:nvPr/>
        </p:nvPicPr>
        <p:blipFill>
          <a:blip r:embed="rId4"/>
          <a:stretch>
            <a:fillRect/>
          </a:stretch>
        </p:blipFill>
        <p:spPr>
          <a:xfrm rot="18664587" flipH="1">
            <a:off x="598968" y="1684309"/>
            <a:ext cx="198327" cy="266217"/>
          </a:xfrm>
          <a:prstGeom prst="rect">
            <a:avLst/>
          </a:prstGeom>
        </p:spPr>
      </p:pic>
      <p:sp>
        <p:nvSpPr>
          <p:cNvPr id="51" name="矩形 50"/>
          <p:cNvSpPr/>
          <p:nvPr/>
        </p:nvSpPr>
        <p:spPr>
          <a:xfrm>
            <a:off x="7207974" y="1549495"/>
            <a:ext cx="4181475" cy="64516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How does the engine combust to drive the piston?</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52" name="矩形 51"/>
          <p:cNvSpPr/>
          <p:nvPr/>
        </p:nvSpPr>
        <p:spPr>
          <a:xfrm>
            <a:off x="6572885" y="2270125"/>
            <a:ext cx="5988050" cy="368300"/>
          </a:xfrm>
          <a:prstGeom prst="rect">
            <a:avLst/>
          </a:prstGeom>
        </p:spPr>
        <p:txBody>
          <a:bodyPr wrap="square">
            <a:spAutoFit/>
          </a:bodyPr>
          <a:lstStyle/>
          <a:p>
            <a:r>
              <a:rPr lang="en-US" altLang="zh-CN" b="1" dirty="0">
                <a:solidFill>
                  <a:srgbClr val="FF0000"/>
                </a:solidFill>
                <a:latin typeface="微软雅黑" panose="020B0503020204020204" pitchFamily="34" charset="-122"/>
                <a:ea typeface="微软雅黑" panose="020B0503020204020204" pitchFamily="34" charset="-122"/>
              </a:rPr>
              <a:t>4 Strokes: Intake, Compression, Power, Exhaust</a:t>
            </a:r>
            <a:endParaRPr lang="en-US" altLang="zh-CN" b="1" dirty="0">
              <a:solidFill>
                <a:srgbClr val="FF0000"/>
              </a:solidFill>
              <a:latin typeface="微软雅黑" panose="020B0503020204020204" pitchFamily="34" charset="-122"/>
              <a:ea typeface="微软雅黑" panose="020B0503020204020204" pitchFamily="34" charset="-122"/>
            </a:endParaRPr>
          </a:p>
        </p:txBody>
      </p:sp>
      <p:grpSp>
        <p:nvGrpSpPr>
          <p:cNvPr id="53" name="组合 52"/>
          <p:cNvGrpSpPr/>
          <p:nvPr/>
        </p:nvGrpSpPr>
        <p:grpSpPr>
          <a:xfrm>
            <a:off x="0" y="5560221"/>
            <a:ext cx="5957540" cy="1219948"/>
            <a:chOff x="0" y="5647423"/>
            <a:chExt cx="5957540" cy="1219948"/>
          </a:xfrm>
        </p:grpSpPr>
        <p:cxnSp>
          <p:nvCxnSpPr>
            <p:cNvPr id="54" name="直接连接符 53"/>
            <p:cNvCxnSpPr/>
            <p:nvPr/>
          </p:nvCxnSpPr>
          <p:spPr bwMode="auto">
            <a:xfrm>
              <a:off x="1279765" y="6455512"/>
              <a:ext cx="371826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55" name="矩形 54"/>
                <p:cNvSpPr/>
                <p:nvPr/>
              </p:nvSpPr>
              <p:spPr>
                <a:xfrm>
                  <a:off x="1459984" y="6450215"/>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0" smtClean="0">
                            <a:solidFill>
                              <a:srgbClr val="FF0000"/>
                            </a:solidFill>
                            <a:latin typeface="Cambria Math" panose="02040503050406030204" pitchFamily="18" charset="0"/>
                            <a:ea typeface="Cambria Math" panose="02040503050406030204" pitchFamily="18" charset="0"/>
                          </a:rPr>
                          <m:t>180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55" name="矩形 54"/>
                <p:cNvSpPr>
                  <a:spLocks noRot="1" noChangeAspect="1" noMove="1" noResize="1" noEditPoints="1" noAdjustHandles="1" noChangeArrowheads="1" noChangeShapeType="1" noTextEdit="1"/>
                </p:cNvSpPr>
                <p:nvPr/>
              </p:nvSpPr>
              <p:spPr>
                <a:xfrm>
                  <a:off x="1459984" y="6450215"/>
                  <a:ext cx="713657"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矩形 55"/>
                <p:cNvSpPr/>
                <p:nvPr/>
              </p:nvSpPr>
              <p:spPr>
                <a:xfrm>
                  <a:off x="2063339" y="6465144"/>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0" smtClean="0">
                            <a:solidFill>
                              <a:srgbClr val="FF0000"/>
                            </a:solidFill>
                            <a:latin typeface="Cambria Math" panose="02040503050406030204" pitchFamily="18" charset="0"/>
                            <a:ea typeface="Cambria Math" panose="02040503050406030204" pitchFamily="18" charset="0"/>
                          </a:rPr>
                          <m:t>360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56" name="矩形 55"/>
                <p:cNvSpPr>
                  <a:spLocks noRot="1" noChangeAspect="1" noMove="1" noResize="1" noEditPoints="1" noAdjustHandles="1" noChangeArrowheads="1" noChangeShapeType="1" noTextEdit="1"/>
                </p:cNvSpPr>
                <p:nvPr/>
              </p:nvSpPr>
              <p:spPr>
                <a:xfrm>
                  <a:off x="2063339" y="6465144"/>
                  <a:ext cx="713657"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矩形 56"/>
                <p:cNvSpPr/>
                <p:nvPr/>
              </p:nvSpPr>
              <p:spPr>
                <a:xfrm>
                  <a:off x="1113091" y="6455512"/>
                  <a:ext cx="45717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57" name="矩形 56"/>
                <p:cNvSpPr>
                  <a:spLocks noRot="1" noChangeAspect="1" noMove="1" noResize="1" noEditPoints="1" noAdjustHandles="1" noChangeArrowheads="1" noChangeShapeType="1" noTextEdit="1"/>
                </p:cNvSpPr>
                <p:nvPr/>
              </p:nvSpPr>
              <p:spPr>
                <a:xfrm>
                  <a:off x="1113091" y="6455512"/>
                  <a:ext cx="457176" cy="369332"/>
                </a:xfrm>
                <a:prstGeom prst="rect">
                  <a:avLst/>
                </a:prstGeom>
                <a:blipFill rotWithShape="1">
                  <a:blip r:embed="rId7"/>
                </a:blipFill>
              </p:spPr>
              <p:txBody>
                <a:bodyPr/>
                <a:lstStyle/>
                <a:p>
                  <a:r>
                    <a:rPr lang="zh-CN" altLang="en-US">
                      <a:noFill/>
                    </a:rPr>
                    <a:t> </a:t>
                  </a:r>
                </a:p>
              </p:txBody>
            </p:sp>
          </mc:Fallback>
        </mc:AlternateContent>
        <p:cxnSp>
          <p:nvCxnSpPr>
            <p:cNvPr id="58" name="直接连接符 57"/>
            <p:cNvCxnSpPr/>
            <p:nvPr/>
          </p:nvCxnSpPr>
          <p:spPr bwMode="auto">
            <a:xfrm>
              <a:off x="1279765" y="6069732"/>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59" name="矩形 58"/>
                <p:cNvSpPr/>
                <p:nvPr/>
              </p:nvSpPr>
              <p:spPr>
                <a:xfrm>
                  <a:off x="2630541" y="6471960"/>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5</m:t>
                        </m:r>
                        <m:r>
                          <a:rPr lang="en-US" b="0" i="0" smtClean="0">
                            <a:solidFill>
                              <a:srgbClr val="FF0000"/>
                            </a:solidFill>
                            <a:latin typeface="Cambria Math" panose="02040503050406030204" pitchFamily="18" charset="0"/>
                            <a:ea typeface="Cambria Math" panose="02040503050406030204" pitchFamily="18" charset="0"/>
                          </a:rPr>
                          <m:t>40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59" name="矩形 58"/>
                <p:cNvSpPr>
                  <a:spLocks noRot="1" noChangeAspect="1" noMove="1" noResize="1" noEditPoints="1" noAdjustHandles="1" noChangeArrowheads="1" noChangeShapeType="1" noTextEdit="1"/>
                </p:cNvSpPr>
                <p:nvPr/>
              </p:nvSpPr>
              <p:spPr>
                <a:xfrm>
                  <a:off x="2630541" y="6471960"/>
                  <a:ext cx="713657" cy="369332"/>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矩形 59"/>
                <p:cNvSpPr/>
                <p:nvPr/>
              </p:nvSpPr>
              <p:spPr>
                <a:xfrm>
                  <a:off x="3171533" y="6450215"/>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7</m:t>
                        </m:r>
                        <m:r>
                          <a:rPr lang="en-US" b="0" i="0" smtClean="0">
                            <a:solidFill>
                              <a:srgbClr val="FF0000"/>
                            </a:solidFill>
                            <a:latin typeface="Cambria Math" panose="02040503050406030204" pitchFamily="18" charset="0"/>
                            <a:ea typeface="Cambria Math" panose="02040503050406030204" pitchFamily="18" charset="0"/>
                          </a:rPr>
                          <m:t>20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60" name="矩形 59"/>
                <p:cNvSpPr>
                  <a:spLocks noRot="1" noChangeAspect="1" noMove="1" noResize="1" noEditPoints="1" noAdjustHandles="1" noChangeArrowheads="1" noChangeShapeType="1" noTextEdit="1"/>
                </p:cNvSpPr>
                <p:nvPr/>
              </p:nvSpPr>
              <p:spPr>
                <a:xfrm>
                  <a:off x="3171533" y="6450215"/>
                  <a:ext cx="713657" cy="369332"/>
                </a:xfrm>
                <a:prstGeom prst="rect">
                  <a:avLst/>
                </a:prstGeom>
                <a:blipFill rotWithShape="1">
                  <a:blip r:embed="rId9"/>
                </a:blipFill>
              </p:spPr>
              <p:txBody>
                <a:bodyPr/>
                <a:lstStyle/>
                <a:p>
                  <a:r>
                    <a:rPr lang="zh-CN" altLang="en-US">
                      <a:noFill/>
                    </a:rPr>
                    <a:t> </a:t>
                  </a:r>
                </a:p>
              </p:txBody>
            </p:sp>
          </mc:Fallback>
        </mc:AlternateContent>
        <p:sp>
          <p:nvSpPr>
            <p:cNvPr id="61" name="矩形 60"/>
            <p:cNvSpPr/>
            <p:nvPr/>
          </p:nvSpPr>
          <p:spPr>
            <a:xfrm>
              <a:off x="1279679" y="5647423"/>
              <a:ext cx="649537" cy="369332"/>
            </a:xfrm>
            <a:prstGeom prst="rect">
              <a:avLst/>
            </a:prstGeom>
          </p:spPr>
          <p:txBody>
            <a:bodyPr wrap="none">
              <a:spAutoFit/>
            </a:bodyPr>
            <a:lstStyle/>
            <a:p>
              <a:r>
                <a:rPr lang="zh-CN" altLang="en-US" b="1" dirty="0">
                  <a:solidFill>
                    <a:srgbClr val="000000"/>
                  </a:solidFill>
                  <a:ea typeface="楷体_GB2312" pitchFamily="49" charset="-122"/>
                </a:rPr>
                <a:t>进气</a:t>
              </a:r>
              <a:endParaRPr lang="en-AU" dirty="0"/>
            </a:p>
          </p:txBody>
        </p:sp>
        <p:sp>
          <p:nvSpPr>
            <p:cNvPr id="62" name="矩形 61"/>
            <p:cNvSpPr/>
            <p:nvPr/>
          </p:nvSpPr>
          <p:spPr>
            <a:xfrm>
              <a:off x="1739300" y="6051714"/>
              <a:ext cx="649537" cy="369332"/>
            </a:xfrm>
            <a:prstGeom prst="rect">
              <a:avLst/>
            </a:prstGeom>
          </p:spPr>
          <p:txBody>
            <a:bodyPr wrap="none">
              <a:spAutoFit/>
            </a:bodyPr>
            <a:lstStyle/>
            <a:p>
              <a:r>
                <a:rPr lang="zh-CN" altLang="en-US" b="1" dirty="0">
                  <a:solidFill>
                    <a:srgbClr val="000000"/>
                  </a:solidFill>
                  <a:ea typeface="楷体_GB2312" pitchFamily="49" charset="-122"/>
                </a:rPr>
                <a:t>压缩</a:t>
              </a:r>
              <a:endParaRPr lang="en-AU" dirty="0"/>
            </a:p>
          </p:txBody>
        </p:sp>
        <p:sp>
          <p:nvSpPr>
            <p:cNvPr id="63" name="矩形 62"/>
            <p:cNvSpPr/>
            <p:nvPr/>
          </p:nvSpPr>
          <p:spPr>
            <a:xfrm>
              <a:off x="2346220" y="6043654"/>
              <a:ext cx="646331" cy="369332"/>
            </a:xfrm>
            <a:prstGeom prst="rect">
              <a:avLst/>
            </a:prstGeom>
          </p:spPr>
          <p:txBody>
            <a:bodyPr wrap="none">
              <a:spAutoFit/>
            </a:bodyPr>
            <a:lstStyle/>
            <a:p>
              <a:r>
                <a:rPr lang="zh-CN" altLang="en-US" b="1" dirty="0">
                  <a:solidFill>
                    <a:srgbClr val="000000"/>
                  </a:solidFill>
                  <a:ea typeface="楷体_GB2312" pitchFamily="49" charset="-122"/>
                </a:rPr>
                <a:t>做功</a:t>
              </a:r>
              <a:endParaRPr lang="en-AU" dirty="0"/>
            </a:p>
          </p:txBody>
        </p:sp>
        <p:sp>
          <p:nvSpPr>
            <p:cNvPr id="64" name="矩形 63"/>
            <p:cNvSpPr/>
            <p:nvPr/>
          </p:nvSpPr>
          <p:spPr>
            <a:xfrm>
              <a:off x="2915292" y="6039945"/>
              <a:ext cx="646331" cy="369332"/>
            </a:xfrm>
            <a:prstGeom prst="rect">
              <a:avLst/>
            </a:prstGeom>
          </p:spPr>
          <p:txBody>
            <a:bodyPr wrap="none">
              <a:spAutoFit/>
            </a:bodyPr>
            <a:lstStyle/>
            <a:p>
              <a:r>
                <a:rPr lang="zh-CN" altLang="en-US" b="1" dirty="0">
                  <a:solidFill>
                    <a:srgbClr val="000000"/>
                  </a:solidFill>
                  <a:ea typeface="楷体_GB2312" pitchFamily="49" charset="-122"/>
                </a:rPr>
                <a:t>排气</a:t>
              </a:r>
              <a:endParaRPr lang="en-AU" dirty="0"/>
            </a:p>
          </p:txBody>
        </p:sp>
        <p:cxnSp>
          <p:nvCxnSpPr>
            <p:cNvPr id="65" name="直接连接符 64"/>
            <p:cNvCxnSpPr/>
            <p:nvPr/>
          </p:nvCxnSpPr>
          <p:spPr bwMode="auto">
            <a:xfrm flipV="1">
              <a:off x="1279765" y="5658130"/>
              <a:ext cx="0" cy="8009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矩形 65"/>
            <p:cNvSpPr/>
            <p:nvPr/>
          </p:nvSpPr>
          <p:spPr>
            <a:xfrm>
              <a:off x="0" y="5848958"/>
              <a:ext cx="1338828" cy="369332"/>
            </a:xfrm>
            <a:prstGeom prst="rect">
              <a:avLst/>
            </a:prstGeom>
          </p:spPr>
          <p:txBody>
            <a:bodyPr wrap="none">
              <a:spAutoFit/>
            </a:bodyPr>
            <a:lstStyle/>
            <a:p>
              <a:r>
                <a:rPr lang="zh-CN" altLang="en-US" dirty="0"/>
                <a:t>进气门打开</a:t>
              </a:r>
              <a:endParaRPr lang="en-AU" dirty="0"/>
            </a:p>
          </p:txBody>
        </p:sp>
        <p:sp>
          <p:nvSpPr>
            <p:cNvPr id="67" name="矩形 66"/>
            <p:cNvSpPr/>
            <p:nvPr/>
          </p:nvSpPr>
          <p:spPr>
            <a:xfrm>
              <a:off x="23936" y="6249263"/>
              <a:ext cx="1338828" cy="369332"/>
            </a:xfrm>
            <a:prstGeom prst="rect">
              <a:avLst/>
            </a:prstGeom>
          </p:spPr>
          <p:txBody>
            <a:bodyPr wrap="none">
              <a:spAutoFit/>
            </a:bodyPr>
            <a:lstStyle/>
            <a:p>
              <a:r>
                <a:rPr lang="zh-CN" altLang="en-US" dirty="0"/>
                <a:t>进气门关闭</a:t>
              </a:r>
              <a:endParaRPr lang="en-AU" dirty="0"/>
            </a:p>
          </p:txBody>
        </p:sp>
        <p:sp>
          <p:nvSpPr>
            <p:cNvPr id="68" name="矩形 67"/>
            <p:cNvSpPr/>
            <p:nvPr/>
          </p:nvSpPr>
          <p:spPr>
            <a:xfrm>
              <a:off x="4378262" y="6498039"/>
              <a:ext cx="1579278" cy="369332"/>
            </a:xfrm>
            <a:prstGeom prst="rect">
              <a:avLst/>
            </a:prstGeom>
          </p:spPr>
          <p:txBody>
            <a:bodyPr wrap="none">
              <a:spAutoFit/>
            </a:bodyPr>
            <a:lstStyle/>
            <a:p>
              <a:r>
                <a:rPr lang="zh-CN" altLang="en-US" b="1" dirty="0">
                  <a:solidFill>
                    <a:srgbClr val="000000"/>
                  </a:solidFill>
                  <a:ea typeface="楷体_GB2312" pitchFamily="49" charset="-122"/>
                </a:rPr>
                <a:t>主轴角度位置</a:t>
              </a:r>
              <a:endParaRPr lang="en-AU" dirty="0"/>
            </a:p>
          </p:txBody>
        </p:sp>
        <p:cxnSp>
          <p:nvCxnSpPr>
            <p:cNvPr id="69" name="直接连接符 68"/>
            <p:cNvCxnSpPr/>
            <p:nvPr/>
          </p:nvCxnSpPr>
          <p:spPr bwMode="auto">
            <a:xfrm>
              <a:off x="3465435" y="6044015"/>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矩形 69"/>
            <p:cNvSpPr/>
            <p:nvPr/>
          </p:nvSpPr>
          <p:spPr>
            <a:xfrm>
              <a:off x="3410666" y="5649350"/>
              <a:ext cx="649537" cy="369332"/>
            </a:xfrm>
            <a:prstGeom prst="rect">
              <a:avLst/>
            </a:prstGeom>
          </p:spPr>
          <p:txBody>
            <a:bodyPr wrap="none">
              <a:spAutoFit/>
            </a:bodyPr>
            <a:lstStyle/>
            <a:p>
              <a:r>
                <a:rPr lang="zh-CN" altLang="en-US" b="1" dirty="0">
                  <a:solidFill>
                    <a:srgbClr val="000000"/>
                  </a:solidFill>
                  <a:ea typeface="楷体_GB2312" pitchFamily="49" charset="-122"/>
                </a:rPr>
                <a:t>进气</a:t>
              </a:r>
              <a:endParaRPr lang="en-AU" dirty="0"/>
            </a:p>
          </p:txBody>
        </p:sp>
        <mc:AlternateContent xmlns:mc="http://schemas.openxmlformats.org/markup-compatibility/2006">
          <mc:Choice xmlns:a14="http://schemas.microsoft.com/office/drawing/2010/main" Requires="a14">
            <p:sp>
              <p:nvSpPr>
                <p:cNvPr id="71" name="矩形 70"/>
                <p:cNvSpPr/>
                <p:nvPr/>
              </p:nvSpPr>
              <p:spPr>
                <a:xfrm>
                  <a:off x="3727678" y="6450802"/>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9</m:t>
                        </m:r>
                        <m:r>
                          <a:rPr lang="en-US" b="0" i="1" smtClean="0">
                            <a:solidFill>
                              <a:srgbClr val="FF0000"/>
                            </a:solidFill>
                            <a:latin typeface="Cambria Math" panose="02040503050406030204" pitchFamily="18" charset="0"/>
                            <a:ea typeface="Cambria Math" panose="02040503050406030204" pitchFamily="18" charset="0"/>
                          </a:rPr>
                          <m:t>0</m:t>
                        </m:r>
                        <m:r>
                          <a:rPr lang="en-US" b="0" i="0" smtClean="0">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71" name="矩形 70"/>
                <p:cNvSpPr>
                  <a:spLocks noRot="1" noChangeAspect="1" noMove="1" noResize="1" noEditPoints="1" noAdjustHandles="1" noChangeArrowheads="1" noChangeShapeType="1" noTextEdit="1"/>
                </p:cNvSpPr>
                <p:nvPr/>
              </p:nvSpPr>
              <p:spPr>
                <a:xfrm>
                  <a:off x="3727678" y="6450802"/>
                  <a:ext cx="713657" cy="369332"/>
                </a:xfrm>
                <a:prstGeom prst="rect">
                  <a:avLst/>
                </a:prstGeom>
                <a:blipFill rotWithShape="1">
                  <a:blip r:embed="rId10"/>
                </a:blipFill>
              </p:spPr>
              <p:txBody>
                <a:bodyPr/>
                <a:lstStyle/>
                <a:p>
                  <a:r>
                    <a:rPr lang="zh-CN" altLang="en-US">
                      <a:noFill/>
                    </a:rPr>
                    <a:t> </a:t>
                  </a:r>
                </a:p>
              </p:txBody>
            </p:sp>
          </mc:Fallback>
        </mc:AlternateContent>
        <p:cxnSp>
          <p:nvCxnSpPr>
            <p:cNvPr id="72" name="直接连接符 71"/>
            <p:cNvCxnSpPr/>
            <p:nvPr/>
          </p:nvCxnSpPr>
          <p:spPr bwMode="auto">
            <a:xfrm>
              <a:off x="1827717" y="6456784"/>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p:cNvCxnSpPr/>
            <p:nvPr/>
          </p:nvCxnSpPr>
          <p:spPr bwMode="auto">
            <a:xfrm>
              <a:off x="2367717" y="6454765"/>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p:cNvCxnSpPr/>
            <p:nvPr/>
          </p:nvCxnSpPr>
          <p:spPr bwMode="auto">
            <a:xfrm>
              <a:off x="2925435" y="6458983"/>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1" name="矩形 90"/>
          <p:cNvSpPr/>
          <p:nvPr/>
        </p:nvSpPr>
        <p:spPr>
          <a:xfrm>
            <a:off x="7257801" y="3446127"/>
            <a:ext cx="4189384" cy="64516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How many degrees does the main shaft rotate per stroke?</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92" name="矩形 91"/>
          <p:cNvSpPr/>
          <p:nvPr/>
        </p:nvSpPr>
        <p:spPr>
          <a:xfrm>
            <a:off x="7258092" y="4202421"/>
            <a:ext cx="4267205" cy="64516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How many degrees per complete cycle?</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93" name="矩形 92"/>
          <p:cNvSpPr/>
          <p:nvPr/>
        </p:nvSpPr>
        <p:spPr>
          <a:xfrm>
            <a:off x="10247672" y="3813031"/>
            <a:ext cx="950109" cy="461665"/>
          </a:xfrm>
          <a:prstGeom prst="rect">
            <a:avLst/>
          </a:prstGeom>
        </p:spPr>
        <p:txBody>
          <a:bodyPr wrap="square">
            <a:spAutoFit/>
          </a:bodyPr>
          <a:lstStyle/>
          <a:p>
            <a:r>
              <a:rPr lang="en-US" altLang="zh-CN" sz="2400" b="1" dirty="0">
                <a:solidFill>
                  <a:srgbClr val="FF0000"/>
                </a:solidFill>
                <a:latin typeface="Cambria Math" panose="02040503050406030204" pitchFamily="18" charset="0"/>
                <a:ea typeface="Cambria Math" panose="02040503050406030204" pitchFamily="18" charset="0"/>
              </a:rPr>
              <a:t>180°</a:t>
            </a:r>
            <a:endParaRPr lang="en-AU" altLang="zh-CN" sz="2400" b="1" dirty="0">
              <a:solidFill>
                <a:srgbClr val="FF0000"/>
              </a:solidFill>
            </a:endParaRPr>
          </a:p>
        </p:txBody>
      </p:sp>
      <mc:AlternateContent xmlns:mc="http://schemas.openxmlformats.org/markup-compatibility/2006">
        <mc:Choice xmlns:a14="http://schemas.microsoft.com/office/drawing/2010/main" Requires="a14">
          <p:sp>
            <p:nvSpPr>
              <p:cNvPr id="94" name="矩形 93"/>
              <p:cNvSpPr/>
              <p:nvPr/>
            </p:nvSpPr>
            <p:spPr>
              <a:xfrm>
                <a:off x="9923777" y="4581173"/>
                <a:ext cx="1074901" cy="461665"/>
              </a:xfrm>
              <a:prstGeom prst="rect">
                <a:avLst/>
              </a:prstGeom>
            </p:spPr>
            <p:txBody>
              <a:bodyPr wrap="square">
                <a:spAutoFit/>
              </a:bodyPr>
              <a:lstStyle/>
              <a:p>
                <a:r>
                  <a:rPr lang="en-US" altLang="zh-CN" sz="2400" b="1" dirty="0">
                    <a:solidFill>
                      <a:srgbClr val="FF0000"/>
                    </a:solidFill>
                    <a:latin typeface="Cambria Math" panose="02040503050406030204" pitchFamily="18" charset="0"/>
                    <a:ea typeface="Cambria Math" panose="02040503050406030204" pitchFamily="18" charset="0"/>
                  </a:rPr>
                  <a:t>7</a:t>
                </a:r>
                <a14:m>
                  <m:oMath xmlns:m="http://schemas.openxmlformats.org/officeDocument/2006/math">
                    <m:r>
                      <a:rPr lang="en-US" altLang="zh-CN" sz="2400" b="1" i="0" smtClean="0">
                        <a:solidFill>
                          <a:srgbClr val="FF0000"/>
                        </a:solidFill>
                        <a:latin typeface="Cambria Math" panose="02040503050406030204" pitchFamily="18" charset="0"/>
                        <a:ea typeface="Cambria Math" panose="02040503050406030204" pitchFamily="18" charset="0"/>
                      </a:rPr>
                      <m:t>𝟐𝟎</m:t>
                    </m:r>
                    <m:r>
                      <a:rPr lang="en-US" altLang="zh-CN" sz="2400" b="1" i="1">
                        <a:solidFill>
                          <a:srgbClr val="FF0000"/>
                        </a:solidFill>
                        <a:latin typeface="Cambria Math" panose="02040503050406030204" pitchFamily="18" charset="0"/>
                        <a:ea typeface="Cambria Math" panose="02040503050406030204" pitchFamily="18" charset="0"/>
                      </a:rPr>
                      <m:t>°</m:t>
                    </m:r>
                  </m:oMath>
                </a14:m>
                <a:endParaRPr lang="en-AU" altLang="zh-CN" sz="2400" b="1" dirty="0">
                  <a:solidFill>
                    <a:srgbClr val="FF0000"/>
                  </a:solidFill>
                </a:endParaRPr>
              </a:p>
            </p:txBody>
          </p:sp>
        </mc:Choice>
        <mc:Fallback>
          <p:sp>
            <p:nvSpPr>
              <p:cNvPr id="94" name="矩形 93"/>
              <p:cNvSpPr>
                <a:spLocks noRot="1" noChangeAspect="1" noMove="1" noResize="1" noEditPoints="1" noAdjustHandles="1" noChangeArrowheads="1" noChangeShapeType="1" noTextEdit="1"/>
              </p:cNvSpPr>
              <p:nvPr/>
            </p:nvSpPr>
            <p:spPr>
              <a:xfrm>
                <a:off x="9923777" y="4581173"/>
                <a:ext cx="1074901" cy="461665"/>
              </a:xfrm>
              <a:prstGeom prst="rect">
                <a:avLst/>
              </a:prstGeom>
              <a:blipFill rotWithShape="1">
                <a:blip r:embed="rId11"/>
                <a:stretch>
                  <a:fillRect l="-59" t="-61" r="44" b="66"/>
                </a:stretch>
              </a:blipFill>
            </p:spPr>
            <p:txBody>
              <a:bodyPr/>
              <a:lstStyle/>
              <a:p>
                <a:r>
                  <a:rPr lang="zh-CN" altLang="en-US">
                    <a:noFill/>
                  </a:rPr>
                  <a:t> </a:t>
                </a:r>
              </a:p>
            </p:txBody>
          </p:sp>
        </mc:Fallback>
      </mc:AlternateContent>
      <p:grpSp>
        <p:nvGrpSpPr>
          <p:cNvPr id="95" name="组合 94"/>
          <p:cNvGrpSpPr/>
          <p:nvPr/>
        </p:nvGrpSpPr>
        <p:grpSpPr>
          <a:xfrm>
            <a:off x="4663261" y="5421953"/>
            <a:ext cx="7452109" cy="1321115"/>
            <a:chOff x="4696895" y="5241623"/>
            <a:chExt cx="7452109" cy="1321115"/>
          </a:xfrm>
        </p:grpSpPr>
        <p:sp>
          <p:nvSpPr>
            <p:cNvPr id="96" name="Line 24"/>
            <p:cNvSpPr>
              <a:spLocks noChangeShapeType="1"/>
            </p:cNvSpPr>
            <p:nvPr/>
          </p:nvSpPr>
          <p:spPr bwMode="auto">
            <a:xfrm flipH="1" flipV="1">
              <a:off x="4956971" y="5910112"/>
              <a:ext cx="1649666" cy="0"/>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none"/>
            <a:lstStyle/>
            <a:p>
              <a:endParaRPr lang="en-US" dirty="0"/>
            </a:p>
          </p:txBody>
        </p:sp>
        <p:grpSp>
          <p:nvGrpSpPr>
            <p:cNvPr id="97" name="组合 96"/>
            <p:cNvGrpSpPr/>
            <p:nvPr/>
          </p:nvGrpSpPr>
          <p:grpSpPr>
            <a:xfrm>
              <a:off x="4696895" y="5241623"/>
              <a:ext cx="7452109" cy="1321115"/>
              <a:chOff x="4696895" y="5241623"/>
              <a:chExt cx="7452109" cy="1321115"/>
            </a:xfrm>
          </p:grpSpPr>
          <p:grpSp>
            <p:nvGrpSpPr>
              <p:cNvPr id="98" name="组合 97"/>
              <p:cNvGrpSpPr/>
              <p:nvPr/>
            </p:nvGrpSpPr>
            <p:grpSpPr>
              <a:xfrm>
                <a:off x="6293890" y="5241623"/>
                <a:ext cx="5855114" cy="1321115"/>
                <a:chOff x="-491684" y="5520177"/>
                <a:chExt cx="5855114" cy="1321115"/>
              </a:xfrm>
            </p:grpSpPr>
            <p:cxnSp>
              <p:nvCxnSpPr>
                <p:cNvPr id="100" name="直接连接符 99"/>
                <p:cNvCxnSpPr/>
                <p:nvPr/>
              </p:nvCxnSpPr>
              <p:spPr bwMode="auto">
                <a:xfrm>
                  <a:off x="1279765" y="6455512"/>
                  <a:ext cx="371826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01" name="矩形 100"/>
                    <p:cNvSpPr/>
                    <p:nvPr/>
                  </p:nvSpPr>
                  <p:spPr>
                    <a:xfrm>
                      <a:off x="1552052" y="6460223"/>
                      <a:ext cx="58541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9</m:t>
                            </m:r>
                            <m:r>
                              <a:rPr lang="en-US" b="0" i="0" smtClean="0">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1" name="矩形 100"/>
                    <p:cNvSpPr>
                      <a:spLocks noRot="1" noChangeAspect="1" noMove="1" noResize="1" noEditPoints="1" noAdjustHandles="1" noChangeArrowheads="1" noChangeShapeType="1" noTextEdit="1"/>
                    </p:cNvSpPr>
                    <p:nvPr/>
                  </p:nvSpPr>
                  <p:spPr>
                    <a:xfrm>
                      <a:off x="1552052" y="6460223"/>
                      <a:ext cx="585417" cy="369332"/>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2" name="矩形 101"/>
                    <p:cNvSpPr/>
                    <p:nvPr/>
                  </p:nvSpPr>
                  <p:spPr>
                    <a:xfrm>
                      <a:off x="2063339" y="6465144"/>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1</m:t>
                            </m:r>
                            <m:r>
                              <a:rPr lang="en-US" b="0" i="0" smtClean="0">
                                <a:solidFill>
                                  <a:srgbClr val="FF0000"/>
                                </a:solidFill>
                                <a:latin typeface="Cambria Math" panose="02040503050406030204" pitchFamily="18" charset="0"/>
                                <a:ea typeface="Cambria Math" panose="02040503050406030204" pitchFamily="18" charset="0"/>
                              </a:rPr>
                              <m:t>80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2" name="矩形 101"/>
                    <p:cNvSpPr>
                      <a:spLocks noRot="1" noChangeAspect="1" noMove="1" noResize="1" noEditPoints="1" noAdjustHandles="1" noChangeArrowheads="1" noChangeShapeType="1" noTextEdit="1"/>
                    </p:cNvSpPr>
                    <p:nvPr/>
                  </p:nvSpPr>
                  <p:spPr>
                    <a:xfrm>
                      <a:off x="2063339" y="6465144"/>
                      <a:ext cx="713657"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 name="矩形 102"/>
                    <p:cNvSpPr/>
                    <p:nvPr/>
                  </p:nvSpPr>
                  <p:spPr>
                    <a:xfrm>
                      <a:off x="1113091" y="6455512"/>
                      <a:ext cx="45717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3" name="矩形 102"/>
                    <p:cNvSpPr>
                      <a:spLocks noRot="1" noChangeAspect="1" noMove="1" noResize="1" noEditPoints="1" noAdjustHandles="1" noChangeArrowheads="1" noChangeShapeType="1" noTextEdit="1"/>
                    </p:cNvSpPr>
                    <p:nvPr/>
                  </p:nvSpPr>
                  <p:spPr>
                    <a:xfrm>
                      <a:off x="1113091" y="6455512"/>
                      <a:ext cx="457176" cy="369332"/>
                    </a:xfrm>
                    <a:prstGeom prst="rect">
                      <a:avLst/>
                    </a:prstGeom>
                    <a:blipFill rotWithShape="1">
                      <a:blip r:embed="rId7"/>
                    </a:blipFill>
                  </p:spPr>
                  <p:txBody>
                    <a:bodyPr/>
                    <a:lstStyle/>
                    <a:p>
                      <a:r>
                        <a:rPr lang="zh-CN" altLang="en-US">
                          <a:noFill/>
                        </a:rPr>
                        <a:t> </a:t>
                      </a:r>
                    </a:p>
                  </p:txBody>
                </p:sp>
              </mc:Fallback>
            </mc:AlternateContent>
            <p:cxnSp>
              <p:nvCxnSpPr>
                <p:cNvPr id="104" name="直接连接符 103"/>
                <p:cNvCxnSpPr/>
                <p:nvPr/>
              </p:nvCxnSpPr>
              <p:spPr bwMode="auto">
                <a:xfrm>
                  <a:off x="1279765" y="6069732"/>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05" name="矩形 104"/>
                    <p:cNvSpPr/>
                    <p:nvPr/>
                  </p:nvSpPr>
                  <p:spPr>
                    <a:xfrm>
                      <a:off x="2630541" y="6471960"/>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2</m:t>
                            </m:r>
                            <m:r>
                              <a:rPr lang="en-US" b="0" i="0" smtClean="0">
                                <a:solidFill>
                                  <a:srgbClr val="FF0000"/>
                                </a:solidFill>
                                <a:latin typeface="Cambria Math" panose="02040503050406030204" pitchFamily="18" charset="0"/>
                                <a:ea typeface="Cambria Math" panose="02040503050406030204" pitchFamily="18" charset="0"/>
                              </a:rPr>
                              <m:t>70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5" name="矩形 104"/>
                    <p:cNvSpPr>
                      <a:spLocks noRot="1" noChangeAspect="1" noMove="1" noResize="1" noEditPoints="1" noAdjustHandles="1" noChangeArrowheads="1" noChangeShapeType="1" noTextEdit="1"/>
                    </p:cNvSpPr>
                    <p:nvPr/>
                  </p:nvSpPr>
                  <p:spPr>
                    <a:xfrm>
                      <a:off x="2630541" y="6471960"/>
                      <a:ext cx="713657" cy="369332"/>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6" name="矩形 105"/>
                    <p:cNvSpPr/>
                    <p:nvPr/>
                  </p:nvSpPr>
                  <p:spPr>
                    <a:xfrm>
                      <a:off x="3171533" y="6450215"/>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3</m:t>
                            </m:r>
                            <m:r>
                              <a:rPr lang="en-US" b="0" i="0" smtClean="0">
                                <a:solidFill>
                                  <a:srgbClr val="FF0000"/>
                                </a:solidFill>
                                <a:latin typeface="Cambria Math" panose="02040503050406030204" pitchFamily="18" charset="0"/>
                                <a:ea typeface="Cambria Math" panose="02040503050406030204" pitchFamily="18" charset="0"/>
                              </a:rPr>
                              <m:t>60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6" name="矩形 105"/>
                    <p:cNvSpPr>
                      <a:spLocks noRot="1" noChangeAspect="1" noMove="1" noResize="1" noEditPoints="1" noAdjustHandles="1" noChangeArrowheads="1" noChangeShapeType="1" noTextEdit="1"/>
                    </p:cNvSpPr>
                    <p:nvPr/>
                  </p:nvSpPr>
                  <p:spPr>
                    <a:xfrm>
                      <a:off x="3171533" y="6450215"/>
                      <a:ext cx="713657" cy="369332"/>
                    </a:xfrm>
                    <a:prstGeom prst="rect">
                      <a:avLst/>
                    </a:prstGeom>
                    <a:blipFill rotWithShape="1">
                      <a:blip r:embed="rId6"/>
                    </a:blipFill>
                  </p:spPr>
                  <p:txBody>
                    <a:bodyPr/>
                    <a:lstStyle/>
                    <a:p>
                      <a:r>
                        <a:rPr lang="zh-CN" altLang="en-US">
                          <a:noFill/>
                        </a:rPr>
                        <a:t> </a:t>
                      </a:r>
                    </a:p>
                  </p:txBody>
                </p:sp>
              </mc:Fallback>
            </mc:AlternateContent>
            <p:sp>
              <p:nvSpPr>
                <p:cNvPr id="107" name="矩形 106"/>
                <p:cNvSpPr/>
                <p:nvPr/>
              </p:nvSpPr>
              <p:spPr>
                <a:xfrm>
                  <a:off x="1279449" y="5520177"/>
                  <a:ext cx="754380" cy="368300"/>
                </a:xfrm>
                <a:prstGeom prst="rect">
                  <a:avLst/>
                </a:prstGeom>
              </p:spPr>
              <p:txBody>
                <a:bodyPr wrap="none">
                  <a:spAutoFit/>
                </a:bodyPr>
                <a:lstStyle/>
                <a:p>
                  <a:pPr algn="l"/>
                  <a:r>
                    <a:rPr lang="en-US" altLang="zh-CN" dirty="0"/>
                    <a:t>Intake</a:t>
                  </a:r>
                  <a:endParaRPr lang="en-US" altLang="zh-CN" dirty="0"/>
                </a:p>
              </p:txBody>
            </p:sp>
            <p:sp>
              <p:nvSpPr>
                <p:cNvPr id="108" name="矩形 107"/>
                <p:cNvSpPr/>
                <p:nvPr/>
              </p:nvSpPr>
              <p:spPr>
                <a:xfrm>
                  <a:off x="1570390" y="6051714"/>
                  <a:ext cx="1256030" cy="337185"/>
                </a:xfrm>
                <a:prstGeom prst="rect">
                  <a:avLst/>
                </a:prstGeom>
              </p:spPr>
              <p:txBody>
                <a:bodyPr wrap="none">
                  <a:spAutoFit/>
                </a:bodyPr>
                <a:lstStyle/>
                <a:p>
                  <a:pPr algn="l"/>
                  <a:r>
                    <a:rPr lang="en-US" altLang="zh-CN" sz="1600" dirty="0"/>
                    <a:t>Compression</a:t>
                  </a:r>
                  <a:endParaRPr lang="en-US" altLang="zh-CN" sz="1600" dirty="0"/>
                </a:p>
              </p:txBody>
            </p:sp>
            <p:sp>
              <p:nvSpPr>
                <p:cNvPr id="109" name="矩形 108"/>
                <p:cNvSpPr/>
                <p:nvPr/>
              </p:nvSpPr>
              <p:spPr>
                <a:xfrm>
                  <a:off x="2346220" y="5818864"/>
                  <a:ext cx="767080" cy="368300"/>
                </a:xfrm>
                <a:prstGeom prst="rect">
                  <a:avLst/>
                </a:prstGeom>
              </p:spPr>
              <p:txBody>
                <a:bodyPr wrap="none">
                  <a:spAutoFit/>
                </a:bodyPr>
                <a:lstStyle/>
                <a:p>
                  <a:pPr algn="l"/>
                  <a:r>
                    <a:rPr lang="en-US" altLang="zh-CN" dirty="0"/>
                    <a:t>Power</a:t>
                  </a:r>
                  <a:endParaRPr lang="en-US" altLang="zh-CN" dirty="0"/>
                </a:p>
              </p:txBody>
            </p:sp>
            <p:sp>
              <p:nvSpPr>
                <p:cNvPr id="110" name="矩形 109"/>
                <p:cNvSpPr/>
                <p:nvPr/>
              </p:nvSpPr>
              <p:spPr>
                <a:xfrm>
                  <a:off x="2915292" y="6039945"/>
                  <a:ext cx="837565" cy="337185"/>
                </a:xfrm>
                <a:prstGeom prst="rect">
                  <a:avLst/>
                </a:prstGeom>
              </p:spPr>
              <p:txBody>
                <a:bodyPr wrap="none">
                  <a:spAutoFit/>
                </a:bodyPr>
                <a:lstStyle/>
                <a:p>
                  <a:r>
                    <a:rPr lang="en-US" altLang="zh-CN" sz="1600" dirty="0">
                      <a:solidFill>
                        <a:srgbClr val="000000"/>
                      </a:solidFill>
                      <a:ea typeface="楷体_GB2312" pitchFamily="49" charset="-122"/>
                    </a:rPr>
                    <a:t>Exhaust</a:t>
                  </a:r>
                  <a:endParaRPr lang="en-US" altLang="zh-CN" sz="1600" dirty="0">
                    <a:solidFill>
                      <a:srgbClr val="000000"/>
                    </a:solidFill>
                    <a:ea typeface="楷体_GB2312" pitchFamily="49" charset="-122"/>
                  </a:endParaRPr>
                </a:p>
              </p:txBody>
            </p:sp>
            <p:cxnSp>
              <p:nvCxnSpPr>
                <p:cNvPr id="111" name="直接连接符 110"/>
                <p:cNvCxnSpPr/>
                <p:nvPr/>
              </p:nvCxnSpPr>
              <p:spPr bwMode="auto">
                <a:xfrm flipV="1">
                  <a:off x="1279765" y="5658130"/>
                  <a:ext cx="0" cy="8009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矩形 111"/>
                <p:cNvSpPr/>
                <p:nvPr/>
              </p:nvSpPr>
              <p:spPr>
                <a:xfrm>
                  <a:off x="-491490" y="5848958"/>
                  <a:ext cx="1969135" cy="368300"/>
                </a:xfrm>
                <a:prstGeom prst="rect">
                  <a:avLst/>
                </a:prstGeom>
              </p:spPr>
              <p:txBody>
                <a:bodyPr wrap="none">
                  <a:spAutoFit/>
                </a:bodyPr>
                <a:lstStyle/>
                <a:p>
                  <a:pPr algn="l"/>
                  <a:r>
                    <a:rPr lang="en-US" altLang="zh-CN" dirty="0"/>
                    <a:t>Intake Valve Opens</a:t>
                  </a:r>
                  <a:endParaRPr lang="en-US" altLang="zh-CN" dirty="0"/>
                </a:p>
              </p:txBody>
            </p:sp>
            <p:sp>
              <p:nvSpPr>
                <p:cNvPr id="113" name="矩形 112"/>
                <p:cNvSpPr/>
                <p:nvPr/>
              </p:nvSpPr>
              <p:spPr>
                <a:xfrm>
                  <a:off x="-491684" y="6228943"/>
                  <a:ext cx="1994535" cy="368300"/>
                </a:xfrm>
                <a:prstGeom prst="rect">
                  <a:avLst/>
                </a:prstGeom>
              </p:spPr>
              <p:txBody>
                <a:bodyPr wrap="none">
                  <a:spAutoFit/>
                </a:bodyPr>
                <a:lstStyle/>
                <a:p>
                  <a:pPr algn="l"/>
                  <a:r>
                    <a:rPr lang="en-US" altLang="zh-CN" dirty="0"/>
                    <a:t>Intake Valve Closes</a:t>
                  </a:r>
                  <a:endParaRPr lang="en-US" altLang="zh-CN" dirty="0"/>
                </a:p>
              </p:txBody>
            </p:sp>
            <p:sp>
              <p:nvSpPr>
                <p:cNvPr id="114" name="矩形 113"/>
                <p:cNvSpPr/>
                <p:nvPr/>
              </p:nvSpPr>
              <p:spPr>
                <a:xfrm>
                  <a:off x="4247100" y="5860100"/>
                  <a:ext cx="1116330" cy="922020"/>
                </a:xfrm>
                <a:prstGeom prst="rect">
                  <a:avLst/>
                </a:prstGeom>
              </p:spPr>
              <p:txBody>
                <a:bodyPr wrap="none">
                  <a:spAutoFit/>
                </a:bodyPr>
                <a:lstStyle/>
                <a:p>
                  <a:pPr algn="l"/>
                  <a:r>
                    <a:rPr lang="en-US" altLang="zh-CN" dirty="0"/>
                    <a:t>Camshaft </a:t>
                  </a:r>
                  <a:endParaRPr lang="en-US" altLang="zh-CN" dirty="0"/>
                </a:p>
                <a:p>
                  <a:pPr algn="l"/>
                  <a:r>
                    <a:rPr lang="en-US" altLang="zh-CN" dirty="0"/>
                    <a:t>Angular </a:t>
                  </a:r>
                  <a:endParaRPr lang="en-US" altLang="zh-CN" dirty="0"/>
                </a:p>
                <a:p>
                  <a:pPr algn="l"/>
                  <a:r>
                    <a:rPr lang="en-US" altLang="zh-CN" dirty="0"/>
                    <a:t>Position</a:t>
                  </a:r>
                  <a:endParaRPr lang="en-US" altLang="zh-CN" dirty="0"/>
                </a:p>
              </p:txBody>
            </p:sp>
            <p:cxnSp>
              <p:nvCxnSpPr>
                <p:cNvPr id="115" name="直接连接符 114"/>
                <p:cNvCxnSpPr/>
                <p:nvPr/>
              </p:nvCxnSpPr>
              <p:spPr bwMode="auto">
                <a:xfrm>
                  <a:off x="3465435" y="6044015"/>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矩形 115"/>
                <p:cNvSpPr/>
                <p:nvPr/>
              </p:nvSpPr>
              <p:spPr>
                <a:xfrm>
                  <a:off x="3410666" y="5649350"/>
                  <a:ext cx="690880" cy="337185"/>
                </a:xfrm>
                <a:prstGeom prst="rect">
                  <a:avLst/>
                </a:prstGeom>
              </p:spPr>
              <p:txBody>
                <a:bodyPr wrap="none">
                  <a:spAutoFit/>
                </a:bodyPr>
                <a:lstStyle/>
                <a:p>
                  <a:r>
                    <a:rPr lang="en-US" altLang="zh-CN" sz="1600" dirty="0">
                      <a:solidFill>
                        <a:srgbClr val="000000"/>
                      </a:solidFill>
                      <a:ea typeface="楷体_GB2312" pitchFamily="49" charset="-122"/>
                    </a:rPr>
                    <a:t>Intake</a:t>
                  </a:r>
                  <a:endParaRPr lang="en-US" altLang="zh-CN" sz="1600" dirty="0">
                    <a:solidFill>
                      <a:srgbClr val="000000"/>
                    </a:solidFill>
                    <a:ea typeface="楷体_GB2312" pitchFamily="49" charset="-122"/>
                  </a:endParaRPr>
                </a:p>
              </p:txBody>
            </p:sp>
            <mc:AlternateContent xmlns:mc="http://schemas.openxmlformats.org/markup-compatibility/2006">
              <mc:Choice xmlns:a14="http://schemas.microsoft.com/office/drawing/2010/main" Requires="a14">
                <p:sp>
                  <p:nvSpPr>
                    <p:cNvPr id="117" name="矩形 116"/>
                    <p:cNvSpPr/>
                    <p:nvPr/>
                  </p:nvSpPr>
                  <p:spPr>
                    <a:xfrm>
                      <a:off x="3727678" y="6450802"/>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4</m:t>
                            </m:r>
                            <m:r>
                              <a:rPr lang="en-US" b="0" i="1" smtClean="0">
                                <a:solidFill>
                                  <a:srgbClr val="FF0000"/>
                                </a:solidFill>
                                <a:latin typeface="Cambria Math" panose="02040503050406030204" pitchFamily="18" charset="0"/>
                                <a:ea typeface="Cambria Math" panose="02040503050406030204" pitchFamily="18" charset="0"/>
                              </a:rPr>
                              <m:t>50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17" name="矩形 116"/>
                    <p:cNvSpPr>
                      <a:spLocks noRot="1" noChangeAspect="1" noMove="1" noResize="1" noEditPoints="1" noAdjustHandles="1" noChangeArrowheads="1" noChangeShapeType="1" noTextEdit="1"/>
                    </p:cNvSpPr>
                    <p:nvPr/>
                  </p:nvSpPr>
                  <p:spPr>
                    <a:xfrm>
                      <a:off x="3727678" y="6450802"/>
                      <a:ext cx="713657" cy="369332"/>
                    </a:xfrm>
                    <a:prstGeom prst="rect">
                      <a:avLst/>
                    </a:prstGeom>
                    <a:blipFill rotWithShape="1">
                      <a:blip r:embed="rId14"/>
                    </a:blipFill>
                  </p:spPr>
                  <p:txBody>
                    <a:bodyPr/>
                    <a:lstStyle/>
                    <a:p>
                      <a:r>
                        <a:rPr lang="zh-CN" altLang="en-US">
                          <a:noFill/>
                        </a:rPr>
                        <a:t> </a:t>
                      </a:r>
                    </a:p>
                  </p:txBody>
                </p:sp>
              </mc:Fallback>
            </mc:AlternateContent>
            <p:cxnSp>
              <p:nvCxnSpPr>
                <p:cNvPr id="118" name="直接连接符 117"/>
                <p:cNvCxnSpPr/>
                <p:nvPr/>
              </p:nvCxnSpPr>
              <p:spPr bwMode="auto">
                <a:xfrm>
                  <a:off x="1827717" y="6456784"/>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接连接符 118"/>
                <p:cNvCxnSpPr/>
                <p:nvPr/>
              </p:nvCxnSpPr>
              <p:spPr bwMode="auto">
                <a:xfrm>
                  <a:off x="2367717" y="6454765"/>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a:off x="2925435" y="6458983"/>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9" name="矩形 98"/>
              <p:cNvSpPr/>
              <p:nvPr/>
            </p:nvSpPr>
            <p:spPr>
              <a:xfrm>
                <a:off x="4696895" y="5589690"/>
                <a:ext cx="1714708" cy="645160"/>
              </a:xfrm>
              <a:prstGeom prst="rect">
                <a:avLst/>
              </a:prstGeom>
            </p:spPr>
            <p:txBody>
              <a:bodyPr wrap="none">
                <a:spAutoFit/>
              </a:bodyPr>
              <a:lstStyle/>
              <a:p>
                <a:pPr algn="ctr"/>
                <a:r>
                  <a:rPr lang="en-US" altLang="zh-CN" b="1" dirty="0">
                    <a:solidFill>
                      <a:srgbClr val="FF0000"/>
                    </a:solidFill>
                    <a:latin typeface="楷体" panose="02010609060101010101" pitchFamily="49" charset="-122"/>
                    <a:ea typeface="楷体" panose="02010609060101010101" pitchFamily="49" charset="-122"/>
                  </a:rPr>
                  <a:t>gear drive</a:t>
                </a:r>
                <a:endParaRPr lang="en-US" altLang="zh-CN" b="1" dirty="0">
                  <a:solidFill>
                    <a:srgbClr val="FF0000"/>
                  </a:solidFill>
                  <a:latin typeface="楷体" panose="02010609060101010101" pitchFamily="49" charset="-122"/>
                  <a:ea typeface="楷体" panose="02010609060101010101" pitchFamily="49" charset="-122"/>
                </a:endParaRPr>
              </a:p>
              <a:p>
                <a:pPr algn="ctr"/>
                <a:r>
                  <a:rPr lang="zh-CN" altLang="en-US" b="1" dirty="0">
                    <a:solidFill>
                      <a:srgbClr val="FF0000"/>
                    </a:solidFill>
                    <a:latin typeface="楷体" panose="02010609060101010101" pitchFamily="49" charset="-122"/>
                    <a:ea typeface="楷体" panose="02010609060101010101" pitchFamily="49" charset="-122"/>
                  </a:rPr>
                  <a:t>（</a:t>
                </a:r>
                <a:r>
                  <a:rPr lang="en-US" altLang="zh-CN" b="1" dirty="0">
                    <a:solidFill>
                      <a:srgbClr val="FF0000"/>
                    </a:solidFill>
                    <a:latin typeface="楷体" panose="02010609060101010101" pitchFamily="49" charset="-122"/>
                    <a:ea typeface="楷体" panose="02010609060101010101" pitchFamily="49" charset="-122"/>
                  </a:rPr>
                  <a:t>ratio 1:2</a:t>
                </a:r>
                <a:r>
                  <a:rPr lang="zh-CN" altLang="en-US" b="1" dirty="0">
                    <a:solidFill>
                      <a:srgbClr val="FF0000"/>
                    </a:solidFill>
                    <a:latin typeface="楷体" panose="02010609060101010101" pitchFamily="49" charset="-122"/>
                    <a:ea typeface="楷体" panose="02010609060101010101" pitchFamily="49" charset="-122"/>
                  </a:rPr>
                  <a:t>）</a:t>
                </a:r>
                <a:endParaRPr lang="en-AU" b="1" dirty="0">
                  <a:solidFill>
                    <a:srgbClr val="FF0000"/>
                  </a:solidFill>
                  <a:latin typeface="楷体" panose="02010609060101010101" pitchFamily="49" charset="-122"/>
                  <a:ea typeface="楷体" panose="02010609060101010101" pitchFamily="49" charset="-122"/>
                </a:endParaRPr>
              </a:p>
            </p:txBody>
          </p:sp>
        </p:grpSp>
      </p:grpSp>
      <p:sp>
        <p:nvSpPr>
          <p:cNvPr id="124" name="矩形 123"/>
          <p:cNvSpPr/>
          <p:nvPr/>
        </p:nvSpPr>
        <p:spPr>
          <a:xfrm>
            <a:off x="313173" y="1385307"/>
            <a:ext cx="5298245" cy="64516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Step 1: Determine requirements (when should intake valve open/close?)</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125" name="文本框 124"/>
          <p:cNvSpPr txBox="1"/>
          <p:nvPr/>
        </p:nvSpPr>
        <p:spPr>
          <a:xfrm>
            <a:off x="400685" y="975995"/>
            <a:ext cx="11650980" cy="398780"/>
          </a:xfrm>
          <a:prstGeom prst="rect">
            <a:avLst/>
          </a:prstGeom>
          <a:noFill/>
        </p:spPr>
        <p:txBody>
          <a:bodyPr wrap="square">
            <a:spAutoFit/>
          </a:bodyPr>
          <a:lstStyle/>
          <a:p>
            <a:pPr algn="ctr"/>
            <a:r>
              <a:rPr lang="zh-CN" altLang="en-US" sz="2000" b="1" dirty="0">
                <a:solidFill>
                  <a:srgbClr val="201E84"/>
                </a:solidFill>
                <a:latin typeface="微软雅黑" panose="020B0503020204020204" pitchFamily="34" charset="-122"/>
                <a:ea typeface="微软雅黑" panose="020B0503020204020204" pitchFamily="34" charset="-122"/>
              </a:rPr>
              <a:t>How to achieve precise intake valve control under dynamic, uncertain combustion?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21" name="矩形 120"/>
          <p:cNvSpPr/>
          <p:nvPr/>
        </p:nvSpPr>
        <p:spPr>
          <a:xfrm>
            <a:off x="6804660" y="2531745"/>
            <a:ext cx="1402715" cy="922020"/>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Intake Valve State:</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23" name="矩形 122"/>
          <p:cNvSpPr/>
          <p:nvPr/>
        </p:nvSpPr>
        <p:spPr>
          <a:xfrm>
            <a:off x="7865110" y="2638425"/>
            <a:ext cx="792480" cy="33718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Open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26" name="矩形 125"/>
          <p:cNvSpPr/>
          <p:nvPr/>
        </p:nvSpPr>
        <p:spPr>
          <a:xfrm>
            <a:off x="8889365" y="2595880"/>
            <a:ext cx="1035050"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Closed</a:t>
            </a:r>
            <a:endParaRPr lang="zh-CN" altLang="en-US" sz="1600" b="1"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5146880" y="4657310"/>
            <a:ext cx="1113633" cy="1056562"/>
            <a:chOff x="5479653" y="4652617"/>
            <a:chExt cx="1113633" cy="1056562"/>
          </a:xfrm>
        </p:grpSpPr>
        <p:grpSp>
          <p:nvGrpSpPr>
            <p:cNvPr id="3" name="组合 2"/>
            <p:cNvGrpSpPr/>
            <p:nvPr/>
          </p:nvGrpSpPr>
          <p:grpSpPr>
            <a:xfrm>
              <a:off x="5479653" y="4989179"/>
              <a:ext cx="1084898" cy="720000"/>
              <a:chOff x="9880324" y="546946"/>
              <a:chExt cx="1084898" cy="720000"/>
            </a:xfrm>
          </p:grpSpPr>
          <p:sp>
            <p:nvSpPr>
              <p:cNvPr id="2" name="椭圆 1"/>
              <p:cNvSpPr/>
              <p:nvPr/>
            </p:nvSpPr>
            <p:spPr bwMode="auto">
              <a:xfrm>
                <a:off x="10605222" y="700669"/>
                <a:ext cx="360000" cy="36000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zh-CN" altLang="en-US"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29" name="椭圆 128"/>
              <p:cNvSpPr/>
              <p:nvPr/>
            </p:nvSpPr>
            <p:spPr bwMode="auto">
              <a:xfrm>
                <a:off x="9880324" y="546946"/>
                <a:ext cx="720000" cy="72000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zh-CN" altLang="en-US"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130" name="文本框 129"/>
            <p:cNvSpPr txBox="1"/>
            <p:nvPr/>
          </p:nvSpPr>
          <p:spPr>
            <a:xfrm>
              <a:off x="6220811" y="4792193"/>
              <a:ext cx="372475" cy="369332"/>
            </a:xfrm>
            <a:prstGeom prst="rect">
              <a:avLst/>
            </a:prstGeom>
            <a:noFill/>
          </p:spPr>
          <p:txBody>
            <a:bodyPr wrap="square">
              <a:spAutoFit/>
            </a:bodyPr>
            <a:lstStyle/>
            <a:p>
              <a:r>
                <a:rPr lang="en-US" altLang="zh-CN" sz="1800" b="1" dirty="0">
                  <a:solidFill>
                    <a:srgbClr val="FF0000"/>
                  </a:solidFill>
                  <a:latin typeface="Cambria Math" panose="02040503050406030204" pitchFamily="18" charset="0"/>
                  <a:ea typeface="Cambria Math" panose="02040503050406030204" pitchFamily="18" charset="0"/>
                </a:rPr>
                <a:t>1</a:t>
              </a:r>
              <a:endParaRPr lang="zh-CN" altLang="en-US" dirty="0"/>
            </a:p>
          </p:txBody>
        </p:sp>
        <p:sp>
          <p:nvSpPr>
            <p:cNvPr id="131" name="文本框 130"/>
            <p:cNvSpPr txBox="1"/>
            <p:nvPr/>
          </p:nvSpPr>
          <p:spPr>
            <a:xfrm>
              <a:off x="5666728" y="4652617"/>
              <a:ext cx="372475" cy="369332"/>
            </a:xfrm>
            <a:prstGeom prst="rect">
              <a:avLst/>
            </a:prstGeom>
            <a:noFill/>
          </p:spPr>
          <p:txBody>
            <a:bodyPr wrap="square">
              <a:spAutoFit/>
            </a:bodyPr>
            <a:lstStyle/>
            <a:p>
              <a:r>
                <a:rPr lang="en-US" altLang="zh-CN" sz="1800" b="1" dirty="0">
                  <a:solidFill>
                    <a:srgbClr val="FF0000"/>
                  </a:solidFill>
                  <a:latin typeface="Cambria Math" panose="02040503050406030204" pitchFamily="18" charset="0"/>
                  <a:ea typeface="Cambria Math" panose="02040503050406030204" pitchFamily="18" charset="0"/>
                </a:rPr>
                <a:t>2</a:t>
              </a:r>
              <a:endParaRPr lang="zh-CN" altLang="en-US" dirty="0"/>
            </a:p>
          </p:txBody>
        </p:sp>
      </p:grpSp>
      <p:pic>
        <p:nvPicPr>
          <p:cNvPr id="7" name="图片 6"/>
          <p:cNvPicPr>
            <a:picLocks noChangeAspect="1"/>
          </p:cNvPicPr>
          <p:nvPr/>
        </p:nvPicPr>
        <p:blipFill>
          <a:blip r:embed="rId15"/>
          <a:stretch>
            <a:fillRect/>
          </a:stretch>
        </p:blipFill>
        <p:spPr>
          <a:xfrm>
            <a:off x="4559387" y="1915832"/>
            <a:ext cx="2271488" cy="2359077"/>
          </a:xfrm>
          <a:prstGeom prst="rect">
            <a:avLst/>
          </a:prstGeom>
        </p:spPr>
      </p:pic>
      <p:pic>
        <p:nvPicPr>
          <p:cNvPr id="9" name="图片 8"/>
          <p:cNvPicPr>
            <a:picLocks noChangeAspect="1"/>
          </p:cNvPicPr>
          <p:nvPr/>
        </p:nvPicPr>
        <p:blipFill>
          <a:blip r:embed="rId16"/>
          <a:stretch>
            <a:fillRect/>
          </a:stretch>
        </p:blipFill>
        <p:spPr>
          <a:xfrm>
            <a:off x="3864051" y="3813239"/>
            <a:ext cx="1093722" cy="1614183"/>
          </a:xfrm>
          <a:prstGeom prst="rect">
            <a:avLst/>
          </a:prstGeom>
        </p:spPr>
      </p:pic>
      <p:sp>
        <p:nvSpPr>
          <p:cNvPr id="140" name="矩形 139"/>
          <p:cNvSpPr/>
          <p:nvPr/>
        </p:nvSpPr>
        <p:spPr>
          <a:xfrm>
            <a:off x="400685" y="5075555"/>
            <a:ext cx="2835275" cy="645160"/>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What is the function of gear transmission?</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4" name="矩形 3"/>
          <p:cNvSpPr/>
          <p:nvPr/>
        </p:nvSpPr>
        <p:spPr>
          <a:xfrm>
            <a:off x="10162540" y="2588260"/>
            <a:ext cx="1035050"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Closed</a:t>
            </a:r>
            <a:endParaRPr lang="zh-CN" altLang="en-US" sz="1600" b="1" dirty="0">
              <a:latin typeface="微软雅黑" panose="020B0503020204020204" pitchFamily="34" charset="-122"/>
              <a:ea typeface="微软雅黑" panose="020B0503020204020204" pitchFamily="34" charset="-122"/>
            </a:endParaRPr>
          </a:p>
        </p:txBody>
      </p:sp>
      <p:sp>
        <p:nvSpPr>
          <p:cNvPr id="6" name="矩形 5"/>
          <p:cNvSpPr/>
          <p:nvPr/>
        </p:nvSpPr>
        <p:spPr>
          <a:xfrm>
            <a:off x="11193145" y="2595880"/>
            <a:ext cx="1035050"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Closed</a:t>
            </a:r>
            <a:endParaRPr lang="zh-CN" altLang="en-US" sz="1600" b="1" dirty="0">
              <a:latin typeface="微软雅黑" panose="020B0503020204020204" pitchFamily="34" charset="-122"/>
              <a:ea typeface="微软雅黑" panose="020B0503020204020204" pitchFamily="34" charset="-122"/>
            </a:endParaRPr>
          </a:p>
        </p:txBody>
      </p:sp>
      <p:sp>
        <p:nvSpPr>
          <p:cNvPr id="25" name="Text Box 23"/>
          <p:cNvSpPr txBox="1">
            <a:spLocks noChangeArrowheads="1"/>
          </p:cNvSpPr>
          <p:nvPr/>
        </p:nvSpPr>
        <p:spPr bwMode="auto">
          <a:xfrm>
            <a:off x="-51435" y="458152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124460" y="353187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1368343" y="363521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1385476" y="404218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507479" y="204077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47650" y="287147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1327601" y="224083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0" name="Line 24"/>
          <p:cNvSpPr>
            <a:spLocks noChangeShapeType="1"/>
          </p:cNvSpPr>
          <p:nvPr/>
        </p:nvSpPr>
        <p:spPr bwMode="auto">
          <a:xfrm flipH="1">
            <a:off x="1385477" y="253864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1" name="Line 24"/>
          <p:cNvSpPr>
            <a:spLocks noChangeShapeType="1"/>
          </p:cNvSpPr>
          <p:nvPr/>
        </p:nvSpPr>
        <p:spPr bwMode="auto">
          <a:xfrm flipV="1">
            <a:off x="2760063" y="273660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3797906" y="258822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3050415" y="427788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2" name="Text Box 23"/>
          <p:cNvSpPr txBox="1">
            <a:spLocks noChangeArrowheads="1"/>
          </p:cNvSpPr>
          <p:nvPr/>
        </p:nvSpPr>
        <p:spPr bwMode="auto">
          <a:xfrm>
            <a:off x="3595370" y="298958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5" name="Line 24"/>
          <p:cNvSpPr>
            <a:spLocks noChangeShapeType="1"/>
          </p:cNvSpPr>
          <p:nvPr/>
        </p:nvSpPr>
        <p:spPr bwMode="auto">
          <a:xfrm flipV="1">
            <a:off x="2361809" y="320278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3098165" y="5172075"/>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mediacall" presetSubtype="0" fill="hold" nodeType="clickEffect">
                                  <p:stCondLst>
                                    <p:cond delay="0"/>
                                  </p:stCondLst>
                                  <p:childTnLst>
                                    <p:cmd type="call" cmd="playFrom(0.0)">
                                      <p:cBhvr>
                                        <p:cTn id="56" dur="3366" fill="hold"/>
                                        <p:tgtEl>
                                          <p:spTgt spid="23"/>
                                        </p:tgtEl>
                                      </p:cBhvr>
                                    </p:cmd>
                                  </p:childTnLst>
                                </p:cTn>
                              </p:par>
                            </p:childTnLst>
                          </p:cTn>
                        </p:par>
                      </p:childTnLst>
                    </p:cTn>
                  </p:par>
                  <p:par>
                    <p:cTn id="57" fill="hold">
                      <p:stCondLst>
                        <p:cond delay="indefinite"/>
                      </p:stCondLst>
                      <p:childTnLst>
                        <p:par>
                          <p:cTn id="58" fill="hold">
                            <p:stCondLst>
                              <p:cond delay="0"/>
                            </p:stCondLst>
                            <p:childTnLst>
                              <p:par>
                                <p:cTn id="59" presetID="2" presetClass="mediacall" presetSubtype="0" fill="hold" nodeType="clickEffect">
                                  <p:stCondLst>
                                    <p:cond delay="0"/>
                                  </p:stCondLst>
                                  <p:childTnLst>
                                    <p:cmd type="call" cmd="togglePause">
                                      <p:cBhvr>
                                        <p:cTn id="60"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61" restart="whenNotActive" fill="hold" evtFilter="cancelBubble" nodeType="interactiveSeq">
                <p:stCondLst>
                  <p:cond evt="onClick" delay="0">
                    <p:tgtEl>
                      <p:spTgt spid="23"/>
                    </p:tgtEl>
                  </p:cond>
                </p:stCondLst>
                <p:endSync evt="end" delay="0">
                  <p:rtn val="all"/>
                </p:endSync>
                <p:childTnLst>
                  <p:par>
                    <p:cTn id="62" fill="hold">
                      <p:stCondLst>
                        <p:cond delay="0"/>
                      </p:stCondLst>
                      <p:childTnLst>
                        <p:par>
                          <p:cTn id="63" fill="hold">
                            <p:stCondLst>
                              <p:cond delay="0"/>
                            </p:stCondLst>
                            <p:childTnLst>
                              <p:par>
                                <p:cTn id="64" presetID="2" presetClass="mediacall" presetSubtype="0" fill="hold" nodeType="clickEffect">
                                  <p:stCondLst>
                                    <p:cond delay="0"/>
                                  </p:stCondLst>
                                  <p:childTnLst>
                                    <p:cmd type="call" cmd="togglePause">
                                      <p:cBhvr>
                                        <p:cTn id="65" dur="1" fill="hold"/>
                                        <p:tgtEl>
                                          <p:spTgt spid="23"/>
                                        </p:tgtEl>
                                      </p:cBhvr>
                                    </p:cmd>
                                  </p:childTnLst>
                                </p:cTn>
                              </p:par>
                            </p:childTnLst>
                          </p:cTn>
                        </p:par>
                      </p:childTnLst>
                    </p:cTn>
                  </p:par>
                </p:childTnLst>
              </p:cTn>
              <p:nextCondLst>
                <p:cond evt="onClick" delay="0">
                  <p:tgtEl>
                    <p:spTgt spid="23"/>
                  </p:tgtEl>
                </p:cond>
              </p:nextCondLst>
            </p:seq>
            <p:video>
              <p:cMediaNode vol="80000">
                <p:cTn id="66" repeatCount="indefinite" fill="hold" display="0">
                  <p:stCondLst>
                    <p:cond delay="indefinite"/>
                  </p:stCondLst>
                </p:cTn>
                <p:tgtEl>
                  <p:spTgt spid="23"/>
                </p:tgtEl>
              </p:cMediaNode>
            </p:video>
          </p:childTnLst>
        </p:cTn>
      </p:par>
    </p:tnLst>
    <p:bldLst>
      <p:bldP spid="51" grpId="0"/>
      <p:bldP spid="52" grpId="0"/>
      <p:bldP spid="91" grpId="0"/>
      <p:bldP spid="92" grpId="0"/>
      <p:bldP spid="93" grpId="0"/>
      <p:bldP spid="94" grpId="0"/>
      <p:bldP spid="123" grpId="0"/>
      <p:bldP spid="126" grpId="0"/>
      <p:bldP spid="140" grpId="0"/>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3128" y="1915517"/>
            <a:ext cx="4492636" cy="3369477"/>
          </a:xfrm>
          <a:prstGeom prst="rect">
            <a:avLst/>
          </a:prstGeom>
        </p:spPr>
      </p:pic>
      <p:sp>
        <p:nvSpPr>
          <p:cNvPr id="24" name="矩形 23"/>
          <p:cNvSpPr/>
          <p:nvPr/>
        </p:nvSpPr>
        <p:spPr bwMode="auto">
          <a:xfrm>
            <a:off x="318034" y="2031578"/>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TextBox 8"/>
          <p:cNvSpPr txBox="1"/>
          <p:nvPr/>
        </p:nvSpPr>
        <p:spPr>
          <a:xfrm>
            <a:off x="1007745" y="319405"/>
            <a:ext cx="92094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3-1 Characteristics and Applications of Cam Mechanisms</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pic>
        <p:nvPicPr>
          <p:cNvPr id="36" name="图片 35"/>
          <p:cNvPicPr>
            <a:picLocks noChangeAspect="1"/>
          </p:cNvPicPr>
          <p:nvPr/>
        </p:nvPicPr>
        <p:blipFill>
          <a:blip r:embed="rId4"/>
          <a:stretch>
            <a:fillRect/>
          </a:stretch>
        </p:blipFill>
        <p:spPr>
          <a:xfrm rot="18644243">
            <a:off x="959333" y="1889462"/>
            <a:ext cx="436376" cy="585720"/>
          </a:xfrm>
          <a:prstGeom prst="rect">
            <a:avLst/>
          </a:prstGeom>
        </p:spPr>
      </p:pic>
      <p:pic>
        <p:nvPicPr>
          <p:cNvPr id="37" name="图片 36"/>
          <p:cNvPicPr>
            <a:picLocks noChangeAspect="1"/>
          </p:cNvPicPr>
          <p:nvPr/>
        </p:nvPicPr>
        <p:blipFill>
          <a:blip r:embed="rId4"/>
          <a:stretch>
            <a:fillRect/>
          </a:stretch>
        </p:blipFill>
        <p:spPr>
          <a:xfrm rot="16200000">
            <a:off x="883297" y="1278137"/>
            <a:ext cx="228474" cy="964549"/>
          </a:xfrm>
          <a:prstGeom prst="rect">
            <a:avLst/>
          </a:prstGeom>
        </p:spPr>
      </p:pic>
      <p:pic>
        <p:nvPicPr>
          <p:cNvPr id="40" name="图片 39"/>
          <p:cNvPicPr>
            <a:picLocks noChangeAspect="1"/>
          </p:cNvPicPr>
          <p:nvPr/>
        </p:nvPicPr>
        <p:blipFill>
          <a:blip r:embed="rId4"/>
          <a:stretch>
            <a:fillRect/>
          </a:stretch>
        </p:blipFill>
        <p:spPr>
          <a:xfrm rot="18664587">
            <a:off x="802707" y="1694430"/>
            <a:ext cx="328815" cy="441373"/>
          </a:xfrm>
          <a:prstGeom prst="rect">
            <a:avLst/>
          </a:prstGeom>
        </p:spPr>
      </p:pic>
      <p:pic>
        <p:nvPicPr>
          <p:cNvPr id="45" name="图片 44"/>
          <p:cNvPicPr>
            <a:picLocks noChangeAspect="1"/>
          </p:cNvPicPr>
          <p:nvPr/>
        </p:nvPicPr>
        <p:blipFill>
          <a:blip r:embed="rId4"/>
          <a:stretch>
            <a:fillRect/>
          </a:stretch>
        </p:blipFill>
        <p:spPr>
          <a:xfrm>
            <a:off x="735414" y="1657827"/>
            <a:ext cx="70837" cy="354543"/>
          </a:xfrm>
          <a:prstGeom prst="rect">
            <a:avLst/>
          </a:prstGeom>
        </p:spPr>
      </p:pic>
      <p:pic>
        <p:nvPicPr>
          <p:cNvPr id="48" name="图片 47"/>
          <p:cNvPicPr>
            <a:picLocks noChangeAspect="1"/>
          </p:cNvPicPr>
          <p:nvPr/>
        </p:nvPicPr>
        <p:blipFill>
          <a:blip r:embed="rId4"/>
          <a:stretch>
            <a:fillRect/>
          </a:stretch>
        </p:blipFill>
        <p:spPr>
          <a:xfrm rot="18644243">
            <a:off x="2182166" y="1696061"/>
            <a:ext cx="332281" cy="450888"/>
          </a:xfrm>
          <a:prstGeom prst="rect">
            <a:avLst/>
          </a:prstGeom>
        </p:spPr>
      </p:pic>
      <p:pic>
        <p:nvPicPr>
          <p:cNvPr id="50" name="图片 49"/>
          <p:cNvPicPr>
            <a:picLocks noChangeAspect="1"/>
          </p:cNvPicPr>
          <p:nvPr/>
        </p:nvPicPr>
        <p:blipFill>
          <a:blip r:embed="rId4"/>
          <a:stretch>
            <a:fillRect/>
          </a:stretch>
        </p:blipFill>
        <p:spPr>
          <a:xfrm rot="18664587" flipH="1">
            <a:off x="598968" y="1684309"/>
            <a:ext cx="198327" cy="266217"/>
          </a:xfrm>
          <a:prstGeom prst="rect">
            <a:avLst/>
          </a:prstGeom>
        </p:spPr>
      </p:pic>
      <p:grpSp>
        <p:nvGrpSpPr>
          <p:cNvPr id="98" name="组合 97"/>
          <p:cNvGrpSpPr/>
          <p:nvPr/>
        </p:nvGrpSpPr>
        <p:grpSpPr>
          <a:xfrm rot="0">
            <a:off x="5422265" y="1642110"/>
            <a:ext cx="6308725" cy="1320800"/>
            <a:chOff x="-1337918" y="1780027"/>
            <a:chExt cx="6308817" cy="1321115"/>
          </a:xfrm>
        </p:grpSpPr>
        <p:cxnSp>
          <p:nvCxnSpPr>
            <p:cNvPr id="100" name="直接连接符 99"/>
            <p:cNvCxnSpPr/>
            <p:nvPr/>
          </p:nvCxnSpPr>
          <p:spPr bwMode="auto">
            <a:xfrm>
              <a:off x="870825" y="2707742"/>
              <a:ext cx="371826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01" name="矩形 100"/>
                <p:cNvSpPr/>
                <p:nvPr/>
              </p:nvSpPr>
              <p:spPr>
                <a:xfrm>
                  <a:off x="1143112" y="2720073"/>
                  <a:ext cx="58541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9</m:t>
                        </m:r>
                        <m:r>
                          <a:rPr lang="en-US" b="0" i="0" smtClean="0">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1" name="矩形 100"/>
                <p:cNvSpPr>
                  <a:spLocks noRot="1" noChangeAspect="1" noMove="1" noResize="1" noEditPoints="1" noAdjustHandles="1" noChangeArrowheads="1" noChangeShapeType="1" noTextEdit="1"/>
                </p:cNvSpPr>
                <p:nvPr/>
              </p:nvSpPr>
              <p:spPr>
                <a:xfrm>
                  <a:off x="1143112" y="2720073"/>
                  <a:ext cx="585417"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2" name="矩形 101"/>
                <p:cNvSpPr/>
                <p:nvPr/>
              </p:nvSpPr>
              <p:spPr>
                <a:xfrm>
                  <a:off x="1654399" y="2724994"/>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1</m:t>
                        </m:r>
                        <m:r>
                          <a:rPr lang="en-US" b="0" i="0" smtClean="0">
                            <a:solidFill>
                              <a:srgbClr val="FF0000"/>
                            </a:solidFill>
                            <a:latin typeface="Cambria Math" panose="02040503050406030204" pitchFamily="18" charset="0"/>
                            <a:ea typeface="Cambria Math" panose="02040503050406030204" pitchFamily="18" charset="0"/>
                          </a:rPr>
                          <m:t>80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2" name="矩形 101"/>
                <p:cNvSpPr>
                  <a:spLocks noRot="1" noChangeAspect="1" noMove="1" noResize="1" noEditPoints="1" noAdjustHandles="1" noChangeArrowheads="1" noChangeShapeType="1" noTextEdit="1"/>
                </p:cNvSpPr>
                <p:nvPr/>
              </p:nvSpPr>
              <p:spPr>
                <a:xfrm>
                  <a:off x="1654399" y="2724994"/>
                  <a:ext cx="713657"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 name="矩形 102"/>
                <p:cNvSpPr/>
                <p:nvPr/>
              </p:nvSpPr>
              <p:spPr>
                <a:xfrm>
                  <a:off x="704151" y="2715362"/>
                  <a:ext cx="45717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3" name="矩形 102"/>
                <p:cNvSpPr>
                  <a:spLocks noRot="1" noChangeAspect="1" noMove="1" noResize="1" noEditPoints="1" noAdjustHandles="1" noChangeArrowheads="1" noChangeShapeType="1" noTextEdit="1"/>
                </p:cNvSpPr>
                <p:nvPr/>
              </p:nvSpPr>
              <p:spPr>
                <a:xfrm>
                  <a:off x="704151" y="2715362"/>
                  <a:ext cx="457176" cy="369332"/>
                </a:xfrm>
                <a:prstGeom prst="rect">
                  <a:avLst/>
                </a:prstGeom>
                <a:blipFill rotWithShape="1">
                  <a:blip r:embed="rId7"/>
                </a:blipFill>
              </p:spPr>
              <p:txBody>
                <a:bodyPr/>
                <a:lstStyle/>
                <a:p>
                  <a:r>
                    <a:rPr lang="zh-CN" altLang="en-US">
                      <a:noFill/>
                    </a:rPr>
                    <a:t> </a:t>
                  </a:r>
                </a:p>
              </p:txBody>
            </p:sp>
          </mc:Fallback>
        </mc:AlternateContent>
        <p:cxnSp>
          <p:nvCxnSpPr>
            <p:cNvPr id="104" name="直接连接符 103"/>
            <p:cNvCxnSpPr/>
            <p:nvPr/>
          </p:nvCxnSpPr>
          <p:spPr bwMode="auto">
            <a:xfrm>
              <a:off x="870825" y="2321962"/>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05" name="矩形 104"/>
                <p:cNvSpPr/>
                <p:nvPr/>
              </p:nvSpPr>
              <p:spPr>
                <a:xfrm>
                  <a:off x="2221601" y="2731810"/>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2</m:t>
                        </m:r>
                        <m:r>
                          <a:rPr lang="en-US" b="0" i="0" smtClean="0">
                            <a:solidFill>
                              <a:srgbClr val="FF0000"/>
                            </a:solidFill>
                            <a:latin typeface="Cambria Math" panose="02040503050406030204" pitchFamily="18" charset="0"/>
                            <a:ea typeface="Cambria Math" panose="02040503050406030204" pitchFamily="18" charset="0"/>
                          </a:rPr>
                          <m:t>70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5" name="矩形 104"/>
                <p:cNvSpPr>
                  <a:spLocks noRot="1" noChangeAspect="1" noMove="1" noResize="1" noEditPoints="1" noAdjustHandles="1" noChangeArrowheads="1" noChangeShapeType="1" noTextEdit="1"/>
                </p:cNvSpPr>
                <p:nvPr/>
              </p:nvSpPr>
              <p:spPr>
                <a:xfrm>
                  <a:off x="2221601" y="2731810"/>
                  <a:ext cx="713657" cy="369332"/>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6" name="矩形 105"/>
                <p:cNvSpPr/>
                <p:nvPr/>
              </p:nvSpPr>
              <p:spPr>
                <a:xfrm>
                  <a:off x="2762593" y="2710065"/>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3</m:t>
                        </m:r>
                        <m:r>
                          <a:rPr lang="en-US" b="0" i="0" smtClean="0">
                            <a:solidFill>
                              <a:srgbClr val="FF0000"/>
                            </a:solidFill>
                            <a:latin typeface="Cambria Math" panose="02040503050406030204" pitchFamily="18" charset="0"/>
                            <a:ea typeface="Cambria Math" panose="02040503050406030204" pitchFamily="18" charset="0"/>
                          </a:rPr>
                          <m:t>60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06" name="矩形 105"/>
                <p:cNvSpPr>
                  <a:spLocks noRot="1" noChangeAspect="1" noMove="1" noResize="1" noEditPoints="1" noAdjustHandles="1" noChangeArrowheads="1" noChangeShapeType="1" noTextEdit="1"/>
                </p:cNvSpPr>
                <p:nvPr/>
              </p:nvSpPr>
              <p:spPr>
                <a:xfrm>
                  <a:off x="2762593" y="2710065"/>
                  <a:ext cx="713657" cy="369332"/>
                </a:xfrm>
                <a:prstGeom prst="rect">
                  <a:avLst/>
                </a:prstGeom>
                <a:blipFill rotWithShape="1">
                  <a:blip r:embed="rId9"/>
                </a:blipFill>
              </p:spPr>
              <p:txBody>
                <a:bodyPr/>
                <a:lstStyle/>
                <a:p>
                  <a:r>
                    <a:rPr lang="zh-CN" altLang="en-US">
                      <a:noFill/>
                    </a:rPr>
                    <a:t> </a:t>
                  </a:r>
                </a:p>
              </p:txBody>
            </p:sp>
          </mc:Fallback>
        </mc:AlternateContent>
        <p:sp>
          <p:nvSpPr>
            <p:cNvPr id="107" name="矩形 106"/>
            <p:cNvSpPr/>
            <p:nvPr/>
          </p:nvSpPr>
          <p:spPr>
            <a:xfrm>
              <a:off x="870509" y="1780027"/>
              <a:ext cx="754380" cy="368300"/>
            </a:xfrm>
            <a:prstGeom prst="rect">
              <a:avLst/>
            </a:prstGeom>
          </p:spPr>
          <p:txBody>
            <a:bodyPr wrap="none">
              <a:spAutoFit/>
            </a:bodyPr>
            <a:lstStyle/>
            <a:p>
              <a:pPr algn="l"/>
              <a:r>
                <a:rPr lang="en-US" altLang="zh-CN" dirty="0"/>
                <a:t>Intake</a:t>
              </a:r>
              <a:endParaRPr lang="en-US" altLang="zh-CN" dirty="0"/>
            </a:p>
          </p:txBody>
        </p:sp>
        <p:sp>
          <p:nvSpPr>
            <p:cNvPr id="108" name="矩形 107"/>
            <p:cNvSpPr/>
            <p:nvPr/>
          </p:nvSpPr>
          <p:spPr>
            <a:xfrm>
              <a:off x="1161450" y="2311564"/>
              <a:ext cx="1256030" cy="337185"/>
            </a:xfrm>
            <a:prstGeom prst="rect">
              <a:avLst/>
            </a:prstGeom>
          </p:spPr>
          <p:txBody>
            <a:bodyPr wrap="none">
              <a:spAutoFit/>
            </a:bodyPr>
            <a:lstStyle/>
            <a:p>
              <a:pPr algn="l"/>
              <a:r>
                <a:rPr lang="en-US" altLang="zh-CN" sz="1600" dirty="0"/>
                <a:t>Compression</a:t>
              </a:r>
              <a:endParaRPr lang="en-US" altLang="zh-CN" sz="1600" dirty="0"/>
            </a:p>
          </p:txBody>
        </p:sp>
        <p:sp>
          <p:nvSpPr>
            <p:cNvPr id="109" name="矩形 108"/>
            <p:cNvSpPr/>
            <p:nvPr/>
          </p:nvSpPr>
          <p:spPr>
            <a:xfrm>
              <a:off x="1937280" y="2078714"/>
              <a:ext cx="767080" cy="368300"/>
            </a:xfrm>
            <a:prstGeom prst="rect">
              <a:avLst/>
            </a:prstGeom>
          </p:spPr>
          <p:txBody>
            <a:bodyPr wrap="none">
              <a:spAutoFit/>
            </a:bodyPr>
            <a:lstStyle/>
            <a:p>
              <a:pPr algn="l"/>
              <a:r>
                <a:rPr lang="en-US" altLang="zh-CN" dirty="0"/>
                <a:t>Power</a:t>
              </a:r>
              <a:endParaRPr lang="en-US" altLang="zh-CN" dirty="0"/>
            </a:p>
          </p:txBody>
        </p:sp>
        <p:sp>
          <p:nvSpPr>
            <p:cNvPr id="110" name="矩形 109"/>
            <p:cNvSpPr/>
            <p:nvPr/>
          </p:nvSpPr>
          <p:spPr>
            <a:xfrm>
              <a:off x="2506352" y="2299795"/>
              <a:ext cx="837565" cy="337185"/>
            </a:xfrm>
            <a:prstGeom prst="rect">
              <a:avLst/>
            </a:prstGeom>
          </p:spPr>
          <p:txBody>
            <a:bodyPr wrap="none">
              <a:spAutoFit/>
            </a:bodyPr>
            <a:lstStyle/>
            <a:p>
              <a:r>
                <a:rPr lang="en-US" altLang="zh-CN" sz="1600" dirty="0">
                  <a:solidFill>
                    <a:srgbClr val="000000"/>
                  </a:solidFill>
                  <a:ea typeface="楷体_GB2312" pitchFamily="49" charset="-122"/>
                </a:rPr>
                <a:t>Exhaust</a:t>
              </a:r>
              <a:endParaRPr lang="en-US" altLang="zh-CN" sz="1600" dirty="0">
                <a:solidFill>
                  <a:srgbClr val="000000"/>
                </a:solidFill>
                <a:ea typeface="楷体_GB2312" pitchFamily="49" charset="-122"/>
              </a:endParaRPr>
            </a:p>
          </p:txBody>
        </p:sp>
        <p:cxnSp>
          <p:nvCxnSpPr>
            <p:cNvPr id="111" name="直接连接符 110"/>
            <p:cNvCxnSpPr/>
            <p:nvPr/>
          </p:nvCxnSpPr>
          <p:spPr bwMode="auto">
            <a:xfrm flipV="1">
              <a:off x="870825" y="1917980"/>
              <a:ext cx="0" cy="8009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矩形 111"/>
            <p:cNvSpPr/>
            <p:nvPr/>
          </p:nvSpPr>
          <p:spPr>
            <a:xfrm>
              <a:off x="-1200150" y="2108808"/>
              <a:ext cx="1969135" cy="368300"/>
            </a:xfrm>
            <a:prstGeom prst="rect">
              <a:avLst/>
            </a:prstGeom>
          </p:spPr>
          <p:txBody>
            <a:bodyPr wrap="none">
              <a:spAutoFit/>
            </a:bodyPr>
            <a:lstStyle/>
            <a:p>
              <a:pPr algn="l"/>
              <a:r>
                <a:rPr lang="en-US" altLang="zh-CN" dirty="0"/>
                <a:t>Intake Valve Opens</a:t>
              </a:r>
              <a:endParaRPr lang="en-US" altLang="zh-CN" dirty="0"/>
            </a:p>
          </p:txBody>
        </p:sp>
        <p:sp>
          <p:nvSpPr>
            <p:cNvPr id="113" name="矩形 112"/>
            <p:cNvSpPr/>
            <p:nvPr/>
          </p:nvSpPr>
          <p:spPr>
            <a:xfrm>
              <a:off x="-1337918" y="2488793"/>
              <a:ext cx="1994535" cy="368300"/>
            </a:xfrm>
            <a:prstGeom prst="rect">
              <a:avLst/>
            </a:prstGeom>
          </p:spPr>
          <p:txBody>
            <a:bodyPr wrap="none">
              <a:spAutoFit/>
            </a:bodyPr>
            <a:lstStyle/>
            <a:p>
              <a:pPr algn="l"/>
              <a:r>
                <a:rPr lang="en-US" altLang="zh-CN" dirty="0"/>
                <a:t>Intake Valve Closes</a:t>
              </a:r>
              <a:endParaRPr lang="en-US" altLang="zh-CN" dirty="0"/>
            </a:p>
          </p:txBody>
        </p:sp>
        <p:sp>
          <p:nvSpPr>
            <p:cNvPr id="114" name="矩形 113"/>
            <p:cNvSpPr/>
            <p:nvPr/>
          </p:nvSpPr>
          <p:spPr>
            <a:xfrm>
              <a:off x="3854569" y="2148525"/>
              <a:ext cx="1116330" cy="922020"/>
            </a:xfrm>
            <a:prstGeom prst="rect">
              <a:avLst/>
            </a:prstGeom>
          </p:spPr>
          <p:txBody>
            <a:bodyPr wrap="none">
              <a:spAutoFit/>
            </a:bodyPr>
            <a:lstStyle/>
            <a:p>
              <a:pPr algn="l"/>
              <a:r>
                <a:rPr lang="en-US" altLang="zh-CN" dirty="0"/>
                <a:t>Camshaft </a:t>
              </a:r>
              <a:endParaRPr lang="en-US" altLang="zh-CN" dirty="0"/>
            </a:p>
            <a:p>
              <a:pPr algn="l"/>
              <a:r>
                <a:rPr lang="en-US" altLang="zh-CN" dirty="0"/>
                <a:t>Angular </a:t>
              </a:r>
              <a:endParaRPr lang="en-US" altLang="zh-CN" dirty="0"/>
            </a:p>
            <a:p>
              <a:pPr algn="l"/>
              <a:r>
                <a:rPr lang="en-US" altLang="zh-CN" dirty="0"/>
                <a:t>Position</a:t>
              </a:r>
              <a:endParaRPr lang="en-US" altLang="zh-CN" dirty="0"/>
            </a:p>
          </p:txBody>
        </p:sp>
        <p:cxnSp>
          <p:nvCxnSpPr>
            <p:cNvPr id="115" name="直接连接符 114"/>
            <p:cNvCxnSpPr/>
            <p:nvPr/>
          </p:nvCxnSpPr>
          <p:spPr bwMode="auto">
            <a:xfrm>
              <a:off x="3056495" y="2296245"/>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矩形 115"/>
            <p:cNvSpPr/>
            <p:nvPr/>
          </p:nvSpPr>
          <p:spPr>
            <a:xfrm>
              <a:off x="3001726" y="1909200"/>
              <a:ext cx="690880" cy="337185"/>
            </a:xfrm>
            <a:prstGeom prst="rect">
              <a:avLst/>
            </a:prstGeom>
          </p:spPr>
          <p:txBody>
            <a:bodyPr wrap="none">
              <a:spAutoFit/>
            </a:bodyPr>
            <a:lstStyle/>
            <a:p>
              <a:r>
                <a:rPr lang="en-US" altLang="zh-CN" sz="1600" dirty="0">
                  <a:solidFill>
                    <a:srgbClr val="000000"/>
                  </a:solidFill>
                  <a:ea typeface="楷体_GB2312" pitchFamily="49" charset="-122"/>
                </a:rPr>
                <a:t>Intake</a:t>
              </a:r>
              <a:endParaRPr lang="en-US" altLang="zh-CN" sz="1600" dirty="0">
                <a:solidFill>
                  <a:srgbClr val="000000"/>
                </a:solidFill>
                <a:ea typeface="楷体_GB2312" pitchFamily="49" charset="-122"/>
              </a:endParaRPr>
            </a:p>
          </p:txBody>
        </p:sp>
        <mc:AlternateContent xmlns:mc="http://schemas.openxmlformats.org/markup-compatibility/2006">
          <mc:Choice xmlns:a14="http://schemas.microsoft.com/office/drawing/2010/main" Requires="a14">
            <p:sp>
              <p:nvSpPr>
                <p:cNvPr id="117" name="矩形 116"/>
                <p:cNvSpPr/>
                <p:nvPr/>
              </p:nvSpPr>
              <p:spPr>
                <a:xfrm>
                  <a:off x="3318738" y="2710652"/>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4</m:t>
                        </m:r>
                        <m:r>
                          <a:rPr lang="en-US" b="0" i="1" smtClean="0">
                            <a:solidFill>
                              <a:srgbClr val="FF0000"/>
                            </a:solidFill>
                            <a:latin typeface="Cambria Math" panose="02040503050406030204" pitchFamily="18" charset="0"/>
                            <a:ea typeface="Cambria Math" panose="02040503050406030204" pitchFamily="18" charset="0"/>
                          </a:rPr>
                          <m:t>50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17" name="矩形 116"/>
                <p:cNvSpPr>
                  <a:spLocks noRot="1" noChangeAspect="1" noMove="1" noResize="1" noEditPoints="1" noAdjustHandles="1" noChangeArrowheads="1" noChangeShapeType="1" noTextEdit="1"/>
                </p:cNvSpPr>
                <p:nvPr/>
              </p:nvSpPr>
              <p:spPr>
                <a:xfrm>
                  <a:off x="3318738" y="2710652"/>
                  <a:ext cx="713657" cy="369332"/>
                </a:xfrm>
                <a:prstGeom prst="rect">
                  <a:avLst/>
                </a:prstGeom>
                <a:blipFill rotWithShape="1">
                  <a:blip r:embed="rId10"/>
                </a:blipFill>
              </p:spPr>
              <p:txBody>
                <a:bodyPr/>
                <a:lstStyle/>
                <a:p>
                  <a:r>
                    <a:rPr lang="zh-CN" altLang="en-US">
                      <a:noFill/>
                    </a:rPr>
                    <a:t> </a:t>
                  </a:r>
                </a:p>
              </p:txBody>
            </p:sp>
          </mc:Fallback>
        </mc:AlternateContent>
        <p:cxnSp>
          <p:nvCxnSpPr>
            <p:cNvPr id="118" name="直接连接符 117"/>
            <p:cNvCxnSpPr/>
            <p:nvPr/>
          </p:nvCxnSpPr>
          <p:spPr bwMode="auto">
            <a:xfrm>
              <a:off x="1418777" y="2709014"/>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接连接符 118"/>
            <p:cNvCxnSpPr/>
            <p:nvPr/>
          </p:nvCxnSpPr>
          <p:spPr bwMode="auto">
            <a:xfrm>
              <a:off x="1958777" y="2706995"/>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a:off x="2516495" y="2711213"/>
              <a:ext cx="540000" cy="0"/>
            </a:xfrm>
            <a:prstGeom prst="line">
              <a:avLst/>
            </a:prstGeom>
            <a:solidFill>
              <a:schemeClr val="accent1"/>
            </a:solidFill>
            <a:ln w="25400"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4" name="矩形 123"/>
          <p:cNvSpPr/>
          <p:nvPr/>
        </p:nvSpPr>
        <p:spPr>
          <a:xfrm>
            <a:off x="313055" y="1405255"/>
            <a:ext cx="4833620" cy="64516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sym typeface="+mn-ea"/>
              </a:rPr>
              <a:t>Step </a:t>
            </a:r>
            <a:r>
              <a:rPr lang="en-US" altLang="zh-CN" b="1" dirty="0">
                <a:solidFill>
                  <a:srgbClr val="201E84"/>
                </a:solidFill>
                <a:latin typeface="微软雅黑" panose="020B0503020204020204" pitchFamily="34" charset="-122"/>
                <a:ea typeface="微软雅黑" panose="020B0503020204020204" pitchFamily="34" charset="-122"/>
                <a:sym typeface="+mn-ea"/>
              </a:rPr>
              <a:t>3</a:t>
            </a:r>
            <a:r>
              <a:rPr lang="zh-CN" altLang="en-US" b="1" dirty="0">
                <a:solidFill>
                  <a:srgbClr val="201E84"/>
                </a:solidFill>
                <a:latin typeface="微软雅黑" panose="020B0503020204020204" pitchFamily="34" charset="-122"/>
                <a:ea typeface="微软雅黑" panose="020B0503020204020204" pitchFamily="34" charset="-122"/>
                <a:sym typeface="+mn-ea"/>
              </a:rPr>
              <a:t>: </a:t>
            </a:r>
            <a:r>
              <a:rPr lang="en-US" altLang="zh-CN" b="1" dirty="0">
                <a:solidFill>
                  <a:srgbClr val="201E84"/>
                </a:solidFill>
                <a:latin typeface="微软雅黑" panose="020B0503020204020204" pitchFamily="34" charset="-122"/>
                <a:ea typeface="微软雅黑" panose="020B0503020204020204" pitchFamily="34" charset="-122"/>
                <a:sym typeface="+mn-ea"/>
              </a:rPr>
              <a:t>design the cam profile according to the follower's motion law</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125" name="文本框 124"/>
          <p:cNvSpPr txBox="1"/>
          <p:nvPr/>
        </p:nvSpPr>
        <p:spPr>
          <a:xfrm>
            <a:off x="400685" y="975995"/>
            <a:ext cx="11650980" cy="398780"/>
          </a:xfrm>
          <a:prstGeom prst="rect">
            <a:avLst/>
          </a:prstGeom>
          <a:noFill/>
        </p:spPr>
        <p:txBody>
          <a:bodyPr wrap="square">
            <a:spAutoFit/>
          </a:bodyPr>
          <a:lstStyle/>
          <a:p>
            <a:pPr algn="ctr"/>
            <a:r>
              <a:rPr lang="zh-CN" altLang="en-US" sz="2000" b="1" dirty="0">
                <a:solidFill>
                  <a:srgbClr val="201E84"/>
                </a:solidFill>
                <a:latin typeface="微软雅黑" panose="020B0503020204020204" pitchFamily="34" charset="-122"/>
                <a:ea typeface="微软雅黑" panose="020B0503020204020204" pitchFamily="34" charset="-122"/>
              </a:rPr>
              <a:t>How to achieve precise intake valve control under </a:t>
            </a:r>
            <a:r>
              <a:rPr lang="zh-CN" altLang="en-US" sz="2000" b="1" dirty="0">
                <a:solidFill>
                  <a:srgbClr val="FF0000"/>
                </a:solidFill>
                <a:latin typeface="微软雅黑" panose="020B0503020204020204" pitchFamily="34" charset="-122"/>
                <a:ea typeface="微软雅黑" panose="020B0503020204020204" pitchFamily="34" charset="-122"/>
              </a:rPr>
              <a:t>dynamic, uncertain</a:t>
            </a:r>
            <a:r>
              <a:rPr lang="zh-CN" altLang="en-US" sz="2000" b="1" dirty="0">
                <a:solidFill>
                  <a:srgbClr val="201E84"/>
                </a:solidFill>
                <a:latin typeface="微软雅黑" panose="020B0503020204020204" pitchFamily="34" charset="-122"/>
                <a:ea typeface="微软雅黑" panose="020B0503020204020204" pitchFamily="34" charset="-122"/>
              </a:rPr>
              <a:t> combustion?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1"/>
          <a:stretch>
            <a:fillRect/>
          </a:stretch>
        </p:blipFill>
        <p:spPr>
          <a:xfrm>
            <a:off x="9464675" y="3074035"/>
            <a:ext cx="2070735" cy="3056890"/>
          </a:xfrm>
          <a:prstGeom prst="rect">
            <a:avLst/>
          </a:prstGeom>
        </p:spPr>
      </p:pic>
      <p:sp>
        <p:nvSpPr>
          <p:cNvPr id="25" name="Text Box 23"/>
          <p:cNvSpPr txBox="1">
            <a:spLocks noChangeArrowheads="1"/>
          </p:cNvSpPr>
          <p:nvPr/>
        </p:nvSpPr>
        <p:spPr bwMode="auto">
          <a:xfrm>
            <a:off x="-51435" y="458152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124460" y="353187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1368343" y="363521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1385476" y="404218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507479" y="204077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47650" y="287147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1327601" y="224083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0" name="Line 24"/>
          <p:cNvSpPr>
            <a:spLocks noChangeShapeType="1"/>
          </p:cNvSpPr>
          <p:nvPr/>
        </p:nvSpPr>
        <p:spPr bwMode="auto">
          <a:xfrm flipH="1">
            <a:off x="1385477" y="253864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1" name="Line 24"/>
          <p:cNvSpPr>
            <a:spLocks noChangeShapeType="1"/>
          </p:cNvSpPr>
          <p:nvPr/>
        </p:nvSpPr>
        <p:spPr bwMode="auto">
          <a:xfrm flipV="1">
            <a:off x="2760063" y="273660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3797906" y="258822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3050415" y="427788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2" name="Text Box 23"/>
          <p:cNvSpPr txBox="1">
            <a:spLocks noChangeArrowheads="1"/>
          </p:cNvSpPr>
          <p:nvPr/>
        </p:nvSpPr>
        <p:spPr bwMode="auto">
          <a:xfrm>
            <a:off x="3595370" y="298958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5" name="Line 24"/>
          <p:cNvSpPr>
            <a:spLocks noChangeShapeType="1"/>
          </p:cNvSpPr>
          <p:nvPr/>
        </p:nvSpPr>
        <p:spPr bwMode="auto">
          <a:xfrm flipV="1">
            <a:off x="2361809" y="320278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3098165" y="5172075"/>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22" name="矩形 121"/>
          <p:cNvSpPr/>
          <p:nvPr/>
        </p:nvSpPr>
        <p:spPr>
          <a:xfrm>
            <a:off x="5230474" y="3388068"/>
            <a:ext cx="4181475" cy="1322070"/>
          </a:xfrm>
          <a:prstGeom prst="rect">
            <a:avLst/>
          </a:prstGeom>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How does the intake valve open?</a:t>
            </a:r>
            <a:endParaRPr lang="en-US" altLang="zh-CN" sz="2000" b="1" dirty="0">
              <a:solidFill>
                <a:srgbClr val="201E84"/>
              </a:solidFill>
              <a:latin typeface="微软雅黑" panose="020B0503020204020204" pitchFamily="34" charset="-122"/>
              <a:ea typeface="微软雅黑" panose="020B0503020204020204" pitchFamily="34" charset="-122"/>
            </a:endParaRPr>
          </a:p>
          <a:p>
            <a:r>
              <a:rPr lang="zh-CN" altLang="en-US" sz="2000" b="1" dirty="0">
                <a:solidFill>
                  <a:srgbClr val="201E84"/>
                </a:solidFill>
                <a:latin typeface="微软雅黑" panose="020B0503020204020204" pitchFamily="34" charset="-122"/>
                <a:ea typeface="微软雅黑" panose="020B0503020204020204" pitchFamily="34" charset="-122"/>
              </a:rPr>
              <a:t>What motion law must be satisfied?</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flipH="1" flipV="1">
            <a:off x="7113568" y="2794955"/>
            <a:ext cx="0" cy="593055"/>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16" name="组合 15"/>
          <p:cNvGrpSpPr/>
          <p:nvPr/>
        </p:nvGrpSpPr>
        <p:grpSpPr>
          <a:xfrm>
            <a:off x="5026781" y="4916602"/>
            <a:ext cx="5112443" cy="1401557"/>
            <a:chOff x="4990586" y="4298649"/>
            <a:chExt cx="5112443" cy="1401557"/>
          </a:xfrm>
        </p:grpSpPr>
        <p:grpSp>
          <p:nvGrpSpPr>
            <p:cNvPr id="17" name="组合 16"/>
            <p:cNvGrpSpPr/>
            <p:nvPr/>
          </p:nvGrpSpPr>
          <p:grpSpPr>
            <a:xfrm>
              <a:off x="4990586" y="4298649"/>
              <a:ext cx="5112443" cy="1401557"/>
              <a:chOff x="257337" y="5439735"/>
              <a:chExt cx="5112443" cy="1401557"/>
            </a:xfrm>
          </p:grpSpPr>
          <p:cxnSp>
            <p:nvCxnSpPr>
              <p:cNvPr id="18" name="直接连接符 17"/>
              <p:cNvCxnSpPr/>
              <p:nvPr/>
            </p:nvCxnSpPr>
            <p:spPr bwMode="auto">
              <a:xfrm>
                <a:off x="1279765" y="6455512"/>
                <a:ext cx="371826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9" name="矩形 18"/>
                  <p:cNvSpPr/>
                  <p:nvPr/>
                </p:nvSpPr>
                <p:spPr>
                  <a:xfrm>
                    <a:off x="1552052" y="6460223"/>
                    <a:ext cx="58541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9</m:t>
                          </m:r>
                          <m:r>
                            <a:rPr lang="en-US" b="0" i="0" smtClean="0">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9" name="矩形 18"/>
                  <p:cNvSpPr>
                    <a:spLocks noRot="1" noChangeAspect="1" noMove="1" noResize="1" noEditPoints="1" noAdjustHandles="1" noChangeArrowheads="1" noChangeShapeType="1" noTextEdit="1"/>
                  </p:cNvSpPr>
                  <p:nvPr/>
                </p:nvSpPr>
                <p:spPr>
                  <a:xfrm>
                    <a:off x="1552052" y="6460223"/>
                    <a:ext cx="585417"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p:cNvSpPr/>
                  <p:nvPr/>
                </p:nvSpPr>
                <p:spPr>
                  <a:xfrm>
                    <a:off x="2063339" y="6465144"/>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1</m:t>
                          </m:r>
                          <m:r>
                            <a:rPr lang="en-US" b="0" i="0" smtClean="0">
                              <a:solidFill>
                                <a:srgbClr val="FF0000"/>
                              </a:solidFill>
                              <a:latin typeface="Cambria Math" panose="02040503050406030204" pitchFamily="18" charset="0"/>
                              <a:ea typeface="Cambria Math" panose="02040503050406030204" pitchFamily="18" charset="0"/>
                            </a:rPr>
                            <m:t>80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20" name="矩形 19"/>
                  <p:cNvSpPr>
                    <a:spLocks noRot="1" noChangeAspect="1" noMove="1" noResize="1" noEditPoints="1" noAdjustHandles="1" noChangeArrowheads="1" noChangeShapeType="1" noTextEdit="1"/>
                  </p:cNvSpPr>
                  <p:nvPr/>
                </p:nvSpPr>
                <p:spPr>
                  <a:xfrm>
                    <a:off x="2063339" y="6465144"/>
                    <a:ext cx="713657"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矩形 21"/>
                  <p:cNvSpPr/>
                  <p:nvPr/>
                </p:nvSpPr>
                <p:spPr>
                  <a:xfrm>
                    <a:off x="1113091" y="6455512"/>
                    <a:ext cx="45717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solidFill>
                                <a:srgbClr val="FF0000"/>
                              </a:solidFill>
                              <a:latin typeface="Cambria Math" panose="02040503050406030204" pitchFamily="18" charset="0"/>
                              <a:ea typeface="Cambria Math" panose="02040503050406030204" pitchFamily="18" charset="0"/>
                            </a:rPr>
                            <m:t>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22" name="矩形 21"/>
                  <p:cNvSpPr>
                    <a:spLocks noRot="1" noChangeAspect="1" noMove="1" noResize="1" noEditPoints="1" noAdjustHandles="1" noChangeArrowheads="1" noChangeShapeType="1" noTextEdit="1"/>
                  </p:cNvSpPr>
                  <p:nvPr/>
                </p:nvSpPr>
                <p:spPr>
                  <a:xfrm>
                    <a:off x="1113091" y="6455512"/>
                    <a:ext cx="457176" cy="369332"/>
                  </a:xfrm>
                  <a:prstGeom prst="rect">
                    <a:avLst/>
                  </a:prstGeom>
                  <a:blipFill rotWithShape="1">
                    <a:blip r:embed="rId7"/>
                  </a:blipFill>
                </p:spPr>
                <p:txBody>
                  <a:bodyPr/>
                  <a:lstStyle/>
                  <a:p>
                    <a:r>
                      <a:rPr lang="zh-CN" altLang="en-US">
                        <a:noFill/>
                      </a:rPr>
                      <a:t> </a:t>
                    </a:r>
                  </a:p>
                </p:txBody>
              </p:sp>
            </mc:Fallback>
          </mc:AlternateContent>
          <p:cxnSp>
            <p:nvCxnSpPr>
              <p:cNvPr id="39" name="直接连接符 38"/>
              <p:cNvCxnSpPr/>
              <p:nvPr/>
            </p:nvCxnSpPr>
            <p:spPr bwMode="auto">
              <a:xfrm>
                <a:off x="1394281" y="6080242"/>
                <a:ext cx="303696" cy="0"/>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32" name="矩形 131"/>
                  <p:cNvSpPr/>
                  <p:nvPr/>
                </p:nvSpPr>
                <p:spPr>
                  <a:xfrm>
                    <a:off x="2630541" y="6471960"/>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2</m:t>
                          </m:r>
                          <m:r>
                            <a:rPr lang="en-US" b="0" i="0" smtClean="0">
                              <a:solidFill>
                                <a:srgbClr val="FF0000"/>
                              </a:solidFill>
                              <a:latin typeface="Cambria Math" panose="02040503050406030204" pitchFamily="18" charset="0"/>
                              <a:ea typeface="Cambria Math" panose="02040503050406030204" pitchFamily="18" charset="0"/>
                            </a:rPr>
                            <m:t>70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32" name="矩形 131"/>
                  <p:cNvSpPr>
                    <a:spLocks noRot="1" noChangeAspect="1" noMove="1" noResize="1" noEditPoints="1" noAdjustHandles="1" noChangeArrowheads="1" noChangeShapeType="1" noTextEdit="1"/>
                  </p:cNvSpPr>
                  <p:nvPr/>
                </p:nvSpPr>
                <p:spPr>
                  <a:xfrm>
                    <a:off x="2630541" y="6471960"/>
                    <a:ext cx="713657" cy="369332"/>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3" name="矩形 132"/>
                  <p:cNvSpPr/>
                  <p:nvPr/>
                </p:nvSpPr>
                <p:spPr>
                  <a:xfrm>
                    <a:off x="3171533" y="6450215"/>
                    <a:ext cx="71365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ea typeface="Cambria Math" panose="02040503050406030204" pitchFamily="18" charset="0"/>
                            </a:rPr>
                            <m:t>3</m:t>
                          </m:r>
                          <m:r>
                            <a:rPr lang="en-US" b="0" i="0" smtClean="0">
                              <a:solidFill>
                                <a:srgbClr val="FF0000"/>
                              </a:solidFill>
                              <a:latin typeface="Cambria Math" panose="02040503050406030204" pitchFamily="18" charset="0"/>
                              <a:ea typeface="Cambria Math" panose="02040503050406030204" pitchFamily="18" charset="0"/>
                            </a:rPr>
                            <m:t>60</m:t>
                          </m:r>
                          <m:r>
                            <a:rPr lang="en-US" i="1" smtClean="0">
                              <a:solidFill>
                                <a:srgbClr val="FF0000"/>
                              </a:solidFill>
                              <a:latin typeface="Cambria Math" panose="02040503050406030204" pitchFamily="18" charset="0"/>
                              <a:ea typeface="Cambria Math" panose="02040503050406030204" pitchFamily="18" charset="0"/>
                            </a:rPr>
                            <m:t>°</m:t>
                          </m:r>
                        </m:oMath>
                      </m:oMathPara>
                    </a14:m>
                    <a:endParaRPr lang="en-AU" dirty="0">
                      <a:solidFill>
                        <a:srgbClr val="FF0000"/>
                      </a:solidFill>
                    </a:endParaRPr>
                  </a:p>
                </p:txBody>
              </p:sp>
            </mc:Choice>
            <mc:Fallback>
              <p:sp>
                <p:nvSpPr>
                  <p:cNvPr id="133" name="矩形 132"/>
                  <p:cNvSpPr>
                    <a:spLocks noRot="1" noChangeAspect="1" noMove="1" noResize="1" noEditPoints="1" noAdjustHandles="1" noChangeArrowheads="1" noChangeShapeType="1" noTextEdit="1"/>
                  </p:cNvSpPr>
                  <p:nvPr/>
                </p:nvSpPr>
                <p:spPr>
                  <a:xfrm>
                    <a:off x="3171533" y="6450215"/>
                    <a:ext cx="713657" cy="369332"/>
                  </a:xfrm>
                  <a:prstGeom prst="rect">
                    <a:avLst/>
                  </a:prstGeom>
                  <a:blipFill rotWithShape="1">
                    <a:blip r:embed="rId9"/>
                  </a:blipFill>
                </p:spPr>
                <p:txBody>
                  <a:bodyPr/>
                  <a:lstStyle/>
                  <a:p>
                    <a:r>
                      <a:rPr lang="zh-CN" altLang="en-US">
                        <a:noFill/>
                      </a:rPr>
                      <a:t> </a:t>
                    </a:r>
                  </a:p>
                </p:txBody>
              </p:sp>
            </mc:Fallback>
          </mc:AlternateContent>
          <p:cxnSp>
            <p:nvCxnSpPr>
              <p:cNvPr id="138" name="直接连接符 137"/>
              <p:cNvCxnSpPr/>
              <p:nvPr/>
            </p:nvCxnSpPr>
            <p:spPr bwMode="auto">
              <a:xfrm flipV="1">
                <a:off x="1279765" y="5658130"/>
                <a:ext cx="0" cy="8009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矩形 138"/>
              <p:cNvSpPr/>
              <p:nvPr/>
            </p:nvSpPr>
            <p:spPr>
              <a:xfrm>
                <a:off x="257337" y="5439735"/>
                <a:ext cx="1880235" cy="368300"/>
              </a:xfrm>
              <a:prstGeom prst="rect">
                <a:avLst/>
              </a:prstGeom>
            </p:spPr>
            <p:txBody>
              <a:bodyPr wrap="none">
                <a:spAutoFit/>
              </a:bodyPr>
              <a:lstStyle/>
              <a:p>
                <a:pPr algn="l"/>
                <a:r>
                  <a:rPr lang="en-US" altLang="zh-CN" b="1" dirty="0">
                    <a:solidFill>
                      <a:srgbClr val="000000"/>
                    </a:solidFill>
                    <a:ea typeface="楷体_GB2312" pitchFamily="49" charset="-122"/>
                  </a:rPr>
                  <a:t>push rod position</a:t>
                </a:r>
                <a:endParaRPr lang="en-US" altLang="zh-CN" b="1" dirty="0">
                  <a:solidFill>
                    <a:srgbClr val="000000"/>
                  </a:solidFill>
                  <a:ea typeface="楷体_GB2312" pitchFamily="49" charset="-122"/>
                </a:endParaRPr>
              </a:p>
            </p:txBody>
          </p:sp>
          <p:sp>
            <p:nvSpPr>
              <p:cNvPr id="41" name="矩形 40"/>
              <p:cNvSpPr/>
              <p:nvPr/>
            </p:nvSpPr>
            <p:spPr>
              <a:xfrm>
                <a:off x="809878" y="5787849"/>
                <a:ext cx="338554" cy="461665"/>
              </a:xfrm>
              <a:prstGeom prst="rect">
                <a:avLst/>
              </a:prstGeom>
            </p:spPr>
            <p:txBody>
              <a:bodyPr wrap="none">
                <a:spAutoFit/>
              </a:bodyPr>
              <a:lstStyle/>
              <a:p>
                <a:r>
                  <a:rPr lang="en-US" altLang="zh-CN" sz="2400" i="1" dirty="0">
                    <a:solidFill>
                      <a:srgbClr val="FF0000"/>
                    </a:solidFill>
                    <a:latin typeface="+mj-lt"/>
                  </a:rPr>
                  <a:t>h</a:t>
                </a:r>
                <a:endParaRPr lang="en-AU" sz="2400" i="1" dirty="0">
                  <a:solidFill>
                    <a:srgbClr val="FF0000"/>
                  </a:solidFill>
                  <a:latin typeface="+mj-lt"/>
                </a:endParaRPr>
              </a:p>
            </p:txBody>
          </p:sp>
          <p:sp>
            <p:nvSpPr>
              <p:cNvPr id="141" name="矩形 140"/>
              <p:cNvSpPr/>
              <p:nvPr/>
            </p:nvSpPr>
            <p:spPr>
              <a:xfrm>
                <a:off x="4253450" y="5783900"/>
                <a:ext cx="1116330" cy="922020"/>
              </a:xfrm>
              <a:prstGeom prst="rect">
                <a:avLst/>
              </a:prstGeom>
            </p:spPr>
            <p:txBody>
              <a:bodyPr wrap="none">
                <a:spAutoFit/>
              </a:bodyPr>
              <a:lstStyle/>
              <a:p>
                <a:pPr algn="l"/>
                <a:r>
                  <a:rPr lang="en-US" altLang="zh-CN" dirty="0">
                    <a:sym typeface="+mn-ea"/>
                  </a:rPr>
                  <a:t>Camshaft </a:t>
                </a:r>
                <a:endParaRPr lang="en-US" altLang="zh-CN" dirty="0"/>
              </a:p>
              <a:p>
                <a:pPr algn="l"/>
                <a:r>
                  <a:rPr lang="en-US" altLang="zh-CN" dirty="0">
                    <a:sym typeface="+mn-ea"/>
                  </a:rPr>
                  <a:t>Angular </a:t>
                </a:r>
                <a:endParaRPr lang="en-US" altLang="zh-CN" dirty="0"/>
              </a:p>
              <a:p>
                <a:pPr algn="l"/>
                <a:r>
                  <a:rPr lang="en-US" altLang="zh-CN" dirty="0">
                    <a:sym typeface="+mn-ea"/>
                  </a:rPr>
                  <a:t>Position</a:t>
                </a:r>
                <a:endParaRPr lang="en-AU" dirty="0"/>
              </a:p>
            </p:txBody>
          </p:sp>
          <p:cxnSp>
            <p:nvCxnSpPr>
              <p:cNvPr id="145" name="直接连接符 144"/>
              <p:cNvCxnSpPr/>
              <p:nvPr/>
            </p:nvCxnSpPr>
            <p:spPr bwMode="auto">
              <a:xfrm flipV="1">
                <a:off x="1796187" y="6450215"/>
                <a:ext cx="1700645" cy="6569"/>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9" name="直接连接符 148"/>
            <p:cNvCxnSpPr/>
            <p:nvPr/>
          </p:nvCxnSpPr>
          <p:spPr bwMode="auto">
            <a:xfrm flipV="1">
              <a:off x="6013626" y="4945178"/>
              <a:ext cx="112122" cy="374672"/>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接连接符 149"/>
            <p:cNvCxnSpPr/>
            <p:nvPr/>
          </p:nvCxnSpPr>
          <p:spPr bwMode="auto">
            <a:xfrm flipH="1" flipV="1">
              <a:off x="6429569" y="4938663"/>
              <a:ext cx="112122" cy="374672"/>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2" name="文本框 151"/>
          <p:cNvSpPr txBox="1"/>
          <p:nvPr/>
        </p:nvSpPr>
        <p:spPr>
          <a:xfrm>
            <a:off x="4805045" y="6307455"/>
            <a:ext cx="4961890" cy="354965"/>
          </a:xfrm>
          <a:prstGeom prst="rect">
            <a:avLst/>
          </a:prstGeom>
          <a:noFill/>
        </p:spPr>
        <p:txBody>
          <a:bodyPr wrap="square">
            <a:noAutofit/>
          </a:bodyPr>
          <a:lstStyle/>
          <a:p>
            <a:r>
              <a:rPr lang="zh-CN" altLang="en-US" sz="2000" b="1"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Follower Desired Motion Law</a:t>
            </a:r>
            <a:endParaRPr lang="zh-CN" altLang="en-US" sz="2000" b="1"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366" fill="hold"/>
                                        <p:tgtEl>
                                          <p:spTgt spid="23"/>
                                        </p:tgtEl>
                                      </p:cBhvr>
                                    </p:cmd>
                                  </p:childTnLst>
                                </p:cTn>
                              </p:par>
                            </p:childTnLst>
                          </p:cTn>
                        </p:par>
                      </p:childTnLst>
                    </p:cTn>
                  </p:par>
                  <p:par>
                    <p:cTn id="11" fill="hold">
                      <p:stCondLst>
                        <p:cond delay="indefinite"/>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23"/>
                                        </p:tgtEl>
                                      </p:cBhvr>
                                    </p:cmd>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23"/>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3"/>
                                        </p:tgtEl>
                                      </p:cBhvr>
                                    </p:cmd>
                                  </p:childTnLst>
                                </p:cTn>
                              </p:par>
                            </p:childTnLst>
                          </p:cTn>
                        </p:par>
                      </p:childTnLst>
                    </p:cTn>
                  </p:par>
                </p:childTnLst>
              </p:cTn>
              <p:nextCondLst>
                <p:cond evt="onClick" delay="0">
                  <p:tgtEl>
                    <p:spTgt spid="23"/>
                  </p:tgtEl>
                </p:cond>
              </p:nextCondLst>
            </p:seq>
            <p:video>
              <p:cMediaNode vol="80000">
                <p:cTn id="24" repeatCount="indefinite" fill="hold" display="0">
                  <p:stCondLst>
                    <p:cond delay="indefinite"/>
                  </p:stCondLst>
                </p:cTn>
                <p:tgtEl>
                  <p:spTgt spid="23"/>
                </p:tgtEl>
              </p:cMediaNode>
            </p:video>
          </p:childTnLst>
        </p:cTn>
      </p:par>
    </p:tnLst>
    <p:bldLst>
      <p:bldP spid="1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3128" y="1915517"/>
            <a:ext cx="4492636" cy="3369477"/>
          </a:xfrm>
          <a:prstGeom prst="rect">
            <a:avLst/>
          </a:prstGeom>
        </p:spPr>
      </p:pic>
      <p:sp>
        <p:nvSpPr>
          <p:cNvPr id="24" name="矩形 23"/>
          <p:cNvSpPr/>
          <p:nvPr/>
        </p:nvSpPr>
        <p:spPr bwMode="auto">
          <a:xfrm>
            <a:off x="318034" y="2031578"/>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TextBox 8"/>
          <p:cNvSpPr txBox="1"/>
          <p:nvPr/>
        </p:nvSpPr>
        <p:spPr>
          <a:xfrm>
            <a:off x="1007745" y="319405"/>
            <a:ext cx="92094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3-1 Characteristics and Applications of Cam Mechanisms</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pic>
        <p:nvPicPr>
          <p:cNvPr id="36" name="图片 35"/>
          <p:cNvPicPr>
            <a:picLocks noChangeAspect="1"/>
          </p:cNvPicPr>
          <p:nvPr/>
        </p:nvPicPr>
        <p:blipFill>
          <a:blip r:embed="rId4"/>
          <a:stretch>
            <a:fillRect/>
          </a:stretch>
        </p:blipFill>
        <p:spPr>
          <a:xfrm rot="18644243">
            <a:off x="959333" y="1889462"/>
            <a:ext cx="436376" cy="585720"/>
          </a:xfrm>
          <a:prstGeom prst="rect">
            <a:avLst/>
          </a:prstGeom>
        </p:spPr>
      </p:pic>
      <p:pic>
        <p:nvPicPr>
          <p:cNvPr id="37" name="图片 36"/>
          <p:cNvPicPr>
            <a:picLocks noChangeAspect="1"/>
          </p:cNvPicPr>
          <p:nvPr/>
        </p:nvPicPr>
        <p:blipFill>
          <a:blip r:embed="rId4"/>
          <a:stretch>
            <a:fillRect/>
          </a:stretch>
        </p:blipFill>
        <p:spPr>
          <a:xfrm rot="16200000">
            <a:off x="883297" y="1278137"/>
            <a:ext cx="228474" cy="964549"/>
          </a:xfrm>
          <a:prstGeom prst="rect">
            <a:avLst/>
          </a:prstGeom>
        </p:spPr>
      </p:pic>
      <p:pic>
        <p:nvPicPr>
          <p:cNvPr id="40" name="图片 39"/>
          <p:cNvPicPr>
            <a:picLocks noChangeAspect="1"/>
          </p:cNvPicPr>
          <p:nvPr/>
        </p:nvPicPr>
        <p:blipFill>
          <a:blip r:embed="rId4"/>
          <a:stretch>
            <a:fillRect/>
          </a:stretch>
        </p:blipFill>
        <p:spPr>
          <a:xfrm rot="18664587">
            <a:off x="802707" y="1694430"/>
            <a:ext cx="328815" cy="441373"/>
          </a:xfrm>
          <a:prstGeom prst="rect">
            <a:avLst/>
          </a:prstGeom>
        </p:spPr>
      </p:pic>
      <p:pic>
        <p:nvPicPr>
          <p:cNvPr id="45" name="图片 44"/>
          <p:cNvPicPr>
            <a:picLocks noChangeAspect="1"/>
          </p:cNvPicPr>
          <p:nvPr/>
        </p:nvPicPr>
        <p:blipFill>
          <a:blip r:embed="rId4"/>
          <a:stretch>
            <a:fillRect/>
          </a:stretch>
        </p:blipFill>
        <p:spPr>
          <a:xfrm>
            <a:off x="735414" y="1657827"/>
            <a:ext cx="70837" cy="354543"/>
          </a:xfrm>
          <a:prstGeom prst="rect">
            <a:avLst/>
          </a:prstGeom>
        </p:spPr>
      </p:pic>
      <p:pic>
        <p:nvPicPr>
          <p:cNvPr id="48" name="图片 47"/>
          <p:cNvPicPr>
            <a:picLocks noChangeAspect="1"/>
          </p:cNvPicPr>
          <p:nvPr/>
        </p:nvPicPr>
        <p:blipFill>
          <a:blip r:embed="rId4"/>
          <a:stretch>
            <a:fillRect/>
          </a:stretch>
        </p:blipFill>
        <p:spPr>
          <a:xfrm rot="18644243">
            <a:off x="2182166" y="1696061"/>
            <a:ext cx="332281" cy="450888"/>
          </a:xfrm>
          <a:prstGeom prst="rect">
            <a:avLst/>
          </a:prstGeom>
        </p:spPr>
      </p:pic>
      <p:pic>
        <p:nvPicPr>
          <p:cNvPr id="50" name="图片 49"/>
          <p:cNvPicPr>
            <a:picLocks noChangeAspect="1"/>
          </p:cNvPicPr>
          <p:nvPr/>
        </p:nvPicPr>
        <p:blipFill>
          <a:blip r:embed="rId4"/>
          <a:stretch>
            <a:fillRect/>
          </a:stretch>
        </p:blipFill>
        <p:spPr>
          <a:xfrm rot="18664587" flipH="1">
            <a:off x="598968" y="1684309"/>
            <a:ext cx="198327" cy="266217"/>
          </a:xfrm>
          <a:prstGeom prst="rect">
            <a:avLst/>
          </a:prstGeom>
        </p:spPr>
      </p:pic>
      <p:sp>
        <p:nvSpPr>
          <p:cNvPr id="124" name="矩形 123"/>
          <p:cNvSpPr/>
          <p:nvPr/>
        </p:nvSpPr>
        <p:spPr>
          <a:xfrm>
            <a:off x="313055" y="1405255"/>
            <a:ext cx="4833620" cy="64516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sym typeface="+mn-ea"/>
              </a:rPr>
              <a:t>Step 2: Design the desired follower motion law</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125" name="文本框 124"/>
          <p:cNvSpPr txBox="1"/>
          <p:nvPr/>
        </p:nvSpPr>
        <p:spPr>
          <a:xfrm>
            <a:off x="400685" y="975995"/>
            <a:ext cx="11650980" cy="398780"/>
          </a:xfrm>
          <a:prstGeom prst="rect">
            <a:avLst/>
          </a:prstGeom>
          <a:noFill/>
        </p:spPr>
        <p:txBody>
          <a:bodyPr wrap="square">
            <a:spAutoFit/>
          </a:bodyPr>
          <a:lstStyle/>
          <a:p>
            <a:pPr algn="ctr"/>
            <a:r>
              <a:rPr lang="zh-CN" altLang="en-US" sz="2000" b="1" dirty="0">
                <a:solidFill>
                  <a:srgbClr val="201E84"/>
                </a:solidFill>
                <a:latin typeface="微软雅黑" panose="020B0503020204020204" pitchFamily="34" charset="-122"/>
                <a:ea typeface="微软雅黑" panose="020B0503020204020204" pitchFamily="34" charset="-122"/>
              </a:rPr>
              <a:t>How to achieve precise intake valve control under </a:t>
            </a:r>
            <a:r>
              <a:rPr lang="zh-CN" altLang="en-US" sz="2000" b="1" dirty="0">
                <a:solidFill>
                  <a:srgbClr val="FF0000"/>
                </a:solidFill>
                <a:latin typeface="微软雅黑" panose="020B0503020204020204" pitchFamily="34" charset="-122"/>
                <a:ea typeface="微软雅黑" panose="020B0503020204020204" pitchFamily="34" charset="-122"/>
              </a:rPr>
              <a:t>dynamic, uncertain</a:t>
            </a:r>
            <a:r>
              <a:rPr lang="zh-CN" altLang="en-US" sz="2000" b="1" dirty="0">
                <a:solidFill>
                  <a:srgbClr val="201E84"/>
                </a:solidFill>
                <a:latin typeface="微软雅黑" panose="020B0503020204020204" pitchFamily="34" charset="-122"/>
                <a:ea typeface="微软雅黑" panose="020B0503020204020204" pitchFamily="34" charset="-122"/>
              </a:rPr>
              <a:t> combustion?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25" name="Text Box 23"/>
          <p:cNvSpPr txBox="1">
            <a:spLocks noChangeArrowheads="1"/>
          </p:cNvSpPr>
          <p:nvPr/>
        </p:nvSpPr>
        <p:spPr bwMode="auto">
          <a:xfrm>
            <a:off x="-51435" y="458152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124460" y="353187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1368343" y="363521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1385476" y="404218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507479" y="204077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47650" y="287147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1327601" y="224083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0" name="Line 24"/>
          <p:cNvSpPr>
            <a:spLocks noChangeShapeType="1"/>
          </p:cNvSpPr>
          <p:nvPr/>
        </p:nvSpPr>
        <p:spPr bwMode="auto">
          <a:xfrm flipH="1">
            <a:off x="1385477" y="253864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1" name="Line 24"/>
          <p:cNvSpPr>
            <a:spLocks noChangeShapeType="1"/>
          </p:cNvSpPr>
          <p:nvPr/>
        </p:nvSpPr>
        <p:spPr bwMode="auto">
          <a:xfrm flipV="1">
            <a:off x="2760063" y="273660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3797906" y="258822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3050415" y="427788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2" name="Text Box 23"/>
          <p:cNvSpPr txBox="1">
            <a:spLocks noChangeArrowheads="1"/>
          </p:cNvSpPr>
          <p:nvPr/>
        </p:nvSpPr>
        <p:spPr bwMode="auto">
          <a:xfrm>
            <a:off x="3595370" y="298958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5" name="Line 24"/>
          <p:cNvSpPr>
            <a:spLocks noChangeShapeType="1"/>
          </p:cNvSpPr>
          <p:nvPr/>
        </p:nvSpPr>
        <p:spPr bwMode="auto">
          <a:xfrm flipV="1">
            <a:off x="2361809" y="320278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3098165" y="5172075"/>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pic>
        <p:nvPicPr>
          <p:cNvPr id="2" name="图片 1"/>
          <p:cNvPicPr>
            <a:picLocks noChangeAspect="1"/>
          </p:cNvPicPr>
          <p:nvPr/>
        </p:nvPicPr>
        <p:blipFill>
          <a:blip r:embed="rId5"/>
          <a:stretch>
            <a:fillRect/>
          </a:stretch>
        </p:blipFill>
        <p:spPr>
          <a:xfrm>
            <a:off x="313055" y="5536565"/>
            <a:ext cx="5086350" cy="1066800"/>
          </a:xfrm>
          <a:prstGeom prst="rect">
            <a:avLst/>
          </a:prstGeom>
        </p:spPr>
      </p:pic>
      <p:pic>
        <p:nvPicPr>
          <p:cNvPr id="3" name="图片 2"/>
          <p:cNvPicPr>
            <a:picLocks noChangeAspect="1"/>
          </p:cNvPicPr>
          <p:nvPr/>
        </p:nvPicPr>
        <p:blipFill>
          <a:blip r:embed="rId6"/>
          <a:stretch>
            <a:fillRect/>
          </a:stretch>
        </p:blipFill>
        <p:spPr>
          <a:xfrm>
            <a:off x="5854700" y="1745615"/>
            <a:ext cx="4657090" cy="1469390"/>
          </a:xfrm>
          <a:prstGeom prst="rect">
            <a:avLst/>
          </a:prstGeom>
        </p:spPr>
      </p:pic>
      <p:sp>
        <p:nvSpPr>
          <p:cNvPr id="4" name="矩形 3"/>
          <p:cNvSpPr/>
          <p:nvPr/>
        </p:nvSpPr>
        <p:spPr>
          <a:xfrm>
            <a:off x="5605697" y="5748881"/>
            <a:ext cx="5163443" cy="461665"/>
          </a:xfrm>
          <a:prstGeom prst="rect">
            <a:avLst/>
          </a:prstGeom>
        </p:spPr>
        <p:txBody>
          <a:bodyPr wrap="square">
            <a:spAutoFit/>
          </a:bodyPr>
          <a:lstStyle/>
          <a:p>
            <a:r>
              <a:rPr lang="en-AU" altLang="zh-CN" sz="2400" b="1" dirty="0">
                <a:solidFill>
                  <a:srgbClr val="201E84"/>
                </a:solidFill>
                <a:latin typeface="+mj-lt"/>
                <a:ea typeface="宋体" panose="02010600030101010101" pitchFamily="2" charset="-122"/>
              </a:rPr>
              <a:t>What is φ? Analyze from working principle — why?</a:t>
            </a:r>
            <a:endParaRPr lang="en-US" altLang="zh-CN" sz="2400" b="1" dirty="0">
              <a:solidFill>
                <a:srgbClr val="201E84"/>
              </a:solidFill>
              <a:latin typeface="微软雅黑" panose="020B0503020204020204" pitchFamily="34" charset="-122"/>
              <a:ea typeface="微软雅黑" panose="020B0503020204020204" pitchFamily="34" charset="-122"/>
            </a:endParaRPr>
          </a:p>
        </p:txBody>
      </p:sp>
      <p:sp>
        <p:nvSpPr>
          <p:cNvPr id="5" name="矩形 4"/>
          <p:cNvSpPr/>
          <p:nvPr/>
        </p:nvSpPr>
        <p:spPr>
          <a:xfrm>
            <a:off x="10789279" y="5744619"/>
            <a:ext cx="1191391" cy="461665"/>
          </a:xfrm>
          <a:prstGeom prst="rect">
            <a:avLst/>
          </a:prstGeom>
        </p:spPr>
        <p:txBody>
          <a:bodyPr wrap="square">
            <a:spAutoFit/>
          </a:bodyPr>
          <a:lstStyle/>
          <a:p>
            <a:r>
              <a:rPr lang="en-US" altLang="zh-CN" sz="2400" b="1" dirty="0">
                <a:solidFill>
                  <a:srgbClr val="FF0000"/>
                </a:solidFill>
                <a:latin typeface="Cambria Math" panose="02040503050406030204" pitchFamily="18" charset="0"/>
                <a:ea typeface="Cambria Math" panose="02040503050406030204" pitchFamily="18" charset="0"/>
              </a:rPr>
              <a:t>90°</a:t>
            </a:r>
            <a:endParaRPr lang="en-AU" altLang="zh-CN" sz="2400" b="1" dirty="0">
              <a:solidFill>
                <a:srgbClr val="FF0000"/>
              </a:solidFill>
            </a:endParaRPr>
          </a:p>
        </p:txBody>
      </p:sp>
      <p:grpSp>
        <p:nvGrpSpPr>
          <p:cNvPr id="6" name="组合 5"/>
          <p:cNvGrpSpPr/>
          <p:nvPr/>
        </p:nvGrpSpPr>
        <p:grpSpPr>
          <a:xfrm>
            <a:off x="6267214" y="3628274"/>
            <a:ext cx="2007621" cy="2097047"/>
            <a:chOff x="7469605" y="1000990"/>
            <a:chExt cx="2007621" cy="2097047"/>
          </a:xfrm>
        </p:grpSpPr>
        <p:pic>
          <p:nvPicPr>
            <p:cNvPr id="7" name="图片 6"/>
            <p:cNvPicPr>
              <a:picLocks noChangeAspect="1"/>
            </p:cNvPicPr>
            <p:nvPr/>
          </p:nvPicPr>
          <p:blipFill>
            <a:blip r:embed="rId7"/>
            <a:stretch>
              <a:fillRect/>
            </a:stretch>
          </p:blipFill>
          <p:spPr>
            <a:xfrm>
              <a:off x="7469605" y="1000990"/>
              <a:ext cx="2007621" cy="2097047"/>
            </a:xfrm>
            <a:prstGeom prst="rect">
              <a:avLst/>
            </a:prstGeom>
          </p:spPr>
        </p:pic>
        <p:cxnSp>
          <p:nvCxnSpPr>
            <p:cNvPr id="14" name="直接箭头连接符 13"/>
            <p:cNvCxnSpPr/>
            <p:nvPr/>
          </p:nvCxnSpPr>
          <p:spPr bwMode="auto">
            <a:xfrm>
              <a:off x="8000087" y="2217070"/>
              <a:ext cx="510581" cy="389852"/>
            </a:xfrm>
            <a:prstGeom prst="straightConnector1">
              <a:avLst/>
            </a:prstGeom>
            <a:solidFill>
              <a:schemeClr val="accent1"/>
            </a:solidFill>
            <a:ln w="9525" cap="flat" cmpd="sng" algn="ctr">
              <a:solidFill>
                <a:srgbClr val="FF0000"/>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p:nvPr/>
          </p:nvCxnSpPr>
          <p:spPr bwMode="auto">
            <a:xfrm flipH="1">
              <a:off x="8532460" y="2186491"/>
              <a:ext cx="457800" cy="421780"/>
            </a:xfrm>
            <a:prstGeom prst="straightConnector1">
              <a:avLst/>
            </a:prstGeom>
            <a:solidFill>
              <a:schemeClr val="accent1"/>
            </a:solidFill>
            <a:ln w="9525" cap="flat" cmpd="sng" algn="ctr">
              <a:solidFill>
                <a:srgbClr val="FF0000"/>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32" name="矩形 31"/>
                <p:cNvSpPr/>
                <p:nvPr/>
              </p:nvSpPr>
              <p:spPr>
                <a:xfrm>
                  <a:off x="8356954" y="2217070"/>
                  <a:ext cx="404406" cy="369332"/>
                </a:xfrm>
                <a:prstGeom prst="rect">
                  <a:avLst/>
                </a:prstGeom>
              </p:spPr>
              <p:txBody>
                <a:bodyPr wrap="none">
                  <a:spAutoFit/>
                </a:bodyPr>
                <a:lstStyle/>
                <a:p>
                  <a:pPr>
                    <a:spcBef>
                      <a:spcPct val="0"/>
                    </a:spcBef>
                  </a:pPr>
                  <a14:m>
                    <m:oMathPara xmlns:m="http://schemas.openxmlformats.org/officeDocument/2006/math">
                      <m:oMathParaPr>
                        <m:jc m:val="centerGroup"/>
                      </m:oMathParaPr>
                      <m:oMath xmlns:m="http://schemas.openxmlformats.org/officeDocument/2006/math">
                        <m:r>
                          <a:rPr lang="en-AU" i="1" smtClean="0">
                            <a:solidFill>
                              <a:srgbClr val="FF0000"/>
                            </a:solidFill>
                            <a:latin typeface="Cambria Math" panose="02040503050406030204" pitchFamily="18" charset="0"/>
                            <a:ea typeface="Cambria Math" panose="02040503050406030204" pitchFamily="18" charset="0"/>
                          </a:rPr>
                          <m:t>𝜑</m:t>
                        </m:r>
                      </m:oMath>
                    </m:oMathPara>
                  </a14:m>
                  <a:endParaRPr lang="zh-CN" altLang="zh-CN" dirty="0">
                    <a:solidFill>
                      <a:srgbClr val="FF0066"/>
                    </a:solidFill>
                    <a:latin typeface="Times New Roman" panose="02020603050405020304" pitchFamily="18" charset="0"/>
                    <a:ea typeface="宋体" panose="02010600030101010101" pitchFamily="2" charset="-122"/>
                  </a:endParaRPr>
                </a:p>
              </p:txBody>
            </p:sp>
          </mc:Choice>
          <mc:Fallback>
            <p:sp>
              <p:nvSpPr>
                <p:cNvPr id="32" name="矩形 31"/>
                <p:cNvSpPr>
                  <a:spLocks noRot="1" noChangeAspect="1" noMove="1" noResize="1" noEditPoints="1" noAdjustHandles="1" noChangeArrowheads="1" noChangeShapeType="1" noTextEdit="1"/>
                </p:cNvSpPr>
                <p:nvPr/>
              </p:nvSpPr>
              <p:spPr>
                <a:xfrm>
                  <a:off x="8356954" y="2217070"/>
                  <a:ext cx="404406" cy="369332"/>
                </a:xfrm>
                <a:prstGeom prst="rect">
                  <a:avLst/>
                </a:prstGeom>
                <a:blipFill rotWithShape="1">
                  <a:blip r:embed="rId8"/>
                </a:blipFill>
              </p:spPr>
              <p:txBody>
                <a:bodyPr/>
                <a:lstStyle/>
                <a:p>
                  <a:r>
                    <a:rPr lang="zh-CN" altLang="en-US">
                      <a:noFill/>
                    </a:rPr>
                    <a:t> </a:t>
                  </a:r>
                </a:p>
              </p:txBody>
            </p:sp>
          </mc:Fallback>
        </mc:AlternateContent>
      </p:grpSp>
      <p:pic>
        <p:nvPicPr>
          <p:cNvPr id="33" name="图片 32"/>
          <p:cNvPicPr>
            <a:picLocks noChangeAspect="1"/>
          </p:cNvPicPr>
          <p:nvPr/>
        </p:nvPicPr>
        <p:blipFill>
          <a:blip r:embed="rId9"/>
          <a:stretch>
            <a:fillRect/>
          </a:stretch>
        </p:blipFill>
        <p:spPr>
          <a:xfrm>
            <a:off x="8414500" y="3585719"/>
            <a:ext cx="1206345" cy="2192709"/>
          </a:xfrm>
          <a:prstGeom prst="rect">
            <a:avLst/>
          </a:prstGeom>
        </p:spPr>
      </p:pic>
      <p:sp>
        <p:nvSpPr>
          <p:cNvPr id="137" name="文本框 136"/>
          <p:cNvSpPr txBox="1"/>
          <p:nvPr/>
        </p:nvSpPr>
        <p:spPr>
          <a:xfrm>
            <a:off x="5088853" y="3885428"/>
            <a:ext cx="2640714" cy="368300"/>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Cam Profile</a:t>
            </a:r>
            <a:endParaRPr lang="zh-CN" altLang="en-US" b="1"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95" name="Line 24"/>
          <p:cNvSpPr>
            <a:spLocks noChangeShapeType="1"/>
          </p:cNvSpPr>
          <p:nvPr/>
        </p:nvSpPr>
        <p:spPr bwMode="auto">
          <a:xfrm flipH="1" flipV="1">
            <a:off x="6797410" y="3265170"/>
            <a:ext cx="0" cy="593055"/>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3"/>
                                        </p:tgtEl>
                                      </p:cBhvr>
                                    </p:cmd>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7" restart="whenNotActive" fill="hold" evtFilter="cancelBubble" nodeType="interactiveSeq">
                <p:stCondLst>
                  <p:cond evt="onClick" delay="0">
                    <p:tgtEl>
                      <p:spTgt spid="23"/>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23"/>
                                        </p:tgtEl>
                                      </p:cBhvr>
                                    </p:cmd>
                                  </p:childTnLst>
                                </p:cTn>
                              </p:par>
                            </p:childTnLst>
                          </p:cTn>
                        </p:par>
                      </p:childTnLst>
                    </p:cTn>
                  </p:par>
                </p:childTnLst>
              </p:cTn>
              <p:nextCondLst>
                <p:cond evt="onClick" delay="0">
                  <p:tgtEl>
                    <p:spTgt spid="23"/>
                  </p:tgtEl>
                </p:cond>
              </p:nextCondLst>
            </p:seq>
            <p:video>
              <p:cMediaNode vol="80000">
                <p:cTn id="22" repeatCount="indefinite" fill="hold" display="0">
                  <p:stCondLst>
                    <p:cond delay="indefinite"/>
                  </p:stCondLst>
                </p:cTn>
                <p:tgtEl>
                  <p:spTgt spid="23"/>
                </p:tgtEl>
              </p:cMediaNode>
            </p:video>
          </p:childTnLst>
        </p:cTn>
      </p:par>
    </p:tnLst>
    <p:bldLst>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3128" y="1915517"/>
            <a:ext cx="4492636" cy="3369477"/>
          </a:xfrm>
          <a:prstGeom prst="rect">
            <a:avLst/>
          </a:prstGeom>
        </p:spPr>
      </p:pic>
      <p:sp>
        <p:nvSpPr>
          <p:cNvPr id="24" name="矩形 23"/>
          <p:cNvSpPr/>
          <p:nvPr/>
        </p:nvSpPr>
        <p:spPr bwMode="auto">
          <a:xfrm>
            <a:off x="318034" y="2031578"/>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TextBox 8"/>
          <p:cNvSpPr txBox="1"/>
          <p:nvPr/>
        </p:nvSpPr>
        <p:spPr>
          <a:xfrm>
            <a:off x="1007745" y="319405"/>
            <a:ext cx="92094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Discussion</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z="1600" smtClean="0">
                <a:latin typeface="+mj-lt"/>
                <a:ea typeface="微软雅黑" panose="020B0503020204020204" pitchFamily="34" charset="-122"/>
              </a:rPr>
            </a:fld>
            <a:endParaRPr lang="zh-CN" altLang="en-US" sz="1600" dirty="0" smtClean="0">
              <a:latin typeface="+mj-lt"/>
              <a:ea typeface="微软雅黑" panose="020B0503020204020204" pitchFamily="34" charset="-122"/>
            </a:endParaRPr>
          </a:p>
        </p:txBody>
      </p:sp>
      <p:pic>
        <p:nvPicPr>
          <p:cNvPr id="36" name="图片 35"/>
          <p:cNvPicPr>
            <a:picLocks noChangeAspect="1"/>
          </p:cNvPicPr>
          <p:nvPr/>
        </p:nvPicPr>
        <p:blipFill>
          <a:blip r:embed="rId4"/>
          <a:stretch>
            <a:fillRect/>
          </a:stretch>
        </p:blipFill>
        <p:spPr>
          <a:xfrm rot="18644243">
            <a:off x="959333" y="1889462"/>
            <a:ext cx="436376" cy="585720"/>
          </a:xfrm>
          <a:prstGeom prst="rect">
            <a:avLst/>
          </a:prstGeom>
        </p:spPr>
      </p:pic>
      <p:pic>
        <p:nvPicPr>
          <p:cNvPr id="37" name="图片 36"/>
          <p:cNvPicPr>
            <a:picLocks noChangeAspect="1"/>
          </p:cNvPicPr>
          <p:nvPr/>
        </p:nvPicPr>
        <p:blipFill>
          <a:blip r:embed="rId4"/>
          <a:stretch>
            <a:fillRect/>
          </a:stretch>
        </p:blipFill>
        <p:spPr>
          <a:xfrm rot="16200000">
            <a:off x="883297" y="1278137"/>
            <a:ext cx="228474" cy="964549"/>
          </a:xfrm>
          <a:prstGeom prst="rect">
            <a:avLst/>
          </a:prstGeom>
        </p:spPr>
      </p:pic>
      <p:pic>
        <p:nvPicPr>
          <p:cNvPr id="40" name="图片 39"/>
          <p:cNvPicPr>
            <a:picLocks noChangeAspect="1"/>
          </p:cNvPicPr>
          <p:nvPr/>
        </p:nvPicPr>
        <p:blipFill>
          <a:blip r:embed="rId4"/>
          <a:stretch>
            <a:fillRect/>
          </a:stretch>
        </p:blipFill>
        <p:spPr>
          <a:xfrm rot="18664587">
            <a:off x="802707" y="1694430"/>
            <a:ext cx="328815" cy="441373"/>
          </a:xfrm>
          <a:prstGeom prst="rect">
            <a:avLst/>
          </a:prstGeom>
        </p:spPr>
      </p:pic>
      <p:pic>
        <p:nvPicPr>
          <p:cNvPr id="45" name="图片 44"/>
          <p:cNvPicPr>
            <a:picLocks noChangeAspect="1"/>
          </p:cNvPicPr>
          <p:nvPr/>
        </p:nvPicPr>
        <p:blipFill>
          <a:blip r:embed="rId4"/>
          <a:stretch>
            <a:fillRect/>
          </a:stretch>
        </p:blipFill>
        <p:spPr>
          <a:xfrm>
            <a:off x="735414" y="1657827"/>
            <a:ext cx="70837" cy="354543"/>
          </a:xfrm>
          <a:prstGeom prst="rect">
            <a:avLst/>
          </a:prstGeom>
        </p:spPr>
      </p:pic>
      <p:pic>
        <p:nvPicPr>
          <p:cNvPr id="48" name="图片 47"/>
          <p:cNvPicPr>
            <a:picLocks noChangeAspect="1"/>
          </p:cNvPicPr>
          <p:nvPr/>
        </p:nvPicPr>
        <p:blipFill>
          <a:blip r:embed="rId4"/>
          <a:stretch>
            <a:fillRect/>
          </a:stretch>
        </p:blipFill>
        <p:spPr>
          <a:xfrm rot="18644243">
            <a:off x="2182166" y="1696061"/>
            <a:ext cx="332281" cy="450888"/>
          </a:xfrm>
          <a:prstGeom prst="rect">
            <a:avLst/>
          </a:prstGeom>
        </p:spPr>
      </p:pic>
      <p:pic>
        <p:nvPicPr>
          <p:cNvPr id="50" name="图片 49"/>
          <p:cNvPicPr>
            <a:picLocks noChangeAspect="1"/>
          </p:cNvPicPr>
          <p:nvPr/>
        </p:nvPicPr>
        <p:blipFill>
          <a:blip r:embed="rId4"/>
          <a:stretch>
            <a:fillRect/>
          </a:stretch>
        </p:blipFill>
        <p:spPr>
          <a:xfrm rot="18664587" flipH="1">
            <a:off x="598968" y="1684309"/>
            <a:ext cx="198327" cy="266217"/>
          </a:xfrm>
          <a:prstGeom prst="rect">
            <a:avLst/>
          </a:prstGeom>
        </p:spPr>
      </p:pic>
      <p:sp>
        <p:nvSpPr>
          <p:cNvPr id="125" name="文本框 124"/>
          <p:cNvSpPr txBox="1"/>
          <p:nvPr/>
        </p:nvSpPr>
        <p:spPr>
          <a:xfrm>
            <a:off x="400685" y="975995"/>
            <a:ext cx="11650980" cy="398780"/>
          </a:xfrm>
          <a:prstGeom prst="rect">
            <a:avLst/>
          </a:prstGeom>
          <a:noFill/>
        </p:spPr>
        <p:txBody>
          <a:bodyPr wrap="square">
            <a:spAutoFit/>
          </a:bodyPr>
          <a:lstStyle/>
          <a:p>
            <a:pPr algn="ctr"/>
            <a:r>
              <a:rPr lang="zh-CN" altLang="en-US" sz="2000" b="1" dirty="0">
                <a:solidFill>
                  <a:srgbClr val="201E84"/>
                </a:solidFill>
                <a:latin typeface="微软雅黑" panose="020B0503020204020204" pitchFamily="34" charset="-122"/>
                <a:ea typeface="微软雅黑" panose="020B0503020204020204" pitchFamily="34" charset="-122"/>
              </a:rPr>
              <a:t>How to achieve precise intake valve control under </a:t>
            </a:r>
            <a:r>
              <a:rPr lang="zh-CN" altLang="en-US" sz="2000" b="1" dirty="0">
                <a:solidFill>
                  <a:srgbClr val="FF0000"/>
                </a:solidFill>
                <a:latin typeface="微软雅黑" panose="020B0503020204020204" pitchFamily="34" charset="-122"/>
                <a:ea typeface="微软雅黑" panose="020B0503020204020204" pitchFamily="34" charset="-122"/>
              </a:rPr>
              <a:t>dynamic, uncertain</a:t>
            </a:r>
            <a:r>
              <a:rPr lang="zh-CN" altLang="en-US" sz="2000" b="1" dirty="0">
                <a:solidFill>
                  <a:srgbClr val="201E84"/>
                </a:solidFill>
                <a:latin typeface="微软雅黑" panose="020B0503020204020204" pitchFamily="34" charset="-122"/>
                <a:ea typeface="微软雅黑" panose="020B0503020204020204" pitchFamily="34" charset="-122"/>
              </a:rPr>
              <a:t> combustion?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25" name="Text Box 23"/>
          <p:cNvSpPr txBox="1">
            <a:spLocks noChangeArrowheads="1"/>
          </p:cNvSpPr>
          <p:nvPr/>
        </p:nvSpPr>
        <p:spPr bwMode="auto">
          <a:xfrm>
            <a:off x="-51435" y="458152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124460" y="353187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1368343" y="363521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1385476" y="404218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507479" y="204077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47650" y="287147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1327601" y="224083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0" name="Line 24"/>
          <p:cNvSpPr>
            <a:spLocks noChangeShapeType="1"/>
          </p:cNvSpPr>
          <p:nvPr/>
        </p:nvSpPr>
        <p:spPr bwMode="auto">
          <a:xfrm flipH="1">
            <a:off x="1385477" y="253864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1" name="Line 24"/>
          <p:cNvSpPr>
            <a:spLocks noChangeShapeType="1"/>
          </p:cNvSpPr>
          <p:nvPr/>
        </p:nvSpPr>
        <p:spPr bwMode="auto">
          <a:xfrm flipV="1">
            <a:off x="2760063" y="273660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3797906" y="258822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3050415" y="427788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2" name="Text Box 23"/>
          <p:cNvSpPr txBox="1">
            <a:spLocks noChangeArrowheads="1"/>
          </p:cNvSpPr>
          <p:nvPr/>
        </p:nvSpPr>
        <p:spPr bwMode="auto">
          <a:xfrm>
            <a:off x="3595370" y="298958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5" name="Line 24"/>
          <p:cNvSpPr>
            <a:spLocks noChangeShapeType="1"/>
          </p:cNvSpPr>
          <p:nvPr/>
        </p:nvSpPr>
        <p:spPr bwMode="auto">
          <a:xfrm flipV="1">
            <a:off x="2361809" y="320278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3098165" y="5172075"/>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pic>
        <p:nvPicPr>
          <p:cNvPr id="2" name="图片 1"/>
          <p:cNvPicPr>
            <a:picLocks noChangeAspect="1"/>
          </p:cNvPicPr>
          <p:nvPr/>
        </p:nvPicPr>
        <p:blipFill>
          <a:blip r:embed="rId5"/>
          <a:stretch>
            <a:fillRect/>
          </a:stretch>
        </p:blipFill>
        <p:spPr>
          <a:xfrm>
            <a:off x="313055" y="5536565"/>
            <a:ext cx="5086350" cy="1066800"/>
          </a:xfrm>
          <a:prstGeom prst="rect">
            <a:avLst/>
          </a:prstGeom>
        </p:spPr>
      </p:pic>
      <p:sp>
        <p:nvSpPr>
          <p:cNvPr id="129" name="文本框 128"/>
          <p:cNvSpPr txBox="1"/>
          <p:nvPr/>
        </p:nvSpPr>
        <p:spPr>
          <a:xfrm>
            <a:off x="5713730" y="1482725"/>
            <a:ext cx="6755765" cy="398780"/>
          </a:xfrm>
          <a:prstGeom prst="rect">
            <a:avLst/>
          </a:prstGeom>
          <a:noFill/>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Can electronic control be used instead?</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85" name="文本框 184"/>
          <p:cNvSpPr txBox="1"/>
          <p:nvPr/>
        </p:nvSpPr>
        <p:spPr>
          <a:xfrm>
            <a:off x="5749290" y="1961515"/>
            <a:ext cx="3836670" cy="398780"/>
          </a:xfrm>
          <a:prstGeom prst="rect">
            <a:avLst/>
          </a:prstGeom>
          <a:noFill/>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Add an electric motor?</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86" name="矩形 185"/>
          <p:cNvSpPr/>
          <p:nvPr/>
        </p:nvSpPr>
        <p:spPr>
          <a:xfrm>
            <a:off x="5724525" y="2948305"/>
            <a:ext cx="5450205" cy="1014730"/>
          </a:xfrm>
          <a:prstGeom prst="rect">
            <a:avLst/>
          </a:prstGeom>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Add sensors and controller for closed-loop system</a:t>
            </a:r>
            <a:endParaRPr lang="en-US" altLang="zh-CN" sz="2000" b="1" dirty="0">
              <a:solidFill>
                <a:srgbClr val="201E84"/>
              </a:solidFill>
              <a:latin typeface="微软雅黑" panose="020B0503020204020204" pitchFamily="34" charset="-122"/>
              <a:ea typeface="微软雅黑" panose="020B0503020204020204" pitchFamily="34" charset="-122"/>
            </a:endParaRPr>
          </a:p>
          <a:p>
            <a:r>
              <a:rPr lang="zh-CN" altLang="en-US" sz="2000" b="1" dirty="0">
                <a:solidFill>
                  <a:srgbClr val="201E84"/>
                </a:solidFill>
                <a:latin typeface="微软雅黑" panose="020B0503020204020204" pitchFamily="34" charset="-122"/>
                <a:ea typeface="微软雅黑" panose="020B0503020204020204" pitchFamily="34" charset="-122"/>
              </a:rPr>
              <a:t>Automatically send drive signals?</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87" name="矩形 186"/>
          <p:cNvSpPr/>
          <p:nvPr/>
        </p:nvSpPr>
        <p:spPr>
          <a:xfrm>
            <a:off x="5724525" y="4147185"/>
            <a:ext cx="4014470" cy="706755"/>
          </a:xfrm>
          <a:prstGeom prst="rect">
            <a:avLst/>
          </a:prstGeom>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What to measure? Where to place sensors?</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88" name="矩形 187"/>
          <p:cNvSpPr/>
          <p:nvPr/>
        </p:nvSpPr>
        <p:spPr>
          <a:xfrm>
            <a:off x="5713730" y="4938395"/>
            <a:ext cx="6132195" cy="398780"/>
          </a:xfrm>
          <a:prstGeom prst="rect">
            <a:avLst/>
          </a:prstGeom>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Measure main shaft angular position?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89" name="矩形 188"/>
          <p:cNvSpPr/>
          <p:nvPr/>
        </p:nvSpPr>
        <p:spPr>
          <a:xfrm>
            <a:off x="5749290" y="6341745"/>
            <a:ext cx="4662805" cy="398780"/>
          </a:xfrm>
          <a:prstGeom prst="rect">
            <a:avLst/>
          </a:prstGeom>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Response speed? Reliability?</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190" name="矩形 189"/>
          <p:cNvSpPr/>
          <p:nvPr/>
        </p:nvSpPr>
        <p:spPr>
          <a:xfrm>
            <a:off x="5749290" y="5483860"/>
            <a:ext cx="5825490" cy="706755"/>
          </a:xfrm>
          <a:prstGeom prst="rect">
            <a:avLst/>
          </a:prstGeom>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What characterizes the kinetic energy from engine combustion?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191" name="文本框 190"/>
          <p:cNvSpPr txBox="1"/>
          <p:nvPr/>
        </p:nvSpPr>
        <p:spPr>
          <a:xfrm>
            <a:off x="5749290" y="2457450"/>
            <a:ext cx="7056120" cy="398780"/>
          </a:xfrm>
          <a:prstGeom prst="rect">
            <a:avLst/>
          </a:prstGeom>
          <a:noFill/>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When to send drive signals?</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3"/>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9" restart="whenNotActive" fill="hold" evtFilter="cancelBubble" nodeType="interactiveSeq">
                <p:stCondLst>
                  <p:cond evt="onClick" delay="0">
                    <p:tgtEl>
                      <p:spTgt spid="23"/>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23"/>
                                        </p:tgtEl>
                                      </p:cBhvr>
                                    </p:cmd>
                                  </p:childTnLst>
                                </p:cTn>
                              </p:par>
                            </p:childTnLst>
                          </p:cTn>
                        </p:par>
                      </p:childTnLst>
                    </p:cTn>
                  </p:par>
                </p:childTnLst>
              </p:cTn>
              <p:nextCondLst>
                <p:cond evt="onClick" delay="0">
                  <p:tgtEl>
                    <p:spTgt spid="23"/>
                  </p:tgtEl>
                </p:cond>
              </p:nextCondLst>
            </p:seq>
            <p:video>
              <p:cMediaNode vol="80000">
                <p:cTn id="34" repeatCount="indefinite" fill="hold" display="0">
                  <p:stCondLst>
                    <p:cond delay="indefinite"/>
                  </p:stCondLst>
                </p:cTn>
                <p:tgtEl>
                  <p:spTgt spid="23"/>
                </p:tgtEl>
              </p:cMediaNode>
            </p:video>
          </p:childTnLst>
        </p:cTn>
      </p:par>
    </p:tnLst>
    <p:bldLst>
      <p:bldP spid="185" grpId="0"/>
      <p:bldP spid="186" grpId="0"/>
      <p:bldP spid="187" grpId="0"/>
      <p:bldP spid="188" grpId="0"/>
      <p:bldP spid="189" grpId="0"/>
      <p:bldP spid="190" grpId="0"/>
      <p:bldP spid="19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3128" y="1915517"/>
            <a:ext cx="4492636" cy="3369477"/>
          </a:xfrm>
          <a:prstGeom prst="rect">
            <a:avLst/>
          </a:prstGeom>
        </p:spPr>
      </p:pic>
      <p:sp>
        <p:nvSpPr>
          <p:cNvPr id="24" name="矩形 23"/>
          <p:cNvSpPr/>
          <p:nvPr/>
        </p:nvSpPr>
        <p:spPr bwMode="auto">
          <a:xfrm>
            <a:off x="318034" y="2031578"/>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TextBox 8"/>
          <p:cNvSpPr txBox="1"/>
          <p:nvPr/>
        </p:nvSpPr>
        <p:spPr>
          <a:xfrm>
            <a:off x="1007745" y="319405"/>
            <a:ext cx="92094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Discussion</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z="1600" smtClean="0">
                <a:latin typeface="+mj-lt"/>
                <a:ea typeface="微软雅黑" panose="020B0503020204020204" pitchFamily="34" charset="-122"/>
              </a:rPr>
            </a:fld>
            <a:endParaRPr lang="zh-CN" altLang="en-US" sz="1600" dirty="0" smtClean="0">
              <a:latin typeface="+mj-lt"/>
              <a:ea typeface="微软雅黑" panose="020B0503020204020204" pitchFamily="34" charset="-122"/>
            </a:endParaRPr>
          </a:p>
        </p:txBody>
      </p:sp>
      <p:pic>
        <p:nvPicPr>
          <p:cNvPr id="36" name="图片 35"/>
          <p:cNvPicPr>
            <a:picLocks noChangeAspect="1"/>
          </p:cNvPicPr>
          <p:nvPr/>
        </p:nvPicPr>
        <p:blipFill>
          <a:blip r:embed="rId4"/>
          <a:stretch>
            <a:fillRect/>
          </a:stretch>
        </p:blipFill>
        <p:spPr>
          <a:xfrm rot="18644243">
            <a:off x="959333" y="1889462"/>
            <a:ext cx="436376" cy="585720"/>
          </a:xfrm>
          <a:prstGeom prst="rect">
            <a:avLst/>
          </a:prstGeom>
        </p:spPr>
      </p:pic>
      <p:pic>
        <p:nvPicPr>
          <p:cNvPr id="37" name="图片 36"/>
          <p:cNvPicPr>
            <a:picLocks noChangeAspect="1"/>
          </p:cNvPicPr>
          <p:nvPr/>
        </p:nvPicPr>
        <p:blipFill>
          <a:blip r:embed="rId4"/>
          <a:stretch>
            <a:fillRect/>
          </a:stretch>
        </p:blipFill>
        <p:spPr>
          <a:xfrm rot="16200000">
            <a:off x="883297" y="1278137"/>
            <a:ext cx="228474" cy="964549"/>
          </a:xfrm>
          <a:prstGeom prst="rect">
            <a:avLst/>
          </a:prstGeom>
        </p:spPr>
      </p:pic>
      <p:pic>
        <p:nvPicPr>
          <p:cNvPr id="40" name="图片 39"/>
          <p:cNvPicPr>
            <a:picLocks noChangeAspect="1"/>
          </p:cNvPicPr>
          <p:nvPr/>
        </p:nvPicPr>
        <p:blipFill>
          <a:blip r:embed="rId4"/>
          <a:stretch>
            <a:fillRect/>
          </a:stretch>
        </p:blipFill>
        <p:spPr>
          <a:xfrm rot="18664587">
            <a:off x="802707" y="1694430"/>
            <a:ext cx="328815" cy="441373"/>
          </a:xfrm>
          <a:prstGeom prst="rect">
            <a:avLst/>
          </a:prstGeom>
        </p:spPr>
      </p:pic>
      <p:pic>
        <p:nvPicPr>
          <p:cNvPr id="45" name="图片 44"/>
          <p:cNvPicPr>
            <a:picLocks noChangeAspect="1"/>
          </p:cNvPicPr>
          <p:nvPr/>
        </p:nvPicPr>
        <p:blipFill>
          <a:blip r:embed="rId4"/>
          <a:stretch>
            <a:fillRect/>
          </a:stretch>
        </p:blipFill>
        <p:spPr>
          <a:xfrm>
            <a:off x="735414" y="1657827"/>
            <a:ext cx="70837" cy="354543"/>
          </a:xfrm>
          <a:prstGeom prst="rect">
            <a:avLst/>
          </a:prstGeom>
        </p:spPr>
      </p:pic>
      <p:pic>
        <p:nvPicPr>
          <p:cNvPr id="48" name="图片 47"/>
          <p:cNvPicPr>
            <a:picLocks noChangeAspect="1"/>
          </p:cNvPicPr>
          <p:nvPr/>
        </p:nvPicPr>
        <p:blipFill>
          <a:blip r:embed="rId4"/>
          <a:stretch>
            <a:fillRect/>
          </a:stretch>
        </p:blipFill>
        <p:spPr>
          <a:xfrm rot="18644243">
            <a:off x="2182166" y="1696061"/>
            <a:ext cx="332281" cy="450888"/>
          </a:xfrm>
          <a:prstGeom prst="rect">
            <a:avLst/>
          </a:prstGeom>
        </p:spPr>
      </p:pic>
      <p:pic>
        <p:nvPicPr>
          <p:cNvPr id="50" name="图片 49"/>
          <p:cNvPicPr>
            <a:picLocks noChangeAspect="1"/>
          </p:cNvPicPr>
          <p:nvPr/>
        </p:nvPicPr>
        <p:blipFill>
          <a:blip r:embed="rId4"/>
          <a:stretch>
            <a:fillRect/>
          </a:stretch>
        </p:blipFill>
        <p:spPr>
          <a:xfrm rot="18664587" flipH="1">
            <a:off x="598968" y="1684309"/>
            <a:ext cx="198327" cy="266217"/>
          </a:xfrm>
          <a:prstGeom prst="rect">
            <a:avLst/>
          </a:prstGeom>
        </p:spPr>
      </p:pic>
      <p:sp>
        <p:nvSpPr>
          <p:cNvPr id="125" name="文本框 124"/>
          <p:cNvSpPr txBox="1"/>
          <p:nvPr/>
        </p:nvSpPr>
        <p:spPr>
          <a:xfrm>
            <a:off x="400685" y="975995"/>
            <a:ext cx="11650980" cy="398780"/>
          </a:xfrm>
          <a:prstGeom prst="rect">
            <a:avLst/>
          </a:prstGeom>
          <a:noFill/>
        </p:spPr>
        <p:txBody>
          <a:bodyPr wrap="square">
            <a:spAutoFit/>
          </a:bodyPr>
          <a:lstStyle/>
          <a:p>
            <a:pPr algn="ctr"/>
            <a:r>
              <a:rPr lang="zh-CN" altLang="en-US" sz="2000" b="1" dirty="0">
                <a:solidFill>
                  <a:srgbClr val="201E84"/>
                </a:solidFill>
                <a:latin typeface="微软雅黑" panose="020B0503020204020204" pitchFamily="34" charset="-122"/>
                <a:ea typeface="微软雅黑" panose="020B0503020204020204" pitchFamily="34" charset="-122"/>
              </a:rPr>
              <a:t>How to achieve precise intake valve control under </a:t>
            </a:r>
            <a:r>
              <a:rPr lang="zh-CN" altLang="en-US" sz="2000" b="1" dirty="0">
                <a:solidFill>
                  <a:srgbClr val="FF0000"/>
                </a:solidFill>
                <a:latin typeface="微软雅黑" panose="020B0503020204020204" pitchFamily="34" charset="-122"/>
                <a:ea typeface="微软雅黑" panose="020B0503020204020204" pitchFamily="34" charset="-122"/>
              </a:rPr>
              <a:t>dynamic, uncertain</a:t>
            </a:r>
            <a:r>
              <a:rPr lang="zh-CN" altLang="en-US" sz="2000" b="1" dirty="0">
                <a:solidFill>
                  <a:srgbClr val="201E84"/>
                </a:solidFill>
                <a:latin typeface="微软雅黑" panose="020B0503020204020204" pitchFamily="34" charset="-122"/>
                <a:ea typeface="微软雅黑" panose="020B0503020204020204" pitchFamily="34" charset="-122"/>
              </a:rPr>
              <a:t> combustion?</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
        <p:nvSpPr>
          <p:cNvPr id="25" name="Text Box 23"/>
          <p:cNvSpPr txBox="1">
            <a:spLocks noChangeArrowheads="1"/>
          </p:cNvSpPr>
          <p:nvPr/>
        </p:nvSpPr>
        <p:spPr bwMode="auto">
          <a:xfrm>
            <a:off x="-51435" y="458152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124460" y="353187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1368343" y="363521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1385476" y="404218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507479" y="204077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47650" y="287147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1327601" y="224083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0" name="Line 24"/>
          <p:cNvSpPr>
            <a:spLocks noChangeShapeType="1"/>
          </p:cNvSpPr>
          <p:nvPr/>
        </p:nvSpPr>
        <p:spPr bwMode="auto">
          <a:xfrm flipH="1">
            <a:off x="1385477" y="253864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1" name="Line 24"/>
          <p:cNvSpPr>
            <a:spLocks noChangeShapeType="1"/>
          </p:cNvSpPr>
          <p:nvPr/>
        </p:nvSpPr>
        <p:spPr bwMode="auto">
          <a:xfrm flipV="1">
            <a:off x="2760063" y="273660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3797906" y="258822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3050415" y="427788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2" name="Text Box 23"/>
          <p:cNvSpPr txBox="1">
            <a:spLocks noChangeArrowheads="1"/>
          </p:cNvSpPr>
          <p:nvPr/>
        </p:nvSpPr>
        <p:spPr bwMode="auto">
          <a:xfrm>
            <a:off x="3595370" y="298958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5" name="Line 24"/>
          <p:cNvSpPr>
            <a:spLocks noChangeShapeType="1"/>
          </p:cNvSpPr>
          <p:nvPr/>
        </p:nvSpPr>
        <p:spPr bwMode="auto">
          <a:xfrm flipV="1">
            <a:off x="2361809" y="320278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3098165" y="5172075"/>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pic>
        <p:nvPicPr>
          <p:cNvPr id="2" name="图片 1"/>
          <p:cNvPicPr>
            <a:picLocks noChangeAspect="1"/>
          </p:cNvPicPr>
          <p:nvPr/>
        </p:nvPicPr>
        <p:blipFill>
          <a:blip r:embed="rId5"/>
          <a:stretch>
            <a:fillRect/>
          </a:stretch>
        </p:blipFill>
        <p:spPr>
          <a:xfrm>
            <a:off x="313055" y="5536565"/>
            <a:ext cx="5086350" cy="1066800"/>
          </a:xfrm>
          <a:prstGeom prst="rect">
            <a:avLst/>
          </a:prstGeom>
        </p:spPr>
      </p:pic>
      <p:sp>
        <p:nvSpPr>
          <p:cNvPr id="82" name="文本框 81"/>
          <p:cNvSpPr txBox="1"/>
          <p:nvPr/>
        </p:nvSpPr>
        <p:spPr>
          <a:xfrm>
            <a:off x="4921885" y="1367155"/>
            <a:ext cx="6135370" cy="645160"/>
          </a:xfrm>
          <a:prstGeom prst="rect">
            <a:avLst/>
          </a:prstGeom>
          <a:noFill/>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Advantages of purely mechanical automation vs. electronic control:</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146" name="矩形 145"/>
          <p:cNvSpPr/>
          <p:nvPr/>
        </p:nvSpPr>
        <p:spPr>
          <a:xfrm>
            <a:off x="5058317" y="1874561"/>
            <a:ext cx="6418361" cy="645160"/>
          </a:xfrm>
          <a:prstGeom prst="rect">
            <a:avLst/>
          </a:prstGeom>
        </p:spPr>
        <p:txBody>
          <a:bodyPr wrap="square">
            <a:spAutoFit/>
          </a:bodyPr>
          <a:lstStyle/>
          <a:p>
            <a:r>
              <a:rPr lang="en-US" altLang="zh-CN" sz="2000" b="1" dirty="0">
                <a:latin typeface="+mj-lt"/>
                <a:ea typeface="微软雅黑" panose="020B0503020204020204" pitchFamily="34" charset="-122"/>
              </a:rPr>
              <a:t>1. Can share a single power source</a:t>
            </a:r>
            <a:endParaRPr lang="en-US" altLang="zh-CN" sz="2000" b="1" dirty="0">
              <a:latin typeface="微软雅黑" panose="020B0503020204020204" pitchFamily="34" charset="-122"/>
              <a:ea typeface="微软雅黑" panose="020B0503020204020204" pitchFamily="34" charset="-122"/>
            </a:endParaRPr>
          </a:p>
          <a:p>
            <a:r>
              <a:rPr lang="zh-CN" altLang="en-US" sz="1600" b="1" dirty="0">
                <a:solidFill>
                  <a:srgbClr val="FF0000"/>
                </a:solidFill>
                <a:latin typeface="微软雅黑" panose="020B0503020204020204" pitchFamily="34" charset="-122"/>
                <a:ea typeface="微软雅黑" panose="020B0503020204020204" pitchFamily="34" charset="-122"/>
              </a:rPr>
              <a:t>（</a:t>
            </a:r>
            <a:r>
              <a:rPr lang="en-US" altLang="zh-CN" sz="1600" b="1" dirty="0">
                <a:solidFill>
                  <a:srgbClr val="FF0000"/>
                </a:solidFill>
                <a:latin typeface="微软雅黑" panose="020B0503020204020204" pitchFamily="34" charset="-122"/>
                <a:ea typeface="微软雅黑" panose="020B0503020204020204" pitchFamily="34" charset="-122"/>
              </a:rPr>
              <a:t>No additional drive, sensor, or controller required.</a:t>
            </a:r>
            <a:r>
              <a:rPr lang="zh-CN" altLang="en-US" sz="1600" b="1" dirty="0">
                <a:solidFill>
                  <a:srgbClr val="FF0000"/>
                </a:solidFill>
                <a:latin typeface="微软雅黑" panose="020B0503020204020204" pitchFamily="34" charset="-122"/>
                <a:ea typeface="微软雅黑" panose="020B0503020204020204" pitchFamily="34" charset="-122"/>
              </a:rPr>
              <a:t>）</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47" name="矩形 146"/>
          <p:cNvSpPr/>
          <p:nvPr/>
        </p:nvSpPr>
        <p:spPr>
          <a:xfrm>
            <a:off x="4992912" y="3089711"/>
            <a:ext cx="6877017" cy="583565"/>
          </a:xfrm>
          <a:prstGeom prst="rect">
            <a:avLst/>
          </a:prstGeom>
        </p:spPr>
        <p:txBody>
          <a:bodyPr wrap="square">
            <a:spAutoFit/>
          </a:bodyPr>
          <a:lstStyle/>
          <a:p>
            <a:r>
              <a:rPr lang="en-US" altLang="zh-CN" sz="2000" b="1" dirty="0">
                <a:latin typeface="+mj-lt"/>
                <a:ea typeface="微软雅黑" panose="020B0503020204020204" pitchFamily="34" charset="-122"/>
              </a:rPr>
              <a:t>3. High reliability and durability</a:t>
            </a:r>
            <a:endParaRPr lang="en-US" altLang="zh-CN" sz="20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Electronic components are sensitive to environment (</a:t>
            </a:r>
            <a:r>
              <a:rPr lang="zh-CN" altLang="en-US" sz="1200" b="1" dirty="0">
                <a:solidFill>
                  <a:srgbClr val="FF0000"/>
                </a:solidFill>
                <a:latin typeface="微软雅黑" panose="020B0503020204020204" pitchFamily="34" charset="-122"/>
                <a:ea typeface="微软雅黑" panose="020B0503020204020204" pitchFamily="34" charset="-122"/>
              </a:rPr>
              <a:t>temperature, humidity, EM</a:t>
            </a:r>
            <a:r>
              <a:rPr lang="zh-CN" altLang="en-US" sz="1200" b="1" dirty="0">
                <a:latin typeface="微软雅黑" panose="020B0503020204020204" pitchFamily="34" charset="-122"/>
                <a:ea typeface="微软雅黑" panose="020B0503020204020204" pitchFamily="34" charset="-122"/>
              </a:rPr>
              <a:t>I...)</a:t>
            </a:r>
            <a:endParaRPr lang="zh-CN" altLang="en-US" sz="1200" b="1" dirty="0">
              <a:latin typeface="微软雅黑" panose="020B0503020204020204" pitchFamily="34" charset="-122"/>
              <a:ea typeface="微软雅黑" panose="020B0503020204020204" pitchFamily="34" charset="-122"/>
            </a:endParaRPr>
          </a:p>
        </p:txBody>
      </p:sp>
      <p:sp>
        <p:nvSpPr>
          <p:cNvPr id="148" name="矩形 147"/>
          <p:cNvSpPr/>
          <p:nvPr/>
        </p:nvSpPr>
        <p:spPr>
          <a:xfrm>
            <a:off x="5058317" y="2441008"/>
            <a:ext cx="6913329" cy="645160"/>
          </a:xfrm>
          <a:prstGeom prst="rect">
            <a:avLst/>
          </a:prstGeom>
        </p:spPr>
        <p:txBody>
          <a:bodyPr wrap="square">
            <a:spAutoFit/>
          </a:bodyPr>
          <a:lstStyle/>
          <a:p>
            <a:r>
              <a:rPr lang="en-US" altLang="zh-CN" sz="2000" b="1" dirty="0">
                <a:latin typeface="+mj-lt"/>
                <a:ea typeface="微软雅黑" panose="020B0503020204020204" pitchFamily="34" charset="-122"/>
              </a:rPr>
              <a:t>2. Perfect synchronization — no response lag</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zh-CN" altLang="en-US" sz="1600" b="1" dirty="0">
                <a:solidFill>
                  <a:srgbClr val="FF0000"/>
                </a:solidFill>
                <a:latin typeface="微软雅黑" panose="020B0503020204020204" pitchFamily="34" charset="-122"/>
                <a:ea typeface="微软雅黑" panose="020B0503020204020204" pitchFamily="34" charset="-122"/>
              </a:rPr>
              <a:t>(Overwhelming advantage)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5139690" y="4401185"/>
            <a:ext cx="4055745" cy="368300"/>
          </a:xfrm>
          <a:prstGeom prst="rect">
            <a:avLst/>
          </a:prstGeom>
        </p:spPr>
        <p:txBody>
          <a:bodyPr wrap="square">
            <a:spAutoFit/>
          </a:bodyPr>
          <a:lstStyle/>
          <a:p>
            <a:r>
              <a:rPr lang="en-US" altLang="zh-CN" b="1" dirty="0">
                <a:latin typeface="+mj-lt"/>
                <a:ea typeface="微软雅黑" panose="020B0503020204020204" pitchFamily="34" charset="-122"/>
              </a:rPr>
              <a:t>1. Less flexible for function changes</a:t>
            </a:r>
            <a:endParaRPr lang="en-US" altLang="zh-CN" b="1" dirty="0">
              <a:latin typeface="+mj-lt"/>
              <a:ea typeface="微软雅黑" panose="020B0503020204020204" pitchFamily="34" charset="-122"/>
            </a:endParaRPr>
          </a:p>
        </p:txBody>
      </p:sp>
      <p:sp>
        <p:nvSpPr>
          <p:cNvPr id="4" name="矩形 3"/>
          <p:cNvSpPr/>
          <p:nvPr/>
        </p:nvSpPr>
        <p:spPr>
          <a:xfrm>
            <a:off x="5139690" y="4751070"/>
            <a:ext cx="6423025" cy="368300"/>
          </a:xfrm>
          <a:prstGeom prst="rect">
            <a:avLst/>
          </a:prstGeom>
        </p:spPr>
        <p:txBody>
          <a:bodyPr wrap="square">
            <a:spAutoFit/>
          </a:bodyPr>
          <a:lstStyle/>
          <a:p>
            <a:r>
              <a:rPr lang="en-US" altLang="zh-CN" b="1" dirty="0">
                <a:latin typeface="+mj-lt"/>
                <a:ea typeface="微软雅黑" panose="020B0503020204020204" pitchFamily="34" charset="-122"/>
              </a:rPr>
              <a:t>2. Transmission errors, difficult to compensate in real-time</a:t>
            </a:r>
            <a:endParaRPr lang="en-US" altLang="zh-CN" b="1" dirty="0">
              <a:solidFill>
                <a:srgbClr val="FF0000"/>
              </a:solidFill>
              <a:latin typeface="+mj-lt"/>
              <a:ea typeface="微软雅黑" panose="020B0503020204020204" pitchFamily="34" charset="-122"/>
            </a:endParaRPr>
          </a:p>
        </p:txBody>
      </p:sp>
      <p:sp>
        <p:nvSpPr>
          <p:cNvPr id="32" name="文本框 31"/>
          <p:cNvSpPr txBox="1"/>
          <p:nvPr/>
        </p:nvSpPr>
        <p:spPr>
          <a:xfrm>
            <a:off x="5058442" y="3808125"/>
            <a:ext cx="6587017" cy="645160"/>
          </a:xfrm>
          <a:prstGeom prst="rect">
            <a:avLst/>
          </a:prstGeom>
          <a:noFill/>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Disadvantages of purely mechanical automation vs. electronic control:</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33" name="矩形 32"/>
          <p:cNvSpPr/>
          <p:nvPr/>
        </p:nvSpPr>
        <p:spPr>
          <a:xfrm>
            <a:off x="5139597" y="5119179"/>
            <a:ext cx="4852830" cy="368300"/>
          </a:xfrm>
          <a:prstGeom prst="rect">
            <a:avLst/>
          </a:prstGeom>
        </p:spPr>
        <p:txBody>
          <a:bodyPr wrap="square">
            <a:spAutoFit/>
          </a:bodyPr>
          <a:lstStyle/>
          <a:p>
            <a:r>
              <a:rPr lang="en-US" altLang="zh-CN" b="1" dirty="0">
                <a:latin typeface="+mj-lt"/>
                <a:ea typeface="微软雅黑" panose="020B0503020204020204" pitchFamily="34" charset="-122"/>
              </a:rPr>
              <a:t>3. Weaker sensing and intelligence capabilities</a:t>
            </a:r>
            <a:endParaRPr lang="en-US" altLang="zh-CN" b="1" dirty="0">
              <a:solidFill>
                <a:srgbClr val="FF0000"/>
              </a:solidFill>
              <a:latin typeface="+mj-lt"/>
              <a:ea typeface="微软雅黑" panose="020B0503020204020204" pitchFamily="34" charset="-122"/>
            </a:endParaRPr>
          </a:p>
        </p:txBody>
      </p:sp>
      <p:sp>
        <p:nvSpPr>
          <p:cNvPr id="5" name="文本框 4"/>
          <p:cNvSpPr txBox="1"/>
          <p:nvPr/>
        </p:nvSpPr>
        <p:spPr>
          <a:xfrm>
            <a:off x="5675536" y="5837273"/>
            <a:ext cx="6587017" cy="706755"/>
          </a:xfrm>
          <a:prstGeom prst="rect">
            <a:avLst/>
          </a:prstGeom>
          <a:noFill/>
        </p:spPr>
        <p:txBody>
          <a:bodyPr wrap="square">
            <a:spAutoFit/>
          </a:bodyPr>
          <a:lstStyle/>
          <a:p>
            <a:r>
              <a:rPr lang="zh-CN" altLang="en-US" sz="2000" b="1" dirty="0">
                <a:solidFill>
                  <a:srgbClr val="201E84"/>
                </a:solidFill>
                <a:latin typeface="微软雅黑" panose="020B0503020204020204" pitchFamily="34" charset="-122"/>
                <a:ea typeface="微软雅黑" panose="020B0503020204020204" pitchFamily="34" charset="-122"/>
              </a:rPr>
              <a:t>Choose the</a:t>
            </a:r>
            <a:r>
              <a:rPr lang="en-US" altLang="zh-CN" sz="2000" b="1" dirty="0">
                <a:solidFill>
                  <a:srgbClr val="201E84"/>
                </a:solidFill>
                <a:latin typeface="微软雅黑" panose="020B0503020204020204" pitchFamily="34" charset="-122"/>
                <a:ea typeface="微软雅黑" panose="020B0503020204020204" pitchFamily="34" charset="-122"/>
              </a:rPr>
              <a:t> one</a:t>
            </a:r>
            <a:r>
              <a:rPr lang="zh-CN" altLang="en-US" sz="2000" b="1" dirty="0">
                <a:solidFill>
                  <a:srgbClr val="201E84"/>
                </a:solidFill>
                <a:latin typeface="微软雅黑" panose="020B0503020204020204" pitchFamily="34" charset="-122"/>
                <a:ea typeface="微软雅黑" panose="020B0503020204020204" pitchFamily="34" charset="-122"/>
              </a:rPr>
              <a:t> dialectically based on characteristics!</a:t>
            </a:r>
            <a:endParaRPr lang="zh-CN" altLang="en-US" sz="2000" b="1" dirty="0">
              <a:solidFill>
                <a:srgbClr val="201E84"/>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3"/>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1" restart="whenNotActive" fill="hold" evtFilter="cancelBubble" nodeType="interactiveSeq">
                <p:stCondLst>
                  <p:cond evt="onClick" delay="0">
                    <p:tgtEl>
                      <p:spTgt spid="23"/>
                    </p:tgtEl>
                  </p:cond>
                </p:stCondLst>
                <p:endSync evt="end" delay="0">
                  <p:rtn val="all"/>
                </p:endSync>
                <p:childTnLst>
                  <p:par>
                    <p:cTn id="32" fill="hold">
                      <p:stCondLst>
                        <p:cond delay="0"/>
                      </p:stCondLst>
                      <p:childTnLst>
                        <p:par>
                          <p:cTn id="33" fill="hold">
                            <p:stCondLst>
                              <p:cond delay="0"/>
                            </p:stCondLst>
                            <p:childTnLst>
                              <p:par>
                                <p:cTn id="34" presetID="2" presetClass="mediacall" presetSubtype="0" fill="hold" nodeType="clickEffect">
                                  <p:stCondLst>
                                    <p:cond delay="0"/>
                                  </p:stCondLst>
                                  <p:childTnLst>
                                    <p:cmd type="call" cmd="togglePause">
                                      <p:cBhvr>
                                        <p:cTn id="35" dur="1" fill="hold"/>
                                        <p:tgtEl>
                                          <p:spTgt spid="23"/>
                                        </p:tgtEl>
                                      </p:cBhvr>
                                    </p:cmd>
                                  </p:childTnLst>
                                </p:cTn>
                              </p:par>
                            </p:childTnLst>
                          </p:cTn>
                        </p:par>
                      </p:childTnLst>
                    </p:cTn>
                  </p:par>
                </p:childTnLst>
              </p:cTn>
              <p:nextCondLst>
                <p:cond evt="onClick" delay="0">
                  <p:tgtEl>
                    <p:spTgt spid="23"/>
                  </p:tgtEl>
                </p:cond>
              </p:nextCondLst>
            </p:seq>
            <p:video>
              <p:cMediaNode vol="80000">
                <p:cTn id="36" repeatCount="indefinite" fill="hold" display="0">
                  <p:stCondLst>
                    <p:cond delay="indefinite"/>
                  </p:stCondLst>
                </p:cTn>
                <p:tgtEl>
                  <p:spTgt spid="23"/>
                </p:tgtEl>
              </p:cMediaNode>
            </p:video>
          </p:childTnLst>
        </p:cTn>
      </p:par>
    </p:tnLst>
    <p:bldLst>
      <p:bldP spid="146" grpId="0"/>
      <p:bldP spid="147" grpId="0"/>
      <p:bldP spid="148" grpId="0"/>
      <p:bldP spid="3" grpId="0"/>
      <p:bldP spid="4" grpId="0"/>
      <p:bldP spid="33"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3128" y="1915517"/>
            <a:ext cx="4492636" cy="3369477"/>
          </a:xfrm>
          <a:prstGeom prst="rect">
            <a:avLst/>
          </a:prstGeom>
        </p:spPr>
      </p:pic>
      <p:sp>
        <p:nvSpPr>
          <p:cNvPr id="24" name="矩形 23"/>
          <p:cNvSpPr/>
          <p:nvPr/>
        </p:nvSpPr>
        <p:spPr bwMode="auto">
          <a:xfrm>
            <a:off x="318034" y="1874733"/>
            <a:ext cx="1110776" cy="345244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8" name="TextBox 8"/>
          <p:cNvSpPr txBox="1"/>
          <p:nvPr/>
        </p:nvSpPr>
        <p:spPr>
          <a:xfrm>
            <a:off x="1007745" y="319405"/>
            <a:ext cx="920940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Summary</a:t>
            </a:r>
            <a:endParaRPr lang="en-US" altLang="zh-CN" sz="2800" dirty="0">
              <a:solidFill>
                <a:schemeClr val="accent2">
                  <a:lumMod val="75000"/>
                </a:schemeClr>
              </a:solidFill>
            </a:endParaRPr>
          </a:p>
        </p:txBody>
      </p:sp>
      <p:sp>
        <p:nvSpPr>
          <p:cNvPr id="13" name="灯片编号占位符 1"/>
          <p:cNvSpPr txBox="1"/>
          <p:nvPr/>
        </p:nvSpPr>
        <p:spPr>
          <a:xfrm>
            <a:off x="11908714" y="6446393"/>
            <a:ext cx="283285"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pic>
        <p:nvPicPr>
          <p:cNvPr id="36" name="图片 35"/>
          <p:cNvPicPr>
            <a:picLocks noChangeAspect="1"/>
          </p:cNvPicPr>
          <p:nvPr/>
        </p:nvPicPr>
        <p:blipFill>
          <a:blip r:embed="rId4"/>
          <a:stretch>
            <a:fillRect/>
          </a:stretch>
        </p:blipFill>
        <p:spPr>
          <a:xfrm rot="18644243">
            <a:off x="959333" y="1889462"/>
            <a:ext cx="436376" cy="585720"/>
          </a:xfrm>
          <a:prstGeom prst="rect">
            <a:avLst/>
          </a:prstGeom>
        </p:spPr>
      </p:pic>
      <p:pic>
        <p:nvPicPr>
          <p:cNvPr id="40" name="图片 39"/>
          <p:cNvPicPr>
            <a:picLocks noChangeAspect="1"/>
          </p:cNvPicPr>
          <p:nvPr/>
        </p:nvPicPr>
        <p:blipFill>
          <a:blip r:embed="rId4"/>
          <a:stretch>
            <a:fillRect/>
          </a:stretch>
        </p:blipFill>
        <p:spPr>
          <a:xfrm rot="18664587">
            <a:off x="802707" y="1694430"/>
            <a:ext cx="328815" cy="441373"/>
          </a:xfrm>
          <a:prstGeom prst="rect">
            <a:avLst/>
          </a:prstGeom>
        </p:spPr>
      </p:pic>
      <p:sp>
        <p:nvSpPr>
          <p:cNvPr id="25" name="Text Box 23"/>
          <p:cNvSpPr txBox="1">
            <a:spLocks noChangeArrowheads="1"/>
          </p:cNvSpPr>
          <p:nvPr/>
        </p:nvSpPr>
        <p:spPr bwMode="auto">
          <a:xfrm>
            <a:off x="-51435" y="4581525"/>
            <a:ext cx="16370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6" name="Text Box 23"/>
          <p:cNvSpPr txBox="1">
            <a:spLocks noChangeArrowheads="1"/>
          </p:cNvSpPr>
          <p:nvPr/>
        </p:nvSpPr>
        <p:spPr bwMode="auto">
          <a:xfrm>
            <a:off x="124460" y="3531870"/>
            <a:ext cx="14611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 Cam</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27" name="Line 24"/>
          <p:cNvSpPr>
            <a:spLocks noChangeShapeType="1"/>
          </p:cNvSpPr>
          <p:nvPr/>
        </p:nvSpPr>
        <p:spPr bwMode="auto">
          <a:xfrm flipH="1" flipV="1">
            <a:off x="1368343" y="3635214"/>
            <a:ext cx="895492" cy="45292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8" name="Line 24"/>
          <p:cNvSpPr>
            <a:spLocks noChangeShapeType="1"/>
          </p:cNvSpPr>
          <p:nvPr/>
        </p:nvSpPr>
        <p:spPr bwMode="auto">
          <a:xfrm flipH="1">
            <a:off x="1385476" y="4042185"/>
            <a:ext cx="1092917" cy="736899"/>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29" name="Text Box 23"/>
          <p:cNvSpPr txBox="1">
            <a:spLocks noChangeArrowheads="1"/>
          </p:cNvSpPr>
          <p:nvPr/>
        </p:nvSpPr>
        <p:spPr bwMode="auto">
          <a:xfrm>
            <a:off x="507479" y="2040776"/>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Intake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0" name="Text Box 23"/>
          <p:cNvSpPr txBox="1">
            <a:spLocks noChangeArrowheads="1"/>
          </p:cNvSpPr>
          <p:nvPr/>
        </p:nvSpPr>
        <p:spPr bwMode="auto">
          <a:xfrm>
            <a:off x="247650" y="2871470"/>
            <a:ext cx="127889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Exhaust Valve</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1" name="Line 24"/>
          <p:cNvSpPr>
            <a:spLocks noChangeShapeType="1"/>
          </p:cNvSpPr>
          <p:nvPr/>
        </p:nvSpPr>
        <p:spPr bwMode="auto">
          <a:xfrm flipH="1" flipV="1">
            <a:off x="1327601" y="2240830"/>
            <a:ext cx="855970" cy="36374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0" name="Line 24"/>
          <p:cNvSpPr>
            <a:spLocks noChangeShapeType="1"/>
          </p:cNvSpPr>
          <p:nvPr/>
        </p:nvSpPr>
        <p:spPr bwMode="auto">
          <a:xfrm flipH="1">
            <a:off x="1385477" y="2538642"/>
            <a:ext cx="1028753" cy="559401"/>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1" name="Line 24"/>
          <p:cNvSpPr>
            <a:spLocks noChangeShapeType="1"/>
          </p:cNvSpPr>
          <p:nvPr/>
        </p:nvSpPr>
        <p:spPr bwMode="auto">
          <a:xfrm flipV="1">
            <a:off x="2760063" y="2736604"/>
            <a:ext cx="1064422" cy="58036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4" name="Text Box 23"/>
          <p:cNvSpPr txBox="1">
            <a:spLocks noChangeArrowheads="1"/>
          </p:cNvSpPr>
          <p:nvPr/>
        </p:nvSpPr>
        <p:spPr bwMode="auto">
          <a:xfrm>
            <a:off x="3797906" y="2588228"/>
            <a:ext cx="1019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Piston</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35" name="Line 24"/>
          <p:cNvSpPr>
            <a:spLocks noChangeShapeType="1"/>
          </p:cNvSpPr>
          <p:nvPr/>
        </p:nvSpPr>
        <p:spPr bwMode="auto">
          <a:xfrm>
            <a:off x="3050415" y="4277887"/>
            <a:ext cx="467559" cy="7369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12" name="Text Box 23"/>
          <p:cNvSpPr txBox="1">
            <a:spLocks noChangeArrowheads="1"/>
          </p:cNvSpPr>
          <p:nvPr/>
        </p:nvSpPr>
        <p:spPr bwMode="auto">
          <a:xfrm>
            <a:off x="3595370" y="2989580"/>
            <a:ext cx="13976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Camshaft</a:t>
            </a:r>
            <a:endParaRPr lang="zh-CN" altLang="en-US" sz="2000" b="0" dirty="0">
              <a:solidFill>
                <a:schemeClr val="tx1"/>
              </a:solidFill>
              <a:latin typeface="黑体" panose="02010609060101010101" pitchFamily="2" charset="-122"/>
              <a:ea typeface="黑体" panose="02010609060101010101" pitchFamily="2" charset="-122"/>
            </a:endParaRPr>
          </a:p>
        </p:txBody>
      </p:sp>
      <p:sp>
        <p:nvSpPr>
          <p:cNvPr id="15" name="Line 24"/>
          <p:cNvSpPr>
            <a:spLocks noChangeShapeType="1"/>
          </p:cNvSpPr>
          <p:nvPr/>
        </p:nvSpPr>
        <p:spPr bwMode="auto">
          <a:xfrm flipV="1">
            <a:off x="2361809" y="3202788"/>
            <a:ext cx="1278822" cy="831037"/>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38" name="Text Box 23"/>
          <p:cNvSpPr txBox="1">
            <a:spLocks noChangeArrowheads="1"/>
          </p:cNvSpPr>
          <p:nvPr/>
        </p:nvSpPr>
        <p:spPr bwMode="auto">
          <a:xfrm>
            <a:off x="3098165" y="5172075"/>
            <a:ext cx="14611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b="0" dirty="0">
                <a:solidFill>
                  <a:schemeClr val="tx1"/>
                </a:solidFill>
                <a:latin typeface="黑体" panose="02010609060101010101" pitchFamily="2" charset="-122"/>
                <a:ea typeface="黑体" panose="02010609060101010101" pitchFamily="2" charset="-122"/>
              </a:rPr>
              <a:t>Main Shaft</a:t>
            </a:r>
            <a:endParaRPr lang="zh-CN" altLang="en-US" sz="2000" b="0" dirty="0">
              <a:solidFill>
                <a:schemeClr val="tx1"/>
              </a:solidFill>
              <a:latin typeface="黑体" panose="02010609060101010101" pitchFamily="2" charset="-122"/>
              <a:ea typeface="黑体" panose="02010609060101010101" pitchFamily="2" charset="-122"/>
            </a:endParaRPr>
          </a:p>
        </p:txBody>
      </p:sp>
      <p:pic>
        <p:nvPicPr>
          <p:cNvPr id="2" name="图片 1"/>
          <p:cNvPicPr>
            <a:picLocks noChangeAspect="1"/>
          </p:cNvPicPr>
          <p:nvPr/>
        </p:nvPicPr>
        <p:blipFill>
          <a:blip r:embed="rId5"/>
          <a:stretch>
            <a:fillRect/>
          </a:stretch>
        </p:blipFill>
        <p:spPr>
          <a:xfrm>
            <a:off x="5957570" y="1755775"/>
            <a:ext cx="5086350" cy="1066800"/>
          </a:xfrm>
          <a:prstGeom prst="rect">
            <a:avLst/>
          </a:prstGeom>
        </p:spPr>
      </p:pic>
      <p:pic>
        <p:nvPicPr>
          <p:cNvPr id="3" name="图片 2"/>
          <p:cNvPicPr>
            <a:picLocks noChangeAspect="1"/>
          </p:cNvPicPr>
          <p:nvPr/>
        </p:nvPicPr>
        <p:blipFill>
          <a:blip r:embed="rId6"/>
          <a:stretch>
            <a:fillRect/>
          </a:stretch>
        </p:blipFill>
        <p:spPr>
          <a:xfrm>
            <a:off x="6334760" y="3202940"/>
            <a:ext cx="4657090" cy="1469390"/>
          </a:xfrm>
          <a:prstGeom prst="rect">
            <a:avLst/>
          </a:prstGeom>
        </p:spPr>
      </p:pic>
      <p:grpSp>
        <p:nvGrpSpPr>
          <p:cNvPr id="6" name="组合 5"/>
          <p:cNvGrpSpPr/>
          <p:nvPr/>
        </p:nvGrpSpPr>
        <p:grpSpPr>
          <a:xfrm>
            <a:off x="8551545" y="5219700"/>
            <a:ext cx="1278890" cy="1476375"/>
            <a:chOff x="7469605" y="1000990"/>
            <a:chExt cx="2007621" cy="2097047"/>
          </a:xfrm>
        </p:grpSpPr>
        <p:pic>
          <p:nvPicPr>
            <p:cNvPr id="7" name="图片 6"/>
            <p:cNvPicPr>
              <a:picLocks noChangeAspect="1"/>
            </p:cNvPicPr>
            <p:nvPr/>
          </p:nvPicPr>
          <p:blipFill>
            <a:blip r:embed="rId7"/>
            <a:stretch>
              <a:fillRect/>
            </a:stretch>
          </p:blipFill>
          <p:spPr>
            <a:xfrm>
              <a:off x="7469605" y="1000990"/>
              <a:ext cx="2007621" cy="2097047"/>
            </a:xfrm>
            <a:prstGeom prst="rect">
              <a:avLst/>
            </a:prstGeom>
          </p:spPr>
        </p:pic>
        <p:cxnSp>
          <p:nvCxnSpPr>
            <p:cNvPr id="14" name="直接箭头连接符 13"/>
            <p:cNvCxnSpPr/>
            <p:nvPr/>
          </p:nvCxnSpPr>
          <p:spPr bwMode="auto">
            <a:xfrm>
              <a:off x="8000087" y="2217070"/>
              <a:ext cx="510581" cy="389852"/>
            </a:xfrm>
            <a:prstGeom prst="straightConnector1">
              <a:avLst/>
            </a:prstGeom>
            <a:solidFill>
              <a:schemeClr val="accent1"/>
            </a:solidFill>
            <a:ln w="9525" cap="flat" cmpd="sng" algn="ctr">
              <a:solidFill>
                <a:srgbClr val="FF0000"/>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p:nvPr/>
          </p:nvCxnSpPr>
          <p:spPr bwMode="auto">
            <a:xfrm flipH="1">
              <a:off x="8532460" y="2186491"/>
              <a:ext cx="457800" cy="421780"/>
            </a:xfrm>
            <a:prstGeom prst="straightConnector1">
              <a:avLst/>
            </a:prstGeom>
            <a:solidFill>
              <a:schemeClr val="accent1"/>
            </a:solidFill>
            <a:ln w="9525" cap="flat" cmpd="sng" algn="ctr">
              <a:solidFill>
                <a:srgbClr val="FF0000"/>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32" name="矩形 31"/>
                <p:cNvSpPr/>
                <p:nvPr/>
              </p:nvSpPr>
              <p:spPr>
                <a:xfrm>
                  <a:off x="8356954" y="2217070"/>
                  <a:ext cx="404406" cy="523134"/>
                </a:xfrm>
                <a:prstGeom prst="rect">
                  <a:avLst/>
                </a:prstGeom>
              </p:spPr>
              <p:txBody>
                <a:bodyPr wrap="square">
                  <a:spAutoFit/>
                </a:bodyPr>
                <a:lstStyle/>
                <a:p>
                  <a:pPr>
                    <a:spcBef>
                      <a:spcPct val="0"/>
                    </a:spcBef>
                  </a:pPr>
                  <a14:m>
                    <m:oMathPara xmlns:m="http://schemas.openxmlformats.org/officeDocument/2006/math">
                      <m:oMathParaPr>
                        <m:jc m:val="centerGroup"/>
                      </m:oMathParaPr>
                      <m:oMath xmlns:m="http://schemas.openxmlformats.org/officeDocument/2006/math">
                        <m:r>
                          <a:rPr lang="en-AU" i="1" smtClean="0">
                            <a:solidFill>
                              <a:srgbClr val="FF0000"/>
                            </a:solidFill>
                            <a:latin typeface="Cambria Math" panose="02040503050406030204" pitchFamily="18" charset="0"/>
                            <a:ea typeface="Cambria Math" panose="02040503050406030204" pitchFamily="18" charset="0"/>
                          </a:rPr>
                          <m:t>𝜑</m:t>
                        </m:r>
                      </m:oMath>
                    </m:oMathPara>
                  </a14:m>
                  <a:endParaRPr lang="zh-CN" altLang="zh-CN" dirty="0">
                    <a:solidFill>
                      <a:srgbClr val="FF0066"/>
                    </a:solidFill>
                    <a:latin typeface="Times New Roman" panose="02020603050405020304" pitchFamily="18" charset="0"/>
                    <a:ea typeface="宋体" panose="02010600030101010101" pitchFamily="2" charset="-122"/>
                  </a:endParaRPr>
                </a:p>
              </p:txBody>
            </p:sp>
          </mc:Choice>
          <mc:Fallback>
            <p:sp>
              <p:nvSpPr>
                <p:cNvPr id="32" name="矩形 31"/>
                <p:cNvSpPr>
                  <a:spLocks noRot="1" noChangeAspect="1" noMove="1" noResize="1" noEditPoints="1" noAdjustHandles="1" noChangeArrowheads="1" noChangeShapeType="1" noTextEdit="1"/>
                </p:cNvSpPr>
                <p:nvPr/>
              </p:nvSpPr>
              <p:spPr>
                <a:xfrm>
                  <a:off x="8356954" y="2217070"/>
                  <a:ext cx="404406" cy="523134"/>
                </a:xfrm>
                <a:prstGeom prst="rect">
                  <a:avLst/>
                </a:prstGeom>
                <a:blipFill rotWithShape="1">
                  <a:blip r:embed="rId8"/>
                </a:blipFill>
              </p:spPr>
              <p:txBody>
                <a:bodyPr/>
                <a:lstStyle/>
                <a:p>
                  <a:r>
                    <a:rPr lang="zh-CN" altLang="en-US">
                      <a:noFill/>
                    </a:rPr>
                    <a:t> </a:t>
                  </a:r>
                </a:p>
              </p:txBody>
            </p:sp>
          </mc:Fallback>
        </mc:AlternateContent>
      </p:grpSp>
      <p:pic>
        <p:nvPicPr>
          <p:cNvPr id="33" name="图片 32"/>
          <p:cNvPicPr>
            <a:picLocks noChangeAspect="1"/>
          </p:cNvPicPr>
          <p:nvPr/>
        </p:nvPicPr>
        <p:blipFill>
          <a:blip r:embed="rId9"/>
          <a:stretch>
            <a:fillRect/>
          </a:stretch>
        </p:blipFill>
        <p:spPr>
          <a:xfrm>
            <a:off x="7106285" y="5172075"/>
            <a:ext cx="864235" cy="1571625"/>
          </a:xfrm>
          <a:prstGeom prst="rect">
            <a:avLst/>
          </a:prstGeom>
        </p:spPr>
      </p:pic>
      <p:sp>
        <p:nvSpPr>
          <p:cNvPr id="60" name="文本框 59"/>
          <p:cNvSpPr txBox="1"/>
          <p:nvPr/>
        </p:nvSpPr>
        <p:spPr>
          <a:xfrm>
            <a:off x="198755" y="1022350"/>
            <a:ext cx="6091555" cy="398780"/>
          </a:xfrm>
          <a:prstGeom prst="rect">
            <a:avLst/>
          </a:prstGeom>
          <a:noFill/>
        </p:spPr>
        <p:txBody>
          <a:bodyPr wrap="square">
            <a:spAutoFit/>
          </a:bodyPr>
          <a:lstStyle/>
          <a:p>
            <a:r>
              <a:rPr lang="en-US" altLang="zh-CN" sz="2000" b="1" dirty="0">
                <a:latin typeface="+mj-lt"/>
                <a:ea typeface="微软雅黑" panose="020B0503020204020204" pitchFamily="34" charset="-122"/>
              </a:rPr>
              <a:t>1. How does a cam mechanism control motion?</a:t>
            </a:r>
            <a:endParaRPr lang="en-US" altLang="zh-CN" sz="2000" b="1" dirty="0">
              <a:latin typeface="+mj-lt"/>
              <a:ea typeface="微软雅黑" panose="020B0503020204020204" pitchFamily="34" charset="-122"/>
            </a:endParaRPr>
          </a:p>
        </p:txBody>
      </p:sp>
      <p:sp>
        <p:nvSpPr>
          <p:cNvPr id="61" name="文本框 60"/>
          <p:cNvSpPr txBox="1"/>
          <p:nvPr/>
        </p:nvSpPr>
        <p:spPr>
          <a:xfrm>
            <a:off x="168910" y="1421130"/>
            <a:ext cx="5788660" cy="398780"/>
          </a:xfrm>
          <a:prstGeom prst="rect">
            <a:avLst/>
          </a:prstGeom>
          <a:noFill/>
        </p:spPr>
        <p:txBody>
          <a:bodyPr wrap="square">
            <a:spAutoFit/>
          </a:bodyPr>
          <a:lstStyle/>
          <a:p>
            <a:r>
              <a:rPr lang="en-US" altLang="zh-CN" sz="2000" b="1" dirty="0">
                <a:latin typeface="+mj-lt"/>
                <a:ea typeface="微软雅黑" panose="020B0503020204020204" pitchFamily="34" charset="-122"/>
              </a:rPr>
              <a:t>2. What are the steps of cam mechanism design?</a:t>
            </a:r>
            <a:endParaRPr lang="en-US" altLang="zh-CN" sz="2000" b="1" dirty="0">
              <a:latin typeface="+mj-lt"/>
              <a:ea typeface="微软雅黑" panose="020B0503020204020204" pitchFamily="34" charset="-122"/>
            </a:endParaRPr>
          </a:p>
        </p:txBody>
      </p:sp>
      <p:sp>
        <p:nvSpPr>
          <p:cNvPr id="53" name="文本框 52"/>
          <p:cNvSpPr txBox="1"/>
          <p:nvPr/>
        </p:nvSpPr>
        <p:spPr>
          <a:xfrm>
            <a:off x="193632" y="5615396"/>
            <a:ext cx="6028897" cy="983615"/>
          </a:xfrm>
          <a:prstGeom prst="rect">
            <a:avLst/>
          </a:prstGeom>
          <a:noFill/>
        </p:spPr>
        <p:txBody>
          <a:bodyPr wrap="square">
            <a:spAutoFit/>
          </a:bodyPr>
          <a:lstStyle/>
          <a:p>
            <a:r>
              <a:rPr lang="en-US" altLang="zh-CN" sz="2000" b="1" dirty="0">
                <a:solidFill>
                  <a:srgbClr val="FF0000"/>
                </a:solidFill>
                <a:latin typeface="+mj-lt"/>
                <a:ea typeface="微软雅黑" panose="020B0503020204020204" pitchFamily="34" charset="-122"/>
              </a:rPr>
              <a:t>3. Pros and cons of mechanical vs. electronic automation?</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zh-CN" altLang="en-US" b="1" dirty="0">
                <a:solidFill>
                  <a:srgbClr val="FF0000"/>
                </a:solidFill>
                <a:latin typeface="微软雅黑" panose="020B0503020204020204" pitchFamily="34" charset="-122"/>
                <a:ea typeface="微软雅黑" panose="020B0503020204020204" pitchFamily="34" charset="-122"/>
              </a:rPr>
              <a:t>(Supplementary)</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3" name="矩形 62"/>
          <p:cNvSpPr/>
          <p:nvPr/>
        </p:nvSpPr>
        <p:spPr>
          <a:xfrm>
            <a:off x="5895975" y="1130300"/>
            <a:ext cx="4876165" cy="36830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Step 1: Determine requirements</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156" name="矩形 155"/>
          <p:cNvSpPr/>
          <p:nvPr/>
        </p:nvSpPr>
        <p:spPr>
          <a:xfrm>
            <a:off x="5834380" y="2818130"/>
            <a:ext cx="12590780" cy="36830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Step 2: Design desired follower motion law</a:t>
            </a:r>
            <a:endParaRPr lang="zh-CN" altLang="en-US" b="1" dirty="0">
              <a:solidFill>
                <a:srgbClr val="201E84"/>
              </a:solidFill>
              <a:latin typeface="微软雅黑" panose="020B0503020204020204" pitchFamily="34" charset="-122"/>
              <a:ea typeface="微软雅黑" panose="020B0503020204020204" pitchFamily="34" charset="-122"/>
            </a:endParaRPr>
          </a:p>
        </p:txBody>
      </p:sp>
      <p:sp>
        <p:nvSpPr>
          <p:cNvPr id="175" name="矩形 174"/>
          <p:cNvSpPr/>
          <p:nvPr/>
        </p:nvSpPr>
        <p:spPr>
          <a:xfrm>
            <a:off x="5834380" y="4697095"/>
            <a:ext cx="13778230" cy="368300"/>
          </a:xfrm>
          <a:prstGeom prst="rect">
            <a:avLst/>
          </a:prstGeom>
        </p:spPr>
        <p:txBody>
          <a:bodyPr wrap="square">
            <a:spAutoFit/>
          </a:bodyPr>
          <a:lstStyle/>
          <a:p>
            <a:r>
              <a:rPr lang="zh-CN" altLang="en-US" b="1" dirty="0">
                <a:solidFill>
                  <a:srgbClr val="201E84"/>
                </a:solidFill>
                <a:latin typeface="微软雅黑" panose="020B0503020204020204" pitchFamily="34" charset="-122"/>
                <a:ea typeface="微软雅黑" panose="020B0503020204020204" pitchFamily="34" charset="-122"/>
              </a:rPr>
              <a:t>Step 3: Design cam profile based on motion law</a:t>
            </a:r>
            <a:endParaRPr lang="zh-CN" altLang="en-US" b="1" dirty="0">
              <a:solidFill>
                <a:srgbClr val="201E84"/>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2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23"/>
                                        </p:tgtEl>
                                      </p:cBhvr>
                                    </p:cmd>
                                  </p:childTnLst>
                                </p:cTn>
                              </p:par>
                            </p:childTnLst>
                          </p:cTn>
                        </p:par>
                      </p:childTnLst>
                    </p:cTn>
                  </p:par>
                </p:childTnLst>
              </p:cTn>
              <p:nextCondLst>
                <p:cond evt="onClick" delay="0">
                  <p:tgtEl>
                    <p:spTgt spid="23"/>
                  </p:tgtEl>
                </p:cond>
              </p:nextCondLst>
            </p:seq>
            <p:video>
              <p:cMediaNode vol="80000">
                <p:cTn id="16" repeatCount="indefinite" fill="hold" display="0">
                  <p:stCondLst>
                    <p:cond delay="indefinite"/>
                  </p:stCondLst>
                </p:cTn>
                <p:tgtEl>
                  <p:spTgt spid="2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wrap="square"/>
          <a:lstStyle/>
          <a:p>
            <a:fld id="{F54A3870-DF25-464D-B6EA-3BA6EAAA2BCA}" type="slidenum">
              <a:rPr lang="zh-CN" altLang="en-US" smtClean="0"/>
            </a:fld>
            <a:endParaRPr lang="zh-CN" altLang="en-US"/>
          </a:p>
        </p:txBody>
      </p:sp>
      <p:sp>
        <p:nvSpPr>
          <p:cNvPr id="6" name="标题 23553"/>
          <p:cNvSpPr txBox="1">
            <a:spLocks noRot="1"/>
          </p:cNvSpPr>
          <p:nvPr/>
        </p:nvSpPr>
        <p:spPr>
          <a:xfrm>
            <a:off x="602029" y="950651"/>
            <a:ext cx="8120063" cy="1325562"/>
          </a:xfrm>
          <a:prstGeom prst="rect">
            <a:avLst/>
          </a:prstGeom>
        </p:spPr>
        <p:txBody>
          <a:bodyPr wrap="square" anchor="ct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algn="ctr" eaLnBrk="1" hangingPunct="1">
              <a:defRPr/>
            </a:pPr>
            <a:endParaRPr lang="zh-CN" altLang="en-US" sz="4000" b="1" kern="0" noProof="1">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9" name="内容占位符 23554"/>
          <p:cNvSpPr txBox="1">
            <a:spLocks noRot="1" noChangeArrowheads="1"/>
          </p:cNvSpPr>
          <p:nvPr/>
        </p:nvSpPr>
        <p:spPr>
          <a:xfrm>
            <a:off x="294875" y="3932440"/>
            <a:ext cx="10183939" cy="2636436"/>
          </a:xfrm>
          <a:prstGeom prst="rect">
            <a:avLst/>
          </a:prstGeom>
        </p:spPr>
        <p:txBody>
          <a:bodyPr wrap="square"/>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a:lstStyle>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rId1" action="ppaction://hlinksldjump"/>
              </a:rPr>
              <a:t>3-1 Characteristics &amp; Applications</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dirty="0">
                <a:solidFill>
                  <a:srgbClr val="201E84"/>
                </a:solidFill>
                <a:latin typeface="微软雅黑" panose="020B0503020204020204" pitchFamily="34" charset="-122"/>
                <a:ea typeface="微软雅黑" panose="020B0503020204020204" pitchFamily="34" charset="-122"/>
                <a:hlinkClick r:id="rId2" action="ppaction://hlinksldjump"/>
              </a:rPr>
              <a:t>3-2 Classification of Cam Mechanisms</a:t>
            </a:r>
            <a:endParaRPr lang="en-US" altLang="zh-CN" sz="2400" b="1" dirty="0">
              <a:solidFill>
                <a:srgbClr val="201E84"/>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 action="ppaction://noaction"/>
              </a:rPr>
              <a:t>3-3 Follower Motion Laws &amp; Selection</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 action="ppaction://noaction"/>
              </a:rPr>
              <a:t>3-4 Graphical Design of Cam Profiles</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p:txBody>
      </p:sp>
      <p:pic>
        <p:nvPicPr>
          <p:cNvPr id="11" name="内燃机WMV">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187829" y="1176425"/>
            <a:ext cx="2932767" cy="2199576"/>
          </a:xfrm>
          <a:prstGeom prst="rect">
            <a:avLst/>
          </a:prstGeom>
        </p:spPr>
      </p:pic>
      <p:grpSp>
        <p:nvGrpSpPr>
          <p:cNvPr id="14" name="组合 13"/>
          <p:cNvGrpSpPr/>
          <p:nvPr/>
        </p:nvGrpSpPr>
        <p:grpSpPr>
          <a:xfrm>
            <a:off x="7285841" y="1148622"/>
            <a:ext cx="3283475" cy="2097047"/>
            <a:chOff x="7294147" y="3051510"/>
            <a:chExt cx="3283475" cy="2097047"/>
          </a:xfrm>
        </p:grpSpPr>
        <p:pic>
          <p:nvPicPr>
            <p:cNvPr id="15" name="图片 14"/>
            <p:cNvPicPr>
              <a:picLocks noChangeAspect="1"/>
            </p:cNvPicPr>
            <p:nvPr/>
          </p:nvPicPr>
          <p:blipFill>
            <a:blip r:embed="rId6"/>
            <a:stretch>
              <a:fillRect/>
            </a:stretch>
          </p:blipFill>
          <p:spPr>
            <a:xfrm>
              <a:off x="7294147" y="3051510"/>
              <a:ext cx="2007621" cy="2097047"/>
            </a:xfrm>
            <a:prstGeom prst="rect">
              <a:avLst/>
            </a:prstGeom>
          </p:spPr>
        </p:pic>
        <p:pic>
          <p:nvPicPr>
            <p:cNvPr id="16" name="图片 15"/>
            <p:cNvPicPr>
              <a:picLocks noChangeAspect="1"/>
            </p:cNvPicPr>
            <p:nvPr/>
          </p:nvPicPr>
          <p:blipFill>
            <a:blip r:embed="rId7"/>
            <a:stretch>
              <a:fillRect/>
            </a:stretch>
          </p:blipFill>
          <p:spPr>
            <a:xfrm rot="10800000">
              <a:off x="9555345" y="3153208"/>
              <a:ext cx="1022277" cy="1810802"/>
            </a:xfrm>
            <a:prstGeom prst="rect">
              <a:avLst/>
            </a:prstGeom>
          </p:spPr>
        </p:pic>
      </p:grpSp>
      <p:sp>
        <p:nvSpPr>
          <p:cNvPr id="24" name="文本框 23"/>
          <p:cNvSpPr txBox="1"/>
          <p:nvPr/>
        </p:nvSpPr>
        <p:spPr>
          <a:xfrm>
            <a:off x="8108950" y="3781425"/>
            <a:ext cx="4514215" cy="506730"/>
          </a:xfrm>
          <a:prstGeom prst="rect">
            <a:avLst/>
          </a:prstGeom>
          <a:noFill/>
        </p:spPr>
        <p:txBody>
          <a:bodyPr wrap="square">
            <a:spAutoFit/>
          </a:bodyPr>
          <a:lstStyle/>
          <a:p>
            <a:pPr marL="868680" indent="-868680" algn="just" eaLnBrk="1" hangingPunct="1">
              <a:lnSpc>
                <a:spcPct val="150000"/>
              </a:lnSpc>
              <a:buFont typeface="Arial" panose="020B0604020202020204" pitchFamily="34" charset="0"/>
              <a:buNone/>
            </a:pPr>
            <a:r>
              <a:rPr lang="zh-CN" altLang="en-US" sz="1800" b="1" kern="0" dirty="0">
                <a:solidFill>
                  <a:srgbClr val="201E84"/>
                </a:solidFill>
                <a:latin typeface="微软雅黑" panose="020B0503020204020204" pitchFamily="34" charset="-122"/>
                <a:ea typeface="微软雅黑" panose="020B0503020204020204" pitchFamily="34" charset="-122"/>
              </a:rPr>
              <a:t>Why use a flat face?</a:t>
            </a:r>
            <a:endParaRPr lang="zh-CN" altLang="en-US" sz="1800" b="1" kern="0" dirty="0">
              <a:solidFill>
                <a:srgbClr val="201E84"/>
              </a:solidFill>
              <a:latin typeface="微软雅黑" panose="020B0503020204020204" pitchFamily="34" charset="-122"/>
              <a:ea typeface="微软雅黑" panose="020B0503020204020204" pitchFamily="34" charset="-122"/>
            </a:endParaRPr>
          </a:p>
        </p:txBody>
      </p:sp>
      <p:cxnSp>
        <p:nvCxnSpPr>
          <p:cNvPr id="3" name="直接箭头连接符 2"/>
          <p:cNvCxnSpPr/>
          <p:nvPr/>
        </p:nvCxnSpPr>
        <p:spPr bwMode="auto">
          <a:xfrm flipV="1">
            <a:off x="8861898" y="2422187"/>
            <a:ext cx="1147864" cy="13746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8"/>
          <p:cNvSpPr txBox="1"/>
          <p:nvPr/>
        </p:nvSpPr>
        <p:spPr>
          <a:xfrm>
            <a:off x="1007745" y="319405"/>
            <a:ext cx="862393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3-2 Classification of Cam Mechanisms</a:t>
            </a:r>
            <a:endParaRPr lang="en-US" altLang="zh-CN" sz="2800" dirty="0">
              <a:solidFill>
                <a:schemeClr val="accent2">
                  <a:lumMod val="75000"/>
                </a:schemeClr>
              </a:solidFill>
            </a:endParaRPr>
          </a:p>
        </p:txBody>
      </p:sp>
      <p:pic>
        <p:nvPicPr>
          <p:cNvPr id="2" name="图片 1"/>
          <p:cNvPicPr>
            <a:picLocks noChangeAspect="1"/>
          </p:cNvPicPr>
          <p:nvPr/>
        </p:nvPicPr>
        <p:blipFill>
          <a:blip r:embed="rId8"/>
          <a:stretch>
            <a:fillRect/>
          </a:stretch>
        </p:blipFill>
        <p:spPr>
          <a:xfrm>
            <a:off x="3208020" y="1728470"/>
            <a:ext cx="4077970" cy="85534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a:p>
        </p:txBody>
      </p:sp>
      <p:sp>
        <p:nvSpPr>
          <p:cNvPr id="12" name="矩形 11"/>
          <p:cNvSpPr/>
          <p:nvPr/>
        </p:nvSpPr>
        <p:spPr>
          <a:xfrm>
            <a:off x="431165" y="1737360"/>
            <a:ext cx="3937635" cy="398780"/>
          </a:xfrm>
          <a:prstGeom prst="rect">
            <a:avLst/>
          </a:prstGeom>
        </p:spPr>
        <p:txBody>
          <a:bodyPr wrap="square">
            <a:spAutoFit/>
          </a:bodyPr>
          <a:lstStyle/>
          <a:p>
            <a:r>
              <a:rPr lang="en-US" altLang="zh-CN" sz="2000" b="1" dirty="0">
                <a:latin typeface="微软雅黑" panose="020B0503020204020204" pitchFamily="34" charset="-122"/>
                <a:ea typeface="微软雅黑" panose="020B0503020204020204" pitchFamily="34" charset="-122"/>
              </a:rPr>
              <a:t>1. Knife-edge Follower</a:t>
            </a:r>
            <a:endParaRPr lang="en-AU" sz="2000" b="1" dirty="0">
              <a:latin typeface="微软雅黑" panose="020B0503020204020204" pitchFamily="34" charset="-122"/>
              <a:ea typeface="微软雅黑" panose="020B0503020204020204" pitchFamily="34" charset="-122"/>
            </a:endParaRPr>
          </a:p>
        </p:txBody>
      </p:sp>
      <p:sp>
        <p:nvSpPr>
          <p:cNvPr id="13" name="矩形 12"/>
          <p:cNvSpPr/>
          <p:nvPr/>
        </p:nvSpPr>
        <p:spPr>
          <a:xfrm>
            <a:off x="200660" y="1119505"/>
            <a:ext cx="5709285" cy="39878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Classified by Contact Surface Shape</a:t>
            </a:r>
            <a:endParaRPr lang="zh-CN" altLang="en-US" sz="2000" b="1" dirty="0">
              <a:latin typeface="微软雅黑" panose="020B0503020204020204" pitchFamily="34" charset="-122"/>
              <a:ea typeface="微软雅黑" panose="020B0503020204020204" pitchFamily="34" charset="-122"/>
            </a:endParaRPr>
          </a:p>
        </p:txBody>
      </p:sp>
      <p:sp>
        <p:nvSpPr>
          <p:cNvPr id="39" name="矩形 38"/>
          <p:cNvSpPr/>
          <p:nvPr/>
        </p:nvSpPr>
        <p:spPr>
          <a:xfrm>
            <a:off x="5261610" y="1781810"/>
            <a:ext cx="2516505" cy="398780"/>
          </a:xfrm>
          <a:prstGeom prst="rect">
            <a:avLst/>
          </a:prstGeom>
        </p:spPr>
        <p:txBody>
          <a:bodyPr wrap="square">
            <a:spAutoFit/>
          </a:bodyPr>
          <a:lstStyle/>
          <a:p>
            <a:r>
              <a:rPr lang="en-US" altLang="zh-CN" sz="2000" b="1" dirty="0">
                <a:latin typeface="微软雅黑" panose="020B0503020204020204" pitchFamily="34" charset="-122"/>
                <a:ea typeface="微软雅黑" panose="020B0503020204020204" pitchFamily="34" charset="-122"/>
              </a:rPr>
              <a:t>2. Roller Follower</a:t>
            </a:r>
            <a:endParaRPr lang="en-AU" sz="2000" b="1" dirty="0">
              <a:latin typeface="微软雅黑" panose="020B0503020204020204" pitchFamily="34" charset="-122"/>
              <a:ea typeface="微软雅黑" panose="020B0503020204020204" pitchFamily="34" charset="-122"/>
            </a:endParaRPr>
          </a:p>
        </p:txBody>
      </p:sp>
      <p:sp>
        <p:nvSpPr>
          <p:cNvPr id="40" name="矩形 39"/>
          <p:cNvSpPr/>
          <p:nvPr/>
        </p:nvSpPr>
        <p:spPr>
          <a:xfrm>
            <a:off x="8312785" y="1781810"/>
            <a:ext cx="3136265" cy="398780"/>
          </a:xfrm>
          <a:prstGeom prst="rect">
            <a:avLst/>
          </a:prstGeom>
        </p:spPr>
        <p:txBody>
          <a:bodyPr wrap="square">
            <a:spAutoFit/>
          </a:bodyPr>
          <a:lstStyle/>
          <a:p>
            <a:r>
              <a:rPr lang="en-US" sz="2000" b="1" dirty="0">
                <a:latin typeface="微软雅黑" panose="020B0503020204020204" pitchFamily="34" charset="-122"/>
                <a:ea typeface="微软雅黑" panose="020B0503020204020204" pitchFamily="34" charset="-122"/>
              </a:rPr>
              <a:t>3. Flat-faced Follower</a:t>
            </a:r>
            <a:endParaRPr lang="en-AU" sz="2000" b="1" dirty="0">
              <a:latin typeface="微软雅黑" panose="020B0503020204020204" pitchFamily="34" charset="-122"/>
              <a:ea typeface="微软雅黑" panose="020B0503020204020204" pitchFamily="34" charset="-122"/>
            </a:endParaRPr>
          </a:p>
        </p:txBody>
      </p:sp>
      <p:pic>
        <p:nvPicPr>
          <p:cNvPr id="43" name="凸轮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740351" y="2297770"/>
            <a:ext cx="2977474" cy="2205983"/>
          </a:xfrm>
          <a:prstGeom prst="rect">
            <a:avLst/>
          </a:prstGeom>
        </p:spPr>
      </p:pic>
      <p:sp>
        <p:nvSpPr>
          <p:cNvPr id="53" name="矩形 52"/>
          <p:cNvSpPr/>
          <p:nvPr/>
        </p:nvSpPr>
        <p:spPr>
          <a:xfrm>
            <a:off x="223520" y="5743575"/>
            <a:ext cx="3513455"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Disadvantages of knife-edge?</a:t>
            </a:r>
            <a:endParaRPr lang="zh-CN" altLang="en-US" sz="1600" b="1" dirty="0">
              <a:latin typeface="微软雅黑" panose="020B0503020204020204" pitchFamily="34" charset="-122"/>
              <a:ea typeface="微软雅黑" panose="020B0503020204020204" pitchFamily="34" charset="-122"/>
            </a:endParaRPr>
          </a:p>
        </p:txBody>
      </p:sp>
      <p:sp>
        <p:nvSpPr>
          <p:cNvPr id="54" name="矩形 53"/>
          <p:cNvSpPr/>
          <p:nvPr/>
        </p:nvSpPr>
        <p:spPr>
          <a:xfrm>
            <a:off x="200660" y="6069330"/>
            <a:ext cx="3910330" cy="583565"/>
          </a:xfrm>
          <a:prstGeom prst="rect">
            <a:avLst/>
          </a:prstGeom>
        </p:spPr>
        <p:txBody>
          <a:bodyPr wrap="square">
            <a:spAutoFit/>
          </a:bodyPr>
          <a:lstStyle/>
          <a:p>
            <a:r>
              <a:rPr lang="en-US" altLang="zh-CN" sz="1600" b="1" dirty="0">
                <a:solidFill>
                  <a:srgbClr val="201E84"/>
                </a:solidFill>
                <a:latin typeface="微软雅黑" panose="020B0503020204020204" pitchFamily="34" charset="-122"/>
                <a:ea typeface="微软雅黑" panose="020B0503020204020204" pitchFamily="34" charset="-122"/>
              </a:rPr>
              <a:t>Small contact area</a:t>
            </a:r>
            <a:endParaRPr lang="en-US" altLang="zh-CN" sz="1600" b="1" dirty="0">
              <a:solidFill>
                <a:srgbClr val="201E84"/>
              </a:solidFill>
              <a:latin typeface="微软雅黑" panose="020B0503020204020204" pitchFamily="34" charset="-122"/>
              <a:ea typeface="微软雅黑" panose="020B0503020204020204" pitchFamily="34" charset="-122"/>
            </a:endParaRPr>
          </a:p>
          <a:p>
            <a:r>
              <a:rPr lang="en-US" altLang="zh-CN" sz="1600" b="1" dirty="0">
                <a:solidFill>
                  <a:srgbClr val="201E84"/>
                </a:solidFill>
                <a:latin typeface="微软雅黑" panose="020B0503020204020204" pitchFamily="34" charset="-122"/>
                <a:ea typeface="微软雅黑" panose="020B0503020204020204" pitchFamily="34" charset="-122"/>
              </a:rPr>
              <a:t>Sliding friction, wear easily</a:t>
            </a:r>
            <a:endParaRPr lang="en-US" altLang="zh-CN" sz="1600" b="1" dirty="0">
              <a:solidFill>
                <a:srgbClr val="201E84"/>
              </a:solidFill>
              <a:latin typeface="微软雅黑" panose="020B0503020204020204" pitchFamily="34" charset="-122"/>
              <a:ea typeface="微软雅黑" panose="020B0503020204020204" pitchFamily="34" charset="-122"/>
            </a:endParaRPr>
          </a:p>
        </p:txBody>
      </p:sp>
      <p:sp>
        <p:nvSpPr>
          <p:cNvPr id="55" name="矩形 54"/>
          <p:cNvSpPr/>
          <p:nvPr/>
        </p:nvSpPr>
        <p:spPr>
          <a:xfrm>
            <a:off x="4118955" y="4494638"/>
            <a:ext cx="2774908"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Advantages of roller?</a:t>
            </a:r>
            <a:endParaRPr lang="zh-CN" altLang="en-US" sz="1600" b="1" dirty="0">
              <a:latin typeface="微软雅黑" panose="020B0503020204020204" pitchFamily="34" charset="-122"/>
              <a:ea typeface="微软雅黑" panose="020B0503020204020204" pitchFamily="34" charset="-122"/>
            </a:endParaRPr>
          </a:p>
        </p:txBody>
      </p:sp>
      <p:sp>
        <p:nvSpPr>
          <p:cNvPr id="59" name="矩形 58"/>
          <p:cNvSpPr/>
          <p:nvPr/>
        </p:nvSpPr>
        <p:spPr>
          <a:xfrm>
            <a:off x="4119245" y="4890770"/>
            <a:ext cx="3670935" cy="58356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Rolling friction — reduced wear</a:t>
            </a:r>
            <a:endParaRPr lang="en-US" altLang="zh-CN" sz="1600" b="1" dirty="0">
              <a:solidFill>
                <a:srgbClr val="201E84"/>
              </a:solidFill>
              <a:latin typeface="微软雅黑" panose="020B0503020204020204" pitchFamily="34" charset="-122"/>
              <a:ea typeface="微软雅黑" panose="020B0503020204020204" pitchFamily="34" charset="-122"/>
            </a:endParaRPr>
          </a:p>
          <a:p>
            <a:r>
              <a:rPr lang="zh-CN" altLang="en-US" sz="1600" b="1" dirty="0">
                <a:solidFill>
                  <a:srgbClr val="201E84"/>
                </a:solidFill>
                <a:latin typeface="微软雅黑" panose="020B0503020204020204" pitchFamily="34" charset="-122"/>
                <a:ea typeface="微软雅黑" panose="020B0503020204020204" pitchFamily="34" charset="-122"/>
              </a:rPr>
              <a:t>Higher load capacity</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61" name="矩形 60"/>
          <p:cNvSpPr/>
          <p:nvPr/>
        </p:nvSpPr>
        <p:spPr>
          <a:xfrm>
            <a:off x="8569432" y="4583410"/>
            <a:ext cx="2774908"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Advantages of flat face?</a:t>
            </a:r>
            <a:endParaRPr lang="zh-CN" altLang="en-US" sz="1600" b="1" dirty="0">
              <a:latin typeface="微软雅黑" panose="020B0503020204020204" pitchFamily="34" charset="-122"/>
              <a:ea typeface="微软雅黑" panose="020B0503020204020204" pitchFamily="34" charset="-122"/>
            </a:endParaRPr>
          </a:p>
        </p:txBody>
      </p:sp>
      <p:sp>
        <p:nvSpPr>
          <p:cNvPr id="67" name="矩形 66"/>
          <p:cNvSpPr/>
          <p:nvPr/>
        </p:nvSpPr>
        <p:spPr>
          <a:xfrm>
            <a:off x="8482965" y="4879340"/>
            <a:ext cx="4089400" cy="58356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Easy oil film formation, good lubrication</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69" name="矩形 68"/>
          <p:cNvSpPr/>
          <p:nvPr/>
        </p:nvSpPr>
        <p:spPr>
          <a:xfrm>
            <a:off x="8569600" y="5391800"/>
            <a:ext cx="3790714" cy="58356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Pressure angle always = 0°, excellent force transmission</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22" name="矩形 21"/>
          <p:cNvSpPr/>
          <p:nvPr/>
        </p:nvSpPr>
        <p:spPr>
          <a:xfrm>
            <a:off x="223520" y="4504055"/>
            <a:ext cx="3477895"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Advantages of knife-edge?</a:t>
            </a:r>
            <a:endParaRPr lang="zh-CN" altLang="en-US" sz="1600" b="1" dirty="0">
              <a:latin typeface="微软雅黑" panose="020B0503020204020204" pitchFamily="34" charset="-122"/>
              <a:ea typeface="微软雅黑" panose="020B0503020204020204" pitchFamily="34" charset="-122"/>
            </a:endParaRPr>
          </a:p>
        </p:txBody>
      </p:sp>
      <p:sp>
        <p:nvSpPr>
          <p:cNvPr id="3" name="矩形 2"/>
          <p:cNvSpPr/>
          <p:nvPr/>
        </p:nvSpPr>
        <p:spPr>
          <a:xfrm>
            <a:off x="200660" y="4868545"/>
            <a:ext cx="2660015" cy="33718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Simple structure</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10" name="心形 9"/>
          <p:cNvSpPr/>
          <p:nvPr/>
        </p:nvSpPr>
        <p:spPr bwMode="auto">
          <a:xfrm>
            <a:off x="9650188" y="5864741"/>
            <a:ext cx="812302" cy="880110"/>
          </a:xfrm>
          <a:prstGeom prst="heart">
            <a:avLst/>
          </a:prstGeom>
          <a:solidFill>
            <a:schemeClr val="bg1"/>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1" name="矩形 10"/>
          <p:cNvSpPr/>
          <p:nvPr/>
        </p:nvSpPr>
        <p:spPr>
          <a:xfrm>
            <a:off x="4066525" y="5474638"/>
            <a:ext cx="4801314"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Profile contact issue — what about concave cam profiles?</a:t>
            </a:r>
            <a:endParaRPr lang="zh-CN" altLang="en-US" sz="1600" b="1" dirty="0">
              <a:latin typeface="微软雅黑" panose="020B0503020204020204" pitchFamily="34" charset="-122"/>
              <a:ea typeface="微软雅黑" panose="020B0503020204020204" pitchFamily="34" charset="-122"/>
            </a:endParaRPr>
          </a:p>
        </p:txBody>
      </p:sp>
      <p:sp>
        <p:nvSpPr>
          <p:cNvPr id="14" name="矩形 13"/>
          <p:cNvSpPr/>
          <p:nvPr/>
        </p:nvSpPr>
        <p:spPr>
          <a:xfrm>
            <a:off x="200516" y="5176602"/>
            <a:ext cx="3910773" cy="58356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Can maintain contact with complex profiles, achieve any motion law</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5" name="矩形 4"/>
          <p:cNvSpPr/>
          <p:nvPr/>
        </p:nvSpPr>
        <p:spPr>
          <a:xfrm>
            <a:off x="4111073" y="5979666"/>
            <a:ext cx="4288353" cy="82994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Flat face cannot maintain full contact with concave profile sections,</a:t>
            </a:r>
            <a:endParaRPr lang="en-US" altLang="zh-CN" sz="1600" b="1"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limiting accurate motion law realization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4912631" y="1081739"/>
            <a:ext cx="7279899" cy="398780"/>
          </a:xfrm>
          <a:prstGeom prst="rect">
            <a:avLst/>
          </a:prstGeom>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(How to select/design follower contact shape?)</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pic>
        <p:nvPicPr>
          <p:cNvPr id="9" name="1. 盘形凸轮">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366592" y="2136176"/>
            <a:ext cx="2974943" cy="2231207"/>
          </a:xfrm>
          <a:prstGeom prst="rect">
            <a:avLst/>
          </a:prstGeom>
        </p:spPr>
      </p:pic>
      <p:pic>
        <p:nvPicPr>
          <p:cNvPr id="15" name="平底凸轮">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7995862" y="2269495"/>
            <a:ext cx="3043043" cy="2282282"/>
          </a:xfrm>
          <a:prstGeom prst="rect">
            <a:avLst/>
          </a:prstGeom>
        </p:spPr>
      </p:pic>
      <p:pic>
        <p:nvPicPr>
          <p:cNvPr id="27" name="图片 26"/>
          <p:cNvPicPr>
            <a:picLocks noChangeAspect="1"/>
          </p:cNvPicPr>
          <p:nvPr/>
        </p:nvPicPr>
        <p:blipFill>
          <a:blip r:embed="rId10"/>
          <a:stretch>
            <a:fillRect/>
          </a:stretch>
        </p:blipFill>
        <p:spPr>
          <a:xfrm rot="10800000">
            <a:off x="11169723" y="2239305"/>
            <a:ext cx="1022277" cy="1810802"/>
          </a:xfrm>
          <a:prstGeom prst="rect">
            <a:avLst/>
          </a:prstGeom>
        </p:spPr>
      </p:pic>
      <p:sp>
        <p:nvSpPr>
          <p:cNvPr id="26" name="TextBox 8"/>
          <p:cNvSpPr txBox="1"/>
          <p:nvPr/>
        </p:nvSpPr>
        <p:spPr>
          <a:xfrm>
            <a:off x="1007745" y="319405"/>
            <a:ext cx="7656830"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3-2 Classification of Cam Mechanisms</a:t>
            </a:r>
            <a:endParaRPr lang="en-US" altLang="zh-CN" sz="2800" spc="100" dirty="0">
              <a:solidFill>
                <a:schemeClr val="accent2">
                  <a:lumMod val="75000"/>
                </a:schemeClr>
              </a:solidFill>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mediacall" presetSubtype="0" fill="hold" nodeType="withEffect">
                                  <p:stCondLst>
                                    <p:cond delay="0"/>
                                  </p:stCondLst>
                                  <p:childTnLst>
                                    <p:cmd type="call" cmd="playFrom(0.0)">
                                      <p:cBhvr>
                                        <p:cTn id="8" dur="3366" fill="hold"/>
                                        <p:tgtEl>
                                          <p:spTgt spid="9"/>
                                        </p:tgtEl>
                                      </p:cBhvr>
                                    </p:cmd>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2" presetClass="mediacall" presetSubtype="0" fill="hold" nodeType="withEffect">
                                  <p:stCondLst>
                                    <p:cond delay="0"/>
                                  </p:stCondLst>
                                  <p:childTnLst>
                                    <p:cmd type="call" cmd="togglePause">
                                      <p:cBhvr>
                                        <p:cTn id="28" dur="1" fill="hold"/>
                                        <p:tgtEl>
                                          <p:spTgt spid="9"/>
                                        </p:tgtEl>
                                      </p:cBhvr>
                                    </p:cmd>
                                  </p:childTnLst>
                                </p:cTn>
                              </p:par>
                              <p:par>
                                <p:cTn id="29" presetID="1"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mediacall" presetSubtype="0" fill="hold" nodeType="withEffect">
                                  <p:stCondLst>
                                    <p:cond delay="0"/>
                                  </p:stCondLst>
                                  <p:childTnLst>
                                    <p:cmd type="call" cmd="playFrom(0.0)">
                                      <p:cBhvr>
                                        <p:cTn id="34" dur="13637" fill="hold"/>
                                        <p:tgtEl>
                                          <p:spTgt spid="43"/>
                                        </p:tgtEl>
                                      </p:cBhvr>
                                    </p:cmd>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mediacall" presetSubtype="0" fill="hold" nodeType="withEffect">
                                  <p:stCondLst>
                                    <p:cond delay="0"/>
                                  </p:stCondLst>
                                  <p:childTnLst>
                                    <p:cmd type="call" cmd="playFrom(0.0)">
                                      <p:cBhvr>
                                        <p:cTn id="46" dur="3366" fill="hold"/>
                                        <p:tgtEl>
                                          <p:spTgt spid="15"/>
                                        </p:tgtEl>
                                      </p:cBhvr>
                                    </p:cmd>
                                  </p:childTnLst>
                                </p:cTn>
                              </p:par>
                              <p:par>
                                <p:cTn id="47" presetID="2" presetClass="mediacall" presetSubtype="0" fill="hold" nodeType="withEffect">
                                  <p:stCondLst>
                                    <p:cond delay="0"/>
                                  </p:stCondLst>
                                  <p:childTnLst>
                                    <p:cmd type="call" cmd="togglePause">
                                      <p:cBhvr>
                                        <p:cTn id="48" dur="1" fill="hold"/>
                                        <p:tgtEl>
                                          <p:spTgt spid="43"/>
                                        </p:tgtEl>
                                      </p:cBhvr>
                                    </p:cmd>
                                  </p:childTnLst>
                                </p:cTn>
                              </p:par>
                              <p:par>
                                <p:cTn id="49" presetID="1" presetClass="entr" presetSubtype="0"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2" presetClass="mediacall" presetSubtype="0" fill="hold" nodeType="withEffect">
                                  <p:stCondLst>
                                    <p:cond delay="0"/>
                                  </p:stCondLst>
                                  <p:childTnLst>
                                    <p:cmd type="call" cmd="togglePause">
                                      <p:cBhvr>
                                        <p:cTn id="68" dur="1" fill="hold"/>
                                        <p:tgtEl>
                                          <p:spTgt spid="15"/>
                                        </p:tgtEl>
                                      </p:cBhvr>
                                    </p:cmd>
                                  </p:childTnLst>
                                </p:cTn>
                              </p:par>
                              <p:par>
                                <p:cTn id="69" presetID="1" presetClass="entr" presetSubtype="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3" repeatCount="indefinite" fill="hold" display="0">
                  <p:stCondLst>
                    <p:cond delay="indefinite"/>
                  </p:stCondLst>
                </p:cTn>
                <p:tgtEl>
                  <p:spTgt spid="43"/>
                </p:tgtEl>
              </p:cMediaNode>
            </p:video>
            <p:video>
              <p:cMediaNode vol="80000">
                <p:cTn id="84" repeatCount="indefinite" fill="hold" display="0">
                  <p:stCondLst>
                    <p:cond delay="indefinite"/>
                  </p:stCondLst>
                </p:cTn>
                <p:tgtEl>
                  <p:spTgt spid="9"/>
                </p:tgtEl>
              </p:cMediaNode>
            </p:video>
            <p:video>
              <p:cMediaNode vol="80000">
                <p:cTn id="85" repeatCount="indefinite" fill="hold" display="0">
                  <p:stCondLst>
                    <p:cond delay="indefinite"/>
                  </p:stCondLst>
                </p:cTn>
                <p:tgtEl>
                  <p:spTgt spid="15"/>
                </p:tgtEl>
              </p:cMediaNode>
            </p:video>
          </p:childTnLst>
        </p:cTn>
      </p:par>
    </p:tnLst>
    <p:bldLst>
      <p:bldP spid="12" grpId="0"/>
      <p:bldP spid="39" grpId="0"/>
      <p:bldP spid="40" grpId="0"/>
      <p:bldP spid="53" grpId="0"/>
      <p:bldP spid="54" grpId="0"/>
      <p:bldP spid="55" grpId="0"/>
      <p:bldP spid="59" grpId="0"/>
      <p:bldP spid="61" grpId="0"/>
      <p:bldP spid="67" grpId="0"/>
      <p:bldP spid="69" grpId="0"/>
      <p:bldP spid="22" grpId="0"/>
      <p:bldP spid="3" grpId="0"/>
      <p:bldP spid="10" grpId="0" animBg="1"/>
      <p:bldP spid="11" grpId="0"/>
      <p:bldP spid="1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等径凸轮">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17704" y="4298426"/>
            <a:ext cx="2522333" cy="1891750"/>
          </a:xfrm>
          <a:prstGeom prst="rect">
            <a:avLst/>
          </a:prstGeom>
        </p:spPr>
      </p:pic>
      <p:pic>
        <p:nvPicPr>
          <p:cNvPr id="21" name="等宽凸轮">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9343309" y="4372101"/>
            <a:ext cx="2498007" cy="1873505"/>
          </a:xfrm>
          <a:prstGeom prst="rect">
            <a:avLst/>
          </a:prstGeom>
        </p:spPr>
      </p:pic>
      <p:pic>
        <p:nvPicPr>
          <p:cNvPr id="17" name="封闭凸轮">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173277" y="4298426"/>
            <a:ext cx="2450762" cy="1838072"/>
          </a:xfrm>
          <a:prstGeom prst="rect">
            <a:avLst/>
          </a:prstGeom>
        </p:spPr>
      </p:pic>
      <p:sp>
        <p:nvSpPr>
          <p:cNvPr id="8" name="灯片编号占位符 7"/>
          <p:cNvSpPr>
            <a:spLocks noGrp="1"/>
          </p:cNvSpPr>
          <p:nvPr>
            <p:ph type="sldNum" sz="quarter" idx="12"/>
          </p:nvPr>
        </p:nvSpPr>
        <p:spPr/>
        <p:txBody>
          <a:bodyPr wrap="square"/>
          <a:lstStyle/>
          <a:p>
            <a:fld id="{F54A3870-DF25-464D-B6EA-3BA6EAAA2BCA}" type="slidenum">
              <a:rPr lang="zh-CN" altLang="en-US" sz="1400" smtClean="0"/>
            </a:fld>
            <a:endParaRPr lang="zh-CN" altLang="en-US" sz="1400" smtClean="0"/>
          </a:p>
        </p:txBody>
      </p:sp>
      <p:sp>
        <p:nvSpPr>
          <p:cNvPr id="10" name="矩形 9"/>
          <p:cNvSpPr/>
          <p:nvPr/>
        </p:nvSpPr>
        <p:spPr>
          <a:xfrm>
            <a:off x="2562469" y="2106953"/>
            <a:ext cx="2774908"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What is the function of the spring?</a:t>
            </a:r>
            <a:endParaRPr lang="zh-CN" altLang="en-US" sz="1600" b="1" dirty="0">
              <a:latin typeface="微软雅黑" panose="020B0503020204020204" pitchFamily="34" charset="-122"/>
              <a:ea typeface="微软雅黑" panose="020B0503020204020204" pitchFamily="34" charset="-122"/>
            </a:endParaRPr>
          </a:p>
        </p:txBody>
      </p:sp>
      <p:sp>
        <p:nvSpPr>
          <p:cNvPr id="11" name="矩形 10"/>
          <p:cNvSpPr/>
          <p:nvPr/>
        </p:nvSpPr>
        <p:spPr>
          <a:xfrm>
            <a:off x="2528711" y="2615023"/>
            <a:ext cx="2815016" cy="82994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Uses spring force to maintain contact (higher-pair closure)</a:t>
            </a:r>
            <a:endParaRPr lang="zh-CN" altLang="en-US" sz="1600" b="1" dirty="0">
              <a:latin typeface="微软雅黑" panose="020B0503020204020204" pitchFamily="34" charset="-122"/>
              <a:ea typeface="微软雅黑" panose="020B0503020204020204" pitchFamily="34" charset="-122"/>
            </a:endParaRPr>
          </a:p>
        </p:txBody>
      </p:sp>
      <p:sp>
        <p:nvSpPr>
          <p:cNvPr id="45" name="矩形 44"/>
          <p:cNvSpPr/>
          <p:nvPr/>
        </p:nvSpPr>
        <p:spPr>
          <a:xfrm>
            <a:off x="9147930" y="2150138"/>
            <a:ext cx="2948820"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How is higher-pair closure achieved?</a:t>
            </a:r>
            <a:endParaRPr lang="zh-CN" altLang="en-US" sz="1600" b="1" dirty="0">
              <a:latin typeface="微软雅黑" panose="020B0503020204020204" pitchFamily="34" charset="-122"/>
              <a:ea typeface="微软雅黑" panose="020B0503020204020204" pitchFamily="34" charset="-122"/>
            </a:endParaRPr>
          </a:p>
        </p:txBody>
      </p:sp>
      <p:sp>
        <p:nvSpPr>
          <p:cNvPr id="12" name="矩形 11"/>
          <p:cNvSpPr/>
          <p:nvPr/>
        </p:nvSpPr>
        <p:spPr>
          <a:xfrm>
            <a:off x="9137650" y="2846705"/>
            <a:ext cx="1842770" cy="33718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Gravity</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13" name="矩形 12"/>
          <p:cNvSpPr/>
          <p:nvPr/>
        </p:nvSpPr>
        <p:spPr>
          <a:xfrm>
            <a:off x="868680" y="1115695"/>
            <a:ext cx="5713730" cy="368300"/>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Classified by Higher-Pair closure Method</a:t>
            </a:r>
            <a:endParaRPr lang="zh-CN" altLang="en-US" b="1" dirty="0">
              <a:latin typeface="微软雅黑" panose="020B0503020204020204" pitchFamily="34" charset="-122"/>
              <a:ea typeface="微软雅黑" panose="020B0503020204020204" pitchFamily="34" charset="-122"/>
            </a:endParaRPr>
          </a:p>
        </p:txBody>
      </p:sp>
      <p:sp>
        <p:nvSpPr>
          <p:cNvPr id="14" name="矩形 13"/>
          <p:cNvSpPr/>
          <p:nvPr/>
        </p:nvSpPr>
        <p:spPr>
          <a:xfrm>
            <a:off x="303530" y="1611630"/>
            <a:ext cx="8241665" cy="368300"/>
          </a:xfrm>
          <a:prstGeom prst="rect">
            <a:avLst/>
          </a:prstGeom>
        </p:spPr>
        <p:txBody>
          <a:bodyPr wrap="square">
            <a:spAutoFit/>
          </a:bodyPr>
          <a:lstStyle/>
          <a:p>
            <a:r>
              <a:rPr lang="en-US" altLang="zh-CN" b="1" dirty="0">
                <a:solidFill>
                  <a:srgbClr val="002060"/>
                </a:solidFill>
                <a:latin typeface="微软雅黑" panose="020B0503020204020204" pitchFamily="34" charset="-122"/>
                <a:ea typeface="微软雅黑" panose="020B0503020204020204" pitchFamily="34" charset="-122"/>
              </a:rPr>
              <a:t>1. Force closure (spring force, gravity, magnetic force, etc.)</a:t>
            </a:r>
            <a:endParaRPr lang="en-US" altLang="zh-CN" b="1" dirty="0">
              <a:solidFill>
                <a:srgbClr val="002060"/>
              </a:solidFill>
              <a:latin typeface="微软雅黑" panose="020B0503020204020204" pitchFamily="34" charset="-122"/>
              <a:ea typeface="微软雅黑" panose="020B0503020204020204" pitchFamily="34" charset="-122"/>
            </a:endParaRPr>
          </a:p>
        </p:txBody>
      </p:sp>
      <p:sp>
        <p:nvSpPr>
          <p:cNvPr id="46" name="矩形 45"/>
          <p:cNvSpPr/>
          <p:nvPr/>
        </p:nvSpPr>
        <p:spPr>
          <a:xfrm>
            <a:off x="318800" y="3817617"/>
            <a:ext cx="5262979" cy="368300"/>
          </a:xfrm>
          <a:prstGeom prst="rect">
            <a:avLst/>
          </a:prstGeom>
        </p:spPr>
        <p:txBody>
          <a:bodyPr wrap="square">
            <a:spAutoFit/>
          </a:bodyPr>
          <a:lstStyle/>
          <a:p>
            <a:r>
              <a:rPr lang="en-US" altLang="zh-CN" b="1" dirty="0">
                <a:solidFill>
                  <a:srgbClr val="002060"/>
                </a:solidFill>
                <a:latin typeface="微软雅黑" panose="020B0503020204020204" pitchFamily="34" charset="-122"/>
                <a:ea typeface="微软雅黑" panose="020B0503020204020204" pitchFamily="34" charset="-122"/>
              </a:rPr>
              <a:t>2. Form closure (geometry-based closure)</a:t>
            </a:r>
            <a:endParaRPr lang="en-US" altLang="zh-CN" b="1" dirty="0">
              <a:solidFill>
                <a:srgbClr val="002060"/>
              </a:solidFill>
              <a:latin typeface="微软雅黑" panose="020B0503020204020204" pitchFamily="34" charset="-122"/>
              <a:ea typeface="微软雅黑" panose="020B0503020204020204" pitchFamily="34" charset="-122"/>
            </a:endParaRPr>
          </a:p>
        </p:txBody>
      </p:sp>
      <p:pic>
        <p:nvPicPr>
          <p:cNvPr id="47" name="Picture 6"/>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01203" y="4439486"/>
            <a:ext cx="1462028" cy="1753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矩形 47"/>
          <p:cNvSpPr/>
          <p:nvPr/>
        </p:nvSpPr>
        <p:spPr>
          <a:xfrm>
            <a:off x="4430666" y="6190176"/>
            <a:ext cx="3548373"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Cam diameters must be equal</a:t>
            </a:r>
            <a:endParaRPr lang="en-US" altLang="zh-CN" sz="1600" b="1" dirty="0">
              <a:solidFill>
                <a:srgbClr val="FF0000"/>
              </a:solidFill>
              <a:latin typeface="微软雅黑" panose="020B0503020204020204" pitchFamily="34" charset="-122"/>
              <a:ea typeface="微软雅黑" panose="020B0503020204020204" pitchFamily="34" charset="-122"/>
            </a:endParaRPr>
          </a:p>
          <a:p>
            <a:r>
              <a:rPr lang="zh-CN" altLang="en-US" sz="1600" b="1" dirty="0">
                <a:solidFill>
                  <a:srgbClr val="FF0000"/>
                </a:solidFill>
                <a:latin typeface="微软雅黑" panose="020B0503020204020204" pitchFamily="34" charset="-122"/>
                <a:ea typeface="微软雅黑" panose="020B0503020204020204" pitchFamily="34" charset="-122"/>
              </a:rPr>
              <a:t>(e.g., a = b = D - roller diameter)</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49" name="矩形 48"/>
          <p:cNvSpPr/>
          <p:nvPr/>
        </p:nvSpPr>
        <p:spPr>
          <a:xfrm>
            <a:off x="8400158" y="6199463"/>
            <a:ext cx="3265536"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Cam width must be constant (e.g., m = L)</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51" name="矩形 50"/>
          <p:cNvSpPr/>
          <p:nvPr/>
        </p:nvSpPr>
        <p:spPr>
          <a:xfrm>
            <a:off x="5874476" y="4404380"/>
            <a:ext cx="1843237"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Constant-diameter Cam</a:t>
            </a:r>
            <a:endParaRPr lang="zh-CN" altLang="en-US" sz="1600" b="1" dirty="0">
              <a:latin typeface="微软雅黑" panose="020B0503020204020204" pitchFamily="34" charset="-122"/>
              <a:ea typeface="微软雅黑" panose="020B0503020204020204" pitchFamily="34" charset="-122"/>
            </a:endParaRPr>
          </a:p>
        </p:txBody>
      </p:sp>
      <p:cxnSp>
        <p:nvCxnSpPr>
          <p:cNvPr id="31" name="直接连接符 30"/>
          <p:cNvCxnSpPr/>
          <p:nvPr/>
        </p:nvCxnSpPr>
        <p:spPr bwMode="auto">
          <a:xfrm rot="5400000" flipV="1">
            <a:off x="8515842" y="4899276"/>
            <a:ext cx="1" cy="756000"/>
          </a:xfrm>
          <a:prstGeom prst="line">
            <a:avLst/>
          </a:prstGeom>
          <a:solidFill>
            <a:schemeClr val="accent1"/>
          </a:solidFill>
          <a:ln w="9525" cap="flat" cmpd="sng" algn="ctr">
            <a:solidFill>
              <a:srgbClr val="FF0000"/>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8138075" y="4975633"/>
            <a:ext cx="0" cy="733543"/>
          </a:xfrm>
          <a:prstGeom prst="line">
            <a:avLst/>
          </a:prstGeom>
          <a:solidFill>
            <a:schemeClr val="accent1"/>
          </a:solidFill>
          <a:ln w="12700" cap="flat" cmpd="sng" algn="ctr">
            <a:solidFill>
              <a:srgbClr val="FF0000"/>
            </a:solidFill>
            <a:prstDash val="dash"/>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a:off x="8902700" y="4942701"/>
            <a:ext cx="0" cy="733543"/>
          </a:xfrm>
          <a:prstGeom prst="line">
            <a:avLst/>
          </a:prstGeom>
          <a:solidFill>
            <a:schemeClr val="accent1"/>
          </a:solidFill>
          <a:ln w="12700" cap="flat" cmpd="sng" algn="ctr">
            <a:solidFill>
              <a:srgbClr val="FF0000"/>
            </a:solidFill>
            <a:prstDash val="dash"/>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矩形 28"/>
          <p:cNvSpPr/>
          <p:nvPr/>
        </p:nvSpPr>
        <p:spPr>
          <a:xfrm>
            <a:off x="8391125" y="5001648"/>
            <a:ext cx="410690" cy="306705"/>
          </a:xfrm>
          <a:prstGeom prst="rect">
            <a:avLst/>
          </a:prstGeom>
        </p:spPr>
        <p:txBody>
          <a:bodyPr wrap="square">
            <a:spAutoFit/>
          </a:bodyPr>
          <a:lstStyle/>
          <a:p>
            <a:r>
              <a:rPr lang="en-US" altLang="zh-CN" sz="1400" b="1" i="1" dirty="0">
                <a:solidFill>
                  <a:srgbClr val="FF0000"/>
                </a:solidFill>
                <a:latin typeface="微软雅黑" panose="020B0503020204020204" pitchFamily="34" charset="-122"/>
                <a:ea typeface="微软雅黑" panose="020B0503020204020204" pitchFamily="34" charset="-122"/>
              </a:rPr>
              <a:t>m</a:t>
            </a:r>
            <a:endParaRPr lang="en-US" altLang="zh-CN" sz="1400" b="1" i="1" dirty="0">
              <a:solidFill>
                <a:srgbClr val="FF0000"/>
              </a:solidFill>
              <a:latin typeface="微软雅黑" panose="020B0503020204020204" pitchFamily="34" charset="-122"/>
              <a:ea typeface="微软雅黑" panose="020B0503020204020204" pitchFamily="34" charset="-122"/>
            </a:endParaRPr>
          </a:p>
        </p:txBody>
      </p:sp>
      <p:pic>
        <p:nvPicPr>
          <p:cNvPr id="42" name="图片 41"/>
          <p:cNvPicPr>
            <a:picLocks noChangeAspect="1"/>
          </p:cNvPicPr>
          <p:nvPr/>
        </p:nvPicPr>
        <p:blipFill>
          <a:blip r:embed="rId11"/>
          <a:stretch>
            <a:fillRect/>
          </a:stretch>
        </p:blipFill>
        <p:spPr>
          <a:xfrm>
            <a:off x="2163201" y="4296345"/>
            <a:ext cx="952500" cy="1866900"/>
          </a:xfrm>
          <a:prstGeom prst="rect">
            <a:avLst/>
          </a:prstGeom>
        </p:spPr>
      </p:pic>
      <p:cxnSp>
        <p:nvCxnSpPr>
          <p:cNvPr id="57" name="直接连接符 56"/>
          <p:cNvCxnSpPr/>
          <p:nvPr/>
        </p:nvCxnSpPr>
        <p:spPr bwMode="auto">
          <a:xfrm flipH="1">
            <a:off x="2562122" y="5016979"/>
            <a:ext cx="348825" cy="604183"/>
          </a:xfrm>
          <a:prstGeom prst="line">
            <a:avLst/>
          </a:prstGeom>
          <a:solidFill>
            <a:schemeClr val="accent1"/>
          </a:solidFill>
          <a:ln w="6350" cap="flat" cmpd="sng" algn="ctr">
            <a:solidFill>
              <a:schemeClr val="tx1"/>
            </a:solidFill>
            <a:prstDash val="dash"/>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55"/>
          <p:cNvCxnSpPr/>
          <p:nvPr/>
        </p:nvCxnSpPr>
        <p:spPr bwMode="auto">
          <a:xfrm rot="1800000" flipH="1">
            <a:off x="2755612" y="5194976"/>
            <a:ext cx="0" cy="180000"/>
          </a:xfrm>
          <a:prstGeom prst="line">
            <a:avLst/>
          </a:prstGeom>
          <a:solidFill>
            <a:schemeClr val="accent1"/>
          </a:solidFill>
          <a:ln w="12700" cap="flat" cmpd="sng" algn="ctr">
            <a:solidFill>
              <a:srgbClr val="FF0000"/>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矩形 61"/>
          <p:cNvSpPr/>
          <p:nvPr/>
        </p:nvSpPr>
        <p:spPr>
          <a:xfrm>
            <a:off x="2688829" y="5157938"/>
            <a:ext cx="413896" cy="306705"/>
          </a:xfrm>
          <a:prstGeom prst="rect">
            <a:avLst/>
          </a:prstGeom>
        </p:spPr>
        <p:txBody>
          <a:bodyPr wrap="square">
            <a:spAutoFit/>
          </a:bodyPr>
          <a:lstStyle/>
          <a:p>
            <a:r>
              <a:rPr lang="en-US" altLang="zh-CN" sz="1400" b="1" i="1" dirty="0">
                <a:solidFill>
                  <a:srgbClr val="FF0000"/>
                </a:solidFill>
                <a:latin typeface="微软雅黑" panose="020B0503020204020204" pitchFamily="34" charset="-122"/>
                <a:ea typeface="微软雅黑" panose="020B0503020204020204" pitchFamily="34" charset="-122"/>
              </a:rPr>
              <a:t>e</a:t>
            </a:r>
            <a:r>
              <a:rPr lang="en-US" altLang="zh-CN" sz="1400" b="1" i="1" baseline="-25000" dirty="0">
                <a:solidFill>
                  <a:srgbClr val="FF0000"/>
                </a:solidFill>
                <a:latin typeface="微软雅黑" panose="020B0503020204020204" pitchFamily="34" charset="-122"/>
                <a:ea typeface="微软雅黑" panose="020B0503020204020204" pitchFamily="34" charset="-122"/>
              </a:rPr>
              <a:t>1</a:t>
            </a:r>
            <a:endParaRPr lang="en-US" altLang="zh-CN" sz="1400" b="1" i="1" baseline="-25000" dirty="0">
              <a:solidFill>
                <a:srgbClr val="FF0000"/>
              </a:solidFill>
              <a:latin typeface="微软雅黑" panose="020B0503020204020204" pitchFamily="34" charset="-122"/>
              <a:ea typeface="微软雅黑" panose="020B0503020204020204" pitchFamily="34" charset="-122"/>
            </a:endParaRPr>
          </a:p>
        </p:txBody>
      </p:sp>
      <p:cxnSp>
        <p:nvCxnSpPr>
          <p:cNvPr id="63" name="直接连接符 62"/>
          <p:cNvCxnSpPr/>
          <p:nvPr/>
        </p:nvCxnSpPr>
        <p:spPr bwMode="auto">
          <a:xfrm rot="-3600000" flipH="1">
            <a:off x="2570063" y="5608220"/>
            <a:ext cx="348825" cy="604183"/>
          </a:xfrm>
          <a:prstGeom prst="line">
            <a:avLst/>
          </a:prstGeom>
          <a:solidFill>
            <a:schemeClr val="accent1"/>
          </a:solidFill>
          <a:ln w="6350" cap="flat" cmpd="sng" algn="ctr">
            <a:solidFill>
              <a:schemeClr val="tx1"/>
            </a:solidFill>
            <a:prstDash val="dash"/>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63"/>
          <p:cNvCxnSpPr/>
          <p:nvPr/>
        </p:nvCxnSpPr>
        <p:spPr bwMode="auto">
          <a:xfrm rot="-1800000" flipH="1">
            <a:off x="2723549" y="5786218"/>
            <a:ext cx="0" cy="180000"/>
          </a:xfrm>
          <a:prstGeom prst="line">
            <a:avLst/>
          </a:prstGeom>
          <a:solidFill>
            <a:schemeClr val="accent1"/>
          </a:solidFill>
          <a:ln w="12700" cap="flat" cmpd="sng" algn="ctr">
            <a:solidFill>
              <a:srgbClr val="FF0000"/>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矩形 64"/>
          <p:cNvSpPr/>
          <p:nvPr/>
        </p:nvSpPr>
        <p:spPr>
          <a:xfrm>
            <a:off x="2674806" y="5579222"/>
            <a:ext cx="413896" cy="306705"/>
          </a:xfrm>
          <a:prstGeom prst="rect">
            <a:avLst/>
          </a:prstGeom>
        </p:spPr>
        <p:txBody>
          <a:bodyPr wrap="square">
            <a:spAutoFit/>
          </a:bodyPr>
          <a:lstStyle/>
          <a:p>
            <a:r>
              <a:rPr lang="en-US" altLang="zh-CN" sz="1400" b="1" i="1" dirty="0">
                <a:solidFill>
                  <a:srgbClr val="FF0000"/>
                </a:solidFill>
                <a:latin typeface="微软雅黑" panose="020B0503020204020204" pitchFamily="34" charset="-122"/>
                <a:ea typeface="微软雅黑" panose="020B0503020204020204" pitchFamily="34" charset="-122"/>
              </a:rPr>
              <a:t>e</a:t>
            </a:r>
            <a:r>
              <a:rPr lang="en-US" altLang="zh-CN" sz="1400" b="1" i="1" baseline="-25000" dirty="0">
                <a:solidFill>
                  <a:srgbClr val="FF0000"/>
                </a:solidFill>
                <a:latin typeface="微软雅黑" panose="020B0503020204020204" pitchFamily="34" charset="-122"/>
                <a:ea typeface="微软雅黑" panose="020B0503020204020204" pitchFamily="34" charset="-122"/>
              </a:rPr>
              <a:t>2</a:t>
            </a:r>
            <a:endParaRPr lang="en-US" altLang="zh-CN" sz="1400" b="1" i="1" baseline="-25000" dirty="0">
              <a:solidFill>
                <a:srgbClr val="FF0000"/>
              </a:solidFill>
              <a:latin typeface="微软雅黑" panose="020B0503020204020204" pitchFamily="34" charset="-122"/>
              <a:ea typeface="微软雅黑" panose="020B0503020204020204" pitchFamily="34" charset="-122"/>
            </a:endParaRPr>
          </a:p>
        </p:txBody>
      </p:sp>
      <p:sp>
        <p:nvSpPr>
          <p:cNvPr id="66" name="矩形 65"/>
          <p:cNvSpPr/>
          <p:nvPr/>
        </p:nvSpPr>
        <p:spPr>
          <a:xfrm>
            <a:off x="134620" y="6163310"/>
            <a:ext cx="4016375" cy="583565"/>
          </a:xfrm>
          <a:prstGeom prst="rect">
            <a:avLst/>
          </a:prstGeom>
        </p:spPr>
        <p:txBody>
          <a:bodyPr wrap="square">
            <a:spAutoFit/>
          </a:bodyPr>
          <a:lstStyle/>
          <a:p>
            <a:r>
              <a:rPr lang="en-US" altLang="zh-CN" sz="1600" b="1" dirty="0">
                <a:solidFill>
                  <a:schemeClr val="tx1"/>
                </a:solidFill>
                <a:latin typeface="微软雅黑" panose="020B0503020204020204" pitchFamily="34" charset="-122"/>
                <a:ea typeface="微软雅黑" panose="020B0503020204020204" pitchFamily="34" charset="-122"/>
              </a:rPr>
              <a:t>The cam must meet the specified requirements.</a:t>
            </a:r>
            <a:r>
              <a:rPr lang="en-US" altLang="zh-CN" sz="1600" b="1" i="1" dirty="0">
                <a:solidFill>
                  <a:srgbClr val="FF0000"/>
                </a:solidFill>
                <a:latin typeface="微软雅黑" panose="020B0503020204020204" pitchFamily="34" charset="-122"/>
                <a:ea typeface="微软雅黑" panose="020B0503020204020204" pitchFamily="34" charset="-122"/>
              </a:rPr>
              <a:t>e</a:t>
            </a:r>
            <a:r>
              <a:rPr lang="en-US" altLang="zh-CN" sz="1600" b="1" i="1" baseline="-25000" dirty="0">
                <a:solidFill>
                  <a:srgbClr val="FF0000"/>
                </a:solidFill>
                <a:latin typeface="微软雅黑" panose="020B0503020204020204" pitchFamily="34" charset="-122"/>
                <a:ea typeface="微软雅黑" panose="020B0503020204020204" pitchFamily="34" charset="-122"/>
              </a:rPr>
              <a:t>1</a:t>
            </a:r>
            <a:r>
              <a:rPr lang="en-US" altLang="zh-CN" sz="1600" b="1" i="1" dirty="0">
                <a:solidFill>
                  <a:srgbClr val="FF0000"/>
                </a:solidFill>
                <a:latin typeface="微软雅黑" panose="020B0503020204020204" pitchFamily="34" charset="-122"/>
                <a:ea typeface="微软雅黑" panose="020B0503020204020204" pitchFamily="34" charset="-122"/>
              </a:rPr>
              <a:t> =e</a:t>
            </a:r>
            <a:r>
              <a:rPr lang="en-US" altLang="zh-CN" sz="1600" b="1" i="1" baseline="-25000" dirty="0">
                <a:solidFill>
                  <a:srgbClr val="FF0000"/>
                </a:solidFill>
                <a:latin typeface="微软雅黑" panose="020B0503020204020204" pitchFamily="34" charset="-122"/>
                <a:ea typeface="微软雅黑" panose="020B0503020204020204" pitchFamily="34" charset="-122"/>
              </a:rPr>
              <a:t>2</a:t>
            </a:r>
            <a:r>
              <a:rPr lang="en-US" altLang="zh-CN" sz="1600" b="1" i="1" dirty="0">
                <a:solidFill>
                  <a:srgbClr val="FF0000"/>
                </a:solidFill>
                <a:latin typeface="微软雅黑" panose="020B0503020204020204" pitchFamily="34" charset="-122"/>
                <a:ea typeface="微软雅黑" panose="020B0503020204020204" pitchFamily="34" charset="-122"/>
              </a:rPr>
              <a:t> =Roller diameter</a:t>
            </a:r>
            <a:endParaRPr lang="en-US" altLang="zh-CN" sz="1600" b="1" i="1" dirty="0">
              <a:solidFill>
                <a:srgbClr val="FF0000"/>
              </a:solidFill>
              <a:latin typeface="微软雅黑" panose="020B0503020204020204" pitchFamily="34" charset="-122"/>
              <a:ea typeface="微软雅黑" panose="020B0503020204020204" pitchFamily="34" charset="-122"/>
            </a:endParaRPr>
          </a:p>
        </p:txBody>
      </p:sp>
      <p:sp>
        <p:nvSpPr>
          <p:cNvPr id="39" name="矩形 38"/>
          <p:cNvSpPr/>
          <p:nvPr/>
        </p:nvSpPr>
        <p:spPr>
          <a:xfrm>
            <a:off x="134477" y="4404380"/>
            <a:ext cx="1342520" cy="58356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Grooved Cam</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2" name="矩形 1"/>
          <p:cNvSpPr/>
          <p:nvPr/>
        </p:nvSpPr>
        <p:spPr>
          <a:xfrm>
            <a:off x="4430666" y="4376462"/>
            <a:ext cx="1210588" cy="82994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Yoke Follower</a:t>
            </a:r>
            <a:endParaRPr lang="en-US" altLang="zh-CN" sz="1600" b="1" dirty="0">
              <a:solidFill>
                <a:srgbClr val="201E84"/>
              </a:solidFill>
              <a:latin typeface="微软雅黑" panose="020B0503020204020204" pitchFamily="34" charset="-122"/>
              <a:ea typeface="微软雅黑" panose="020B0503020204020204" pitchFamily="34" charset="-122"/>
            </a:endParaRPr>
          </a:p>
          <a:p>
            <a:r>
              <a:rPr lang="zh-CN" altLang="en-US" sz="1600" b="1" dirty="0">
                <a:solidFill>
                  <a:srgbClr val="201E84"/>
                </a:solidFill>
                <a:latin typeface="微软雅黑" panose="020B0503020204020204" pitchFamily="34" charset="-122"/>
                <a:ea typeface="微软雅黑" panose="020B0503020204020204" pitchFamily="34" charset="-122"/>
              </a:rPr>
              <a:t>(Roller)</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41" name="矩形 40"/>
          <p:cNvSpPr/>
          <p:nvPr/>
        </p:nvSpPr>
        <p:spPr>
          <a:xfrm>
            <a:off x="9244834" y="4363765"/>
            <a:ext cx="1217000" cy="1076325"/>
          </a:xfrm>
          <a:prstGeom prst="rect">
            <a:avLst/>
          </a:prstGeom>
        </p:spPr>
        <p:txBody>
          <a:bodyPr wrap="square">
            <a:spAutoFit/>
          </a:bodyPr>
          <a:lstStyle/>
          <a:p>
            <a:r>
              <a:rPr lang="zh-CN" altLang="en-US" sz="1600" b="1" dirty="0">
                <a:solidFill>
                  <a:srgbClr val="201E84"/>
                </a:solidFill>
                <a:latin typeface="微软雅黑" panose="020B0503020204020204" pitchFamily="34" charset="-122"/>
                <a:ea typeface="微软雅黑" panose="020B0503020204020204" pitchFamily="34" charset="-122"/>
              </a:rPr>
              <a:t>Yoke Follower</a:t>
            </a:r>
            <a:endParaRPr lang="en-US" altLang="zh-CN" sz="1600" b="1" dirty="0">
              <a:solidFill>
                <a:srgbClr val="201E84"/>
              </a:solidFill>
              <a:latin typeface="微软雅黑" panose="020B0503020204020204" pitchFamily="34" charset="-122"/>
              <a:ea typeface="微软雅黑" panose="020B0503020204020204" pitchFamily="34" charset="-122"/>
            </a:endParaRPr>
          </a:p>
          <a:p>
            <a:r>
              <a:rPr lang="zh-CN" altLang="en-US" sz="1600" b="1" dirty="0">
                <a:solidFill>
                  <a:srgbClr val="201E84"/>
                </a:solidFill>
                <a:latin typeface="微软雅黑" panose="020B0503020204020204" pitchFamily="34" charset="-122"/>
                <a:ea typeface="微软雅黑" panose="020B0503020204020204" pitchFamily="34" charset="-122"/>
              </a:rPr>
              <a:t>(Flat-faced)</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43" name="矩形 42"/>
          <p:cNvSpPr/>
          <p:nvPr/>
        </p:nvSpPr>
        <p:spPr>
          <a:xfrm>
            <a:off x="10558179" y="4009077"/>
            <a:ext cx="1843237" cy="58356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Constant-width Cam</a:t>
            </a:r>
            <a:endParaRPr lang="zh-CN" altLang="en-US" sz="1600" b="1" dirty="0">
              <a:latin typeface="微软雅黑" panose="020B0503020204020204" pitchFamily="34" charset="-122"/>
              <a:ea typeface="微软雅黑" panose="020B0503020204020204" pitchFamily="34" charset="-122"/>
            </a:endParaRPr>
          </a:p>
        </p:txBody>
      </p:sp>
      <p:pic>
        <p:nvPicPr>
          <p:cNvPr id="6" name="凸轮机构">
            <a:hlinkClick r:id="" action="ppaction://media"/>
          </p:cNvPr>
          <p:cNvPicPr>
            <a:picLocks noChangeAspect="1"/>
          </p:cNvPicPr>
          <p:nvPr>
            <a:videoFile r:link="rId12"/>
            <p:extLst>
              <p:ext uri="{DAA4B4D4-6D71-4841-9C94-3DE7FCFB9230}">
                <p14:media xmlns:p14="http://schemas.microsoft.com/office/powerpoint/2010/main" r:embed="rId13"/>
              </p:ext>
            </p:extLst>
          </p:nvPr>
        </p:nvPicPr>
        <p:blipFill>
          <a:blip r:embed="rId14"/>
          <a:stretch>
            <a:fillRect/>
          </a:stretch>
        </p:blipFill>
        <p:spPr>
          <a:xfrm>
            <a:off x="192294" y="2107055"/>
            <a:ext cx="2232852" cy="1674639"/>
          </a:xfrm>
          <a:prstGeom prst="rect">
            <a:avLst/>
          </a:prstGeom>
        </p:spPr>
      </p:pic>
      <p:pic>
        <p:nvPicPr>
          <p:cNvPr id="50" name="1. 盘形凸轮">
            <a:hlinkClick r:id="" action="ppaction://media"/>
          </p:cNvPr>
          <p:cNvPicPr>
            <a:picLocks noChangeAspect="1"/>
          </p:cNvPicPr>
          <p:nvPr>
            <a:videoFile r:link="rId15"/>
            <p:extLst>
              <p:ext uri="{DAA4B4D4-6D71-4841-9C94-3DE7FCFB9230}">
                <p14:media xmlns:p14="http://schemas.microsoft.com/office/powerpoint/2010/main" r:embed="rId16"/>
              </p:ext>
            </p:extLst>
          </p:nvPr>
        </p:nvPicPr>
        <p:blipFill>
          <a:blip r:embed="rId17"/>
          <a:stretch>
            <a:fillRect/>
          </a:stretch>
        </p:blipFill>
        <p:spPr>
          <a:xfrm>
            <a:off x="6525683" y="2101422"/>
            <a:ext cx="2247872" cy="1685904"/>
          </a:xfrm>
          <a:prstGeom prst="rect">
            <a:avLst/>
          </a:prstGeom>
        </p:spPr>
      </p:pic>
      <p:sp>
        <p:nvSpPr>
          <p:cNvPr id="52" name="矩形 51"/>
          <p:cNvSpPr/>
          <p:nvPr/>
        </p:nvSpPr>
        <p:spPr>
          <a:xfrm>
            <a:off x="5874696" y="1115652"/>
            <a:ext cx="7279899" cy="368300"/>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(How to select/design closure method?)</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8"/>
          <a:stretch>
            <a:fillRect/>
          </a:stretch>
        </p:blipFill>
        <p:spPr>
          <a:xfrm>
            <a:off x="3263283" y="4389817"/>
            <a:ext cx="924506" cy="1838072"/>
          </a:xfrm>
          <a:prstGeom prst="rect">
            <a:avLst/>
          </a:prstGeom>
        </p:spPr>
      </p:pic>
      <p:sp>
        <p:nvSpPr>
          <p:cNvPr id="26" name="TextBox 8"/>
          <p:cNvSpPr txBox="1"/>
          <p:nvPr/>
        </p:nvSpPr>
        <p:spPr>
          <a:xfrm>
            <a:off x="1007745" y="319405"/>
            <a:ext cx="7656830"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3-2 Classification of Cam Mechanisms</a:t>
            </a:r>
            <a:endParaRPr lang="en-US" altLang="zh-CN" sz="2800" spc="100" dirty="0">
              <a:solidFill>
                <a:schemeClr val="accent2">
                  <a:lumMod val="75000"/>
                </a:schemeClr>
              </a:solidFill>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mediacall" presetSubtype="0" fill="hold" nodeType="withEffect">
                                  <p:stCondLst>
                                    <p:cond delay="0"/>
                                  </p:stCondLst>
                                  <p:childTnLst>
                                    <p:cmd type="call" cmd="playFrom(0.0)">
                                      <p:cBhvr>
                                        <p:cTn id="8" dur="3366" fill="hold"/>
                                        <p:tgtEl>
                                          <p:spTgt spid="6"/>
                                        </p:tgtEl>
                                      </p:cBhvr>
                                    </p:cmd>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2" presetClass="mediacall" presetSubtype="0" fill="hold" nodeType="withEffect">
                                  <p:stCondLst>
                                    <p:cond delay="0"/>
                                  </p:stCondLst>
                                  <p:childTnLst>
                                    <p:cmd type="call" cmd="togglePause">
                                      <p:cBhvr>
                                        <p:cTn id="20" dur="1" fill="hold"/>
                                        <p:tgtEl>
                                          <p:spTgt spid="6"/>
                                        </p:tgtEl>
                                      </p:cBhvr>
                                    </p:cmd>
                                  </p:childTnLst>
                                </p:cTn>
                              </p:par>
                              <p:par>
                                <p:cTn id="21" presetID="1" presetClass="mediacall" presetSubtype="0" fill="hold" nodeType="withEffect">
                                  <p:stCondLst>
                                    <p:cond delay="0"/>
                                  </p:stCondLst>
                                  <p:childTnLst>
                                    <p:cmd type="call" cmd="playFrom(0.0)">
                                      <p:cBhvr>
                                        <p:cTn id="22" dur="3366" fill="hold"/>
                                        <p:tgtEl>
                                          <p:spTgt spid="50"/>
                                        </p:tgtEl>
                                      </p:cBhvr>
                                    </p:cmd>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2" presetClass="mediacall" presetSubtype="0" fill="hold" nodeType="withEffect">
                                  <p:stCondLst>
                                    <p:cond delay="0"/>
                                  </p:stCondLst>
                                  <p:childTnLst>
                                    <p:cmd type="call" cmd="togglePause">
                                      <p:cBhvr>
                                        <p:cTn id="34" dur="1" fill="hold"/>
                                        <p:tgtEl>
                                          <p:spTgt spid="50"/>
                                        </p:tgtEl>
                                      </p:cBhvr>
                                    </p:cmd>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mediacall" presetSubtype="0" fill="hold" nodeType="withEffect">
                                  <p:stCondLst>
                                    <p:cond delay="0"/>
                                  </p:stCondLst>
                                  <p:childTnLst>
                                    <p:cmd type="call" cmd="playFrom(0.0)">
                                      <p:cBhvr>
                                        <p:cTn id="48" dur="3366" fill="hold"/>
                                        <p:tgtEl>
                                          <p:spTgt spid="17"/>
                                        </p:tgtEl>
                                      </p:cBhvr>
                                    </p:cmd>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mediacall" presetSubtype="0" fill="hold" nodeType="withEffect">
                                  <p:stCondLst>
                                    <p:cond delay="0"/>
                                  </p:stCondLst>
                                  <p:childTnLst>
                                    <p:cmd type="call" cmd="playFrom(0.0)">
                                      <p:cBhvr>
                                        <p:cTn id="74" dur="3366" fill="hold"/>
                                        <p:tgtEl>
                                          <p:spTgt spid="22"/>
                                        </p:tgtEl>
                                      </p:cBhvr>
                                    </p:cmd>
                                  </p:childTnLst>
                                </p:cTn>
                              </p:par>
                              <p:par>
                                <p:cTn id="75" presetID="2" presetClass="mediacall" presetSubtype="0" fill="hold" nodeType="withEffect">
                                  <p:stCondLst>
                                    <p:cond delay="0"/>
                                  </p:stCondLst>
                                  <p:childTnLst>
                                    <p:cmd type="call" cmd="togglePause">
                                      <p:cBhvr>
                                        <p:cTn id="76" dur="1" fill="hold"/>
                                        <p:tgtEl>
                                          <p:spTgt spid="17"/>
                                        </p:tgtEl>
                                      </p:cBhvr>
                                    </p:cmd>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1"/>
                                        </p:tgtEl>
                                        <p:attrNameLst>
                                          <p:attrName>style.visibility</p:attrName>
                                        </p:attrNameLst>
                                      </p:cBhvr>
                                      <p:to>
                                        <p:strVal val="visible"/>
                                      </p:to>
                                    </p:set>
                                  </p:childTnLst>
                                </p:cTn>
                              </p:par>
                              <p:par>
                                <p:cTn id="89" presetID="2" presetClass="mediacall" presetSubtype="0" fill="hold" nodeType="withEffect">
                                  <p:stCondLst>
                                    <p:cond delay="0"/>
                                  </p:stCondLst>
                                  <p:childTnLst>
                                    <p:cmd type="call" cmd="togglePause">
                                      <p:cBhvr>
                                        <p:cTn id="90" dur="1" fill="hold"/>
                                        <p:tgtEl>
                                          <p:spTgt spid="22"/>
                                        </p:tgtEl>
                                      </p:cBhvr>
                                    </p:cmd>
                                  </p:childTnLst>
                                </p:cTn>
                              </p:par>
                              <p:par>
                                <p:cTn id="91" presetID="1" presetClass="mediacall" presetSubtype="0" fill="hold" nodeType="withEffect">
                                  <p:stCondLst>
                                    <p:cond delay="0"/>
                                  </p:stCondLst>
                                  <p:childTnLst>
                                    <p:cmd type="call" cmd="playFrom(0.0)">
                                      <p:cBhvr>
                                        <p:cTn id="92" dur="3366" fill="hold"/>
                                        <p:tgtEl>
                                          <p:spTgt spid="21"/>
                                        </p:tgtEl>
                                      </p:cBhvr>
                                    </p:cmd>
                                  </p:childTnLst>
                                </p:cTn>
                              </p:par>
                              <p:par>
                                <p:cTn id="93" presetID="1" presetClass="entr" presetSubtype="0" fill="hold" nodeType="withEffect">
                                  <p:stCondLst>
                                    <p:cond delay="0"/>
                                  </p:stCondLst>
                                  <p:childTnLst>
                                    <p:set>
                                      <p:cBhvr>
                                        <p:cTn id="94" dur="1" fill="hold">
                                          <p:stCondLst>
                                            <p:cond delay="0"/>
                                          </p:stCondLst>
                                        </p:cTn>
                                        <p:tgtEl>
                                          <p:spTgt spid="4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3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2"/>
                                        </p:tgtEl>
                                        <p:attrNameLst>
                                          <p:attrName>style.visibility</p:attrName>
                                        </p:attrNameLst>
                                      </p:cBhvr>
                                      <p:to>
                                        <p:strVal val="visible"/>
                                      </p:to>
                                    </p:set>
                                  </p:childTnLst>
                                </p:cTn>
                              </p:par>
                              <p:par>
                                <p:cTn id="113" presetID="2" presetClass="mediacall" presetSubtype="0" fill="hold" nodeType="withEffect">
                                  <p:stCondLst>
                                    <p:cond delay="0"/>
                                  </p:stCondLst>
                                  <p:childTnLst>
                                    <p:cmd type="call" cmd="togglePause">
                                      <p:cBhvr>
                                        <p:cTn id="114"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5" repeatCount="indefinite" fill="hold" display="0">
                  <p:stCondLst>
                    <p:cond delay="indefinite"/>
                  </p:stCondLst>
                </p:cTn>
                <p:tgtEl>
                  <p:spTgt spid="6"/>
                </p:tgtEl>
              </p:cMediaNode>
            </p:video>
            <p:video>
              <p:cMediaNode vol="80000">
                <p:cTn id="116" repeatCount="indefinite" fill="hold" display="0">
                  <p:stCondLst>
                    <p:cond delay="indefinite"/>
                  </p:stCondLst>
                </p:cTn>
                <p:tgtEl>
                  <p:spTgt spid="50"/>
                </p:tgtEl>
              </p:cMediaNode>
            </p:video>
            <p:video>
              <p:cMediaNode vol="80000">
                <p:cTn id="117" repeatCount="indefinite" fill="hold" display="0">
                  <p:stCondLst>
                    <p:cond delay="indefinite"/>
                  </p:stCondLst>
                </p:cTn>
                <p:tgtEl>
                  <p:spTgt spid="17"/>
                </p:tgtEl>
              </p:cMediaNode>
            </p:video>
            <p:video>
              <p:cMediaNode vol="80000">
                <p:cTn id="118" repeatCount="indefinite" fill="hold" display="0">
                  <p:stCondLst>
                    <p:cond delay="indefinite"/>
                  </p:stCondLst>
                </p:cTn>
                <p:tgtEl>
                  <p:spTgt spid="21"/>
                </p:tgtEl>
              </p:cMediaNode>
            </p:video>
            <p:video>
              <p:cMediaNode vol="80000">
                <p:cTn id="119" repeatCount="indefinite" fill="hold" display="0">
                  <p:stCondLst>
                    <p:cond delay="indefinite"/>
                  </p:stCondLst>
                </p:cTn>
                <p:tgtEl>
                  <p:spTgt spid="22"/>
                </p:tgtEl>
              </p:cMediaNode>
            </p:video>
          </p:childTnLst>
        </p:cTn>
      </p:par>
    </p:tnLst>
    <p:bldLst>
      <p:bldP spid="10" grpId="0"/>
      <p:bldP spid="11" grpId="0"/>
      <p:bldP spid="45" grpId="0"/>
      <p:bldP spid="12" grpId="0"/>
      <p:bldP spid="13" grpId="0"/>
      <p:bldP spid="14" grpId="0"/>
      <p:bldP spid="46" grpId="0"/>
      <p:bldP spid="48" grpId="0"/>
      <p:bldP spid="49" grpId="0"/>
      <p:bldP spid="51" grpId="0"/>
      <p:bldP spid="29" grpId="0"/>
      <p:bldP spid="62" grpId="0"/>
      <p:bldP spid="65" grpId="0"/>
      <p:bldP spid="66" grpId="0"/>
      <p:bldP spid="39" grpId="0"/>
      <p:bldP spid="2" grpId="0"/>
      <p:bldP spid="41" grpId="0"/>
      <p:bldP spid="43" grpId="0"/>
      <p:bldP spid="5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空间凸轮">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34772" y="5125904"/>
            <a:ext cx="2228805" cy="1671604"/>
          </a:xfrm>
          <a:prstGeom prst="rect">
            <a:avLst/>
          </a:prstGeom>
        </p:spPr>
      </p:pic>
      <p:pic>
        <p:nvPicPr>
          <p:cNvPr id="20" name="GIF 空间转移动">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rot="5400000" flipH="1">
            <a:off x="4030746" y="4984341"/>
            <a:ext cx="1617736" cy="1676327"/>
          </a:xfrm>
          <a:prstGeom prst="rect">
            <a:avLst/>
          </a:prstGeom>
        </p:spPr>
      </p:pic>
      <p:pic>
        <p:nvPicPr>
          <p:cNvPr id="19" name="WEBM 转动 纯摆动 凸轮">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470510" y="5099837"/>
            <a:ext cx="1801338" cy="1351004"/>
          </a:xfrm>
          <a:prstGeom prst="rect">
            <a:avLst/>
          </a:prstGeom>
        </p:spPr>
      </p:pic>
      <p:pic>
        <p:nvPicPr>
          <p:cNvPr id="18" name="滚子摆动从动件">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6392720" y="2345933"/>
            <a:ext cx="1879128" cy="1409346"/>
          </a:xfrm>
          <a:prstGeom prst="rect">
            <a:avLst/>
          </a:prstGeom>
        </p:spPr>
      </p:pic>
      <p:pic>
        <p:nvPicPr>
          <p:cNvPr id="17" name="移动凸轮">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3433716" y="2398717"/>
            <a:ext cx="1919488" cy="1439616"/>
          </a:xfrm>
          <a:prstGeom prst="rect">
            <a:avLst/>
          </a:prstGeom>
        </p:spPr>
      </p:pic>
      <p:pic>
        <p:nvPicPr>
          <p:cNvPr id="15" name="1. 盘形凸轮">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329939" y="2341290"/>
            <a:ext cx="1872437" cy="1404328"/>
          </a:xfrm>
          <a:prstGeom prst="rect">
            <a:avLst/>
          </a:prstGeom>
        </p:spPr>
      </p:pic>
      <p:sp>
        <p:nvSpPr>
          <p:cNvPr id="8" name="灯片编号占位符 7"/>
          <p:cNvSpPr>
            <a:spLocks noGrp="1"/>
          </p:cNvSpPr>
          <p:nvPr>
            <p:ph type="sldNum" sz="quarter" idx="12"/>
          </p:nvPr>
        </p:nvSpPr>
        <p:spPr/>
        <p:txBody>
          <a:bodyPr wrap="square"/>
          <a:lstStyle/>
          <a:p>
            <a:fld id="{F54A3870-DF25-464D-B6EA-3BA6EAAA2BCA}" type="slidenum">
              <a:rPr lang="zh-CN" altLang="en-US" sz="1400" smtClean="0"/>
            </a:fld>
            <a:endParaRPr lang="zh-CN" altLang="en-US" sz="1400" dirty="0" smtClean="0"/>
          </a:p>
        </p:txBody>
      </p:sp>
      <p:sp>
        <p:nvSpPr>
          <p:cNvPr id="13" name="矩形 12"/>
          <p:cNvSpPr/>
          <p:nvPr/>
        </p:nvSpPr>
        <p:spPr>
          <a:xfrm>
            <a:off x="-17780" y="1270635"/>
            <a:ext cx="3351530" cy="368300"/>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Classified by Motion Form</a:t>
            </a:r>
            <a:endParaRPr lang="zh-CN" altLang="en-US" b="1" dirty="0">
              <a:latin typeface="微软雅黑" panose="020B0503020204020204" pitchFamily="34" charset="-122"/>
              <a:ea typeface="微软雅黑" panose="020B0503020204020204" pitchFamily="34" charset="-122"/>
            </a:endParaRPr>
          </a:p>
        </p:txBody>
      </p:sp>
      <p:grpSp>
        <p:nvGrpSpPr>
          <p:cNvPr id="30" name="组合 25"/>
          <p:cNvGrpSpPr/>
          <p:nvPr/>
        </p:nvGrpSpPr>
        <p:grpSpPr bwMode="auto">
          <a:xfrm>
            <a:off x="3076541" y="1042462"/>
            <a:ext cx="2706083" cy="1437640"/>
            <a:chOff x="4448396" y="2880990"/>
            <a:chExt cx="2705684" cy="1437569"/>
          </a:xfrm>
        </p:grpSpPr>
        <p:sp>
          <p:nvSpPr>
            <p:cNvPr id="31" name="Rectangle 15"/>
            <p:cNvSpPr>
              <a:spLocks noChangeArrowheads="1"/>
            </p:cNvSpPr>
            <p:nvPr/>
          </p:nvSpPr>
          <p:spPr bwMode="auto">
            <a:xfrm>
              <a:off x="4737973" y="2880990"/>
              <a:ext cx="2416107" cy="1437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lnSpc>
                  <a:spcPts val="3500"/>
                </a:lnSpc>
              </a:pPr>
              <a:r>
                <a:rPr lang="en-US" altLang="zh-CN" sz="1800" dirty="0">
                  <a:solidFill>
                    <a:schemeClr val="tx1"/>
                  </a:solidFill>
                  <a:latin typeface="微软雅黑" panose="020B0503020204020204" pitchFamily="34" charset="-122"/>
                  <a:ea typeface="微软雅黑" panose="020B0503020204020204" pitchFamily="34" charset="-122"/>
                </a:rPr>
                <a:t>Cam</a:t>
              </a:r>
              <a:r>
                <a:rPr lang="zh-CN" altLang="en-US" sz="1800" b="0" dirty="0">
                  <a:solidFill>
                    <a:schemeClr val="tx1"/>
                  </a:solidFill>
                  <a:latin typeface="微软雅黑" panose="020B0503020204020204" pitchFamily="34" charset="-122"/>
                  <a:ea typeface="微软雅黑" panose="020B0503020204020204" pitchFamily="34" charset="-122"/>
                </a:rPr>
                <a:t>：</a:t>
              </a:r>
              <a:endParaRPr lang="en-US" altLang="zh-CN" sz="1800" b="0" dirty="0">
                <a:solidFill>
                  <a:schemeClr val="tx1"/>
                </a:solidFill>
                <a:latin typeface="微软雅黑" panose="020B0503020204020204" pitchFamily="34" charset="-122"/>
                <a:ea typeface="微软雅黑" panose="020B0503020204020204" pitchFamily="34" charset="-122"/>
              </a:endParaRPr>
            </a:p>
            <a:p>
              <a:pPr eaLnBrk="1" hangingPunct="1">
                <a:lnSpc>
                  <a:spcPts val="3500"/>
                </a:lnSpc>
              </a:pPr>
              <a:r>
                <a:rPr lang="en-US" altLang="zh-CN" sz="1600" dirty="0">
                  <a:solidFill>
                    <a:schemeClr val="tx1"/>
                  </a:solidFill>
                  <a:latin typeface="微软雅黑" panose="020B0503020204020204" pitchFamily="34" charset="-122"/>
                  <a:ea typeface="微软雅黑" panose="020B0503020204020204" pitchFamily="34" charset="-122"/>
                </a:rPr>
                <a:t>Follower</a:t>
              </a:r>
              <a:r>
                <a:rPr lang="zh-CN" altLang="en-US" sz="1800" b="0" dirty="0">
                  <a:solidFill>
                    <a:schemeClr val="tx1"/>
                  </a:solidFill>
                  <a:latin typeface="微软雅黑" panose="020B0503020204020204" pitchFamily="34" charset="-122"/>
                  <a:ea typeface="微软雅黑" panose="020B0503020204020204" pitchFamily="34" charset="-122"/>
                </a:rPr>
                <a:t>：</a:t>
              </a:r>
              <a:endParaRPr lang="en-US" altLang="zh-CN" sz="1800" b="0" dirty="0">
                <a:solidFill>
                  <a:srgbClr val="FF0000"/>
                </a:solidFill>
                <a:latin typeface="微软雅黑" panose="020B0503020204020204" pitchFamily="34" charset="-122"/>
                <a:ea typeface="微软雅黑" panose="020B0503020204020204" pitchFamily="34" charset="-122"/>
              </a:endParaRPr>
            </a:p>
            <a:p>
              <a:pPr eaLnBrk="1" hangingPunct="1">
                <a:lnSpc>
                  <a:spcPts val="3500"/>
                </a:lnSpc>
              </a:pPr>
              <a:r>
                <a:rPr lang="zh-CN" altLang="en-US" sz="1800" b="0" dirty="0">
                  <a:solidFill>
                    <a:srgbClr val="FF0000"/>
                  </a:solidFill>
                  <a:latin typeface="微软雅黑" panose="020B0503020204020204" pitchFamily="34" charset="-122"/>
                  <a:ea typeface="微软雅黑" panose="020B0503020204020204" pitchFamily="34" charset="-122"/>
                </a:rPr>
                <a:t> </a:t>
              </a:r>
              <a:endParaRPr lang="zh-CN" altLang="en-US" sz="1800" b="0" dirty="0">
                <a:solidFill>
                  <a:srgbClr val="FF0000"/>
                </a:solidFill>
                <a:latin typeface="微软雅黑" panose="020B0503020204020204" pitchFamily="34" charset="-122"/>
                <a:ea typeface="微软雅黑" panose="020B0503020204020204" pitchFamily="34" charset="-122"/>
              </a:endParaRPr>
            </a:p>
          </p:txBody>
        </p:sp>
        <p:sp>
          <p:nvSpPr>
            <p:cNvPr id="32" name="AutoShape 16"/>
            <p:cNvSpPr/>
            <p:nvPr/>
          </p:nvSpPr>
          <p:spPr bwMode="auto">
            <a:xfrm>
              <a:off x="4448396" y="3108893"/>
              <a:ext cx="304800" cy="491151"/>
            </a:xfrm>
            <a:prstGeom prst="leftBrace">
              <a:avLst>
                <a:gd name="adj1" fmla="val 27083"/>
                <a:gd name="adj2" fmla="val 50000"/>
              </a:avLst>
            </a:prstGeom>
            <a:noFill/>
            <a:ln w="317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sz="1800" b="0">
                <a:solidFill>
                  <a:schemeClr val="tx1"/>
                </a:solidFill>
                <a:latin typeface="微软雅黑" panose="020B0503020204020204" pitchFamily="34" charset="-122"/>
                <a:ea typeface="微软雅黑" panose="020B0503020204020204" pitchFamily="34" charset="-122"/>
              </a:endParaRPr>
            </a:p>
          </p:txBody>
        </p:sp>
      </p:grpSp>
      <p:sp>
        <p:nvSpPr>
          <p:cNvPr id="5" name="矩形 4"/>
          <p:cNvSpPr/>
          <p:nvPr/>
        </p:nvSpPr>
        <p:spPr>
          <a:xfrm>
            <a:off x="4107815" y="1019175"/>
            <a:ext cx="1773555" cy="539750"/>
          </a:xfrm>
          <a:prstGeom prst="rect">
            <a:avLst/>
          </a:prstGeom>
        </p:spPr>
        <p:txBody>
          <a:bodyPr wrap="square">
            <a:spAutoFit/>
          </a:bodyPr>
          <a:lstStyle/>
          <a:p>
            <a:pPr>
              <a:lnSpc>
                <a:spcPts val="3500"/>
              </a:lnSpc>
            </a:pPr>
            <a:r>
              <a:rPr lang="zh-CN" altLang="en-US" sz="1600" b="1" dirty="0">
                <a:solidFill>
                  <a:srgbClr val="FF0000"/>
                </a:solidFill>
                <a:latin typeface="微软雅黑" panose="020B0503020204020204" pitchFamily="34" charset="-122"/>
                <a:ea typeface="微软雅黑" panose="020B0503020204020204" pitchFamily="34" charset="-122"/>
              </a:rPr>
              <a:t>Rotary</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4351655" y="1483995"/>
            <a:ext cx="2146300" cy="33718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Translational</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6" name="矩形 35"/>
          <p:cNvSpPr/>
          <p:nvPr/>
        </p:nvSpPr>
        <p:spPr>
          <a:xfrm>
            <a:off x="4838700" y="1019175"/>
            <a:ext cx="4079875" cy="539750"/>
          </a:xfrm>
          <a:prstGeom prst="rect">
            <a:avLst/>
          </a:prstGeom>
        </p:spPr>
        <p:txBody>
          <a:bodyPr wrap="square">
            <a:spAutoFit/>
          </a:bodyPr>
          <a:lstStyle/>
          <a:p>
            <a:pPr>
              <a:lnSpc>
                <a:spcPts val="3500"/>
              </a:lnSpc>
            </a:pPr>
            <a:r>
              <a:rPr lang="zh-CN" altLang="en-US" sz="1600" b="1" dirty="0">
                <a:solidFill>
                  <a:srgbClr val="FF0000"/>
                </a:solidFill>
                <a:latin typeface="微软雅黑" panose="020B0503020204020204" pitchFamily="34" charset="-122"/>
                <a:ea typeface="微软雅黑" panose="020B0503020204020204" pitchFamily="34" charset="-122"/>
              </a:rPr>
              <a:t>or Translational...</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7" name="矩形 36"/>
          <p:cNvSpPr/>
          <p:nvPr/>
        </p:nvSpPr>
        <p:spPr>
          <a:xfrm>
            <a:off x="4549140" y="1558925"/>
            <a:ext cx="3808730" cy="539750"/>
          </a:xfrm>
          <a:prstGeom prst="rect">
            <a:avLst/>
          </a:prstGeom>
        </p:spPr>
        <p:txBody>
          <a:bodyPr wrap="square">
            <a:spAutoFit/>
          </a:bodyPr>
          <a:lstStyle/>
          <a:p>
            <a:pPr>
              <a:lnSpc>
                <a:spcPts val="3500"/>
              </a:lnSpc>
            </a:pPr>
            <a:r>
              <a:rPr lang="zh-CN" altLang="en-US" sz="1600" b="1" dirty="0">
                <a:solidFill>
                  <a:srgbClr val="FF0000"/>
                </a:solidFill>
                <a:latin typeface="微软雅黑" panose="020B0503020204020204" pitchFamily="34" charset="-122"/>
                <a:ea typeface="微软雅黑" panose="020B0503020204020204" pitchFamily="34" charset="-122"/>
              </a:rPr>
              <a:t>or Rotary (Oscillating)...</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grpSp>
        <p:nvGrpSpPr>
          <p:cNvPr id="47" name="组合 24"/>
          <p:cNvGrpSpPr/>
          <p:nvPr/>
        </p:nvGrpSpPr>
        <p:grpSpPr bwMode="auto">
          <a:xfrm>
            <a:off x="9862991" y="890389"/>
            <a:ext cx="2538764" cy="1245235"/>
            <a:chOff x="4114800" y="1396687"/>
            <a:chExt cx="2538389" cy="1245174"/>
          </a:xfrm>
        </p:grpSpPr>
        <p:sp>
          <p:nvSpPr>
            <p:cNvPr id="48" name="AutoShape 9"/>
            <p:cNvSpPr/>
            <p:nvPr/>
          </p:nvSpPr>
          <p:spPr bwMode="auto">
            <a:xfrm>
              <a:off x="4114800" y="1676400"/>
              <a:ext cx="304800" cy="762000"/>
            </a:xfrm>
            <a:prstGeom prst="leftBrace">
              <a:avLst>
                <a:gd name="adj1" fmla="val 20833"/>
                <a:gd name="adj2" fmla="val 50000"/>
              </a:avLst>
            </a:prstGeom>
            <a:noFill/>
            <a:ln w="317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sz="1800">
                <a:solidFill>
                  <a:srgbClr val="FF0000"/>
                </a:solidFill>
                <a:latin typeface="微软雅黑" panose="020B0503020204020204" pitchFamily="34" charset="-122"/>
                <a:ea typeface="微软雅黑" panose="020B0503020204020204" pitchFamily="34" charset="-122"/>
              </a:endParaRPr>
            </a:p>
          </p:txBody>
        </p:sp>
        <p:sp>
          <p:nvSpPr>
            <p:cNvPr id="49" name="Rectangle 10"/>
            <p:cNvSpPr>
              <a:spLocks noChangeArrowheads="1"/>
            </p:cNvSpPr>
            <p:nvPr/>
          </p:nvSpPr>
          <p:spPr bwMode="auto">
            <a:xfrm>
              <a:off x="4400097" y="1396687"/>
              <a:ext cx="2253092" cy="1245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lnSpc>
                  <a:spcPts val="4500"/>
                </a:lnSpc>
              </a:pPr>
              <a:r>
                <a:rPr lang="en-US" altLang="zh-CN" sz="1800" dirty="0">
                  <a:solidFill>
                    <a:srgbClr val="FF0000"/>
                  </a:solidFill>
                  <a:latin typeface="微软雅黑" panose="020B0503020204020204" pitchFamily="34" charset="-122"/>
                  <a:ea typeface="微软雅黑" panose="020B0503020204020204" pitchFamily="34" charset="-122"/>
                </a:rPr>
                <a:t>Planar</a:t>
              </a:r>
              <a:endParaRPr lang="zh-CN" altLang="en-US" sz="1800" dirty="0">
                <a:solidFill>
                  <a:srgbClr val="FF0000"/>
                </a:solidFill>
                <a:latin typeface="微软雅黑" panose="020B0503020204020204" pitchFamily="34" charset="-122"/>
                <a:ea typeface="微软雅黑" panose="020B0503020204020204" pitchFamily="34" charset="-122"/>
              </a:endParaRPr>
            </a:p>
            <a:p>
              <a:pPr eaLnBrk="1" hangingPunct="1">
                <a:lnSpc>
                  <a:spcPts val="4500"/>
                </a:lnSpc>
              </a:pPr>
              <a:r>
                <a:rPr lang="en-US" altLang="zh-CN" sz="1800" dirty="0">
                  <a:solidFill>
                    <a:srgbClr val="FF0000"/>
                  </a:solidFill>
                  <a:latin typeface="微软雅黑" panose="020B0503020204020204" pitchFamily="34" charset="-122"/>
                  <a:ea typeface="微软雅黑" panose="020B0503020204020204" pitchFamily="34" charset="-122"/>
                </a:rPr>
                <a:t>Spatial</a:t>
              </a:r>
              <a:endParaRPr lang="en-US" altLang="zh-CN" sz="1800" dirty="0">
                <a:solidFill>
                  <a:srgbClr val="FF0000"/>
                </a:solidFill>
                <a:latin typeface="微软雅黑" panose="020B0503020204020204" pitchFamily="34" charset="-122"/>
                <a:ea typeface="微软雅黑" panose="020B0503020204020204" pitchFamily="34" charset="-122"/>
              </a:endParaRPr>
            </a:p>
          </p:txBody>
        </p:sp>
      </p:grpSp>
      <p:sp>
        <p:nvSpPr>
          <p:cNvPr id="51" name="矩形 50"/>
          <p:cNvSpPr/>
          <p:nvPr/>
        </p:nvSpPr>
        <p:spPr>
          <a:xfrm>
            <a:off x="6886575" y="1205230"/>
            <a:ext cx="3350895" cy="645160"/>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Classified by Cam Profile</a:t>
            </a:r>
            <a:endParaRPr lang="en-US" altLang="zh-CN" b="1" dirty="0">
              <a:latin typeface="微软雅黑" panose="020B0503020204020204" pitchFamily="34" charset="-122"/>
              <a:ea typeface="微软雅黑" panose="020B0503020204020204" pitchFamily="34" charset="-122"/>
            </a:endParaRPr>
          </a:p>
          <a:p>
            <a:pPr algn="ctr"/>
            <a:r>
              <a:rPr lang="zh-CN" altLang="en-US" b="1" dirty="0">
                <a:latin typeface="微软雅黑" panose="020B0503020204020204" pitchFamily="34" charset="-122"/>
                <a:ea typeface="微软雅黑" panose="020B0503020204020204" pitchFamily="34" charset="-122"/>
              </a:rPr>
              <a:t>(Planar or Spatial?)</a:t>
            </a:r>
            <a:endParaRPr lang="zh-CN" altLang="en-US"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9120967" y="4085523"/>
            <a:ext cx="2718793" cy="2039095"/>
          </a:xfrm>
          <a:prstGeom prst="rect">
            <a:avLst/>
          </a:prstGeom>
        </p:spPr>
      </p:pic>
      <p:sp>
        <p:nvSpPr>
          <p:cNvPr id="3" name="矩形 2"/>
          <p:cNvSpPr/>
          <p:nvPr/>
        </p:nvSpPr>
        <p:spPr>
          <a:xfrm>
            <a:off x="546735" y="3750310"/>
            <a:ext cx="2723515" cy="306705"/>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Driving </a:t>
            </a:r>
            <a:r>
              <a:rPr lang="en-US" altLang="zh-CN" sz="1400" b="1" dirty="0">
                <a:latin typeface="微软雅黑" panose="020B0503020204020204" pitchFamily="34" charset="-122"/>
                <a:ea typeface="微软雅黑" panose="020B0503020204020204" pitchFamily="34" charset="-122"/>
              </a:rPr>
              <a:t>part</a:t>
            </a:r>
            <a:r>
              <a:rPr lang="zh-CN" altLang="en-US" sz="1400" b="1" dirty="0">
                <a:latin typeface="微软雅黑" panose="020B0503020204020204" pitchFamily="34" charset="-122"/>
                <a:ea typeface="微软雅黑" panose="020B0503020204020204" pitchFamily="34" charset="-122"/>
              </a:rPr>
              <a:t>: Rotary</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24" name="矩形 23"/>
          <p:cNvSpPr/>
          <p:nvPr/>
        </p:nvSpPr>
        <p:spPr>
          <a:xfrm>
            <a:off x="546735" y="4019550"/>
            <a:ext cx="2566035" cy="306705"/>
          </a:xfrm>
          <a:prstGeom prst="rect">
            <a:avLst/>
          </a:prstGeom>
        </p:spPr>
        <p:txBody>
          <a:bodyPr wrap="square">
            <a:spAutoFit/>
          </a:bodyPr>
          <a:lstStyle/>
          <a:p>
            <a:r>
              <a:rPr lang="en-US" altLang="zh-CN" sz="1400" b="1" dirty="0">
                <a:latin typeface="微软雅黑" panose="020B0503020204020204" pitchFamily="34" charset="-122"/>
                <a:ea typeface="微软雅黑" panose="020B0503020204020204" pitchFamily="34" charset="-122"/>
              </a:rPr>
              <a:t>follwer</a:t>
            </a:r>
            <a:r>
              <a:rPr lang="zh-CN" altLang="en-US" sz="1400" b="1" dirty="0">
                <a:latin typeface="微软雅黑" panose="020B0503020204020204" pitchFamily="34" charset="-122"/>
                <a:ea typeface="微软雅黑" panose="020B0503020204020204" pitchFamily="34" charset="-122"/>
              </a:rPr>
              <a:t>: Translational</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35" name="Line 24"/>
          <p:cNvSpPr>
            <a:spLocks noChangeShapeType="1"/>
          </p:cNvSpPr>
          <p:nvPr/>
        </p:nvSpPr>
        <p:spPr bwMode="auto">
          <a:xfrm flipV="1">
            <a:off x="1842718" y="3369301"/>
            <a:ext cx="2440344" cy="2246929"/>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square"/>
          <a:lstStyle/>
          <a:p>
            <a:endParaRPr lang="en-US" b="1">
              <a:latin typeface="微软雅黑" panose="020B0503020204020204" pitchFamily="34" charset="-122"/>
              <a:ea typeface="微软雅黑" panose="020B0503020204020204" pitchFamily="34" charset="-122"/>
            </a:endParaRPr>
          </a:p>
        </p:txBody>
      </p:sp>
      <p:sp>
        <p:nvSpPr>
          <p:cNvPr id="7" name="矩形 6"/>
          <p:cNvSpPr/>
          <p:nvPr/>
        </p:nvSpPr>
        <p:spPr>
          <a:xfrm>
            <a:off x="1842770" y="6226175"/>
            <a:ext cx="2825115" cy="521970"/>
          </a:xfrm>
          <a:prstGeom prst="rect">
            <a:avLst/>
          </a:prstGeom>
        </p:spPr>
        <p:txBody>
          <a:bodyPr wrap="square">
            <a:spAutoFit/>
          </a:bodyPr>
          <a:lstStyle/>
          <a:p>
            <a:pPr>
              <a:lnSpc>
                <a:spcPct val="100000"/>
              </a:lnSpc>
            </a:pPr>
            <a:r>
              <a:rPr lang="zh-CN" altLang="en-US" sz="1400" b="1" dirty="0">
                <a:solidFill>
                  <a:srgbClr val="FF0000"/>
                </a:solidFill>
                <a:latin typeface="微软雅黑" panose="020B0503020204020204" pitchFamily="34" charset="-122"/>
                <a:ea typeface="微软雅黑" panose="020B0503020204020204" pitchFamily="34" charset="-122"/>
              </a:rPr>
              <a:t>Enclose the cam</a:t>
            </a:r>
            <a:endParaRPr lang="en-US" altLang="zh-CN" sz="1400" b="1" dirty="0">
              <a:solidFill>
                <a:srgbClr val="FF0000"/>
              </a:solidFill>
              <a:latin typeface="微软雅黑" panose="020B0503020204020204" pitchFamily="34" charset="-122"/>
              <a:ea typeface="微软雅黑" panose="020B0503020204020204" pitchFamily="34" charset="-122"/>
            </a:endParaRPr>
          </a:p>
          <a:p>
            <a:pPr>
              <a:lnSpc>
                <a:spcPct val="100000"/>
              </a:lnSpc>
            </a:pPr>
            <a:r>
              <a:rPr lang="zh-CN" altLang="en-US" sz="1400" b="1" dirty="0">
                <a:solidFill>
                  <a:srgbClr val="FF0000"/>
                </a:solidFill>
                <a:latin typeface="微软雅黑" panose="020B0503020204020204" pitchFamily="34" charset="-122"/>
                <a:ea typeface="微软雅黑" panose="020B0503020204020204" pitchFamily="34" charset="-122"/>
              </a:rPr>
              <a:t>Higher-pair form closure</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38" name="矩形 37"/>
          <p:cNvSpPr/>
          <p:nvPr/>
        </p:nvSpPr>
        <p:spPr>
          <a:xfrm>
            <a:off x="69215" y="4401820"/>
            <a:ext cx="4555490" cy="668020"/>
          </a:xfrm>
          <a:prstGeom prst="rect">
            <a:avLst/>
          </a:prstGeom>
        </p:spPr>
        <p:txBody>
          <a:bodyPr wrap="square">
            <a:spAutoFit/>
          </a:bodyPr>
          <a:lstStyle/>
          <a:p>
            <a:pPr>
              <a:lnSpc>
                <a:spcPts val="4500"/>
              </a:lnSpc>
            </a:pPr>
            <a:r>
              <a:rPr lang="zh-CN" altLang="en-US" sz="1400" b="1" dirty="0">
                <a:solidFill>
                  <a:srgbClr val="FF0000"/>
                </a:solidFill>
                <a:latin typeface="微软雅黑" panose="020B0503020204020204" pitchFamily="34" charset="-122"/>
                <a:ea typeface="微软雅黑" panose="020B0503020204020204" pitchFamily="34" charset="-122"/>
              </a:rPr>
              <a:t>Wrap planar cam into a cylindrical tube</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39" name="Line 24"/>
          <p:cNvSpPr>
            <a:spLocks noChangeShapeType="1"/>
          </p:cNvSpPr>
          <p:nvPr/>
        </p:nvSpPr>
        <p:spPr bwMode="auto">
          <a:xfrm flipH="1">
            <a:off x="1475231" y="5880176"/>
            <a:ext cx="3507075" cy="107974"/>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square"/>
          <a:lstStyle/>
          <a:p>
            <a:endParaRPr lang="en-US" b="1">
              <a:latin typeface="微软雅黑" panose="020B0503020204020204" pitchFamily="34" charset="-122"/>
              <a:ea typeface="微软雅黑" panose="020B0503020204020204" pitchFamily="34" charset="-122"/>
            </a:endParaRPr>
          </a:p>
        </p:txBody>
      </p:sp>
      <p:sp>
        <p:nvSpPr>
          <p:cNvPr id="40" name="Line 24"/>
          <p:cNvSpPr>
            <a:spLocks noChangeShapeType="1"/>
          </p:cNvSpPr>
          <p:nvPr/>
        </p:nvSpPr>
        <p:spPr bwMode="auto">
          <a:xfrm flipH="1" flipV="1">
            <a:off x="4412171" y="5205899"/>
            <a:ext cx="2474102" cy="487295"/>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square"/>
          <a:lstStyle/>
          <a:p>
            <a:endParaRPr lang="en-US" b="1">
              <a:latin typeface="微软雅黑" panose="020B0503020204020204" pitchFamily="34" charset="-122"/>
              <a:ea typeface="微软雅黑" panose="020B0503020204020204" pitchFamily="34" charset="-122"/>
            </a:endParaRPr>
          </a:p>
        </p:txBody>
      </p:sp>
      <p:sp>
        <p:nvSpPr>
          <p:cNvPr id="9" name="矩形 8"/>
          <p:cNvSpPr/>
          <p:nvPr/>
        </p:nvSpPr>
        <p:spPr>
          <a:xfrm>
            <a:off x="5596255" y="4735830"/>
            <a:ext cx="3075305" cy="668020"/>
          </a:xfrm>
          <a:prstGeom prst="rect">
            <a:avLst/>
          </a:prstGeom>
        </p:spPr>
        <p:txBody>
          <a:bodyPr wrap="square">
            <a:spAutoFit/>
          </a:bodyPr>
          <a:lstStyle/>
          <a:p>
            <a:pPr>
              <a:lnSpc>
                <a:spcPts val="4500"/>
              </a:lnSpc>
            </a:pPr>
            <a:r>
              <a:rPr lang="zh-CN" altLang="en-US" sz="1400" b="1" dirty="0">
                <a:solidFill>
                  <a:srgbClr val="FF0000"/>
                </a:solidFill>
                <a:latin typeface="微软雅黑" panose="020B0503020204020204" pitchFamily="34" charset="-122"/>
                <a:ea typeface="微软雅黑" panose="020B0503020204020204" pitchFamily="34" charset="-122"/>
              </a:rPr>
              <a:t>Follower becomes oscillating</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41" name="Line 24"/>
          <p:cNvSpPr>
            <a:spLocks noChangeShapeType="1"/>
          </p:cNvSpPr>
          <p:nvPr/>
        </p:nvSpPr>
        <p:spPr bwMode="auto">
          <a:xfrm flipH="1">
            <a:off x="1241173" y="3148901"/>
            <a:ext cx="2962292" cy="266165"/>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square"/>
          <a:lstStyle/>
          <a:p>
            <a:endParaRPr lang="en-US" b="1">
              <a:latin typeface="微软雅黑" panose="020B0503020204020204" pitchFamily="34" charset="-122"/>
              <a:ea typeface="微软雅黑" panose="020B0503020204020204" pitchFamily="34" charset="-122"/>
            </a:endParaRPr>
          </a:p>
        </p:txBody>
      </p:sp>
      <p:sp>
        <p:nvSpPr>
          <p:cNvPr id="42" name="矩形 41"/>
          <p:cNvSpPr/>
          <p:nvPr/>
        </p:nvSpPr>
        <p:spPr>
          <a:xfrm>
            <a:off x="1671955" y="3007995"/>
            <a:ext cx="3470275" cy="668020"/>
          </a:xfrm>
          <a:prstGeom prst="rect">
            <a:avLst/>
          </a:prstGeom>
        </p:spPr>
        <p:txBody>
          <a:bodyPr wrap="square">
            <a:spAutoFit/>
          </a:bodyPr>
          <a:lstStyle/>
          <a:p>
            <a:pPr>
              <a:lnSpc>
                <a:spcPts val="4500"/>
              </a:lnSpc>
            </a:pPr>
            <a:r>
              <a:rPr lang="zh-CN" altLang="en-US" sz="1400" b="1" dirty="0">
                <a:latin typeface="微软雅黑" panose="020B0503020204020204" pitchFamily="34" charset="-122"/>
                <a:ea typeface="微软雅黑" panose="020B0503020204020204" pitchFamily="34" charset="-122"/>
              </a:rPr>
              <a:t>Driving </a:t>
            </a:r>
            <a:r>
              <a:rPr lang="en-US" altLang="zh-CN" sz="1400" b="1" dirty="0">
                <a:latin typeface="微软雅黑" panose="020B0503020204020204" pitchFamily="34" charset="-122"/>
                <a:ea typeface="微软雅黑" panose="020B0503020204020204" pitchFamily="34" charset="-122"/>
              </a:rPr>
              <a:t>part</a:t>
            </a:r>
            <a:r>
              <a:rPr lang="zh-CN" altLang="en-US" sz="1400" b="1" dirty="0">
                <a:latin typeface="微软雅黑" panose="020B0503020204020204" pitchFamily="34" charset="-122"/>
                <a:ea typeface="微软雅黑" panose="020B0503020204020204" pitchFamily="34" charset="-122"/>
              </a:rPr>
              <a:t> becomes translational</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43" name="Line 24"/>
          <p:cNvSpPr>
            <a:spLocks noChangeShapeType="1"/>
          </p:cNvSpPr>
          <p:nvPr/>
        </p:nvSpPr>
        <p:spPr bwMode="auto">
          <a:xfrm flipH="1">
            <a:off x="1178484" y="2511585"/>
            <a:ext cx="6183111" cy="305016"/>
          </a:xfrm>
          <a:prstGeom prst="line">
            <a:avLst/>
          </a:prstGeom>
          <a:noFill/>
          <a:ln w="22225" cap="sq">
            <a:solidFill>
              <a:srgbClr val="FF0000"/>
            </a:solidFill>
            <a:round/>
            <a:headEnd type="stealth" w="med" len="lg"/>
            <a:tailEnd type="none" w="sm" len="sm"/>
          </a:ln>
          <a:extLst>
            <a:ext uri="{909E8E84-426E-40DD-AFC4-6F175D3DCCD1}">
              <a14:hiddenFill xmlns:a14="http://schemas.microsoft.com/office/drawing/2010/main">
                <a:noFill/>
              </a14:hiddenFill>
            </a:ext>
          </a:extLst>
        </p:spPr>
        <p:txBody>
          <a:bodyPr wrap="square"/>
          <a:lstStyle/>
          <a:p>
            <a:endParaRPr lang="en-US" b="1">
              <a:latin typeface="微软雅黑" panose="020B0503020204020204" pitchFamily="34" charset="-122"/>
              <a:ea typeface="微软雅黑" panose="020B0503020204020204" pitchFamily="34" charset="-122"/>
            </a:endParaRPr>
          </a:p>
        </p:txBody>
      </p:sp>
      <p:sp>
        <p:nvSpPr>
          <p:cNvPr id="44" name="矩形 43"/>
          <p:cNvSpPr/>
          <p:nvPr/>
        </p:nvSpPr>
        <p:spPr>
          <a:xfrm>
            <a:off x="5782515" y="1724906"/>
            <a:ext cx="2889480" cy="668020"/>
          </a:xfrm>
          <a:prstGeom prst="rect">
            <a:avLst/>
          </a:prstGeom>
        </p:spPr>
        <p:txBody>
          <a:bodyPr wrap="square">
            <a:spAutoFit/>
          </a:bodyPr>
          <a:lstStyle/>
          <a:p>
            <a:pPr>
              <a:lnSpc>
                <a:spcPts val="4500"/>
              </a:lnSpc>
            </a:pPr>
            <a:r>
              <a:rPr lang="zh-CN" altLang="en-US" sz="1400" b="1" dirty="0">
                <a:latin typeface="微软雅黑" panose="020B0503020204020204" pitchFamily="34" charset="-122"/>
                <a:ea typeface="微软雅黑" panose="020B0503020204020204" pitchFamily="34" charset="-122"/>
              </a:rPr>
              <a:t>Follower becomes oscillating</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10" name="矩形 9"/>
          <p:cNvSpPr/>
          <p:nvPr/>
        </p:nvSpPr>
        <p:spPr bwMode="auto">
          <a:xfrm>
            <a:off x="187569" y="1945774"/>
            <a:ext cx="8522677" cy="368300"/>
          </a:xfrm>
          <a:prstGeom prst="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1" name="矩形 10"/>
          <p:cNvSpPr/>
          <p:nvPr/>
        </p:nvSpPr>
        <p:spPr>
          <a:xfrm>
            <a:off x="6392545" y="4326255"/>
            <a:ext cx="2791460" cy="33718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Planar Cam Mechanism</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45" name="矩形 44"/>
          <p:cNvSpPr/>
          <p:nvPr/>
        </p:nvSpPr>
        <p:spPr bwMode="auto">
          <a:xfrm>
            <a:off x="129022" y="4677244"/>
            <a:ext cx="8581224" cy="306705"/>
          </a:xfrm>
          <a:prstGeom prst="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400"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46" name="矩形 45"/>
          <p:cNvSpPr/>
          <p:nvPr/>
        </p:nvSpPr>
        <p:spPr>
          <a:xfrm>
            <a:off x="6016625" y="6446520"/>
            <a:ext cx="2826385" cy="33718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Spatial Cam Mechanism</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p:nvSpPr>
        <p:spPr>
          <a:xfrm>
            <a:off x="8843010" y="2135505"/>
            <a:ext cx="3988435" cy="583565"/>
          </a:xfrm>
          <a:prstGeom prst="rect">
            <a:avLst/>
          </a:prstGeom>
        </p:spPr>
        <p:txBody>
          <a:bodyPr wrap="square">
            <a:spAutoFit/>
          </a:bodyPr>
          <a:lstStyle/>
          <a:p>
            <a:pPr>
              <a:lnSpc>
                <a:spcPct val="100000"/>
              </a:lnSpc>
            </a:pPr>
            <a:r>
              <a:rPr lang="zh-CN" altLang="en-US" sz="1600" b="1" dirty="0">
                <a:latin typeface="微软雅黑" panose="020B0503020204020204" pitchFamily="34" charset="-122"/>
                <a:ea typeface="微软雅黑" panose="020B0503020204020204" pitchFamily="34" charset="-122"/>
              </a:rPr>
              <a:t>What are the characteristics of spatial cam mechanisms?</a:t>
            </a:r>
            <a:endParaRPr lang="zh-CN" altLang="en-US" sz="1600" b="1" dirty="0">
              <a:latin typeface="微软雅黑" panose="020B0503020204020204" pitchFamily="34" charset="-122"/>
              <a:ea typeface="微软雅黑" panose="020B0503020204020204" pitchFamily="34" charset="-122"/>
            </a:endParaRPr>
          </a:p>
        </p:txBody>
      </p:sp>
      <p:sp>
        <p:nvSpPr>
          <p:cNvPr id="53" name="矩形 52"/>
          <p:cNvSpPr/>
          <p:nvPr/>
        </p:nvSpPr>
        <p:spPr>
          <a:xfrm>
            <a:off x="9078595" y="2392680"/>
            <a:ext cx="2708910" cy="668020"/>
          </a:xfrm>
          <a:prstGeom prst="rect">
            <a:avLst/>
          </a:prstGeom>
        </p:spPr>
        <p:txBody>
          <a:bodyPr wrap="square">
            <a:spAutoFit/>
          </a:bodyPr>
          <a:lstStyle/>
          <a:p>
            <a:pPr>
              <a:lnSpc>
                <a:spcPts val="4500"/>
              </a:lnSpc>
            </a:pPr>
            <a:r>
              <a:rPr lang="en-US" altLang="zh-CN" sz="1400" b="1" dirty="0">
                <a:solidFill>
                  <a:srgbClr val="FF0000"/>
                </a:solidFill>
                <a:latin typeface="微软雅黑" panose="020B0503020204020204" pitchFamily="34" charset="-122"/>
                <a:ea typeface="微软雅黑" panose="020B0503020204020204" pitchFamily="34" charset="-122"/>
              </a:rPr>
              <a:t>1. Compact structure</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14" name="矩形 13"/>
          <p:cNvSpPr/>
          <p:nvPr/>
        </p:nvSpPr>
        <p:spPr>
          <a:xfrm>
            <a:off x="9235288" y="3675986"/>
            <a:ext cx="2607678" cy="521970"/>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Rectangular workpiece trajectory</a:t>
            </a:r>
            <a:endParaRPr lang="zh-CN" altLang="en-US" sz="1400" b="1" dirty="0">
              <a:latin typeface="微软雅黑" panose="020B0503020204020204" pitchFamily="34" charset="-122"/>
              <a:ea typeface="微软雅黑" panose="020B0503020204020204" pitchFamily="34" charset="-122"/>
            </a:endParaRPr>
          </a:p>
        </p:txBody>
      </p:sp>
      <p:sp>
        <p:nvSpPr>
          <p:cNvPr id="16" name="矩形 15"/>
          <p:cNvSpPr/>
          <p:nvPr/>
        </p:nvSpPr>
        <p:spPr>
          <a:xfrm>
            <a:off x="7440238" y="1596059"/>
            <a:ext cx="184731" cy="368300"/>
          </a:xfrm>
          <a:prstGeom prst="rect">
            <a:avLst/>
          </a:prstGeom>
        </p:spPr>
        <p:txBody>
          <a:bodyPr wrap="square">
            <a:spAutoFit/>
          </a:bodyPr>
          <a:lstStyle/>
          <a:p>
            <a:endParaRPr lang="en-AU" b="1" dirty="0">
              <a:latin typeface="微软雅黑" panose="020B0503020204020204" pitchFamily="34" charset="-122"/>
              <a:ea typeface="微软雅黑" panose="020B0503020204020204" pitchFamily="34" charset="-122"/>
            </a:endParaRPr>
          </a:p>
        </p:txBody>
      </p:sp>
      <p:sp>
        <p:nvSpPr>
          <p:cNvPr id="50" name="矩形 49"/>
          <p:cNvSpPr/>
          <p:nvPr/>
        </p:nvSpPr>
        <p:spPr>
          <a:xfrm>
            <a:off x="8759190" y="6114415"/>
            <a:ext cx="1773555" cy="58356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Vertical displacement</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21" name="矩形 20"/>
          <p:cNvSpPr/>
          <p:nvPr/>
        </p:nvSpPr>
        <p:spPr>
          <a:xfrm>
            <a:off x="9130665" y="3110230"/>
            <a:ext cx="3270885" cy="521970"/>
          </a:xfrm>
          <a:prstGeom prst="rect">
            <a:avLst/>
          </a:prstGeom>
        </p:spPr>
        <p:txBody>
          <a:bodyPr wrap="square">
            <a:spAutoFit/>
          </a:bodyPr>
          <a:lstStyle/>
          <a:p>
            <a:pPr>
              <a:lnSpc>
                <a:spcPct val="100000"/>
              </a:lnSpc>
            </a:pPr>
            <a:r>
              <a:rPr lang="en-US" altLang="zh-CN" sz="1400" b="1" dirty="0">
                <a:solidFill>
                  <a:srgbClr val="FF0000"/>
                </a:solidFill>
                <a:latin typeface="微软雅黑" panose="020B0503020204020204" pitchFamily="34" charset="-122"/>
                <a:ea typeface="微软雅黑" panose="020B0503020204020204" pitchFamily="34" charset="-122"/>
              </a:rPr>
              <a:t>2. Motion direction parallel to rotation axis</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22" name="矩形 21"/>
          <p:cNvSpPr/>
          <p:nvPr/>
        </p:nvSpPr>
        <p:spPr>
          <a:xfrm>
            <a:off x="10606405" y="6130290"/>
            <a:ext cx="1739900" cy="58356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Gentle pick-and-place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26" name="TextBox 8"/>
          <p:cNvSpPr txBox="1"/>
          <p:nvPr/>
        </p:nvSpPr>
        <p:spPr>
          <a:xfrm>
            <a:off x="1007745" y="319405"/>
            <a:ext cx="7656830"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3-2 Classification of Cam Mechanisms</a:t>
            </a:r>
            <a:endParaRPr lang="en-US" altLang="zh-CN" sz="2800" spc="100" dirty="0">
              <a:solidFill>
                <a:schemeClr val="accent2">
                  <a:lumMod val="75000"/>
                </a:schemeClr>
              </a:solidFill>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3366" fill="hold"/>
                                        <p:tgtEl>
                                          <p:spTgt spid="15"/>
                                        </p:tgtEl>
                                      </p:cBhvr>
                                    </p:cmd>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mediacall" presetSubtype="0" fill="hold" nodeType="withEffect">
                                  <p:stCondLst>
                                    <p:cond delay="0"/>
                                  </p:stCondLst>
                                  <p:childTnLst>
                                    <p:cmd type="call" cmd="playFrom(0.0)">
                                      <p:cBhvr>
                                        <p:cTn id="30" dur="3366" fill="hold"/>
                                        <p:tgtEl>
                                          <p:spTgt spid="17"/>
                                        </p:tgtEl>
                                      </p:cBhvr>
                                    </p:cmd>
                                  </p:childTnLst>
                                </p:cTn>
                              </p:par>
                              <p:par>
                                <p:cTn id="31" presetID="3" presetClass="mediacall" presetSubtype="0" fill="hold" nodeType="withEffect">
                                  <p:stCondLst>
                                    <p:cond delay="0"/>
                                  </p:stCondLst>
                                  <p:childTnLst>
                                    <p:cmd type="call" cmd="stop">
                                      <p:cBhvr>
                                        <p:cTn id="32" dur="1" fill="hold"/>
                                        <p:tgtEl>
                                          <p:spTgt spid="15"/>
                                        </p:tgtEl>
                                      </p:cBhvr>
                                    </p:cmd>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mediacall" presetSubtype="0" fill="hold" nodeType="withEffect">
                                  <p:stCondLst>
                                    <p:cond delay="0"/>
                                  </p:stCondLst>
                                  <p:childTnLst>
                                    <p:cmd type="call" cmd="playFrom(0.0)">
                                      <p:cBhvr>
                                        <p:cTn id="46" dur="3366" fill="hold"/>
                                        <p:tgtEl>
                                          <p:spTgt spid="18"/>
                                        </p:tgtEl>
                                      </p:cBhvr>
                                    </p:cmd>
                                  </p:childTnLst>
                                </p:cTn>
                              </p:par>
                              <p:par>
                                <p:cTn id="47" presetID="3" presetClass="mediacall" presetSubtype="0" fill="hold" nodeType="withEffect">
                                  <p:stCondLst>
                                    <p:cond delay="0"/>
                                  </p:stCondLst>
                                  <p:childTnLst>
                                    <p:cmd type="call" cmd="stop">
                                      <p:cBhvr>
                                        <p:cTn id="48" dur="1" fill="hold"/>
                                        <p:tgtEl>
                                          <p:spTgt spid="17"/>
                                        </p:tgtEl>
                                      </p:cBhvr>
                                    </p:cmd>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2" presetClass="mediacall" presetSubtype="0" fill="hold" nodeType="withEffect">
                                  <p:stCondLst>
                                    <p:cond delay="0"/>
                                  </p:stCondLst>
                                  <p:childTnLst>
                                    <p:cmd type="call" cmd="togglePause">
                                      <p:cBhvr>
                                        <p:cTn id="64" dur="1" fill="hold"/>
                                        <p:tgtEl>
                                          <p:spTgt spid="18"/>
                                        </p:tgtEl>
                                      </p:cBhvr>
                                    </p:cmd>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par>
                                <p:cTn id="79" presetID="1" presetClass="mediacall" presetSubtype="0" fill="hold" nodeType="withEffect">
                                  <p:stCondLst>
                                    <p:cond delay="0"/>
                                  </p:stCondLst>
                                  <p:childTnLst>
                                    <p:cmd type="call" cmd="playFrom(0.0)">
                                      <p:cBhvr>
                                        <p:cTn id="80" dur="5750" fill="hold"/>
                                        <p:tgtEl>
                                          <p:spTgt spid="23"/>
                                        </p:tgtEl>
                                      </p:cBhvr>
                                    </p:cmd>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mediacall" presetSubtype="0" fill="hold" nodeType="clickEffect">
                                  <p:stCondLst>
                                    <p:cond delay="0"/>
                                  </p:stCondLst>
                                  <p:childTnLst>
                                    <p:cmd type="call" cmd="playFrom(0.0)">
                                      <p:cBhvr>
                                        <p:cTn id="96" dur="3366" fill="hold"/>
                                        <p:tgtEl>
                                          <p:spTgt spid="17"/>
                                        </p:tgtEl>
                                      </p:cBhvr>
                                    </p:cmd>
                                  </p:childTnLst>
                                </p:cTn>
                              </p:par>
                            </p:childTnLst>
                          </p:cTn>
                        </p:par>
                      </p:childTnLst>
                    </p:cTn>
                  </p:par>
                  <p:par>
                    <p:cTn id="97" fill="hold">
                      <p:stCondLst>
                        <p:cond delay="indefinite"/>
                      </p:stCondLst>
                      <p:childTnLst>
                        <p:par>
                          <p:cTn id="98" fill="hold">
                            <p:stCondLst>
                              <p:cond delay="0"/>
                            </p:stCondLst>
                            <p:childTnLst>
                              <p:par>
                                <p:cTn id="99" presetID="3" presetClass="mediacall" presetSubtype="0" fill="hold" nodeType="clickEffect">
                                  <p:stCondLst>
                                    <p:cond delay="0"/>
                                  </p:stCondLst>
                                  <p:childTnLst>
                                    <p:cmd type="call" cmd="stop">
                                      <p:cBhvr>
                                        <p:cTn id="100" dur="1" fill="hold"/>
                                        <p:tgtEl>
                                          <p:spTgt spid="17"/>
                                        </p:tgtEl>
                                      </p:cBhvr>
                                    </p:cmd>
                                  </p:childTnLst>
                                </p:cTn>
                              </p:par>
                              <p:par>
                                <p:cTn id="101" presetID="2" presetClass="mediacall" presetSubtype="0" fill="hold" nodeType="withEffect">
                                  <p:stCondLst>
                                    <p:cond delay="0"/>
                                  </p:stCondLst>
                                  <p:childTnLst>
                                    <p:cmd type="call" cmd="togglePause">
                                      <p:cBhvr>
                                        <p:cTn id="102" dur="1" fill="hold"/>
                                        <p:tgtEl>
                                          <p:spTgt spid="23"/>
                                        </p:tgtEl>
                                      </p:cBhvr>
                                    </p:cmd>
                                  </p:childTnLst>
                                </p:cTn>
                              </p:par>
                              <p:par>
                                <p:cTn id="103" presetID="1" presetClass="entr" presetSubtype="0" fill="hold" grpId="0" nodeType="with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0"/>
                                        </p:tgtEl>
                                        <p:attrNameLst>
                                          <p:attrName>style.visibility</p:attrName>
                                        </p:attrNameLst>
                                      </p:cBhvr>
                                      <p:to>
                                        <p:strVal val="visible"/>
                                      </p:to>
                                    </p:set>
                                  </p:childTnLst>
                                </p:cTn>
                              </p:par>
                              <p:par>
                                <p:cTn id="113" presetID="1" presetClass="mediacall" presetSubtype="0" fill="hold" nodeType="withEffect">
                                  <p:stCondLst>
                                    <p:cond delay="0"/>
                                  </p:stCondLst>
                                  <p:childTnLst>
                                    <p:cmd type="call" cmd="playFrom(0.0)">
                                      <p:cBhvr>
                                        <p:cTn id="114" dur="6000" fill="hold"/>
                                        <p:tgtEl>
                                          <p:spTgt spid="20"/>
                                        </p:tgtEl>
                                      </p:cBhvr>
                                    </p:cmd>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9"/>
                                        </p:tgtEl>
                                        <p:attrNameLst>
                                          <p:attrName>style.visibility</p:attrName>
                                        </p:attrNameLst>
                                      </p:cBhvr>
                                      <p:to>
                                        <p:strVal val="visible"/>
                                      </p:to>
                                    </p:set>
                                  </p:childTnLst>
                                </p:cTn>
                              </p:par>
                              <p:par>
                                <p:cTn id="127" presetID="1" presetClass="mediacall" presetSubtype="0" fill="hold" nodeType="withEffect">
                                  <p:stCondLst>
                                    <p:cond delay="0"/>
                                  </p:stCondLst>
                                  <p:childTnLst>
                                    <p:cmd type="call" cmd="playFrom(0.0)">
                                      <p:cBhvr>
                                        <p:cTn id="128" dur="1360" fill="hold"/>
                                        <p:tgtEl>
                                          <p:spTgt spid="19"/>
                                        </p:tgtEl>
                                      </p:cBhvr>
                                    </p:cmd>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4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9"/>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mediacall" presetSubtype="0" fill="hold" nodeType="clickEffect">
                                  <p:stCondLst>
                                    <p:cond delay="0"/>
                                  </p:stCondLst>
                                  <p:childTnLst>
                                    <p:cmd type="call" cmd="playFrom(0.0)">
                                      <p:cBhvr>
                                        <p:cTn id="140" dur="3366" fill="hold"/>
                                        <p:tgtEl>
                                          <p:spTgt spid="15"/>
                                        </p:tgtEl>
                                      </p:cBhvr>
                                    </p:cmd>
                                  </p:childTnLst>
                                </p:cTn>
                              </p:par>
                              <p:par>
                                <p:cTn id="141" presetID="1" presetClass="mediacall" presetSubtype="0" fill="hold" nodeType="withEffect">
                                  <p:stCondLst>
                                    <p:cond delay="0"/>
                                  </p:stCondLst>
                                  <p:childTnLst>
                                    <p:cmd type="call" cmd="playFrom(0.0)">
                                      <p:cBhvr>
                                        <p:cTn id="142" dur="5750" fill="hold"/>
                                        <p:tgtEl>
                                          <p:spTgt spid="23"/>
                                        </p:tgtEl>
                                      </p:cBhvr>
                                    </p:cmd>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4"/>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2"/>
                                        </p:tgtEl>
                                        <p:attrNameLst>
                                          <p:attrName>style.visibility</p:attrName>
                                        </p:attrNameLst>
                                      </p:cBhvr>
                                      <p:to>
                                        <p:strVal val="visible"/>
                                      </p:to>
                                    </p:set>
                                  </p:childTnLst>
                                </p:cTn>
                              </p:par>
                              <p:par>
                                <p:cTn id="153" presetID="3" presetClass="mediacall" presetSubtype="0" fill="hold" nodeType="withEffect">
                                  <p:stCondLst>
                                    <p:cond delay="0"/>
                                  </p:stCondLst>
                                  <p:childTnLst>
                                    <p:cmd type="call" cmd="stop">
                                      <p:cBhvr>
                                        <p:cTn id="154" dur="1" fill="hold"/>
                                        <p:tgtEl>
                                          <p:spTgt spid="15"/>
                                        </p:tgtEl>
                                      </p:cBhvr>
                                    </p:cmd>
                                  </p:childTnLst>
                                </p:cTn>
                              </p:par>
                              <p:par>
                                <p:cTn id="155" presetID="3" presetClass="mediacall" presetSubtype="0" fill="hold" nodeType="withEffect">
                                  <p:stCondLst>
                                    <p:cond delay="0"/>
                                  </p:stCondLst>
                                  <p:childTnLst>
                                    <p:cmd type="call" cmd="stop">
                                      <p:cBhvr>
                                        <p:cTn id="156" dur="1" fill="hold"/>
                                        <p:tgtEl>
                                          <p:spTgt spid="23"/>
                                        </p:tgtEl>
                                      </p:cBhvr>
                                    </p:cmd>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50"/>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65" repeatCount="indefinite" fill="hold" display="0">
                  <p:stCondLst>
                    <p:cond delay="indefinite"/>
                  </p:stCondLst>
                </p:cTn>
                <p:tgtEl>
                  <p:spTgt spid="15"/>
                </p:tgtEl>
              </p:cMediaNode>
            </p:video>
            <p:video>
              <p:cMediaNode vol="80000">
                <p:cTn id="166" repeatCount="indefinite" fill="hold" display="0">
                  <p:stCondLst>
                    <p:cond delay="indefinite"/>
                  </p:stCondLst>
                </p:cTn>
                <p:tgtEl>
                  <p:spTgt spid="17"/>
                </p:tgtEl>
              </p:cMediaNode>
            </p:video>
            <p:video>
              <p:cMediaNode vol="80000">
                <p:cTn id="167" repeatCount="indefinite" fill="hold" display="0">
                  <p:stCondLst>
                    <p:cond delay="indefinite"/>
                  </p:stCondLst>
                </p:cTn>
                <p:tgtEl>
                  <p:spTgt spid="18"/>
                </p:tgtEl>
              </p:cMediaNode>
            </p:video>
            <p:video>
              <p:cMediaNode vol="80000">
                <p:cTn id="168" fill="hold" display="0">
                  <p:stCondLst>
                    <p:cond delay="indefinite"/>
                  </p:stCondLst>
                </p:cTn>
                <p:tgtEl>
                  <p:spTgt spid="19"/>
                </p:tgtEl>
              </p:cMediaNode>
            </p:video>
            <p:video>
              <p:cMediaNode vol="80000">
                <p:cTn id="169" fill="hold" display="0">
                  <p:stCondLst>
                    <p:cond delay="indefinite"/>
                  </p:stCondLst>
                </p:cTn>
                <p:tgtEl>
                  <p:spTgt spid="20"/>
                </p:tgtEl>
              </p:cMediaNode>
            </p:video>
            <p:video>
              <p:cMediaNode vol="80000">
                <p:cTn id="170" repeatCount="indefinite" fill="hold" display="0">
                  <p:stCondLst>
                    <p:cond delay="indefinite"/>
                  </p:stCondLst>
                </p:cTn>
                <p:tgtEl>
                  <p:spTgt spid="23"/>
                </p:tgtEl>
              </p:cMediaNode>
            </p:video>
          </p:childTnLst>
        </p:cTn>
      </p:par>
    </p:tnLst>
    <p:bldLst>
      <p:bldP spid="13" grpId="0"/>
      <p:bldP spid="5" grpId="0"/>
      <p:bldP spid="6" grpId="0"/>
      <p:bldP spid="36" grpId="0"/>
      <p:bldP spid="37" grpId="0"/>
      <p:bldP spid="51" grpId="0"/>
      <p:bldP spid="3" grpId="0"/>
      <p:bldP spid="24" grpId="0"/>
      <p:bldP spid="35" grpId="0" animBg="1"/>
      <p:bldP spid="7" grpId="0"/>
      <p:bldP spid="38" grpId="0"/>
      <p:bldP spid="39" grpId="0" animBg="1"/>
      <p:bldP spid="40" grpId="0" animBg="1"/>
      <p:bldP spid="9" grpId="0"/>
      <p:bldP spid="41" grpId="0" animBg="1"/>
      <p:bldP spid="42" grpId="0"/>
      <p:bldP spid="43" grpId="0" animBg="1"/>
      <p:bldP spid="44" grpId="0"/>
      <p:bldP spid="10" grpId="0" bldLvl="0" animBg="1"/>
      <p:bldP spid="11" grpId="0"/>
      <p:bldP spid="45" grpId="0" bldLvl="0" animBg="1"/>
      <p:bldP spid="46" grpId="0"/>
      <p:bldP spid="12" grpId="0"/>
      <p:bldP spid="53" grpId="0"/>
      <p:bldP spid="14" grpId="0"/>
      <p:bldP spid="50" grpId="0"/>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F54A3870-DF25-464D-B6EA-3BA6EAAA2BCA}" type="slidenum">
              <a:rPr lang="zh-CN" altLang="en-US" smtClean="0"/>
            </a:fld>
            <a:endParaRPr lang="zh-CN" altLang="en-US"/>
          </a:p>
        </p:txBody>
      </p:sp>
      <p:sp>
        <p:nvSpPr>
          <p:cNvPr id="8" name="矩形 7"/>
          <p:cNvSpPr>
            <a:spLocks noGrp="1"/>
          </p:cNvSpPr>
          <p:nvPr/>
        </p:nvSpPr>
        <p:spPr>
          <a:xfrm>
            <a:off x="581660" y="367665"/>
            <a:ext cx="7334250" cy="457200"/>
          </a:xfrm>
          <a:prstGeom prst="rect">
            <a:avLst/>
          </a:prstGeom>
          <a:noFill/>
          <a:ln w="0">
            <a:noFill/>
          </a:ln>
        </p:spPr>
        <p:txBody>
          <a:bodyPr wrap="square" lIns="0" tIns="0" rIns="0" bIns="0" anchor="ctr">
            <a:normAutofit/>
          </a:bodyPr>
          <a:lstStyle/>
          <a:p>
            <a:pPr algn="l">
              <a:lnSpc>
                <a:spcPct val="96000"/>
              </a:lnSpc>
              <a:buNone/>
              <a:defRPr sz="2325" b="1" i="0">
                <a:solidFill>
                  <a:srgbClr val="FFFFFF"/>
                </a:solidFill>
                <a:latin typeface="DejaVu Sans"/>
                <a:ea typeface="DejaVu Sans"/>
                <a:cs typeface="DejaVu Sans"/>
              </a:defRPr>
            </a:pPr>
            <a:r>
              <a:rPr lang="en-US" altLang="zh-CN" sz="2800" b="0" i="0" spc="100" dirty="0">
                <a:solidFill>
                  <a:schemeClr val="accent2">
                    <a:lumMod val="75000"/>
                  </a:schemeClr>
                </a:solidFill>
                <a:latin typeface="+mn-lt"/>
                <a:ea typeface="微软雅黑" panose="020B0503020204020204" pitchFamily="34" charset="-122"/>
                <a:cs typeface="+mn-cs"/>
              </a:rPr>
              <a:t>Content Review </a:t>
            </a:r>
            <a:endParaRPr sz="2325" b="1" i="0">
              <a:solidFill>
                <a:schemeClr val="tx1"/>
              </a:solidFill>
              <a:latin typeface="DejaVu Sans"/>
              <a:ea typeface="DejaVu Sans"/>
              <a:cs typeface="DejaVu Sans"/>
            </a:endParaRPr>
          </a:p>
        </p:txBody>
      </p:sp>
      <p:sp>
        <p:nvSpPr>
          <p:cNvPr id="3" name="圆角矩形 2"/>
          <p:cNvSpPr>
            <a:spLocks noGrp="1"/>
          </p:cNvSpPr>
          <p:nvPr/>
        </p:nvSpPr>
        <p:spPr>
          <a:xfrm>
            <a:off x="381000" y="1066800"/>
            <a:ext cx="6191250" cy="2667000"/>
          </a:xfrm>
          <a:prstGeom prst="roundRect">
            <a:avLst>
              <a:gd name="adj" fmla="val 3571"/>
            </a:avLst>
          </a:prstGeom>
        </p:spPr>
        <p:style>
          <a:lnRef idx="2">
            <a:schemeClr val="accent1"/>
          </a:lnRef>
          <a:fillRef idx="0">
            <a:srgbClr val="FFFFFF"/>
          </a:fillRef>
          <a:effectRef idx="0">
            <a:srgbClr val="FFFFFF"/>
          </a:effectRef>
          <a:fontRef idx="minor">
            <a:schemeClr val="tx1"/>
          </a:fontRef>
        </p:style>
      </p:sp>
      <p:sp>
        <p:nvSpPr>
          <p:cNvPr id="11" name="椭圆 10"/>
          <p:cNvSpPr>
            <a:spLocks noGrp="1"/>
          </p:cNvSpPr>
          <p:nvPr/>
        </p:nvSpPr>
        <p:spPr>
          <a:xfrm>
            <a:off x="590550" y="1257300"/>
            <a:ext cx="361950" cy="361950"/>
          </a:xfrm>
          <a:prstGeom prst="ellipse">
            <a:avLst/>
          </a:prstGeom>
          <a:solidFill>
            <a:srgbClr val="29D4E4"/>
          </a:solidFill>
          <a:ln w="0">
            <a:noFill/>
          </a:ln>
        </p:spPr>
      </p:sp>
      <p:sp>
        <p:nvSpPr>
          <p:cNvPr id="12" name="矩形 11"/>
          <p:cNvSpPr>
            <a:spLocks noGrp="1"/>
          </p:cNvSpPr>
          <p:nvPr/>
        </p:nvSpPr>
        <p:spPr>
          <a:xfrm>
            <a:off x="590550" y="1257300"/>
            <a:ext cx="361950" cy="361950"/>
          </a:xfrm>
          <a:prstGeom prst="rect">
            <a:avLst/>
          </a:prstGeom>
          <a:noFill/>
          <a:ln w="0">
            <a:noFill/>
          </a:ln>
        </p:spPr>
        <p:txBody>
          <a:bodyPr wrap="square" lIns="0" tIns="0" rIns="0" bIns="0" anchor="ctr">
            <a:normAutofit/>
          </a:bodyPr>
          <a:lstStyle/>
          <a:p>
            <a:pPr algn="ctr">
              <a:lnSpc>
                <a:spcPct val="96000"/>
              </a:lnSpc>
              <a:buNone/>
              <a:defRPr sz="1125" b="1" i="0">
                <a:solidFill>
                  <a:srgbClr val="04172B"/>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1</a:t>
            </a:r>
            <a:endParaRPr sz="1200" b="1" i="0">
              <a:solidFill>
                <a:schemeClr val="tx1"/>
              </a:solidFill>
              <a:latin typeface="微软雅黑" panose="020B0503020204020204" pitchFamily="34" charset="-122"/>
              <a:ea typeface="微软雅黑" panose="020B0503020204020204" pitchFamily="34" charset="-122"/>
              <a:cs typeface="DejaVu Sans"/>
            </a:endParaRPr>
          </a:p>
        </p:txBody>
      </p:sp>
      <p:sp>
        <p:nvSpPr>
          <p:cNvPr id="13" name="矩形 12"/>
          <p:cNvSpPr>
            <a:spLocks noGrp="1"/>
          </p:cNvSpPr>
          <p:nvPr/>
        </p:nvSpPr>
        <p:spPr>
          <a:xfrm>
            <a:off x="1095375" y="1200150"/>
            <a:ext cx="5191125" cy="514350"/>
          </a:xfrm>
          <a:prstGeom prst="rect">
            <a:avLst/>
          </a:prstGeom>
          <a:noFill/>
          <a:ln w="0">
            <a:noFill/>
          </a:ln>
        </p:spPr>
        <p:txBody>
          <a:bodyPr wrap="square" lIns="57150" tIns="28575" rIns="57150" bIns="28575" anchor="ctr">
            <a:noAutofit/>
          </a:bodyPr>
          <a:lstStyle/>
          <a:p>
            <a:pPr algn="l">
              <a:lnSpc>
                <a:spcPct val="96000"/>
              </a:lnSpc>
              <a:buNone/>
              <a:defRPr sz="1425"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What are the advantages of automation based on mechanical transmission?</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14" name="圆角矩形 13"/>
          <p:cNvSpPr>
            <a:spLocks noGrp="1"/>
          </p:cNvSpPr>
          <p:nvPr/>
        </p:nvSpPr>
        <p:spPr>
          <a:xfrm>
            <a:off x="685800" y="1857375"/>
            <a:ext cx="428625" cy="428625"/>
          </a:xfrm>
          <a:prstGeom prst="roundRect">
            <a:avLst>
              <a:gd name="adj" fmla="val 17778"/>
            </a:avLst>
          </a:prstGeom>
          <a:solidFill>
            <a:srgbClr val="1386C7"/>
          </a:solidFill>
          <a:ln w="0">
            <a:noFill/>
          </a:ln>
        </p:spPr>
      </p:sp>
      <p:sp>
        <p:nvSpPr>
          <p:cNvPr id="15" name="矩形 14"/>
          <p:cNvSpPr>
            <a:spLocks noGrp="1"/>
          </p:cNvSpPr>
          <p:nvPr/>
        </p:nvSpPr>
        <p:spPr>
          <a:xfrm>
            <a:off x="685800" y="1857375"/>
            <a:ext cx="428625" cy="428625"/>
          </a:xfrm>
          <a:prstGeom prst="rect">
            <a:avLst/>
          </a:prstGeom>
          <a:noFill/>
          <a:ln w="0">
            <a:noFill/>
          </a:ln>
        </p:spPr>
        <p:txBody>
          <a:bodyPr wrap="square" lIns="0" tIns="0" rIns="0" bIns="0" anchor="ctr">
            <a:normAutofit/>
          </a:bodyPr>
          <a:lstStyle/>
          <a:p>
            <a:pPr algn="ctr">
              <a:lnSpc>
                <a:spcPct val="96000"/>
              </a:lnSpc>
              <a:buNone/>
              <a:defRPr sz="120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A</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16" name="矩形 15"/>
          <p:cNvSpPr>
            <a:spLocks noGrp="1"/>
          </p:cNvSpPr>
          <p:nvPr/>
        </p:nvSpPr>
        <p:spPr>
          <a:xfrm>
            <a:off x="1257300" y="1838325"/>
            <a:ext cx="2095500" cy="247650"/>
          </a:xfrm>
          <a:prstGeom prst="rect">
            <a:avLst/>
          </a:prstGeom>
          <a:noFill/>
          <a:ln w="0">
            <a:noFill/>
          </a:ln>
        </p:spPr>
        <p:txBody>
          <a:bodyPr wrap="square" lIns="57150" tIns="28575" rIns="57150" bIns="28575" anchor="ctr">
            <a:noAutofit/>
          </a:bodyPr>
          <a:lstStyle/>
          <a:p>
            <a:pPr algn="l">
              <a:lnSpc>
                <a:spcPct val="96000"/>
              </a:lnSpc>
              <a:buNone/>
              <a:defRPr sz="120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Shared power source</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17" name="矩形 16"/>
          <p:cNvSpPr>
            <a:spLocks noGrp="1"/>
          </p:cNvSpPr>
          <p:nvPr/>
        </p:nvSpPr>
        <p:spPr>
          <a:xfrm>
            <a:off x="1257300" y="2085975"/>
            <a:ext cx="4857750" cy="381000"/>
          </a:xfrm>
          <a:prstGeom prst="rect">
            <a:avLst/>
          </a:prstGeom>
          <a:noFill/>
          <a:ln w="0">
            <a:noFill/>
          </a:ln>
        </p:spPr>
        <p:txBody>
          <a:bodyPr wrap="square" lIns="57150" tIns="28575" rIns="57150" bIns="28575" anchor="ctr">
            <a:normAutofit/>
          </a:bodyPr>
          <a:lstStyle/>
          <a:p>
            <a:pPr algn="l">
              <a:lnSpc>
                <a:spcPct val="96000"/>
              </a:lnSpc>
              <a:buNone/>
              <a:defRPr sz="1015" b="0" i="0">
                <a:solidFill>
                  <a:srgbClr val="DDF7FF"/>
                </a:solidFill>
                <a:latin typeface="DejaVu Sans"/>
                <a:ea typeface="DejaVu Sans"/>
                <a:cs typeface="DejaVu Sans"/>
              </a:defRPr>
            </a:pPr>
            <a:r>
              <a:rPr sz="1200" b="0" i="0">
                <a:solidFill>
                  <a:schemeClr val="tx1"/>
                </a:solidFill>
                <a:latin typeface="微软雅黑" panose="020B0503020204020204" pitchFamily="34" charset="-122"/>
                <a:ea typeface="微软雅黑" panose="020B0503020204020204" pitchFamily="34" charset="-122"/>
                <a:cs typeface="DejaVu Sans"/>
              </a:rPr>
              <a:t>No separate drive–transmission–control chain is required.</a:t>
            </a:r>
            <a:endParaRPr sz="1200" b="0" i="0">
              <a:solidFill>
                <a:schemeClr val="tx1"/>
              </a:solidFill>
              <a:latin typeface="微软雅黑" panose="020B0503020204020204" pitchFamily="34" charset="-122"/>
              <a:ea typeface="微软雅黑" panose="020B0503020204020204" pitchFamily="34" charset="-122"/>
              <a:cs typeface="DejaVu Sans"/>
            </a:endParaRPr>
          </a:p>
        </p:txBody>
      </p:sp>
      <p:sp>
        <p:nvSpPr>
          <p:cNvPr id="18" name="圆角矩形 17"/>
          <p:cNvSpPr>
            <a:spLocks noGrp="1"/>
          </p:cNvSpPr>
          <p:nvPr/>
        </p:nvSpPr>
        <p:spPr>
          <a:xfrm>
            <a:off x="685800" y="2505075"/>
            <a:ext cx="428625" cy="428625"/>
          </a:xfrm>
          <a:prstGeom prst="roundRect">
            <a:avLst>
              <a:gd name="adj" fmla="val 17778"/>
            </a:avLst>
          </a:prstGeom>
          <a:solidFill>
            <a:srgbClr val="6FD3AE"/>
          </a:solidFill>
          <a:ln w="0">
            <a:noFill/>
          </a:ln>
        </p:spPr>
      </p:sp>
      <p:sp>
        <p:nvSpPr>
          <p:cNvPr id="19" name="矩形 18"/>
          <p:cNvSpPr>
            <a:spLocks noGrp="1"/>
          </p:cNvSpPr>
          <p:nvPr/>
        </p:nvSpPr>
        <p:spPr>
          <a:xfrm>
            <a:off x="685800" y="2505075"/>
            <a:ext cx="428625" cy="428625"/>
          </a:xfrm>
          <a:prstGeom prst="rect">
            <a:avLst/>
          </a:prstGeom>
          <a:noFill/>
          <a:ln w="0">
            <a:noFill/>
          </a:ln>
        </p:spPr>
        <p:txBody>
          <a:bodyPr wrap="square" lIns="0" tIns="0" rIns="0" bIns="0" anchor="ctr">
            <a:normAutofit/>
          </a:bodyPr>
          <a:lstStyle/>
          <a:p>
            <a:pPr algn="ctr">
              <a:lnSpc>
                <a:spcPct val="96000"/>
              </a:lnSpc>
              <a:buNone/>
              <a:defRPr sz="120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B</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20" name="矩形 19"/>
          <p:cNvSpPr>
            <a:spLocks noGrp="1"/>
          </p:cNvSpPr>
          <p:nvPr/>
        </p:nvSpPr>
        <p:spPr>
          <a:xfrm>
            <a:off x="1257300" y="2486025"/>
            <a:ext cx="2095500" cy="247650"/>
          </a:xfrm>
          <a:prstGeom prst="rect">
            <a:avLst/>
          </a:prstGeom>
          <a:noFill/>
          <a:ln w="0">
            <a:noFill/>
          </a:ln>
        </p:spPr>
        <p:txBody>
          <a:bodyPr wrap="square" lIns="57150" tIns="28575" rIns="57150" bIns="28575" anchor="ctr">
            <a:noAutofit/>
          </a:bodyPr>
          <a:lstStyle/>
          <a:p>
            <a:pPr algn="l">
              <a:lnSpc>
                <a:spcPct val="96000"/>
              </a:lnSpc>
              <a:buNone/>
              <a:defRPr sz="120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True synchronization</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21" name="矩形 20"/>
          <p:cNvSpPr>
            <a:spLocks noGrp="1"/>
          </p:cNvSpPr>
          <p:nvPr/>
        </p:nvSpPr>
        <p:spPr>
          <a:xfrm>
            <a:off x="1257300" y="2733675"/>
            <a:ext cx="4857750" cy="381000"/>
          </a:xfrm>
          <a:prstGeom prst="rect">
            <a:avLst/>
          </a:prstGeom>
          <a:noFill/>
          <a:ln w="0">
            <a:noFill/>
          </a:ln>
        </p:spPr>
        <p:txBody>
          <a:bodyPr wrap="square" lIns="57150" tIns="28575" rIns="57150" bIns="28575" anchor="ctr">
            <a:normAutofit/>
          </a:bodyPr>
          <a:lstStyle/>
          <a:p>
            <a:pPr algn="l">
              <a:lnSpc>
                <a:spcPct val="96000"/>
              </a:lnSpc>
              <a:buNone/>
              <a:defRPr sz="1015" b="0" i="0">
                <a:solidFill>
                  <a:srgbClr val="DDF7FF"/>
                </a:solidFill>
                <a:latin typeface="DejaVu Sans"/>
                <a:ea typeface="DejaVu Sans"/>
                <a:cs typeface="DejaVu Sans"/>
              </a:defRPr>
            </a:pPr>
            <a:r>
              <a:rPr sz="1200" b="0" i="0">
                <a:solidFill>
                  <a:schemeClr val="tx1"/>
                </a:solidFill>
                <a:latin typeface="微软雅黑" panose="020B0503020204020204" pitchFamily="34" charset="-122"/>
                <a:ea typeface="微软雅黑" panose="020B0503020204020204" pitchFamily="34" charset="-122"/>
                <a:cs typeface="DejaVu Sans"/>
              </a:rPr>
              <a:t>Motion is fully synchronized, with no response delay.</a:t>
            </a:r>
            <a:endParaRPr sz="1200" b="0" i="0">
              <a:solidFill>
                <a:schemeClr val="tx1"/>
              </a:solidFill>
              <a:latin typeface="微软雅黑" panose="020B0503020204020204" pitchFamily="34" charset="-122"/>
              <a:ea typeface="微软雅黑" panose="020B0503020204020204" pitchFamily="34" charset="-122"/>
              <a:cs typeface="DejaVu Sans"/>
            </a:endParaRPr>
          </a:p>
        </p:txBody>
      </p:sp>
      <p:sp>
        <p:nvSpPr>
          <p:cNvPr id="22" name="圆角矩形 21"/>
          <p:cNvSpPr>
            <a:spLocks noGrp="1"/>
          </p:cNvSpPr>
          <p:nvPr/>
        </p:nvSpPr>
        <p:spPr>
          <a:xfrm>
            <a:off x="685800" y="3152775"/>
            <a:ext cx="428625" cy="428625"/>
          </a:xfrm>
          <a:prstGeom prst="roundRect">
            <a:avLst>
              <a:gd name="adj" fmla="val 17778"/>
            </a:avLst>
          </a:prstGeom>
          <a:solidFill>
            <a:srgbClr val="FFC85A"/>
          </a:solidFill>
          <a:ln w="0">
            <a:noFill/>
          </a:ln>
        </p:spPr>
      </p:sp>
      <p:sp>
        <p:nvSpPr>
          <p:cNvPr id="23" name="矩形 22"/>
          <p:cNvSpPr>
            <a:spLocks noGrp="1"/>
          </p:cNvSpPr>
          <p:nvPr/>
        </p:nvSpPr>
        <p:spPr>
          <a:xfrm>
            <a:off x="685800" y="3152775"/>
            <a:ext cx="428625" cy="428625"/>
          </a:xfrm>
          <a:prstGeom prst="rect">
            <a:avLst/>
          </a:prstGeom>
          <a:noFill/>
          <a:ln w="0">
            <a:noFill/>
          </a:ln>
        </p:spPr>
        <p:txBody>
          <a:bodyPr wrap="square" lIns="0" tIns="0" rIns="0" bIns="0" anchor="ctr">
            <a:normAutofit/>
          </a:bodyPr>
          <a:lstStyle/>
          <a:p>
            <a:pPr algn="ctr">
              <a:lnSpc>
                <a:spcPct val="96000"/>
              </a:lnSpc>
              <a:buNone/>
              <a:defRPr sz="120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C</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24" name="矩形 23"/>
          <p:cNvSpPr>
            <a:spLocks noGrp="1"/>
          </p:cNvSpPr>
          <p:nvPr/>
        </p:nvSpPr>
        <p:spPr>
          <a:xfrm>
            <a:off x="1257300" y="3133725"/>
            <a:ext cx="2095500" cy="247650"/>
          </a:xfrm>
          <a:prstGeom prst="rect">
            <a:avLst/>
          </a:prstGeom>
          <a:noFill/>
          <a:ln w="0">
            <a:noFill/>
          </a:ln>
        </p:spPr>
        <p:txBody>
          <a:bodyPr wrap="square" lIns="57150" tIns="28575" rIns="57150" bIns="28575" anchor="ctr">
            <a:noAutofit/>
          </a:bodyPr>
          <a:lstStyle/>
          <a:p>
            <a:pPr algn="l">
              <a:lnSpc>
                <a:spcPct val="96000"/>
              </a:lnSpc>
              <a:buNone/>
              <a:defRPr sz="120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Practical performance</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25" name="矩形 24"/>
          <p:cNvSpPr>
            <a:spLocks noGrp="1"/>
          </p:cNvSpPr>
          <p:nvPr/>
        </p:nvSpPr>
        <p:spPr>
          <a:xfrm>
            <a:off x="1257300" y="3381375"/>
            <a:ext cx="4857750" cy="381000"/>
          </a:xfrm>
          <a:prstGeom prst="rect">
            <a:avLst/>
          </a:prstGeom>
          <a:noFill/>
          <a:ln w="0">
            <a:noFill/>
          </a:ln>
        </p:spPr>
        <p:txBody>
          <a:bodyPr wrap="square" lIns="57150" tIns="28575" rIns="57150" bIns="28575" anchor="ctr">
            <a:normAutofit/>
          </a:bodyPr>
          <a:lstStyle/>
          <a:p>
            <a:pPr algn="l">
              <a:lnSpc>
                <a:spcPct val="96000"/>
              </a:lnSpc>
              <a:buNone/>
              <a:defRPr sz="1015" b="0" i="0">
                <a:solidFill>
                  <a:srgbClr val="DDF7FF"/>
                </a:solidFill>
                <a:latin typeface="DejaVu Sans"/>
                <a:ea typeface="DejaVu Sans"/>
                <a:cs typeface="DejaVu Sans"/>
              </a:defRPr>
            </a:pPr>
            <a:r>
              <a:rPr sz="1200" b="0" i="0">
                <a:solidFill>
                  <a:schemeClr val="tx1"/>
                </a:solidFill>
                <a:latin typeface="微软雅黑" panose="020B0503020204020204" pitchFamily="34" charset="-122"/>
                <a:ea typeface="微软雅黑" panose="020B0503020204020204" pitchFamily="34" charset="-122"/>
                <a:cs typeface="DejaVu Sans"/>
              </a:rPr>
              <a:t>Durable, reliable, and low-cost.</a:t>
            </a:r>
            <a:endParaRPr sz="1200" b="0" i="0">
              <a:solidFill>
                <a:schemeClr val="tx1"/>
              </a:solidFill>
              <a:latin typeface="微软雅黑" panose="020B0503020204020204" pitchFamily="34" charset="-122"/>
              <a:ea typeface="微软雅黑" panose="020B0503020204020204" pitchFamily="34" charset="-122"/>
              <a:cs typeface="DejaVu Sans"/>
            </a:endParaRPr>
          </a:p>
        </p:txBody>
      </p:sp>
      <p:sp>
        <p:nvSpPr>
          <p:cNvPr id="26" name="圆角矩形 25"/>
          <p:cNvSpPr>
            <a:spLocks noGrp="1"/>
          </p:cNvSpPr>
          <p:nvPr/>
        </p:nvSpPr>
        <p:spPr>
          <a:xfrm>
            <a:off x="381000" y="3924300"/>
            <a:ext cx="6191250" cy="2333625"/>
          </a:xfrm>
          <a:prstGeom prst="roundRect">
            <a:avLst>
              <a:gd name="adj" fmla="val 4082"/>
            </a:avLst>
          </a:prstGeom>
          <a:noFill/>
          <a:ln w="10478">
            <a:solidFill>
              <a:srgbClr val="29D4E4">
                <a:alpha val="45000"/>
              </a:srgbClr>
            </a:solidFill>
            <a:prstDash val="solid"/>
          </a:ln>
          <a:extLst>
            <a:ext uri="{909E8E84-426E-40DD-AFC4-6F175D3DCCD1}">
              <a14:hiddenFill xmlns:a14="http://schemas.microsoft.com/office/drawing/2010/main">
                <a:solidFill>
                  <a:srgbClr val="031427">
                    <a:alpha val="92000"/>
                  </a:srgbClr>
                </a:solidFill>
              </a14:hiddenFill>
            </a:ext>
          </a:extLst>
        </p:spPr>
      </p:sp>
      <p:sp>
        <p:nvSpPr>
          <p:cNvPr id="27" name="椭圆 26"/>
          <p:cNvSpPr>
            <a:spLocks noGrp="1"/>
          </p:cNvSpPr>
          <p:nvPr/>
        </p:nvSpPr>
        <p:spPr>
          <a:xfrm>
            <a:off x="590550" y="4114800"/>
            <a:ext cx="361950" cy="361950"/>
          </a:xfrm>
          <a:prstGeom prst="ellipse">
            <a:avLst/>
          </a:prstGeom>
          <a:solidFill>
            <a:srgbClr val="29D4E4"/>
          </a:solidFill>
          <a:ln w="0">
            <a:noFill/>
          </a:ln>
        </p:spPr>
      </p:sp>
      <p:sp>
        <p:nvSpPr>
          <p:cNvPr id="28" name="矩形 27"/>
          <p:cNvSpPr>
            <a:spLocks noGrp="1"/>
          </p:cNvSpPr>
          <p:nvPr/>
        </p:nvSpPr>
        <p:spPr>
          <a:xfrm>
            <a:off x="590550" y="4114800"/>
            <a:ext cx="361950" cy="361950"/>
          </a:xfrm>
          <a:prstGeom prst="rect">
            <a:avLst/>
          </a:prstGeom>
          <a:noFill/>
          <a:ln w="0">
            <a:noFill/>
          </a:ln>
        </p:spPr>
        <p:txBody>
          <a:bodyPr wrap="square" lIns="0" tIns="0" rIns="0" bIns="0" anchor="ctr">
            <a:normAutofit/>
          </a:bodyPr>
          <a:lstStyle/>
          <a:p>
            <a:pPr algn="ctr">
              <a:lnSpc>
                <a:spcPct val="96000"/>
              </a:lnSpc>
              <a:buNone/>
              <a:defRPr sz="1125" b="1" i="0">
                <a:solidFill>
                  <a:srgbClr val="04172B"/>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2</a:t>
            </a:r>
            <a:endParaRPr sz="1200" b="1" i="0">
              <a:solidFill>
                <a:schemeClr val="tx1"/>
              </a:solidFill>
              <a:latin typeface="微软雅黑" panose="020B0503020204020204" pitchFamily="34" charset="-122"/>
              <a:ea typeface="微软雅黑" panose="020B0503020204020204" pitchFamily="34" charset="-122"/>
              <a:cs typeface="DejaVu Sans"/>
            </a:endParaRPr>
          </a:p>
        </p:txBody>
      </p:sp>
      <p:sp>
        <p:nvSpPr>
          <p:cNvPr id="29" name="矩形 28"/>
          <p:cNvSpPr>
            <a:spLocks noGrp="1"/>
          </p:cNvSpPr>
          <p:nvPr/>
        </p:nvSpPr>
        <p:spPr>
          <a:xfrm>
            <a:off x="1095375" y="4057650"/>
            <a:ext cx="5095875" cy="400050"/>
          </a:xfrm>
          <a:prstGeom prst="rect">
            <a:avLst/>
          </a:prstGeom>
          <a:noFill/>
          <a:ln w="0">
            <a:noFill/>
          </a:ln>
        </p:spPr>
        <p:txBody>
          <a:bodyPr wrap="square" lIns="57150" tIns="28575" rIns="57150" bIns="28575" anchor="ctr"/>
          <a:lstStyle/>
          <a:p>
            <a:pPr algn="l">
              <a:lnSpc>
                <a:spcPct val="96000"/>
              </a:lnSpc>
              <a:buNone/>
              <a:defRPr sz="1390"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What is the most commonly used control mechanism?</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30" name="矩形 29"/>
          <p:cNvSpPr>
            <a:spLocks noGrp="1"/>
          </p:cNvSpPr>
          <p:nvPr/>
        </p:nvSpPr>
        <p:spPr>
          <a:xfrm>
            <a:off x="714375" y="4619625"/>
            <a:ext cx="2095500" cy="333375"/>
          </a:xfrm>
          <a:prstGeom prst="rect">
            <a:avLst/>
          </a:prstGeom>
          <a:noFill/>
          <a:ln w="0">
            <a:noFill/>
          </a:ln>
        </p:spPr>
        <p:txBody>
          <a:bodyPr wrap="square" lIns="57150" tIns="28575" rIns="57150" bIns="28575" anchor="ctr"/>
          <a:lstStyle/>
          <a:p>
            <a:pPr algn="l">
              <a:lnSpc>
                <a:spcPct val="96000"/>
              </a:lnSpc>
              <a:buNone/>
              <a:defRPr sz="1650" b="1" i="0">
                <a:solidFill>
                  <a:srgbClr val="29D4E4"/>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CAM MECHANISM</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31" name="圆角矩形 30"/>
          <p:cNvSpPr>
            <a:spLocks noGrp="1"/>
          </p:cNvSpPr>
          <p:nvPr/>
        </p:nvSpPr>
        <p:spPr>
          <a:xfrm>
            <a:off x="714375" y="5067300"/>
            <a:ext cx="1504950" cy="400050"/>
          </a:xfrm>
          <a:prstGeom prst="roundRect">
            <a:avLst>
              <a:gd name="adj" fmla="val 16667"/>
            </a:avLst>
          </a:prstGeom>
          <a:solidFill>
            <a:srgbClr val="FF7F78">
              <a:alpha val="88000"/>
            </a:srgbClr>
          </a:solidFill>
          <a:ln w="0">
            <a:noFill/>
          </a:ln>
        </p:spPr>
      </p:sp>
      <p:sp>
        <p:nvSpPr>
          <p:cNvPr id="32" name="矩形 31"/>
          <p:cNvSpPr>
            <a:spLocks noGrp="1"/>
          </p:cNvSpPr>
          <p:nvPr/>
        </p:nvSpPr>
        <p:spPr>
          <a:xfrm>
            <a:off x="714375" y="5067300"/>
            <a:ext cx="1504950" cy="400050"/>
          </a:xfrm>
          <a:prstGeom prst="rect">
            <a:avLst/>
          </a:prstGeom>
          <a:noFill/>
          <a:ln w="0">
            <a:noFill/>
          </a:ln>
        </p:spPr>
        <p:txBody>
          <a:bodyPr wrap="square" lIns="57150" tIns="28575" rIns="57150" bIns="28575" anchor="ctr">
            <a:normAutofit/>
          </a:bodyPr>
          <a:lstStyle/>
          <a:p>
            <a:pPr algn="ctr">
              <a:lnSpc>
                <a:spcPct val="96000"/>
              </a:lnSpc>
              <a:buNone/>
              <a:defRPr sz="1125"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CAM</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33" name="圆角矩形 32"/>
          <p:cNvSpPr>
            <a:spLocks noGrp="1"/>
          </p:cNvSpPr>
          <p:nvPr/>
        </p:nvSpPr>
        <p:spPr>
          <a:xfrm>
            <a:off x="2409825" y="5067300"/>
            <a:ext cx="1504950" cy="400050"/>
          </a:xfrm>
          <a:prstGeom prst="roundRect">
            <a:avLst>
              <a:gd name="adj" fmla="val 16667"/>
            </a:avLst>
          </a:prstGeom>
          <a:solidFill>
            <a:srgbClr val="1386C7">
              <a:alpha val="88000"/>
            </a:srgbClr>
          </a:solidFill>
          <a:ln w="0">
            <a:noFill/>
          </a:ln>
        </p:spPr>
      </p:sp>
      <p:sp>
        <p:nvSpPr>
          <p:cNvPr id="34" name="矩形 33"/>
          <p:cNvSpPr>
            <a:spLocks noGrp="1"/>
          </p:cNvSpPr>
          <p:nvPr/>
        </p:nvSpPr>
        <p:spPr>
          <a:xfrm>
            <a:off x="2409825" y="5067300"/>
            <a:ext cx="1504950" cy="400050"/>
          </a:xfrm>
          <a:prstGeom prst="rect">
            <a:avLst/>
          </a:prstGeom>
          <a:noFill/>
          <a:ln w="0">
            <a:noFill/>
          </a:ln>
        </p:spPr>
        <p:txBody>
          <a:bodyPr wrap="square" lIns="57150" tIns="28575" rIns="57150" bIns="28575" anchor="ctr">
            <a:normAutofit/>
          </a:bodyPr>
          <a:lstStyle/>
          <a:p>
            <a:pPr algn="ctr">
              <a:lnSpc>
                <a:spcPct val="96000"/>
              </a:lnSpc>
              <a:buNone/>
              <a:defRPr sz="1125"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FOLLOWER</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35" name="圆角矩形 34"/>
          <p:cNvSpPr>
            <a:spLocks noGrp="1"/>
          </p:cNvSpPr>
          <p:nvPr/>
        </p:nvSpPr>
        <p:spPr>
          <a:xfrm>
            <a:off x="4105275" y="5067300"/>
            <a:ext cx="1504950" cy="400050"/>
          </a:xfrm>
          <a:prstGeom prst="roundRect">
            <a:avLst>
              <a:gd name="adj" fmla="val 16667"/>
            </a:avLst>
          </a:prstGeom>
          <a:solidFill>
            <a:srgbClr val="6FD3AE">
              <a:alpha val="88000"/>
            </a:srgbClr>
          </a:solidFill>
          <a:ln w="0">
            <a:noFill/>
          </a:ln>
        </p:spPr>
      </p:sp>
      <p:sp>
        <p:nvSpPr>
          <p:cNvPr id="36" name="矩形 35"/>
          <p:cNvSpPr>
            <a:spLocks noGrp="1"/>
          </p:cNvSpPr>
          <p:nvPr/>
        </p:nvSpPr>
        <p:spPr>
          <a:xfrm>
            <a:off x="4105275" y="5067300"/>
            <a:ext cx="1504950" cy="400050"/>
          </a:xfrm>
          <a:prstGeom prst="rect">
            <a:avLst/>
          </a:prstGeom>
          <a:noFill/>
          <a:ln w="0">
            <a:noFill/>
          </a:ln>
        </p:spPr>
        <p:txBody>
          <a:bodyPr wrap="square" lIns="57150" tIns="28575" rIns="57150" bIns="28575" anchor="ctr">
            <a:normAutofit/>
          </a:bodyPr>
          <a:lstStyle/>
          <a:p>
            <a:pPr algn="ctr">
              <a:lnSpc>
                <a:spcPct val="96000"/>
              </a:lnSpc>
              <a:buNone/>
              <a:defRPr sz="1125"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FRAME</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37" name="矩形 36"/>
          <p:cNvSpPr>
            <a:spLocks noGrp="1"/>
          </p:cNvSpPr>
          <p:nvPr/>
        </p:nvSpPr>
        <p:spPr>
          <a:xfrm>
            <a:off x="714375" y="5638800"/>
            <a:ext cx="1238250" cy="238125"/>
          </a:xfrm>
          <a:prstGeom prst="rect">
            <a:avLst/>
          </a:prstGeom>
          <a:noFill/>
          <a:ln w="0">
            <a:noFill/>
          </a:ln>
        </p:spPr>
        <p:txBody>
          <a:bodyPr wrap="square" lIns="57150" tIns="28575" rIns="57150" bIns="28575" anchor="ctr">
            <a:noAutofit/>
          </a:bodyPr>
          <a:lstStyle/>
          <a:p>
            <a:pPr algn="l">
              <a:lnSpc>
                <a:spcPct val="96000"/>
              </a:lnSpc>
              <a:buNone/>
              <a:defRPr sz="900" b="1" i="0">
                <a:solidFill>
                  <a:srgbClr val="A9C7D9"/>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Kinematic pair</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38" name="矩形 37"/>
          <p:cNvSpPr>
            <a:spLocks noGrp="1"/>
          </p:cNvSpPr>
          <p:nvPr/>
        </p:nvSpPr>
        <p:spPr>
          <a:xfrm>
            <a:off x="1952625" y="5638800"/>
            <a:ext cx="1238250" cy="238125"/>
          </a:xfrm>
          <a:prstGeom prst="rect">
            <a:avLst/>
          </a:prstGeom>
          <a:noFill/>
          <a:ln w="0">
            <a:noFill/>
          </a:ln>
        </p:spPr>
        <p:txBody>
          <a:bodyPr wrap="square" lIns="57150" tIns="28575" rIns="57150" bIns="28575" anchor="ctr"/>
          <a:lstStyle/>
          <a:p>
            <a:pPr algn="l">
              <a:lnSpc>
                <a:spcPct val="96000"/>
              </a:lnSpc>
              <a:buNone/>
              <a:defRPr sz="105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Higher pair</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39" name="矩形 38"/>
          <p:cNvSpPr>
            <a:spLocks noGrp="1"/>
          </p:cNvSpPr>
          <p:nvPr/>
        </p:nvSpPr>
        <p:spPr>
          <a:xfrm>
            <a:off x="3333750" y="5638800"/>
            <a:ext cx="1238250" cy="238125"/>
          </a:xfrm>
          <a:prstGeom prst="rect">
            <a:avLst/>
          </a:prstGeom>
          <a:noFill/>
          <a:ln w="0">
            <a:noFill/>
          </a:ln>
        </p:spPr>
        <p:txBody>
          <a:bodyPr wrap="square" lIns="57150" tIns="28575" rIns="57150" bIns="28575" anchor="ctr">
            <a:noAutofit/>
          </a:bodyPr>
          <a:lstStyle/>
          <a:p>
            <a:pPr algn="l">
              <a:lnSpc>
                <a:spcPct val="96000"/>
              </a:lnSpc>
              <a:buNone/>
              <a:defRPr sz="900" b="1" i="0">
                <a:solidFill>
                  <a:srgbClr val="A9C7D9"/>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Motion control</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40" name="矩形 39"/>
          <p:cNvSpPr>
            <a:spLocks noGrp="1"/>
          </p:cNvSpPr>
          <p:nvPr/>
        </p:nvSpPr>
        <p:spPr>
          <a:xfrm>
            <a:off x="4572000" y="5638800"/>
            <a:ext cx="1428750" cy="238125"/>
          </a:xfrm>
          <a:prstGeom prst="rect">
            <a:avLst/>
          </a:prstGeom>
          <a:noFill/>
          <a:ln w="0">
            <a:noFill/>
          </a:ln>
        </p:spPr>
        <p:txBody>
          <a:bodyPr wrap="square" lIns="57150" tIns="28575" rIns="57150" bIns="28575" anchor="ctr"/>
          <a:lstStyle/>
          <a:p>
            <a:pPr algn="l">
              <a:lnSpc>
                <a:spcPct val="96000"/>
              </a:lnSpc>
              <a:buNone/>
              <a:defRPr sz="1050" b="1" i="0">
                <a:solidFill>
                  <a:srgbClr val="FFFFFF"/>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Cam profile</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pic>
        <p:nvPicPr>
          <p:cNvPr id="4" name="凸轮abc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69902" y="3308724"/>
            <a:ext cx="4068618" cy="3254894"/>
          </a:xfrm>
          <a:prstGeom prst="rect">
            <a:avLst/>
          </a:prstGeom>
        </p:spPr>
      </p:pic>
      <p:grpSp>
        <p:nvGrpSpPr>
          <p:cNvPr id="5" name="组合 4"/>
          <p:cNvGrpSpPr/>
          <p:nvPr/>
        </p:nvGrpSpPr>
        <p:grpSpPr>
          <a:xfrm>
            <a:off x="6614063" y="318040"/>
            <a:ext cx="5039824" cy="3369950"/>
            <a:chOff x="7069" y="1325927"/>
            <a:chExt cx="5039824" cy="3369950"/>
          </a:xfrm>
        </p:grpSpPr>
        <p:pic>
          <p:nvPicPr>
            <p:cNvPr id="6" name="凸轮abc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308691" y="1325927"/>
              <a:ext cx="3738202" cy="2990562"/>
            </a:xfrm>
            <a:prstGeom prst="rect">
              <a:avLst/>
            </a:prstGeom>
          </p:spPr>
        </p:pic>
        <p:grpSp>
          <p:nvGrpSpPr>
            <p:cNvPr id="7" name="组合 6"/>
            <p:cNvGrpSpPr/>
            <p:nvPr/>
          </p:nvGrpSpPr>
          <p:grpSpPr>
            <a:xfrm>
              <a:off x="7069" y="1819801"/>
              <a:ext cx="4959575" cy="2876076"/>
              <a:chOff x="6094333" y="2007364"/>
              <a:chExt cx="4959575" cy="2876076"/>
            </a:xfrm>
          </p:grpSpPr>
          <p:grpSp>
            <p:nvGrpSpPr>
              <p:cNvPr id="9" name="组合 8"/>
              <p:cNvGrpSpPr/>
              <p:nvPr/>
            </p:nvGrpSpPr>
            <p:grpSpPr>
              <a:xfrm>
                <a:off x="8269767" y="2007364"/>
                <a:ext cx="2784141" cy="2876076"/>
                <a:chOff x="8335755" y="1958541"/>
                <a:chExt cx="2784141" cy="2876076"/>
              </a:xfrm>
            </p:grpSpPr>
            <p:sp>
              <p:nvSpPr>
                <p:cNvPr id="41" name="矩形 40"/>
                <p:cNvSpPr/>
                <p:nvPr/>
              </p:nvSpPr>
              <p:spPr>
                <a:xfrm>
                  <a:off x="8335755" y="4374242"/>
                  <a:ext cx="2712085" cy="460375"/>
                </a:xfrm>
                <a:prstGeom prst="rect">
                  <a:avLst/>
                </a:prstGeom>
              </p:spPr>
              <p:txBody>
                <a:bodyPr wrap="none">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Cam Mechanism</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
              <p:nvSpPr>
                <p:cNvPr id="42" name="矩形 41"/>
                <p:cNvSpPr/>
                <p:nvPr/>
              </p:nvSpPr>
              <p:spPr bwMode="auto">
                <a:xfrm>
                  <a:off x="10306017" y="1958541"/>
                  <a:ext cx="813879" cy="36933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grpSp>
          <p:sp>
            <p:nvSpPr>
              <p:cNvPr id="43" name="Text Box 7"/>
              <p:cNvSpPr txBox="1">
                <a:spLocks noChangeArrowheads="1"/>
              </p:cNvSpPr>
              <p:nvPr/>
            </p:nvSpPr>
            <p:spPr bwMode="auto">
              <a:xfrm>
                <a:off x="6538198" y="2647107"/>
                <a:ext cx="1715514"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ctr" eaLnBrk="1" hangingPunct="1">
                  <a:spcBef>
                    <a:spcPct val="50000"/>
                  </a:spcBef>
                </a:pPr>
                <a:r>
                  <a:rPr lang="en-US" altLang="zh-CN" sz="2400" b="0" dirty="0">
                    <a:solidFill>
                      <a:schemeClr val="tx1"/>
                    </a:solidFill>
                    <a:latin typeface="微软雅黑" panose="020B0503020204020204" pitchFamily="34" charset="-122"/>
                    <a:ea typeface="微软雅黑" panose="020B0503020204020204" pitchFamily="34" charset="-122"/>
                  </a:rPr>
                  <a:t>push rod</a:t>
                </a:r>
                <a:r>
                  <a:rPr lang="zh-CN" altLang="en-US" sz="2400" b="0" dirty="0">
                    <a:solidFill>
                      <a:schemeClr val="tx1"/>
                    </a:solidFill>
                    <a:latin typeface="微软雅黑" panose="020B0503020204020204" pitchFamily="34" charset="-122"/>
                    <a:ea typeface="微软雅黑" panose="020B0503020204020204" pitchFamily="34" charset="-122"/>
                  </a:rPr>
                  <a:t>（</a:t>
                </a:r>
                <a:r>
                  <a:rPr lang="en-US" altLang="zh-CN" sz="2400" b="0" dirty="0">
                    <a:solidFill>
                      <a:srgbClr val="FF0000"/>
                    </a:solidFill>
                    <a:latin typeface="微软雅黑" panose="020B0503020204020204" pitchFamily="34" charset="-122"/>
                    <a:ea typeface="微软雅黑" panose="020B0503020204020204" pitchFamily="34" charset="-122"/>
                  </a:rPr>
                  <a:t>follower</a:t>
                </a:r>
                <a:r>
                  <a:rPr lang="zh-CN" altLang="en-US" sz="2400" b="0" dirty="0">
                    <a:solidFill>
                      <a:schemeClr val="tx1"/>
                    </a:solidFill>
                    <a:latin typeface="微软雅黑" panose="020B0503020204020204" pitchFamily="34" charset="-122"/>
                    <a:ea typeface="微软雅黑" panose="020B0503020204020204" pitchFamily="34" charset="-122"/>
                  </a:rPr>
                  <a:t>）</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44" name="Text Box 17"/>
              <p:cNvSpPr txBox="1">
                <a:spLocks noChangeArrowheads="1"/>
              </p:cNvSpPr>
              <p:nvPr/>
            </p:nvSpPr>
            <p:spPr bwMode="auto">
              <a:xfrm>
                <a:off x="6094333" y="3715514"/>
                <a:ext cx="25622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ctr" eaLnBrk="1" hangingPunct="1">
                  <a:spcBef>
                    <a:spcPct val="50000"/>
                  </a:spcBef>
                </a:pPr>
                <a:r>
                  <a:rPr lang="en-US" altLang="zh-CN" sz="2400" b="0" dirty="0">
                    <a:solidFill>
                      <a:schemeClr val="tx1"/>
                    </a:solidFill>
                    <a:latin typeface="微软雅黑" panose="020B0503020204020204" pitchFamily="34" charset="-122"/>
                    <a:ea typeface="微软雅黑" panose="020B0503020204020204" pitchFamily="34" charset="-122"/>
                  </a:rPr>
                  <a:t>Cam</a:t>
                </a:r>
                <a:endParaRPr lang="en-US" altLang="zh-CN" sz="2400" b="0" dirty="0">
                  <a:solidFill>
                    <a:schemeClr val="tx1"/>
                  </a:solidFill>
                  <a:latin typeface="微软雅黑" panose="020B0503020204020204" pitchFamily="34" charset="-122"/>
                  <a:ea typeface="微软雅黑" panose="020B0503020204020204" pitchFamily="34" charset="-122"/>
                </a:endParaRPr>
              </a:p>
              <a:p>
                <a:pPr algn="ctr" eaLnBrk="1" hangingPunct="1">
                  <a:spcBef>
                    <a:spcPct val="50000"/>
                  </a:spcBef>
                </a:pPr>
                <a:r>
                  <a:rPr lang="zh-CN" altLang="en-US" sz="2400" b="0" dirty="0">
                    <a:solidFill>
                      <a:schemeClr val="tx1"/>
                    </a:solidFill>
                    <a:latin typeface="微软雅黑" panose="020B0503020204020204" pitchFamily="34" charset="-122"/>
                    <a:ea typeface="微软雅黑" panose="020B0503020204020204" pitchFamily="34" charset="-122"/>
                  </a:rPr>
                  <a:t>（</a:t>
                </a:r>
                <a:r>
                  <a:rPr lang="en-US" altLang="zh-CN" sz="2400" b="0" dirty="0">
                    <a:solidFill>
                      <a:srgbClr val="FF0000"/>
                    </a:solidFill>
                    <a:latin typeface="微软雅黑" panose="020B0503020204020204" pitchFamily="34" charset="-122"/>
                    <a:ea typeface="微软雅黑" panose="020B0503020204020204" pitchFamily="34" charset="-122"/>
                  </a:rPr>
                  <a:t>driving part</a:t>
                </a:r>
                <a:r>
                  <a:rPr lang="zh-CN" altLang="en-US" sz="2400" b="0" dirty="0">
                    <a:solidFill>
                      <a:schemeClr val="tx1"/>
                    </a:solidFill>
                    <a:latin typeface="微软雅黑" panose="020B0503020204020204" pitchFamily="34" charset="-122"/>
                    <a:ea typeface="微软雅黑" panose="020B0503020204020204" pitchFamily="34" charset="-122"/>
                  </a:rPr>
                  <a:t>）</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45" name="Text Box 23"/>
              <p:cNvSpPr txBox="1">
                <a:spLocks noChangeArrowheads="1"/>
              </p:cNvSpPr>
              <p:nvPr/>
            </p:nvSpPr>
            <p:spPr bwMode="auto">
              <a:xfrm>
                <a:off x="6681073" y="2138174"/>
                <a:ext cx="14300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en-US" altLang="zh-CN" sz="2400" b="0" dirty="0">
                    <a:solidFill>
                      <a:schemeClr val="tx1"/>
                    </a:solidFill>
                    <a:latin typeface="微软雅黑" panose="020B0503020204020204" pitchFamily="34" charset="-122"/>
                    <a:ea typeface="微软雅黑" panose="020B0503020204020204" pitchFamily="34" charset="-122"/>
                  </a:rPr>
                  <a:t>frame</a:t>
                </a: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46" name="Line 24"/>
              <p:cNvSpPr>
                <a:spLocks noChangeShapeType="1"/>
              </p:cNvSpPr>
              <p:nvPr/>
            </p:nvSpPr>
            <p:spPr bwMode="auto">
              <a:xfrm flipH="1" flipV="1">
                <a:off x="7792015" y="2376696"/>
                <a:ext cx="1485127"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微软雅黑" panose="020B0503020204020204" pitchFamily="34" charset="-122"/>
                  <a:ea typeface="微软雅黑" panose="020B0503020204020204" pitchFamily="34" charset="-122"/>
                </a:endParaRPr>
              </a:p>
            </p:txBody>
          </p:sp>
          <p:sp>
            <p:nvSpPr>
              <p:cNvPr id="47" name="Line 25"/>
              <p:cNvSpPr>
                <a:spLocks noChangeShapeType="1"/>
              </p:cNvSpPr>
              <p:nvPr/>
            </p:nvSpPr>
            <p:spPr bwMode="auto">
              <a:xfrm flipV="1">
                <a:off x="7792016" y="2624283"/>
                <a:ext cx="1568491" cy="25365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微软雅黑" panose="020B0503020204020204" pitchFamily="34" charset="-122"/>
                  <a:ea typeface="微软雅黑" panose="020B0503020204020204" pitchFamily="34" charset="-122"/>
                </a:endParaRPr>
              </a:p>
            </p:txBody>
          </p:sp>
          <p:sp>
            <p:nvSpPr>
              <p:cNvPr id="48" name="Line 26"/>
              <p:cNvSpPr>
                <a:spLocks noChangeShapeType="1"/>
              </p:cNvSpPr>
              <p:nvPr/>
            </p:nvSpPr>
            <p:spPr bwMode="auto">
              <a:xfrm flipV="1">
                <a:off x="7708651" y="3579748"/>
                <a:ext cx="1584775" cy="408982"/>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微软雅黑" panose="020B0503020204020204" pitchFamily="34" charset="-122"/>
                  <a:ea typeface="微软雅黑" panose="020B0503020204020204" pitchFamily="34"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200"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repeatCount="indefinite" fill="hold" display="0">
                  <p:stCondLst>
                    <p:cond delay="indefinite"/>
                  </p:stCondLst>
                </p:cTn>
                <p:tgtEl>
                  <p:spTgt spid="4"/>
                </p:tgtEl>
              </p:cMediaNode>
            </p:video>
            <p:video>
              <p:cMediaNode vol="80000">
                <p:cTn id="12" fill="hold" display="0">
                  <p:stCondLst>
                    <p:cond delay="indefinite"/>
                  </p:stCondLst>
                </p:cTn>
                <p:tgtEl>
                  <p:spTgt spid="6"/>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F54A3870-DF25-464D-B6EA-3BA6EAAA2BCA}" type="slidenum">
              <a:rPr lang="zh-CN" altLang="en-US" sz="2000" smtClean="0"/>
            </a:fld>
            <a:endParaRPr lang="zh-CN" altLang="en-US" sz="2000" smtClean="0"/>
          </a:p>
        </p:txBody>
      </p:sp>
      <p:sp>
        <p:nvSpPr>
          <p:cNvPr id="10" name="圆角矩形 9"/>
          <p:cNvSpPr>
            <a:spLocks noGrp="1"/>
          </p:cNvSpPr>
          <p:nvPr/>
        </p:nvSpPr>
        <p:spPr>
          <a:xfrm>
            <a:off x="381000" y="1066800"/>
            <a:ext cx="6191250" cy="3200400"/>
          </a:xfrm>
          <a:prstGeom prst="roundRect">
            <a:avLst>
              <a:gd name="adj" fmla="val 2976"/>
            </a:avLst>
          </a:prstGeom>
          <a:noFill/>
          <a:ln w="10478">
            <a:solidFill>
              <a:srgbClr val="29D4E4">
                <a:alpha val="45000"/>
              </a:srgbClr>
            </a:solidFill>
            <a:prstDash val="solid"/>
          </a:ln>
          <a:extLst>
            <a:ext uri="{909E8E84-426E-40DD-AFC4-6F175D3DCCD1}">
              <a14:hiddenFill xmlns:a14="http://schemas.microsoft.com/office/drawing/2010/main">
                <a:solidFill>
                  <a:srgbClr val="031427">
                    <a:alpha val="93000"/>
                  </a:srgbClr>
                </a:solidFill>
              </a14:hiddenFill>
            </a:ext>
          </a:extLst>
        </p:spPr>
      </p:sp>
      <p:sp>
        <p:nvSpPr>
          <p:cNvPr id="11" name="椭圆 10"/>
          <p:cNvSpPr>
            <a:spLocks noGrp="1"/>
          </p:cNvSpPr>
          <p:nvPr/>
        </p:nvSpPr>
        <p:spPr>
          <a:xfrm>
            <a:off x="590550" y="1238250"/>
            <a:ext cx="361950" cy="361950"/>
          </a:xfrm>
          <a:prstGeom prst="ellipse">
            <a:avLst/>
          </a:prstGeom>
          <a:solidFill>
            <a:srgbClr val="29D4E4"/>
          </a:solidFill>
          <a:ln w="0">
            <a:noFill/>
          </a:ln>
        </p:spPr>
      </p:sp>
      <p:sp>
        <p:nvSpPr>
          <p:cNvPr id="12" name="矩形 11"/>
          <p:cNvSpPr>
            <a:spLocks noGrp="1"/>
          </p:cNvSpPr>
          <p:nvPr/>
        </p:nvSpPr>
        <p:spPr>
          <a:xfrm>
            <a:off x="590550" y="1238250"/>
            <a:ext cx="361950" cy="361950"/>
          </a:xfrm>
          <a:prstGeom prst="rect">
            <a:avLst/>
          </a:prstGeom>
          <a:noFill/>
          <a:ln w="0">
            <a:noFill/>
          </a:ln>
        </p:spPr>
        <p:txBody>
          <a:bodyPr wrap="square" lIns="0" tIns="0" rIns="0" bIns="0" anchor="ctr">
            <a:normAutofit/>
          </a:bodyPr>
          <a:lstStyle/>
          <a:p>
            <a:pPr algn="ctr">
              <a:lnSpc>
                <a:spcPct val="96000"/>
              </a:lnSpc>
              <a:buNone/>
              <a:defRPr sz="1125" b="1" i="0">
                <a:solidFill>
                  <a:srgbClr val="04172B"/>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3</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13" name="矩形 12"/>
          <p:cNvSpPr>
            <a:spLocks noGrp="1"/>
          </p:cNvSpPr>
          <p:nvPr/>
        </p:nvSpPr>
        <p:spPr>
          <a:xfrm>
            <a:off x="1095375" y="1181100"/>
            <a:ext cx="5095875" cy="428625"/>
          </a:xfrm>
          <a:prstGeom prst="rect">
            <a:avLst/>
          </a:prstGeom>
          <a:noFill/>
          <a:ln w="0">
            <a:noFill/>
          </a:ln>
        </p:spPr>
        <p:txBody>
          <a:bodyPr wrap="square" lIns="57150" tIns="28575" rIns="57150" bIns="28575" anchor="ctr"/>
          <a:lstStyle/>
          <a:p>
            <a:pPr algn="l">
              <a:lnSpc>
                <a:spcPct val="96000"/>
              </a:lnSpc>
              <a:buNone/>
              <a:defRPr sz="1390"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Follower types classified by the shape of the contact element</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14" name="圆角矩形 13"/>
          <p:cNvSpPr>
            <a:spLocks noGrp="1"/>
          </p:cNvSpPr>
          <p:nvPr/>
        </p:nvSpPr>
        <p:spPr>
          <a:xfrm>
            <a:off x="590550" y="1809750"/>
            <a:ext cx="1762125" cy="2152650"/>
          </a:xfrm>
          <a:prstGeom prst="roundRect">
            <a:avLst>
              <a:gd name="adj" fmla="val 4324"/>
            </a:avLst>
          </a:prstGeom>
          <a:noFill/>
          <a:ln w="11430">
            <a:solidFill>
              <a:srgbClr val="FF7F78">
                <a:alpha val="70000"/>
              </a:srgbClr>
            </a:solidFill>
            <a:prstDash val="solid"/>
          </a:ln>
          <a:extLst>
            <a:ext uri="{909E8E84-426E-40DD-AFC4-6F175D3DCCD1}">
              <a14:hiddenFill xmlns:a14="http://schemas.microsoft.com/office/drawing/2010/main">
                <a:solidFill>
                  <a:srgbClr val="082843">
                    <a:alpha val="94000"/>
                  </a:srgbClr>
                </a:solidFill>
              </a14:hiddenFill>
            </a:ext>
          </a:extLst>
        </p:spPr>
      </p:sp>
      <p:sp>
        <p:nvSpPr>
          <p:cNvPr id="15" name="圆角矩形 14"/>
          <p:cNvSpPr>
            <a:spLocks noGrp="1"/>
          </p:cNvSpPr>
          <p:nvPr/>
        </p:nvSpPr>
        <p:spPr>
          <a:xfrm>
            <a:off x="590550" y="1809750"/>
            <a:ext cx="1762125" cy="419100"/>
          </a:xfrm>
          <a:prstGeom prst="roundRect">
            <a:avLst>
              <a:gd name="adj" fmla="val 18182"/>
            </a:avLst>
          </a:prstGeom>
          <a:solidFill>
            <a:srgbClr val="FF7F78">
              <a:alpha val="92000"/>
            </a:srgbClr>
          </a:solidFill>
          <a:ln w="0">
            <a:noFill/>
          </a:ln>
        </p:spPr>
      </p:sp>
      <p:sp>
        <p:nvSpPr>
          <p:cNvPr id="16" name="矩形 15"/>
          <p:cNvSpPr>
            <a:spLocks noGrp="1"/>
          </p:cNvSpPr>
          <p:nvPr/>
        </p:nvSpPr>
        <p:spPr>
          <a:xfrm>
            <a:off x="590550" y="1809750"/>
            <a:ext cx="1762125" cy="419100"/>
          </a:xfrm>
          <a:prstGeom prst="rect">
            <a:avLst/>
          </a:prstGeom>
          <a:noFill/>
          <a:ln w="0">
            <a:noFill/>
          </a:ln>
        </p:spPr>
        <p:txBody>
          <a:bodyPr wrap="square" lIns="57150" tIns="28575" rIns="57150" bIns="28575" anchor="ctr">
            <a:normAutofit/>
          </a:bodyPr>
          <a:lstStyle/>
          <a:p>
            <a:pPr algn="ctr">
              <a:lnSpc>
                <a:spcPct val="96000"/>
              </a:lnSpc>
              <a:buNone/>
              <a:defRPr sz="1200"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Knife-edge</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17" name="矩形 16"/>
          <p:cNvSpPr>
            <a:spLocks noGrp="1"/>
          </p:cNvSpPr>
          <p:nvPr/>
        </p:nvSpPr>
        <p:spPr>
          <a:xfrm>
            <a:off x="723900" y="2343150"/>
            <a:ext cx="1495425" cy="228600"/>
          </a:xfrm>
          <a:prstGeom prst="rect">
            <a:avLst/>
          </a:prstGeom>
          <a:noFill/>
          <a:ln w="0">
            <a:noFill/>
          </a:ln>
        </p:spPr>
        <p:txBody>
          <a:bodyPr wrap="square" lIns="57150" tIns="28575" rIns="57150" bIns="28575" anchor="ctr">
            <a:noAutofit/>
          </a:bodyPr>
          <a:lstStyle/>
          <a:p>
            <a:pPr algn="ctr">
              <a:lnSpc>
                <a:spcPct val="96000"/>
              </a:lnSpc>
              <a:buNone/>
              <a:defRPr sz="900" b="1" i="0">
                <a:solidFill>
                  <a:srgbClr val="29D4E4"/>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Advantages</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18" name="矩形 17"/>
          <p:cNvSpPr>
            <a:spLocks noGrp="1"/>
          </p:cNvSpPr>
          <p:nvPr/>
        </p:nvSpPr>
        <p:spPr>
          <a:xfrm>
            <a:off x="723900" y="2609850"/>
            <a:ext cx="1495425" cy="619125"/>
          </a:xfrm>
          <a:prstGeom prst="rect">
            <a:avLst/>
          </a:prstGeom>
          <a:noFill/>
          <a:ln w="0">
            <a:noFill/>
          </a:ln>
        </p:spPr>
        <p:txBody>
          <a:bodyPr wrap="square" lIns="57150" tIns="28575" rIns="57150" bIns="28575" anchor="ctr">
            <a:noAutofit/>
          </a:bodyPr>
          <a:lstStyle/>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Simple structure</a:t>
            </a:r>
            <a:endParaRPr sz="1400" b="0" i="0">
              <a:solidFill>
                <a:schemeClr val="tx1"/>
              </a:solidFill>
              <a:latin typeface="微软雅黑" panose="020B0503020204020204" pitchFamily="34" charset="-122"/>
              <a:ea typeface="微软雅黑" panose="020B0503020204020204" pitchFamily="34" charset="-122"/>
              <a:cs typeface="DejaVu Sans"/>
            </a:endParaRPr>
          </a:p>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Any prescribed motion law</a:t>
            </a:r>
            <a:endParaRPr sz="1400" b="0" i="0">
              <a:solidFill>
                <a:schemeClr val="tx1"/>
              </a:solidFill>
              <a:latin typeface="微软雅黑" panose="020B0503020204020204" pitchFamily="34" charset="-122"/>
              <a:ea typeface="微软雅黑" panose="020B0503020204020204" pitchFamily="34" charset="-122"/>
              <a:cs typeface="DejaVu Sans"/>
            </a:endParaRPr>
          </a:p>
        </p:txBody>
      </p:sp>
      <p:sp>
        <p:nvSpPr>
          <p:cNvPr id="19" name="直接连接符 18"/>
          <p:cNvSpPr>
            <a:spLocks noGrp="1"/>
          </p:cNvSpPr>
          <p:nvPr/>
        </p:nvSpPr>
        <p:spPr>
          <a:xfrm>
            <a:off x="762000" y="3295650"/>
            <a:ext cx="1419225" cy="0"/>
          </a:xfrm>
          <a:prstGeom prst="line">
            <a:avLst/>
          </a:prstGeom>
          <a:noFill/>
          <a:ln w="9525">
            <a:solidFill>
              <a:srgbClr val="29D4E4">
                <a:alpha val="35000"/>
              </a:srgbClr>
            </a:solidFill>
            <a:prstDash val="solid"/>
          </a:ln>
        </p:spPr>
      </p:sp>
      <p:sp>
        <p:nvSpPr>
          <p:cNvPr id="20" name="矩形 19"/>
          <p:cNvSpPr>
            <a:spLocks noGrp="1"/>
          </p:cNvSpPr>
          <p:nvPr/>
        </p:nvSpPr>
        <p:spPr>
          <a:xfrm>
            <a:off x="704850" y="3352800"/>
            <a:ext cx="1533525" cy="219075"/>
          </a:xfrm>
          <a:prstGeom prst="rect">
            <a:avLst/>
          </a:prstGeom>
          <a:noFill/>
          <a:ln w="0">
            <a:noFill/>
          </a:ln>
        </p:spPr>
        <p:txBody>
          <a:bodyPr wrap="square" lIns="57150" tIns="28575" rIns="57150" bIns="28575" anchor="ctr">
            <a:noAutofit/>
          </a:bodyPr>
          <a:lstStyle/>
          <a:p>
            <a:pPr algn="ctr">
              <a:lnSpc>
                <a:spcPct val="96000"/>
              </a:lnSpc>
              <a:buNone/>
              <a:defRPr sz="790" b="1" i="0">
                <a:solidFill>
                  <a:srgbClr val="A9C7D9"/>
                </a:solidFill>
                <a:latin typeface="DejaVu Sans"/>
                <a:ea typeface="DejaVu Sans"/>
                <a:cs typeface="DejaVu Sans"/>
              </a:defRPr>
            </a:pPr>
            <a:r>
              <a:rPr sz="1000" b="1" i="0">
                <a:solidFill>
                  <a:schemeClr val="tx1"/>
                </a:solidFill>
                <a:latin typeface="微软雅黑" panose="020B0503020204020204" pitchFamily="34" charset="-122"/>
                <a:ea typeface="微软雅黑" panose="020B0503020204020204" pitchFamily="34" charset="-122"/>
                <a:cs typeface="DejaVu Sans"/>
              </a:rPr>
              <a:t>Limitation / condition</a:t>
            </a:r>
            <a:endParaRPr sz="1000" b="1" i="0">
              <a:solidFill>
                <a:schemeClr val="tx1"/>
              </a:solidFill>
              <a:latin typeface="微软雅黑" panose="020B0503020204020204" pitchFamily="34" charset="-122"/>
              <a:ea typeface="微软雅黑" panose="020B0503020204020204" pitchFamily="34" charset="-122"/>
              <a:cs typeface="DejaVu Sans"/>
            </a:endParaRPr>
          </a:p>
        </p:txBody>
      </p:sp>
      <p:sp>
        <p:nvSpPr>
          <p:cNvPr id="21" name="矩形 20"/>
          <p:cNvSpPr>
            <a:spLocks noGrp="1"/>
          </p:cNvSpPr>
          <p:nvPr/>
        </p:nvSpPr>
        <p:spPr>
          <a:xfrm>
            <a:off x="704850" y="3581400"/>
            <a:ext cx="1533525" cy="323850"/>
          </a:xfrm>
          <a:prstGeom prst="rect">
            <a:avLst/>
          </a:prstGeom>
          <a:noFill/>
          <a:ln w="0">
            <a:noFill/>
          </a:ln>
        </p:spPr>
        <p:txBody>
          <a:bodyPr wrap="square" lIns="57150" tIns="28575" rIns="57150" bIns="28575" anchor="ctr">
            <a:normAutofit/>
          </a:bodyPr>
          <a:lstStyle/>
          <a:p>
            <a:pPr algn="ctr">
              <a:lnSpc>
                <a:spcPct val="96000"/>
              </a:lnSpc>
              <a:buNone/>
              <a:defRPr sz="940" b="1" i="0">
                <a:solidFill>
                  <a:srgbClr val="FF7F78"/>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High wear</a:t>
            </a:r>
            <a:endParaRPr sz="1200" b="1" i="0">
              <a:solidFill>
                <a:schemeClr val="tx1"/>
              </a:solidFill>
              <a:latin typeface="微软雅黑" panose="020B0503020204020204" pitchFamily="34" charset="-122"/>
              <a:ea typeface="微软雅黑" panose="020B0503020204020204" pitchFamily="34" charset="-122"/>
              <a:cs typeface="DejaVu Sans"/>
            </a:endParaRPr>
          </a:p>
        </p:txBody>
      </p:sp>
      <p:sp>
        <p:nvSpPr>
          <p:cNvPr id="22" name="圆角矩形 21"/>
          <p:cNvSpPr>
            <a:spLocks noGrp="1"/>
          </p:cNvSpPr>
          <p:nvPr/>
        </p:nvSpPr>
        <p:spPr>
          <a:xfrm>
            <a:off x="2543175" y="1809750"/>
            <a:ext cx="1762125" cy="2152650"/>
          </a:xfrm>
          <a:prstGeom prst="roundRect">
            <a:avLst>
              <a:gd name="adj" fmla="val 4324"/>
            </a:avLst>
          </a:prstGeom>
          <a:noFill/>
          <a:ln w="11430">
            <a:solidFill>
              <a:srgbClr val="1386C7">
                <a:alpha val="70000"/>
              </a:srgbClr>
            </a:solidFill>
            <a:prstDash val="solid"/>
          </a:ln>
          <a:extLst>
            <a:ext uri="{909E8E84-426E-40DD-AFC4-6F175D3DCCD1}">
              <a14:hiddenFill xmlns:a14="http://schemas.microsoft.com/office/drawing/2010/main">
                <a:solidFill>
                  <a:srgbClr val="082843">
                    <a:alpha val="94000"/>
                  </a:srgbClr>
                </a:solidFill>
              </a14:hiddenFill>
            </a:ext>
          </a:extLst>
        </p:spPr>
      </p:sp>
      <p:sp>
        <p:nvSpPr>
          <p:cNvPr id="23" name="圆角矩形 22"/>
          <p:cNvSpPr>
            <a:spLocks noGrp="1"/>
          </p:cNvSpPr>
          <p:nvPr/>
        </p:nvSpPr>
        <p:spPr>
          <a:xfrm>
            <a:off x="2543175" y="1809750"/>
            <a:ext cx="1762125" cy="419100"/>
          </a:xfrm>
          <a:prstGeom prst="roundRect">
            <a:avLst>
              <a:gd name="adj" fmla="val 18182"/>
            </a:avLst>
          </a:prstGeom>
          <a:solidFill>
            <a:srgbClr val="1386C7">
              <a:alpha val="92000"/>
            </a:srgbClr>
          </a:solidFill>
          <a:ln w="0">
            <a:noFill/>
          </a:ln>
        </p:spPr>
      </p:sp>
      <p:sp>
        <p:nvSpPr>
          <p:cNvPr id="24" name="矩形 23"/>
          <p:cNvSpPr>
            <a:spLocks noGrp="1"/>
          </p:cNvSpPr>
          <p:nvPr/>
        </p:nvSpPr>
        <p:spPr>
          <a:xfrm>
            <a:off x="2543175" y="1809750"/>
            <a:ext cx="1762125" cy="419100"/>
          </a:xfrm>
          <a:prstGeom prst="rect">
            <a:avLst/>
          </a:prstGeom>
          <a:noFill/>
          <a:ln w="0">
            <a:noFill/>
          </a:ln>
        </p:spPr>
        <p:txBody>
          <a:bodyPr wrap="square" lIns="57150" tIns="28575" rIns="57150" bIns="28575" anchor="ctr">
            <a:normAutofit/>
          </a:bodyPr>
          <a:lstStyle/>
          <a:p>
            <a:pPr algn="ctr">
              <a:lnSpc>
                <a:spcPct val="96000"/>
              </a:lnSpc>
              <a:buNone/>
              <a:defRPr sz="1200"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Roller</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25" name="矩形 24"/>
          <p:cNvSpPr>
            <a:spLocks noGrp="1"/>
          </p:cNvSpPr>
          <p:nvPr/>
        </p:nvSpPr>
        <p:spPr>
          <a:xfrm>
            <a:off x="2676525" y="2343150"/>
            <a:ext cx="1495425" cy="228600"/>
          </a:xfrm>
          <a:prstGeom prst="rect">
            <a:avLst/>
          </a:prstGeom>
          <a:noFill/>
          <a:ln w="0">
            <a:noFill/>
          </a:ln>
        </p:spPr>
        <p:txBody>
          <a:bodyPr wrap="square" lIns="57150" tIns="28575" rIns="57150" bIns="28575" anchor="ctr">
            <a:noAutofit/>
          </a:bodyPr>
          <a:lstStyle/>
          <a:p>
            <a:pPr algn="ctr">
              <a:lnSpc>
                <a:spcPct val="96000"/>
              </a:lnSpc>
              <a:buNone/>
              <a:defRPr sz="900" b="1" i="0">
                <a:solidFill>
                  <a:srgbClr val="29D4E4"/>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Advantages</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26" name="矩形 25"/>
          <p:cNvSpPr>
            <a:spLocks noGrp="1"/>
          </p:cNvSpPr>
          <p:nvPr/>
        </p:nvSpPr>
        <p:spPr>
          <a:xfrm>
            <a:off x="2676525" y="2609850"/>
            <a:ext cx="1495425" cy="619125"/>
          </a:xfrm>
          <a:prstGeom prst="rect">
            <a:avLst/>
          </a:prstGeom>
          <a:noFill/>
          <a:ln w="0">
            <a:noFill/>
          </a:ln>
        </p:spPr>
        <p:txBody>
          <a:bodyPr wrap="square" lIns="57150" tIns="28575" rIns="57150" bIns="28575" anchor="ctr">
            <a:noAutofit/>
          </a:bodyPr>
          <a:lstStyle/>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Rolling friction</a:t>
            </a:r>
            <a:endParaRPr sz="1400" b="0" i="0">
              <a:solidFill>
                <a:schemeClr val="tx1"/>
              </a:solidFill>
              <a:latin typeface="微软雅黑" panose="020B0503020204020204" pitchFamily="34" charset="-122"/>
              <a:ea typeface="微软雅黑" panose="020B0503020204020204" pitchFamily="34" charset="-122"/>
              <a:cs typeface="DejaVu Sans"/>
            </a:endParaRPr>
          </a:p>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Lower contact wear</a:t>
            </a:r>
            <a:endParaRPr sz="1400" b="0" i="0">
              <a:solidFill>
                <a:schemeClr val="tx1"/>
              </a:solidFill>
              <a:latin typeface="微软雅黑" panose="020B0503020204020204" pitchFamily="34" charset="-122"/>
              <a:ea typeface="微软雅黑" panose="020B0503020204020204" pitchFamily="34" charset="-122"/>
              <a:cs typeface="DejaVu Sans"/>
            </a:endParaRPr>
          </a:p>
        </p:txBody>
      </p:sp>
      <p:sp>
        <p:nvSpPr>
          <p:cNvPr id="27" name="直接连接符 26"/>
          <p:cNvSpPr>
            <a:spLocks noGrp="1"/>
          </p:cNvSpPr>
          <p:nvPr/>
        </p:nvSpPr>
        <p:spPr>
          <a:xfrm>
            <a:off x="2714625" y="3295650"/>
            <a:ext cx="1419225" cy="0"/>
          </a:xfrm>
          <a:prstGeom prst="line">
            <a:avLst/>
          </a:prstGeom>
          <a:noFill/>
          <a:ln w="9525">
            <a:solidFill>
              <a:srgbClr val="29D4E4">
                <a:alpha val="35000"/>
              </a:srgbClr>
            </a:solidFill>
            <a:prstDash val="solid"/>
          </a:ln>
        </p:spPr>
      </p:sp>
      <p:sp>
        <p:nvSpPr>
          <p:cNvPr id="28" name="矩形 27"/>
          <p:cNvSpPr>
            <a:spLocks noGrp="1"/>
          </p:cNvSpPr>
          <p:nvPr/>
        </p:nvSpPr>
        <p:spPr>
          <a:xfrm>
            <a:off x="2657475" y="3352800"/>
            <a:ext cx="1533525" cy="219075"/>
          </a:xfrm>
          <a:prstGeom prst="rect">
            <a:avLst/>
          </a:prstGeom>
          <a:noFill/>
          <a:ln w="0">
            <a:noFill/>
          </a:ln>
        </p:spPr>
        <p:txBody>
          <a:bodyPr wrap="square" lIns="57150" tIns="28575" rIns="57150" bIns="28575" anchor="ctr">
            <a:noAutofit/>
          </a:bodyPr>
          <a:lstStyle/>
          <a:p>
            <a:pPr algn="ctr">
              <a:lnSpc>
                <a:spcPct val="96000"/>
              </a:lnSpc>
              <a:buNone/>
              <a:defRPr sz="790" b="1" i="0">
                <a:solidFill>
                  <a:srgbClr val="A9C7D9"/>
                </a:solidFill>
                <a:latin typeface="DejaVu Sans"/>
                <a:ea typeface="DejaVu Sans"/>
                <a:cs typeface="DejaVu Sans"/>
              </a:defRPr>
            </a:pPr>
            <a:r>
              <a:rPr sz="1000" b="1" i="0">
                <a:solidFill>
                  <a:schemeClr val="tx1"/>
                </a:solidFill>
                <a:latin typeface="微软雅黑" panose="020B0503020204020204" pitchFamily="34" charset="-122"/>
                <a:ea typeface="微软雅黑" panose="020B0503020204020204" pitchFamily="34" charset="-122"/>
                <a:cs typeface="DejaVu Sans"/>
              </a:rPr>
              <a:t>Limitation / condition</a:t>
            </a:r>
            <a:endParaRPr sz="1000" b="1" i="0">
              <a:solidFill>
                <a:schemeClr val="tx1"/>
              </a:solidFill>
              <a:latin typeface="微软雅黑" panose="020B0503020204020204" pitchFamily="34" charset="-122"/>
              <a:ea typeface="微软雅黑" panose="020B0503020204020204" pitchFamily="34" charset="-122"/>
              <a:cs typeface="DejaVu Sans"/>
            </a:endParaRPr>
          </a:p>
        </p:txBody>
      </p:sp>
      <p:sp>
        <p:nvSpPr>
          <p:cNvPr id="29" name="矩形 28"/>
          <p:cNvSpPr>
            <a:spLocks noGrp="1"/>
          </p:cNvSpPr>
          <p:nvPr/>
        </p:nvSpPr>
        <p:spPr>
          <a:xfrm>
            <a:off x="2657475" y="3581400"/>
            <a:ext cx="1533525" cy="323850"/>
          </a:xfrm>
          <a:prstGeom prst="rect">
            <a:avLst/>
          </a:prstGeom>
          <a:noFill/>
          <a:ln w="0">
            <a:noFill/>
          </a:ln>
        </p:spPr>
        <p:txBody>
          <a:bodyPr wrap="square" lIns="57150" tIns="28575" rIns="57150" bIns="28575" anchor="ctr"/>
          <a:lstStyle/>
          <a:p>
            <a:pPr algn="ctr">
              <a:lnSpc>
                <a:spcPct val="96000"/>
              </a:lnSpc>
              <a:buNone/>
              <a:defRPr sz="940" b="1" i="0">
                <a:solidFill>
                  <a:srgbClr val="1386C7"/>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Convex profile: ρ</a:t>
            </a:r>
            <a:r>
              <a:rPr sz="1200" b="1" i="0" baseline="-25000">
                <a:solidFill>
                  <a:schemeClr val="tx1"/>
                </a:solidFill>
                <a:latin typeface="微软雅黑" panose="020B0503020204020204" pitchFamily="34" charset="-122"/>
                <a:ea typeface="微软雅黑" panose="020B0503020204020204" pitchFamily="34" charset="-122"/>
                <a:cs typeface="DejaVu Sans"/>
              </a:rPr>
              <a:t>min</a:t>
            </a:r>
            <a:r>
              <a:rPr sz="1200" b="1" i="0">
                <a:solidFill>
                  <a:schemeClr val="tx1"/>
                </a:solidFill>
                <a:latin typeface="微软雅黑" panose="020B0503020204020204" pitchFamily="34" charset="-122"/>
                <a:ea typeface="微软雅黑" panose="020B0503020204020204" pitchFamily="34" charset="-122"/>
                <a:cs typeface="DejaVu Sans"/>
              </a:rPr>
              <a:t> &gt; r</a:t>
            </a:r>
            <a:r>
              <a:rPr sz="1200" b="1" i="0" baseline="-25000">
                <a:solidFill>
                  <a:schemeClr val="tx1"/>
                </a:solidFill>
                <a:latin typeface="微软雅黑" panose="020B0503020204020204" pitchFamily="34" charset="-122"/>
                <a:ea typeface="微软雅黑" panose="020B0503020204020204" pitchFamily="34" charset="-122"/>
                <a:cs typeface="DejaVu Sans"/>
              </a:rPr>
              <a:t>r</a:t>
            </a:r>
            <a:endParaRPr sz="1200" b="1" i="0" baseline="-25000">
              <a:solidFill>
                <a:schemeClr val="tx1"/>
              </a:solidFill>
              <a:latin typeface="微软雅黑" panose="020B0503020204020204" pitchFamily="34" charset="-122"/>
              <a:ea typeface="微软雅黑" panose="020B0503020204020204" pitchFamily="34" charset="-122"/>
              <a:cs typeface="DejaVu Sans"/>
            </a:endParaRPr>
          </a:p>
        </p:txBody>
      </p:sp>
      <p:sp>
        <p:nvSpPr>
          <p:cNvPr id="30" name="圆角矩形 29"/>
          <p:cNvSpPr>
            <a:spLocks noGrp="1"/>
          </p:cNvSpPr>
          <p:nvPr/>
        </p:nvSpPr>
        <p:spPr>
          <a:xfrm>
            <a:off x="4495800" y="1809750"/>
            <a:ext cx="1762125" cy="2152650"/>
          </a:xfrm>
          <a:prstGeom prst="roundRect">
            <a:avLst>
              <a:gd name="adj" fmla="val 4324"/>
            </a:avLst>
          </a:prstGeom>
          <a:noFill/>
          <a:ln w="11430">
            <a:solidFill>
              <a:srgbClr val="6FD3AE">
                <a:alpha val="70000"/>
              </a:srgbClr>
            </a:solidFill>
            <a:prstDash val="solid"/>
          </a:ln>
          <a:extLst>
            <a:ext uri="{909E8E84-426E-40DD-AFC4-6F175D3DCCD1}">
              <a14:hiddenFill xmlns:a14="http://schemas.microsoft.com/office/drawing/2010/main">
                <a:solidFill>
                  <a:srgbClr val="082843">
                    <a:alpha val="94000"/>
                  </a:srgbClr>
                </a:solidFill>
              </a14:hiddenFill>
            </a:ext>
          </a:extLst>
        </p:spPr>
      </p:sp>
      <p:sp>
        <p:nvSpPr>
          <p:cNvPr id="31" name="圆角矩形 30"/>
          <p:cNvSpPr>
            <a:spLocks noGrp="1"/>
          </p:cNvSpPr>
          <p:nvPr/>
        </p:nvSpPr>
        <p:spPr>
          <a:xfrm>
            <a:off x="4495800" y="1809750"/>
            <a:ext cx="1762125" cy="419100"/>
          </a:xfrm>
          <a:prstGeom prst="roundRect">
            <a:avLst>
              <a:gd name="adj" fmla="val 18182"/>
            </a:avLst>
          </a:prstGeom>
          <a:solidFill>
            <a:srgbClr val="6FD3AE">
              <a:alpha val="92000"/>
            </a:srgbClr>
          </a:solidFill>
          <a:ln w="0">
            <a:noFill/>
          </a:ln>
        </p:spPr>
      </p:sp>
      <p:sp>
        <p:nvSpPr>
          <p:cNvPr id="32" name="矩形 31"/>
          <p:cNvSpPr>
            <a:spLocks noGrp="1"/>
          </p:cNvSpPr>
          <p:nvPr/>
        </p:nvSpPr>
        <p:spPr>
          <a:xfrm>
            <a:off x="4495800" y="1809750"/>
            <a:ext cx="1762125" cy="419100"/>
          </a:xfrm>
          <a:prstGeom prst="rect">
            <a:avLst/>
          </a:prstGeom>
          <a:noFill/>
          <a:ln w="0">
            <a:noFill/>
          </a:ln>
        </p:spPr>
        <p:txBody>
          <a:bodyPr wrap="square" lIns="57150" tIns="28575" rIns="57150" bIns="28575" anchor="ctr">
            <a:normAutofit/>
          </a:bodyPr>
          <a:lstStyle/>
          <a:p>
            <a:pPr algn="ctr">
              <a:lnSpc>
                <a:spcPct val="96000"/>
              </a:lnSpc>
              <a:buNone/>
              <a:defRPr sz="1200"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Flat-faced</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33" name="矩形 32"/>
          <p:cNvSpPr>
            <a:spLocks noGrp="1"/>
          </p:cNvSpPr>
          <p:nvPr/>
        </p:nvSpPr>
        <p:spPr>
          <a:xfrm>
            <a:off x="4629150" y="2343150"/>
            <a:ext cx="1495425" cy="228600"/>
          </a:xfrm>
          <a:prstGeom prst="rect">
            <a:avLst/>
          </a:prstGeom>
          <a:noFill/>
          <a:ln w="0">
            <a:noFill/>
          </a:ln>
        </p:spPr>
        <p:txBody>
          <a:bodyPr wrap="square" lIns="57150" tIns="28575" rIns="57150" bIns="28575" anchor="ctr">
            <a:noAutofit/>
          </a:bodyPr>
          <a:lstStyle/>
          <a:p>
            <a:pPr algn="ctr">
              <a:lnSpc>
                <a:spcPct val="96000"/>
              </a:lnSpc>
              <a:buNone/>
              <a:defRPr sz="900" b="1" i="0">
                <a:solidFill>
                  <a:srgbClr val="29D4E4"/>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Advantages</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34" name="矩形 33"/>
          <p:cNvSpPr>
            <a:spLocks noGrp="1"/>
          </p:cNvSpPr>
          <p:nvPr/>
        </p:nvSpPr>
        <p:spPr>
          <a:xfrm>
            <a:off x="4629150" y="2609850"/>
            <a:ext cx="1495425" cy="619125"/>
          </a:xfrm>
          <a:prstGeom prst="rect">
            <a:avLst/>
          </a:prstGeom>
          <a:noFill/>
          <a:ln w="0">
            <a:noFill/>
          </a:ln>
        </p:spPr>
        <p:txBody>
          <a:bodyPr wrap="square" lIns="57150" tIns="28575" rIns="57150" bIns="28575" anchor="ctr">
            <a:noAutofit/>
          </a:bodyPr>
          <a:lstStyle/>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Pressure angle α = 0</a:t>
            </a:r>
            <a:endParaRPr sz="1400" b="0" i="0">
              <a:solidFill>
                <a:schemeClr val="tx1"/>
              </a:solidFill>
              <a:latin typeface="微软雅黑" panose="020B0503020204020204" pitchFamily="34" charset="-122"/>
              <a:ea typeface="微软雅黑" panose="020B0503020204020204" pitchFamily="34" charset="-122"/>
              <a:cs typeface="DejaVu Sans"/>
            </a:endParaRPr>
          </a:p>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Compact contact</a:t>
            </a:r>
            <a:endParaRPr sz="1400" b="0" i="0">
              <a:solidFill>
                <a:schemeClr val="tx1"/>
              </a:solidFill>
              <a:latin typeface="微软雅黑" panose="020B0503020204020204" pitchFamily="34" charset="-122"/>
              <a:ea typeface="微软雅黑" panose="020B0503020204020204" pitchFamily="34" charset="-122"/>
              <a:cs typeface="DejaVu Sans"/>
            </a:endParaRPr>
          </a:p>
        </p:txBody>
      </p:sp>
      <p:sp>
        <p:nvSpPr>
          <p:cNvPr id="35" name="直接连接符 34"/>
          <p:cNvSpPr>
            <a:spLocks noGrp="1"/>
          </p:cNvSpPr>
          <p:nvPr/>
        </p:nvSpPr>
        <p:spPr>
          <a:xfrm>
            <a:off x="4667250" y="3295650"/>
            <a:ext cx="1419225" cy="0"/>
          </a:xfrm>
          <a:prstGeom prst="line">
            <a:avLst/>
          </a:prstGeom>
          <a:noFill/>
          <a:ln w="9525">
            <a:solidFill>
              <a:srgbClr val="29D4E4">
                <a:alpha val="35000"/>
              </a:srgbClr>
            </a:solidFill>
            <a:prstDash val="solid"/>
          </a:ln>
        </p:spPr>
      </p:sp>
      <p:sp>
        <p:nvSpPr>
          <p:cNvPr id="36" name="矩形 35"/>
          <p:cNvSpPr>
            <a:spLocks noGrp="1"/>
          </p:cNvSpPr>
          <p:nvPr/>
        </p:nvSpPr>
        <p:spPr>
          <a:xfrm>
            <a:off x="4610100" y="3352800"/>
            <a:ext cx="1533525" cy="219075"/>
          </a:xfrm>
          <a:prstGeom prst="rect">
            <a:avLst/>
          </a:prstGeom>
          <a:noFill/>
          <a:ln w="0">
            <a:noFill/>
          </a:ln>
        </p:spPr>
        <p:txBody>
          <a:bodyPr wrap="square" lIns="57150" tIns="28575" rIns="57150" bIns="28575" anchor="ctr">
            <a:noAutofit/>
          </a:bodyPr>
          <a:lstStyle/>
          <a:p>
            <a:pPr algn="ctr">
              <a:lnSpc>
                <a:spcPct val="96000"/>
              </a:lnSpc>
              <a:buNone/>
              <a:defRPr sz="790" b="1" i="0">
                <a:solidFill>
                  <a:srgbClr val="A9C7D9"/>
                </a:solidFill>
                <a:latin typeface="DejaVu Sans"/>
                <a:ea typeface="DejaVu Sans"/>
                <a:cs typeface="DejaVu Sans"/>
              </a:defRPr>
            </a:pPr>
            <a:r>
              <a:rPr sz="1000" b="1" i="0">
                <a:solidFill>
                  <a:schemeClr val="tx1"/>
                </a:solidFill>
                <a:latin typeface="微软雅黑" panose="020B0503020204020204" pitchFamily="34" charset="-122"/>
                <a:ea typeface="微软雅黑" panose="020B0503020204020204" pitchFamily="34" charset="-122"/>
                <a:cs typeface="DejaVu Sans"/>
              </a:rPr>
              <a:t>Limitation / condition</a:t>
            </a:r>
            <a:endParaRPr sz="1000" b="1" i="0">
              <a:solidFill>
                <a:schemeClr val="tx1"/>
              </a:solidFill>
              <a:latin typeface="微软雅黑" panose="020B0503020204020204" pitchFamily="34" charset="-122"/>
              <a:ea typeface="微软雅黑" panose="020B0503020204020204" pitchFamily="34" charset="-122"/>
              <a:cs typeface="DejaVu Sans"/>
            </a:endParaRPr>
          </a:p>
        </p:txBody>
      </p:sp>
      <p:sp>
        <p:nvSpPr>
          <p:cNvPr id="37" name="矩形 36"/>
          <p:cNvSpPr>
            <a:spLocks noGrp="1"/>
          </p:cNvSpPr>
          <p:nvPr/>
        </p:nvSpPr>
        <p:spPr>
          <a:xfrm>
            <a:off x="4495800" y="3571875"/>
            <a:ext cx="1762125" cy="323850"/>
          </a:xfrm>
          <a:prstGeom prst="rect">
            <a:avLst/>
          </a:prstGeom>
          <a:noFill/>
          <a:ln w="0">
            <a:noFill/>
          </a:ln>
        </p:spPr>
        <p:txBody>
          <a:bodyPr wrap="square" lIns="57150" tIns="28575" rIns="57150" bIns="28575" anchor="ctr"/>
          <a:lstStyle/>
          <a:p>
            <a:pPr algn="ctr">
              <a:lnSpc>
                <a:spcPct val="96000"/>
              </a:lnSpc>
              <a:buNone/>
              <a:defRPr sz="940" b="1" i="0">
                <a:solidFill>
                  <a:srgbClr val="6FD3AE"/>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Concave profiles may distort motion</a:t>
            </a:r>
            <a:endParaRPr sz="1200" b="1" i="0">
              <a:solidFill>
                <a:schemeClr val="tx1"/>
              </a:solidFill>
              <a:latin typeface="微软雅黑" panose="020B0503020204020204" pitchFamily="34" charset="-122"/>
              <a:ea typeface="微软雅黑" panose="020B0503020204020204" pitchFamily="34" charset="-122"/>
              <a:cs typeface="DejaVu Sans"/>
            </a:endParaRPr>
          </a:p>
        </p:txBody>
      </p:sp>
      <p:sp>
        <p:nvSpPr>
          <p:cNvPr id="38" name="圆角矩形 37"/>
          <p:cNvSpPr>
            <a:spLocks noGrp="1"/>
          </p:cNvSpPr>
          <p:nvPr/>
        </p:nvSpPr>
        <p:spPr>
          <a:xfrm>
            <a:off x="381000" y="4457700"/>
            <a:ext cx="6191250" cy="1762125"/>
          </a:xfrm>
          <a:prstGeom prst="roundRect">
            <a:avLst>
              <a:gd name="adj" fmla="val 5405"/>
            </a:avLst>
          </a:prstGeom>
          <a:noFill/>
          <a:ln w="10478">
            <a:solidFill>
              <a:srgbClr val="29D4E4">
                <a:alpha val="45000"/>
              </a:srgbClr>
            </a:solidFill>
            <a:prstDash val="solid"/>
          </a:ln>
          <a:extLst>
            <a:ext uri="{909E8E84-426E-40DD-AFC4-6F175D3DCCD1}">
              <a14:hiddenFill xmlns:a14="http://schemas.microsoft.com/office/drawing/2010/main">
                <a:solidFill>
                  <a:srgbClr val="031427">
                    <a:alpha val="93000"/>
                  </a:srgbClr>
                </a:solidFill>
              </a14:hiddenFill>
            </a:ext>
          </a:extLst>
        </p:spPr>
      </p:sp>
      <p:sp>
        <p:nvSpPr>
          <p:cNvPr id="39" name="椭圆 38"/>
          <p:cNvSpPr>
            <a:spLocks noGrp="1"/>
          </p:cNvSpPr>
          <p:nvPr/>
        </p:nvSpPr>
        <p:spPr>
          <a:xfrm>
            <a:off x="590550" y="4610100"/>
            <a:ext cx="361950" cy="361950"/>
          </a:xfrm>
          <a:prstGeom prst="ellipse">
            <a:avLst/>
          </a:prstGeom>
          <a:solidFill>
            <a:srgbClr val="29D4E4"/>
          </a:solidFill>
          <a:ln w="0">
            <a:noFill/>
          </a:ln>
        </p:spPr>
      </p:sp>
      <p:sp>
        <p:nvSpPr>
          <p:cNvPr id="40" name="矩形 39"/>
          <p:cNvSpPr>
            <a:spLocks noGrp="1"/>
          </p:cNvSpPr>
          <p:nvPr/>
        </p:nvSpPr>
        <p:spPr>
          <a:xfrm>
            <a:off x="590550" y="4610100"/>
            <a:ext cx="361950" cy="361950"/>
          </a:xfrm>
          <a:prstGeom prst="rect">
            <a:avLst/>
          </a:prstGeom>
          <a:noFill/>
          <a:ln w="0">
            <a:noFill/>
          </a:ln>
        </p:spPr>
        <p:txBody>
          <a:bodyPr wrap="square" lIns="0" tIns="0" rIns="0" bIns="0" anchor="ctr">
            <a:normAutofit/>
          </a:bodyPr>
          <a:lstStyle/>
          <a:p>
            <a:pPr algn="ctr">
              <a:lnSpc>
                <a:spcPct val="96000"/>
              </a:lnSpc>
              <a:buNone/>
              <a:defRPr sz="1125" b="1" i="0">
                <a:solidFill>
                  <a:srgbClr val="04172B"/>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4</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41" name="矩形 40"/>
          <p:cNvSpPr>
            <a:spLocks noGrp="1"/>
          </p:cNvSpPr>
          <p:nvPr/>
        </p:nvSpPr>
        <p:spPr>
          <a:xfrm>
            <a:off x="1095375" y="4572000"/>
            <a:ext cx="4953000" cy="323850"/>
          </a:xfrm>
          <a:prstGeom prst="rect">
            <a:avLst/>
          </a:prstGeom>
          <a:noFill/>
          <a:ln w="0">
            <a:noFill/>
          </a:ln>
        </p:spPr>
        <p:txBody>
          <a:bodyPr wrap="square" lIns="57150" tIns="28575" rIns="57150" bIns="28575" anchor="ctr">
            <a:noAutofit/>
          </a:bodyPr>
          <a:lstStyle/>
          <a:p>
            <a:pPr algn="l">
              <a:lnSpc>
                <a:spcPct val="96000"/>
              </a:lnSpc>
              <a:buNone/>
              <a:defRPr sz="1315"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What is closure of a kinematic pair?</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42" name="矩形 41"/>
          <p:cNvSpPr>
            <a:spLocks noGrp="1"/>
          </p:cNvSpPr>
          <p:nvPr/>
        </p:nvSpPr>
        <p:spPr>
          <a:xfrm>
            <a:off x="714375" y="4981575"/>
            <a:ext cx="5429250" cy="304800"/>
          </a:xfrm>
          <a:prstGeom prst="rect">
            <a:avLst/>
          </a:prstGeom>
          <a:noFill/>
          <a:ln w="0">
            <a:noFill/>
          </a:ln>
        </p:spPr>
        <p:txBody>
          <a:bodyPr wrap="square" lIns="57150" tIns="28575" rIns="57150" bIns="28575" anchor="ctr">
            <a:noAutofit/>
          </a:bodyPr>
          <a:lstStyle/>
          <a:p>
            <a:pPr algn="ctr">
              <a:lnSpc>
                <a:spcPct val="96000"/>
              </a:lnSpc>
              <a:buNone/>
              <a:defRPr sz="1090" b="0" i="0">
                <a:solidFill>
                  <a:srgbClr val="DDF7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The two members remain in continuous contact throughout the motion.</a:t>
            </a:r>
            <a:endParaRPr sz="1400" b="0" i="0">
              <a:solidFill>
                <a:schemeClr val="tx1"/>
              </a:solidFill>
              <a:latin typeface="微软雅黑" panose="020B0503020204020204" pitchFamily="34" charset="-122"/>
              <a:ea typeface="微软雅黑" panose="020B0503020204020204" pitchFamily="34" charset="-122"/>
              <a:cs typeface="DejaVu Sans"/>
            </a:endParaRPr>
          </a:p>
        </p:txBody>
      </p:sp>
      <p:sp>
        <p:nvSpPr>
          <p:cNvPr id="43" name="圆角矩形 42"/>
          <p:cNvSpPr>
            <a:spLocks noGrp="1"/>
          </p:cNvSpPr>
          <p:nvPr/>
        </p:nvSpPr>
        <p:spPr>
          <a:xfrm>
            <a:off x="714375" y="5448300"/>
            <a:ext cx="2571750" cy="523875"/>
          </a:xfrm>
          <a:prstGeom prst="roundRect">
            <a:avLst>
              <a:gd name="adj" fmla="val 12727"/>
            </a:avLst>
          </a:prstGeom>
          <a:noFill/>
          <a:ln w="9525">
            <a:solidFill>
              <a:srgbClr val="F353D0">
                <a:alpha val="75000"/>
              </a:srgbClr>
            </a:solidFill>
            <a:prstDash val="solid"/>
          </a:ln>
          <a:extLst>
            <a:ext uri="{909E8E84-426E-40DD-AFC4-6F175D3DCCD1}">
              <a14:hiddenFill xmlns:a14="http://schemas.microsoft.com/office/drawing/2010/main">
                <a:solidFill>
                  <a:srgbClr val="0A3558">
                    <a:alpha val="95000"/>
                  </a:srgbClr>
                </a:solidFill>
              </a14:hiddenFill>
            </a:ext>
          </a:extLst>
        </p:spPr>
      </p:sp>
      <p:sp>
        <p:nvSpPr>
          <p:cNvPr id="44" name="矩形 43"/>
          <p:cNvSpPr>
            <a:spLocks noGrp="1"/>
          </p:cNvSpPr>
          <p:nvPr/>
        </p:nvSpPr>
        <p:spPr>
          <a:xfrm>
            <a:off x="828675" y="5495925"/>
            <a:ext cx="2343150" cy="428625"/>
          </a:xfrm>
          <a:prstGeom prst="rect">
            <a:avLst/>
          </a:prstGeom>
          <a:noFill/>
          <a:ln w="0">
            <a:noFill/>
          </a:ln>
        </p:spPr>
        <p:txBody>
          <a:bodyPr wrap="square" lIns="57150" tIns="28575" rIns="57150" bIns="28575" anchor="ctr">
            <a:noAutofit/>
          </a:bodyPr>
          <a:lstStyle/>
          <a:p>
            <a:pPr algn="ctr">
              <a:lnSpc>
                <a:spcPct val="96000"/>
              </a:lnSpc>
              <a:buNone/>
              <a:defRPr sz="940" b="1" i="0">
                <a:solidFill>
                  <a:srgbClr val="FFFFFF"/>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FORCE CLOSURE</a:t>
            </a:r>
            <a:endParaRPr sz="1200" b="1" i="0">
              <a:solidFill>
                <a:schemeClr val="tx1"/>
              </a:solidFill>
              <a:latin typeface="微软雅黑" panose="020B0503020204020204" pitchFamily="34" charset="-122"/>
              <a:ea typeface="微软雅黑" panose="020B0503020204020204" pitchFamily="34" charset="-122"/>
              <a:cs typeface="DejaVu Sans"/>
            </a:endParaRPr>
          </a:p>
          <a:p>
            <a:pPr algn="ctr">
              <a:lnSpc>
                <a:spcPct val="96000"/>
              </a:lnSpc>
              <a:buNone/>
              <a:defRPr sz="940" b="1" i="0">
                <a:solidFill>
                  <a:srgbClr val="FFFFFF"/>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Gravity · spring · magnetic force</a:t>
            </a:r>
            <a:endParaRPr sz="1200" b="1" i="0">
              <a:solidFill>
                <a:schemeClr val="tx1"/>
              </a:solidFill>
              <a:latin typeface="微软雅黑" panose="020B0503020204020204" pitchFamily="34" charset="-122"/>
              <a:ea typeface="微软雅黑" panose="020B0503020204020204" pitchFamily="34" charset="-122"/>
              <a:cs typeface="DejaVu Sans"/>
            </a:endParaRPr>
          </a:p>
        </p:txBody>
      </p:sp>
      <p:sp>
        <p:nvSpPr>
          <p:cNvPr id="45" name="圆角矩形 44"/>
          <p:cNvSpPr>
            <a:spLocks noGrp="1"/>
          </p:cNvSpPr>
          <p:nvPr/>
        </p:nvSpPr>
        <p:spPr>
          <a:xfrm>
            <a:off x="3543300" y="5448300"/>
            <a:ext cx="2571750" cy="523875"/>
          </a:xfrm>
          <a:prstGeom prst="roundRect">
            <a:avLst>
              <a:gd name="adj" fmla="val 12727"/>
            </a:avLst>
          </a:prstGeom>
          <a:noFill/>
          <a:ln w="9525">
            <a:solidFill>
              <a:srgbClr val="29D4E4">
                <a:alpha val="75000"/>
              </a:srgbClr>
            </a:solidFill>
            <a:prstDash val="solid"/>
          </a:ln>
          <a:extLst>
            <a:ext uri="{909E8E84-426E-40DD-AFC4-6F175D3DCCD1}">
              <a14:hiddenFill xmlns:a14="http://schemas.microsoft.com/office/drawing/2010/main">
                <a:solidFill>
                  <a:srgbClr val="0A3558">
                    <a:alpha val="95000"/>
                  </a:srgbClr>
                </a:solidFill>
              </a14:hiddenFill>
            </a:ext>
          </a:extLst>
        </p:spPr>
      </p:sp>
      <p:sp>
        <p:nvSpPr>
          <p:cNvPr id="46" name="矩形 45"/>
          <p:cNvSpPr>
            <a:spLocks noGrp="1"/>
          </p:cNvSpPr>
          <p:nvPr/>
        </p:nvSpPr>
        <p:spPr>
          <a:xfrm>
            <a:off x="3657600" y="5495925"/>
            <a:ext cx="2343150" cy="428625"/>
          </a:xfrm>
          <a:prstGeom prst="rect">
            <a:avLst/>
          </a:prstGeom>
          <a:noFill/>
          <a:ln w="0">
            <a:noFill/>
          </a:ln>
        </p:spPr>
        <p:txBody>
          <a:bodyPr wrap="square" lIns="57150" tIns="28575" rIns="57150" bIns="28575" anchor="ctr"/>
          <a:lstStyle/>
          <a:p>
            <a:pPr algn="ctr">
              <a:lnSpc>
                <a:spcPct val="96000"/>
              </a:lnSpc>
              <a:buNone/>
              <a:defRPr sz="940" b="1" i="0">
                <a:solidFill>
                  <a:srgbClr val="FFFFFF"/>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FORM CLOSURE</a:t>
            </a:r>
            <a:endParaRPr sz="1200" b="1" i="0">
              <a:solidFill>
                <a:schemeClr val="tx1"/>
              </a:solidFill>
              <a:latin typeface="微软雅黑" panose="020B0503020204020204" pitchFamily="34" charset="-122"/>
              <a:ea typeface="微软雅黑" panose="020B0503020204020204" pitchFamily="34" charset="-122"/>
              <a:cs typeface="DejaVu Sans"/>
            </a:endParaRPr>
          </a:p>
          <a:p>
            <a:pPr algn="ctr">
              <a:lnSpc>
                <a:spcPct val="96000"/>
              </a:lnSpc>
              <a:buNone/>
              <a:defRPr sz="940" b="1" i="0">
                <a:solidFill>
                  <a:srgbClr val="FFFFFF"/>
                </a:solidFill>
                <a:latin typeface="DejaVu Sans"/>
                <a:ea typeface="DejaVu Sans"/>
                <a:cs typeface="DejaVu Sans"/>
              </a:defRPr>
            </a:pPr>
            <a:r>
              <a:rPr sz="1200" b="1" i="0">
                <a:solidFill>
                  <a:schemeClr val="tx1"/>
                </a:solidFill>
                <a:latin typeface="微软雅黑" panose="020B0503020204020204" pitchFamily="34" charset="-122"/>
                <a:ea typeface="微软雅黑" panose="020B0503020204020204" pitchFamily="34" charset="-122"/>
                <a:cs typeface="DejaVu Sans"/>
              </a:rPr>
              <a:t>Geometric constraint maintains contact</a:t>
            </a:r>
            <a:endParaRPr sz="1200" b="1" i="0">
              <a:solidFill>
                <a:schemeClr val="tx1"/>
              </a:solidFill>
              <a:latin typeface="微软雅黑" panose="020B0503020204020204" pitchFamily="34" charset="-122"/>
              <a:ea typeface="微软雅黑" panose="020B0503020204020204" pitchFamily="34" charset="-122"/>
              <a:cs typeface="DejaVu Sans"/>
            </a:endParaRPr>
          </a:p>
        </p:txBody>
      </p:sp>
      <p:sp>
        <p:nvSpPr>
          <p:cNvPr id="53" name="圆角矩形 52"/>
          <p:cNvSpPr>
            <a:spLocks noGrp="1"/>
          </p:cNvSpPr>
          <p:nvPr/>
        </p:nvSpPr>
        <p:spPr>
          <a:xfrm>
            <a:off x="6858000" y="4457700"/>
            <a:ext cx="4953000" cy="1762125"/>
          </a:xfrm>
          <a:prstGeom prst="roundRect">
            <a:avLst>
              <a:gd name="adj" fmla="val 5405"/>
            </a:avLst>
          </a:prstGeom>
          <a:noFill/>
          <a:ln w="10478">
            <a:solidFill>
              <a:srgbClr val="29D4E4">
                <a:alpha val="55000"/>
              </a:srgbClr>
            </a:solidFill>
            <a:prstDash val="solid"/>
          </a:ln>
          <a:extLst>
            <a:ext uri="{909E8E84-426E-40DD-AFC4-6F175D3DCCD1}">
              <a14:hiddenFill xmlns:a14="http://schemas.microsoft.com/office/drawing/2010/main">
                <a:solidFill>
                  <a:srgbClr val="031427">
                    <a:alpha val="84000"/>
                  </a:srgbClr>
                </a:solidFill>
              </a14:hiddenFill>
            </a:ext>
          </a:extLst>
        </p:spPr>
      </p:sp>
      <p:sp>
        <p:nvSpPr>
          <p:cNvPr id="54" name="椭圆 53"/>
          <p:cNvSpPr>
            <a:spLocks noGrp="1"/>
          </p:cNvSpPr>
          <p:nvPr/>
        </p:nvSpPr>
        <p:spPr>
          <a:xfrm>
            <a:off x="7067550" y="4629150"/>
            <a:ext cx="361950" cy="361950"/>
          </a:xfrm>
          <a:prstGeom prst="ellipse">
            <a:avLst/>
          </a:prstGeom>
          <a:solidFill>
            <a:srgbClr val="29D4E4"/>
          </a:solidFill>
          <a:ln w="0">
            <a:noFill/>
          </a:ln>
        </p:spPr>
      </p:sp>
      <p:sp>
        <p:nvSpPr>
          <p:cNvPr id="55" name="矩形 54"/>
          <p:cNvSpPr>
            <a:spLocks noGrp="1"/>
          </p:cNvSpPr>
          <p:nvPr/>
        </p:nvSpPr>
        <p:spPr>
          <a:xfrm>
            <a:off x="7067550" y="4629150"/>
            <a:ext cx="361950" cy="361950"/>
          </a:xfrm>
          <a:prstGeom prst="rect">
            <a:avLst/>
          </a:prstGeom>
          <a:noFill/>
          <a:ln w="0">
            <a:noFill/>
          </a:ln>
        </p:spPr>
        <p:txBody>
          <a:bodyPr wrap="square" lIns="0" tIns="0" rIns="0" bIns="0" anchor="ctr">
            <a:normAutofit/>
          </a:bodyPr>
          <a:lstStyle/>
          <a:p>
            <a:pPr algn="ctr">
              <a:lnSpc>
                <a:spcPct val="96000"/>
              </a:lnSpc>
              <a:buNone/>
              <a:defRPr sz="1125" b="1" i="0">
                <a:solidFill>
                  <a:srgbClr val="04172B"/>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5</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56" name="矩形 55"/>
          <p:cNvSpPr>
            <a:spLocks noGrp="1"/>
          </p:cNvSpPr>
          <p:nvPr/>
        </p:nvSpPr>
        <p:spPr>
          <a:xfrm>
            <a:off x="7572375" y="4572000"/>
            <a:ext cx="3857625" cy="285750"/>
          </a:xfrm>
          <a:prstGeom prst="rect">
            <a:avLst/>
          </a:prstGeom>
          <a:noFill/>
          <a:ln w="0">
            <a:noFill/>
          </a:ln>
        </p:spPr>
        <p:txBody>
          <a:bodyPr wrap="square" lIns="57150" tIns="28575" rIns="57150" bIns="28575" anchor="ctr">
            <a:noAutofit/>
          </a:bodyPr>
          <a:lstStyle/>
          <a:p>
            <a:pPr algn="l">
              <a:lnSpc>
                <a:spcPct val="96000"/>
              </a:lnSpc>
              <a:buNone/>
              <a:defRPr sz="1275" b="1" i="0">
                <a:solidFill>
                  <a:srgbClr val="FFFFFF"/>
                </a:solidFill>
                <a:latin typeface="DejaVu Sans"/>
                <a:ea typeface="DejaVu Sans"/>
                <a:cs typeface="DejaVu Sans"/>
              </a:defRPr>
            </a:pPr>
            <a:r>
              <a:rPr sz="1600" b="1" i="0">
                <a:solidFill>
                  <a:schemeClr val="tx1"/>
                </a:solidFill>
                <a:latin typeface="微软雅黑" panose="020B0503020204020204" pitchFamily="34" charset="-122"/>
                <a:ea typeface="微软雅黑" panose="020B0503020204020204" pitchFamily="34" charset="-122"/>
                <a:cs typeface="DejaVu Sans"/>
              </a:rPr>
              <a:t>Driving and driven members</a:t>
            </a:r>
            <a:endParaRPr sz="1600" b="1" i="0">
              <a:solidFill>
                <a:schemeClr val="tx1"/>
              </a:solidFill>
              <a:latin typeface="微软雅黑" panose="020B0503020204020204" pitchFamily="34" charset="-122"/>
              <a:ea typeface="微软雅黑" panose="020B0503020204020204" pitchFamily="34" charset="-122"/>
              <a:cs typeface="DejaVu Sans"/>
            </a:endParaRPr>
          </a:p>
        </p:txBody>
      </p:sp>
      <p:sp>
        <p:nvSpPr>
          <p:cNvPr id="57" name="矩形 56"/>
          <p:cNvSpPr>
            <a:spLocks noGrp="1"/>
          </p:cNvSpPr>
          <p:nvPr/>
        </p:nvSpPr>
        <p:spPr>
          <a:xfrm>
            <a:off x="7191375" y="4953000"/>
            <a:ext cx="4286250" cy="285750"/>
          </a:xfrm>
          <a:prstGeom prst="rect">
            <a:avLst/>
          </a:prstGeom>
          <a:noFill/>
          <a:ln w="0">
            <a:noFill/>
          </a:ln>
        </p:spPr>
        <p:txBody>
          <a:bodyPr wrap="square" lIns="57150" tIns="28575" rIns="57150" bIns="28575" anchor="ctr">
            <a:noAutofit/>
          </a:bodyPr>
          <a:lstStyle/>
          <a:p>
            <a:pPr algn="ctr">
              <a:lnSpc>
                <a:spcPct val="96000"/>
              </a:lnSpc>
              <a:buNone/>
              <a:defRPr sz="1090" b="0" i="0">
                <a:solidFill>
                  <a:srgbClr val="DDF7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Either member may rotate or translate.</a:t>
            </a:r>
            <a:endParaRPr sz="1400" b="0" i="0">
              <a:solidFill>
                <a:schemeClr val="tx1"/>
              </a:solidFill>
              <a:latin typeface="微软雅黑" panose="020B0503020204020204" pitchFamily="34" charset="-122"/>
              <a:ea typeface="微软雅黑" panose="020B0503020204020204" pitchFamily="34" charset="-122"/>
              <a:cs typeface="DejaVu Sans"/>
            </a:endParaRPr>
          </a:p>
        </p:txBody>
      </p:sp>
      <p:sp>
        <p:nvSpPr>
          <p:cNvPr id="58" name="矩形 57"/>
          <p:cNvSpPr>
            <a:spLocks noGrp="1"/>
          </p:cNvSpPr>
          <p:nvPr/>
        </p:nvSpPr>
        <p:spPr>
          <a:xfrm>
            <a:off x="7191375" y="5324475"/>
            <a:ext cx="4286250" cy="247650"/>
          </a:xfrm>
          <a:prstGeom prst="rect">
            <a:avLst/>
          </a:prstGeom>
          <a:noFill/>
          <a:ln w="0">
            <a:noFill/>
          </a:ln>
        </p:spPr>
        <p:txBody>
          <a:bodyPr wrap="square" lIns="57150" tIns="28575" rIns="57150" bIns="28575" anchor="ctr">
            <a:noAutofit/>
          </a:bodyPr>
          <a:lstStyle/>
          <a:p>
            <a:pPr algn="ctr">
              <a:lnSpc>
                <a:spcPct val="96000"/>
              </a:lnSpc>
              <a:buNone/>
              <a:defRPr sz="1050" b="1" i="0">
                <a:solidFill>
                  <a:srgbClr val="29D4E4"/>
                </a:solidFill>
                <a:latin typeface="DejaVu Sans"/>
                <a:ea typeface="DejaVu Sans"/>
                <a:cs typeface="DejaVu Sans"/>
              </a:defRPr>
            </a:pPr>
            <a:r>
              <a:rPr sz="1400" b="1" i="0">
                <a:solidFill>
                  <a:schemeClr val="tx1"/>
                </a:solidFill>
                <a:latin typeface="微软雅黑" panose="020B0503020204020204" pitchFamily="34" charset="-122"/>
                <a:ea typeface="微软雅黑" panose="020B0503020204020204" pitchFamily="34" charset="-122"/>
                <a:cs typeface="DejaVu Sans"/>
              </a:rPr>
              <a:t>Spatial cam advantages</a:t>
            </a:r>
            <a:endParaRPr sz="1400" b="1" i="0">
              <a:solidFill>
                <a:schemeClr val="tx1"/>
              </a:solidFill>
              <a:latin typeface="微软雅黑" panose="020B0503020204020204" pitchFamily="34" charset="-122"/>
              <a:ea typeface="微软雅黑" panose="020B0503020204020204" pitchFamily="34" charset="-122"/>
              <a:cs typeface="DejaVu Sans"/>
            </a:endParaRPr>
          </a:p>
        </p:txBody>
      </p:sp>
      <p:sp>
        <p:nvSpPr>
          <p:cNvPr id="59" name="矩形 58"/>
          <p:cNvSpPr>
            <a:spLocks noGrp="1"/>
          </p:cNvSpPr>
          <p:nvPr/>
        </p:nvSpPr>
        <p:spPr>
          <a:xfrm>
            <a:off x="7191375" y="5591175"/>
            <a:ext cx="4286250" cy="495300"/>
          </a:xfrm>
          <a:prstGeom prst="rect">
            <a:avLst/>
          </a:prstGeom>
          <a:noFill/>
          <a:ln w="0">
            <a:noFill/>
          </a:ln>
        </p:spPr>
        <p:txBody>
          <a:bodyPr wrap="square" lIns="57150" tIns="28575" rIns="57150" bIns="28575" anchor="ctr">
            <a:noAutofit/>
          </a:bodyPr>
          <a:lstStyle/>
          <a:p>
            <a:pPr algn="ctr">
              <a:lnSpc>
                <a:spcPct val="96000"/>
              </a:lnSpc>
              <a:buNone/>
              <a:defRPr sz="1015" b="0" i="0">
                <a:solidFill>
                  <a:srgbClr val="FFFFFF"/>
                </a:solidFill>
                <a:latin typeface="DejaVu Sans"/>
                <a:ea typeface="DejaVu Sans"/>
                <a:cs typeface="DejaVu Sans"/>
              </a:defRPr>
            </a:pPr>
            <a:r>
              <a:rPr sz="1400" b="0" i="0">
                <a:solidFill>
                  <a:schemeClr val="tx1"/>
                </a:solidFill>
                <a:latin typeface="微软雅黑" panose="020B0503020204020204" pitchFamily="34" charset="-122"/>
                <a:ea typeface="微软雅黑" panose="020B0503020204020204" pitchFamily="34" charset="-122"/>
                <a:cs typeface="DejaVu Sans"/>
              </a:rPr>
              <a:t>Compact structure; can be combined with planar cams to generate two-dimensional motion along arbitrary trajectories.</a:t>
            </a:r>
            <a:endParaRPr sz="1400" b="0" i="0">
              <a:solidFill>
                <a:schemeClr val="tx1"/>
              </a:solidFill>
              <a:latin typeface="微软雅黑" panose="020B0503020204020204" pitchFamily="34" charset="-122"/>
              <a:ea typeface="微软雅黑" panose="020B0503020204020204" pitchFamily="34" charset="-122"/>
              <a:cs typeface="DejaVu Sans"/>
            </a:endParaRPr>
          </a:p>
        </p:txBody>
      </p:sp>
      <p:sp>
        <p:nvSpPr>
          <p:cNvPr id="3" name="矩形 2"/>
          <p:cNvSpPr>
            <a:spLocks noGrp="1"/>
          </p:cNvSpPr>
          <p:nvPr/>
        </p:nvSpPr>
        <p:spPr>
          <a:xfrm>
            <a:off x="704850" y="3352800"/>
            <a:ext cx="1533525" cy="219075"/>
          </a:xfrm>
          <a:prstGeom prst="rect">
            <a:avLst/>
          </a:prstGeom>
          <a:noFill/>
          <a:ln w="0">
            <a:noFill/>
          </a:ln>
        </p:spPr>
        <p:txBody>
          <a:bodyPr wrap="square" lIns="57150" tIns="28575" rIns="57150" bIns="28575" anchor="ctr">
            <a:noAutofit/>
          </a:bodyPr>
          <a:lstStyle/>
          <a:p>
            <a:pPr algn="ctr">
              <a:lnSpc>
                <a:spcPct val="96000"/>
              </a:lnSpc>
              <a:buNone/>
              <a:defRPr sz="790" b="1" i="0">
                <a:solidFill>
                  <a:srgbClr val="A9C7D9"/>
                </a:solidFill>
                <a:latin typeface="DejaVu Sans"/>
                <a:ea typeface="DejaVu Sans"/>
                <a:cs typeface="DejaVu Sans"/>
              </a:defRPr>
            </a:pPr>
            <a:r>
              <a:rPr sz="1000" b="1" i="0">
                <a:solidFill>
                  <a:schemeClr val="tx1"/>
                </a:solidFill>
                <a:latin typeface="微软雅黑" panose="020B0503020204020204" pitchFamily="34" charset="-122"/>
                <a:ea typeface="微软雅黑" panose="020B0503020204020204" pitchFamily="34" charset="-122"/>
                <a:cs typeface="DejaVu Sans"/>
              </a:rPr>
              <a:t>Limitation / condition</a:t>
            </a:r>
            <a:endParaRPr sz="1000" b="1" i="0">
              <a:solidFill>
                <a:schemeClr val="tx1"/>
              </a:solidFill>
              <a:latin typeface="微软雅黑" panose="020B0503020204020204" pitchFamily="34" charset="-122"/>
              <a:ea typeface="微软雅黑" panose="020B0503020204020204" pitchFamily="34" charset="-122"/>
              <a:cs typeface="DejaVu Sans"/>
            </a:endParaRPr>
          </a:p>
        </p:txBody>
      </p:sp>
      <p:sp>
        <p:nvSpPr>
          <p:cNvPr id="4" name="矩形 3"/>
          <p:cNvSpPr>
            <a:spLocks noGrp="1"/>
          </p:cNvSpPr>
          <p:nvPr/>
        </p:nvSpPr>
        <p:spPr>
          <a:xfrm>
            <a:off x="2657475" y="3352800"/>
            <a:ext cx="1533525" cy="219075"/>
          </a:xfrm>
          <a:prstGeom prst="rect">
            <a:avLst/>
          </a:prstGeom>
          <a:noFill/>
          <a:ln w="0">
            <a:noFill/>
          </a:ln>
        </p:spPr>
        <p:txBody>
          <a:bodyPr wrap="square" lIns="57150" tIns="28575" rIns="57150" bIns="28575" anchor="ctr">
            <a:noAutofit/>
          </a:bodyPr>
          <a:lstStyle/>
          <a:p>
            <a:pPr algn="ctr">
              <a:lnSpc>
                <a:spcPct val="96000"/>
              </a:lnSpc>
              <a:buNone/>
              <a:defRPr sz="790" b="1" i="0">
                <a:solidFill>
                  <a:srgbClr val="A9C7D9"/>
                </a:solidFill>
                <a:latin typeface="DejaVu Sans"/>
                <a:ea typeface="DejaVu Sans"/>
                <a:cs typeface="DejaVu Sans"/>
              </a:defRPr>
            </a:pPr>
            <a:r>
              <a:rPr sz="1000" b="1" i="0">
                <a:solidFill>
                  <a:schemeClr val="tx1"/>
                </a:solidFill>
                <a:latin typeface="微软雅黑" panose="020B0503020204020204" pitchFamily="34" charset="-122"/>
                <a:ea typeface="微软雅黑" panose="020B0503020204020204" pitchFamily="34" charset="-122"/>
                <a:cs typeface="DejaVu Sans"/>
              </a:rPr>
              <a:t>Limitation / condition</a:t>
            </a:r>
            <a:endParaRPr sz="1000" b="1" i="0">
              <a:solidFill>
                <a:schemeClr val="tx1"/>
              </a:solidFill>
              <a:latin typeface="微软雅黑" panose="020B0503020204020204" pitchFamily="34" charset="-122"/>
              <a:ea typeface="微软雅黑" panose="020B0503020204020204" pitchFamily="34" charset="-122"/>
              <a:cs typeface="DejaVu Sans"/>
            </a:endParaRPr>
          </a:p>
        </p:txBody>
      </p:sp>
      <p:pic>
        <p:nvPicPr>
          <p:cNvPr id="5" name="1. 盘形凸轮">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858081" y="1134481"/>
            <a:ext cx="1611498" cy="1208623"/>
          </a:xfrm>
          <a:prstGeom prst="rect">
            <a:avLst/>
          </a:prstGeom>
        </p:spPr>
      </p:pic>
      <p:pic>
        <p:nvPicPr>
          <p:cNvPr id="6" name="凸轮3">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9039376" y="1066720"/>
            <a:ext cx="1729094" cy="1281070"/>
          </a:xfrm>
          <a:prstGeom prst="rect">
            <a:avLst/>
          </a:prstGeom>
        </p:spPr>
      </p:pic>
      <p:pic>
        <p:nvPicPr>
          <p:cNvPr id="7" name="图片 6"/>
          <p:cNvPicPr>
            <a:picLocks noChangeAspect="1"/>
          </p:cNvPicPr>
          <p:nvPr/>
        </p:nvPicPr>
        <p:blipFill rotWithShape="1">
          <a:blip r:embed="rId7"/>
          <a:srcRect l="4178" t="5181"/>
          <a:stretch>
            <a:fillRect/>
          </a:stretch>
        </p:blipFill>
        <p:spPr>
          <a:xfrm>
            <a:off x="10928368" y="1148184"/>
            <a:ext cx="1134208" cy="1264556"/>
          </a:xfrm>
          <a:prstGeom prst="rect">
            <a:avLst/>
          </a:prstGeom>
        </p:spPr>
      </p:pic>
      <p:pic>
        <p:nvPicPr>
          <p:cNvPr id="8" name="平底凸轮">
            <a:hlinkClick r:id="" action="ppaction://media"/>
          </p:cNvPr>
          <p:cNvPicPr>
            <a:picLocks noChangeAspect="1"/>
          </p:cNvPicPr>
          <p:nvPr>
            <a:videoFile r:link="rId8"/>
            <p:extLst>
              <p:ext uri="{DAA4B4D4-6D71-4841-9C94-3DE7FCFB9230}">
                <p14:media xmlns:p14="http://schemas.microsoft.com/office/powerpoint/2010/main" r:embed="rId9"/>
              </p:ext>
            </p:extLst>
          </p:nvPr>
        </p:nvPicPr>
        <p:blipFill>
          <a:blip r:embed="rId10"/>
          <a:stretch>
            <a:fillRect/>
          </a:stretch>
        </p:blipFill>
        <p:spPr>
          <a:xfrm>
            <a:off x="6823527" y="2788628"/>
            <a:ext cx="1889757" cy="1417317"/>
          </a:xfrm>
          <a:prstGeom prst="rect">
            <a:avLst/>
          </a:prstGeom>
        </p:spPr>
      </p:pic>
      <p:sp>
        <p:nvSpPr>
          <p:cNvPr id="9" name="心形 8"/>
          <p:cNvSpPr/>
          <p:nvPr/>
        </p:nvSpPr>
        <p:spPr bwMode="auto">
          <a:xfrm>
            <a:off x="8912215" y="3156413"/>
            <a:ext cx="812302" cy="727941"/>
          </a:xfrm>
          <a:prstGeom prst="heart">
            <a:avLst/>
          </a:prstGeom>
          <a:solidFill>
            <a:schemeClr val="bg1"/>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pic>
        <p:nvPicPr>
          <p:cNvPr id="64" name="挪动圆珠笔">
            <a:hlinkClick r:id="" action="ppaction://media"/>
          </p:cNvPr>
          <p:cNvPicPr>
            <a:picLocks noChangeAspect="1"/>
          </p:cNvPicPr>
          <p:nvPr>
            <a:videoFile r:link="rId11"/>
            <p:extLst>
              <p:ext uri="{DAA4B4D4-6D71-4841-9C94-3DE7FCFB9230}">
                <p14:media xmlns:p14="http://schemas.microsoft.com/office/powerpoint/2010/main" r:embed="rId12"/>
              </p:ext>
            </p:extLst>
          </p:nvPr>
        </p:nvPicPr>
        <p:blipFill>
          <a:blip r:embed="rId13"/>
          <a:stretch>
            <a:fillRect/>
          </a:stretch>
        </p:blipFill>
        <p:spPr>
          <a:xfrm>
            <a:off x="9908284" y="2703033"/>
            <a:ext cx="2091366" cy="1564167"/>
          </a:xfrm>
          <a:prstGeom prst="rect">
            <a:avLst/>
          </a:prstGeom>
        </p:spPr>
      </p:pic>
      <p:sp>
        <p:nvSpPr>
          <p:cNvPr id="65" name="矩形 64"/>
          <p:cNvSpPr>
            <a:spLocks noGrp="1"/>
          </p:cNvSpPr>
          <p:nvPr/>
        </p:nvSpPr>
        <p:spPr>
          <a:xfrm>
            <a:off x="581660" y="367665"/>
            <a:ext cx="7334250" cy="457200"/>
          </a:xfrm>
          <a:prstGeom prst="rect">
            <a:avLst/>
          </a:prstGeom>
          <a:noFill/>
          <a:ln w="0">
            <a:noFill/>
          </a:ln>
        </p:spPr>
        <p:txBody>
          <a:bodyPr wrap="square" lIns="0" tIns="0" rIns="0" bIns="0" anchor="ctr">
            <a:normAutofit/>
          </a:bodyPr>
          <a:lstStyle/>
          <a:p>
            <a:pPr algn="l">
              <a:lnSpc>
                <a:spcPct val="96000"/>
              </a:lnSpc>
              <a:buNone/>
              <a:defRPr sz="2325" b="1" i="0">
                <a:solidFill>
                  <a:srgbClr val="FFFFFF"/>
                </a:solidFill>
                <a:latin typeface="DejaVu Sans"/>
                <a:ea typeface="DejaVu Sans"/>
                <a:cs typeface="DejaVu Sans"/>
              </a:defRPr>
            </a:pPr>
            <a:r>
              <a:rPr lang="en-US" altLang="zh-CN" sz="2800" b="0" i="0" spc="100" dirty="0">
                <a:solidFill>
                  <a:schemeClr val="accent2">
                    <a:lumMod val="75000"/>
                  </a:schemeClr>
                </a:solidFill>
                <a:latin typeface="+mn-lt"/>
                <a:ea typeface="微软雅黑" panose="020B0503020204020204" pitchFamily="34" charset="-122"/>
                <a:cs typeface="+mn-cs"/>
              </a:rPr>
              <a:t>Content Review </a:t>
            </a:r>
            <a:endParaRPr sz="2325" b="1" i="0">
              <a:solidFill>
                <a:schemeClr val="tx1"/>
              </a:solidFill>
              <a:latin typeface="DejaVu Sans"/>
              <a:ea typeface="DejaVu Sans"/>
              <a:cs typeface="DejaVu Sans"/>
            </a:endParaRPr>
          </a:p>
        </p:txBody>
      </p:sp>
    </p:spTree>
  </p:cSld>
  <p:clrMapOvr>
    <a:masterClrMapping/>
  </p:clrMapOvr>
  <p:transition/>
  <p:timing>
    <p:tnLst>
      <p:par>
        <p:cTn id="1" dur="indefinite" restart="never" nodeType="tmRoot">
          <p:childTnLst>
            <p:video>
              <p:cMediaNode vol="80000">
                <p:cTn id="2" repeatCount="indefinite" fill="hold" display="0">
                  <p:stCondLst>
                    <p:cond delay="indefinite"/>
                  </p:stCondLst>
                </p:cTn>
                <p:tgtEl>
                  <p:spTgt spid="5"/>
                </p:tgtEl>
              </p:cMediaNode>
            </p:video>
            <p:video>
              <p:cMediaNode vol="80000">
                <p:cTn id="3" repeatCount="indefinite" fill="hold" display="0">
                  <p:stCondLst>
                    <p:cond delay="indefinite"/>
                  </p:stCondLst>
                </p:cTn>
                <p:tgtEl>
                  <p:spTgt spid="6"/>
                </p:tgtEl>
              </p:cMediaNode>
            </p:video>
            <p:video>
              <p:cMediaNode vol="80000">
                <p:cTn id="4" repeatCount="indefinite" fill="hold" display="0">
                  <p:stCondLst>
                    <p:cond delay="indefinite"/>
                  </p:stCondLst>
                </p:cTn>
                <p:tgtEl>
                  <p:spTgt spid="8"/>
                </p:tgtEl>
              </p:cMediaNode>
            </p:video>
            <p:seq concurrent="1" nextAc="seek">
              <p:cTn id="5" restart="whenNotActive" fill="hold" evtFilter="cancelBubble" nodeType="interactiveSeq">
                <p:stCondLst>
                  <p:cond evt="onClick" delay="0">
                    <p:tgtEl>
                      <p:spTgt spid="64"/>
                    </p:tgtEl>
                  </p:cond>
                </p:stCondLst>
                <p:endSync evt="end" delay="0">
                  <p:rtn val="all"/>
                </p:endSync>
                <p:childTnLst>
                  <p:par>
                    <p:cTn id="6" fill="hold">
                      <p:stCondLst>
                        <p:cond delay="0"/>
                      </p:stCondLst>
                      <p:childTnLst>
                        <p:par>
                          <p:cTn id="7" fill="hold">
                            <p:stCondLst>
                              <p:cond delay="0"/>
                            </p:stCondLst>
                            <p:childTnLst>
                              <p:par>
                                <p:cTn id="8" presetID="2" presetClass="mediacall" presetSubtype="0" fill="hold" nodeType="clickEffect">
                                  <p:stCondLst>
                                    <p:cond delay="0"/>
                                  </p:stCondLst>
                                  <p:childTnLst>
                                    <p:cmd type="call" cmd="togglePause">
                                      <p:cBhvr>
                                        <p:cTn id="9" dur="1" fill="hold"/>
                                        <p:tgtEl>
                                          <p:spTgt spid="64"/>
                                        </p:tgtEl>
                                      </p:cBhvr>
                                    </p:cmd>
                                  </p:childTnLst>
                                </p:cTn>
                              </p:par>
                            </p:childTnLst>
                          </p:cTn>
                        </p:par>
                      </p:childTnLst>
                    </p:cTn>
                  </p:par>
                </p:childTnLst>
              </p:cTn>
              <p:nextCondLst>
                <p:cond evt="onClick" delay="0">
                  <p:tgtEl>
                    <p:spTgt spid="64"/>
                  </p:tgtEl>
                </p:cond>
              </p:nextCondLst>
            </p:seq>
            <p:video>
              <p:cMediaNode vol="80000">
                <p:cTn id="10" fill="hold" display="0">
                  <p:stCondLst>
                    <p:cond delay="indefinite"/>
                  </p:stCondLst>
                </p:cTn>
                <p:tgtEl>
                  <p:spTgt spid="6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wrap="square"/>
          <a:lstStyle/>
          <a:p>
            <a:r>
              <a:rPr lang="en-US" altLang="zh-CN"/>
              <a:t>14</a:t>
            </a:r>
            <a:endParaRPr lang="en-US" altLang="zh-CN"/>
          </a:p>
        </p:txBody>
      </p:sp>
      <p:sp>
        <p:nvSpPr>
          <p:cNvPr id="6" name="标题 23553"/>
          <p:cNvSpPr txBox="1">
            <a:spLocks noRot="1"/>
          </p:cNvSpPr>
          <p:nvPr/>
        </p:nvSpPr>
        <p:spPr>
          <a:xfrm>
            <a:off x="602029" y="950651"/>
            <a:ext cx="8120063" cy="1325562"/>
          </a:xfrm>
          <a:prstGeom prst="rect">
            <a:avLst/>
          </a:prstGeom>
        </p:spPr>
        <p:txBody>
          <a:bodyPr wrap="square" anchor="ct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algn="ctr" eaLnBrk="1" hangingPunct="1">
              <a:defRPr/>
            </a:pPr>
            <a:endParaRPr lang="zh-CN" altLang="en-US" sz="4000" b="1" kern="0" noProof="1">
              <a:solidFill>
                <a:srgbClr val="FF0000"/>
              </a:solidFill>
              <a:effectLst>
                <a:outerShdw blurRad="38100" dist="38100" dir="2700000">
                  <a:srgbClr val="000000"/>
                </a:outerShdw>
              </a:effectLst>
              <a:latin typeface="Times New Roman" panose="02020603050405020304" pitchFamily="18" charset="0"/>
              <a:ea typeface="楷体_GB2312" pitchFamily="49" charset="-122"/>
            </a:endParaRPr>
          </a:p>
        </p:txBody>
      </p:sp>
      <p:pic>
        <p:nvPicPr>
          <p:cNvPr id="11"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7829" y="1176425"/>
            <a:ext cx="2932767" cy="2199576"/>
          </a:xfrm>
          <a:prstGeom prst="rect">
            <a:avLst/>
          </a:prstGeom>
        </p:spPr>
      </p:pic>
      <p:grpSp>
        <p:nvGrpSpPr>
          <p:cNvPr id="14" name="组合 13"/>
          <p:cNvGrpSpPr/>
          <p:nvPr/>
        </p:nvGrpSpPr>
        <p:grpSpPr>
          <a:xfrm>
            <a:off x="7285841" y="1148622"/>
            <a:ext cx="3283475" cy="2097047"/>
            <a:chOff x="7294147" y="3051510"/>
            <a:chExt cx="3283475" cy="2097047"/>
          </a:xfrm>
        </p:grpSpPr>
        <p:pic>
          <p:nvPicPr>
            <p:cNvPr id="15" name="图片 14"/>
            <p:cNvPicPr>
              <a:picLocks noChangeAspect="1"/>
            </p:cNvPicPr>
            <p:nvPr/>
          </p:nvPicPr>
          <p:blipFill>
            <a:blip r:embed="rId4"/>
            <a:stretch>
              <a:fillRect/>
            </a:stretch>
          </p:blipFill>
          <p:spPr>
            <a:xfrm>
              <a:off x="7294147" y="3051510"/>
              <a:ext cx="2007621" cy="2097047"/>
            </a:xfrm>
            <a:prstGeom prst="rect">
              <a:avLst/>
            </a:prstGeom>
          </p:spPr>
        </p:pic>
        <p:pic>
          <p:nvPicPr>
            <p:cNvPr id="16" name="图片 15"/>
            <p:cNvPicPr>
              <a:picLocks noChangeAspect="1"/>
            </p:cNvPicPr>
            <p:nvPr/>
          </p:nvPicPr>
          <p:blipFill>
            <a:blip r:embed="rId5"/>
            <a:stretch>
              <a:fillRect/>
            </a:stretch>
          </p:blipFill>
          <p:spPr>
            <a:xfrm rot="10800000">
              <a:off x="9555345" y="3153208"/>
              <a:ext cx="1022277" cy="1810802"/>
            </a:xfrm>
            <a:prstGeom prst="rect">
              <a:avLst/>
            </a:prstGeom>
          </p:spPr>
        </p:pic>
      </p:grpSp>
      <p:sp>
        <p:nvSpPr>
          <p:cNvPr id="24" name="文本框 23"/>
          <p:cNvSpPr txBox="1"/>
          <p:nvPr/>
        </p:nvSpPr>
        <p:spPr>
          <a:xfrm>
            <a:off x="9401810" y="3075305"/>
            <a:ext cx="2640965" cy="506730"/>
          </a:xfrm>
          <a:prstGeom prst="rect">
            <a:avLst/>
          </a:prstGeom>
          <a:noFill/>
        </p:spPr>
        <p:txBody>
          <a:bodyPr wrap="square">
            <a:spAutoFit/>
          </a:bodyPr>
          <a:lstStyle/>
          <a:p>
            <a:pPr marL="868680" indent="-868680" algn="just" eaLnBrk="1" hangingPunct="1">
              <a:lnSpc>
                <a:spcPct val="150000"/>
              </a:lnSpc>
              <a:buFont typeface="Arial" panose="020B0604020202020204" pitchFamily="34" charset="0"/>
              <a:buNone/>
            </a:pPr>
            <a:r>
              <a:rPr lang="zh-CN" altLang="en-US" sz="1800" kern="0" dirty="0">
                <a:solidFill>
                  <a:schemeClr val="accent6"/>
                </a:solidFill>
                <a:latin typeface="黑体" panose="02010609060101010101" pitchFamily="2" charset="-122"/>
                <a:ea typeface="黑体" panose="02010609060101010101" pitchFamily="2" charset="-122"/>
              </a:rPr>
              <a:t>Flat-faced Follower</a:t>
            </a:r>
            <a:endParaRPr lang="zh-CN" altLang="en-US" sz="1800" kern="0" dirty="0">
              <a:solidFill>
                <a:schemeClr val="accent6"/>
              </a:solidFill>
              <a:latin typeface="黑体" panose="02010609060101010101" pitchFamily="2" charset="-122"/>
              <a:ea typeface="黑体" panose="02010609060101010101" pitchFamily="2" charset="-122"/>
            </a:endParaRPr>
          </a:p>
        </p:txBody>
      </p:sp>
      <p:pic>
        <p:nvPicPr>
          <p:cNvPr id="25" name="图片 24"/>
          <p:cNvPicPr>
            <a:picLocks noChangeAspect="1"/>
          </p:cNvPicPr>
          <p:nvPr/>
        </p:nvPicPr>
        <p:blipFill>
          <a:blip r:embed="rId6"/>
          <a:stretch>
            <a:fillRect/>
          </a:stretch>
        </p:blipFill>
        <p:spPr>
          <a:xfrm>
            <a:off x="3480365" y="1063993"/>
            <a:ext cx="2718209" cy="671163"/>
          </a:xfrm>
          <a:prstGeom prst="rect">
            <a:avLst/>
          </a:prstGeom>
        </p:spPr>
      </p:pic>
      <p:sp>
        <p:nvSpPr>
          <p:cNvPr id="54" name="TextBox 8"/>
          <p:cNvSpPr txBox="1"/>
          <p:nvPr/>
        </p:nvSpPr>
        <p:spPr>
          <a:xfrm>
            <a:off x="1007878" y="319709"/>
            <a:ext cx="9470935" cy="52197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3-3 Follower Motion Laws &amp; Selection</a:t>
            </a:r>
            <a:endParaRPr lang="en-US" altLang="zh-CN" sz="2800" dirty="0">
              <a:solidFill>
                <a:schemeClr val="accent2">
                  <a:lumMod val="75000"/>
                </a:schemeClr>
              </a:solidFill>
            </a:endParaRPr>
          </a:p>
        </p:txBody>
      </p:sp>
      <p:sp>
        <p:nvSpPr>
          <p:cNvPr id="9" name="内容占位符 23554"/>
          <p:cNvSpPr txBox="1">
            <a:spLocks noRot="1" noChangeArrowheads="1"/>
          </p:cNvSpPr>
          <p:nvPr/>
        </p:nvSpPr>
        <p:spPr>
          <a:xfrm>
            <a:off x="294640" y="3932555"/>
            <a:ext cx="7680960" cy="2636520"/>
          </a:xfrm>
          <a:prstGeom prst="rect">
            <a:avLst/>
          </a:prstGeom>
        </p:spPr>
        <p:txBody>
          <a:bodyPr wrap="square"/>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a:lstStyle>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rId7" action="ppaction://hlinksldjump"/>
              </a:rPr>
              <a:t>3-1 Characteristics &amp; Applications</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dirty="0">
                <a:solidFill>
                  <a:srgbClr val="201E84"/>
                </a:solidFill>
                <a:latin typeface="微软雅黑" panose="020B0503020204020204" pitchFamily="34" charset="-122"/>
                <a:ea typeface="微软雅黑" panose="020B0503020204020204" pitchFamily="34" charset="-122"/>
                <a:hlinkClick r:id="rId8" action="ppaction://hlinksldjump"/>
              </a:rPr>
              <a:t>3-2 Classification of Cam Mechanisms</a:t>
            </a:r>
            <a:endParaRPr lang="en-US" altLang="zh-CN" sz="2400" b="1" dirty="0">
              <a:solidFill>
                <a:srgbClr val="201E84"/>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 action="ppaction://noaction"/>
              </a:rPr>
              <a:t>3-3 Follower Motion Laws &amp; Selection</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 action="ppaction://noaction"/>
              </a:rPr>
              <a:t>3-4 Graphical Design of Cam Profiles</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9"/>
          <a:stretch>
            <a:fillRect/>
          </a:stretch>
        </p:blipFill>
        <p:spPr>
          <a:xfrm>
            <a:off x="6341110" y="3529965"/>
            <a:ext cx="5086350" cy="1066800"/>
          </a:xfrm>
          <a:prstGeom prst="rect">
            <a:avLst/>
          </a:prstGeom>
        </p:spPr>
      </p:pic>
      <p:pic>
        <p:nvPicPr>
          <p:cNvPr id="3" name="图片 2"/>
          <p:cNvPicPr>
            <a:picLocks noChangeAspect="1"/>
          </p:cNvPicPr>
          <p:nvPr/>
        </p:nvPicPr>
        <p:blipFill>
          <a:blip r:embed="rId10"/>
          <a:stretch>
            <a:fillRect/>
          </a:stretch>
        </p:blipFill>
        <p:spPr>
          <a:xfrm>
            <a:off x="6718300" y="4977130"/>
            <a:ext cx="4657090" cy="1469390"/>
          </a:xfrm>
          <a:prstGeom prst="rect">
            <a:avLst/>
          </a:prstGeom>
        </p:spPr>
      </p:pic>
    </p:spTree>
  </p:cSld>
  <p:clrMapOvr>
    <a:masterClrMapping/>
  </p:clrMapOvr>
  <p:transition/>
  <p:timing>
    <p:tnLst>
      <p:par>
        <p:cTn id="1" dur="indefinite" restart="never" nodeType="tmRoot">
          <p:childTnLst>
            <p:video>
              <p:cMediaNode vol="80000">
                <p:cTn id="2" repeatCount="indefinite" fill="hold" display="0">
                  <p:stCondLst>
                    <p:cond delay="indefinite"/>
                  </p:stCondLst>
                </p:cTn>
                <p:tgtEl>
                  <p:spTgt spid="11"/>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latin typeface="微软雅黑" panose="020B0503020204020204" pitchFamily="34" charset="-122"/>
                <a:ea typeface="微软雅黑" panose="020B0503020204020204" pitchFamily="34" charset="-122"/>
              </a:rPr>
            </a:fld>
            <a:endParaRPr lang="zh-CN" altLang="en-US" dirty="0" smtClean="0">
              <a:latin typeface="微软雅黑" panose="020B0503020204020204" pitchFamily="34" charset="-122"/>
              <a:ea typeface="微软雅黑" panose="020B0503020204020204" pitchFamily="34" charset="-122"/>
            </a:endParaRPr>
          </a:p>
        </p:txBody>
      </p:sp>
      <p:sp>
        <p:nvSpPr>
          <p:cNvPr id="25" name="矩形 24"/>
          <p:cNvSpPr/>
          <p:nvPr/>
        </p:nvSpPr>
        <p:spPr>
          <a:xfrm>
            <a:off x="186055" y="1033780"/>
            <a:ext cx="5016500" cy="39878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I. Motion Cycle of Cam Mechanisms</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矩形 2"/>
              <p:cNvSpPr/>
              <p:nvPr/>
            </p:nvSpPr>
            <p:spPr>
              <a:xfrm>
                <a:off x="1262648" y="1933535"/>
                <a:ext cx="3659075" cy="368300"/>
              </a:xfrm>
              <a:prstGeom prst="rect">
                <a:avLst/>
              </a:prstGeom>
            </p:spPr>
            <p:txBody>
              <a:bodyPr wrap="square">
                <a:spAutoFit/>
              </a:bodyPr>
              <a:lstStyle/>
              <a:p>
                <a14:m>
                  <m:oMath xmlns:m="http://schemas.openxmlformats.org/officeDocument/2006/math">
                    <m:acc>
                      <m:accPr>
                        <m:ctrlPr>
                          <a:rPr lang="en-US" altLang="zh-CN" sz="1600" b="1" i="1" smtClean="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accPr>
                      <m:e>
                        <m:r>
                          <a:rPr lang="en-US" altLang="zh-CN" sz="1600" b="1" i="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𝐀𝐁</m:t>
                        </m:r>
                      </m:e>
                    </m:acc>
                    <m:r>
                      <a:rPr lang="zh-CN" altLang="en-US" sz="1600" b="1" i="0">
                        <a:solidFill>
                          <a:schemeClr val="tx1"/>
                        </a:solidFill>
                        <a:latin typeface="Cambria Math" panose="02040503050406030204" pitchFamily="18" charset="0"/>
                        <a:ea typeface="MS Mincho" charset="0"/>
                        <a:cs typeface="Cambria Math" panose="02040503050406030204" pitchFamily="18" charset="0"/>
                      </a:rPr>
                      <m:t>、</m:t>
                    </m:r>
                    <m:acc>
                      <m:accPr>
                        <m:ctrlPr>
                          <a:rPr lang="en-US" altLang="zh-CN" sz="1600" b="1" i="1">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accPr>
                      <m:e>
                        <m:r>
                          <a:rPr lang="en-US" altLang="zh-CN" sz="1600" b="1" i="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𝐁𝐂</m:t>
                        </m:r>
                      </m:e>
                    </m:acc>
                  </m:oMath>
                </a14:m>
                <a:r>
                  <a:rPr lang="en-US"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arc</a:t>
                </a:r>
                <a:r>
                  <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Circle </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3" name="矩形 2"/>
              <p:cNvSpPr>
                <a:spLocks noRot="1" noChangeAspect="1" noMove="1" noResize="1" noEditPoints="1" noAdjustHandles="1" noChangeArrowheads="1" noChangeShapeType="1" noTextEdit="1"/>
              </p:cNvSpPr>
              <p:nvPr/>
            </p:nvSpPr>
            <p:spPr>
              <a:xfrm>
                <a:off x="1262648" y="1933535"/>
                <a:ext cx="3659075" cy="368300"/>
              </a:xfrm>
              <a:prstGeom prst="rect">
                <a:avLst/>
              </a:prstGeom>
              <a:blipFill rotWithShape="1">
                <a:blip r:embed="rId1"/>
                <a:stretch>
                  <a:fillRect l="-7" t="-162" r="13" b="162"/>
                </a:stretch>
              </a:blipFill>
            </p:spPr>
            <p:txBody>
              <a:bodyPr/>
              <a:lstStyle/>
              <a:p>
                <a:r>
                  <a:rPr lang="zh-CN" altLang="en-US">
                    <a:noFill/>
                  </a:rPr>
                  <a:t> </a:t>
                </a:r>
              </a:p>
            </p:txBody>
          </p:sp>
        </mc:Fallback>
      </mc:AlternateContent>
      <p:sp>
        <p:nvSpPr>
          <p:cNvPr id="92" name="矩形 91"/>
          <p:cNvSpPr/>
          <p:nvPr/>
        </p:nvSpPr>
        <p:spPr>
          <a:xfrm>
            <a:off x="438785" y="1432560"/>
            <a:ext cx="4547235" cy="583565"/>
          </a:xfrm>
          <a:prstGeom prst="rect">
            <a:avLst/>
          </a:prstGeom>
        </p:spPr>
        <p:txBody>
          <a:bodyPr wrap="square">
            <a:spAutoFit/>
          </a:bodyPr>
          <a:lstStyle/>
          <a:p>
            <a:r>
              <a:rPr lang="en-US"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The cam rotates uniformly about point O with angular </a:t>
            </a:r>
            <a:r>
              <a:rPr lang="en-US"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velocity ω</a:t>
            </a:r>
            <a:endParaRPr lang="en-US"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3" name="组合 92"/>
          <p:cNvGrpSpPr/>
          <p:nvPr/>
        </p:nvGrpSpPr>
        <p:grpSpPr bwMode="auto">
          <a:xfrm>
            <a:off x="84599" y="2584569"/>
            <a:ext cx="2686050" cy="4102100"/>
            <a:chOff x="384" y="1544"/>
            <a:chExt cx="1563" cy="2584"/>
          </a:xfrm>
        </p:grpSpPr>
        <p:grpSp>
          <p:nvGrpSpPr>
            <p:cNvPr id="94" name="组合 623623"/>
            <p:cNvGrpSpPr/>
            <p:nvPr/>
          </p:nvGrpSpPr>
          <p:grpSpPr bwMode="auto">
            <a:xfrm>
              <a:off x="493" y="1544"/>
              <a:ext cx="1454" cy="2584"/>
              <a:chOff x="493" y="1544"/>
              <a:chExt cx="1454" cy="2584"/>
            </a:xfrm>
          </p:grpSpPr>
          <p:sp>
            <p:nvSpPr>
              <p:cNvPr id="96" name="任意多边形 623624"/>
              <p:cNvSpPr>
                <a:spLocks noChangeArrowheads="1"/>
              </p:cNvSpPr>
              <p:nvPr/>
            </p:nvSpPr>
            <p:spPr bwMode="auto">
              <a:xfrm>
                <a:off x="962" y="1584"/>
                <a:ext cx="48" cy="192"/>
              </a:xfrm>
              <a:custGeom>
                <a:avLst/>
                <a:gdLst>
                  <a:gd name="T0" fmla="*/ 0 w 48"/>
                  <a:gd name="T1" fmla="*/ 0 h 192"/>
                  <a:gd name="T2" fmla="*/ 48 w 48"/>
                  <a:gd name="T3" fmla="*/ 0 h 192"/>
                  <a:gd name="T4" fmla="*/ 48 w 48"/>
                  <a:gd name="T5" fmla="*/ 192 h 192"/>
                  <a:gd name="T6" fmla="*/ 0 w 48"/>
                  <a:gd name="T7" fmla="*/ 192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2"/>
                <a:srcRect/>
                <a:tile tx="0" ty="0" sx="100000" sy="100000" flip="none" algn="tl"/>
              </a:blipFill>
              <a:ln w="19050">
                <a:solidFill>
                  <a:schemeClr val="tx1"/>
                </a:solidFill>
                <a:round/>
              </a:ln>
            </p:spPr>
            <p:txBody>
              <a:bodyPr/>
              <a:lstStyle/>
              <a:p>
                <a:endParaRPr lang="en-AU">
                  <a:latin typeface="微软雅黑" panose="020B0503020204020204" pitchFamily="34" charset="-122"/>
                  <a:ea typeface="微软雅黑" panose="020B0503020204020204" pitchFamily="34" charset="-122"/>
                </a:endParaRPr>
              </a:p>
            </p:txBody>
          </p:sp>
          <p:grpSp>
            <p:nvGrpSpPr>
              <p:cNvPr id="97" name="组合 623625"/>
              <p:cNvGrpSpPr/>
              <p:nvPr/>
            </p:nvGrpSpPr>
            <p:grpSpPr bwMode="auto">
              <a:xfrm>
                <a:off x="493" y="1544"/>
                <a:ext cx="1454" cy="2584"/>
                <a:chOff x="493" y="1544"/>
                <a:chExt cx="1454" cy="2584"/>
              </a:xfrm>
            </p:grpSpPr>
            <p:grpSp>
              <p:nvGrpSpPr>
                <p:cNvPr id="98" name="组合 623626"/>
                <p:cNvGrpSpPr/>
                <p:nvPr/>
              </p:nvGrpSpPr>
              <p:grpSpPr bwMode="auto">
                <a:xfrm>
                  <a:off x="493" y="1544"/>
                  <a:ext cx="1454" cy="2584"/>
                  <a:chOff x="493" y="1544"/>
                  <a:chExt cx="1454" cy="2584"/>
                </a:xfrm>
              </p:grpSpPr>
              <p:sp>
                <p:nvSpPr>
                  <p:cNvPr id="100" name="任意多边形 623627"/>
                  <p:cNvSpPr>
                    <a:spLocks noChangeArrowheads="1"/>
                  </p:cNvSpPr>
                  <p:nvPr/>
                </p:nvSpPr>
                <p:spPr bwMode="auto">
                  <a:xfrm>
                    <a:off x="493" y="2544"/>
                    <a:ext cx="1454" cy="1457"/>
                  </a:xfrm>
                  <a:custGeom>
                    <a:avLst/>
                    <a:gdLst>
                      <a:gd name="T0" fmla="*/ 653 w 1454"/>
                      <a:gd name="T1" fmla="*/ 0 h 1457"/>
                      <a:gd name="T2" fmla="*/ 834 w 1454"/>
                      <a:gd name="T3" fmla="*/ 26 h 1457"/>
                      <a:gd name="T4" fmla="*/ 987 w 1454"/>
                      <a:gd name="T5" fmla="*/ 87 h 1457"/>
                      <a:gd name="T6" fmla="*/ 1118 w 1454"/>
                      <a:gd name="T7" fmla="*/ 171 h 1457"/>
                      <a:gd name="T8" fmla="*/ 1247 w 1454"/>
                      <a:gd name="T9" fmla="*/ 297 h 1457"/>
                      <a:gd name="T10" fmla="*/ 1331 w 1454"/>
                      <a:gd name="T11" fmla="*/ 408 h 1457"/>
                      <a:gd name="T12" fmla="*/ 1397 w 1454"/>
                      <a:gd name="T13" fmla="*/ 534 h 1457"/>
                      <a:gd name="T14" fmla="*/ 1442 w 1454"/>
                      <a:gd name="T15" fmla="*/ 663 h 1457"/>
                      <a:gd name="T16" fmla="*/ 1454 w 1454"/>
                      <a:gd name="T17" fmla="*/ 759 h 1457"/>
                      <a:gd name="T18" fmla="*/ 1425 w 1454"/>
                      <a:gd name="T19" fmla="*/ 866 h 1457"/>
                      <a:gd name="T20" fmla="*/ 1373 w 1454"/>
                      <a:gd name="T21" fmla="*/ 977 h 1457"/>
                      <a:gd name="T22" fmla="*/ 1307 w 1454"/>
                      <a:gd name="T23" fmla="*/ 1079 h 1457"/>
                      <a:gd name="T24" fmla="*/ 1226 w 1454"/>
                      <a:gd name="T25" fmla="*/ 1171 h 1457"/>
                      <a:gd name="T26" fmla="*/ 1123 w 1454"/>
                      <a:gd name="T27" fmla="*/ 1263 h 1457"/>
                      <a:gd name="T28" fmla="*/ 989 w 1454"/>
                      <a:gd name="T29" fmla="*/ 1349 h 1457"/>
                      <a:gd name="T30" fmla="*/ 853 w 1454"/>
                      <a:gd name="T31" fmla="*/ 1407 h 1457"/>
                      <a:gd name="T32" fmla="*/ 713 w 1454"/>
                      <a:gd name="T33" fmla="*/ 1441 h 1457"/>
                      <a:gd name="T34" fmla="*/ 553 w 1454"/>
                      <a:gd name="T35" fmla="*/ 1457 h 1457"/>
                      <a:gd name="T36" fmla="*/ 451 w 1454"/>
                      <a:gd name="T37" fmla="*/ 1433 h 1457"/>
                      <a:gd name="T38" fmla="*/ 325 w 1454"/>
                      <a:gd name="T39" fmla="*/ 1370 h 1457"/>
                      <a:gd name="T40" fmla="*/ 214 w 1454"/>
                      <a:gd name="T41" fmla="*/ 1281 h 1457"/>
                      <a:gd name="T42" fmla="*/ 126 w 1454"/>
                      <a:gd name="T43" fmla="*/ 1183 h 1457"/>
                      <a:gd name="T44" fmla="*/ 49 w 1454"/>
                      <a:gd name="T45" fmla="*/ 1040 h 1457"/>
                      <a:gd name="T46" fmla="*/ 4 w 1454"/>
                      <a:gd name="T47" fmla="*/ 858 h 1457"/>
                      <a:gd name="T48" fmla="*/ 0 w 1454"/>
                      <a:gd name="T49" fmla="*/ 665 h 1457"/>
                      <a:gd name="T50" fmla="*/ 18 w 1454"/>
                      <a:gd name="T51" fmla="*/ 501 h 1457"/>
                      <a:gd name="T52" fmla="*/ 65 w 1454"/>
                      <a:gd name="T53" fmla="*/ 368 h 1457"/>
                      <a:gd name="T54" fmla="*/ 107 w 1454"/>
                      <a:gd name="T55" fmla="*/ 270 h 1457"/>
                      <a:gd name="T56" fmla="*/ 154 w 1454"/>
                      <a:gd name="T57" fmla="*/ 194 h 1457"/>
                      <a:gd name="T58" fmla="*/ 235 w 1454"/>
                      <a:gd name="T59" fmla="*/ 110 h 1457"/>
                      <a:gd name="T60" fmla="*/ 333 w 1454"/>
                      <a:gd name="T61" fmla="*/ 47 h 1457"/>
                      <a:gd name="T62" fmla="*/ 443 w 1454"/>
                      <a:gd name="T63" fmla="*/ 11 h 1457"/>
                      <a:gd name="T64" fmla="*/ 553 w 1454"/>
                      <a:gd name="T65" fmla="*/ 0 h 14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54" h="1457">
                        <a:moveTo>
                          <a:pt x="553" y="0"/>
                        </a:moveTo>
                        <a:lnTo>
                          <a:pt x="653" y="0"/>
                        </a:lnTo>
                        <a:lnTo>
                          <a:pt x="750" y="11"/>
                        </a:lnTo>
                        <a:lnTo>
                          <a:pt x="834" y="26"/>
                        </a:lnTo>
                        <a:lnTo>
                          <a:pt x="913" y="53"/>
                        </a:lnTo>
                        <a:lnTo>
                          <a:pt x="987" y="87"/>
                        </a:lnTo>
                        <a:lnTo>
                          <a:pt x="1050" y="126"/>
                        </a:lnTo>
                        <a:lnTo>
                          <a:pt x="1118" y="171"/>
                        </a:lnTo>
                        <a:lnTo>
                          <a:pt x="1181" y="231"/>
                        </a:lnTo>
                        <a:lnTo>
                          <a:pt x="1247" y="297"/>
                        </a:lnTo>
                        <a:lnTo>
                          <a:pt x="1289" y="348"/>
                        </a:lnTo>
                        <a:lnTo>
                          <a:pt x="1331" y="408"/>
                        </a:lnTo>
                        <a:lnTo>
                          <a:pt x="1367" y="471"/>
                        </a:lnTo>
                        <a:lnTo>
                          <a:pt x="1397" y="534"/>
                        </a:lnTo>
                        <a:lnTo>
                          <a:pt x="1424" y="597"/>
                        </a:lnTo>
                        <a:lnTo>
                          <a:pt x="1442" y="663"/>
                        </a:lnTo>
                        <a:lnTo>
                          <a:pt x="1451" y="708"/>
                        </a:lnTo>
                        <a:lnTo>
                          <a:pt x="1454" y="759"/>
                        </a:lnTo>
                        <a:lnTo>
                          <a:pt x="1449" y="803"/>
                        </a:lnTo>
                        <a:lnTo>
                          <a:pt x="1425" y="866"/>
                        </a:lnTo>
                        <a:lnTo>
                          <a:pt x="1399" y="927"/>
                        </a:lnTo>
                        <a:lnTo>
                          <a:pt x="1373" y="977"/>
                        </a:lnTo>
                        <a:lnTo>
                          <a:pt x="1341" y="1029"/>
                        </a:lnTo>
                        <a:lnTo>
                          <a:pt x="1307" y="1079"/>
                        </a:lnTo>
                        <a:lnTo>
                          <a:pt x="1270" y="1126"/>
                        </a:lnTo>
                        <a:lnTo>
                          <a:pt x="1226" y="1171"/>
                        </a:lnTo>
                        <a:lnTo>
                          <a:pt x="1176" y="1221"/>
                        </a:lnTo>
                        <a:lnTo>
                          <a:pt x="1123" y="1263"/>
                        </a:lnTo>
                        <a:lnTo>
                          <a:pt x="1057" y="1310"/>
                        </a:lnTo>
                        <a:lnTo>
                          <a:pt x="989" y="1349"/>
                        </a:lnTo>
                        <a:lnTo>
                          <a:pt x="924" y="1381"/>
                        </a:lnTo>
                        <a:lnTo>
                          <a:pt x="853" y="1407"/>
                        </a:lnTo>
                        <a:lnTo>
                          <a:pt x="784" y="1425"/>
                        </a:lnTo>
                        <a:lnTo>
                          <a:pt x="713" y="1441"/>
                        </a:lnTo>
                        <a:lnTo>
                          <a:pt x="629" y="1449"/>
                        </a:lnTo>
                        <a:lnTo>
                          <a:pt x="553" y="1457"/>
                        </a:lnTo>
                        <a:lnTo>
                          <a:pt x="503" y="1444"/>
                        </a:lnTo>
                        <a:lnTo>
                          <a:pt x="451" y="1433"/>
                        </a:lnTo>
                        <a:lnTo>
                          <a:pt x="385" y="1407"/>
                        </a:lnTo>
                        <a:lnTo>
                          <a:pt x="325" y="1370"/>
                        </a:lnTo>
                        <a:lnTo>
                          <a:pt x="270" y="1328"/>
                        </a:lnTo>
                        <a:lnTo>
                          <a:pt x="214" y="1281"/>
                        </a:lnTo>
                        <a:lnTo>
                          <a:pt x="168" y="1232"/>
                        </a:lnTo>
                        <a:lnTo>
                          <a:pt x="126" y="1183"/>
                        </a:lnTo>
                        <a:lnTo>
                          <a:pt x="91" y="1120"/>
                        </a:lnTo>
                        <a:lnTo>
                          <a:pt x="49" y="1040"/>
                        </a:lnTo>
                        <a:lnTo>
                          <a:pt x="21" y="952"/>
                        </a:lnTo>
                        <a:lnTo>
                          <a:pt x="4" y="858"/>
                        </a:lnTo>
                        <a:lnTo>
                          <a:pt x="0" y="767"/>
                        </a:lnTo>
                        <a:lnTo>
                          <a:pt x="0" y="665"/>
                        </a:lnTo>
                        <a:lnTo>
                          <a:pt x="7" y="564"/>
                        </a:lnTo>
                        <a:lnTo>
                          <a:pt x="18" y="501"/>
                        </a:lnTo>
                        <a:lnTo>
                          <a:pt x="35" y="434"/>
                        </a:lnTo>
                        <a:lnTo>
                          <a:pt x="65" y="368"/>
                        </a:lnTo>
                        <a:lnTo>
                          <a:pt x="86" y="318"/>
                        </a:lnTo>
                        <a:lnTo>
                          <a:pt x="107" y="270"/>
                        </a:lnTo>
                        <a:lnTo>
                          <a:pt x="130" y="228"/>
                        </a:lnTo>
                        <a:lnTo>
                          <a:pt x="154" y="194"/>
                        </a:lnTo>
                        <a:lnTo>
                          <a:pt x="193" y="147"/>
                        </a:lnTo>
                        <a:lnTo>
                          <a:pt x="235" y="110"/>
                        </a:lnTo>
                        <a:lnTo>
                          <a:pt x="283" y="76"/>
                        </a:lnTo>
                        <a:lnTo>
                          <a:pt x="333" y="47"/>
                        </a:lnTo>
                        <a:lnTo>
                          <a:pt x="385" y="26"/>
                        </a:lnTo>
                        <a:lnTo>
                          <a:pt x="443" y="11"/>
                        </a:lnTo>
                        <a:lnTo>
                          <a:pt x="495" y="0"/>
                        </a:lnTo>
                        <a:lnTo>
                          <a:pt x="553" y="0"/>
                        </a:lnTo>
                        <a:close/>
                      </a:path>
                    </a:pathLst>
                  </a:custGeom>
                  <a:solidFill>
                    <a:srgbClr val="CCFFFF"/>
                  </a:solidFill>
                  <a:ln w="19050">
                    <a:solidFill>
                      <a:srgbClr val="000000"/>
                    </a:solidFill>
                    <a:round/>
                  </a:ln>
                </p:spPr>
                <p:txBody>
                  <a:bodyPr/>
                  <a:lstStyle/>
                  <a:p>
                    <a:endParaRPr lang="en-AU">
                      <a:latin typeface="微软雅黑" panose="020B0503020204020204" pitchFamily="34" charset="-122"/>
                      <a:ea typeface="微软雅黑" panose="020B0503020204020204" pitchFamily="34" charset="-122"/>
                    </a:endParaRPr>
                  </a:p>
                </p:txBody>
              </p:sp>
              <p:sp>
                <p:nvSpPr>
                  <p:cNvPr id="101" name="直接连接符 623628"/>
                  <p:cNvSpPr>
                    <a:spLocks noChangeShapeType="1"/>
                  </p:cNvSpPr>
                  <p:nvPr/>
                </p:nvSpPr>
                <p:spPr bwMode="auto">
                  <a:xfrm>
                    <a:off x="1046" y="2352"/>
                    <a:ext cx="0" cy="1776"/>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102" name="组合 623629"/>
                  <p:cNvGrpSpPr/>
                  <p:nvPr/>
                </p:nvGrpSpPr>
                <p:grpSpPr bwMode="auto">
                  <a:xfrm>
                    <a:off x="994" y="1544"/>
                    <a:ext cx="106" cy="984"/>
                    <a:chOff x="1378" y="1544"/>
                    <a:chExt cx="106" cy="984"/>
                  </a:xfrm>
                </p:grpSpPr>
                <p:sp>
                  <p:nvSpPr>
                    <p:cNvPr id="104" name="等腰三角形 623630"/>
                    <p:cNvSpPr>
                      <a:spLocks noChangeArrowheads="1"/>
                    </p:cNvSpPr>
                    <p:nvPr/>
                  </p:nvSpPr>
                  <p:spPr bwMode="auto">
                    <a:xfrm flipV="1">
                      <a:off x="1378" y="2348"/>
                      <a:ext cx="106" cy="180"/>
                    </a:xfrm>
                    <a:prstGeom prst="triangle">
                      <a:avLst>
                        <a:gd name="adj" fmla="val 50000"/>
                      </a:avLst>
                    </a:prstGeom>
                    <a:solidFill>
                      <a:srgbClr val="FFFF99"/>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微软雅黑" panose="020B0503020204020204" pitchFamily="34" charset="-122"/>
                        <a:ea typeface="微软雅黑" panose="020B0503020204020204" pitchFamily="34" charset="-122"/>
                      </a:endParaRPr>
                    </a:p>
                  </p:txBody>
                </p:sp>
                <p:sp>
                  <p:nvSpPr>
                    <p:cNvPr id="105" name="直接连接符 623631"/>
                    <p:cNvSpPr>
                      <a:spLocks noChangeShapeType="1"/>
                    </p:cNvSpPr>
                    <p:nvPr/>
                  </p:nvSpPr>
                  <p:spPr bwMode="auto">
                    <a:xfrm flipV="1">
                      <a:off x="1432" y="1544"/>
                      <a:ext cx="0" cy="80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sp>
                <p:nvSpPr>
                  <p:cNvPr id="103" name="文本框 623632"/>
                  <p:cNvSpPr txBox="1">
                    <a:spLocks noChangeArrowheads="1"/>
                  </p:cNvSpPr>
                  <p:nvPr/>
                </p:nvSpPr>
                <p:spPr bwMode="auto">
                  <a:xfrm>
                    <a:off x="1142" y="2311"/>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微软雅黑" panose="020B0503020204020204" pitchFamily="34" charset="-122"/>
                        <a:ea typeface="微软雅黑" panose="020B0503020204020204" pitchFamily="34" charset="-122"/>
                      </a:rPr>
                      <a:t>A</a:t>
                    </a:r>
                    <a:endParaRPr lang="en-US" altLang="zh-CN" sz="1400" dirty="0">
                      <a:latin typeface="微软雅黑" panose="020B0503020204020204" pitchFamily="34" charset="-122"/>
                      <a:ea typeface="微软雅黑" panose="020B0503020204020204" pitchFamily="34" charset="-122"/>
                    </a:endParaRPr>
                  </a:p>
                </p:txBody>
              </p:sp>
            </p:grpSp>
            <p:sp>
              <p:nvSpPr>
                <p:cNvPr id="99" name="任意多边形 623633"/>
                <p:cNvSpPr>
                  <a:spLocks noChangeArrowheads="1"/>
                </p:cNvSpPr>
                <p:nvPr/>
              </p:nvSpPr>
              <p:spPr bwMode="auto">
                <a:xfrm flipH="1">
                  <a:off x="1082" y="1584"/>
                  <a:ext cx="48" cy="192"/>
                </a:xfrm>
                <a:custGeom>
                  <a:avLst/>
                  <a:gdLst>
                    <a:gd name="T0" fmla="*/ 0 w 48"/>
                    <a:gd name="T1" fmla="*/ 0 h 192"/>
                    <a:gd name="T2" fmla="*/ 48 w 48"/>
                    <a:gd name="T3" fmla="*/ 0 h 192"/>
                    <a:gd name="T4" fmla="*/ 48 w 48"/>
                    <a:gd name="T5" fmla="*/ 192 h 192"/>
                    <a:gd name="T6" fmla="*/ 0 w 48"/>
                    <a:gd name="T7" fmla="*/ 192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2"/>
                  <a:srcRect/>
                  <a:tile tx="0" ty="0" sx="100000" sy="100000" flip="none" algn="tl"/>
                </a:blipFill>
                <a:ln w="19050">
                  <a:solidFill>
                    <a:schemeClr val="tx1"/>
                  </a:solidFill>
                  <a:round/>
                </a:ln>
              </p:spPr>
              <p:txBody>
                <a:bodyPr/>
                <a:lstStyle/>
                <a:p>
                  <a:endParaRPr lang="en-AU">
                    <a:latin typeface="微软雅黑" panose="020B0503020204020204" pitchFamily="34" charset="-122"/>
                    <a:ea typeface="微软雅黑" panose="020B0503020204020204" pitchFamily="34" charset="-122"/>
                  </a:endParaRPr>
                </a:p>
              </p:txBody>
            </p:sp>
          </p:grpSp>
        </p:grpSp>
        <p:sp>
          <p:nvSpPr>
            <p:cNvPr id="95" name="直接连接符 623634"/>
            <p:cNvSpPr>
              <a:spLocks noChangeShapeType="1"/>
            </p:cNvSpPr>
            <p:nvPr/>
          </p:nvSpPr>
          <p:spPr bwMode="auto">
            <a:xfrm>
              <a:off x="384" y="3048"/>
              <a:ext cx="1536" cy="0"/>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sp>
        <p:nvSpPr>
          <p:cNvPr id="108" name="椭圆 107"/>
          <p:cNvSpPr>
            <a:spLocks noChangeArrowheads="1"/>
          </p:cNvSpPr>
          <p:nvPr/>
        </p:nvSpPr>
        <p:spPr bwMode="auto">
          <a:xfrm>
            <a:off x="354474" y="4172069"/>
            <a:ext cx="1733550" cy="1600200"/>
          </a:xfrm>
          <a:prstGeom prst="ellipse">
            <a:avLst/>
          </a:pr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微软雅黑" panose="020B0503020204020204" pitchFamily="34" charset="-122"/>
              <a:ea typeface="微软雅黑" panose="020B0503020204020204" pitchFamily="34" charset="-122"/>
            </a:endParaRPr>
          </a:p>
        </p:txBody>
      </p:sp>
      <p:sp>
        <p:nvSpPr>
          <p:cNvPr id="109" name="任意多边形 108"/>
          <p:cNvSpPr>
            <a:spLocks noChangeArrowheads="1"/>
          </p:cNvSpPr>
          <p:nvPr/>
        </p:nvSpPr>
        <p:spPr bwMode="auto">
          <a:xfrm>
            <a:off x="1226012" y="4972170"/>
            <a:ext cx="1541463" cy="466725"/>
          </a:xfrm>
          <a:custGeom>
            <a:avLst/>
            <a:gdLst>
              <a:gd name="T0" fmla="*/ 0 w 1023"/>
              <a:gd name="T1" fmla="*/ 0 h 336"/>
              <a:gd name="T2" fmla="*/ 2147483646 w 1023"/>
              <a:gd name="T3" fmla="*/ 2147483646 h 336"/>
              <a:gd name="T4" fmla="*/ 0 60000 65536"/>
              <a:gd name="T5" fmla="*/ 0 60000 65536"/>
            </a:gdLst>
            <a:ahLst/>
            <a:cxnLst>
              <a:cxn ang="T4">
                <a:pos x="T0" y="T1"/>
              </a:cxn>
              <a:cxn ang="T5">
                <a:pos x="T2" y="T3"/>
              </a:cxn>
            </a:cxnLst>
            <a:rect l="0" t="0" r="r" b="b"/>
            <a:pathLst>
              <a:path w="1023" h="336">
                <a:moveTo>
                  <a:pt x="0" y="0"/>
                </a:moveTo>
                <a:lnTo>
                  <a:pt x="1023" y="336"/>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latin typeface="微软雅黑" panose="020B0503020204020204" pitchFamily="34" charset="-122"/>
              <a:ea typeface="微软雅黑" panose="020B0503020204020204" pitchFamily="34" charset="-122"/>
            </a:endParaRPr>
          </a:p>
        </p:txBody>
      </p:sp>
      <p:sp>
        <p:nvSpPr>
          <p:cNvPr id="110" name="任意多边形 109"/>
          <p:cNvSpPr>
            <a:spLocks noChangeArrowheads="1"/>
          </p:cNvSpPr>
          <p:nvPr/>
        </p:nvSpPr>
        <p:spPr bwMode="auto">
          <a:xfrm>
            <a:off x="400511" y="4718169"/>
            <a:ext cx="820738" cy="254000"/>
          </a:xfrm>
          <a:custGeom>
            <a:avLst/>
            <a:gdLst>
              <a:gd name="T0" fmla="*/ 2147483646 w 546"/>
              <a:gd name="T1" fmla="*/ 2147483646 h 183"/>
              <a:gd name="T2" fmla="*/ 0 w 546"/>
              <a:gd name="T3" fmla="*/ 0 h 183"/>
              <a:gd name="T4" fmla="*/ 0 60000 65536"/>
              <a:gd name="T5" fmla="*/ 0 60000 65536"/>
            </a:gdLst>
            <a:ahLst/>
            <a:cxnLst>
              <a:cxn ang="T4">
                <a:pos x="T0" y="T1"/>
              </a:cxn>
              <a:cxn ang="T5">
                <a:pos x="T2" y="T3"/>
              </a:cxn>
            </a:cxnLst>
            <a:rect l="0" t="0" r="r" b="b"/>
            <a:pathLst>
              <a:path w="546" h="183">
                <a:moveTo>
                  <a:pt x="546" y="18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latin typeface="微软雅黑" panose="020B0503020204020204" pitchFamily="34" charset="-122"/>
              <a:ea typeface="微软雅黑" panose="020B0503020204020204" pitchFamily="34" charset="-122"/>
            </a:endParaRPr>
          </a:p>
        </p:txBody>
      </p:sp>
      <p:grpSp>
        <p:nvGrpSpPr>
          <p:cNvPr id="123" name="组合 122"/>
          <p:cNvGrpSpPr/>
          <p:nvPr/>
        </p:nvGrpSpPr>
        <p:grpSpPr bwMode="auto">
          <a:xfrm>
            <a:off x="1221249" y="4562595"/>
            <a:ext cx="823912" cy="409575"/>
            <a:chOff x="1430" y="2790"/>
            <a:chExt cx="478" cy="258"/>
          </a:xfrm>
        </p:grpSpPr>
        <p:sp>
          <p:nvSpPr>
            <p:cNvPr id="124" name="任意多边形 623651"/>
            <p:cNvSpPr>
              <a:spLocks noChangeArrowheads="1"/>
            </p:cNvSpPr>
            <p:nvPr/>
          </p:nvSpPr>
          <p:spPr bwMode="auto">
            <a:xfrm>
              <a:off x="1430" y="2880"/>
              <a:ext cx="478" cy="168"/>
            </a:xfrm>
            <a:custGeom>
              <a:avLst/>
              <a:gdLst>
                <a:gd name="T0" fmla="*/ 0 w 546"/>
                <a:gd name="T1" fmla="*/ 76 h 192"/>
                <a:gd name="T2" fmla="*/ 214 w 546"/>
                <a:gd name="T3" fmla="*/ 0 h 192"/>
                <a:gd name="T4" fmla="*/ 0 60000 65536"/>
                <a:gd name="T5" fmla="*/ 0 60000 65536"/>
              </a:gdLst>
              <a:ahLst/>
              <a:cxnLst>
                <a:cxn ang="T4">
                  <a:pos x="T0" y="T1"/>
                </a:cxn>
                <a:cxn ang="T5">
                  <a:pos x="T2" y="T3"/>
                </a:cxn>
              </a:cxnLst>
              <a:rect l="0" t="0" r="r" b="b"/>
              <a:pathLst>
                <a:path w="546" h="192">
                  <a:moveTo>
                    <a:pt x="0" y="192"/>
                  </a:moveTo>
                  <a:lnTo>
                    <a:pt x="546" y="0"/>
                  </a:lnTo>
                </a:path>
              </a:pathLst>
            </a:custGeom>
            <a:noFill/>
            <a:ln w="3175">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125" name="文本框 623652"/>
            <p:cNvSpPr txBox="1">
              <a:spLocks noChangeArrowheads="1"/>
            </p:cNvSpPr>
            <p:nvPr/>
          </p:nvSpPr>
          <p:spPr bwMode="auto">
            <a:xfrm>
              <a:off x="1476" y="2790"/>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200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r</a:t>
              </a:r>
              <a:r>
                <a:rPr lang="en-US" altLang="zh-CN" sz="2000" baseline="-2500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0</a:t>
              </a:r>
              <a:endParaRPr lang="en-US" altLang="zh-CN" sz="2000" dirty="0">
                <a:solidFill>
                  <a:srgbClr val="000000"/>
                </a:solidFill>
                <a:latin typeface="微软雅黑" panose="020B0503020204020204" pitchFamily="34" charset="-122"/>
                <a:ea typeface="微软雅黑" panose="020B0503020204020204" pitchFamily="34" charset="-122"/>
              </a:endParaRPr>
            </a:p>
          </p:txBody>
        </p:sp>
      </p:grpSp>
      <p:sp>
        <p:nvSpPr>
          <p:cNvPr id="248" name="文本框 247"/>
          <p:cNvSpPr txBox="1">
            <a:spLocks noChangeArrowheads="1"/>
          </p:cNvSpPr>
          <p:nvPr/>
        </p:nvSpPr>
        <p:spPr bwMode="auto">
          <a:xfrm>
            <a:off x="2789699" y="5249982"/>
            <a:ext cx="303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微软雅黑" panose="020B0503020204020204" pitchFamily="34" charset="-122"/>
                <a:ea typeface="微软雅黑" panose="020B0503020204020204" pitchFamily="34" charset="-122"/>
              </a:rPr>
              <a:t>B</a:t>
            </a:r>
            <a:endParaRPr lang="en-US" altLang="zh-CN" sz="1400">
              <a:latin typeface="微软雅黑" panose="020B0503020204020204" pitchFamily="34" charset="-122"/>
              <a:ea typeface="微软雅黑" panose="020B0503020204020204" pitchFamily="34" charset="-122"/>
            </a:endParaRPr>
          </a:p>
        </p:txBody>
      </p:sp>
      <p:sp>
        <p:nvSpPr>
          <p:cNvPr id="249" name="文本框 248"/>
          <p:cNvSpPr txBox="1">
            <a:spLocks noChangeArrowheads="1"/>
          </p:cNvSpPr>
          <p:nvPr/>
        </p:nvSpPr>
        <p:spPr bwMode="auto">
          <a:xfrm>
            <a:off x="970428" y="6405229"/>
            <a:ext cx="303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微软雅黑" panose="020B0503020204020204" pitchFamily="34" charset="-122"/>
                <a:ea typeface="微软雅黑" panose="020B0503020204020204" pitchFamily="34" charset="-122"/>
              </a:rPr>
              <a:t>C</a:t>
            </a:r>
            <a:endParaRPr lang="en-US" altLang="zh-CN" sz="1400" dirty="0">
              <a:latin typeface="微软雅黑" panose="020B0503020204020204" pitchFamily="34" charset="-122"/>
              <a:ea typeface="微软雅黑" panose="020B0503020204020204" pitchFamily="34" charset="-122"/>
            </a:endParaRPr>
          </a:p>
        </p:txBody>
      </p:sp>
      <p:sp>
        <p:nvSpPr>
          <p:cNvPr id="250" name="文本框 249"/>
          <p:cNvSpPr txBox="1">
            <a:spLocks noChangeArrowheads="1"/>
          </p:cNvSpPr>
          <p:nvPr/>
        </p:nvSpPr>
        <p:spPr bwMode="auto">
          <a:xfrm>
            <a:off x="117936" y="4507032"/>
            <a:ext cx="3209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微软雅黑" panose="020B0503020204020204" pitchFamily="34" charset="-122"/>
                <a:ea typeface="微软雅黑" panose="020B0503020204020204" pitchFamily="34" charset="-122"/>
              </a:rPr>
              <a:t>D</a:t>
            </a:r>
            <a:endParaRPr lang="en-US" altLang="zh-CN" sz="1400" dirty="0">
              <a:latin typeface="微软雅黑" panose="020B0503020204020204" pitchFamily="34" charset="-122"/>
              <a:ea typeface="微软雅黑" panose="020B0503020204020204" pitchFamily="34" charset="-122"/>
            </a:endParaRPr>
          </a:p>
        </p:txBody>
      </p:sp>
      <p:grpSp>
        <p:nvGrpSpPr>
          <p:cNvPr id="251" name="组合 250"/>
          <p:cNvGrpSpPr/>
          <p:nvPr/>
        </p:nvGrpSpPr>
        <p:grpSpPr bwMode="auto">
          <a:xfrm>
            <a:off x="1219661" y="4861044"/>
            <a:ext cx="1316038" cy="808038"/>
            <a:chOff x="1428" y="2978"/>
            <a:chExt cx="766" cy="509"/>
          </a:xfrm>
        </p:grpSpPr>
        <p:sp>
          <p:nvSpPr>
            <p:cNvPr id="252" name="任意多边形 623695"/>
            <p:cNvSpPr>
              <a:spLocks noChangeArrowheads="1"/>
            </p:cNvSpPr>
            <p:nvPr/>
          </p:nvSpPr>
          <p:spPr bwMode="auto">
            <a:xfrm>
              <a:off x="1428" y="2978"/>
              <a:ext cx="697" cy="509"/>
            </a:xfrm>
            <a:custGeom>
              <a:avLst/>
              <a:gdLst>
                <a:gd name="T0" fmla="*/ 0 w 21600"/>
                <a:gd name="T1" fmla="*/ 0 h 15809"/>
                <a:gd name="T2" fmla="*/ 0 w 21600"/>
                <a:gd name="T3" fmla="*/ 0 h 15809"/>
                <a:gd name="T4" fmla="*/ 0 w 21600"/>
                <a:gd name="T5" fmla="*/ 0 h 15809"/>
                <a:gd name="T6" fmla="*/ 0 w 21600"/>
                <a:gd name="T7" fmla="*/ 0 h 15809"/>
                <a:gd name="T8" fmla="*/ 0 w 21600"/>
                <a:gd name="T9" fmla="*/ 0 h 15809"/>
                <a:gd name="T10" fmla="*/ 0 w 21600"/>
                <a:gd name="T11" fmla="*/ 0 h 15809"/>
                <a:gd name="T12" fmla="*/ 0 w 21600"/>
                <a:gd name="T13" fmla="*/ 0 h 158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15809" fill="none">
                  <a:moveTo>
                    <a:pt x="21489" y="0"/>
                  </a:moveTo>
                  <a:cubicBezTo>
                    <a:pt x="21562" y="716"/>
                    <a:pt x="21599" y="1443"/>
                    <a:pt x="21599" y="2180"/>
                  </a:cubicBezTo>
                  <a:cubicBezTo>
                    <a:pt x="21599" y="7348"/>
                    <a:pt x="19784" y="12092"/>
                    <a:pt x="16757" y="15810"/>
                  </a:cubicBezTo>
                </a:path>
                <a:path w="21600" h="15809" stroke="0">
                  <a:moveTo>
                    <a:pt x="21489" y="0"/>
                  </a:moveTo>
                  <a:cubicBezTo>
                    <a:pt x="21562" y="716"/>
                    <a:pt x="21599" y="1443"/>
                    <a:pt x="21599" y="2180"/>
                  </a:cubicBezTo>
                  <a:cubicBezTo>
                    <a:pt x="21599" y="7348"/>
                    <a:pt x="19784" y="12092"/>
                    <a:pt x="16757" y="15810"/>
                  </a:cubicBezTo>
                  <a:lnTo>
                    <a:pt x="0" y="2180"/>
                  </a:lnTo>
                  <a:lnTo>
                    <a:pt x="21489" y="0"/>
                  </a:lnTo>
                  <a:close/>
                </a:path>
              </a:pathLst>
            </a:custGeom>
            <a:noFill/>
            <a:ln w="12700">
              <a:solidFill>
                <a:srgbClr val="CC3399"/>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53" name="文本框 623696"/>
            <p:cNvSpPr txBox="1">
              <a:spLocks noChangeArrowheads="1"/>
            </p:cNvSpPr>
            <p:nvPr/>
          </p:nvSpPr>
          <p:spPr bwMode="auto">
            <a:xfrm>
              <a:off x="2016" y="3264"/>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a:solidFill>
                    <a:srgbClr val="CC3399"/>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zh-CN" altLang="en-US" sz="1400">
                <a:solidFill>
                  <a:srgbClr val="CC3399"/>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grpSp>
      <p:sp>
        <p:nvSpPr>
          <p:cNvPr id="259" name="任意多边形 258"/>
          <p:cNvSpPr>
            <a:spLocks noChangeArrowheads="1"/>
          </p:cNvSpPr>
          <p:nvPr/>
        </p:nvSpPr>
        <p:spPr bwMode="auto">
          <a:xfrm flipH="1">
            <a:off x="411625" y="4172069"/>
            <a:ext cx="809625" cy="800100"/>
          </a:xfrm>
          <a:custGeom>
            <a:avLst/>
            <a:gdLst>
              <a:gd name="T0" fmla="*/ 0 w 20152"/>
              <a:gd name="T1" fmla="*/ 0 h 21600"/>
              <a:gd name="T2" fmla="*/ 2147483646 w 20152"/>
              <a:gd name="T3" fmla="*/ 2147483646 h 21600"/>
              <a:gd name="T4" fmla="*/ 0 w 20152"/>
              <a:gd name="T5" fmla="*/ 0 h 21600"/>
              <a:gd name="T6" fmla="*/ 2147483646 w 20152"/>
              <a:gd name="T7" fmla="*/ 2147483646 h 21600"/>
              <a:gd name="T8" fmla="*/ 0 w 20152"/>
              <a:gd name="T9" fmla="*/ 214748364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152" h="21600" fill="none">
                <a:moveTo>
                  <a:pt x="0" y="0"/>
                </a:moveTo>
                <a:cubicBezTo>
                  <a:pt x="9187" y="0"/>
                  <a:pt x="17034" y="5735"/>
                  <a:pt x="20155" y="13817"/>
                </a:cubicBezTo>
              </a:path>
              <a:path w="20152" h="21600" stroke="0">
                <a:moveTo>
                  <a:pt x="0" y="0"/>
                </a:moveTo>
                <a:cubicBezTo>
                  <a:pt x="9187" y="0"/>
                  <a:pt x="17034" y="5735"/>
                  <a:pt x="20155" y="13817"/>
                </a:cubicBezTo>
                <a:lnTo>
                  <a:pt x="0" y="21600"/>
                </a:lnTo>
                <a:lnTo>
                  <a:pt x="0" y="0"/>
                </a:lnTo>
                <a:close/>
              </a:path>
            </a:pathLst>
          </a:custGeom>
          <a:noFill/>
          <a:ln w="28575">
            <a:solidFill>
              <a:srgbClr val="FF33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latin typeface="微软雅黑" panose="020B0503020204020204" pitchFamily="34" charset="-122"/>
              <a:ea typeface="微软雅黑" panose="020B0503020204020204" pitchFamily="34" charset="-122"/>
            </a:endParaRPr>
          </a:p>
        </p:txBody>
      </p:sp>
      <p:sp>
        <p:nvSpPr>
          <p:cNvPr id="260" name="任意多边形 259"/>
          <p:cNvSpPr>
            <a:spLocks noChangeArrowheads="1"/>
          </p:cNvSpPr>
          <p:nvPr/>
        </p:nvSpPr>
        <p:spPr bwMode="auto">
          <a:xfrm flipV="1">
            <a:off x="1199025" y="4957882"/>
            <a:ext cx="1563687" cy="1524000"/>
          </a:xfrm>
          <a:custGeom>
            <a:avLst/>
            <a:gdLst>
              <a:gd name="T0" fmla="*/ 2147483646 w 20482"/>
              <a:gd name="T1" fmla="*/ 0 h 21598"/>
              <a:gd name="T2" fmla="*/ 2147483646 w 20482"/>
              <a:gd name="T3" fmla="*/ 2147483646 h 21598"/>
              <a:gd name="T4" fmla="*/ 2147483646 w 20482"/>
              <a:gd name="T5" fmla="*/ 0 h 21598"/>
              <a:gd name="T6" fmla="*/ 2147483646 w 20482"/>
              <a:gd name="T7" fmla="*/ 2147483646 h 21598"/>
              <a:gd name="T8" fmla="*/ 0 w 20482"/>
              <a:gd name="T9" fmla="*/ 2147483646 h 215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482" h="21598" fill="none">
                <a:moveTo>
                  <a:pt x="314" y="0"/>
                </a:moveTo>
                <a:cubicBezTo>
                  <a:pt x="9708" y="135"/>
                  <a:pt x="17650" y="6264"/>
                  <a:pt x="20485" y="14730"/>
                </a:cubicBezTo>
              </a:path>
              <a:path w="20482" h="21598" stroke="0">
                <a:moveTo>
                  <a:pt x="314" y="0"/>
                </a:moveTo>
                <a:cubicBezTo>
                  <a:pt x="9708" y="135"/>
                  <a:pt x="17650" y="6264"/>
                  <a:pt x="20485" y="14730"/>
                </a:cubicBezTo>
                <a:lnTo>
                  <a:pt x="0" y="21598"/>
                </a:lnTo>
                <a:lnTo>
                  <a:pt x="314" y="0"/>
                </a:lnTo>
                <a:close/>
              </a:path>
            </a:pathLst>
          </a:custGeom>
          <a:noFill/>
          <a:ln w="28575">
            <a:solidFill>
              <a:srgbClr val="FF33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latin typeface="微软雅黑" panose="020B0503020204020204" pitchFamily="34" charset="-122"/>
              <a:ea typeface="微软雅黑" panose="020B0503020204020204" pitchFamily="34" charset="-122"/>
            </a:endParaRPr>
          </a:p>
        </p:txBody>
      </p:sp>
      <p:sp>
        <p:nvSpPr>
          <p:cNvPr id="12" name="矩形 11"/>
          <p:cNvSpPr/>
          <p:nvPr/>
        </p:nvSpPr>
        <p:spPr>
          <a:xfrm>
            <a:off x="901640" y="4920852"/>
            <a:ext cx="372218" cy="369332"/>
          </a:xfrm>
          <a:prstGeom prst="rect">
            <a:avLst/>
          </a:prstGeom>
        </p:spPr>
        <p:txBody>
          <a:bodyPr wrap="square">
            <a:spAutoFit/>
          </a:bodyPr>
          <a:lstStyle/>
          <a:p>
            <a:pPr>
              <a:spcBef>
                <a:spcPct val="0"/>
              </a:spcBef>
            </a:pPr>
            <a:r>
              <a:rPr lang="en-US" altLang="zh-CN" dirty="0">
                <a:latin typeface="微软雅黑" panose="020B0503020204020204" pitchFamily="34" charset="-122"/>
                <a:ea typeface="微软雅黑" panose="020B0503020204020204" pitchFamily="34" charset="-122"/>
              </a:rPr>
              <a:t>O</a:t>
            </a:r>
            <a:endParaRPr lang="en-US" altLang="zh-CN" dirty="0">
              <a:latin typeface="微软雅黑" panose="020B0503020204020204" pitchFamily="34" charset="-122"/>
              <a:ea typeface="微软雅黑" panose="020B0503020204020204" pitchFamily="34" charset="-122"/>
            </a:endParaRPr>
          </a:p>
        </p:txBody>
      </p:sp>
      <p:sp>
        <p:nvSpPr>
          <p:cNvPr id="2" name="矩形 1"/>
          <p:cNvSpPr/>
          <p:nvPr/>
        </p:nvSpPr>
        <p:spPr>
          <a:xfrm>
            <a:off x="5227320" y="1546225"/>
            <a:ext cx="6708775" cy="607695"/>
          </a:xfrm>
          <a:prstGeom prst="rect">
            <a:avLst/>
          </a:prstGeom>
        </p:spPr>
        <p:txBody>
          <a:bodyPr wrap="square">
            <a:spAutoFit/>
          </a:bodyPr>
          <a:lstStyle/>
          <a:p>
            <a:pPr marL="273050" indent="-273050">
              <a:lnSpc>
                <a:spcPct val="105000"/>
              </a:lnSpc>
              <a:spcBef>
                <a:spcPct val="5000"/>
              </a:spcBef>
            </a:pPr>
            <a:r>
              <a:rPr lang="zh-CN" altLang="en-US" sz="1600" b="1" dirty="0">
                <a:solidFill>
                  <a:srgbClr val="201E84"/>
                </a:solidFill>
                <a:latin typeface="微软雅黑" panose="020B0503020204020204" pitchFamily="34" charset="-122"/>
                <a:ea typeface="微软雅黑" panose="020B0503020204020204" pitchFamily="34" charset="-122"/>
              </a:rPr>
              <a:t>Base Circle: The circle formed by the minimum radius of the cam profile</a:t>
            </a:r>
            <a:endParaRPr lang="zh-CN" altLang="en-US" sz="1600" b="1" dirty="0">
              <a:solidFill>
                <a:srgbClr val="201E84"/>
              </a:solidFill>
              <a:latin typeface="微软雅黑" panose="020B0503020204020204" pitchFamily="34" charset="-122"/>
              <a:ea typeface="微软雅黑" panose="020B0503020204020204" pitchFamily="34" charset="-122"/>
            </a:endParaRPr>
          </a:p>
        </p:txBody>
      </p:sp>
      <p:sp>
        <p:nvSpPr>
          <p:cNvPr id="15" name="矩形 14"/>
          <p:cNvSpPr/>
          <p:nvPr/>
        </p:nvSpPr>
        <p:spPr>
          <a:xfrm>
            <a:off x="5334000" y="2080895"/>
            <a:ext cx="4255135" cy="349250"/>
          </a:xfrm>
          <a:prstGeom prst="rect">
            <a:avLst/>
          </a:prstGeom>
        </p:spPr>
        <p:txBody>
          <a:bodyPr wrap="square">
            <a:spAutoFit/>
          </a:bodyPr>
          <a:lstStyle/>
          <a:p>
            <a:pPr marL="273050" indent="-273050">
              <a:lnSpc>
                <a:spcPct val="105000"/>
              </a:lnSpc>
              <a:spcBef>
                <a:spcPct val="5000"/>
              </a:spcBef>
            </a:pPr>
            <a:r>
              <a:rPr lang="en-US" altLang="zh-CN" sz="1600" b="1" kern="0" dirty="0">
                <a:solidFill>
                  <a:srgbClr val="201E84"/>
                </a:solidFill>
                <a:latin typeface="微软雅黑" panose="020B0503020204020204" pitchFamily="34" charset="-122"/>
                <a:ea typeface="微软雅黑" panose="020B0503020204020204" pitchFamily="34" charset="-122"/>
              </a:rPr>
              <a:t>r₀: Base Circle Radius</a:t>
            </a:r>
            <a:endParaRPr lang="en-US" altLang="zh-CN" sz="1600" b="1" kern="0" baseline="-25000" dirty="0">
              <a:solidFill>
                <a:srgbClr val="201E84"/>
              </a:solidFill>
              <a:latin typeface="微软雅黑" panose="020B0503020204020204" pitchFamily="34" charset="-122"/>
              <a:ea typeface="微软雅黑" panose="020B0503020204020204" pitchFamily="34" charset="-122"/>
            </a:endParaRPr>
          </a:p>
        </p:txBody>
      </p:sp>
      <p:sp>
        <p:nvSpPr>
          <p:cNvPr id="27" name="矩形 26"/>
          <p:cNvSpPr/>
          <p:nvPr/>
        </p:nvSpPr>
        <p:spPr>
          <a:xfrm>
            <a:off x="-48260" y="6133465"/>
            <a:ext cx="1363345" cy="645160"/>
          </a:xfrm>
          <a:prstGeom prst="rect">
            <a:avLst/>
          </a:prstGeom>
        </p:spPr>
        <p:txBody>
          <a:bodyPr wrap="square">
            <a:spAutoFit/>
          </a:bodyPr>
          <a:lstStyle/>
          <a:p>
            <a:r>
              <a:rPr lang="zh-CN" altLang="en-US" b="1" kern="0" dirty="0">
                <a:latin typeface="微软雅黑" panose="020B0503020204020204" pitchFamily="34" charset="-122"/>
                <a:ea typeface="微软雅黑" panose="020B0503020204020204" pitchFamily="34" charset="-122"/>
              </a:rPr>
              <a:t>Base Circle</a:t>
            </a:r>
            <a:endParaRPr lang="zh-CN" altLang="en-US" b="1" kern="0" dirty="0">
              <a:latin typeface="微软雅黑" panose="020B0503020204020204" pitchFamily="34" charset="-122"/>
              <a:ea typeface="微软雅黑" panose="020B0503020204020204" pitchFamily="34" charset="-122"/>
            </a:endParaRPr>
          </a:p>
        </p:txBody>
      </p:sp>
      <p:sp>
        <p:nvSpPr>
          <p:cNvPr id="137" name="Line 24"/>
          <p:cNvSpPr>
            <a:spLocks noChangeShapeType="1"/>
          </p:cNvSpPr>
          <p:nvPr/>
        </p:nvSpPr>
        <p:spPr bwMode="auto">
          <a:xfrm flipH="1">
            <a:off x="332803" y="5438895"/>
            <a:ext cx="180427" cy="752474"/>
          </a:xfrm>
          <a:prstGeom prst="line">
            <a:avLst/>
          </a:prstGeom>
          <a:noFill/>
          <a:ln w="22225" cap="sq">
            <a:solidFill>
              <a:srgbClr val="FF00FF"/>
            </a:solidFill>
            <a:round/>
            <a:headEnd type="none" w="med" len="lg"/>
            <a:tailEnd type="none" w="sm" len="sm"/>
          </a:ln>
          <a:extLst>
            <a:ext uri="{909E8E84-426E-40DD-AFC4-6F175D3DCCD1}">
              <a14:hiddenFill xmlns:a14="http://schemas.microsoft.com/office/drawing/2010/main">
                <a:noFill/>
              </a14:hiddenFill>
            </a:ext>
          </a:extLst>
        </p:spPr>
        <p:txBody>
          <a:bodyPr wrap="square"/>
          <a:lstStyle/>
          <a:p>
            <a:endParaRPr lang="en-US">
              <a:latin typeface="微软雅黑" panose="020B0503020204020204" pitchFamily="34" charset="-122"/>
              <a:ea typeface="微软雅黑" panose="020B0503020204020204" pitchFamily="34" charset="-122"/>
            </a:endParaRPr>
          </a:p>
        </p:txBody>
      </p:sp>
      <p:grpSp>
        <p:nvGrpSpPr>
          <p:cNvPr id="33" name="组合 32"/>
          <p:cNvGrpSpPr/>
          <p:nvPr/>
        </p:nvGrpSpPr>
        <p:grpSpPr>
          <a:xfrm>
            <a:off x="1137112" y="1895594"/>
            <a:ext cx="4127499" cy="3216279"/>
            <a:chOff x="1137112" y="1895594"/>
            <a:chExt cx="4127499" cy="3216279"/>
          </a:xfrm>
        </p:grpSpPr>
        <p:grpSp>
          <p:nvGrpSpPr>
            <p:cNvPr id="5" name="组合 4"/>
            <p:cNvGrpSpPr/>
            <p:nvPr/>
          </p:nvGrpSpPr>
          <p:grpSpPr>
            <a:xfrm>
              <a:off x="1137112" y="1895594"/>
              <a:ext cx="4127499" cy="3216279"/>
              <a:chOff x="1137112" y="1895594"/>
              <a:chExt cx="4127499" cy="3216279"/>
            </a:xfrm>
          </p:grpSpPr>
          <p:sp>
            <p:nvSpPr>
              <p:cNvPr id="112" name="任意多边形 623639"/>
              <p:cNvSpPr>
                <a:spLocks noChangeArrowheads="1"/>
              </p:cNvSpPr>
              <p:nvPr/>
            </p:nvSpPr>
            <p:spPr bwMode="auto">
              <a:xfrm>
                <a:off x="1222837" y="4516560"/>
                <a:ext cx="495300" cy="595313"/>
              </a:xfrm>
              <a:custGeom>
                <a:avLst/>
                <a:gdLst>
                  <a:gd name="T0" fmla="*/ 0 w 21600"/>
                  <a:gd name="T1" fmla="*/ 0 h 28159"/>
                  <a:gd name="T2" fmla="*/ 0 w 21600"/>
                  <a:gd name="T3" fmla="*/ 0 h 28159"/>
                  <a:gd name="T4" fmla="*/ 0 w 21600"/>
                  <a:gd name="T5" fmla="*/ 0 h 28159"/>
                  <a:gd name="T6" fmla="*/ 0 w 21600"/>
                  <a:gd name="T7" fmla="*/ 0 h 28159"/>
                  <a:gd name="T8" fmla="*/ 0 w 21600"/>
                  <a:gd name="T9" fmla="*/ 0 h 28159"/>
                  <a:gd name="T10" fmla="*/ 0 w 21600"/>
                  <a:gd name="T11" fmla="*/ 0 h 28159"/>
                  <a:gd name="T12" fmla="*/ 0 w 21600"/>
                  <a:gd name="T13" fmla="*/ 0 h 28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8159" fill="none">
                    <a:moveTo>
                      <a:pt x="0" y="0"/>
                    </a:moveTo>
                    <a:cubicBezTo>
                      <a:pt x="11929" y="0"/>
                      <a:pt x="21600" y="9671"/>
                      <a:pt x="21600" y="21600"/>
                    </a:cubicBezTo>
                    <a:cubicBezTo>
                      <a:pt x="21600" y="23890"/>
                      <a:pt x="21244" y="26097"/>
                      <a:pt x="20585" y="28163"/>
                    </a:cubicBezTo>
                  </a:path>
                  <a:path w="21600" h="28159" stroke="0">
                    <a:moveTo>
                      <a:pt x="0" y="0"/>
                    </a:moveTo>
                    <a:cubicBezTo>
                      <a:pt x="11929" y="0"/>
                      <a:pt x="21600" y="9671"/>
                      <a:pt x="21600" y="21600"/>
                    </a:cubicBezTo>
                    <a:cubicBezTo>
                      <a:pt x="21600" y="23890"/>
                      <a:pt x="21244" y="26097"/>
                      <a:pt x="20585" y="28163"/>
                    </a:cubicBezTo>
                    <a:lnTo>
                      <a:pt x="0" y="21600"/>
                    </a:lnTo>
                    <a:lnTo>
                      <a:pt x="0" y="0"/>
                    </a:lnTo>
                    <a:close/>
                  </a:path>
                </a:pathLst>
              </a:custGeom>
              <a:noFill/>
              <a:ln w="3175">
                <a:solidFill>
                  <a:srgbClr val="FF330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126" name="组合 125"/>
              <p:cNvGrpSpPr/>
              <p:nvPr/>
            </p:nvGrpSpPr>
            <p:grpSpPr bwMode="auto">
              <a:xfrm>
                <a:off x="1137112" y="1895594"/>
                <a:ext cx="180975" cy="1562100"/>
                <a:chOff x="1380" y="1110"/>
                <a:chExt cx="106" cy="984"/>
              </a:xfrm>
            </p:grpSpPr>
            <p:sp>
              <p:nvSpPr>
                <p:cNvPr id="127" name="等腰三角形 623654"/>
                <p:cNvSpPr>
                  <a:spLocks noChangeArrowheads="1"/>
                </p:cNvSpPr>
                <p:nvPr/>
              </p:nvSpPr>
              <p:spPr bwMode="auto">
                <a:xfrm flipV="1">
                  <a:off x="1380" y="1914"/>
                  <a:ext cx="106" cy="180"/>
                </a:xfrm>
                <a:prstGeom prst="triangle">
                  <a:avLst>
                    <a:gd name="adj" fmla="val 50000"/>
                  </a:avLst>
                </a:prstGeom>
                <a:solidFill>
                  <a:srgbClr val="FF99CC"/>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微软雅黑" panose="020B0503020204020204" pitchFamily="34" charset="-122"/>
                    <a:ea typeface="微软雅黑" panose="020B0503020204020204" pitchFamily="34" charset="-122"/>
                  </a:endParaRPr>
                </a:p>
              </p:txBody>
            </p:sp>
            <p:sp>
              <p:nvSpPr>
                <p:cNvPr id="128" name="直接连接符 623655"/>
                <p:cNvSpPr>
                  <a:spLocks noChangeShapeType="1"/>
                </p:cNvSpPr>
                <p:nvPr/>
              </p:nvSpPr>
              <p:spPr bwMode="auto">
                <a:xfrm flipV="1">
                  <a:off x="1434" y="1110"/>
                  <a:ext cx="0" cy="80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sp>
            <p:nvSpPr>
              <p:cNvPr id="129" name="任意多边形 128"/>
              <p:cNvSpPr>
                <a:spLocks noChangeArrowheads="1"/>
              </p:cNvSpPr>
              <p:nvPr/>
            </p:nvSpPr>
            <p:spPr bwMode="auto">
              <a:xfrm>
                <a:off x="3964449" y="3486269"/>
                <a:ext cx="1300162" cy="685800"/>
              </a:xfrm>
              <a:custGeom>
                <a:avLst/>
                <a:gdLst>
                  <a:gd name="T0" fmla="*/ 0 w 756"/>
                  <a:gd name="T1" fmla="*/ 2147483646 h 432"/>
                  <a:gd name="T2" fmla="*/ 2147483646 w 756"/>
                  <a:gd name="T3" fmla="*/ 2147483646 h 432"/>
                  <a:gd name="T4" fmla="*/ 2147483646 w 756"/>
                  <a:gd name="T5" fmla="*/ 2147483646 h 432"/>
                  <a:gd name="T6" fmla="*/ 2147483646 w 756"/>
                  <a:gd name="T7" fmla="*/ 2147483646 h 432"/>
                  <a:gd name="T8" fmla="*/ 2147483646 w 756"/>
                  <a:gd name="T9" fmla="*/ 2147483646 h 432"/>
                  <a:gd name="T10" fmla="*/ 2147483646 w 756"/>
                  <a:gd name="T11" fmla="*/ 2147483646 h 432"/>
                  <a:gd name="T12" fmla="*/ 2147483646 w 756"/>
                  <a:gd name="T13" fmla="*/ 2147483646 h 432"/>
                  <a:gd name="T14" fmla="*/ 2147483646 w 756"/>
                  <a:gd name="T15" fmla="*/ 2147483646 h 432"/>
                  <a:gd name="T16" fmla="*/ 2147483646 w 756"/>
                  <a:gd name="T17" fmla="*/ 2147483646 h 432"/>
                  <a:gd name="T18" fmla="*/ 2147483646 w 756"/>
                  <a:gd name="T19" fmla="*/ 2147483646 h 432"/>
                  <a:gd name="T20" fmla="*/ 2147483646 w 756"/>
                  <a:gd name="T21" fmla="*/ 2147483646 h 432"/>
                  <a:gd name="T22" fmla="*/ 2147483646 w 756"/>
                  <a:gd name="T23" fmla="*/ 2147483646 h 432"/>
                  <a:gd name="T24" fmla="*/ 2147483646 w 756"/>
                  <a:gd name="T25" fmla="*/ 0 h 4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6" h="432">
                    <a:moveTo>
                      <a:pt x="0" y="432"/>
                    </a:moveTo>
                    <a:lnTo>
                      <a:pt x="48" y="426"/>
                    </a:lnTo>
                    <a:lnTo>
                      <a:pt x="96" y="417"/>
                    </a:lnTo>
                    <a:lnTo>
                      <a:pt x="168" y="393"/>
                    </a:lnTo>
                    <a:lnTo>
                      <a:pt x="261" y="354"/>
                    </a:lnTo>
                    <a:lnTo>
                      <a:pt x="342" y="297"/>
                    </a:lnTo>
                    <a:lnTo>
                      <a:pt x="423" y="213"/>
                    </a:lnTo>
                    <a:lnTo>
                      <a:pt x="483" y="141"/>
                    </a:lnTo>
                    <a:lnTo>
                      <a:pt x="543" y="87"/>
                    </a:lnTo>
                    <a:lnTo>
                      <a:pt x="609" y="42"/>
                    </a:lnTo>
                    <a:lnTo>
                      <a:pt x="678" y="15"/>
                    </a:lnTo>
                    <a:lnTo>
                      <a:pt x="714" y="6"/>
                    </a:lnTo>
                    <a:lnTo>
                      <a:pt x="756" y="0"/>
                    </a:lnTo>
                  </a:path>
                </a:pathLst>
              </a:cu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133" name="组合 132"/>
              <p:cNvGrpSpPr/>
              <p:nvPr/>
            </p:nvGrpSpPr>
            <p:grpSpPr bwMode="auto">
              <a:xfrm>
                <a:off x="3964449" y="3486269"/>
                <a:ext cx="1293812" cy="1417638"/>
                <a:chOff x="2641" y="2112"/>
                <a:chExt cx="752" cy="893"/>
              </a:xfrm>
            </p:grpSpPr>
            <p:sp>
              <p:nvSpPr>
                <p:cNvPr id="134" name="直接连接符 623661"/>
                <p:cNvSpPr>
                  <a:spLocks noChangeShapeType="1"/>
                </p:cNvSpPr>
                <p:nvPr/>
              </p:nvSpPr>
              <p:spPr bwMode="auto">
                <a:xfrm>
                  <a:off x="3392" y="2112"/>
                  <a:ext cx="0" cy="816"/>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135" name="组合 623662"/>
                <p:cNvGrpSpPr/>
                <p:nvPr/>
              </p:nvGrpSpPr>
              <p:grpSpPr bwMode="auto">
                <a:xfrm>
                  <a:off x="2641" y="2813"/>
                  <a:ext cx="752" cy="192"/>
                  <a:chOff x="2641" y="2813"/>
                  <a:chExt cx="752" cy="192"/>
                </a:xfrm>
              </p:grpSpPr>
              <p:sp>
                <p:nvSpPr>
                  <p:cNvPr id="220" name="任意多边形 623663"/>
                  <p:cNvSpPr>
                    <a:spLocks noChangeArrowheads="1"/>
                  </p:cNvSpPr>
                  <p:nvPr/>
                </p:nvSpPr>
                <p:spPr bwMode="auto">
                  <a:xfrm>
                    <a:off x="2641" y="2831"/>
                    <a:ext cx="752" cy="1"/>
                  </a:xfrm>
                  <a:custGeom>
                    <a:avLst/>
                    <a:gdLst>
                      <a:gd name="T0" fmla="*/ 0 w 752"/>
                      <a:gd name="T1" fmla="*/ 0 h 1"/>
                      <a:gd name="T2" fmla="*/ 752 w 752"/>
                      <a:gd name="T3" fmla="*/ 1 h 1"/>
                      <a:gd name="T4" fmla="*/ 0 60000 65536"/>
                      <a:gd name="T5" fmla="*/ 0 60000 65536"/>
                    </a:gdLst>
                    <a:ahLst/>
                    <a:cxnLst>
                      <a:cxn ang="T4">
                        <a:pos x="T0" y="T1"/>
                      </a:cxn>
                      <a:cxn ang="T5">
                        <a:pos x="T2" y="T3"/>
                      </a:cxn>
                    </a:cxnLst>
                    <a:rect l="0" t="0" r="r" b="b"/>
                    <a:pathLst>
                      <a:path w="752" h="1">
                        <a:moveTo>
                          <a:pt x="0" y="0"/>
                        </a:moveTo>
                        <a:lnTo>
                          <a:pt x="752" y="1"/>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22" name="文本框 623665"/>
                  <p:cNvSpPr txBox="1">
                    <a:spLocks noChangeArrowheads="1"/>
                  </p:cNvSpPr>
                  <p:nvPr/>
                </p:nvSpPr>
                <p:spPr bwMode="auto">
                  <a:xfrm>
                    <a:off x="2862" y="2813"/>
                    <a:ext cx="3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b="1">
                        <a:latin typeface="微软雅黑" panose="020B0503020204020204" pitchFamily="34" charset="-122"/>
                        <a:ea typeface="微软雅黑" panose="020B0503020204020204" pitchFamily="34" charset="-122"/>
                      </a:rPr>
                      <a:t>推程</a:t>
                    </a:r>
                    <a:endParaRPr lang="zh-CN" altLang="en-US" sz="1400" b="1">
                      <a:latin typeface="微软雅黑" panose="020B0503020204020204" pitchFamily="34" charset="-122"/>
                      <a:ea typeface="微软雅黑" panose="020B0503020204020204" pitchFamily="34" charset="-122"/>
                    </a:endParaRPr>
                  </a:p>
                </p:txBody>
              </p:sp>
            </p:grpSp>
          </p:grpSp>
          <p:grpSp>
            <p:nvGrpSpPr>
              <p:cNvPr id="254" name="组合 253"/>
              <p:cNvGrpSpPr/>
              <p:nvPr/>
            </p:nvGrpSpPr>
            <p:grpSpPr bwMode="auto">
              <a:xfrm>
                <a:off x="1240299" y="3486269"/>
                <a:ext cx="3962400" cy="685800"/>
                <a:chOff x="1056" y="2112"/>
                <a:chExt cx="2304" cy="432"/>
              </a:xfrm>
            </p:grpSpPr>
            <p:sp>
              <p:nvSpPr>
                <p:cNvPr id="255" name="直接连接符 623698"/>
                <p:cNvSpPr>
                  <a:spLocks noChangeShapeType="1"/>
                </p:cNvSpPr>
                <p:nvPr/>
              </p:nvSpPr>
              <p:spPr bwMode="auto">
                <a:xfrm>
                  <a:off x="1056" y="2112"/>
                  <a:ext cx="2304"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56" name="直接连接符 623699"/>
                <p:cNvSpPr>
                  <a:spLocks noChangeShapeType="1"/>
                </p:cNvSpPr>
                <p:nvPr/>
              </p:nvSpPr>
              <p:spPr bwMode="auto">
                <a:xfrm>
                  <a:off x="2448" y="2112"/>
                  <a:ext cx="0" cy="432"/>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57" name="文本框 623700"/>
                <p:cNvSpPr txBox="1">
                  <a:spLocks noChangeArrowheads="1"/>
                </p:cNvSpPr>
                <p:nvPr/>
              </p:nvSpPr>
              <p:spPr bwMode="auto">
                <a:xfrm rot="16200000">
                  <a:off x="2247" y="2216"/>
                  <a:ext cx="18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微软雅黑" panose="020B0503020204020204" pitchFamily="34" charset="-122"/>
                      <a:ea typeface="微软雅黑" panose="020B0503020204020204" pitchFamily="34" charset="-122"/>
                    </a:rPr>
                    <a:t>h</a:t>
                  </a:r>
                  <a:endParaRPr lang="en-US" altLang="zh-CN" sz="1400" dirty="0">
                    <a:latin typeface="微软雅黑" panose="020B0503020204020204" pitchFamily="34" charset="-122"/>
                    <a:ea typeface="微软雅黑" panose="020B0503020204020204" pitchFamily="34" charset="-122"/>
                  </a:endParaRPr>
                </a:p>
              </p:txBody>
            </p:sp>
          </p:grpSp>
          <p:sp>
            <p:nvSpPr>
              <p:cNvPr id="258" name="文本框 257"/>
              <p:cNvSpPr txBox="1">
                <a:spLocks noChangeArrowheads="1"/>
              </p:cNvSpPr>
              <p:nvPr/>
            </p:nvSpPr>
            <p:spPr bwMode="auto">
              <a:xfrm>
                <a:off x="1262525" y="3211633"/>
                <a:ext cx="4726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微软雅黑" panose="020B0503020204020204" pitchFamily="34" charset="-122"/>
                    <a:ea typeface="微软雅黑" panose="020B0503020204020204" pitchFamily="34" charset="-122"/>
                  </a:rPr>
                  <a:t>A’</a:t>
                </a:r>
                <a:endParaRPr lang="en-US" altLang="zh-CN" sz="1400">
                  <a:latin typeface="微软雅黑" panose="020B0503020204020204" pitchFamily="34" charset="-122"/>
                  <a:ea typeface="微软雅黑" panose="020B0503020204020204" pitchFamily="34" charset="-122"/>
                </a:endParaRPr>
              </a:p>
            </p:txBody>
          </p:sp>
        </p:grpSp>
        <p:graphicFrame>
          <p:nvGraphicFramePr>
            <p:cNvPr id="138" name="Object 20"/>
            <p:cNvGraphicFramePr>
              <a:graphicFrameLocks noChangeAspect="1"/>
            </p:cNvGraphicFramePr>
            <p:nvPr/>
          </p:nvGraphicFramePr>
          <p:xfrm>
            <a:off x="4517566" y="4238513"/>
            <a:ext cx="341313" cy="434975"/>
          </p:xfrm>
          <a:graphic>
            <a:graphicData uri="http://schemas.openxmlformats.org/presentationml/2006/ole">
              <mc:AlternateContent xmlns:mc="http://schemas.openxmlformats.org/markup-compatibility/2006">
                <mc:Choice xmlns:v="urn:schemas-microsoft-com:vml" Requires="v">
                  <p:oleObj spid="_x0000_s229460" name="公式" r:id="rId3" imgW="4572000" imgH="5791200" progId="Equation.3">
                    <p:embed/>
                  </p:oleObj>
                </mc:Choice>
                <mc:Fallback>
                  <p:oleObj name="公式" r:id="rId3" imgW="4572000" imgH="5791200" progId="Equation.3">
                    <p:embed/>
                    <p:pic>
                      <p:nvPicPr>
                        <p:cNvPr id="0" name="Object 20"/>
                        <p:cNvPicPr>
                          <a:picLocks noChangeAspect="1" noChangeArrowheads="1"/>
                        </p:cNvPicPr>
                        <p:nvPr/>
                      </p:nvPicPr>
                      <p:blipFill>
                        <a:blip r:embed="rId4"/>
                        <a:srcRect/>
                        <a:stretch>
                          <a:fillRect/>
                        </a:stretch>
                      </p:blipFill>
                      <p:spPr bwMode="auto">
                        <a:xfrm>
                          <a:off x="4517566" y="4238513"/>
                          <a:ext cx="341313" cy="434975"/>
                        </a:xfrm>
                        <a:prstGeom prst="rect">
                          <a:avLst/>
                        </a:prstGeom>
                        <a:noFill/>
                        <a:ln>
                          <a:noFill/>
                        </a:ln>
                        <a:effectLst/>
                      </p:spPr>
                    </p:pic>
                  </p:oleObj>
                </mc:Fallback>
              </mc:AlternateContent>
            </a:graphicData>
          </a:graphic>
        </p:graphicFrame>
        <p:graphicFrame>
          <p:nvGraphicFramePr>
            <p:cNvPr id="142" name="Object 20"/>
            <p:cNvGraphicFramePr>
              <a:graphicFrameLocks noChangeAspect="1"/>
            </p:cNvGraphicFramePr>
            <p:nvPr/>
          </p:nvGraphicFramePr>
          <p:xfrm>
            <a:off x="1492684" y="4332408"/>
            <a:ext cx="341313" cy="434975"/>
          </p:xfrm>
          <a:graphic>
            <a:graphicData uri="http://schemas.openxmlformats.org/presentationml/2006/ole">
              <mc:AlternateContent xmlns:mc="http://schemas.openxmlformats.org/markup-compatibility/2006">
                <mc:Choice xmlns:v="urn:schemas-microsoft-com:vml" Requires="v">
                  <p:oleObj spid="_x0000_s229461" name="公式" r:id="rId5" imgW="4572000" imgH="5791200" progId="Equation.3">
                    <p:embed/>
                  </p:oleObj>
                </mc:Choice>
                <mc:Fallback>
                  <p:oleObj name="公式" r:id="rId5" imgW="4572000" imgH="5791200" progId="Equation.3">
                    <p:embed/>
                    <p:pic>
                      <p:nvPicPr>
                        <p:cNvPr id="0" name="Object 20"/>
                        <p:cNvPicPr>
                          <a:picLocks noChangeAspect="1" noChangeArrowheads="1"/>
                        </p:cNvPicPr>
                        <p:nvPr/>
                      </p:nvPicPr>
                      <p:blipFill>
                        <a:blip r:embed="rId6"/>
                        <a:srcRect/>
                        <a:stretch>
                          <a:fillRect/>
                        </a:stretch>
                      </p:blipFill>
                      <p:spPr bwMode="auto">
                        <a:xfrm>
                          <a:off x="1492684" y="4332408"/>
                          <a:ext cx="341313" cy="434975"/>
                        </a:xfrm>
                        <a:prstGeom prst="rect">
                          <a:avLst/>
                        </a:prstGeom>
                        <a:noFill/>
                        <a:ln>
                          <a:noFill/>
                        </a:ln>
                        <a:effectLst/>
                      </p:spPr>
                    </p:pic>
                  </p:oleObj>
                </mc:Fallback>
              </mc:AlternateContent>
            </a:graphicData>
          </a:graphic>
        </p:graphicFrame>
      </p:grpSp>
      <p:grpSp>
        <p:nvGrpSpPr>
          <p:cNvPr id="34" name="组合 33"/>
          <p:cNvGrpSpPr/>
          <p:nvPr/>
        </p:nvGrpSpPr>
        <p:grpSpPr>
          <a:xfrm>
            <a:off x="1222839" y="3486269"/>
            <a:ext cx="4949822" cy="2182816"/>
            <a:chOff x="1222839" y="3486269"/>
            <a:chExt cx="4949822" cy="2182816"/>
          </a:xfrm>
        </p:grpSpPr>
        <p:grpSp>
          <p:nvGrpSpPr>
            <p:cNvPr id="16" name="组合 15"/>
            <p:cNvGrpSpPr/>
            <p:nvPr/>
          </p:nvGrpSpPr>
          <p:grpSpPr>
            <a:xfrm>
              <a:off x="1222839" y="3486269"/>
              <a:ext cx="4949822" cy="1943100"/>
              <a:chOff x="1222839" y="3486269"/>
              <a:chExt cx="4949822" cy="1943100"/>
            </a:xfrm>
          </p:grpSpPr>
          <p:sp>
            <p:nvSpPr>
              <p:cNvPr id="115" name="任意多边形 623642"/>
              <p:cNvSpPr>
                <a:spLocks noChangeArrowheads="1"/>
              </p:cNvSpPr>
              <p:nvPr/>
            </p:nvSpPr>
            <p:spPr bwMode="auto">
              <a:xfrm>
                <a:off x="1222839" y="4972169"/>
                <a:ext cx="473845" cy="457200"/>
              </a:xfrm>
              <a:custGeom>
                <a:avLst/>
                <a:gdLst>
                  <a:gd name="T0" fmla="*/ 0 w 20609"/>
                  <a:gd name="T1" fmla="*/ 0 h 21599"/>
                  <a:gd name="T2" fmla="*/ 0 w 20609"/>
                  <a:gd name="T3" fmla="*/ 0 h 21599"/>
                  <a:gd name="T4" fmla="*/ 0 w 20609"/>
                  <a:gd name="T5" fmla="*/ 0 h 21599"/>
                  <a:gd name="T6" fmla="*/ 0 w 20609"/>
                  <a:gd name="T7" fmla="*/ 0 h 21599"/>
                  <a:gd name="T8" fmla="*/ 0 w 20609"/>
                  <a:gd name="T9" fmla="*/ 0 h 215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09" h="21599" fill="none">
                    <a:moveTo>
                      <a:pt x="20609" y="6466"/>
                    </a:moveTo>
                    <a:cubicBezTo>
                      <a:pt x="17882" y="15175"/>
                      <a:pt x="9796" y="21504"/>
                      <a:pt x="219" y="21599"/>
                    </a:cubicBezTo>
                  </a:path>
                  <a:path w="20609" h="21599" stroke="0">
                    <a:moveTo>
                      <a:pt x="20609" y="6466"/>
                    </a:moveTo>
                    <a:cubicBezTo>
                      <a:pt x="17882" y="15175"/>
                      <a:pt x="9796" y="21504"/>
                      <a:pt x="219" y="21599"/>
                    </a:cubicBezTo>
                    <a:lnTo>
                      <a:pt x="0" y="0"/>
                    </a:lnTo>
                    <a:lnTo>
                      <a:pt x="20609" y="6466"/>
                    </a:lnTo>
                    <a:close/>
                  </a:path>
                </a:pathLst>
              </a:custGeom>
              <a:noFill/>
              <a:ln w="3175">
                <a:solidFill>
                  <a:srgbClr val="00000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130" name="直接连接符 129"/>
              <p:cNvSpPr>
                <a:spLocks noChangeShapeType="1"/>
              </p:cNvSpPr>
              <p:nvPr/>
            </p:nvSpPr>
            <p:spPr bwMode="auto">
              <a:xfrm>
                <a:off x="5258261" y="3486269"/>
                <a:ext cx="90805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223" name="组合 222"/>
              <p:cNvGrpSpPr/>
              <p:nvPr/>
            </p:nvGrpSpPr>
            <p:grpSpPr bwMode="auto">
              <a:xfrm>
                <a:off x="5258261" y="3486269"/>
                <a:ext cx="914400" cy="1455738"/>
                <a:chOff x="3393" y="2112"/>
                <a:chExt cx="531" cy="917"/>
              </a:xfrm>
            </p:grpSpPr>
            <p:sp>
              <p:nvSpPr>
                <p:cNvPr id="224" name="直接连接符 623667"/>
                <p:cNvSpPr>
                  <a:spLocks noChangeShapeType="1"/>
                </p:cNvSpPr>
                <p:nvPr/>
              </p:nvSpPr>
              <p:spPr bwMode="auto">
                <a:xfrm>
                  <a:off x="3920" y="2112"/>
                  <a:ext cx="0" cy="816"/>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225" name="组合 623668"/>
                <p:cNvGrpSpPr/>
                <p:nvPr/>
              </p:nvGrpSpPr>
              <p:grpSpPr bwMode="auto">
                <a:xfrm>
                  <a:off x="3393" y="2832"/>
                  <a:ext cx="531" cy="197"/>
                  <a:chOff x="3393" y="2832"/>
                  <a:chExt cx="531" cy="197"/>
                </a:xfrm>
              </p:grpSpPr>
              <p:sp>
                <p:nvSpPr>
                  <p:cNvPr id="226" name="任意多边形 623669"/>
                  <p:cNvSpPr>
                    <a:spLocks noChangeArrowheads="1"/>
                  </p:cNvSpPr>
                  <p:nvPr/>
                </p:nvSpPr>
                <p:spPr bwMode="auto">
                  <a:xfrm>
                    <a:off x="3393" y="2832"/>
                    <a:ext cx="531" cy="1"/>
                  </a:xfrm>
                  <a:custGeom>
                    <a:avLst/>
                    <a:gdLst>
                      <a:gd name="T0" fmla="*/ 0 w 531"/>
                      <a:gd name="T1" fmla="*/ 0 h 1"/>
                      <a:gd name="T2" fmla="*/ 531 w 531"/>
                      <a:gd name="T3" fmla="*/ 1 h 1"/>
                      <a:gd name="T4" fmla="*/ 0 60000 65536"/>
                      <a:gd name="T5" fmla="*/ 0 60000 65536"/>
                    </a:gdLst>
                    <a:ahLst/>
                    <a:cxnLst>
                      <a:cxn ang="T4">
                        <a:pos x="T0" y="T1"/>
                      </a:cxn>
                      <a:cxn ang="T5">
                        <a:pos x="T2" y="T3"/>
                      </a:cxn>
                    </a:cxnLst>
                    <a:rect l="0" t="0" r="r" b="b"/>
                    <a:pathLst>
                      <a:path w="531" h="1">
                        <a:moveTo>
                          <a:pt x="0" y="0"/>
                        </a:moveTo>
                        <a:lnTo>
                          <a:pt x="531" y="1"/>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28" name="文本框 623671"/>
                  <p:cNvSpPr txBox="1">
                    <a:spLocks noChangeArrowheads="1"/>
                  </p:cNvSpPr>
                  <p:nvPr/>
                </p:nvSpPr>
                <p:spPr bwMode="auto">
                  <a:xfrm>
                    <a:off x="3414" y="2837"/>
                    <a:ext cx="4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b="1">
                        <a:solidFill>
                          <a:srgbClr val="000000"/>
                        </a:solidFill>
                        <a:latin typeface="微软雅黑" panose="020B0503020204020204" pitchFamily="34" charset="-122"/>
                        <a:ea typeface="微软雅黑" panose="020B0503020204020204" pitchFamily="34" charset="-122"/>
                      </a:rPr>
                      <a:t>远休止</a:t>
                    </a:r>
                    <a:endParaRPr lang="zh-CN" altLang="en-US" sz="1400" b="1">
                      <a:solidFill>
                        <a:srgbClr val="000000"/>
                      </a:solidFill>
                      <a:latin typeface="微软雅黑" panose="020B0503020204020204" pitchFamily="34" charset="-122"/>
                      <a:ea typeface="微软雅黑" panose="020B0503020204020204" pitchFamily="34" charset="-122"/>
                    </a:endParaRPr>
                  </a:p>
                </p:txBody>
              </p:sp>
            </p:grpSp>
          </p:grpSp>
        </p:grpSp>
        <p:graphicFrame>
          <p:nvGraphicFramePr>
            <p:cNvPr id="140" name="Object 22"/>
            <p:cNvGraphicFramePr>
              <a:graphicFrameLocks noChangeAspect="1"/>
            </p:cNvGraphicFramePr>
            <p:nvPr/>
          </p:nvGraphicFramePr>
          <p:xfrm>
            <a:off x="5554842" y="4239537"/>
            <a:ext cx="342900" cy="411162"/>
          </p:xfrm>
          <a:graphic>
            <a:graphicData uri="http://schemas.openxmlformats.org/presentationml/2006/ole">
              <mc:AlternateContent xmlns:mc="http://schemas.openxmlformats.org/markup-compatibility/2006">
                <mc:Choice xmlns:v="urn:schemas-microsoft-com:vml" Requires="v">
                  <p:oleObj spid="_x0000_s229462" name="公式" r:id="rId7" imgW="190500" imgH="228600" progId="Equation.3">
                    <p:embed/>
                  </p:oleObj>
                </mc:Choice>
                <mc:Fallback>
                  <p:oleObj name="公式" r:id="rId7" imgW="190500" imgH="22860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54842" y="4239537"/>
                          <a:ext cx="34290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 name="Object 22"/>
            <p:cNvGraphicFramePr>
              <a:graphicFrameLocks noChangeAspect="1"/>
            </p:cNvGraphicFramePr>
            <p:nvPr/>
          </p:nvGraphicFramePr>
          <p:xfrm>
            <a:off x="1439496" y="5257923"/>
            <a:ext cx="342900" cy="411162"/>
          </p:xfrm>
          <a:graphic>
            <a:graphicData uri="http://schemas.openxmlformats.org/presentationml/2006/ole">
              <mc:AlternateContent xmlns:mc="http://schemas.openxmlformats.org/markup-compatibility/2006">
                <mc:Choice xmlns:v="urn:schemas-microsoft-com:vml" Requires="v">
                  <p:oleObj spid="_x0000_s229463" name="公式" r:id="rId9" imgW="190500" imgH="228600" progId="Equation.3">
                    <p:embed/>
                  </p:oleObj>
                </mc:Choice>
                <mc:Fallback>
                  <p:oleObj name="公式" r:id="rId9" imgW="190500" imgH="22860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9496" y="5257923"/>
                          <a:ext cx="342900" cy="411162"/>
                        </a:xfrm>
                        <a:prstGeom prst="rect">
                          <a:avLst/>
                        </a:prstGeom>
                        <a:noFill/>
                        <a:ln>
                          <a:noFill/>
                        </a:ln>
                        <a:effectLst/>
                      </p:spPr>
                    </p:pic>
                  </p:oleObj>
                </mc:Fallback>
              </mc:AlternateContent>
            </a:graphicData>
          </a:graphic>
        </p:graphicFrame>
      </p:grpSp>
      <p:grpSp>
        <p:nvGrpSpPr>
          <p:cNvPr id="32" name="组合 31"/>
          <p:cNvGrpSpPr/>
          <p:nvPr/>
        </p:nvGrpSpPr>
        <p:grpSpPr>
          <a:xfrm>
            <a:off x="1322849" y="2753897"/>
            <a:ext cx="7675980" cy="2103974"/>
            <a:chOff x="1322849" y="2753897"/>
            <a:chExt cx="7675980" cy="2103974"/>
          </a:xfrm>
        </p:grpSpPr>
        <p:grpSp>
          <p:nvGrpSpPr>
            <p:cNvPr id="26" name="组合 25"/>
            <p:cNvGrpSpPr/>
            <p:nvPr/>
          </p:nvGrpSpPr>
          <p:grpSpPr>
            <a:xfrm>
              <a:off x="1322849" y="2753897"/>
              <a:ext cx="7675980" cy="2103974"/>
              <a:chOff x="1322849" y="2753897"/>
              <a:chExt cx="7675980" cy="2103974"/>
            </a:xfrm>
          </p:grpSpPr>
          <p:grpSp>
            <p:nvGrpSpPr>
              <p:cNvPr id="241" name="组合 240"/>
              <p:cNvGrpSpPr/>
              <p:nvPr/>
            </p:nvGrpSpPr>
            <p:grpSpPr bwMode="auto">
              <a:xfrm>
                <a:off x="1322849" y="2954458"/>
                <a:ext cx="7675980" cy="1903413"/>
                <a:chOff x="1104" y="1777"/>
                <a:chExt cx="4464" cy="1199"/>
              </a:xfrm>
            </p:grpSpPr>
            <p:sp>
              <p:nvSpPr>
                <p:cNvPr id="242" name="直接连接符 623685"/>
                <p:cNvSpPr>
                  <a:spLocks noChangeShapeType="1"/>
                </p:cNvSpPr>
                <p:nvPr/>
              </p:nvSpPr>
              <p:spPr bwMode="auto">
                <a:xfrm>
                  <a:off x="1104" y="2544"/>
                  <a:ext cx="4464" cy="0"/>
                </a:xfrm>
                <a:prstGeom prst="line">
                  <a:avLst/>
                </a:prstGeom>
                <a:noFill/>
                <a:ln w="317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43" name="直接连接符 623686"/>
                <p:cNvSpPr>
                  <a:spLocks noChangeShapeType="1"/>
                </p:cNvSpPr>
                <p:nvPr/>
              </p:nvSpPr>
              <p:spPr bwMode="auto">
                <a:xfrm flipV="1">
                  <a:off x="2640" y="1863"/>
                  <a:ext cx="0" cy="1113"/>
                </a:xfrm>
                <a:prstGeom prst="line">
                  <a:avLst/>
                </a:prstGeom>
                <a:noFill/>
                <a:ln w="317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46" name="文本框 623689"/>
                <p:cNvSpPr txBox="1">
                  <a:spLocks noChangeArrowheads="1"/>
                </p:cNvSpPr>
                <p:nvPr/>
              </p:nvSpPr>
              <p:spPr bwMode="auto">
                <a:xfrm>
                  <a:off x="2645" y="1777"/>
                  <a:ext cx="15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微软雅黑" panose="020B0503020204020204" pitchFamily="34" charset="-122"/>
                      <a:ea typeface="微软雅黑" panose="020B0503020204020204" pitchFamily="34" charset="-122"/>
                    </a:rPr>
                    <a:t>s</a:t>
                  </a:r>
                  <a:endParaRPr lang="en-US" altLang="zh-CN" sz="1400" dirty="0">
                    <a:latin typeface="微软雅黑" panose="020B0503020204020204" pitchFamily="34" charset="-122"/>
                    <a:ea typeface="微软雅黑" panose="020B0503020204020204" pitchFamily="34" charset="-122"/>
                  </a:endParaRPr>
                </a:p>
              </p:txBody>
            </p:sp>
            <p:sp>
              <p:nvSpPr>
                <p:cNvPr id="247" name="文本框 623690"/>
                <p:cNvSpPr txBox="1">
                  <a:spLocks noChangeArrowheads="1"/>
                </p:cNvSpPr>
                <p:nvPr/>
              </p:nvSpPr>
              <p:spPr bwMode="auto">
                <a:xfrm>
                  <a:off x="2486" y="2359"/>
                  <a:ext cx="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a:latin typeface="微软雅黑" panose="020B0503020204020204" pitchFamily="34" charset="-122"/>
                      <a:ea typeface="微软雅黑" panose="020B0503020204020204" pitchFamily="34" charset="-122"/>
                    </a:rPr>
                    <a:t>0</a:t>
                  </a:r>
                  <a:endParaRPr lang="zh-CN" altLang="zh-CN" sz="1400">
                    <a:latin typeface="微软雅黑" panose="020B0503020204020204" pitchFamily="34" charset="-122"/>
                    <a:ea typeface="微软雅黑" panose="020B0503020204020204" pitchFamily="34" charset="-122"/>
                  </a:endParaRPr>
                </a:p>
              </p:txBody>
            </p:sp>
          </p:grpSp>
          <p:sp>
            <p:nvSpPr>
              <p:cNvPr id="136" name="矩形 135"/>
              <p:cNvSpPr/>
              <p:nvPr/>
            </p:nvSpPr>
            <p:spPr>
              <a:xfrm>
                <a:off x="1492937" y="2753897"/>
                <a:ext cx="2797810" cy="337185"/>
              </a:xfrm>
              <a:prstGeom prst="rect">
                <a:avLst/>
              </a:prstGeom>
            </p:spPr>
            <p:txBody>
              <a:bodyPr wrap="none">
                <a:spAutoFit/>
              </a:bodyPr>
              <a:lstStyle/>
              <a:p>
                <a:pPr algn="l">
                  <a:spcBef>
                    <a:spcPct val="0"/>
                  </a:spcBef>
                </a:pPr>
                <a:r>
                  <a:rPr lang="en-US" altLang="zh-CN" sz="1600" kern="0" dirty="0">
                    <a:latin typeface="微软雅黑" panose="020B0503020204020204" pitchFamily="34" charset="-122"/>
                    <a:ea typeface="微软雅黑" panose="020B0503020204020204" pitchFamily="34" charset="-122"/>
                    <a:sym typeface="Symbol" panose="05050102010706020507" pitchFamily="18" charset="2"/>
                  </a:rPr>
                  <a:t>Push rod motion trajectory</a:t>
                </a:r>
                <a:endParaRPr lang="en-US" altLang="zh-CN" sz="1600" kern="0" dirty="0">
                  <a:latin typeface="微软雅黑" panose="020B0503020204020204" pitchFamily="34" charset="-122"/>
                  <a:ea typeface="微软雅黑" panose="020B0503020204020204" pitchFamily="34" charset="-122"/>
                  <a:sym typeface="Symbol" panose="05050102010706020507" pitchFamily="18" charset="2"/>
                </a:endParaRPr>
              </a:p>
            </p:txBody>
          </p:sp>
        </p:grpSp>
        <mc:AlternateContent xmlns:mc="http://schemas.openxmlformats.org/markup-compatibility/2006">
          <mc:Choice xmlns:a14="http://schemas.microsoft.com/office/drawing/2010/main" Requires="a14">
            <p:sp>
              <p:nvSpPr>
                <p:cNvPr id="31" name="矩形 30"/>
                <p:cNvSpPr/>
                <p:nvPr/>
              </p:nvSpPr>
              <p:spPr>
                <a:xfrm>
                  <a:off x="8678997" y="4121157"/>
                  <a:ext cx="266722" cy="369332"/>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b="0" i="1" smtClean="0">
                            <a:solidFill>
                              <a:schemeClr val="tx1"/>
                            </a:solidFill>
                            <a:latin typeface="Cambria Math" panose="02040503050406030204" pitchFamily="18" charset="0"/>
                            <a:ea typeface="MS Mincho" charset="0"/>
                            <a:cs typeface="Cambria Math" panose="02040503050406030204" pitchFamily="18" charset="0"/>
                          </a:rPr>
                          <m:t>𝜑</m:t>
                        </m:r>
                      </m:oMath>
                    </m:oMathPara>
                  </a14:m>
                  <a:endParaRPr lang="zh-CN" altLang="en-US" b="0" i="1"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31" name="矩形 30"/>
                <p:cNvSpPr>
                  <a:spLocks noRot="1" noChangeAspect="1" noMove="1" noResize="1" noEditPoints="1" noAdjustHandles="1" noChangeArrowheads="1" noChangeShapeType="1" noTextEdit="1"/>
                </p:cNvSpPr>
                <p:nvPr/>
              </p:nvSpPr>
              <p:spPr>
                <a:xfrm>
                  <a:off x="8678997" y="4121157"/>
                  <a:ext cx="266722" cy="369332"/>
                </a:xfrm>
                <a:prstGeom prst="rect">
                  <a:avLst/>
                </a:prstGeom>
                <a:blipFill rotWithShape="1">
                  <a:blip r:embed="rId10"/>
                </a:blipFill>
              </p:spPr>
              <p:txBody>
                <a:bodyPr/>
                <a:lstStyle/>
                <a:p>
                  <a:r>
                    <a:rPr lang="zh-CN" altLang="en-US">
                      <a:noFill/>
                    </a:rPr>
                    <a:t> </a:t>
                  </a:r>
                </a:p>
              </p:txBody>
            </p:sp>
          </mc:Fallback>
        </mc:AlternateContent>
      </p:grpSp>
      <p:grpSp>
        <p:nvGrpSpPr>
          <p:cNvPr id="35" name="组合 34"/>
          <p:cNvGrpSpPr/>
          <p:nvPr/>
        </p:nvGrpSpPr>
        <p:grpSpPr>
          <a:xfrm>
            <a:off x="559816" y="3486269"/>
            <a:ext cx="6906659" cy="2185454"/>
            <a:chOff x="559816" y="3486269"/>
            <a:chExt cx="6906659" cy="2185454"/>
          </a:xfrm>
        </p:grpSpPr>
        <p:grpSp>
          <p:nvGrpSpPr>
            <p:cNvPr id="20" name="组合 19"/>
            <p:cNvGrpSpPr/>
            <p:nvPr/>
          </p:nvGrpSpPr>
          <p:grpSpPr>
            <a:xfrm>
              <a:off x="731659" y="3486269"/>
              <a:ext cx="6734816" cy="1944688"/>
              <a:chOff x="731659" y="3486269"/>
              <a:chExt cx="6734816" cy="1944688"/>
            </a:xfrm>
          </p:grpSpPr>
          <p:sp>
            <p:nvSpPr>
              <p:cNvPr id="118" name="任意多边形 623645"/>
              <p:cNvSpPr>
                <a:spLocks noChangeArrowheads="1"/>
              </p:cNvSpPr>
              <p:nvPr/>
            </p:nvSpPr>
            <p:spPr bwMode="auto">
              <a:xfrm>
                <a:off x="731659" y="4826119"/>
                <a:ext cx="494354" cy="604838"/>
              </a:xfrm>
              <a:custGeom>
                <a:avLst/>
                <a:gdLst>
                  <a:gd name="T0" fmla="*/ 0 w 21600"/>
                  <a:gd name="T1" fmla="*/ 0 h 28564"/>
                  <a:gd name="T2" fmla="*/ 0 w 21600"/>
                  <a:gd name="T3" fmla="*/ 0 h 28564"/>
                  <a:gd name="T4" fmla="*/ 0 w 21600"/>
                  <a:gd name="T5" fmla="*/ 0 h 28564"/>
                  <a:gd name="T6" fmla="*/ 0 w 21600"/>
                  <a:gd name="T7" fmla="*/ 0 h 28564"/>
                  <a:gd name="T8" fmla="*/ 0 w 21600"/>
                  <a:gd name="T9" fmla="*/ 0 h 28564"/>
                  <a:gd name="T10" fmla="*/ 0 w 21600"/>
                  <a:gd name="T11" fmla="*/ 0 h 28564"/>
                  <a:gd name="T12" fmla="*/ 0 w 21600"/>
                  <a:gd name="T13" fmla="*/ 0 h 285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8564" fill="none">
                    <a:moveTo>
                      <a:pt x="21400" y="28564"/>
                    </a:moveTo>
                    <a:cubicBezTo>
                      <a:pt x="9562" y="28456"/>
                      <a:pt x="0" y="18827"/>
                      <a:pt x="0" y="6965"/>
                    </a:cubicBezTo>
                    <a:cubicBezTo>
                      <a:pt x="0" y="4525"/>
                      <a:pt x="405" y="2179"/>
                      <a:pt x="1149" y="-5"/>
                    </a:cubicBezTo>
                  </a:path>
                  <a:path w="21600" h="28564" stroke="0">
                    <a:moveTo>
                      <a:pt x="21400" y="28564"/>
                    </a:moveTo>
                    <a:cubicBezTo>
                      <a:pt x="9562" y="28456"/>
                      <a:pt x="0" y="18827"/>
                      <a:pt x="0" y="6965"/>
                    </a:cubicBezTo>
                    <a:cubicBezTo>
                      <a:pt x="0" y="4525"/>
                      <a:pt x="405" y="2179"/>
                      <a:pt x="1149" y="-5"/>
                    </a:cubicBezTo>
                    <a:lnTo>
                      <a:pt x="21600" y="6965"/>
                    </a:lnTo>
                    <a:lnTo>
                      <a:pt x="21400" y="28564"/>
                    </a:lnTo>
                    <a:close/>
                  </a:path>
                </a:pathLst>
              </a:custGeom>
              <a:noFill/>
              <a:ln w="3175">
                <a:solidFill>
                  <a:srgbClr val="FF330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131" name="任意多边形 130"/>
              <p:cNvSpPr>
                <a:spLocks noChangeArrowheads="1"/>
              </p:cNvSpPr>
              <p:nvPr/>
            </p:nvSpPr>
            <p:spPr bwMode="auto">
              <a:xfrm flipH="1">
                <a:off x="6166312" y="3486269"/>
                <a:ext cx="1300163" cy="685800"/>
              </a:xfrm>
              <a:custGeom>
                <a:avLst/>
                <a:gdLst>
                  <a:gd name="T0" fmla="*/ 0 w 756"/>
                  <a:gd name="T1" fmla="*/ 2147483646 h 432"/>
                  <a:gd name="T2" fmla="*/ 2147483646 w 756"/>
                  <a:gd name="T3" fmla="*/ 2147483646 h 432"/>
                  <a:gd name="T4" fmla="*/ 2147483646 w 756"/>
                  <a:gd name="T5" fmla="*/ 2147483646 h 432"/>
                  <a:gd name="T6" fmla="*/ 2147483646 w 756"/>
                  <a:gd name="T7" fmla="*/ 2147483646 h 432"/>
                  <a:gd name="T8" fmla="*/ 2147483646 w 756"/>
                  <a:gd name="T9" fmla="*/ 2147483646 h 432"/>
                  <a:gd name="T10" fmla="*/ 2147483646 w 756"/>
                  <a:gd name="T11" fmla="*/ 2147483646 h 432"/>
                  <a:gd name="T12" fmla="*/ 2147483646 w 756"/>
                  <a:gd name="T13" fmla="*/ 2147483646 h 432"/>
                  <a:gd name="T14" fmla="*/ 2147483646 w 756"/>
                  <a:gd name="T15" fmla="*/ 2147483646 h 432"/>
                  <a:gd name="T16" fmla="*/ 2147483646 w 756"/>
                  <a:gd name="T17" fmla="*/ 2147483646 h 432"/>
                  <a:gd name="T18" fmla="*/ 2147483646 w 756"/>
                  <a:gd name="T19" fmla="*/ 2147483646 h 432"/>
                  <a:gd name="T20" fmla="*/ 2147483646 w 756"/>
                  <a:gd name="T21" fmla="*/ 2147483646 h 432"/>
                  <a:gd name="T22" fmla="*/ 2147483646 w 756"/>
                  <a:gd name="T23" fmla="*/ 2147483646 h 432"/>
                  <a:gd name="T24" fmla="*/ 2147483646 w 756"/>
                  <a:gd name="T25" fmla="*/ 0 h 4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6" h="432">
                    <a:moveTo>
                      <a:pt x="0" y="432"/>
                    </a:moveTo>
                    <a:lnTo>
                      <a:pt x="48" y="426"/>
                    </a:lnTo>
                    <a:lnTo>
                      <a:pt x="96" y="417"/>
                    </a:lnTo>
                    <a:lnTo>
                      <a:pt x="168" y="393"/>
                    </a:lnTo>
                    <a:lnTo>
                      <a:pt x="261" y="354"/>
                    </a:lnTo>
                    <a:lnTo>
                      <a:pt x="342" y="297"/>
                    </a:lnTo>
                    <a:lnTo>
                      <a:pt x="423" y="213"/>
                    </a:lnTo>
                    <a:lnTo>
                      <a:pt x="483" y="141"/>
                    </a:lnTo>
                    <a:lnTo>
                      <a:pt x="543" y="87"/>
                    </a:lnTo>
                    <a:lnTo>
                      <a:pt x="609" y="42"/>
                    </a:lnTo>
                    <a:lnTo>
                      <a:pt x="678" y="15"/>
                    </a:lnTo>
                    <a:lnTo>
                      <a:pt x="714" y="6"/>
                    </a:lnTo>
                    <a:lnTo>
                      <a:pt x="756" y="0"/>
                    </a:lnTo>
                  </a:path>
                </a:pathLst>
              </a:cu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229" name="组合 228"/>
              <p:cNvGrpSpPr/>
              <p:nvPr/>
            </p:nvGrpSpPr>
            <p:grpSpPr bwMode="auto">
              <a:xfrm>
                <a:off x="6166311" y="4172069"/>
                <a:ext cx="1295400" cy="763588"/>
                <a:chOff x="3921" y="2544"/>
                <a:chExt cx="753" cy="481"/>
              </a:xfrm>
            </p:grpSpPr>
            <p:sp>
              <p:nvSpPr>
                <p:cNvPr id="230" name="直接连接符 623673"/>
                <p:cNvSpPr>
                  <a:spLocks noChangeShapeType="1"/>
                </p:cNvSpPr>
                <p:nvPr/>
              </p:nvSpPr>
              <p:spPr bwMode="auto">
                <a:xfrm>
                  <a:off x="4674" y="2544"/>
                  <a:ext cx="0" cy="38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231" name="组合 623674"/>
                <p:cNvGrpSpPr/>
                <p:nvPr/>
              </p:nvGrpSpPr>
              <p:grpSpPr bwMode="auto">
                <a:xfrm>
                  <a:off x="3921" y="2831"/>
                  <a:ext cx="752" cy="194"/>
                  <a:chOff x="3921" y="2831"/>
                  <a:chExt cx="752" cy="194"/>
                </a:xfrm>
              </p:grpSpPr>
              <p:sp>
                <p:nvSpPr>
                  <p:cNvPr id="232" name="任意多边形 623675"/>
                  <p:cNvSpPr>
                    <a:spLocks noChangeArrowheads="1"/>
                  </p:cNvSpPr>
                  <p:nvPr/>
                </p:nvSpPr>
                <p:spPr bwMode="auto">
                  <a:xfrm>
                    <a:off x="3921" y="2833"/>
                    <a:ext cx="752" cy="1"/>
                  </a:xfrm>
                  <a:custGeom>
                    <a:avLst/>
                    <a:gdLst>
                      <a:gd name="T0" fmla="*/ 0 w 752"/>
                      <a:gd name="T1" fmla="*/ 0 h 1"/>
                      <a:gd name="T2" fmla="*/ 752 w 752"/>
                      <a:gd name="T3" fmla="*/ 1 h 1"/>
                      <a:gd name="T4" fmla="*/ 0 60000 65536"/>
                      <a:gd name="T5" fmla="*/ 0 60000 65536"/>
                    </a:gdLst>
                    <a:ahLst/>
                    <a:cxnLst>
                      <a:cxn ang="T4">
                        <a:pos x="T0" y="T1"/>
                      </a:cxn>
                      <a:cxn ang="T5">
                        <a:pos x="T2" y="T3"/>
                      </a:cxn>
                    </a:cxnLst>
                    <a:rect l="0" t="0" r="r" b="b"/>
                    <a:pathLst>
                      <a:path w="752" h="1">
                        <a:moveTo>
                          <a:pt x="0" y="0"/>
                        </a:moveTo>
                        <a:lnTo>
                          <a:pt x="752" y="1"/>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34" name="文本框 623677"/>
                  <p:cNvSpPr txBox="1">
                    <a:spLocks noChangeArrowheads="1"/>
                  </p:cNvSpPr>
                  <p:nvPr/>
                </p:nvSpPr>
                <p:spPr bwMode="auto">
                  <a:xfrm>
                    <a:off x="4116" y="2831"/>
                    <a:ext cx="31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b="1" dirty="0">
                        <a:latin typeface="微软雅黑" panose="020B0503020204020204" pitchFamily="34" charset="-122"/>
                        <a:ea typeface="微软雅黑" panose="020B0503020204020204" pitchFamily="34" charset="-122"/>
                      </a:rPr>
                      <a:t>回程</a:t>
                    </a:r>
                    <a:endParaRPr lang="zh-CN" altLang="en-US" sz="1400" b="1" dirty="0">
                      <a:latin typeface="微软雅黑" panose="020B0503020204020204" pitchFamily="34" charset="-122"/>
                      <a:ea typeface="微软雅黑" panose="020B0503020204020204" pitchFamily="34" charset="-122"/>
                    </a:endParaRPr>
                  </a:p>
                </p:txBody>
              </p:sp>
            </p:grpSp>
          </p:grpSp>
        </p:grpSp>
        <p:graphicFrame>
          <p:nvGraphicFramePr>
            <p:cNvPr id="139" name="Object 21"/>
            <p:cNvGraphicFramePr>
              <a:graphicFrameLocks noChangeAspect="1"/>
            </p:cNvGraphicFramePr>
            <p:nvPr/>
          </p:nvGraphicFramePr>
          <p:xfrm>
            <a:off x="6669254" y="4241888"/>
            <a:ext cx="341312" cy="433387"/>
          </p:xfrm>
          <a:graphic>
            <a:graphicData uri="http://schemas.openxmlformats.org/presentationml/2006/ole">
              <mc:AlternateContent xmlns:mc="http://schemas.openxmlformats.org/markup-compatibility/2006">
                <mc:Choice xmlns:v="urn:schemas-microsoft-com:vml" Requires="v">
                  <p:oleObj spid="_x0000_s229464" name="公式" r:id="rId11" imgW="4572000" imgH="5791200" progId="Equation.3">
                    <p:embed/>
                  </p:oleObj>
                </mc:Choice>
                <mc:Fallback>
                  <p:oleObj name="公式" r:id="rId11" imgW="4572000" imgH="5791200" progId="Equation.3">
                    <p:embed/>
                    <p:pic>
                      <p:nvPicPr>
                        <p:cNvPr id="0" name="Object 21"/>
                        <p:cNvPicPr>
                          <a:picLocks noChangeAspect="1" noChangeArrowheads="1"/>
                        </p:cNvPicPr>
                        <p:nvPr/>
                      </p:nvPicPr>
                      <p:blipFill>
                        <a:blip r:embed="rId12"/>
                        <a:srcRect/>
                        <a:stretch>
                          <a:fillRect/>
                        </a:stretch>
                      </p:blipFill>
                      <p:spPr bwMode="auto">
                        <a:xfrm>
                          <a:off x="6669254" y="4241888"/>
                          <a:ext cx="34131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 name="Object 21"/>
            <p:cNvGraphicFramePr>
              <a:graphicFrameLocks noChangeAspect="1"/>
            </p:cNvGraphicFramePr>
            <p:nvPr/>
          </p:nvGraphicFramePr>
          <p:xfrm>
            <a:off x="559816" y="5238336"/>
            <a:ext cx="341312" cy="433387"/>
          </p:xfrm>
          <a:graphic>
            <a:graphicData uri="http://schemas.openxmlformats.org/presentationml/2006/ole">
              <mc:AlternateContent xmlns:mc="http://schemas.openxmlformats.org/markup-compatibility/2006">
                <mc:Choice xmlns:v="urn:schemas-microsoft-com:vml" Requires="v">
                  <p:oleObj spid="_x0000_s229465" name="公式" r:id="rId13" imgW="4572000" imgH="5791200" progId="Equation.3">
                    <p:embed/>
                  </p:oleObj>
                </mc:Choice>
                <mc:Fallback>
                  <p:oleObj name="公式" r:id="rId13" imgW="4572000" imgH="5791200" progId="Equation.3">
                    <p:embed/>
                    <p:pic>
                      <p:nvPicPr>
                        <p:cNvPr id="0" name="Object 21"/>
                        <p:cNvPicPr>
                          <a:picLocks noChangeAspect="1" noChangeArrowheads="1"/>
                        </p:cNvPicPr>
                        <p:nvPr/>
                      </p:nvPicPr>
                      <p:blipFill>
                        <a:blip r:embed="rId14"/>
                        <a:srcRect/>
                        <a:stretch>
                          <a:fillRect/>
                        </a:stretch>
                      </p:blipFill>
                      <p:spPr bwMode="auto">
                        <a:xfrm>
                          <a:off x="559816" y="5238336"/>
                          <a:ext cx="34131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 name="组合 35"/>
          <p:cNvGrpSpPr/>
          <p:nvPr/>
        </p:nvGrpSpPr>
        <p:grpSpPr>
          <a:xfrm>
            <a:off x="694116" y="4172069"/>
            <a:ext cx="7731209" cy="806454"/>
            <a:chOff x="694116" y="4172069"/>
            <a:chExt cx="7731209" cy="806454"/>
          </a:xfrm>
        </p:grpSpPr>
        <p:grpSp>
          <p:nvGrpSpPr>
            <p:cNvPr id="21" name="组合 20"/>
            <p:cNvGrpSpPr/>
            <p:nvPr/>
          </p:nvGrpSpPr>
          <p:grpSpPr>
            <a:xfrm>
              <a:off x="762007" y="4172069"/>
              <a:ext cx="7663318" cy="806454"/>
              <a:chOff x="762007" y="4172069"/>
              <a:chExt cx="7663318" cy="806454"/>
            </a:xfrm>
          </p:grpSpPr>
          <p:sp>
            <p:nvSpPr>
              <p:cNvPr id="132" name="任意多边形 131"/>
              <p:cNvSpPr>
                <a:spLocks noChangeArrowheads="1"/>
              </p:cNvSpPr>
              <p:nvPr/>
            </p:nvSpPr>
            <p:spPr bwMode="auto">
              <a:xfrm>
                <a:off x="7458536" y="4172069"/>
                <a:ext cx="966788" cy="1588"/>
              </a:xfrm>
              <a:custGeom>
                <a:avLst/>
                <a:gdLst>
                  <a:gd name="T0" fmla="*/ 0 w 562"/>
                  <a:gd name="T1" fmla="*/ 0 h 1"/>
                  <a:gd name="T2" fmla="*/ 2147483646 w 562"/>
                  <a:gd name="T3" fmla="*/ 2147483646 h 1"/>
                  <a:gd name="T4" fmla="*/ 0 60000 65536"/>
                  <a:gd name="T5" fmla="*/ 0 60000 65536"/>
                </a:gdLst>
                <a:ahLst/>
                <a:cxnLst>
                  <a:cxn ang="T4">
                    <a:pos x="T0" y="T1"/>
                  </a:cxn>
                  <a:cxn ang="T5">
                    <a:pos x="T2" y="T3"/>
                  </a:cxn>
                </a:cxnLst>
                <a:rect l="0" t="0" r="r" b="b"/>
                <a:pathLst>
                  <a:path w="562" h="1">
                    <a:moveTo>
                      <a:pt x="0" y="0"/>
                    </a:moveTo>
                    <a:lnTo>
                      <a:pt x="562" y="1"/>
                    </a:lnTo>
                  </a:path>
                </a:pathLst>
              </a:custGeom>
              <a:noFill/>
              <a:ln w="285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18" name="组合 17"/>
              <p:cNvGrpSpPr/>
              <p:nvPr/>
            </p:nvGrpSpPr>
            <p:grpSpPr>
              <a:xfrm>
                <a:off x="762007" y="4172069"/>
                <a:ext cx="7663318" cy="806454"/>
                <a:chOff x="762007" y="4172069"/>
                <a:chExt cx="7663318" cy="806454"/>
              </a:xfrm>
            </p:grpSpPr>
            <p:sp>
              <p:nvSpPr>
                <p:cNvPr id="121" name="任意多边形 623648"/>
                <p:cNvSpPr>
                  <a:spLocks noChangeArrowheads="1"/>
                </p:cNvSpPr>
                <p:nvPr/>
              </p:nvSpPr>
              <p:spPr bwMode="auto">
                <a:xfrm>
                  <a:off x="762007" y="4521323"/>
                  <a:ext cx="468766" cy="457200"/>
                </a:xfrm>
                <a:custGeom>
                  <a:avLst/>
                  <a:gdLst>
                    <a:gd name="T0" fmla="*/ 0 w 20461"/>
                    <a:gd name="T1" fmla="*/ 0 h 21599"/>
                    <a:gd name="T2" fmla="*/ 0 w 20461"/>
                    <a:gd name="T3" fmla="*/ 0 h 21599"/>
                    <a:gd name="T4" fmla="*/ 0 w 20461"/>
                    <a:gd name="T5" fmla="*/ 0 h 21599"/>
                    <a:gd name="T6" fmla="*/ 0 w 20461"/>
                    <a:gd name="T7" fmla="*/ 0 h 21599"/>
                    <a:gd name="T8" fmla="*/ 0 w 20461"/>
                    <a:gd name="T9" fmla="*/ 0 h 215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461" h="21599" fill="none">
                      <a:moveTo>
                        <a:pt x="0" y="14677"/>
                      </a:moveTo>
                      <a:cubicBezTo>
                        <a:pt x="2863" y="6205"/>
                        <a:pt x="10830" y="95"/>
                        <a:pt x="20237" y="0"/>
                      </a:cubicBezTo>
                    </a:path>
                    <a:path w="20461" h="21599" stroke="0">
                      <a:moveTo>
                        <a:pt x="0" y="14677"/>
                      </a:moveTo>
                      <a:cubicBezTo>
                        <a:pt x="2863" y="6205"/>
                        <a:pt x="10830" y="95"/>
                        <a:pt x="20237" y="0"/>
                      </a:cubicBezTo>
                      <a:lnTo>
                        <a:pt x="20461" y="21599"/>
                      </a:lnTo>
                      <a:lnTo>
                        <a:pt x="0" y="14677"/>
                      </a:lnTo>
                      <a:close/>
                    </a:path>
                  </a:pathLst>
                </a:custGeom>
                <a:noFill/>
                <a:ln w="3175">
                  <a:solidFill>
                    <a:srgbClr val="00000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235" name="组合 234"/>
                <p:cNvGrpSpPr/>
                <p:nvPr/>
              </p:nvGrpSpPr>
              <p:grpSpPr bwMode="auto">
                <a:xfrm>
                  <a:off x="7461712" y="4172069"/>
                  <a:ext cx="963613" cy="782638"/>
                  <a:chOff x="4674" y="2544"/>
                  <a:chExt cx="561" cy="493"/>
                </a:xfrm>
              </p:grpSpPr>
              <p:sp>
                <p:nvSpPr>
                  <p:cNvPr id="236" name="直接连接符 623679"/>
                  <p:cNvSpPr>
                    <a:spLocks noChangeShapeType="1"/>
                  </p:cNvSpPr>
                  <p:nvPr/>
                </p:nvSpPr>
                <p:spPr bwMode="auto">
                  <a:xfrm>
                    <a:off x="5232" y="2544"/>
                    <a:ext cx="0" cy="38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latin typeface="微软雅黑" panose="020B0503020204020204" pitchFamily="34" charset="-122"/>
                      <a:ea typeface="微软雅黑" panose="020B0503020204020204" pitchFamily="34" charset="-122"/>
                    </a:endParaRPr>
                  </a:p>
                </p:txBody>
              </p:sp>
              <p:grpSp>
                <p:nvGrpSpPr>
                  <p:cNvPr id="237" name="组合 623680"/>
                  <p:cNvGrpSpPr/>
                  <p:nvPr/>
                </p:nvGrpSpPr>
                <p:grpSpPr bwMode="auto">
                  <a:xfrm>
                    <a:off x="4674" y="2834"/>
                    <a:ext cx="561" cy="203"/>
                    <a:chOff x="4674" y="2834"/>
                    <a:chExt cx="561" cy="203"/>
                  </a:xfrm>
                </p:grpSpPr>
                <p:sp>
                  <p:nvSpPr>
                    <p:cNvPr id="238" name="任意多边形 623681"/>
                    <p:cNvSpPr>
                      <a:spLocks noChangeArrowheads="1"/>
                    </p:cNvSpPr>
                    <p:nvPr/>
                  </p:nvSpPr>
                  <p:spPr bwMode="auto">
                    <a:xfrm>
                      <a:off x="4674" y="2834"/>
                      <a:ext cx="561" cy="1"/>
                    </a:xfrm>
                    <a:custGeom>
                      <a:avLst/>
                      <a:gdLst>
                        <a:gd name="T0" fmla="*/ 0 w 561"/>
                        <a:gd name="T1" fmla="*/ 0 h 1"/>
                        <a:gd name="T2" fmla="*/ 561 w 561"/>
                        <a:gd name="T3" fmla="*/ 1 h 1"/>
                        <a:gd name="T4" fmla="*/ 0 60000 65536"/>
                        <a:gd name="T5" fmla="*/ 0 60000 65536"/>
                      </a:gdLst>
                      <a:ahLst/>
                      <a:cxnLst>
                        <a:cxn ang="T4">
                          <a:pos x="T0" y="T1"/>
                        </a:cxn>
                        <a:cxn ang="T5">
                          <a:pos x="T2" y="T3"/>
                        </a:cxn>
                      </a:cxnLst>
                      <a:rect l="0" t="0" r="r" b="b"/>
                      <a:pathLst>
                        <a:path w="561" h="1">
                          <a:moveTo>
                            <a:pt x="0" y="0"/>
                          </a:moveTo>
                          <a:lnTo>
                            <a:pt x="561" y="1"/>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latin typeface="微软雅黑" panose="020B0503020204020204" pitchFamily="34" charset="-122"/>
                        <a:ea typeface="微软雅黑" panose="020B0503020204020204" pitchFamily="34" charset="-122"/>
                      </a:endParaRPr>
                    </a:p>
                  </p:txBody>
                </p:sp>
                <p:sp>
                  <p:nvSpPr>
                    <p:cNvPr id="240" name="文本框 623683"/>
                    <p:cNvSpPr txBox="1">
                      <a:spLocks noChangeArrowheads="1"/>
                    </p:cNvSpPr>
                    <p:nvPr/>
                  </p:nvSpPr>
                  <p:spPr bwMode="auto">
                    <a:xfrm>
                      <a:off x="4740" y="2843"/>
                      <a:ext cx="42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b="1" dirty="0">
                          <a:solidFill>
                            <a:srgbClr val="000000"/>
                          </a:solidFill>
                          <a:latin typeface="微软雅黑" panose="020B0503020204020204" pitchFamily="34" charset="-122"/>
                          <a:ea typeface="微软雅黑" panose="020B0503020204020204" pitchFamily="34" charset="-122"/>
                        </a:rPr>
                        <a:t>近休止</a:t>
                      </a:r>
                      <a:endParaRPr lang="zh-CN" altLang="en-US" sz="1400" b="1" dirty="0">
                        <a:solidFill>
                          <a:srgbClr val="000000"/>
                        </a:solidFill>
                        <a:latin typeface="微软雅黑" panose="020B0503020204020204" pitchFamily="34" charset="-122"/>
                        <a:ea typeface="微软雅黑" panose="020B0503020204020204" pitchFamily="34" charset="-122"/>
                      </a:endParaRPr>
                    </a:p>
                  </p:txBody>
                </p:sp>
              </p:grpSp>
            </p:grpSp>
          </p:grpSp>
        </p:grpSp>
        <p:graphicFrame>
          <p:nvGraphicFramePr>
            <p:cNvPr id="141" name="Object 23"/>
            <p:cNvGraphicFramePr>
              <a:graphicFrameLocks noChangeAspect="1"/>
            </p:cNvGraphicFramePr>
            <p:nvPr/>
          </p:nvGraphicFramePr>
          <p:xfrm>
            <a:off x="7739686" y="4250418"/>
            <a:ext cx="342900" cy="411163"/>
          </p:xfrm>
          <a:graphic>
            <a:graphicData uri="http://schemas.openxmlformats.org/presentationml/2006/ole">
              <mc:AlternateContent xmlns:mc="http://schemas.openxmlformats.org/markup-compatibility/2006">
                <mc:Choice xmlns:v="urn:schemas-microsoft-com:vml" Requires="v">
                  <p:oleObj spid="_x0000_s229466" name="公式" r:id="rId15" imgW="190500" imgH="228600" progId="Equation.3">
                    <p:embed/>
                  </p:oleObj>
                </mc:Choice>
                <mc:Fallback>
                  <p:oleObj name="公式" r:id="rId15" imgW="190500" imgH="228600"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39686" y="4250418"/>
                          <a:ext cx="34290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 name="Object 23"/>
            <p:cNvGraphicFramePr>
              <a:graphicFrameLocks noChangeAspect="1"/>
            </p:cNvGraphicFramePr>
            <p:nvPr/>
          </p:nvGraphicFramePr>
          <p:xfrm>
            <a:off x="694116" y="4250418"/>
            <a:ext cx="342900" cy="411163"/>
          </p:xfrm>
          <a:graphic>
            <a:graphicData uri="http://schemas.openxmlformats.org/presentationml/2006/ole">
              <mc:AlternateContent xmlns:mc="http://schemas.openxmlformats.org/markup-compatibility/2006">
                <mc:Choice xmlns:v="urn:schemas-microsoft-com:vml" Requires="v">
                  <p:oleObj spid="_x0000_s229467" name="公式" r:id="rId17" imgW="190500" imgH="228600" progId="Equation.3">
                    <p:embed/>
                  </p:oleObj>
                </mc:Choice>
                <mc:Fallback>
                  <p:oleObj name="公式" r:id="rId17" imgW="190500" imgH="228600"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4116" y="4250418"/>
                          <a:ext cx="34290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9" name="文本框 118"/>
          <p:cNvSpPr txBox="1">
            <a:spLocks noChangeArrowheads="1"/>
          </p:cNvSpPr>
          <p:nvPr/>
        </p:nvSpPr>
        <p:spPr bwMode="auto">
          <a:xfrm>
            <a:off x="1941230" y="5193650"/>
            <a:ext cx="3593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微软雅黑" panose="020B0503020204020204" pitchFamily="34" charset="-122"/>
                <a:ea typeface="微软雅黑" panose="020B0503020204020204" pitchFamily="34" charset="-122"/>
              </a:rPr>
              <a:t>M</a:t>
            </a:r>
            <a:endParaRPr lang="en-US" altLang="zh-CN" sz="1400" dirty="0">
              <a:latin typeface="微软雅黑" panose="020B0503020204020204" pitchFamily="34" charset="-122"/>
              <a:ea typeface="微软雅黑" panose="020B0503020204020204" pitchFamily="34" charset="-122"/>
            </a:endParaRPr>
          </a:p>
        </p:txBody>
      </p:sp>
      <p:sp>
        <p:nvSpPr>
          <p:cNvPr id="120" name="矩形 119"/>
          <p:cNvSpPr/>
          <p:nvPr/>
        </p:nvSpPr>
        <p:spPr>
          <a:xfrm>
            <a:off x="5233780" y="1132280"/>
            <a:ext cx="5753273" cy="365421"/>
          </a:xfrm>
          <a:prstGeom prst="rect">
            <a:avLst/>
          </a:prstGeom>
        </p:spPr>
        <p:txBody>
          <a:bodyPr wrap="square">
            <a:spAutoFit/>
          </a:bodyPr>
          <a:lstStyle/>
          <a:p>
            <a:pPr marL="273050" indent="-273050">
              <a:lnSpc>
                <a:spcPct val="105000"/>
              </a:lnSpc>
              <a:spcBef>
                <a:spcPct val="5000"/>
              </a:spcBef>
            </a:pPr>
            <a:r>
              <a:rPr lang="zh-CN" altLang="en-US" b="1" kern="0" dirty="0">
                <a:latin typeface="微软雅黑" panose="020B0503020204020204" pitchFamily="34" charset="-122"/>
                <a:ea typeface="微软雅黑" panose="020B0503020204020204" pitchFamily="34" charset="-122"/>
              </a:rPr>
              <a:t>What is the base circle?</a:t>
            </a:r>
            <a:endParaRPr lang="zh-CN" altLang="en-US" b="1" kern="0" baseline="-25000" dirty="0">
              <a:latin typeface="微软雅黑" panose="020B0503020204020204" pitchFamily="34" charset="-122"/>
              <a:ea typeface="微软雅黑" panose="020B0503020204020204" pitchFamily="34" charset="-122"/>
            </a:endParaRPr>
          </a:p>
        </p:txBody>
      </p:sp>
      <p:sp>
        <p:nvSpPr>
          <p:cNvPr id="122" name="矩形 121"/>
          <p:cNvSpPr/>
          <p:nvPr/>
        </p:nvSpPr>
        <p:spPr>
          <a:xfrm>
            <a:off x="5294630" y="2388870"/>
            <a:ext cx="6708775" cy="381635"/>
          </a:xfrm>
          <a:prstGeom prst="rect">
            <a:avLst/>
          </a:prstGeom>
        </p:spPr>
        <p:txBody>
          <a:bodyPr wrap="square">
            <a:spAutoFit/>
          </a:bodyPr>
          <a:lstStyle/>
          <a:p>
            <a:pPr marL="273050" indent="-273050">
              <a:lnSpc>
                <a:spcPct val="105000"/>
              </a:lnSpc>
              <a:spcBef>
                <a:spcPct val="5000"/>
              </a:spcBef>
            </a:pPr>
            <a:r>
              <a:rPr lang="zh-CN" altLang="en-US" b="1" kern="0" dirty="0">
                <a:latin typeface="微软雅黑" panose="020B0503020204020204" pitchFamily="34" charset="-122"/>
                <a:ea typeface="微软雅黑" panose="020B0503020204020204" pitchFamily="34" charset="-122"/>
              </a:rPr>
              <a:t>What are rise, dwell at max lift, return, dwell at min lift?</a:t>
            </a:r>
            <a:endParaRPr lang="zh-CN" altLang="en-US" b="1" kern="0" baseline="-25000" dirty="0">
              <a:latin typeface="微软雅黑" panose="020B0503020204020204" pitchFamily="34" charset="-122"/>
              <a:ea typeface="微软雅黑" panose="020B0503020204020204" pitchFamily="34" charset="-122"/>
            </a:endParaRPr>
          </a:p>
        </p:txBody>
      </p:sp>
      <p:sp>
        <p:nvSpPr>
          <p:cNvPr id="148" name="矩形 147"/>
          <p:cNvSpPr/>
          <p:nvPr/>
        </p:nvSpPr>
        <p:spPr>
          <a:xfrm>
            <a:off x="5294424" y="2815970"/>
            <a:ext cx="5753273" cy="365421"/>
          </a:xfrm>
          <a:prstGeom prst="rect">
            <a:avLst/>
          </a:prstGeom>
        </p:spPr>
        <p:txBody>
          <a:bodyPr wrap="square">
            <a:spAutoFit/>
          </a:bodyPr>
          <a:lstStyle/>
          <a:p>
            <a:pPr marL="273050" indent="-273050">
              <a:lnSpc>
                <a:spcPct val="105000"/>
              </a:lnSpc>
              <a:spcBef>
                <a:spcPct val="5000"/>
              </a:spcBef>
            </a:pPr>
            <a:r>
              <a:rPr lang="zh-CN" altLang="en-US" b="1" kern="0" dirty="0">
                <a:latin typeface="微软雅黑" panose="020B0503020204020204" pitchFamily="34" charset="-122"/>
                <a:ea typeface="微软雅黑" panose="020B0503020204020204" pitchFamily="34" charset="-122"/>
              </a:rPr>
              <a:t>What are rise angle, dwell angle at max, return angle, dwell angle at min?</a:t>
            </a:r>
            <a:endParaRPr lang="zh-CN" altLang="en-US" b="1" kern="0" baseline="-25000" dirty="0">
              <a:latin typeface="微软雅黑" panose="020B0503020204020204" pitchFamily="34" charset="-122"/>
              <a:ea typeface="微软雅黑" panose="020B0503020204020204" pitchFamily="34" charset="-122"/>
            </a:endParaRPr>
          </a:p>
        </p:txBody>
      </p:sp>
      <p:sp>
        <p:nvSpPr>
          <p:cNvPr id="106" name="矩形 105"/>
          <p:cNvSpPr/>
          <p:nvPr/>
        </p:nvSpPr>
        <p:spPr>
          <a:xfrm>
            <a:off x="7684135" y="3580765"/>
            <a:ext cx="3084195" cy="381635"/>
          </a:xfrm>
          <a:prstGeom prst="rect">
            <a:avLst/>
          </a:prstGeom>
        </p:spPr>
        <p:txBody>
          <a:bodyPr wrap="square">
            <a:spAutoFit/>
          </a:bodyPr>
          <a:lstStyle/>
          <a:p>
            <a:pPr marL="273050" indent="-273050">
              <a:lnSpc>
                <a:spcPct val="105000"/>
              </a:lnSpc>
              <a:spcBef>
                <a:spcPct val="5000"/>
              </a:spcBef>
            </a:pPr>
            <a:r>
              <a:rPr lang="zh-CN" altLang="en-US" b="1" kern="0" dirty="0">
                <a:latin typeface="微软雅黑" panose="020B0503020204020204" pitchFamily="34" charset="-122"/>
                <a:ea typeface="微软雅黑" panose="020B0503020204020204" pitchFamily="34" charset="-122"/>
              </a:rPr>
              <a:t>What is the lift (stroke)?</a:t>
            </a:r>
            <a:endParaRPr lang="zh-CN" altLang="en-US" b="1" kern="0" baseline="-25000" dirty="0">
              <a:latin typeface="微软雅黑" panose="020B0503020204020204" pitchFamily="34" charset="-122"/>
              <a:ea typeface="微软雅黑" panose="020B0503020204020204" pitchFamily="34" charset="-122"/>
            </a:endParaRPr>
          </a:p>
        </p:txBody>
      </p:sp>
      <p:sp>
        <p:nvSpPr>
          <p:cNvPr id="107" name="文本框 623700"/>
          <p:cNvSpPr txBox="1">
            <a:spLocks noChangeArrowheads="1"/>
          </p:cNvSpPr>
          <p:nvPr/>
        </p:nvSpPr>
        <p:spPr bwMode="auto">
          <a:xfrm>
            <a:off x="10768054" y="3645338"/>
            <a:ext cx="333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b="1" kern="0" dirty="0">
                <a:solidFill>
                  <a:srgbClr val="201E84"/>
                </a:solidFill>
                <a:latin typeface="微软雅黑" panose="020B0503020204020204" pitchFamily="34" charset="-122"/>
                <a:ea typeface="微软雅黑" panose="020B0503020204020204" pitchFamily="34" charset="-122"/>
              </a:rPr>
              <a:t>h</a:t>
            </a:r>
            <a:endParaRPr lang="en-US" altLang="zh-CN" sz="1800" b="1" kern="0" dirty="0">
              <a:solidFill>
                <a:srgbClr val="201E84"/>
              </a:solidFill>
              <a:latin typeface="微软雅黑" panose="020B0503020204020204" pitchFamily="34" charset="-122"/>
              <a:ea typeface="微软雅黑" panose="020B0503020204020204" pitchFamily="34" charset="-122"/>
            </a:endParaRPr>
          </a:p>
        </p:txBody>
      </p:sp>
      <p:sp>
        <p:nvSpPr>
          <p:cNvPr id="54" name="TextBox 8"/>
          <p:cNvSpPr txBox="1"/>
          <p:nvPr/>
        </p:nvSpPr>
        <p:spPr>
          <a:xfrm>
            <a:off x="1007878" y="319709"/>
            <a:ext cx="9470935" cy="521970"/>
          </a:xfrm>
          <a:prstGeom prst="rect">
            <a:avLst/>
          </a:prstGeom>
          <a:noFill/>
        </p:spPr>
        <p:txBody>
          <a:bodyPr wrap="square" rtlCol="0">
            <a:spAutoFit/>
          </a:bodyPr>
          <a:lstStyle/>
          <a:p>
            <a:r>
              <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文本框 3"/>
          <p:cNvSpPr txBox="1"/>
          <p:nvPr/>
        </p:nvSpPr>
        <p:spPr>
          <a:xfrm>
            <a:off x="3792220" y="4959350"/>
            <a:ext cx="6096000" cy="368300"/>
          </a:xfrm>
          <a:prstGeom prst="rect">
            <a:avLst/>
          </a:prstGeom>
          <a:noFill/>
        </p:spPr>
        <p:txBody>
          <a:bodyPr wrap="square" rtlCol="0" anchor="t">
            <a:spAutoFit/>
          </a:bodyPr>
          <a:p>
            <a:r>
              <a:rPr lang="zh-CN" altLang="en-US" b="1" kern="0" dirty="0">
                <a:latin typeface="微软雅黑" panose="020B0503020204020204" pitchFamily="34" charset="-122"/>
                <a:ea typeface="微软雅黑" panose="020B0503020204020204" pitchFamily="34" charset="-122"/>
                <a:sym typeface="+mn-ea"/>
              </a:rPr>
              <a:t>rise, dwell at max lift, return, dwell at min lift</a:t>
            </a:r>
            <a:endParaRPr lang="zh-CN" altLang="en-US" b="1" kern="0" dirty="0">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10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a:p>
        </p:txBody>
      </p:sp>
      <p:sp>
        <p:nvSpPr>
          <p:cNvPr id="10" name="矩形 9"/>
          <p:cNvSpPr/>
          <p:nvPr/>
        </p:nvSpPr>
        <p:spPr>
          <a:xfrm>
            <a:off x="318770" y="1043305"/>
            <a:ext cx="8713470" cy="368300"/>
          </a:xfrm>
          <a:prstGeom prst="rect">
            <a:avLst/>
          </a:prstGeom>
        </p:spPr>
        <p:txBody>
          <a:bodyPr wrap="square">
            <a:spAutoFit/>
          </a:bodyPr>
          <a:lstStyle/>
          <a:p>
            <a:r>
              <a:rPr lang="zh-CN" altLang="en-US" dirty="0"/>
              <a:t>In a radial roller follower disk cam, the actual cam profile is a circle centered at A.</a:t>
            </a:r>
            <a:endParaRPr lang="zh-CN" altLang="en-US" dirty="0"/>
          </a:p>
        </p:txBody>
      </p:sp>
      <p:graphicFrame>
        <p:nvGraphicFramePr>
          <p:cNvPr id="12" name="对象 11"/>
          <p:cNvGraphicFramePr>
            <a:graphicFrameLocks noChangeAspect="1"/>
          </p:cNvGraphicFramePr>
          <p:nvPr/>
        </p:nvGraphicFramePr>
        <p:xfrm>
          <a:off x="8056245" y="1122045"/>
          <a:ext cx="1053465" cy="269875"/>
        </p:xfrm>
        <a:graphic>
          <a:graphicData uri="http://schemas.openxmlformats.org/presentationml/2006/ole">
            <mc:AlternateContent xmlns:mc="http://schemas.openxmlformats.org/markup-compatibility/2006">
              <mc:Choice xmlns:v="urn:schemas-microsoft-com:vml" Requires="v">
                <p:oleObj spid="_x0000_s117303" name="" r:id="rId1" imgW="596900" imgH="152400" progId="Equation.DSMT4">
                  <p:embed/>
                </p:oleObj>
              </mc:Choice>
              <mc:Fallback>
                <p:oleObj name="" r:id="rId1" imgW="596900" imgH="152400" progId="Equation.DSMT4">
                  <p:embed/>
                  <p:pic>
                    <p:nvPicPr>
                      <p:cNvPr id="0" name="对象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6245" y="1122045"/>
                        <a:ext cx="1053465" cy="26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591820" y="1642110"/>
          <a:ext cx="1089025" cy="324485"/>
        </p:xfrm>
        <a:graphic>
          <a:graphicData uri="http://schemas.openxmlformats.org/presentationml/2006/ole">
            <mc:AlternateContent xmlns:mc="http://schemas.openxmlformats.org/markup-compatibility/2006">
              <mc:Choice xmlns:v="urn:schemas-microsoft-com:vml" Requires="v">
                <p:oleObj spid="_x0000_s117304" name="" r:id="rId3" imgW="647700" imgH="190500" progId="Equation.DSMT4">
                  <p:embed/>
                </p:oleObj>
              </mc:Choice>
              <mc:Fallback>
                <p:oleObj name="" r:id="rId3" imgW="647700" imgH="190500" progId="Equation.DSMT4">
                  <p:embed/>
                  <p:pic>
                    <p:nvPicPr>
                      <p:cNvPr id="0"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820" y="1642110"/>
                        <a:ext cx="1089025" cy="324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3077845" y="1653540"/>
          <a:ext cx="984885" cy="324485"/>
        </p:xfrm>
        <a:graphic>
          <a:graphicData uri="http://schemas.openxmlformats.org/presentationml/2006/ole">
            <mc:AlternateContent xmlns:mc="http://schemas.openxmlformats.org/markup-compatibility/2006">
              <mc:Choice xmlns:v="urn:schemas-microsoft-com:vml" Requires="v">
                <p:oleObj spid="_x0000_s117305" name="" r:id="rId5" imgW="584200" imgH="190500" progId="Equation.DSMT4">
                  <p:embed/>
                </p:oleObj>
              </mc:Choice>
              <mc:Fallback>
                <p:oleObj name="" r:id="rId5" imgW="584200" imgH="190500" progId="Equation.DSMT4">
                  <p:embed/>
                  <p:pic>
                    <p:nvPicPr>
                      <p:cNvPr id="0" name="对象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7845" y="1653540"/>
                        <a:ext cx="984885" cy="324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矩形 46"/>
          <p:cNvSpPr/>
          <p:nvPr/>
        </p:nvSpPr>
        <p:spPr>
          <a:xfrm>
            <a:off x="318813" y="2010288"/>
            <a:ext cx="6671442" cy="1753235"/>
          </a:xfrm>
          <a:prstGeom prst="rect">
            <a:avLst/>
          </a:prstGeom>
        </p:spPr>
        <p:txBody>
          <a:bodyPr wrap="square">
            <a:spAutoFit/>
          </a:bodyPr>
          <a:lstStyle/>
          <a:p>
            <a:r>
              <a:rPr lang="en-US" altLang="zh-CN" dirty="0"/>
              <a:t>(1) Pitch curve: red or blue?</a:t>
            </a:r>
            <a:endParaRPr lang="en-US" altLang="zh-CN" dirty="0"/>
          </a:p>
          <a:p>
            <a:r>
              <a:rPr lang="en-US" altLang="zh-CN" dirty="0"/>
              <a:t>(2) Base circle radius</a:t>
            </a:r>
            <a:endParaRPr lang="en-US" altLang="zh-CN" dirty="0"/>
          </a:p>
          <a:p>
            <a:endParaRPr lang="en-US" altLang="zh-CN" dirty="0"/>
          </a:p>
          <a:p>
            <a:r>
              <a:rPr lang="en-US" altLang="zh-CN" dirty="0"/>
              <a:t>(4) The displacement of the follower at the given position; the stroke of the driven member</a:t>
            </a:r>
            <a:r>
              <a:rPr lang="zh-CN" altLang="en-US" dirty="0"/>
              <a:t>；</a:t>
            </a:r>
            <a:endParaRPr lang="zh-CN" altLang="en-US" dirty="0"/>
          </a:p>
          <a:p>
            <a:r>
              <a:rPr lang="en-US" altLang="zh-CN" dirty="0"/>
              <a:t>(5) Maximum pressure angle during rise</a:t>
            </a:r>
            <a:endParaRPr lang="zh-CN" altLang="en-US" dirty="0"/>
          </a:p>
        </p:txBody>
      </p:sp>
      <p:graphicFrame>
        <p:nvGraphicFramePr>
          <p:cNvPr id="49" name="对象 48"/>
          <p:cNvGraphicFramePr>
            <a:graphicFrameLocks noChangeAspect="1"/>
          </p:cNvGraphicFramePr>
          <p:nvPr/>
        </p:nvGraphicFramePr>
        <p:xfrm>
          <a:off x="2835910" y="2327910"/>
          <a:ext cx="565785" cy="344805"/>
        </p:xfrm>
        <a:graphic>
          <a:graphicData uri="http://schemas.openxmlformats.org/presentationml/2006/ole">
            <mc:AlternateContent xmlns:mc="http://schemas.openxmlformats.org/markup-compatibility/2006">
              <mc:Choice xmlns:v="urn:schemas-microsoft-com:vml" Requires="v">
                <p:oleObj spid="_x0000_s117306" name="" r:id="rId7" imgW="317500" imgH="190500" progId="Equation.DSMT4">
                  <p:embed/>
                </p:oleObj>
              </mc:Choice>
              <mc:Fallback>
                <p:oleObj name="" r:id="rId7" imgW="317500" imgH="190500" progId="Equation.DSMT4">
                  <p:embed/>
                  <p:pic>
                    <p:nvPicPr>
                      <p:cNvPr id="0" name="对象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5910" y="2327910"/>
                        <a:ext cx="565785" cy="3448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对象 50"/>
          <p:cNvGraphicFramePr>
            <a:graphicFrameLocks noChangeAspect="1"/>
          </p:cNvGraphicFramePr>
          <p:nvPr/>
        </p:nvGraphicFramePr>
        <p:xfrm>
          <a:off x="4214495" y="3442970"/>
          <a:ext cx="706120" cy="299720"/>
        </p:xfrm>
        <a:graphic>
          <a:graphicData uri="http://schemas.openxmlformats.org/presentationml/2006/ole">
            <mc:AlternateContent xmlns:mc="http://schemas.openxmlformats.org/markup-compatibility/2006">
              <mc:Choice xmlns:v="urn:schemas-microsoft-com:vml" Requires="v">
                <p:oleObj spid="_x0000_s117307" name="" r:id="rId9" imgW="457200" imgH="190500" progId="Equation.DSMT4">
                  <p:embed/>
                </p:oleObj>
              </mc:Choice>
              <mc:Fallback>
                <p:oleObj name="" r:id="rId9" imgW="457200" imgH="190500" progId="Equation.DSMT4">
                  <p:embed/>
                  <p:pic>
                    <p:nvPicPr>
                      <p:cNvPr id="0" name="对象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4495" y="3442970"/>
                        <a:ext cx="706120" cy="299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 name="组合 21"/>
          <p:cNvGrpSpPr/>
          <p:nvPr/>
        </p:nvGrpSpPr>
        <p:grpSpPr>
          <a:xfrm>
            <a:off x="8828005" y="3076192"/>
            <a:ext cx="2285811" cy="2266950"/>
            <a:chOff x="7649147" y="3310934"/>
            <a:chExt cx="2285811" cy="2266950"/>
          </a:xfrm>
        </p:grpSpPr>
        <p:grpSp>
          <p:nvGrpSpPr>
            <p:cNvPr id="99" name="组合 227343"/>
            <p:cNvGrpSpPr/>
            <p:nvPr/>
          </p:nvGrpSpPr>
          <p:grpSpPr bwMode="auto">
            <a:xfrm rot="5400000" flipH="1">
              <a:off x="7862904" y="3920534"/>
              <a:ext cx="2019300" cy="800100"/>
              <a:chOff x="168" y="1992"/>
              <a:chExt cx="1272" cy="504"/>
            </a:xfrm>
          </p:grpSpPr>
          <p:grpSp>
            <p:nvGrpSpPr>
              <p:cNvPr id="101" name="组合 227344"/>
              <p:cNvGrpSpPr/>
              <p:nvPr/>
            </p:nvGrpSpPr>
            <p:grpSpPr bwMode="auto">
              <a:xfrm>
                <a:off x="180" y="2016"/>
                <a:ext cx="1260" cy="480"/>
                <a:chOff x="420" y="2124"/>
                <a:chExt cx="1128" cy="372"/>
              </a:xfrm>
            </p:grpSpPr>
            <p:sp>
              <p:nvSpPr>
                <p:cNvPr id="108" name="直接连接符 227345"/>
                <p:cNvSpPr>
                  <a:spLocks noChangeShapeType="1"/>
                </p:cNvSpPr>
                <p:nvPr/>
              </p:nvSpPr>
              <p:spPr bwMode="auto">
                <a:xfrm flipH="1">
                  <a:off x="420" y="2124"/>
                  <a:ext cx="216" cy="3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109" name="直接连接符 227346"/>
                <p:cNvSpPr>
                  <a:spLocks noChangeShapeType="1"/>
                </p:cNvSpPr>
                <p:nvPr/>
              </p:nvSpPr>
              <p:spPr bwMode="auto">
                <a:xfrm>
                  <a:off x="420" y="2424"/>
                  <a:ext cx="112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110" name="矩形 227347"/>
                <p:cNvSpPr>
                  <a:spLocks noChangeArrowheads="1"/>
                </p:cNvSpPr>
                <p:nvPr/>
              </p:nvSpPr>
              <p:spPr bwMode="auto">
                <a:xfrm>
                  <a:off x="1092" y="2340"/>
                  <a:ext cx="240" cy="156"/>
                </a:xfrm>
                <a:prstGeom prst="rect">
                  <a:avLst/>
                </a:prstGeom>
                <a:solidFill>
                  <a:srgbClr val="66FF33"/>
                </a:solidFill>
                <a:ln w="19050">
                  <a:solidFill>
                    <a:srgbClr val="FF00FF"/>
                  </a:solidFill>
                  <a:miter lim="800000"/>
                </a:ln>
              </p:spPr>
              <p:txBody>
                <a:bodyP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eaLnBrk="1" hangingPunct="1">
                    <a:lnSpc>
                      <a:spcPct val="100000"/>
                    </a:lnSpc>
                    <a:spcBef>
                      <a:spcPct val="0"/>
                    </a:spcBef>
                    <a:buFont typeface="Arial" panose="020B0604020202020204" pitchFamily="34" charset="0"/>
                    <a:buNone/>
                  </a:pPr>
                  <a:endParaRPr lang="zh-CN" altLang="en-US" sz="1800">
                    <a:latin typeface="Arial" panose="020B0604020202020204" pitchFamily="34" charset="0"/>
                    <a:ea typeface="宋体" panose="02010600030101010101" pitchFamily="2" charset="-122"/>
                  </a:endParaRPr>
                </a:p>
              </p:txBody>
            </p:sp>
            <p:sp>
              <p:nvSpPr>
                <p:cNvPr id="111" name="直接连接符 227348"/>
                <p:cNvSpPr>
                  <a:spLocks noChangeShapeType="1"/>
                </p:cNvSpPr>
                <p:nvPr/>
              </p:nvSpPr>
              <p:spPr bwMode="auto">
                <a:xfrm>
                  <a:off x="648" y="2124"/>
                  <a:ext cx="564" cy="3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sp>
            <p:nvSpPr>
              <p:cNvPr id="102" name="椭圆 227349"/>
              <p:cNvSpPr>
                <a:spLocks noChangeArrowheads="1"/>
              </p:cNvSpPr>
              <p:nvPr/>
            </p:nvSpPr>
            <p:spPr bwMode="auto">
              <a:xfrm>
                <a:off x="168" y="2364"/>
                <a:ext cx="60" cy="60"/>
              </a:xfrm>
              <a:prstGeom prst="ellipse">
                <a:avLst/>
              </a:prstGeom>
              <a:solidFill>
                <a:srgbClr val="FF3300"/>
              </a:solidFill>
              <a:ln w="9525">
                <a:solidFill>
                  <a:schemeClr val="tx1"/>
                </a:solidFill>
                <a:round/>
              </a:ln>
            </p:spPr>
            <p:txBody>
              <a:bodyP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eaLnBrk="1" hangingPunct="1">
                  <a:lnSpc>
                    <a:spcPct val="100000"/>
                  </a:lnSpc>
                  <a:spcBef>
                    <a:spcPct val="0"/>
                  </a:spcBef>
                  <a:buFont typeface="Arial" panose="020B0604020202020204" pitchFamily="34" charset="0"/>
                  <a:buNone/>
                </a:pPr>
                <a:endParaRPr lang="zh-CN" altLang="en-US" sz="1800">
                  <a:latin typeface="Arial" panose="020B0604020202020204" pitchFamily="34" charset="0"/>
                  <a:ea typeface="宋体" panose="02010600030101010101" pitchFamily="2" charset="-122"/>
                </a:endParaRPr>
              </a:p>
            </p:txBody>
          </p:sp>
          <p:sp>
            <p:nvSpPr>
              <p:cNvPr id="103" name="椭圆 227350"/>
              <p:cNvSpPr>
                <a:spLocks noChangeArrowheads="1"/>
              </p:cNvSpPr>
              <p:nvPr/>
            </p:nvSpPr>
            <p:spPr bwMode="auto">
              <a:xfrm>
                <a:off x="396" y="1992"/>
                <a:ext cx="60" cy="60"/>
              </a:xfrm>
              <a:prstGeom prst="ellipse">
                <a:avLst/>
              </a:prstGeom>
              <a:solidFill>
                <a:srgbClr val="FF3300"/>
              </a:solidFill>
              <a:ln w="9525">
                <a:solidFill>
                  <a:schemeClr val="tx1"/>
                </a:solidFill>
                <a:round/>
              </a:ln>
            </p:spPr>
            <p:txBody>
              <a:bodyP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eaLnBrk="1" hangingPunct="1">
                  <a:lnSpc>
                    <a:spcPct val="100000"/>
                  </a:lnSpc>
                  <a:spcBef>
                    <a:spcPct val="0"/>
                  </a:spcBef>
                  <a:buFont typeface="Arial" panose="020B0604020202020204" pitchFamily="34" charset="0"/>
                  <a:buNone/>
                </a:pPr>
                <a:endParaRPr lang="zh-CN" altLang="en-US" sz="1800">
                  <a:latin typeface="Arial" panose="020B0604020202020204" pitchFamily="34" charset="0"/>
                  <a:ea typeface="宋体" panose="02010600030101010101" pitchFamily="2" charset="-122"/>
                </a:endParaRPr>
              </a:p>
            </p:txBody>
          </p:sp>
          <p:sp>
            <p:nvSpPr>
              <p:cNvPr id="104" name="椭圆 227351"/>
              <p:cNvSpPr>
                <a:spLocks noChangeArrowheads="1"/>
              </p:cNvSpPr>
              <p:nvPr/>
            </p:nvSpPr>
            <p:spPr bwMode="auto">
              <a:xfrm>
                <a:off x="1020" y="2364"/>
                <a:ext cx="60" cy="60"/>
              </a:xfrm>
              <a:prstGeom prst="ellipse">
                <a:avLst/>
              </a:prstGeom>
              <a:solidFill>
                <a:srgbClr val="FF3300"/>
              </a:solidFill>
              <a:ln w="9525">
                <a:solidFill>
                  <a:schemeClr val="tx1"/>
                </a:solidFill>
                <a:round/>
              </a:ln>
            </p:spPr>
            <p:txBody>
              <a:bodyP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eaLnBrk="1" hangingPunct="1">
                  <a:lnSpc>
                    <a:spcPct val="100000"/>
                  </a:lnSpc>
                  <a:spcBef>
                    <a:spcPct val="0"/>
                  </a:spcBef>
                  <a:buFont typeface="Arial" panose="020B0604020202020204" pitchFamily="34" charset="0"/>
                  <a:buNone/>
                </a:pPr>
                <a:endParaRPr lang="zh-CN" altLang="en-US" sz="1800">
                  <a:latin typeface="Arial" panose="020B0604020202020204" pitchFamily="34" charset="0"/>
                  <a:ea typeface="宋体" panose="02010600030101010101" pitchFamily="2" charset="-122"/>
                </a:endParaRPr>
              </a:p>
            </p:txBody>
          </p:sp>
          <p:sp>
            <p:nvSpPr>
              <p:cNvPr id="105" name="直接连接符 227352"/>
              <p:cNvSpPr>
                <a:spLocks noChangeShapeType="1"/>
              </p:cNvSpPr>
              <p:nvPr/>
            </p:nvSpPr>
            <p:spPr bwMode="auto">
              <a:xfrm flipH="1">
                <a:off x="360" y="2400"/>
                <a:ext cx="72"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106" name="直接连接符 227353"/>
              <p:cNvSpPr>
                <a:spLocks noChangeShapeType="1"/>
              </p:cNvSpPr>
              <p:nvPr/>
            </p:nvSpPr>
            <p:spPr bwMode="auto">
              <a:xfrm flipH="1">
                <a:off x="420" y="2412"/>
                <a:ext cx="72"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107" name="直接连接符 227354"/>
              <p:cNvSpPr>
                <a:spLocks noChangeShapeType="1"/>
              </p:cNvSpPr>
              <p:nvPr/>
            </p:nvSpPr>
            <p:spPr bwMode="auto">
              <a:xfrm flipH="1">
                <a:off x="516" y="2400"/>
                <a:ext cx="72"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pic>
          <p:nvPicPr>
            <p:cNvPr id="112" name="图片 11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466162" y="5349284"/>
              <a:ext cx="203183" cy="228600"/>
            </a:xfrm>
            <a:prstGeom prst="rect">
              <a:avLst/>
            </a:prstGeom>
            <a:noFill/>
            <a:ln>
              <a:noFill/>
            </a:ln>
          </p:spPr>
        </p:pic>
        <p:pic>
          <p:nvPicPr>
            <p:cNvPr id="113" name="图片 112"/>
            <p:cNvPicPr>
              <a:picLocks noChangeAspect="1" noChangeArrowheads="1"/>
            </p:cNvPicPr>
            <p:nvPr/>
          </p:nvPicPr>
          <p:blipFill>
            <a:blip r:embed="rId12"/>
            <a:srcRect/>
            <a:stretch>
              <a:fillRect/>
            </a:stretch>
          </p:blipFill>
          <p:spPr bwMode="auto">
            <a:xfrm>
              <a:off x="9281433" y="4597515"/>
              <a:ext cx="260328" cy="282046"/>
            </a:xfrm>
            <a:prstGeom prst="rect">
              <a:avLst/>
            </a:prstGeom>
            <a:noFill/>
            <a:ln>
              <a:noFill/>
            </a:ln>
          </p:spPr>
        </p:pic>
        <mc:AlternateContent xmlns:mc="http://schemas.openxmlformats.org/markup-compatibility/2006">
          <mc:Choice xmlns:a14="http://schemas.microsoft.com/office/drawing/2010/main" Requires="a14">
            <p:sp>
              <p:nvSpPr>
                <p:cNvPr id="17" name="文本框 16"/>
                <p:cNvSpPr txBox="1"/>
                <p:nvPr/>
              </p:nvSpPr>
              <p:spPr>
                <a:xfrm>
                  <a:off x="9012419" y="4129817"/>
                  <a:ext cx="66293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𝑟</m:t>
                            </m:r>
                          </m:sub>
                        </m:sSub>
                      </m:oMath>
                    </m:oMathPara>
                  </a14:m>
                  <a:endParaRPr lang="en-AU" dirty="0"/>
                </a:p>
              </p:txBody>
            </p:sp>
          </mc:Choice>
          <mc:Fallback>
            <p:sp>
              <p:nvSpPr>
                <p:cNvPr id="17" name="文本框 16"/>
                <p:cNvSpPr txBox="1">
                  <a:spLocks noRot="1" noChangeAspect="1" noMove="1" noResize="1" noEditPoints="1" noAdjustHandles="1" noChangeArrowheads="1" noChangeShapeType="1" noTextEdit="1"/>
                </p:cNvSpPr>
                <p:nvPr/>
              </p:nvSpPr>
              <p:spPr>
                <a:xfrm>
                  <a:off x="9012419" y="4129817"/>
                  <a:ext cx="662937" cy="276999"/>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5" name="文本框 114"/>
                <p:cNvSpPr txBox="1"/>
                <p:nvPr/>
              </p:nvSpPr>
              <p:spPr>
                <a:xfrm>
                  <a:off x="8894976" y="5144109"/>
                  <a:ext cx="37029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𝑂𝐴</m:t>
                            </m:r>
                          </m:sub>
                        </m:sSub>
                      </m:oMath>
                    </m:oMathPara>
                  </a14:m>
                  <a:endParaRPr lang="en-AU" dirty="0"/>
                </a:p>
              </p:txBody>
            </p:sp>
          </mc:Choice>
          <mc:Fallback>
            <p:sp>
              <p:nvSpPr>
                <p:cNvPr id="115" name="文本框 114"/>
                <p:cNvSpPr txBox="1">
                  <a:spLocks noRot="1" noChangeAspect="1" noMove="1" noResize="1" noEditPoints="1" noAdjustHandles="1" noChangeArrowheads="1" noChangeShapeType="1" noTextEdit="1"/>
                </p:cNvSpPr>
                <p:nvPr/>
              </p:nvSpPr>
              <p:spPr>
                <a:xfrm>
                  <a:off x="8894976" y="5144109"/>
                  <a:ext cx="370294" cy="276999"/>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6" name="文本框 115"/>
                <p:cNvSpPr txBox="1"/>
                <p:nvPr/>
              </p:nvSpPr>
              <p:spPr>
                <a:xfrm>
                  <a:off x="8701037" y="4296384"/>
                  <a:ext cx="20255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𝛼</m:t>
                        </m:r>
                      </m:oMath>
                    </m:oMathPara>
                  </a14:m>
                  <a:endParaRPr lang="en-AU" dirty="0"/>
                </a:p>
              </p:txBody>
            </p:sp>
          </mc:Choice>
          <mc:Fallback>
            <p:sp>
              <p:nvSpPr>
                <p:cNvPr id="116" name="文本框 115"/>
                <p:cNvSpPr txBox="1">
                  <a:spLocks noRot="1" noChangeAspect="1" noMove="1" noResize="1" noEditPoints="1" noAdjustHandles="1" noChangeArrowheads="1" noChangeShapeType="1" noTextEdit="1"/>
                </p:cNvSpPr>
                <p:nvPr/>
              </p:nvSpPr>
              <p:spPr>
                <a:xfrm>
                  <a:off x="8701037" y="4296384"/>
                  <a:ext cx="202555" cy="276999"/>
                </a:xfrm>
                <a:prstGeom prst="rect">
                  <a:avLst/>
                </a:prstGeom>
                <a:blipFill rotWithShape="1">
                  <a:blip r:embed="rId15"/>
                </a:blipFill>
              </p:spPr>
              <p:txBody>
                <a:bodyPr/>
                <a:lstStyle/>
                <a:p>
                  <a:r>
                    <a:rPr lang="zh-CN" altLang="en-US">
                      <a:noFill/>
                    </a:rPr>
                    <a:t> </a:t>
                  </a:r>
                </a:p>
              </p:txBody>
            </p:sp>
          </mc:Fallback>
        </mc:AlternateContent>
        <p:sp>
          <p:nvSpPr>
            <p:cNvPr id="19" name="弧形 18"/>
            <p:cNvSpPr/>
            <p:nvPr/>
          </p:nvSpPr>
          <p:spPr bwMode="auto">
            <a:xfrm rot="1853039">
              <a:off x="8561563" y="3761397"/>
              <a:ext cx="378541" cy="656630"/>
            </a:xfrm>
            <a:prstGeom prst="arc">
              <a:avLst>
                <a:gd name="adj1" fmla="val 1798600"/>
                <a:gd name="adj2" fmla="val 5035587"/>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cxnSp>
          <p:nvCxnSpPr>
            <p:cNvPr id="117" name="直接连接符 116"/>
            <p:cNvCxnSpPr>
              <a:cxnSpLocks noChangeShapeType="1"/>
            </p:cNvCxnSpPr>
            <p:nvPr/>
          </p:nvCxnSpPr>
          <p:spPr bwMode="auto">
            <a:xfrm>
              <a:off x="7649147" y="4928597"/>
              <a:ext cx="2285811" cy="1587"/>
            </a:xfrm>
            <a:prstGeom prst="line">
              <a:avLst/>
            </a:prstGeom>
            <a:noFill/>
            <a:ln w="19050">
              <a:solidFill>
                <a:srgbClr val="C00000"/>
              </a:solidFill>
              <a:prstDash val="dash"/>
              <a:round/>
            </a:ln>
          </p:spPr>
        </p:cxnSp>
      </p:grpSp>
      <p:grpSp>
        <p:nvGrpSpPr>
          <p:cNvPr id="96" name="组合 95"/>
          <p:cNvGrpSpPr/>
          <p:nvPr/>
        </p:nvGrpSpPr>
        <p:grpSpPr>
          <a:xfrm>
            <a:off x="758509" y="3620607"/>
            <a:ext cx="2642869" cy="3021159"/>
            <a:chOff x="3524350" y="1931843"/>
            <a:chExt cx="2643088" cy="3021159"/>
          </a:xfrm>
        </p:grpSpPr>
        <p:cxnSp>
          <p:nvCxnSpPr>
            <p:cNvPr id="98" name="直接连接符 97"/>
            <p:cNvCxnSpPr>
              <a:cxnSpLocks noChangeShapeType="1"/>
            </p:cNvCxnSpPr>
            <p:nvPr/>
          </p:nvCxnSpPr>
          <p:spPr bwMode="auto">
            <a:xfrm>
              <a:off x="3881438" y="3871913"/>
              <a:ext cx="2286000" cy="1587"/>
            </a:xfrm>
            <a:prstGeom prst="line">
              <a:avLst/>
            </a:prstGeom>
            <a:noFill/>
            <a:ln w="19050">
              <a:solidFill>
                <a:srgbClr val="C00000"/>
              </a:solidFill>
              <a:prstDash val="dash"/>
              <a:round/>
            </a:ln>
          </p:spPr>
        </p:cxnSp>
        <p:sp>
          <p:nvSpPr>
            <p:cNvPr id="100" name="椭圆 99"/>
            <p:cNvSpPr>
              <a:spLocks noChangeAspect="1"/>
            </p:cNvSpPr>
            <p:nvPr/>
          </p:nvSpPr>
          <p:spPr bwMode="auto">
            <a:xfrm>
              <a:off x="4033838" y="2967038"/>
              <a:ext cx="1809750" cy="1809750"/>
            </a:xfrm>
            <a:prstGeom prst="ellipse">
              <a:avLst/>
            </a:prstGeom>
            <a:noFill/>
            <a:ln w="31750">
              <a:solidFill>
                <a:srgbClr val="000099"/>
              </a:solidFill>
              <a:round/>
            </a:ln>
          </p:spPr>
          <p:txBody>
            <a:bodyPr anchor="ctr"/>
            <a:lstStyle/>
            <a:p>
              <a:endParaRPr lang="zh-CN" altLang="en-US"/>
            </a:p>
          </p:txBody>
        </p:sp>
        <p:grpSp>
          <p:nvGrpSpPr>
            <p:cNvPr id="114" name="组合 113"/>
            <p:cNvGrpSpPr/>
            <p:nvPr/>
          </p:nvGrpSpPr>
          <p:grpSpPr bwMode="auto">
            <a:xfrm>
              <a:off x="4354259" y="2644631"/>
              <a:ext cx="398337" cy="398304"/>
              <a:chOff x="27" y="0"/>
              <a:chExt cx="398498" cy="398465"/>
            </a:xfrm>
          </p:grpSpPr>
          <p:sp>
            <p:nvSpPr>
              <p:cNvPr id="151" name="椭圆 150"/>
              <p:cNvSpPr>
                <a:spLocks noChangeArrowheads="1"/>
              </p:cNvSpPr>
              <p:nvPr/>
            </p:nvSpPr>
            <p:spPr bwMode="auto">
              <a:xfrm>
                <a:off x="128626" y="128588"/>
                <a:ext cx="141301" cy="141289"/>
              </a:xfrm>
              <a:prstGeom prst="ellipse">
                <a:avLst/>
              </a:prstGeom>
              <a:noFill/>
              <a:ln w="31750">
                <a:solidFill>
                  <a:srgbClr val="000099"/>
                </a:solidFill>
                <a:round/>
              </a:ln>
            </p:spPr>
            <p:txBody>
              <a:bodyPr anchor="ctr"/>
              <a:lstStyle/>
              <a:p>
                <a:endParaRPr lang="zh-CN" altLang="en-US"/>
              </a:p>
            </p:txBody>
          </p:sp>
          <p:sp>
            <p:nvSpPr>
              <p:cNvPr id="152" name="椭圆 151"/>
              <p:cNvSpPr>
                <a:spLocks noChangeAspect="1"/>
              </p:cNvSpPr>
              <p:nvPr/>
            </p:nvSpPr>
            <p:spPr bwMode="auto">
              <a:xfrm>
                <a:off x="27" y="0"/>
                <a:ext cx="398498" cy="398465"/>
              </a:xfrm>
              <a:prstGeom prst="ellipse">
                <a:avLst/>
              </a:prstGeom>
              <a:noFill/>
              <a:ln w="31750">
                <a:solidFill>
                  <a:srgbClr val="000099"/>
                </a:solidFill>
                <a:round/>
              </a:ln>
            </p:spPr>
            <p:txBody>
              <a:bodyPr anchor="ctr"/>
              <a:lstStyle/>
              <a:p>
                <a:endParaRPr lang="zh-CN" altLang="en-US"/>
              </a:p>
            </p:txBody>
          </p:sp>
        </p:grpSp>
        <p:grpSp>
          <p:nvGrpSpPr>
            <p:cNvPr id="118" name="组合 117"/>
            <p:cNvGrpSpPr/>
            <p:nvPr/>
          </p:nvGrpSpPr>
          <p:grpSpPr bwMode="auto">
            <a:xfrm rot="5400000">
              <a:off x="4296497" y="2153103"/>
              <a:ext cx="335153" cy="70430"/>
              <a:chOff x="-3" y="1928"/>
              <a:chExt cx="648368" cy="136766"/>
            </a:xfrm>
          </p:grpSpPr>
          <p:cxnSp>
            <p:nvCxnSpPr>
              <p:cNvPr id="145" name="直接连接符 144"/>
              <p:cNvCxnSpPr>
                <a:cxnSpLocks noChangeShapeType="1"/>
              </p:cNvCxnSpPr>
              <p:nvPr/>
            </p:nvCxnSpPr>
            <p:spPr bwMode="auto">
              <a:xfrm>
                <a:off x="-3" y="1928"/>
                <a:ext cx="648368" cy="3074"/>
              </a:xfrm>
              <a:prstGeom prst="line">
                <a:avLst/>
              </a:prstGeom>
              <a:noFill/>
              <a:ln w="31750">
                <a:solidFill>
                  <a:srgbClr val="000099"/>
                </a:solidFill>
                <a:round/>
              </a:ln>
            </p:spPr>
          </p:cxnSp>
          <p:grpSp>
            <p:nvGrpSpPr>
              <p:cNvPr id="146" name="Group 63"/>
              <p:cNvGrpSpPr/>
              <p:nvPr/>
            </p:nvGrpSpPr>
            <p:grpSpPr bwMode="auto">
              <a:xfrm rot="10800000">
                <a:off x="39945" y="17932"/>
                <a:ext cx="530511" cy="120762"/>
                <a:chOff x="0" y="0"/>
                <a:chExt cx="408" cy="93"/>
              </a:xfrm>
            </p:grpSpPr>
            <p:cxnSp>
              <p:nvCxnSpPr>
                <p:cNvPr id="147" name="直接连接符 146"/>
                <p:cNvCxnSpPr>
                  <a:cxnSpLocks noChangeShapeType="1"/>
                </p:cNvCxnSpPr>
                <p:nvPr/>
              </p:nvCxnSpPr>
              <p:spPr bwMode="auto">
                <a:xfrm rot="5400000" flipH="1" flipV="1">
                  <a:off x="1" y="-1"/>
                  <a:ext cx="92" cy="93"/>
                </a:xfrm>
                <a:prstGeom prst="line">
                  <a:avLst/>
                </a:prstGeom>
                <a:noFill/>
                <a:ln w="19050">
                  <a:solidFill>
                    <a:srgbClr val="000099"/>
                  </a:solidFill>
                  <a:round/>
                </a:ln>
              </p:spPr>
            </p:cxnSp>
            <p:cxnSp>
              <p:nvCxnSpPr>
                <p:cNvPr id="148" name="直接连接符 147"/>
                <p:cNvCxnSpPr>
                  <a:cxnSpLocks noChangeShapeType="1"/>
                </p:cNvCxnSpPr>
                <p:nvPr/>
              </p:nvCxnSpPr>
              <p:spPr bwMode="auto">
                <a:xfrm rot="5400000" flipH="1" flipV="1">
                  <a:off x="109" y="1"/>
                  <a:ext cx="92" cy="90"/>
                </a:xfrm>
                <a:prstGeom prst="line">
                  <a:avLst/>
                </a:prstGeom>
                <a:noFill/>
                <a:ln w="19050">
                  <a:solidFill>
                    <a:srgbClr val="000099"/>
                  </a:solidFill>
                  <a:round/>
                </a:ln>
              </p:spPr>
            </p:cxnSp>
            <p:cxnSp>
              <p:nvCxnSpPr>
                <p:cNvPr id="149" name="直接连接符 148"/>
                <p:cNvCxnSpPr>
                  <a:cxnSpLocks noChangeShapeType="1"/>
                </p:cNvCxnSpPr>
                <p:nvPr/>
              </p:nvCxnSpPr>
              <p:spPr bwMode="auto">
                <a:xfrm rot="5400000" flipH="1" flipV="1">
                  <a:off x="217" y="0"/>
                  <a:ext cx="93" cy="93"/>
                </a:xfrm>
                <a:prstGeom prst="line">
                  <a:avLst/>
                </a:prstGeom>
                <a:noFill/>
                <a:ln w="19050">
                  <a:solidFill>
                    <a:srgbClr val="000099"/>
                  </a:solidFill>
                  <a:round/>
                </a:ln>
              </p:spPr>
            </p:cxnSp>
            <p:cxnSp>
              <p:nvCxnSpPr>
                <p:cNvPr id="150" name="直接连接符 149"/>
                <p:cNvCxnSpPr>
                  <a:cxnSpLocks noChangeShapeType="1"/>
                </p:cNvCxnSpPr>
                <p:nvPr/>
              </p:nvCxnSpPr>
              <p:spPr bwMode="auto">
                <a:xfrm rot="5400000" flipH="1" flipV="1">
                  <a:off x="316" y="-1"/>
                  <a:ext cx="92" cy="93"/>
                </a:xfrm>
                <a:prstGeom prst="line">
                  <a:avLst/>
                </a:prstGeom>
                <a:noFill/>
                <a:ln w="19050">
                  <a:solidFill>
                    <a:srgbClr val="000099"/>
                  </a:solidFill>
                  <a:round/>
                </a:ln>
              </p:spPr>
            </p:cxnSp>
          </p:grpSp>
        </p:grpSp>
        <p:grpSp>
          <p:nvGrpSpPr>
            <p:cNvPr id="119" name="组合 118"/>
            <p:cNvGrpSpPr/>
            <p:nvPr/>
          </p:nvGrpSpPr>
          <p:grpSpPr bwMode="auto">
            <a:xfrm rot="5400000" flipH="1" flipV="1">
              <a:off x="4489090" y="2152633"/>
              <a:ext cx="335153" cy="71374"/>
              <a:chOff x="-367" y="94"/>
              <a:chExt cx="648368" cy="138600"/>
            </a:xfrm>
          </p:grpSpPr>
          <p:cxnSp>
            <p:nvCxnSpPr>
              <p:cNvPr id="139" name="直接连接符 138"/>
              <p:cNvCxnSpPr>
                <a:cxnSpLocks noChangeShapeType="1"/>
              </p:cNvCxnSpPr>
              <p:nvPr/>
            </p:nvCxnSpPr>
            <p:spPr bwMode="auto">
              <a:xfrm>
                <a:off x="-367" y="94"/>
                <a:ext cx="648368" cy="3074"/>
              </a:xfrm>
              <a:prstGeom prst="line">
                <a:avLst/>
              </a:prstGeom>
              <a:noFill/>
              <a:ln w="31750">
                <a:solidFill>
                  <a:srgbClr val="000099"/>
                </a:solidFill>
                <a:round/>
              </a:ln>
            </p:spPr>
          </p:cxnSp>
          <p:grpSp>
            <p:nvGrpSpPr>
              <p:cNvPr id="140" name="Group 63"/>
              <p:cNvGrpSpPr/>
              <p:nvPr/>
            </p:nvGrpSpPr>
            <p:grpSpPr bwMode="auto">
              <a:xfrm rot="10800000">
                <a:off x="39945" y="17932"/>
                <a:ext cx="530511" cy="120762"/>
                <a:chOff x="0" y="0"/>
                <a:chExt cx="408" cy="93"/>
              </a:xfrm>
            </p:grpSpPr>
            <p:cxnSp>
              <p:nvCxnSpPr>
                <p:cNvPr id="141" name="直接连接符 140"/>
                <p:cNvCxnSpPr>
                  <a:cxnSpLocks noChangeShapeType="1"/>
                </p:cNvCxnSpPr>
                <p:nvPr/>
              </p:nvCxnSpPr>
              <p:spPr bwMode="auto">
                <a:xfrm rot="5400000" flipH="1" flipV="1">
                  <a:off x="1" y="-1"/>
                  <a:ext cx="92" cy="93"/>
                </a:xfrm>
                <a:prstGeom prst="line">
                  <a:avLst/>
                </a:prstGeom>
                <a:noFill/>
                <a:ln w="19050">
                  <a:solidFill>
                    <a:srgbClr val="000099"/>
                  </a:solidFill>
                  <a:round/>
                </a:ln>
              </p:spPr>
            </p:cxnSp>
            <p:cxnSp>
              <p:nvCxnSpPr>
                <p:cNvPr id="142" name="直接连接符 141"/>
                <p:cNvCxnSpPr>
                  <a:cxnSpLocks noChangeShapeType="1"/>
                </p:cNvCxnSpPr>
                <p:nvPr/>
              </p:nvCxnSpPr>
              <p:spPr bwMode="auto">
                <a:xfrm rot="5400000" flipH="1" flipV="1">
                  <a:off x="109" y="1"/>
                  <a:ext cx="92" cy="90"/>
                </a:xfrm>
                <a:prstGeom prst="line">
                  <a:avLst/>
                </a:prstGeom>
                <a:noFill/>
                <a:ln w="19050">
                  <a:solidFill>
                    <a:srgbClr val="000099"/>
                  </a:solidFill>
                  <a:round/>
                </a:ln>
              </p:spPr>
            </p:cxnSp>
            <p:cxnSp>
              <p:nvCxnSpPr>
                <p:cNvPr id="143" name="直接连接符 142"/>
                <p:cNvCxnSpPr>
                  <a:cxnSpLocks noChangeShapeType="1"/>
                </p:cNvCxnSpPr>
                <p:nvPr/>
              </p:nvCxnSpPr>
              <p:spPr bwMode="auto">
                <a:xfrm rot="5400000" flipH="1" flipV="1">
                  <a:off x="217" y="0"/>
                  <a:ext cx="93" cy="93"/>
                </a:xfrm>
                <a:prstGeom prst="line">
                  <a:avLst/>
                </a:prstGeom>
                <a:noFill/>
                <a:ln w="19050">
                  <a:solidFill>
                    <a:srgbClr val="000099"/>
                  </a:solidFill>
                  <a:round/>
                </a:ln>
              </p:spPr>
            </p:cxnSp>
            <p:cxnSp>
              <p:nvCxnSpPr>
                <p:cNvPr id="144" name="直接连接符 143"/>
                <p:cNvCxnSpPr>
                  <a:cxnSpLocks noChangeShapeType="1"/>
                </p:cNvCxnSpPr>
                <p:nvPr/>
              </p:nvCxnSpPr>
              <p:spPr bwMode="auto">
                <a:xfrm rot="5400000" flipH="1" flipV="1">
                  <a:off x="316" y="-1"/>
                  <a:ext cx="92" cy="93"/>
                </a:xfrm>
                <a:prstGeom prst="line">
                  <a:avLst/>
                </a:prstGeom>
                <a:noFill/>
                <a:ln w="19050">
                  <a:solidFill>
                    <a:srgbClr val="000099"/>
                  </a:solidFill>
                  <a:round/>
                </a:ln>
              </p:spPr>
            </p:cxnSp>
          </p:grpSp>
        </p:grpSp>
        <p:sp>
          <p:nvSpPr>
            <p:cNvPr id="120" name="弧形 17"/>
            <p:cNvSpPr/>
            <p:nvPr/>
          </p:nvSpPr>
          <p:spPr bwMode="auto">
            <a:xfrm rot="13943106">
              <a:off x="3738563" y="3014663"/>
              <a:ext cx="1490662" cy="1490662"/>
            </a:xfrm>
            <a:custGeom>
              <a:avLst/>
              <a:gdLst>
                <a:gd name="T0" fmla="*/ 1085258 w 1490673"/>
                <a:gd name="T1" fmla="*/ 81973 h 1490798"/>
                <a:gd name="T2" fmla="*/ 1085258 w 1490673"/>
                <a:gd name="T3" fmla="*/ 81972 h 1490798"/>
                <a:gd name="T4" fmla="*/ 1450591 w 1490673"/>
                <a:gd name="T5" fmla="*/ 503960 h 1490798"/>
                <a:gd name="T6" fmla="*/ 745231 w 1490673"/>
                <a:gd name="T7" fmla="*/ 743975 h 1490798"/>
                <a:gd name="T8" fmla="*/ 1085258 w 1490673"/>
                <a:gd name="T9" fmla="*/ 81973 h 1490798"/>
                <a:gd name="T10" fmla="*/ 1085258 w 1490673"/>
                <a:gd name="T11" fmla="*/ 81972 h 1490798"/>
                <a:gd name="T12" fmla="*/ 1450591 w 1490673"/>
                <a:gd name="T13" fmla="*/ 503960 h 1490798"/>
                <a:gd name="T14" fmla="*/ 0 60000 65536"/>
                <a:gd name="T15" fmla="*/ 0 60000 65536"/>
                <a:gd name="T16" fmla="*/ 0 60000 65536"/>
                <a:gd name="T17" fmla="*/ 0 60000 65536"/>
                <a:gd name="T18" fmla="*/ 0 60000 65536"/>
                <a:gd name="T19" fmla="*/ 0 60000 65536"/>
                <a:gd name="T20" fmla="*/ 0 60000 65536"/>
                <a:gd name="T21" fmla="*/ 1085426 w 1490673"/>
                <a:gd name="T22" fmla="*/ 82120 h 1490798"/>
                <a:gd name="T23" fmla="*/ 1450822 w 1490673"/>
                <a:gd name="T24" fmla="*/ 504926 h 14907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90673" h="1490798" stroke="0">
                  <a:moveTo>
                    <a:pt x="1085426" y="82120"/>
                  </a:moveTo>
                  <a:lnTo>
                    <a:pt x="1085426" y="82119"/>
                  </a:lnTo>
                  <a:cubicBezTo>
                    <a:pt x="1257442" y="170333"/>
                    <a:pt x="1388458" y="321934"/>
                    <a:pt x="1450822" y="504926"/>
                  </a:cubicBezTo>
                  <a:lnTo>
                    <a:pt x="745337" y="745399"/>
                  </a:lnTo>
                  <a:lnTo>
                    <a:pt x="1085426" y="82120"/>
                  </a:lnTo>
                  <a:close/>
                </a:path>
                <a:path w="1490673" h="1490798" fill="none">
                  <a:moveTo>
                    <a:pt x="1085426" y="82120"/>
                  </a:moveTo>
                  <a:lnTo>
                    <a:pt x="1085426" y="82119"/>
                  </a:lnTo>
                  <a:cubicBezTo>
                    <a:pt x="1257442" y="170333"/>
                    <a:pt x="1388458" y="321934"/>
                    <a:pt x="1450822" y="504926"/>
                  </a:cubicBezTo>
                </a:path>
              </a:pathLst>
            </a:custGeom>
            <a:noFill/>
            <a:ln w="19050">
              <a:solidFill>
                <a:srgbClr val="C00000"/>
              </a:solidFill>
              <a:round/>
              <a:headEnd type="stealth" w="med" len="med"/>
            </a:ln>
          </p:spPr>
          <p:txBody>
            <a:bodyPr anchor="ctr"/>
            <a:lstStyle/>
            <a:p>
              <a:endParaRPr lang="zh-CN" altLang="en-US"/>
            </a:p>
          </p:txBody>
        </p:sp>
        <p:pic>
          <p:nvPicPr>
            <p:cNvPr id="121" name="图片 120"/>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24350" y="3527929"/>
              <a:ext cx="249138" cy="177800"/>
            </a:xfrm>
            <a:prstGeom prst="rect">
              <a:avLst/>
            </a:prstGeom>
            <a:noFill/>
            <a:ln>
              <a:noFill/>
            </a:ln>
          </p:spPr>
        </p:pic>
        <p:pic>
          <p:nvPicPr>
            <p:cNvPr id="122" name="图片 12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302442" y="4084591"/>
              <a:ext cx="203200" cy="228600"/>
            </a:xfrm>
            <a:prstGeom prst="rect">
              <a:avLst/>
            </a:prstGeom>
            <a:noFill/>
            <a:ln>
              <a:noFill/>
            </a:ln>
          </p:spPr>
        </p:pic>
        <p:cxnSp>
          <p:nvCxnSpPr>
            <p:cNvPr id="123" name="直接连接符 122"/>
            <p:cNvCxnSpPr>
              <a:cxnSpLocks noChangeShapeType="1"/>
            </p:cNvCxnSpPr>
            <p:nvPr/>
          </p:nvCxnSpPr>
          <p:spPr bwMode="auto">
            <a:xfrm flipH="1">
              <a:off x="4924238" y="2893723"/>
              <a:ext cx="1589" cy="2059279"/>
            </a:xfrm>
            <a:prstGeom prst="line">
              <a:avLst/>
            </a:prstGeom>
            <a:noFill/>
            <a:ln w="19050">
              <a:solidFill>
                <a:srgbClr val="C00000"/>
              </a:solidFill>
              <a:prstDash val="dash"/>
              <a:round/>
            </a:ln>
          </p:spPr>
        </p:cxnSp>
        <p:pic>
          <p:nvPicPr>
            <p:cNvPr id="124" name="图片 123"/>
            <p:cNvPicPr>
              <a:picLocks noChangeAspect="1" noChangeArrowheads="1"/>
            </p:cNvPicPr>
            <p:nvPr/>
          </p:nvPicPr>
          <p:blipFill>
            <a:blip r:embed="rId12"/>
            <a:srcRect/>
            <a:stretch>
              <a:fillRect/>
            </a:stretch>
          </p:blipFill>
          <p:spPr bwMode="auto">
            <a:xfrm>
              <a:off x="4686618" y="3610716"/>
              <a:ext cx="260350" cy="282046"/>
            </a:xfrm>
            <a:prstGeom prst="rect">
              <a:avLst/>
            </a:prstGeom>
            <a:noFill/>
            <a:ln>
              <a:noFill/>
            </a:ln>
          </p:spPr>
        </p:pic>
        <p:grpSp>
          <p:nvGrpSpPr>
            <p:cNvPr id="125" name="Group 26"/>
            <p:cNvGrpSpPr/>
            <p:nvPr/>
          </p:nvGrpSpPr>
          <p:grpSpPr bwMode="auto">
            <a:xfrm flipH="1">
              <a:off x="4382453" y="4165601"/>
              <a:ext cx="349250" cy="266699"/>
              <a:chOff x="0" y="0"/>
              <a:chExt cx="550" cy="419"/>
            </a:xfrm>
          </p:grpSpPr>
          <p:sp>
            <p:nvSpPr>
              <p:cNvPr id="130" name="梯形 13"/>
              <p:cNvSpPr/>
              <p:nvPr/>
            </p:nvSpPr>
            <p:spPr bwMode="auto">
              <a:xfrm>
                <a:off x="132" y="123"/>
                <a:ext cx="275" cy="183"/>
              </a:xfrm>
              <a:custGeom>
                <a:avLst/>
                <a:gdLst>
                  <a:gd name="T0" fmla="*/ 0 w 214209"/>
                  <a:gd name="T1" fmla="*/ 0 h 142307"/>
                  <a:gd name="T2" fmla="*/ 0 w 214209"/>
                  <a:gd name="T3" fmla="*/ 0 h 142307"/>
                  <a:gd name="T4" fmla="*/ 0 w 214209"/>
                  <a:gd name="T5" fmla="*/ 0 h 142307"/>
                  <a:gd name="T6" fmla="*/ 0 w 214209"/>
                  <a:gd name="T7" fmla="*/ 0 h 142307"/>
                  <a:gd name="T8" fmla="*/ 0 60000 65536"/>
                  <a:gd name="T9" fmla="*/ 0 60000 65536"/>
                  <a:gd name="T10" fmla="*/ 0 60000 65536"/>
                  <a:gd name="T11" fmla="*/ 0 60000 65536"/>
                  <a:gd name="T12" fmla="*/ 41284 w 214209"/>
                  <a:gd name="T13" fmla="*/ 27217 h 142307"/>
                  <a:gd name="T14" fmla="*/ 172925 w 214209"/>
                  <a:gd name="T15" fmla="*/ 142307 h 142307"/>
                </a:gdLst>
                <a:ahLst/>
                <a:cxnLst>
                  <a:cxn ang="T8">
                    <a:pos x="T0" y="T1"/>
                  </a:cxn>
                  <a:cxn ang="T9">
                    <a:pos x="T2" y="T3"/>
                  </a:cxn>
                  <a:cxn ang="T10">
                    <a:pos x="T4" y="T5"/>
                  </a:cxn>
                  <a:cxn ang="T11">
                    <a:pos x="T6" y="T7"/>
                  </a:cxn>
                </a:cxnLst>
                <a:rect l="T12" t="T13" r="T14" b="T15"/>
                <a:pathLst>
                  <a:path w="214209" h="142307">
                    <a:moveTo>
                      <a:pt x="0" y="142307"/>
                    </a:moveTo>
                    <a:lnTo>
                      <a:pt x="62141" y="0"/>
                    </a:lnTo>
                    <a:lnTo>
                      <a:pt x="152068" y="0"/>
                    </a:lnTo>
                    <a:lnTo>
                      <a:pt x="214209" y="142307"/>
                    </a:lnTo>
                    <a:lnTo>
                      <a:pt x="0" y="142307"/>
                    </a:lnTo>
                    <a:close/>
                  </a:path>
                </a:pathLst>
              </a:custGeom>
              <a:noFill/>
              <a:ln w="31750">
                <a:solidFill>
                  <a:srgbClr val="000099"/>
                </a:solidFill>
                <a:round/>
              </a:ln>
            </p:spPr>
            <p:txBody>
              <a:bodyPr lIns="90170" tIns="46990" rIns="90170" bIns="46990" anchor="ctr"/>
              <a:lstStyle/>
              <a:p>
                <a:endParaRPr lang="zh-CN" altLang="en-US"/>
              </a:p>
            </p:txBody>
          </p:sp>
          <p:grpSp>
            <p:nvGrpSpPr>
              <p:cNvPr id="131" name="Group 28"/>
              <p:cNvGrpSpPr/>
              <p:nvPr/>
            </p:nvGrpSpPr>
            <p:grpSpPr bwMode="auto">
              <a:xfrm>
                <a:off x="24" y="321"/>
                <a:ext cx="492" cy="98"/>
                <a:chOff x="0" y="0"/>
                <a:chExt cx="492" cy="98"/>
              </a:xfrm>
            </p:grpSpPr>
            <p:cxnSp>
              <p:nvCxnSpPr>
                <p:cNvPr id="134" name="直接连接符 133"/>
                <p:cNvCxnSpPr>
                  <a:cxnSpLocks noChangeShapeType="1"/>
                </p:cNvCxnSpPr>
                <p:nvPr/>
              </p:nvCxnSpPr>
              <p:spPr bwMode="auto">
                <a:xfrm rot="5400000" flipH="1" flipV="1">
                  <a:off x="1" y="-1"/>
                  <a:ext cx="92" cy="93"/>
                </a:xfrm>
                <a:prstGeom prst="line">
                  <a:avLst/>
                </a:prstGeom>
                <a:noFill/>
                <a:ln w="19050">
                  <a:solidFill>
                    <a:srgbClr val="000099"/>
                  </a:solidFill>
                  <a:round/>
                </a:ln>
              </p:spPr>
            </p:cxnSp>
            <p:cxnSp>
              <p:nvCxnSpPr>
                <p:cNvPr id="135" name="直接连接符 134"/>
                <p:cNvCxnSpPr>
                  <a:cxnSpLocks noChangeShapeType="1"/>
                </p:cNvCxnSpPr>
                <p:nvPr/>
              </p:nvCxnSpPr>
              <p:spPr bwMode="auto">
                <a:xfrm rot="5400000" flipH="1" flipV="1">
                  <a:off x="96" y="7"/>
                  <a:ext cx="92" cy="90"/>
                </a:xfrm>
                <a:prstGeom prst="line">
                  <a:avLst/>
                </a:prstGeom>
                <a:noFill/>
                <a:ln w="19050">
                  <a:solidFill>
                    <a:srgbClr val="000099"/>
                  </a:solidFill>
                  <a:round/>
                </a:ln>
              </p:spPr>
            </p:cxnSp>
            <p:cxnSp>
              <p:nvCxnSpPr>
                <p:cNvPr id="136" name="直接连接符 135"/>
                <p:cNvCxnSpPr>
                  <a:cxnSpLocks noChangeShapeType="1"/>
                </p:cNvCxnSpPr>
                <p:nvPr/>
              </p:nvCxnSpPr>
              <p:spPr bwMode="auto">
                <a:xfrm rot="5400000" flipH="1" flipV="1">
                  <a:off x="189" y="0"/>
                  <a:ext cx="93" cy="93"/>
                </a:xfrm>
                <a:prstGeom prst="line">
                  <a:avLst/>
                </a:prstGeom>
                <a:noFill/>
                <a:ln w="19050">
                  <a:solidFill>
                    <a:srgbClr val="000099"/>
                  </a:solidFill>
                  <a:round/>
                </a:ln>
              </p:spPr>
            </p:cxnSp>
            <p:cxnSp>
              <p:nvCxnSpPr>
                <p:cNvPr id="137" name="直接连接符 136"/>
                <p:cNvCxnSpPr>
                  <a:cxnSpLocks noChangeShapeType="1"/>
                </p:cNvCxnSpPr>
                <p:nvPr/>
              </p:nvCxnSpPr>
              <p:spPr bwMode="auto">
                <a:xfrm rot="5400000" flipH="1" flipV="1">
                  <a:off x="288" y="0"/>
                  <a:ext cx="92" cy="93"/>
                </a:xfrm>
                <a:prstGeom prst="line">
                  <a:avLst/>
                </a:prstGeom>
                <a:noFill/>
                <a:ln w="19050">
                  <a:solidFill>
                    <a:srgbClr val="000099"/>
                  </a:solidFill>
                  <a:round/>
                </a:ln>
              </p:spPr>
            </p:cxnSp>
            <p:cxnSp>
              <p:nvCxnSpPr>
                <p:cNvPr id="138" name="直接连接符 137"/>
                <p:cNvCxnSpPr>
                  <a:cxnSpLocks noChangeShapeType="1"/>
                </p:cNvCxnSpPr>
                <p:nvPr/>
              </p:nvCxnSpPr>
              <p:spPr bwMode="auto">
                <a:xfrm rot="5400000" flipH="1" flipV="1">
                  <a:off x="399" y="0"/>
                  <a:ext cx="93" cy="93"/>
                </a:xfrm>
                <a:prstGeom prst="line">
                  <a:avLst/>
                </a:prstGeom>
                <a:noFill/>
                <a:ln w="19050">
                  <a:solidFill>
                    <a:srgbClr val="000099"/>
                  </a:solidFill>
                  <a:round/>
                </a:ln>
              </p:spPr>
            </p:cxnSp>
          </p:grpSp>
          <p:cxnSp>
            <p:nvCxnSpPr>
              <p:cNvPr id="132" name="直接连接符 131"/>
              <p:cNvCxnSpPr>
                <a:cxnSpLocks noChangeShapeType="1"/>
              </p:cNvCxnSpPr>
              <p:nvPr/>
            </p:nvCxnSpPr>
            <p:spPr bwMode="auto">
              <a:xfrm>
                <a:off x="0" y="307"/>
                <a:ext cx="550" cy="3"/>
              </a:xfrm>
              <a:prstGeom prst="line">
                <a:avLst/>
              </a:prstGeom>
              <a:noFill/>
              <a:ln w="31750">
                <a:solidFill>
                  <a:srgbClr val="000099"/>
                </a:solidFill>
                <a:round/>
              </a:ln>
            </p:spPr>
          </p:cxnSp>
          <p:sp>
            <p:nvSpPr>
              <p:cNvPr id="133" name="椭圆 132"/>
              <p:cNvSpPr>
                <a:spLocks noChangeArrowheads="1"/>
              </p:cNvSpPr>
              <p:nvPr/>
            </p:nvSpPr>
            <p:spPr bwMode="auto">
              <a:xfrm>
                <a:off x="199" y="0"/>
                <a:ext cx="140" cy="137"/>
              </a:xfrm>
              <a:prstGeom prst="ellipse">
                <a:avLst/>
              </a:prstGeom>
              <a:solidFill>
                <a:srgbClr val="FFFFFF"/>
              </a:solidFill>
              <a:ln w="31750">
                <a:solidFill>
                  <a:srgbClr val="000099"/>
                </a:solidFill>
                <a:round/>
              </a:ln>
            </p:spPr>
            <p:txBody>
              <a:bodyPr lIns="90170" tIns="46990" rIns="90170" bIns="46990" anchor="ctr"/>
              <a:lstStyle/>
              <a:p>
                <a:endParaRPr lang="zh-CN" altLang="en-US"/>
              </a:p>
            </p:txBody>
          </p:sp>
        </p:grpSp>
        <p:cxnSp>
          <p:nvCxnSpPr>
            <p:cNvPr id="126" name="直接连接符 125"/>
            <p:cNvCxnSpPr>
              <a:cxnSpLocks noChangeShapeType="1"/>
            </p:cNvCxnSpPr>
            <p:nvPr/>
          </p:nvCxnSpPr>
          <p:spPr bwMode="auto">
            <a:xfrm flipH="1">
              <a:off x="4557432" y="1931843"/>
              <a:ext cx="6350" cy="828675"/>
            </a:xfrm>
            <a:prstGeom prst="line">
              <a:avLst/>
            </a:prstGeom>
            <a:noFill/>
            <a:ln w="31750">
              <a:solidFill>
                <a:srgbClr val="000099"/>
              </a:solidFill>
              <a:round/>
            </a:ln>
          </p:spPr>
        </p:cxnSp>
        <p:sp>
          <p:nvSpPr>
            <p:cNvPr id="127" name="椭圆 126"/>
            <p:cNvSpPr/>
            <p:nvPr/>
          </p:nvSpPr>
          <p:spPr>
            <a:xfrm>
              <a:off x="4891088" y="3847043"/>
              <a:ext cx="47625" cy="45719"/>
            </a:xfrm>
            <a:prstGeom prst="ellipse">
              <a:avLst/>
            </a:prstGeom>
            <a:solidFill>
              <a:srgbClr val="4F81BD"/>
            </a:solidFill>
            <a:ln w="25400" cap="flat" cmpd="sng" algn="ctr">
              <a:solidFill>
                <a:srgbClr val="385D8A">
                  <a:shade val="50000"/>
                </a:srgbClr>
              </a:solidFill>
              <a:prstDash val="solid"/>
            </a:ln>
          </p:spPr>
          <p:txBody>
            <a:bodyPr rot="0" spcFirstLastPara="0" vert="horz" wrap="square" lIns="91440" tIns="45720" rIns="91440" bIns="45720" numCol="1" spcCol="0" rtlCol="0" fromWordArt="0" anchor="ctr" anchorCtr="0" forceAA="0" compatLnSpc="1">
              <a:noAutofit/>
            </a:bodyPr>
            <a:lstStyle/>
            <a:p>
              <a:endParaRPr lang="zh-CN" altLang="en-US"/>
            </a:p>
          </p:txBody>
        </p:sp>
        <p:cxnSp>
          <p:nvCxnSpPr>
            <p:cNvPr id="128" name="直接箭头连接符 127"/>
            <p:cNvCxnSpPr>
              <a:stCxn id="121" idx="7"/>
            </p:cNvCxnSpPr>
            <p:nvPr/>
          </p:nvCxnSpPr>
          <p:spPr>
            <a:xfrm flipV="1">
              <a:off x="4931738" y="3527929"/>
              <a:ext cx="811837" cy="325809"/>
            </a:xfrm>
            <a:prstGeom prst="straightConnector1">
              <a:avLst/>
            </a:prstGeom>
            <a:noFill/>
            <a:ln w="9525" cap="flat" cmpd="sng" algn="ctr">
              <a:solidFill>
                <a:srgbClr val="002060"/>
              </a:solidFill>
              <a:prstDash val="solid"/>
              <a:tailEnd type="triangle"/>
            </a:ln>
          </p:spPr>
        </p:cxnSp>
        <p:pic>
          <p:nvPicPr>
            <p:cNvPr id="129" name="图片 128"/>
            <p:cNvPicPr>
              <a:picLocks noChangeAspect="1" noChangeArrowheads="1"/>
            </p:cNvPicPr>
            <p:nvPr/>
          </p:nvPicPr>
          <p:blipFill>
            <a:blip r:embed="rId17"/>
            <a:srcRect/>
            <a:stretch>
              <a:fillRect/>
            </a:stretch>
          </p:blipFill>
          <p:spPr bwMode="auto">
            <a:xfrm>
              <a:off x="5184588" y="3386906"/>
              <a:ext cx="260350" cy="282046"/>
            </a:xfrm>
            <a:prstGeom prst="rect">
              <a:avLst/>
            </a:prstGeom>
            <a:noFill/>
            <a:ln>
              <a:noFill/>
            </a:ln>
          </p:spPr>
        </p:pic>
      </p:grpSp>
      <p:sp>
        <p:nvSpPr>
          <p:cNvPr id="153" name="椭圆 152"/>
          <p:cNvSpPr>
            <a:spLocks noChangeAspect="1"/>
          </p:cNvSpPr>
          <p:nvPr/>
        </p:nvSpPr>
        <p:spPr>
          <a:xfrm>
            <a:off x="1042586" y="4447603"/>
            <a:ext cx="2231390" cy="223139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54" name="椭圆 153"/>
          <p:cNvSpPr>
            <a:spLocks noChangeAspect="1"/>
          </p:cNvSpPr>
          <p:nvPr/>
        </p:nvSpPr>
        <p:spPr>
          <a:xfrm>
            <a:off x="1171593" y="5260514"/>
            <a:ext cx="1259840" cy="1259840"/>
          </a:xfrm>
          <a:prstGeom prst="ellipse">
            <a:avLst/>
          </a:prstGeom>
          <a:noFill/>
          <a:ln w="19050" cap="flat" cmpd="sng" algn="ctr">
            <a:solidFill>
              <a:schemeClr val="tx1"/>
            </a:solidFill>
            <a:prstDash val="solid"/>
          </a:ln>
          <a:effectLst/>
        </p:spPr>
        <p:txBody>
          <a:bodyPr rot="0" spcFirstLastPara="0" vert="horz" wrap="square" lIns="91440" tIns="45720" rIns="91440" bIns="45720" numCol="1" spcCol="0" rtlCol="0" fromWordArt="0" anchor="ctr" anchorCtr="0" forceAA="0" compatLnSpc="1">
            <a:noAutofit/>
          </a:bodyPr>
          <a:lstStyle/>
          <a:p>
            <a:endParaRPr lang="zh-CN" altLang="en-US"/>
          </a:p>
        </p:txBody>
      </p:sp>
      <p:cxnSp>
        <p:nvCxnSpPr>
          <p:cNvPr id="155" name="直接连接符 154"/>
          <p:cNvCxnSpPr>
            <a:cxnSpLocks noChangeShapeType="1"/>
          </p:cNvCxnSpPr>
          <p:nvPr/>
        </p:nvCxnSpPr>
        <p:spPr bwMode="auto">
          <a:xfrm flipH="1">
            <a:off x="1798722" y="3895307"/>
            <a:ext cx="1589" cy="2059279"/>
          </a:xfrm>
          <a:prstGeom prst="line">
            <a:avLst/>
          </a:prstGeom>
          <a:noFill/>
          <a:ln w="6350">
            <a:solidFill>
              <a:schemeClr val="tx1"/>
            </a:solidFill>
            <a:prstDash val="dash"/>
            <a:round/>
          </a:ln>
        </p:spPr>
      </p:cxnSp>
      <mc:AlternateContent xmlns:mc="http://schemas.openxmlformats.org/markup-compatibility/2006">
        <mc:Choice xmlns:a14="http://schemas.microsoft.com/office/drawing/2010/main" Requires="a14">
          <p:sp>
            <p:nvSpPr>
              <p:cNvPr id="74" name="矩形 73"/>
              <p:cNvSpPr/>
              <p:nvPr/>
            </p:nvSpPr>
            <p:spPr>
              <a:xfrm>
                <a:off x="1787501" y="3946776"/>
                <a:ext cx="587212"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𝑣</m:t>
                      </m:r>
                      <m:r>
                        <a:rPr lang="en-US" sz="2000" i="1" smtClean="0">
                          <a:solidFill>
                            <a:srgbClr val="FF0000"/>
                          </a:solidFill>
                          <a:latin typeface="Cambria Math" panose="02040503050406030204" pitchFamily="18" charset="0"/>
                          <a:ea typeface="Cambria Math" panose="02040503050406030204" pitchFamily="18" charset="0"/>
                        </a:rPr>
                        <m:t>↑</m:t>
                      </m:r>
                    </m:oMath>
                  </m:oMathPara>
                </a14:m>
                <a:endParaRPr lang="en-AU" sz="2000" dirty="0"/>
              </a:p>
            </p:txBody>
          </p:sp>
        </mc:Choice>
        <mc:Fallback>
          <p:sp>
            <p:nvSpPr>
              <p:cNvPr id="74" name="矩形 73"/>
              <p:cNvSpPr>
                <a:spLocks noRot="1" noChangeAspect="1" noMove="1" noResize="1" noEditPoints="1" noAdjustHandles="1" noChangeArrowheads="1" noChangeShapeType="1" noTextEdit="1"/>
              </p:cNvSpPr>
              <p:nvPr/>
            </p:nvSpPr>
            <p:spPr>
              <a:xfrm>
                <a:off x="1787501" y="3946776"/>
                <a:ext cx="587212" cy="400110"/>
              </a:xfrm>
              <a:prstGeom prst="rect">
                <a:avLst/>
              </a:prstGeom>
              <a:blipFill rotWithShape="1">
                <a:blip r:embed="rId18"/>
                <a:stretch>
                  <a:fillRect l="-104" t="-63" r="76" b="78"/>
                </a:stretch>
              </a:blipFill>
            </p:spPr>
            <p:txBody>
              <a:bodyPr/>
              <a:lstStyle/>
              <a:p>
                <a:r>
                  <a:rPr lang="zh-CN" altLang="en-US">
                    <a:noFill/>
                  </a:rPr>
                  <a:t> </a:t>
                </a:r>
              </a:p>
            </p:txBody>
          </p:sp>
        </mc:Fallback>
      </mc:AlternateContent>
      <p:sp>
        <p:nvSpPr>
          <p:cNvPr id="75" name="Line 9"/>
          <p:cNvSpPr>
            <a:spLocks noChangeShapeType="1"/>
          </p:cNvSpPr>
          <p:nvPr/>
        </p:nvSpPr>
        <p:spPr bwMode="auto">
          <a:xfrm>
            <a:off x="1409943" y="3630513"/>
            <a:ext cx="748338" cy="1916796"/>
          </a:xfrm>
          <a:prstGeom prst="line">
            <a:avLst/>
          </a:prstGeom>
          <a:noFill/>
          <a:ln w="12700">
            <a:solidFill>
              <a:srgbClr val="FF0000"/>
            </a:solidFill>
            <a:prstDash val="lgDashDot"/>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p:sp>
        <p:nvSpPr>
          <p:cNvPr id="76" name="椭圆 75"/>
          <p:cNvSpPr>
            <a:spLocks noChangeArrowheads="1"/>
          </p:cNvSpPr>
          <p:nvPr/>
        </p:nvSpPr>
        <p:spPr bwMode="auto">
          <a:xfrm>
            <a:off x="1751831" y="4496256"/>
            <a:ext cx="72000" cy="72000"/>
          </a:xfrm>
          <a:prstGeom prst="ellipse">
            <a:avLst/>
          </a:prstGeom>
          <a:solidFill>
            <a:srgbClr val="FF0000"/>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nvGrpSpPr>
          <p:cNvPr id="3" name="组合 2"/>
          <p:cNvGrpSpPr/>
          <p:nvPr/>
        </p:nvGrpSpPr>
        <p:grpSpPr>
          <a:xfrm>
            <a:off x="1212004" y="3805695"/>
            <a:ext cx="540125" cy="664696"/>
            <a:chOff x="1199488" y="3571209"/>
            <a:chExt cx="540125" cy="664696"/>
          </a:xfrm>
        </p:grpSpPr>
        <p:sp>
          <p:nvSpPr>
            <p:cNvPr id="78" name="直接连接符 227348"/>
            <p:cNvSpPr>
              <a:spLocks noChangeShapeType="1"/>
            </p:cNvSpPr>
            <p:nvPr/>
          </p:nvSpPr>
          <p:spPr bwMode="auto">
            <a:xfrm rot="5400000" flipH="1">
              <a:off x="1265949" y="3762240"/>
              <a:ext cx="664696" cy="282633"/>
            </a:xfrm>
            <a:prstGeom prst="line">
              <a:avLst/>
            </a:prstGeom>
            <a:noFill/>
            <a:ln w="19050">
              <a:solidFill>
                <a:srgbClr val="FF0000"/>
              </a:solidFill>
              <a:round/>
              <a:tailEnd type="triangle"/>
            </a:ln>
            <a:extLst>
              <a:ext uri="{909E8E84-426E-40DD-AFC4-6F175D3DCCD1}">
                <a14:hiddenFill xmlns:a14="http://schemas.microsoft.com/office/drawing/2010/main">
                  <a:noFill/>
                </a14:hiddenFill>
              </a:ext>
            </a:extLst>
          </p:spPr>
          <p:txBody>
            <a:bodyPr/>
            <a:lstStyle/>
            <a:p>
              <a:endParaRPr lang="en-AU"/>
            </a:p>
          </p:txBody>
        </p:sp>
        <mc:AlternateContent xmlns:mc="http://schemas.openxmlformats.org/markup-compatibility/2006">
          <mc:Choice xmlns:a14="http://schemas.microsoft.com/office/drawing/2010/main" Requires="a14">
            <p:sp>
              <p:nvSpPr>
                <p:cNvPr id="2" name="矩形 1"/>
                <p:cNvSpPr/>
                <p:nvPr/>
              </p:nvSpPr>
              <p:spPr>
                <a:xfrm>
                  <a:off x="1199488" y="3770889"/>
                  <a:ext cx="392479"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ea typeface="Cambria Math" panose="02040503050406030204" pitchFamily="18" charset="0"/>
                          </a:rPr>
                          <m:t>𝐹</m:t>
                        </m:r>
                      </m:oMath>
                    </m:oMathPara>
                  </a14:m>
                  <a:endParaRPr lang="en-AU" dirty="0"/>
                </a:p>
              </p:txBody>
            </p:sp>
          </mc:Choice>
          <mc:Fallback>
            <p:sp>
              <p:nvSpPr>
                <p:cNvPr id="2" name="矩形 1"/>
                <p:cNvSpPr>
                  <a:spLocks noRot="1" noChangeAspect="1" noMove="1" noResize="1" noEditPoints="1" noAdjustHandles="1" noChangeArrowheads="1" noChangeShapeType="1" noTextEdit="1"/>
                </p:cNvSpPr>
                <p:nvPr/>
              </p:nvSpPr>
              <p:spPr>
                <a:xfrm>
                  <a:off x="1199488" y="3770889"/>
                  <a:ext cx="392479" cy="369332"/>
                </a:xfrm>
                <a:prstGeom prst="rect">
                  <a:avLst/>
                </a:prstGeom>
                <a:blipFill rotWithShape="1">
                  <a:blip r:embed="rId19"/>
                </a:blipFill>
              </p:spPr>
              <p:txBody>
                <a:bodyPr/>
                <a:lstStyle/>
                <a:p>
                  <a:r>
                    <a:rPr lang="zh-CN" altLang="en-US">
                      <a:noFill/>
                    </a:rPr>
                    <a:t> </a:t>
                  </a:r>
                </a:p>
              </p:txBody>
            </p:sp>
          </mc:Fallback>
        </mc:AlternateContent>
      </p:grpSp>
      <p:grpSp>
        <p:nvGrpSpPr>
          <p:cNvPr id="4" name="组合 3"/>
          <p:cNvGrpSpPr/>
          <p:nvPr/>
        </p:nvGrpSpPr>
        <p:grpSpPr>
          <a:xfrm>
            <a:off x="1452586" y="3951368"/>
            <a:ext cx="378541" cy="911704"/>
            <a:chOff x="1440070" y="3716882"/>
            <a:chExt cx="378541" cy="911704"/>
          </a:xfrm>
        </p:grpSpPr>
        <mc:AlternateContent xmlns:mc="http://schemas.openxmlformats.org/markup-compatibility/2006">
          <mc:Choice xmlns:a14="http://schemas.microsoft.com/office/drawing/2010/main" Requires="a14">
            <p:sp>
              <p:nvSpPr>
                <p:cNvPr id="73" name="文本框 72"/>
                <p:cNvSpPr txBox="1"/>
                <p:nvPr/>
              </p:nvSpPr>
              <p:spPr>
                <a:xfrm>
                  <a:off x="1592759" y="3716882"/>
                  <a:ext cx="225766"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000" b="0" i="1" smtClean="0">
                            <a:solidFill>
                              <a:srgbClr val="FF0000"/>
                            </a:solidFill>
                            <a:latin typeface="Cambria Math" panose="02040503050406030204" pitchFamily="18" charset="0"/>
                            <a:ea typeface="Cambria Math" panose="02040503050406030204" pitchFamily="18" charset="0"/>
                          </a:rPr>
                          <m:t>𝛼</m:t>
                        </m:r>
                      </m:oMath>
                    </m:oMathPara>
                  </a14:m>
                  <a:endParaRPr lang="en-AU" sz="2000" dirty="0">
                    <a:solidFill>
                      <a:srgbClr val="FF0000"/>
                    </a:solidFill>
                  </a:endParaRPr>
                </a:p>
              </p:txBody>
            </p:sp>
          </mc:Choice>
          <mc:Fallback>
            <p:sp>
              <p:nvSpPr>
                <p:cNvPr id="73" name="文本框 72"/>
                <p:cNvSpPr txBox="1">
                  <a:spLocks noRot="1" noChangeAspect="1" noMove="1" noResize="1" noEditPoints="1" noAdjustHandles="1" noChangeArrowheads="1" noChangeShapeType="1" noTextEdit="1"/>
                </p:cNvSpPr>
                <p:nvPr/>
              </p:nvSpPr>
              <p:spPr>
                <a:xfrm>
                  <a:off x="1592759" y="3716882"/>
                  <a:ext cx="225766" cy="307777"/>
                </a:xfrm>
                <a:prstGeom prst="rect">
                  <a:avLst/>
                </a:prstGeom>
                <a:blipFill rotWithShape="1">
                  <a:blip r:embed="rId20"/>
                </a:blipFill>
              </p:spPr>
              <p:txBody>
                <a:bodyPr/>
                <a:lstStyle/>
                <a:p>
                  <a:r>
                    <a:rPr lang="zh-CN" altLang="en-US">
                      <a:noFill/>
                    </a:rPr>
                    <a:t> </a:t>
                  </a:r>
                </a:p>
              </p:txBody>
            </p:sp>
          </mc:Fallback>
        </mc:AlternateContent>
        <p:sp>
          <p:nvSpPr>
            <p:cNvPr id="81" name="弧形 80"/>
            <p:cNvSpPr/>
            <p:nvPr/>
          </p:nvSpPr>
          <p:spPr bwMode="auto">
            <a:xfrm rot="13017437">
              <a:off x="1440070" y="3971956"/>
              <a:ext cx="378541" cy="656630"/>
            </a:xfrm>
            <a:prstGeom prst="arc">
              <a:avLst>
                <a:gd name="adj1" fmla="val 3593977"/>
                <a:gd name="adj2" fmla="val 5035587"/>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5" name="矩形 4"/>
          <p:cNvSpPr/>
          <p:nvPr/>
        </p:nvSpPr>
        <p:spPr>
          <a:xfrm>
            <a:off x="1755610" y="4393597"/>
            <a:ext cx="325730" cy="369332"/>
          </a:xfrm>
          <a:prstGeom prst="rect">
            <a:avLst/>
          </a:prstGeom>
        </p:spPr>
        <p:txBody>
          <a:bodyPr wrap="square">
            <a:spAutoFit/>
          </a:bodyPr>
          <a:lstStyle/>
          <a:p>
            <a:r>
              <a:rPr lang="en-AU" i="1" dirty="0"/>
              <a:t>B</a:t>
            </a:r>
            <a:endParaRPr lang="en-AU" i="1" dirty="0"/>
          </a:p>
        </p:txBody>
      </p:sp>
      <p:sp>
        <p:nvSpPr>
          <p:cNvPr id="86" name="矩形 85"/>
          <p:cNvSpPr/>
          <p:nvPr/>
        </p:nvSpPr>
        <p:spPr>
          <a:xfrm>
            <a:off x="9267868" y="3484526"/>
            <a:ext cx="325730" cy="369332"/>
          </a:xfrm>
          <a:prstGeom prst="rect">
            <a:avLst/>
          </a:prstGeom>
        </p:spPr>
        <p:txBody>
          <a:bodyPr wrap="square">
            <a:spAutoFit/>
          </a:bodyPr>
          <a:lstStyle/>
          <a:p>
            <a:r>
              <a:rPr lang="en-AU" i="1" dirty="0"/>
              <a:t>B</a:t>
            </a:r>
            <a:endParaRPr lang="en-AU" i="1" dirty="0"/>
          </a:p>
        </p:txBody>
      </p:sp>
      <p:sp>
        <p:nvSpPr>
          <p:cNvPr id="87" name="矩形 86"/>
          <p:cNvSpPr/>
          <p:nvPr/>
        </p:nvSpPr>
        <p:spPr>
          <a:xfrm>
            <a:off x="7235825" y="5535930"/>
            <a:ext cx="4506595" cy="645160"/>
          </a:xfrm>
          <a:prstGeom prst="rect">
            <a:avLst/>
          </a:prstGeom>
        </p:spPr>
        <p:txBody>
          <a:bodyPr wrap="square">
            <a:spAutoFit/>
          </a:bodyPr>
          <a:lstStyle/>
          <a:p>
            <a:r>
              <a:rPr lang="en-US" altLang="zh-CN" b="1" dirty="0">
                <a:solidFill>
                  <a:srgbClr val="FF0000"/>
                </a:solidFill>
                <a:latin typeface="微软雅黑" panose="020B0503020204020204" pitchFamily="34" charset="-122"/>
                <a:ea typeface="微软雅黑" panose="020B0503020204020204" pitchFamily="34" charset="-122"/>
              </a:rPr>
              <a:t>When OA is perpendicular to OB, the pressure angle α is maximum. Why?</a:t>
            </a:r>
            <a:endParaRPr lang="en-US" altLang="zh-CN" b="1" dirty="0">
              <a:solidFill>
                <a:srgbClr val="FF0000"/>
              </a:solidFill>
              <a:latin typeface="微软雅黑" panose="020B0503020204020204" pitchFamily="34" charset="-122"/>
              <a:ea typeface="微软雅黑" panose="020B0503020204020204" pitchFamily="34" charset="-122"/>
            </a:endParaRPr>
          </a:p>
        </p:txBody>
      </p:sp>
      <p:sp>
        <p:nvSpPr>
          <p:cNvPr id="88" name="矩形 87"/>
          <p:cNvSpPr/>
          <p:nvPr/>
        </p:nvSpPr>
        <p:spPr>
          <a:xfrm>
            <a:off x="6990255" y="2029207"/>
            <a:ext cx="4826383" cy="671830"/>
          </a:xfrm>
          <a:prstGeom prst="rect">
            <a:avLst/>
          </a:prstGeom>
        </p:spPr>
        <p:txBody>
          <a:bodyPr wrap="square">
            <a:spAutoFit/>
          </a:bodyPr>
          <a:lstStyle/>
          <a:p>
            <a:pPr algn="just">
              <a:lnSpc>
                <a:spcPct val="105000"/>
              </a:lnSpc>
              <a:spcBef>
                <a:spcPct val="5000"/>
              </a:spcBef>
            </a:pPr>
            <a:r>
              <a:rPr lang="zh-CN" altLang="en-US" b="1" dirty="0">
                <a:solidFill>
                  <a:schemeClr val="tx1"/>
                </a:solidFill>
                <a:latin typeface="Times New Roman" panose="02020603050405020304" pitchFamily="18" charset="0"/>
                <a:ea typeface="楷体_GB2312" pitchFamily="49" charset="-122"/>
              </a:rPr>
              <a:t>Calculate base circle radius and pressure angle using the </a:t>
            </a:r>
            <a:r>
              <a:rPr lang="zh-CN" altLang="en-US" b="1" dirty="0">
                <a:solidFill>
                  <a:srgbClr val="C00000"/>
                </a:solidFill>
                <a:latin typeface="Times New Roman" panose="02020603050405020304" pitchFamily="18" charset="0"/>
                <a:ea typeface="楷体_GB2312" pitchFamily="49" charset="-122"/>
              </a:rPr>
              <a:t>pitch curve</a:t>
            </a:r>
            <a:r>
              <a:rPr lang="zh-CN" altLang="en-US" b="1" dirty="0">
                <a:solidFill>
                  <a:schemeClr val="tx1"/>
                </a:solidFill>
                <a:latin typeface="Times New Roman" panose="02020603050405020304" pitchFamily="18" charset="0"/>
                <a:ea typeface="楷体_GB2312" pitchFamily="49" charset="-122"/>
              </a:rPr>
              <a:t>, </a:t>
            </a:r>
            <a:r>
              <a:rPr lang="zh-CN" altLang="en-US" b="1" dirty="0">
                <a:solidFill>
                  <a:srgbClr val="C00000"/>
                </a:solidFill>
                <a:latin typeface="Times New Roman" panose="02020603050405020304" pitchFamily="18" charset="0"/>
                <a:ea typeface="楷体_GB2312" pitchFamily="49" charset="-122"/>
              </a:rPr>
              <a:t>NOT </a:t>
            </a:r>
            <a:r>
              <a:rPr lang="zh-CN" altLang="en-US" b="1" dirty="0">
                <a:solidFill>
                  <a:schemeClr val="tx1"/>
                </a:solidFill>
                <a:latin typeface="Times New Roman" panose="02020603050405020304" pitchFamily="18" charset="0"/>
                <a:ea typeface="楷体_GB2312" pitchFamily="49" charset="-122"/>
              </a:rPr>
              <a:t>the actual profile.</a:t>
            </a:r>
            <a:endParaRPr lang="zh-CN" altLang="en-US" b="1" dirty="0">
              <a:solidFill>
                <a:schemeClr val="tx1"/>
              </a:solidFill>
              <a:latin typeface="Times New Roman" panose="02020603050405020304" pitchFamily="18" charset="0"/>
              <a:ea typeface="楷体_GB2312" pitchFamily="49" charset="-122"/>
            </a:endParaRPr>
          </a:p>
        </p:txBody>
      </p:sp>
      <p:sp>
        <p:nvSpPr>
          <p:cNvPr id="7" name="矩形 6"/>
          <p:cNvSpPr/>
          <p:nvPr/>
        </p:nvSpPr>
        <p:spPr>
          <a:xfrm>
            <a:off x="3481070" y="2001520"/>
            <a:ext cx="1308100" cy="368300"/>
          </a:xfrm>
          <a:prstGeom prst="rect">
            <a:avLst/>
          </a:prstGeom>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Red</a:t>
            </a:r>
            <a:endParaRPr lang="en-AU" dirty="0"/>
          </a:p>
        </p:txBody>
      </p:sp>
      <p:sp>
        <p:nvSpPr>
          <p:cNvPr id="91" name="矩形 90"/>
          <p:cNvSpPr/>
          <p:nvPr/>
        </p:nvSpPr>
        <p:spPr>
          <a:xfrm>
            <a:off x="3558608" y="2303186"/>
            <a:ext cx="415498" cy="369332"/>
          </a:xfrm>
          <a:prstGeom prst="rect">
            <a:avLst/>
          </a:prstGeom>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25</a:t>
            </a:r>
            <a:endParaRPr lang="en-AU" dirty="0"/>
          </a:p>
        </p:txBody>
      </p:sp>
      <p:sp>
        <p:nvSpPr>
          <p:cNvPr id="92" name="矩形 91"/>
          <p:cNvSpPr/>
          <p:nvPr/>
        </p:nvSpPr>
        <p:spPr>
          <a:xfrm>
            <a:off x="1665609" y="2562327"/>
            <a:ext cx="415498" cy="369332"/>
          </a:xfrm>
          <a:prstGeom prst="rect">
            <a:avLst/>
          </a:prstGeom>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50</a:t>
            </a:r>
            <a:endParaRPr lang="en-AU" dirty="0"/>
          </a:p>
        </p:txBody>
      </p:sp>
      <p:sp>
        <p:nvSpPr>
          <p:cNvPr id="9" name="矩形 8"/>
          <p:cNvSpPr/>
          <p:nvPr/>
        </p:nvSpPr>
        <p:spPr>
          <a:xfrm>
            <a:off x="5213844" y="3422478"/>
            <a:ext cx="705642" cy="369332"/>
          </a:xfrm>
          <a:prstGeom prst="rect">
            <a:avLst/>
          </a:prstGeom>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30°</a:t>
            </a:r>
            <a:endParaRPr lang="en-AU" dirty="0">
              <a:solidFill>
                <a:srgbClr val="FF0000"/>
              </a:solidFill>
            </a:endParaRPr>
          </a:p>
        </p:txBody>
      </p:sp>
      <p:sp>
        <p:nvSpPr>
          <p:cNvPr id="6" name="矩形 5"/>
          <p:cNvSpPr/>
          <p:nvPr/>
        </p:nvSpPr>
        <p:spPr>
          <a:xfrm>
            <a:off x="319483" y="2546658"/>
            <a:ext cx="1088760" cy="369332"/>
          </a:xfrm>
          <a:prstGeom prst="rect">
            <a:avLst/>
          </a:prstGeom>
        </p:spPr>
        <p:txBody>
          <a:bodyPr wrap="square">
            <a:spAutoFit/>
          </a:bodyPr>
          <a:lstStyle/>
          <a:p>
            <a:r>
              <a:rPr lang="en-US" altLang="zh-CN" dirty="0"/>
              <a:t>(3) Lift h</a:t>
            </a:r>
            <a:endParaRPr lang="en-US" altLang="zh-CN" dirty="0"/>
          </a:p>
        </p:txBody>
      </p:sp>
      <p:grpSp>
        <p:nvGrpSpPr>
          <p:cNvPr id="13" name="组合 12"/>
          <p:cNvGrpSpPr/>
          <p:nvPr/>
        </p:nvGrpSpPr>
        <p:grpSpPr>
          <a:xfrm>
            <a:off x="1441618" y="3116155"/>
            <a:ext cx="5794280" cy="2248079"/>
            <a:chOff x="1441618" y="3116155"/>
            <a:chExt cx="5794280" cy="2248079"/>
          </a:xfrm>
        </p:grpSpPr>
        <p:sp>
          <p:nvSpPr>
            <p:cNvPr id="11" name="矩形 10"/>
            <p:cNvSpPr/>
            <p:nvPr/>
          </p:nvSpPr>
          <p:spPr>
            <a:xfrm>
              <a:off x="2557218" y="3116155"/>
              <a:ext cx="4678680" cy="368300"/>
            </a:xfrm>
            <a:prstGeom prst="rect">
              <a:avLst/>
            </a:prstGeom>
          </p:spPr>
          <p:txBody>
            <a:bodyPr wrap="none">
              <a:spAutoFit/>
            </a:bodyPr>
            <a:lstStyle/>
            <a:p>
              <a:pPr algn="l"/>
              <a:r>
                <a:rPr lang="en-US" altLang="zh-CN" dirty="0">
                  <a:solidFill>
                    <a:srgbClr val="FF0000"/>
                  </a:solidFill>
                </a:rPr>
                <a:t>Draw the line and measure according to the scale</a:t>
              </a:r>
              <a:endParaRPr lang="en-US" altLang="zh-CN" dirty="0">
                <a:solidFill>
                  <a:srgbClr val="FF0000"/>
                </a:solidFill>
              </a:endParaRPr>
            </a:p>
          </p:txBody>
        </p:sp>
        <p:sp>
          <p:nvSpPr>
            <p:cNvPr id="93" name="Line 9"/>
            <p:cNvSpPr>
              <a:spLocks noChangeShapeType="1"/>
            </p:cNvSpPr>
            <p:nvPr/>
          </p:nvSpPr>
          <p:spPr bwMode="auto">
            <a:xfrm>
              <a:off x="1802455" y="4521564"/>
              <a:ext cx="0" cy="738950"/>
            </a:xfrm>
            <a:prstGeom prst="line">
              <a:avLst/>
            </a:prstGeom>
            <a:noFill/>
            <a:ln w="25400">
              <a:solidFill>
                <a:srgbClr val="FF0000"/>
              </a:solidFill>
              <a:prstDash val="solid"/>
              <a:round/>
              <a:headEnd type="none" w="sm" len="sm"/>
              <a:tailEnd type="oval" w="med" len="med"/>
            </a:ln>
            <a:extLst>
              <a:ext uri="{909E8E84-426E-40DD-AFC4-6F175D3DCCD1}">
                <a14:hiddenFill xmlns:a14="http://schemas.microsoft.com/office/drawing/2010/main">
                  <a:noFill/>
                </a14:hiddenFill>
              </a:ext>
            </a:extLst>
          </p:spPr>
          <p:txBody>
            <a:bodyPr wrap="none"/>
            <a:lstStyle/>
            <a:p>
              <a:endParaRPr lang="en-US"/>
            </a:p>
          </p:txBody>
        </p:sp>
        <p:sp>
          <p:nvSpPr>
            <p:cNvPr id="94" name="矩形 93"/>
            <p:cNvSpPr/>
            <p:nvPr/>
          </p:nvSpPr>
          <p:spPr>
            <a:xfrm>
              <a:off x="1441618" y="4994902"/>
              <a:ext cx="351378" cy="369332"/>
            </a:xfrm>
            <a:prstGeom prst="rect">
              <a:avLst/>
            </a:prstGeom>
          </p:spPr>
          <p:txBody>
            <a:bodyPr wrap="none">
              <a:spAutoFit/>
            </a:bodyPr>
            <a:lstStyle/>
            <a:p>
              <a:r>
                <a:rPr lang="en-US" i="1" dirty="0"/>
                <a:t>D</a:t>
              </a:r>
              <a:endParaRPr lang="en-AU" i="1" dirty="0"/>
            </a:p>
          </p:txBody>
        </p:sp>
      </p:grpSp>
      <p:cxnSp>
        <p:nvCxnSpPr>
          <p:cNvPr id="97" name="直接连接符 96"/>
          <p:cNvCxnSpPr>
            <a:cxnSpLocks noChangeShapeType="1"/>
          </p:cNvCxnSpPr>
          <p:nvPr/>
        </p:nvCxnSpPr>
        <p:spPr bwMode="auto">
          <a:xfrm flipH="1">
            <a:off x="1109697" y="4586530"/>
            <a:ext cx="2128528" cy="1925432"/>
          </a:xfrm>
          <a:prstGeom prst="line">
            <a:avLst/>
          </a:prstGeom>
          <a:noFill/>
          <a:ln w="19050">
            <a:solidFill>
              <a:srgbClr val="C00000"/>
            </a:solidFill>
            <a:prstDash val="dash"/>
            <a:round/>
          </a:ln>
        </p:spPr>
      </p:cxnSp>
      <p:sp>
        <p:nvSpPr>
          <p:cNvPr id="54" name="TextBox 8"/>
          <p:cNvSpPr txBox="1"/>
          <p:nvPr/>
        </p:nvSpPr>
        <p:spPr>
          <a:xfrm>
            <a:off x="1007878" y="319709"/>
            <a:ext cx="9470935" cy="521970"/>
          </a:xfrm>
          <a:prstGeom prst="rect">
            <a:avLst/>
          </a:prstGeom>
          <a:noFill/>
        </p:spPr>
        <p:txBody>
          <a:bodyPr wrap="square" rtlCol="0">
            <a:spAutoFit/>
          </a:bodyPr>
          <a:lstStyle/>
          <a:p>
            <a:r>
              <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文本框 14"/>
          <p:cNvSpPr txBox="1"/>
          <p:nvPr/>
        </p:nvSpPr>
        <p:spPr>
          <a:xfrm>
            <a:off x="1697355" y="1609725"/>
            <a:ext cx="1380490" cy="368300"/>
          </a:xfrm>
          <a:prstGeom prst="rect">
            <a:avLst/>
          </a:prstGeom>
          <a:noFill/>
        </p:spPr>
        <p:txBody>
          <a:bodyPr wrap="square" rtlCol="0" anchor="t">
            <a:spAutoFit/>
          </a:bodyPr>
          <a:p>
            <a:r>
              <a:rPr lang="en-US" altLang="zh-CN"/>
              <a:t>Roller radius</a:t>
            </a:r>
            <a:endParaRPr lang="zh-CN" altLang="en-US"/>
          </a:p>
        </p:txBody>
      </p:sp>
      <p:sp>
        <p:nvSpPr>
          <p:cNvPr id="18" name="文本框 17"/>
          <p:cNvSpPr txBox="1"/>
          <p:nvPr/>
        </p:nvSpPr>
        <p:spPr>
          <a:xfrm>
            <a:off x="319405" y="1331595"/>
            <a:ext cx="6096000" cy="368300"/>
          </a:xfrm>
          <a:prstGeom prst="rect">
            <a:avLst/>
          </a:prstGeom>
          <a:noFill/>
        </p:spPr>
        <p:txBody>
          <a:bodyPr wrap="square" rtlCol="0" anchor="t">
            <a:spAutoFit/>
          </a:bodyPr>
          <a:p>
            <a:r>
              <a:rPr lang="en-US" altLang="zh-CN"/>
              <a:t>The cam rotates uniformly counterclockwise about point O.</a:t>
            </a:r>
            <a:endParaRPr lang="zh-CN" altLang="en-US"/>
          </a:p>
        </p:txBody>
      </p:sp>
      <p:sp>
        <p:nvSpPr>
          <p:cNvPr id="56" name="Text Box 6"/>
          <p:cNvSpPr txBox="1">
            <a:spLocks noChangeArrowheads="1"/>
          </p:cNvSpPr>
          <p:nvPr/>
        </p:nvSpPr>
        <p:spPr bwMode="auto">
          <a:xfrm>
            <a:off x="3481070" y="4266565"/>
            <a:ext cx="4826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Pressure Angle</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The acute angle </a:t>
            </a:r>
            <a:r>
              <a:rPr kumimoji="0" lang="en-US" altLang="zh-CN" sz="16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α</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between the direction of the force acting on the point of force application on the follower and the absolute velocity direction of that point.</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animBg="1"/>
      <p:bldP spid="76" grpId="0" animBg="1"/>
      <p:bldP spid="5" grpId="0"/>
      <p:bldP spid="86" grpId="0"/>
      <p:bldP spid="87" grpId="0"/>
      <p:bldP spid="88" grpId="0"/>
      <p:bldP spid="7" grpId="0"/>
      <p:bldP spid="91" grpId="0"/>
      <p:bldP spid="92"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dirty="0"/>
          </a:p>
        </p:txBody>
      </p:sp>
      <p:sp>
        <p:nvSpPr>
          <p:cNvPr id="25" name="矩形 24"/>
          <p:cNvSpPr/>
          <p:nvPr/>
        </p:nvSpPr>
        <p:spPr>
          <a:xfrm>
            <a:off x="273050" y="1276985"/>
            <a:ext cx="7058025" cy="460375"/>
          </a:xfrm>
          <a:prstGeom prst="rect">
            <a:avLst/>
          </a:prstGeom>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II. Common Follower Motion Laws</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38" name="内容占位符 625666"/>
          <p:cNvSpPr txBox="1">
            <a:spLocks noRot="1" noChangeArrowheads="1"/>
          </p:cNvSpPr>
          <p:nvPr/>
        </p:nvSpPr>
        <p:spPr>
          <a:xfrm>
            <a:off x="471327" y="2715443"/>
            <a:ext cx="5232400" cy="4967287"/>
          </a:xfrm>
          <a:prstGeom prst="rect">
            <a:avLst/>
          </a:prstGeom>
        </p:spPr>
        <p:txBody>
          <a:bodyPr wrap="square"/>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a:lstStyle>
          <a:p>
            <a:pPr marL="273050" indent="-273050" algn="just" eaLnBrk="1" hangingPunct="1">
              <a:lnSpc>
                <a:spcPct val="120000"/>
              </a:lnSpc>
              <a:buFont typeface="Wingdings" panose="05000000000000000000" pitchFamily="2" charset="2"/>
              <a:buNone/>
            </a:pPr>
            <a:r>
              <a:rPr lang="en-US" altLang="zh-CN" sz="2000" b="1" kern="0" dirty="0">
                <a:solidFill>
                  <a:schemeClr val="tx1"/>
                </a:solidFill>
                <a:latin typeface="微软雅黑" panose="020B0503020204020204" pitchFamily="34" charset="-122"/>
                <a:ea typeface="微软雅黑" panose="020B0503020204020204" pitchFamily="34" charset="-122"/>
                <a:hlinkClick r:id="rId1" action="ppaction://hlinksldjump"/>
              </a:rPr>
              <a:t>1. Constant Velocity Motion</a:t>
            </a:r>
            <a:endParaRPr lang="en-US" altLang="zh-CN" sz="2000" b="1" kern="0" dirty="0">
              <a:solidFill>
                <a:schemeClr val="tx1"/>
              </a:solidFill>
              <a:latin typeface="微软雅黑" panose="020B0503020204020204" pitchFamily="34" charset="-122"/>
              <a:ea typeface="微软雅黑" panose="020B0503020204020204" pitchFamily="34" charset="-122"/>
            </a:endParaRPr>
          </a:p>
          <a:p>
            <a:pPr marL="273050" indent="-273050" algn="just" eaLnBrk="1" hangingPunct="1">
              <a:lnSpc>
                <a:spcPct val="120000"/>
              </a:lnSpc>
              <a:buFont typeface="Wingdings" panose="05000000000000000000" pitchFamily="2" charset="2"/>
              <a:buNone/>
            </a:pPr>
            <a:r>
              <a:rPr lang="en-US" altLang="zh-CN" sz="2000" b="1" kern="0" dirty="0">
                <a:solidFill>
                  <a:schemeClr val="tx1"/>
                </a:solidFill>
                <a:latin typeface="微软雅黑" panose="020B0503020204020204" pitchFamily="34" charset="-122"/>
                <a:ea typeface="微软雅黑" panose="020B0503020204020204" pitchFamily="34" charset="-122"/>
                <a:hlinkClick r:id="rId2" action="ppaction://hlinksldjump"/>
              </a:rPr>
              <a:t>2. Constant Acceleration/Deceleration Motion</a:t>
            </a:r>
            <a:endParaRPr lang="en-US" altLang="zh-CN" sz="2000" b="1" kern="0" dirty="0">
              <a:solidFill>
                <a:schemeClr val="tx1"/>
              </a:solidFill>
              <a:latin typeface="微软雅黑" panose="020B0503020204020204" pitchFamily="34" charset="-122"/>
              <a:ea typeface="微软雅黑" panose="020B0503020204020204" pitchFamily="34" charset="-122"/>
            </a:endParaRPr>
          </a:p>
          <a:p>
            <a:pPr marL="273050" indent="-273050" algn="just" eaLnBrk="1" hangingPunct="1">
              <a:lnSpc>
                <a:spcPct val="120000"/>
              </a:lnSpc>
              <a:buNone/>
            </a:pPr>
            <a:r>
              <a:rPr lang="en-US" altLang="zh-CN" sz="2000" b="1" kern="0" dirty="0">
                <a:solidFill>
                  <a:schemeClr val="tx1"/>
                </a:solidFill>
                <a:latin typeface="微软雅黑" panose="020B0503020204020204" pitchFamily="34" charset="-122"/>
                <a:ea typeface="微软雅黑" panose="020B0503020204020204" pitchFamily="34" charset="-122"/>
                <a:hlinkClick r:id="rId2" action="ppaction://hlinksldjump"/>
              </a:rPr>
              <a:t>3. Simple Harmonic Motion (Cosine)</a:t>
            </a:r>
            <a:endParaRPr lang="en-US" altLang="zh-CN" sz="2000" b="1" kern="0" dirty="0">
              <a:solidFill>
                <a:schemeClr val="tx1"/>
              </a:solidFill>
              <a:latin typeface="微软雅黑" panose="020B0503020204020204" pitchFamily="34" charset="-122"/>
              <a:ea typeface="微软雅黑" panose="020B0503020204020204" pitchFamily="34" charset="-122"/>
            </a:endParaRPr>
          </a:p>
          <a:p>
            <a:pPr marL="273050" indent="-273050" algn="just" eaLnBrk="1" hangingPunct="1">
              <a:lnSpc>
                <a:spcPct val="120000"/>
              </a:lnSpc>
              <a:buFont typeface="Wingdings" panose="05000000000000000000" pitchFamily="2" charset="2"/>
              <a:buNone/>
            </a:pPr>
            <a:r>
              <a:rPr lang="en-US" altLang="zh-CN" sz="2000" b="1" kern="0" dirty="0">
                <a:solidFill>
                  <a:schemeClr val="tx1"/>
                </a:solidFill>
                <a:latin typeface="微软雅黑" panose="020B0503020204020204" pitchFamily="34" charset="-122"/>
                <a:ea typeface="微软雅黑" panose="020B0503020204020204" pitchFamily="34" charset="-122"/>
                <a:hlinkClick r:id="rId3" action="ppaction://hlinksldjump"/>
              </a:rPr>
              <a:t>4. Cycloidal Motion (Sine)</a:t>
            </a:r>
            <a:endParaRPr lang="en-US" altLang="zh-CN" sz="2000" b="1" kern="0" dirty="0">
              <a:solidFill>
                <a:schemeClr val="tx1"/>
              </a:solidFill>
              <a:latin typeface="微软雅黑" panose="020B0503020204020204" pitchFamily="34" charset="-122"/>
              <a:ea typeface="微软雅黑" panose="020B0503020204020204" pitchFamily="34" charset="-122"/>
              <a:hlinkClick r:id="rId3" action="ppaction://hlinksldjump"/>
            </a:endParaRPr>
          </a:p>
        </p:txBody>
      </p:sp>
      <p:sp>
        <p:nvSpPr>
          <p:cNvPr id="19" name="矩形 18"/>
          <p:cNvSpPr/>
          <p:nvPr/>
        </p:nvSpPr>
        <p:spPr>
          <a:xfrm>
            <a:off x="471327" y="1828255"/>
            <a:ext cx="10900058" cy="685800"/>
          </a:xfrm>
          <a:prstGeom prst="rect">
            <a:avLst/>
          </a:prstGeom>
        </p:spPr>
        <p:txBody>
          <a:bodyPr wrap="square">
            <a:spAutoFit/>
          </a:bodyPr>
          <a:lstStyle/>
          <a:p>
            <a:pPr>
              <a:lnSpc>
                <a:spcPct val="105000"/>
              </a:lnSpc>
              <a:spcBef>
                <a:spcPct val="5000"/>
              </a:spcBef>
            </a:pPr>
            <a:r>
              <a:rPr lang="zh-CN" altLang="en-US" b="1" kern="0" dirty="0">
                <a:solidFill>
                  <a:srgbClr val="000000"/>
                </a:solidFill>
                <a:latin typeface="微软雅黑" panose="020B0503020204020204" pitchFamily="34" charset="-122"/>
                <a:ea typeface="微软雅黑" panose="020B0503020204020204" pitchFamily="34" charset="-122"/>
              </a:rPr>
              <a:t>Research question: How to select/design follower motion from point A to B</a:t>
            </a:r>
            <a:endParaRPr lang="en-US" altLang="zh-CN" sz="3200" b="1" kern="0" dirty="0">
              <a:solidFill>
                <a:srgbClr val="000000"/>
              </a:solidFill>
              <a:latin typeface="微软雅黑" panose="020B0503020204020204" pitchFamily="34" charset="-122"/>
              <a:ea typeface="微软雅黑" panose="020B0503020204020204" pitchFamily="34" charset="-122"/>
            </a:endParaRPr>
          </a:p>
          <a:p>
            <a:pPr>
              <a:lnSpc>
                <a:spcPct val="105000"/>
              </a:lnSpc>
              <a:spcBef>
                <a:spcPct val="5000"/>
              </a:spcBef>
            </a:pPr>
            <a:r>
              <a:rPr lang="en-US" altLang="zh-CN" b="1" kern="0" dirty="0">
                <a:solidFill>
                  <a:srgbClr val="000000"/>
                </a:solidFill>
                <a:latin typeface="微软雅黑" panose="020B0503020204020204" pitchFamily="34" charset="-122"/>
                <a:ea typeface="微软雅黑" panose="020B0503020204020204" pitchFamily="34" charset="-122"/>
              </a:rPr>
              <a:t>(e.g., how to open and close the intake valve)</a:t>
            </a:r>
            <a:endParaRPr lang="en-US" altLang="zh-CN" b="1" kern="0" dirty="0">
              <a:solidFill>
                <a:srgbClr val="000000"/>
              </a:solidFill>
              <a:latin typeface="微软雅黑" panose="020B0503020204020204" pitchFamily="34" charset="-122"/>
              <a:ea typeface="微软雅黑" panose="020B0503020204020204" pitchFamily="34" charset="-122"/>
            </a:endParaRPr>
          </a:p>
        </p:txBody>
      </p:sp>
      <p:pic>
        <p:nvPicPr>
          <p:cNvPr id="7" name="内燃机WMV">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9604086" y="1108993"/>
            <a:ext cx="2328995" cy="1746746"/>
          </a:xfrm>
          <a:prstGeom prst="rect">
            <a:avLst/>
          </a:prstGeom>
        </p:spPr>
      </p:pic>
      <p:pic>
        <p:nvPicPr>
          <p:cNvPr id="10" name="图片 9"/>
          <p:cNvPicPr>
            <a:picLocks noChangeAspect="1"/>
          </p:cNvPicPr>
          <p:nvPr/>
        </p:nvPicPr>
        <p:blipFill>
          <a:blip r:embed="rId7"/>
          <a:stretch>
            <a:fillRect/>
          </a:stretch>
        </p:blipFill>
        <p:spPr>
          <a:xfrm>
            <a:off x="7155972" y="4939851"/>
            <a:ext cx="4549393" cy="1206469"/>
          </a:xfrm>
          <a:prstGeom prst="rect">
            <a:avLst/>
          </a:prstGeom>
        </p:spPr>
      </p:pic>
      <p:pic>
        <p:nvPicPr>
          <p:cNvPr id="2" name="图片 1"/>
          <p:cNvPicPr>
            <a:picLocks noChangeAspect="1"/>
          </p:cNvPicPr>
          <p:nvPr/>
        </p:nvPicPr>
        <p:blipFill>
          <a:blip r:embed="rId8"/>
          <a:stretch>
            <a:fillRect/>
          </a:stretch>
        </p:blipFill>
        <p:spPr>
          <a:xfrm>
            <a:off x="6544310" y="3429000"/>
            <a:ext cx="5086350" cy="1066800"/>
          </a:xfrm>
          <a:prstGeom prst="rect">
            <a:avLst/>
          </a:prstGeom>
        </p:spPr>
      </p:pic>
      <p:sp>
        <p:nvSpPr>
          <p:cNvPr id="54" name="TextBox 8"/>
          <p:cNvSpPr txBox="1"/>
          <p:nvPr/>
        </p:nvSpPr>
        <p:spPr>
          <a:xfrm>
            <a:off x="1007878" y="319709"/>
            <a:ext cx="9470935" cy="521970"/>
          </a:xfrm>
          <a:prstGeom prst="rect">
            <a:avLst/>
          </a:prstGeom>
          <a:noFill/>
        </p:spPr>
        <p:txBody>
          <a:bodyPr wrap="square" rtlCol="0">
            <a:spAutoFit/>
          </a:bodyPr>
          <a:lstStyle/>
          <a:p>
            <a:r>
              <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标题 627713"/>
          <p:cNvSpPr>
            <a:spLocks noGrp="1" noRot="1" noChangeArrowheads="1"/>
          </p:cNvSpPr>
          <p:nvPr>
            <p:ph type="title"/>
          </p:nvPr>
        </p:nvSpPr>
        <p:spPr>
          <a:xfrm>
            <a:off x="344202" y="1043781"/>
            <a:ext cx="10668000" cy="676275"/>
          </a:xfrm>
        </p:spPr>
        <p:txBody>
          <a:bodyPr wrap="square"/>
          <a:lstStyle/>
          <a:p>
            <a:pPr eaLnBrk="1" hangingPunct="1">
              <a:spcBef>
                <a:spcPct val="50000"/>
              </a:spcBef>
            </a:pPr>
            <a:r>
              <a:rPr lang="zh-CN" altLang="en-US" sz="2000" b="1" kern="1200" dirty="0">
                <a:solidFill>
                  <a:schemeClr val="tx1"/>
                </a:solidFill>
                <a:latin typeface="微软雅黑" panose="020B0503020204020204" pitchFamily="34" charset="-122"/>
                <a:ea typeface="微软雅黑" panose="020B0503020204020204" pitchFamily="34" charset="-122"/>
                <a:cs typeface="+mn-cs"/>
              </a:rPr>
              <a:t>1. Constant Velocity — Linear Motion Law</a:t>
            </a:r>
            <a:endParaRPr lang="zh-CN" altLang="en-US" sz="2000" b="1" kern="1200" dirty="0">
              <a:solidFill>
                <a:schemeClr val="tx1"/>
              </a:solidFill>
              <a:latin typeface="微软雅黑" panose="020B0503020204020204" pitchFamily="34" charset="-122"/>
              <a:ea typeface="微软雅黑" panose="020B0503020204020204" pitchFamily="34" charset="-122"/>
              <a:cs typeface="+mn-cs"/>
            </a:endParaRPr>
          </a:p>
        </p:txBody>
      </p:sp>
      <p:sp>
        <p:nvSpPr>
          <p:cNvPr id="101" name="内容占位符 627715"/>
          <p:cNvSpPr>
            <a:spLocks noGrp="1" noRot="1" noChangeArrowheads="1"/>
          </p:cNvSpPr>
          <p:nvPr>
            <p:ph sz="half" idx="2"/>
          </p:nvPr>
        </p:nvSpPr>
        <p:spPr>
          <a:xfrm>
            <a:off x="545172" y="3696755"/>
            <a:ext cx="5882945" cy="505799"/>
          </a:xfrm>
        </p:spPr>
        <p:txBody>
          <a:bodyPr wrap="square"/>
          <a:lstStyle/>
          <a:p>
            <a:pPr marL="0" indent="0" eaLnBrk="1" hangingPunct="1">
              <a:spcBef>
                <a:spcPts val="100"/>
              </a:spcBef>
              <a:buNone/>
            </a:pPr>
            <a:r>
              <a:rPr lang="zh-CN" altLang="en-US" sz="1800" b="1" dirty="0">
                <a:solidFill>
                  <a:schemeClr val="tx1"/>
                </a:solidFill>
                <a:latin typeface="微软雅黑" panose="020B0503020204020204" pitchFamily="34" charset="-122"/>
                <a:ea typeface="微软雅黑" panose="020B0503020204020204" pitchFamily="34" charset="-122"/>
              </a:rPr>
              <a:t>Impact characteristic:</a:t>
            </a:r>
            <a:r>
              <a:rPr lang="zh-CN" altLang="en-US" sz="1800" b="1" dirty="0">
                <a:solidFill>
                  <a:srgbClr val="FF0000"/>
                </a:solidFill>
                <a:latin typeface="微软雅黑" panose="020B0503020204020204" pitchFamily="34" charset="-122"/>
                <a:ea typeface="微软雅黑" panose="020B0503020204020204" pitchFamily="34" charset="-122"/>
              </a:rPr>
              <a:t> Acceleration → ∞ at start and end points</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14" name="矩形 13"/>
          <p:cNvSpPr/>
          <p:nvPr/>
        </p:nvSpPr>
        <p:spPr>
          <a:xfrm>
            <a:off x="545172" y="4617289"/>
            <a:ext cx="6361466" cy="1501775"/>
          </a:xfrm>
          <a:prstGeom prst="rect">
            <a:avLst/>
          </a:prstGeom>
        </p:spPr>
        <p:txBody>
          <a:bodyPr wrap="square">
            <a:spAutoFit/>
          </a:bodyPr>
          <a:lstStyle/>
          <a:p>
            <a:pPr>
              <a:spcBef>
                <a:spcPts val="100"/>
              </a:spcBef>
            </a:pPr>
            <a:r>
              <a:rPr lang="zh-CN" altLang="en-US" b="1" dirty="0">
                <a:solidFill>
                  <a:schemeClr val="tx1"/>
                </a:solidFill>
                <a:latin typeface="微软雅黑" panose="020B0503020204020204" pitchFamily="34" charset="-122"/>
                <a:ea typeface="微软雅黑" panose="020B0503020204020204" pitchFamily="34" charset="-122"/>
              </a:rPr>
              <a:t>Impact caused by sudden acceleration change to infinity is called</a:t>
            </a:r>
            <a:endParaRPr lang="en-US" altLang="zh-CN" b="1" dirty="0">
              <a:solidFill>
                <a:schemeClr val="tx1"/>
              </a:solidFill>
              <a:latin typeface="微软雅黑" panose="020B0503020204020204" pitchFamily="34" charset="-122"/>
              <a:ea typeface="微软雅黑" panose="020B0503020204020204" pitchFamily="34" charset="-122"/>
            </a:endParaRPr>
          </a:p>
          <a:p>
            <a:pPr>
              <a:spcBef>
                <a:spcPts val="100"/>
              </a:spcBef>
            </a:pPr>
            <a:r>
              <a:rPr lang="zh-CN" altLang="en-US" b="1" dirty="0">
                <a:solidFill>
                  <a:srgbClr val="201E84"/>
                </a:solidFill>
                <a:latin typeface="微软雅黑" panose="020B0503020204020204" pitchFamily="34" charset="-122"/>
                <a:ea typeface="微软雅黑" panose="020B0503020204020204" pitchFamily="34" charset="-122"/>
              </a:rPr>
              <a:t>Rigid impact — generates enormous inertial force, causing severe shock</a:t>
            </a:r>
            <a:endParaRPr lang="en-US" altLang="zh-CN" b="1" dirty="0">
              <a:solidFill>
                <a:srgbClr val="201E84"/>
              </a:solidFill>
              <a:latin typeface="微软雅黑" panose="020B0503020204020204" pitchFamily="34" charset="-122"/>
              <a:ea typeface="微软雅黑" panose="020B0503020204020204" pitchFamily="34" charset="-122"/>
            </a:endParaRPr>
          </a:p>
          <a:p>
            <a:pPr>
              <a:spcBef>
                <a:spcPts val="100"/>
              </a:spcBef>
            </a:pPr>
            <a:endParaRPr lang="en-US" altLang="zh-CN" b="1" dirty="0">
              <a:solidFill>
                <a:srgbClr val="201E84"/>
              </a:solidFill>
              <a:latin typeface="微软雅黑" panose="020B0503020204020204" pitchFamily="34" charset="-122"/>
              <a:ea typeface="微软雅黑" panose="020B0503020204020204" pitchFamily="34" charset="-122"/>
            </a:endParaRPr>
          </a:p>
        </p:txBody>
      </p:sp>
      <p:sp>
        <p:nvSpPr>
          <p:cNvPr id="61" name="灯片编号占位符 7"/>
          <p:cNvSpPr txBox="1"/>
          <p:nvPr/>
        </p:nvSpPr>
        <p:spPr>
          <a:xfrm>
            <a:off x="10768584" y="6446393"/>
            <a:ext cx="1423416"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13</a:t>
            </a:r>
            <a:endParaRPr lang="zh-CN" altLang="en-US" dirty="0"/>
          </a:p>
        </p:txBody>
      </p:sp>
      <p:pic>
        <p:nvPicPr>
          <p:cNvPr id="2" name="图片 1"/>
          <p:cNvPicPr>
            <a:picLocks noChangeAspect="1"/>
          </p:cNvPicPr>
          <p:nvPr/>
        </p:nvPicPr>
        <p:blipFill>
          <a:blip r:embed="rId1"/>
          <a:stretch>
            <a:fillRect/>
          </a:stretch>
        </p:blipFill>
        <p:spPr>
          <a:xfrm>
            <a:off x="7036229" y="2867711"/>
            <a:ext cx="3442584" cy="2975896"/>
          </a:xfrm>
          <a:prstGeom prst="rect">
            <a:avLst/>
          </a:prstGeom>
        </p:spPr>
      </p:pic>
      <p:pic>
        <p:nvPicPr>
          <p:cNvPr id="103" name="内燃机WMV">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641172" y="1257664"/>
            <a:ext cx="1746080" cy="1309560"/>
          </a:xfrm>
          <a:prstGeom prst="rect">
            <a:avLst/>
          </a:prstGeom>
        </p:spPr>
      </p:pic>
      <p:sp>
        <p:nvSpPr>
          <p:cNvPr id="39" name="文本框 38"/>
          <p:cNvSpPr txBox="1"/>
          <p:nvPr/>
        </p:nvSpPr>
        <p:spPr>
          <a:xfrm>
            <a:off x="545172" y="2371813"/>
            <a:ext cx="6096000" cy="368300"/>
          </a:xfrm>
          <a:prstGeom prst="rect">
            <a:avLst/>
          </a:prstGeom>
          <a:noFill/>
        </p:spPr>
        <p:txBody>
          <a:bodyPr wrap="square">
            <a:spAutoFit/>
          </a:bodyPr>
          <a:lstStyle/>
          <a:p>
            <a:r>
              <a:rPr lang="zh-CN" altLang="en-US" b="1" dirty="0">
                <a:solidFill>
                  <a:srgbClr val="000000"/>
                </a:solidFill>
                <a:latin typeface="微软雅黑" panose="020B0503020204020204" pitchFamily="34" charset="-122"/>
                <a:ea typeface="微软雅黑" panose="020B0503020204020204" pitchFamily="34" charset="-122"/>
              </a:rPr>
              <a:t>What are the acceleration characteristics?</a:t>
            </a:r>
            <a:endParaRPr lang="zh-CN" altLang="en-US" b="1"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文本框 10"/>
              <p:cNvSpPr txBox="1"/>
              <p:nvPr/>
            </p:nvSpPr>
            <p:spPr>
              <a:xfrm flipH="1">
                <a:off x="10131725" y="4198358"/>
                <a:ext cx="1030892"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nor/>
                        </m:rPr>
                        <a:rPr lang="en-US" altLang="zh-CN" b="1" i="1" dirty="0">
                          <a:solidFill>
                            <a:schemeClr val="tx2"/>
                          </a:solidFill>
                          <a:latin typeface="Cambria Math" panose="02040503050406030204" pitchFamily="18" charset="0"/>
                        </a:rPr>
                        <m:t>t</m:t>
                      </m:r>
                      <m:r>
                        <a:rPr lang="en-US" altLang="zh-CN" b="1" i="1" smtClean="0">
                          <a:solidFill>
                            <a:schemeClr val="tx2"/>
                          </a:solidFill>
                          <a:latin typeface="Cambria Math" panose="02040503050406030204" pitchFamily="18" charset="0"/>
                        </a:rPr>
                        <m:t>=</m:t>
                      </m:r>
                      <m:r>
                        <a:rPr lang="zh-CN" altLang="en-US" b="1" i="1">
                          <a:solidFill>
                            <a:schemeClr val="tx2"/>
                          </a:solidFill>
                          <a:latin typeface="Cambria Math" panose="02040503050406030204" pitchFamily="18" charset="0"/>
                        </a:rPr>
                        <m:t>𝝋</m:t>
                      </m:r>
                      <m:r>
                        <a:rPr lang="en-US" altLang="zh-CN" b="1" i="1" smtClean="0">
                          <a:solidFill>
                            <a:schemeClr val="tx1"/>
                          </a:solidFill>
                          <a:latin typeface="Cambria Math" panose="02040503050406030204" pitchFamily="18" charset="0"/>
                        </a:rPr>
                        <m:t>/</m:t>
                      </m:r>
                      <m:r>
                        <a:rPr lang="zh-CN" altLang="en-US" b="1">
                          <a:solidFill>
                            <a:schemeClr val="tx1"/>
                          </a:solidFill>
                          <a:latin typeface="Cambria Math" panose="02040503050406030204" pitchFamily="18" charset="0"/>
                        </a:rPr>
                        <m:t>𝛚</m:t>
                      </m:r>
                    </m:oMath>
                  </m:oMathPara>
                </a14:m>
                <a:endParaRPr lang="en-AU" altLang="zh-CN" i="1" dirty="0">
                  <a:solidFill>
                    <a:schemeClr val="tx2"/>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flipH="1">
                <a:off x="10131725" y="4198358"/>
                <a:ext cx="1030892" cy="369332"/>
              </a:xfrm>
              <a:prstGeom prst="rect">
                <a:avLst/>
              </a:prstGeom>
              <a:blipFill rotWithShape="1">
                <a:blip r:embed="rId5"/>
                <a:stretch>
                  <a:fillRect l="-29" t="-101" r="57" b="37"/>
                </a:stretch>
              </a:blipFill>
            </p:spPr>
            <p:txBody>
              <a:bodyPr/>
              <a:lstStyle/>
              <a:p>
                <a:r>
                  <a:rPr lang="zh-CN" altLang="en-US">
                    <a:noFill/>
                  </a:rPr>
                  <a:t> </a:t>
                </a:r>
              </a:p>
            </p:txBody>
          </p:sp>
        </mc:Fallback>
      </mc:AlternateContent>
      <p:sp>
        <p:nvSpPr>
          <p:cNvPr id="54" name="TextBox 8"/>
          <p:cNvSpPr txBox="1"/>
          <p:nvPr/>
        </p:nvSpPr>
        <p:spPr>
          <a:xfrm>
            <a:off x="1007878" y="319709"/>
            <a:ext cx="9470935" cy="521970"/>
          </a:xfrm>
          <a:prstGeom prst="rect">
            <a:avLst/>
          </a:prstGeom>
          <a:noFill/>
        </p:spPr>
        <p:txBody>
          <a:bodyPr wrap="square" rtlCol="0">
            <a:spAutoFit/>
          </a:bodyPr>
          <a:lstStyle/>
          <a:p>
            <a:r>
              <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8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a:blip r:embed="rId6"/>
          <a:stretch>
            <a:fillRect/>
          </a:stretch>
        </p:blipFill>
        <p:spPr>
          <a:xfrm>
            <a:off x="8477250" y="1562735"/>
            <a:ext cx="3336290" cy="699770"/>
          </a:xfrm>
          <a:prstGeom prst="rect">
            <a:avLst/>
          </a:prstGeom>
        </p:spPr>
      </p:pic>
    </p:spTree>
  </p:cSld>
  <p:clrMapOvr>
    <a:masterClrMapping/>
  </p:clrMapOvr>
  <p:transition>
    <p:sndAc>
      <p:stSnd>
        <p:snd r:embed="rId7"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103"/>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p:cTn id="13" dur="1" fill="hold"/>
                                        <p:tgtEl>
                                          <p:spTgt spid="103"/>
                                        </p:tgtEl>
                                      </p:cBhvr>
                                    </p:cmd>
                                  </p:childTnLst>
                                </p:cTn>
                              </p:par>
                            </p:childTnLst>
                          </p:cTn>
                        </p:par>
                      </p:childTnLst>
                    </p:cTn>
                  </p:par>
                </p:childTnLst>
              </p:cTn>
              <p:nextCondLst>
                <p:cond evt="onClick" delay="0">
                  <p:tgtEl>
                    <p:spTgt spid="103"/>
                  </p:tgtEl>
                </p:cond>
              </p:nextCondLst>
            </p:seq>
            <p:video>
              <p:cMediaNode vol="80000">
                <p:cTn id="14" fill="hold" display="0">
                  <p:stCondLst>
                    <p:cond delay="indefinite"/>
                  </p:stCondLst>
                </p:cTn>
                <p:tgtEl>
                  <p:spTgt spid="103"/>
                </p:tgtEl>
              </p:cMediaNode>
            </p:video>
          </p:childTnLst>
        </p:cTn>
      </p:par>
    </p:tnLst>
    <p:bldLst>
      <p:bldP spid="101" grpId="0" build="p"/>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z="1600" smtClean="0"/>
            </a:fld>
            <a:endParaRPr lang="zh-CN" altLang="en-US" sz="1600" smtClean="0"/>
          </a:p>
        </p:txBody>
      </p:sp>
      <p:sp>
        <p:nvSpPr>
          <p:cNvPr id="55" name="Text Box 2"/>
          <p:cNvSpPr txBox="1">
            <a:spLocks noChangeArrowheads="1"/>
          </p:cNvSpPr>
          <p:nvPr/>
        </p:nvSpPr>
        <p:spPr bwMode="auto">
          <a:xfrm>
            <a:off x="224224" y="1141060"/>
            <a:ext cx="10939034"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en-US" altLang="zh-CN" sz="2000" dirty="0">
                <a:solidFill>
                  <a:schemeClr val="tx1"/>
                </a:solidFill>
                <a:latin typeface="微软雅黑" panose="020B0503020204020204" pitchFamily="34" charset="-122"/>
                <a:ea typeface="微软雅黑" panose="020B0503020204020204" pitchFamily="34" charset="-122"/>
              </a:rPr>
              <a:t>2. Constant Acceleration/Deceleration — Quadratic Motion Law</a:t>
            </a:r>
            <a:endParaRPr lang="en-US" altLang="zh-CN" sz="2000" dirty="0">
              <a:solidFill>
                <a:schemeClr val="tx1"/>
              </a:solidFill>
              <a:latin typeface="微软雅黑" panose="020B0503020204020204" pitchFamily="34" charset="-122"/>
              <a:ea typeface="微软雅黑" panose="020B0503020204020204" pitchFamily="34" charset="-122"/>
            </a:endParaRPr>
          </a:p>
        </p:txBody>
      </p:sp>
      <p:grpSp>
        <p:nvGrpSpPr>
          <p:cNvPr id="56" name="Group 70"/>
          <p:cNvGrpSpPr/>
          <p:nvPr/>
        </p:nvGrpSpPr>
        <p:grpSpPr bwMode="auto">
          <a:xfrm>
            <a:off x="7002076" y="1746171"/>
            <a:ext cx="5029200" cy="4618037"/>
            <a:chOff x="288" y="768"/>
            <a:chExt cx="3168" cy="2909"/>
          </a:xfrm>
        </p:grpSpPr>
        <p:graphicFrame>
          <p:nvGraphicFramePr>
            <p:cNvPr id="57" name="Object 9"/>
            <p:cNvGraphicFramePr>
              <a:graphicFrameLocks noChangeAspect="1"/>
            </p:cNvGraphicFramePr>
            <p:nvPr/>
          </p:nvGraphicFramePr>
          <p:xfrm>
            <a:off x="288" y="768"/>
            <a:ext cx="3168" cy="2909"/>
          </p:xfrm>
          <a:graphic>
            <a:graphicData uri="http://schemas.openxmlformats.org/presentationml/2006/ole">
              <mc:AlternateContent xmlns:mc="http://schemas.openxmlformats.org/markup-compatibility/2006">
                <mc:Choice xmlns:v="urn:schemas-microsoft-com:vml" Requires="v">
                  <p:oleObj spid="_x0000_s211418" name="位图图像" r:id="rId1" imgW="2697480" imgH="2476500" progId="Paint.Picture">
                    <p:embed/>
                  </p:oleObj>
                </mc:Choice>
                <mc:Fallback>
                  <p:oleObj name="位图图像" r:id="rId1" imgW="2697480" imgH="2476500" progId="Paint.Picture">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768"/>
                          <a:ext cx="3168" cy="2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 name="Line 41"/>
            <p:cNvSpPr>
              <a:spLocks noChangeShapeType="1"/>
            </p:cNvSpPr>
            <p:nvPr/>
          </p:nvSpPr>
          <p:spPr bwMode="auto">
            <a:xfrm>
              <a:off x="894" y="1296"/>
              <a:ext cx="0" cy="2038"/>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9" name="Line 42"/>
            <p:cNvSpPr>
              <a:spLocks noChangeShapeType="1"/>
            </p:cNvSpPr>
            <p:nvPr/>
          </p:nvSpPr>
          <p:spPr bwMode="auto">
            <a:xfrm>
              <a:off x="1320" y="1110"/>
              <a:ext cx="0" cy="2401"/>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0" name="Line 43"/>
            <p:cNvSpPr>
              <a:spLocks noChangeShapeType="1"/>
            </p:cNvSpPr>
            <p:nvPr/>
          </p:nvSpPr>
          <p:spPr bwMode="auto">
            <a:xfrm>
              <a:off x="1860" y="1098"/>
              <a:ext cx="0" cy="2401"/>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1" name="Line 44"/>
            <p:cNvSpPr>
              <a:spLocks noChangeShapeType="1"/>
            </p:cNvSpPr>
            <p:nvPr/>
          </p:nvSpPr>
          <p:spPr bwMode="auto">
            <a:xfrm>
              <a:off x="2202" y="1278"/>
              <a:ext cx="0" cy="2061"/>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2" name="Line 45"/>
            <p:cNvSpPr>
              <a:spLocks noChangeShapeType="1"/>
            </p:cNvSpPr>
            <p:nvPr/>
          </p:nvSpPr>
          <p:spPr bwMode="auto">
            <a:xfrm>
              <a:off x="2544" y="1476"/>
              <a:ext cx="0" cy="1993"/>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3" name="Line 46"/>
            <p:cNvSpPr>
              <a:spLocks noChangeShapeType="1"/>
            </p:cNvSpPr>
            <p:nvPr/>
          </p:nvSpPr>
          <p:spPr bwMode="auto">
            <a:xfrm>
              <a:off x="2982" y="1470"/>
              <a:ext cx="0" cy="1993"/>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64" name="Object 51"/>
            <p:cNvGraphicFramePr>
              <a:graphicFrameLocks noChangeAspect="1"/>
            </p:cNvGraphicFramePr>
            <p:nvPr/>
          </p:nvGraphicFramePr>
          <p:xfrm>
            <a:off x="3216" y="2880"/>
            <a:ext cx="206" cy="244"/>
          </p:xfrm>
          <a:graphic>
            <a:graphicData uri="http://schemas.openxmlformats.org/presentationml/2006/ole">
              <mc:AlternateContent xmlns:mc="http://schemas.openxmlformats.org/markup-compatibility/2006">
                <mc:Choice xmlns:v="urn:schemas-microsoft-com:vml" Requires="v">
                  <p:oleObj spid="_x0000_s211419" name="Equation" r:id="rId3" imgW="86995" imgH="98425" progId="Equation.3">
                    <p:embed/>
                  </p:oleObj>
                </mc:Choice>
                <mc:Fallback>
                  <p:oleObj name="Equation" r:id="rId3" imgW="86995" imgH="98425"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 y="2880"/>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 name="Line 52"/>
            <p:cNvSpPr>
              <a:spLocks noChangeShapeType="1"/>
            </p:cNvSpPr>
            <p:nvPr/>
          </p:nvSpPr>
          <p:spPr bwMode="auto">
            <a:xfrm>
              <a:off x="450" y="3456"/>
              <a:ext cx="866"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66" name="Line 53"/>
            <p:cNvSpPr>
              <a:spLocks noChangeShapeType="1"/>
            </p:cNvSpPr>
            <p:nvPr/>
          </p:nvSpPr>
          <p:spPr bwMode="auto">
            <a:xfrm>
              <a:off x="1320" y="3456"/>
              <a:ext cx="528"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67" name="Line 54"/>
            <p:cNvSpPr>
              <a:spLocks noChangeShapeType="1"/>
            </p:cNvSpPr>
            <p:nvPr/>
          </p:nvSpPr>
          <p:spPr bwMode="auto">
            <a:xfrm>
              <a:off x="1860" y="3456"/>
              <a:ext cx="682"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68" name="Line 55"/>
            <p:cNvSpPr>
              <a:spLocks noChangeShapeType="1"/>
            </p:cNvSpPr>
            <p:nvPr/>
          </p:nvSpPr>
          <p:spPr bwMode="auto">
            <a:xfrm>
              <a:off x="2544" y="3456"/>
              <a:ext cx="432"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69" name="Object 60"/>
            <p:cNvGraphicFramePr>
              <a:graphicFrameLocks noChangeAspect="1"/>
            </p:cNvGraphicFramePr>
            <p:nvPr/>
          </p:nvGraphicFramePr>
          <p:xfrm>
            <a:off x="672" y="3222"/>
            <a:ext cx="235" cy="264"/>
          </p:xfrm>
          <a:graphic>
            <a:graphicData uri="http://schemas.openxmlformats.org/presentationml/2006/ole">
              <mc:AlternateContent xmlns:mc="http://schemas.openxmlformats.org/markup-compatibility/2006">
                <mc:Choice xmlns:v="urn:schemas-microsoft-com:vml" Requires="v">
                  <p:oleObj spid="_x0000_s211420" name="Equation" r:id="rId5" imgW="121285" imgH="139065" progId="Equation.3">
                    <p:embed/>
                  </p:oleObj>
                </mc:Choice>
                <mc:Fallback>
                  <p:oleObj name="Equation" r:id="rId5" imgW="121285" imgH="139065" progId="Equation.3">
                    <p:embed/>
                    <p:pic>
                      <p:nvPicPr>
                        <p:cNvPr id="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 y="322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 name="Object 61"/>
            <p:cNvGraphicFramePr>
              <a:graphicFrameLocks noChangeAspect="1"/>
            </p:cNvGraphicFramePr>
            <p:nvPr/>
          </p:nvGraphicFramePr>
          <p:xfrm>
            <a:off x="1440" y="3216"/>
            <a:ext cx="235" cy="264"/>
          </p:xfrm>
          <a:graphic>
            <a:graphicData uri="http://schemas.openxmlformats.org/presentationml/2006/ole">
              <mc:AlternateContent xmlns:mc="http://schemas.openxmlformats.org/markup-compatibility/2006">
                <mc:Choice xmlns:v="urn:schemas-microsoft-com:vml" Requires="v">
                  <p:oleObj spid="_x0000_s211421" name="Equation" r:id="rId7" imgW="121285" imgH="139065" progId="Equation.3">
                    <p:embed/>
                  </p:oleObj>
                </mc:Choice>
                <mc:Fallback>
                  <p:oleObj name="Equation" r:id="rId7" imgW="121285" imgH="139065" progId="Equation.3">
                    <p:embed/>
                    <p:pic>
                      <p:nvPicPr>
                        <p:cNvPr id="0" name="Object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0" y="3216"/>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 name="Object 62"/>
            <p:cNvGraphicFramePr>
              <a:graphicFrameLocks noChangeAspect="1"/>
            </p:cNvGraphicFramePr>
            <p:nvPr/>
          </p:nvGraphicFramePr>
          <p:xfrm>
            <a:off x="2208" y="3216"/>
            <a:ext cx="235" cy="264"/>
          </p:xfrm>
          <a:graphic>
            <a:graphicData uri="http://schemas.openxmlformats.org/presentationml/2006/ole">
              <mc:AlternateContent xmlns:mc="http://schemas.openxmlformats.org/markup-compatibility/2006">
                <mc:Choice xmlns:v="urn:schemas-microsoft-com:vml" Requires="v">
                  <p:oleObj spid="_x0000_s211422" name="Equation" r:id="rId9" imgW="121285" imgH="139065" progId="Equation.3">
                    <p:embed/>
                  </p:oleObj>
                </mc:Choice>
                <mc:Fallback>
                  <p:oleObj name="Equation" r:id="rId9" imgW="121285" imgH="139065" progId="Equation.3">
                    <p:embed/>
                    <p:pic>
                      <p:nvPicPr>
                        <p:cNvPr id="0"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8" y="3216"/>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 name="Object 63"/>
            <p:cNvGraphicFramePr>
              <a:graphicFrameLocks noChangeAspect="1"/>
            </p:cNvGraphicFramePr>
            <p:nvPr/>
          </p:nvGraphicFramePr>
          <p:xfrm>
            <a:off x="2646" y="3222"/>
            <a:ext cx="235" cy="264"/>
          </p:xfrm>
          <a:graphic>
            <a:graphicData uri="http://schemas.openxmlformats.org/presentationml/2006/ole">
              <mc:AlternateContent xmlns:mc="http://schemas.openxmlformats.org/markup-compatibility/2006">
                <mc:Choice xmlns:v="urn:schemas-microsoft-com:vml" Requires="v">
                  <p:oleObj spid="_x0000_s211423" name="Equation" r:id="rId11" imgW="121285" imgH="139065" progId="Equation.3">
                    <p:embed/>
                  </p:oleObj>
                </mc:Choice>
                <mc:Fallback>
                  <p:oleObj name="Equation" r:id="rId11" imgW="121285" imgH="139065" progId="Equation.3">
                    <p:embed/>
                    <p:pic>
                      <p:nvPicPr>
                        <p:cNvPr id="0" name="Object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46" y="322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 name="Line 64"/>
            <p:cNvSpPr>
              <a:spLocks noChangeShapeType="1"/>
            </p:cNvSpPr>
            <p:nvPr/>
          </p:nvSpPr>
          <p:spPr bwMode="auto">
            <a:xfrm>
              <a:off x="456" y="3300"/>
              <a:ext cx="0" cy="19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74" name="Object 65"/>
            <p:cNvGraphicFramePr>
              <a:graphicFrameLocks noChangeAspect="1"/>
            </p:cNvGraphicFramePr>
            <p:nvPr/>
          </p:nvGraphicFramePr>
          <p:xfrm>
            <a:off x="3210" y="1956"/>
            <a:ext cx="206" cy="244"/>
          </p:xfrm>
          <a:graphic>
            <a:graphicData uri="http://schemas.openxmlformats.org/presentationml/2006/ole">
              <mc:AlternateContent xmlns:mc="http://schemas.openxmlformats.org/markup-compatibility/2006">
                <mc:Choice xmlns:v="urn:schemas-microsoft-com:vml" Requires="v">
                  <p:oleObj spid="_x0000_s211424" name="Equation" r:id="rId13" imgW="86995" imgH="98425" progId="Equation.3">
                    <p:embed/>
                  </p:oleObj>
                </mc:Choice>
                <mc:Fallback>
                  <p:oleObj name="Equation" r:id="rId13" imgW="86995" imgH="98425" progId="Equation.3">
                    <p:embed/>
                    <p:pic>
                      <p:nvPicPr>
                        <p:cNvPr id="0" name="Object 6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10" y="1956"/>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66"/>
            <p:cNvGraphicFramePr>
              <a:graphicFrameLocks noChangeAspect="1"/>
            </p:cNvGraphicFramePr>
            <p:nvPr/>
          </p:nvGraphicFramePr>
          <p:xfrm>
            <a:off x="3216" y="1344"/>
            <a:ext cx="206" cy="244"/>
          </p:xfrm>
          <a:graphic>
            <a:graphicData uri="http://schemas.openxmlformats.org/presentationml/2006/ole">
              <mc:AlternateContent xmlns:mc="http://schemas.openxmlformats.org/markup-compatibility/2006">
                <mc:Choice xmlns:v="urn:schemas-microsoft-com:vml" Requires="v">
                  <p:oleObj spid="_x0000_s211425" name="Equation" r:id="rId15" imgW="86995" imgH="98425" progId="Equation.3">
                    <p:embed/>
                  </p:oleObj>
                </mc:Choice>
                <mc:Fallback>
                  <p:oleObj name="Equation" r:id="rId15" imgW="86995" imgH="98425" progId="Equation.3">
                    <p:embed/>
                    <p:pic>
                      <p:nvPicPr>
                        <p:cNvPr id="0" name="Object 6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16" y="1344"/>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 name="Line 67"/>
            <p:cNvSpPr>
              <a:spLocks noChangeShapeType="1"/>
            </p:cNvSpPr>
            <p:nvPr/>
          </p:nvSpPr>
          <p:spPr bwMode="auto">
            <a:xfrm>
              <a:off x="1908" y="1098"/>
              <a:ext cx="91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77" name="Line 68"/>
            <p:cNvSpPr>
              <a:spLocks noChangeShapeType="1"/>
            </p:cNvSpPr>
            <p:nvPr/>
          </p:nvSpPr>
          <p:spPr bwMode="auto">
            <a:xfrm>
              <a:off x="2772" y="1098"/>
              <a:ext cx="0" cy="388"/>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78" name="Object 69"/>
            <p:cNvGraphicFramePr>
              <a:graphicFrameLocks noChangeAspect="1"/>
            </p:cNvGraphicFramePr>
            <p:nvPr/>
          </p:nvGraphicFramePr>
          <p:xfrm>
            <a:off x="2820" y="1170"/>
            <a:ext cx="177" cy="248"/>
          </p:xfrm>
          <a:graphic>
            <a:graphicData uri="http://schemas.openxmlformats.org/presentationml/2006/ole">
              <mc:AlternateContent xmlns:mc="http://schemas.openxmlformats.org/markup-compatibility/2006">
                <mc:Choice xmlns:v="urn:schemas-microsoft-com:vml" Requires="v">
                  <p:oleObj spid="_x0000_s211426" name="Equation" r:id="rId17" imgW="74930" imgH="109855" progId="Equation.3">
                    <p:embed/>
                  </p:oleObj>
                </mc:Choice>
                <mc:Fallback>
                  <p:oleObj name="Equation" r:id="rId17" imgW="74930" imgH="109855" progId="Equation.3">
                    <p:embed/>
                    <p:pic>
                      <p:nvPicPr>
                        <p:cNvPr id="0" name="Object 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20" y="1170"/>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 name="内容占位符 627715"/>
          <p:cNvSpPr txBox="1">
            <a:spLocks noRot="1" noChangeArrowheads="1"/>
          </p:cNvSpPr>
          <p:nvPr/>
        </p:nvSpPr>
        <p:spPr>
          <a:xfrm>
            <a:off x="207010" y="2384425"/>
            <a:ext cx="6678930" cy="506095"/>
          </a:xfrm>
          <a:prstGeom prst="rect">
            <a:avLst/>
          </a:prstGeom>
        </p:spPr>
        <p:txBody>
          <a:bodyPr wrap="square"/>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a:lstStyle>
          <a:p>
            <a:pPr marL="0" indent="0" eaLnBrk="1" hangingPunct="1">
              <a:spcBef>
                <a:spcPts val="100"/>
              </a:spcBef>
              <a:buFont typeface="Wingdings" panose="05000000000000000000" pitchFamily="2" charset="2"/>
              <a:buNone/>
            </a:pPr>
            <a:r>
              <a:rPr lang="zh-CN" altLang="en-US" sz="2000" b="1" kern="0" dirty="0">
                <a:solidFill>
                  <a:srgbClr val="FF0000"/>
                </a:solidFill>
                <a:latin typeface="微软雅黑" panose="020B0503020204020204" pitchFamily="34" charset="-122"/>
                <a:ea typeface="微软雅黑" panose="020B0503020204020204" pitchFamily="34" charset="-122"/>
              </a:rPr>
              <a:t>Impact characteristic: </a:t>
            </a:r>
            <a:r>
              <a:rPr lang="zh-CN" altLang="en-US" sz="2000" b="1" kern="0" dirty="0">
                <a:solidFill>
                  <a:schemeClr val="tx1"/>
                </a:solidFill>
                <a:latin typeface="微软雅黑" panose="020B0503020204020204" pitchFamily="34" charset="-122"/>
                <a:ea typeface="微软雅黑" panose="020B0503020204020204" pitchFamily="34" charset="-122"/>
              </a:rPr>
              <a:t>Finite sudden change in acceleration</a:t>
            </a:r>
            <a:endParaRPr lang="zh-CN" altLang="en-US" sz="2000" b="1" kern="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136525" y="3261360"/>
            <a:ext cx="6560185" cy="1668780"/>
          </a:xfrm>
          <a:prstGeom prst="rect">
            <a:avLst/>
          </a:prstGeom>
        </p:spPr>
        <p:txBody>
          <a:bodyPr wrap="square">
            <a:spAutoFit/>
          </a:bodyPr>
          <a:lstStyle/>
          <a:p>
            <a:pPr>
              <a:spcBef>
                <a:spcPts val="100"/>
              </a:spcBef>
            </a:pPr>
            <a:r>
              <a:rPr lang="zh-CN" altLang="en-US" sz="2000" b="1" dirty="0">
                <a:solidFill>
                  <a:srgbClr val="FF0000"/>
                </a:solidFill>
                <a:latin typeface="微软雅黑" panose="020B0503020204020204" pitchFamily="34" charset="-122"/>
                <a:ea typeface="微软雅黑" panose="020B0503020204020204" pitchFamily="34" charset="-122"/>
              </a:rPr>
              <a:t>Impact caused by finite acceleration change = </a:t>
            </a:r>
            <a:r>
              <a:rPr lang="zh-CN" altLang="en-US" sz="2000" b="1" dirty="0">
                <a:solidFill>
                  <a:schemeClr val="accent2"/>
                </a:solidFill>
                <a:latin typeface="微软雅黑" panose="020B0503020204020204" pitchFamily="34" charset="-122"/>
                <a:ea typeface="微软雅黑" panose="020B0503020204020204" pitchFamily="34" charset="-122"/>
              </a:rPr>
              <a:t>Flexible impact</a:t>
            </a:r>
            <a:endParaRPr lang="en-US" altLang="zh-CN" sz="2000" b="1" dirty="0">
              <a:solidFill>
                <a:srgbClr val="201E84"/>
              </a:solidFill>
              <a:latin typeface="微软雅黑" panose="020B0503020204020204" pitchFamily="34" charset="-122"/>
              <a:ea typeface="微软雅黑" panose="020B0503020204020204" pitchFamily="34" charset="-122"/>
            </a:endParaRPr>
          </a:p>
          <a:p>
            <a:pPr>
              <a:spcBef>
                <a:spcPts val="100"/>
              </a:spcBef>
            </a:pPr>
            <a:endParaRPr lang="en-US" altLang="zh-CN" sz="2000" b="1" dirty="0">
              <a:solidFill>
                <a:srgbClr val="FF0000"/>
              </a:solidFill>
              <a:latin typeface="微软雅黑" panose="020B0503020204020204" pitchFamily="34" charset="-122"/>
              <a:ea typeface="微软雅黑" panose="020B0503020204020204" pitchFamily="34" charset="-122"/>
            </a:endParaRPr>
          </a:p>
          <a:p>
            <a:pPr>
              <a:spcBef>
                <a:spcPts val="100"/>
              </a:spcBef>
            </a:pPr>
            <a:r>
              <a:rPr lang="zh-CN" altLang="en-US" sz="2000" b="1" dirty="0">
                <a:solidFill>
                  <a:srgbClr val="FF0000"/>
                </a:solidFill>
                <a:latin typeface="微软雅黑" panose="020B0503020204020204" pitchFamily="34" charset="-122"/>
                <a:ea typeface="微软雅黑" panose="020B0503020204020204" pitchFamily="34" charset="-122"/>
              </a:rPr>
              <a:t>Flexible impact: suitable for low/medium speeds,</a:t>
            </a:r>
            <a:endParaRPr lang="en-US" altLang="zh-CN" sz="2000" b="1" dirty="0">
              <a:solidFill>
                <a:srgbClr val="FF0000"/>
              </a:solidFill>
              <a:latin typeface="微软雅黑" panose="020B0503020204020204" pitchFamily="34" charset="-122"/>
              <a:ea typeface="微软雅黑" panose="020B0503020204020204" pitchFamily="34" charset="-122"/>
            </a:endParaRPr>
          </a:p>
          <a:p>
            <a:pPr>
              <a:spcBef>
                <a:spcPts val="100"/>
              </a:spcBef>
            </a:pPr>
            <a:r>
              <a:rPr lang="zh-CN" altLang="en-US" sz="2000" b="1" dirty="0">
                <a:solidFill>
                  <a:srgbClr val="FF0000"/>
                </a:solidFill>
                <a:latin typeface="微软雅黑" panose="020B0503020204020204" pitchFamily="34" charset="-122"/>
                <a:ea typeface="微软雅黑" panose="020B0503020204020204" pitchFamily="34" charset="-122"/>
              </a:rPr>
              <a:t>can still cause problems at high speeds</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2" name="文本框 31"/>
              <p:cNvSpPr txBox="1"/>
              <p:nvPr/>
            </p:nvSpPr>
            <p:spPr>
              <a:xfrm flipH="1">
                <a:off x="11207450" y="2999625"/>
                <a:ext cx="1030892" cy="33718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nor/>
                        </m:rPr>
                        <a:rPr lang="en-US" altLang="zh-CN" sz="1600" b="1" i="1" dirty="0">
                          <a:solidFill>
                            <a:schemeClr val="tx2"/>
                          </a:solidFill>
                          <a:latin typeface="Cambria Math" panose="02040503050406030204" pitchFamily="18" charset="0"/>
                        </a:rPr>
                        <m:t>t</m:t>
                      </m:r>
                      <m:r>
                        <a:rPr lang="en-US" altLang="zh-CN" sz="1600" b="1" i="1" smtClean="0">
                          <a:solidFill>
                            <a:schemeClr val="tx2"/>
                          </a:solidFill>
                          <a:latin typeface="Cambria Math" panose="02040503050406030204" pitchFamily="18" charset="0"/>
                        </a:rPr>
                        <m:t>=</m:t>
                      </m:r>
                      <m:r>
                        <a:rPr lang="zh-CN" altLang="en-US" sz="1600" b="1" i="1">
                          <a:solidFill>
                            <a:schemeClr val="tx2"/>
                          </a:solidFill>
                          <a:latin typeface="Cambria Math" panose="02040503050406030204" pitchFamily="18" charset="0"/>
                        </a:rPr>
                        <m:t>𝝋</m:t>
                      </m:r>
                      <m:r>
                        <a:rPr lang="en-US" altLang="zh-CN" sz="1600" b="1" i="1" smtClean="0">
                          <a:solidFill>
                            <a:schemeClr val="tx1"/>
                          </a:solidFill>
                          <a:latin typeface="Cambria Math" panose="02040503050406030204" pitchFamily="18" charset="0"/>
                        </a:rPr>
                        <m:t>/</m:t>
                      </m:r>
                      <m:r>
                        <a:rPr lang="zh-CN" altLang="en-US" sz="1600" b="1">
                          <a:solidFill>
                            <a:schemeClr val="tx1"/>
                          </a:solidFill>
                          <a:latin typeface="Cambria Math" panose="02040503050406030204" pitchFamily="18" charset="0"/>
                          <a:ea typeface="MS Mincho" charset="0"/>
                          <a:cs typeface="Cambria Math" panose="02040503050406030204" pitchFamily="18" charset="0"/>
                        </a:rPr>
                        <m:t>𝛚</m:t>
                      </m:r>
                    </m:oMath>
                  </m:oMathPara>
                </a14:m>
                <a:endParaRPr lang="zh-CN" altLang="en-US" sz="1600" b="1" i="1" dirty="0">
                  <a:solidFill>
                    <a:schemeClr val="tx1"/>
                  </a:solidFill>
                  <a:latin typeface="Cambria Math" panose="02040503050406030204" pitchFamily="18"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flipH="1">
                <a:off x="11207450" y="2999625"/>
                <a:ext cx="1030892" cy="337185"/>
              </a:xfrm>
              <a:prstGeom prst="rect">
                <a:avLst/>
              </a:prstGeom>
              <a:blipFill rotWithShape="1">
                <a:blip r:embed="rId19"/>
                <a:stretch>
                  <a:fillRect l="-32" t="-154" r="60" b="154"/>
                </a:stretch>
              </a:blipFill>
            </p:spPr>
            <p:txBody>
              <a:bodyPr/>
              <a:lstStyle/>
              <a:p>
                <a:r>
                  <a:rPr lang="zh-CN" altLang="en-US">
                    <a:noFill/>
                  </a:rPr>
                  <a:t> </a:t>
                </a:r>
              </a:p>
            </p:txBody>
          </p:sp>
        </mc:Fallback>
      </mc:AlternateContent>
      <p:sp>
        <p:nvSpPr>
          <p:cNvPr id="54" name="TextBox 8"/>
          <p:cNvSpPr txBox="1"/>
          <p:nvPr/>
        </p:nvSpPr>
        <p:spPr>
          <a:xfrm>
            <a:off x="1007878" y="319709"/>
            <a:ext cx="9470935" cy="460375"/>
          </a:xfrm>
          <a:prstGeom prst="rect">
            <a:avLst/>
          </a:prstGeom>
          <a:noFill/>
        </p:spPr>
        <p:txBody>
          <a:bodyPr wrap="square" rtlCol="0">
            <a:spAutoFit/>
          </a:bodyPr>
          <a:lstStyle/>
          <a:p>
            <a:r>
              <a:rPr lang="en-US" altLang="zh-CN" sz="24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4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z="1600" smtClean="0"/>
            </a:fld>
            <a:endParaRPr lang="zh-CN" altLang="en-US" sz="1600" smtClean="0"/>
          </a:p>
        </p:txBody>
      </p:sp>
      <p:sp>
        <p:nvSpPr>
          <p:cNvPr id="28" name="Text Box 2"/>
          <p:cNvSpPr txBox="1">
            <a:spLocks noChangeArrowheads="1"/>
          </p:cNvSpPr>
          <p:nvPr/>
        </p:nvSpPr>
        <p:spPr bwMode="auto">
          <a:xfrm>
            <a:off x="298698" y="1215696"/>
            <a:ext cx="4818051"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en-US" altLang="zh-CN" sz="2000" dirty="0">
                <a:solidFill>
                  <a:schemeClr val="tx1"/>
                </a:solidFill>
                <a:latin typeface="微软雅黑" panose="020B0503020204020204" pitchFamily="34" charset="-122"/>
                <a:ea typeface="微软雅黑" panose="020B0503020204020204" pitchFamily="34" charset="-122"/>
              </a:rPr>
              <a:t>3. Cosine Acceleration (Simple Harmonic) Motion</a:t>
            </a:r>
            <a:endParaRPr lang="en-US" altLang="zh-CN" sz="2000" dirty="0">
              <a:solidFill>
                <a:schemeClr val="tx1"/>
              </a:solidFill>
              <a:latin typeface="微软雅黑" panose="020B0503020204020204" pitchFamily="34" charset="-122"/>
              <a:ea typeface="微软雅黑" panose="020B0503020204020204" pitchFamily="34" charset="-122"/>
            </a:endParaRPr>
          </a:p>
        </p:txBody>
      </p:sp>
      <p:grpSp>
        <p:nvGrpSpPr>
          <p:cNvPr id="29" name="Group 28"/>
          <p:cNvGrpSpPr/>
          <p:nvPr/>
        </p:nvGrpSpPr>
        <p:grpSpPr bwMode="auto">
          <a:xfrm>
            <a:off x="5489575" y="1964055"/>
            <a:ext cx="5250815" cy="4735830"/>
            <a:chOff x="912" y="576"/>
            <a:chExt cx="3456" cy="3207"/>
          </a:xfrm>
        </p:grpSpPr>
        <p:graphicFrame>
          <p:nvGraphicFramePr>
            <p:cNvPr id="30" name="Object 5"/>
            <p:cNvGraphicFramePr>
              <a:graphicFrameLocks noChangeAspect="1"/>
            </p:cNvGraphicFramePr>
            <p:nvPr/>
          </p:nvGraphicFramePr>
          <p:xfrm>
            <a:off x="912" y="576"/>
            <a:ext cx="3456" cy="3207"/>
          </p:xfrm>
          <a:graphic>
            <a:graphicData uri="http://schemas.openxmlformats.org/presentationml/2006/ole">
              <mc:AlternateContent xmlns:mc="http://schemas.openxmlformats.org/markup-compatibility/2006">
                <mc:Choice xmlns:v="urn:schemas-microsoft-com:vml" Requires="v">
                  <p:oleObj spid="_x0000_s214463" name="位图图像" r:id="rId1" imgW="3284220" imgH="3048000" progId="Paint.Picture">
                    <p:embed/>
                  </p:oleObj>
                </mc:Choice>
                <mc:Fallback>
                  <p:oleObj name="位图图像" r:id="rId1" imgW="3284220" imgH="3048000"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576"/>
                          <a:ext cx="3456" cy="3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Line 6"/>
            <p:cNvSpPr>
              <a:spLocks noChangeShapeType="1"/>
            </p:cNvSpPr>
            <p:nvPr/>
          </p:nvSpPr>
          <p:spPr bwMode="auto">
            <a:xfrm>
              <a:off x="1680" y="1056"/>
              <a:ext cx="0" cy="1872"/>
            </a:xfrm>
            <a:prstGeom prst="line">
              <a:avLst/>
            </a:prstGeom>
            <a:noFill/>
            <a:ln w="158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2" name="Line 7"/>
            <p:cNvSpPr>
              <a:spLocks noChangeShapeType="1"/>
            </p:cNvSpPr>
            <p:nvPr/>
          </p:nvSpPr>
          <p:spPr bwMode="auto">
            <a:xfrm>
              <a:off x="2142" y="870"/>
              <a:ext cx="0" cy="2496"/>
            </a:xfrm>
            <a:prstGeom prst="line">
              <a:avLst/>
            </a:prstGeom>
            <a:noFill/>
            <a:ln w="158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3" name="Line 8"/>
            <p:cNvSpPr>
              <a:spLocks noChangeShapeType="1"/>
            </p:cNvSpPr>
            <p:nvPr/>
          </p:nvSpPr>
          <p:spPr bwMode="auto">
            <a:xfrm>
              <a:off x="2700" y="858"/>
              <a:ext cx="0" cy="2496"/>
            </a:xfrm>
            <a:prstGeom prst="line">
              <a:avLst/>
            </a:prstGeom>
            <a:noFill/>
            <a:ln w="158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4" name="Line 9"/>
            <p:cNvSpPr>
              <a:spLocks noChangeShapeType="1"/>
            </p:cNvSpPr>
            <p:nvPr/>
          </p:nvSpPr>
          <p:spPr bwMode="auto">
            <a:xfrm>
              <a:off x="3072" y="1080"/>
              <a:ext cx="0" cy="1800"/>
            </a:xfrm>
            <a:prstGeom prst="line">
              <a:avLst/>
            </a:prstGeom>
            <a:noFill/>
            <a:ln w="158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5" name="Line 10"/>
            <p:cNvSpPr>
              <a:spLocks noChangeShapeType="1"/>
            </p:cNvSpPr>
            <p:nvPr/>
          </p:nvSpPr>
          <p:spPr bwMode="auto">
            <a:xfrm>
              <a:off x="3432" y="1224"/>
              <a:ext cx="0" cy="2112"/>
            </a:xfrm>
            <a:prstGeom prst="line">
              <a:avLst/>
            </a:prstGeom>
            <a:noFill/>
            <a:ln w="158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6" name="Line 11"/>
            <p:cNvSpPr>
              <a:spLocks noChangeShapeType="1"/>
            </p:cNvSpPr>
            <p:nvPr/>
          </p:nvSpPr>
          <p:spPr bwMode="auto">
            <a:xfrm>
              <a:off x="3840" y="1230"/>
              <a:ext cx="0" cy="2112"/>
            </a:xfrm>
            <a:prstGeom prst="line">
              <a:avLst/>
            </a:prstGeom>
            <a:noFill/>
            <a:ln w="158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7" name="Line 12"/>
            <p:cNvSpPr>
              <a:spLocks noChangeShapeType="1"/>
            </p:cNvSpPr>
            <p:nvPr/>
          </p:nvSpPr>
          <p:spPr bwMode="auto">
            <a:xfrm>
              <a:off x="1200" y="3312"/>
              <a:ext cx="914"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38" name="Line 13"/>
            <p:cNvSpPr>
              <a:spLocks noChangeShapeType="1"/>
            </p:cNvSpPr>
            <p:nvPr/>
          </p:nvSpPr>
          <p:spPr bwMode="auto">
            <a:xfrm>
              <a:off x="2112" y="3312"/>
              <a:ext cx="576"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39" name="Line 14"/>
            <p:cNvSpPr>
              <a:spLocks noChangeShapeType="1"/>
            </p:cNvSpPr>
            <p:nvPr/>
          </p:nvSpPr>
          <p:spPr bwMode="auto">
            <a:xfrm>
              <a:off x="2688" y="3312"/>
              <a:ext cx="748"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40" name="Line 15"/>
            <p:cNvSpPr>
              <a:spLocks noChangeShapeType="1"/>
            </p:cNvSpPr>
            <p:nvPr/>
          </p:nvSpPr>
          <p:spPr bwMode="auto">
            <a:xfrm>
              <a:off x="3456" y="3312"/>
              <a:ext cx="384"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41" name="Object 16"/>
            <p:cNvGraphicFramePr>
              <a:graphicFrameLocks noChangeAspect="1"/>
            </p:cNvGraphicFramePr>
            <p:nvPr/>
          </p:nvGraphicFramePr>
          <p:xfrm>
            <a:off x="1488" y="3072"/>
            <a:ext cx="235" cy="264"/>
          </p:xfrm>
          <a:graphic>
            <a:graphicData uri="http://schemas.openxmlformats.org/presentationml/2006/ole">
              <mc:AlternateContent xmlns:mc="http://schemas.openxmlformats.org/markup-compatibility/2006">
                <mc:Choice xmlns:v="urn:schemas-microsoft-com:vml" Requires="v">
                  <p:oleObj spid="_x0000_s214464" name="Equation" r:id="rId3" imgW="121285" imgH="139065" progId="Equation.3">
                    <p:embed/>
                  </p:oleObj>
                </mc:Choice>
                <mc:Fallback>
                  <p:oleObj name="Equation" r:id="rId3" imgW="121285" imgH="139065"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307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17"/>
            <p:cNvGraphicFramePr>
              <a:graphicFrameLocks noChangeAspect="1"/>
            </p:cNvGraphicFramePr>
            <p:nvPr/>
          </p:nvGraphicFramePr>
          <p:xfrm>
            <a:off x="2304" y="3072"/>
            <a:ext cx="235" cy="264"/>
          </p:xfrm>
          <a:graphic>
            <a:graphicData uri="http://schemas.openxmlformats.org/presentationml/2006/ole">
              <mc:AlternateContent xmlns:mc="http://schemas.openxmlformats.org/markup-compatibility/2006">
                <mc:Choice xmlns:v="urn:schemas-microsoft-com:vml" Requires="v">
                  <p:oleObj spid="_x0000_s214465" name="Equation" r:id="rId5" imgW="121285" imgH="139065" progId="Equation.3">
                    <p:embed/>
                  </p:oleObj>
                </mc:Choice>
                <mc:Fallback>
                  <p:oleObj name="Equation" r:id="rId5" imgW="121285" imgH="139065"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4" y="307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18"/>
            <p:cNvGraphicFramePr>
              <a:graphicFrameLocks noChangeAspect="1"/>
            </p:cNvGraphicFramePr>
            <p:nvPr/>
          </p:nvGraphicFramePr>
          <p:xfrm>
            <a:off x="3024" y="3072"/>
            <a:ext cx="235" cy="264"/>
          </p:xfrm>
          <a:graphic>
            <a:graphicData uri="http://schemas.openxmlformats.org/presentationml/2006/ole">
              <mc:AlternateContent xmlns:mc="http://schemas.openxmlformats.org/markup-compatibility/2006">
                <mc:Choice xmlns:v="urn:schemas-microsoft-com:vml" Requires="v">
                  <p:oleObj spid="_x0000_s214466" name="Equation" r:id="rId7" imgW="121285" imgH="139065" progId="Equation.3">
                    <p:embed/>
                  </p:oleObj>
                </mc:Choice>
                <mc:Fallback>
                  <p:oleObj name="Equation" r:id="rId7" imgW="121285" imgH="139065"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307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9"/>
            <p:cNvGraphicFramePr>
              <a:graphicFrameLocks noChangeAspect="1"/>
            </p:cNvGraphicFramePr>
            <p:nvPr/>
          </p:nvGraphicFramePr>
          <p:xfrm>
            <a:off x="3504" y="3072"/>
            <a:ext cx="235" cy="264"/>
          </p:xfrm>
          <a:graphic>
            <a:graphicData uri="http://schemas.openxmlformats.org/presentationml/2006/ole">
              <mc:AlternateContent xmlns:mc="http://schemas.openxmlformats.org/markup-compatibility/2006">
                <mc:Choice xmlns:v="urn:schemas-microsoft-com:vml" Requires="v">
                  <p:oleObj spid="_x0000_s214467" name="Equation" r:id="rId9" imgW="121285" imgH="139065" progId="Equation.3">
                    <p:embed/>
                  </p:oleObj>
                </mc:Choice>
                <mc:Fallback>
                  <p:oleObj name="Equation" r:id="rId9" imgW="121285" imgH="139065"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4" y="307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 name="Line 20"/>
            <p:cNvSpPr>
              <a:spLocks noChangeShapeType="1"/>
            </p:cNvSpPr>
            <p:nvPr/>
          </p:nvSpPr>
          <p:spPr bwMode="auto">
            <a:xfrm>
              <a:off x="1206" y="3174"/>
              <a:ext cx="0" cy="19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46" name="Object 21"/>
            <p:cNvGraphicFramePr>
              <a:graphicFrameLocks noChangeAspect="1"/>
            </p:cNvGraphicFramePr>
            <p:nvPr/>
          </p:nvGraphicFramePr>
          <p:xfrm>
            <a:off x="4080" y="2736"/>
            <a:ext cx="206" cy="244"/>
          </p:xfrm>
          <a:graphic>
            <a:graphicData uri="http://schemas.openxmlformats.org/presentationml/2006/ole">
              <mc:AlternateContent xmlns:mc="http://schemas.openxmlformats.org/markup-compatibility/2006">
                <mc:Choice xmlns:v="urn:schemas-microsoft-com:vml" Requires="v">
                  <p:oleObj spid="_x0000_s214468" name="Equation" r:id="rId11" imgW="86995" imgH="98425" progId="Equation.3">
                    <p:embed/>
                  </p:oleObj>
                </mc:Choice>
                <mc:Fallback>
                  <p:oleObj name="Equation" r:id="rId11" imgW="86995" imgH="98425"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0" y="2736"/>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2"/>
            <p:cNvGraphicFramePr>
              <a:graphicFrameLocks noChangeAspect="1"/>
            </p:cNvGraphicFramePr>
            <p:nvPr/>
          </p:nvGraphicFramePr>
          <p:xfrm>
            <a:off x="4080" y="1824"/>
            <a:ext cx="206" cy="244"/>
          </p:xfrm>
          <a:graphic>
            <a:graphicData uri="http://schemas.openxmlformats.org/presentationml/2006/ole">
              <mc:AlternateContent xmlns:mc="http://schemas.openxmlformats.org/markup-compatibility/2006">
                <mc:Choice xmlns:v="urn:schemas-microsoft-com:vml" Requires="v">
                  <p:oleObj spid="_x0000_s214469" name="Equation" r:id="rId13" imgW="86995" imgH="98425" progId="Equation.3">
                    <p:embed/>
                  </p:oleObj>
                </mc:Choice>
                <mc:Fallback>
                  <p:oleObj name="Equation" r:id="rId13" imgW="86995" imgH="98425"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0" y="1824"/>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23"/>
            <p:cNvGraphicFramePr>
              <a:graphicFrameLocks noChangeAspect="1"/>
            </p:cNvGraphicFramePr>
            <p:nvPr/>
          </p:nvGraphicFramePr>
          <p:xfrm>
            <a:off x="4080" y="1104"/>
            <a:ext cx="206" cy="244"/>
          </p:xfrm>
          <a:graphic>
            <a:graphicData uri="http://schemas.openxmlformats.org/presentationml/2006/ole">
              <mc:AlternateContent xmlns:mc="http://schemas.openxmlformats.org/markup-compatibility/2006">
                <mc:Choice xmlns:v="urn:schemas-microsoft-com:vml" Requires="v">
                  <p:oleObj spid="_x0000_s214470" name="Equation" r:id="rId15" imgW="86995" imgH="98425" progId="Equation.3">
                    <p:embed/>
                  </p:oleObj>
                </mc:Choice>
                <mc:Fallback>
                  <p:oleObj name="Equation" r:id="rId15" imgW="86995" imgH="98425"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80" y="1104"/>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Line 24"/>
            <p:cNvSpPr>
              <a:spLocks noChangeShapeType="1"/>
            </p:cNvSpPr>
            <p:nvPr/>
          </p:nvSpPr>
          <p:spPr bwMode="auto">
            <a:xfrm>
              <a:off x="2688" y="852"/>
              <a:ext cx="91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0" name="Line 25"/>
            <p:cNvSpPr>
              <a:spLocks noChangeShapeType="1"/>
            </p:cNvSpPr>
            <p:nvPr/>
          </p:nvSpPr>
          <p:spPr bwMode="auto">
            <a:xfrm>
              <a:off x="3552" y="840"/>
              <a:ext cx="0" cy="388"/>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51" name="Object 26"/>
            <p:cNvGraphicFramePr>
              <a:graphicFrameLocks noChangeAspect="1"/>
            </p:cNvGraphicFramePr>
            <p:nvPr/>
          </p:nvGraphicFramePr>
          <p:xfrm>
            <a:off x="3600" y="924"/>
            <a:ext cx="177" cy="248"/>
          </p:xfrm>
          <a:graphic>
            <a:graphicData uri="http://schemas.openxmlformats.org/presentationml/2006/ole">
              <mc:AlternateContent xmlns:mc="http://schemas.openxmlformats.org/markup-compatibility/2006">
                <mc:Choice xmlns:v="urn:schemas-microsoft-com:vml" Requires="v">
                  <p:oleObj spid="_x0000_s214471" name="Equation" r:id="rId17" imgW="74930" imgH="109855" progId="Equation.3">
                    <p:embed/>
                  </p:oleObj>
                </mc:Choice>
                <mc:Fallback>
                  <p:oleObj name="Equation" r:id="rId17" imgW="74930" imgH="109855"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00" y="924"/>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 name="矩形 51"/>
          <p:cNvSpPr/>
          <p:nvPr/>
        </p:nvSpPr>
        <p:spPr>
          <a:xfrm>
            <a:off x="457065" y="2837373"/>
            <a:ext cx="2659702" cy="398780"/>
          </a:xfrm>
          <a:prstGeom prst="rect">
            <a:avLst/>
          </a:prstGeom>
        </p:spPr>
        <p:txBody>
          <a:bodyPr wrap="square">
            <a:spAutoFit/>
          </a:bodyPr>
          <a:lstStyle/>
          <a:p>
            <a:pPr>
              <a:spcBef>
                <a:spcPts val="100"/>
              </a:spcBef>
            </a:pPr>
            <a:r>
              <a:rPr lang="zh-CN" altLang="en-US" sz="2000" b="1" dirty="0">
                <a:solidFill>
                  <a:srgbClr val="000000"/>
                </a:solidFill>
                <a:latin typeface="微软雅黑" panose="020B0503020204020204" pitchFamily="34" charset="-122"/>
                <a:ea typeface="微软雅黑" panose="020B0503020204020204" pitchFamily="34" charset="-122"/>
              </a:rPr>
              <a:t>Any rigid impact?</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53" name="矩形 52"/>
          <p:cNvSpPr/>
          <p:nvPr/>
        </p:nvSpPr>
        <p:spPr>
          <a:xfrm>
            <a:off x="520999" y="4009879"/>
            <a:ext cx="2659702" cy="398780"/>
          </a:xfrm>
          <a:prstGeom prst="rect">
            <a:avLst/>
          </a:prstGeom>
        </p:spPr>
        <p:txBody>
          <a:bodyPr wrap="square">
            <a:spAutoFit/>
          </a:bodyPr>
          <a:lstStyle/>
          <a:p>
            <a:pPr>
              <a:spcBef>
                <a:spcPts val="100"/>
              </a:spcBef>
            </a:pPr>
            <a:r>
              <a:rPr lang="zh-CN" altLang="en-US" sz="2000" b="1" dirty="0">
                <a:solidFill>
                  <a:srgbClr val="000000"/>
                </a:solidFill>
                <a:latin typeface="微软雅黑" panose="020B0503020204020204" pitchFamily="34" charset="-122"/>
                <a:ea typeface="微软雅黑" panose="020B0503020204020204" pitchFamily="34" charset="-122"/>
              </a:rPr>
              <a:t>Any flexible impact?</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2" name="矩形 1"/>
          <p:cNvSpPr/>
          <p:nvPr/>
        </p:nvSpPr>
        <p:spPr>
          <a:xfrm>
            <a:off x="3038729" y="2856101"/>
            <a:ext cx="649537" cy="337185"/>
          </a:xfrm>
          <a:prstGeom prst="rect">
            <a:avLst/>
          </a:prstGeom>
        </p:spPr>
        <p:txBody>
          <a:bodyPr wrap="square">
            <a:spAutoFit/>
          </a:bodyPr>
          <a:lstStyle/>
          <a:p>
            <a:pPr>
              <a:spcBef>
                <a:spcPts val="100"/>
              </a:spcBef>
            </a:pPr>
            <a:r>
              <a:rPr lang="zh-CN" altLang="en-US" sz="1600" b="1" dirty="0">
                <a:solidFill>
                  <a:srgbClr val="FF0000"/>
                </a:solidFill>
                <a:latin typeface="微软雅黑" panose="020B0503020204020204" pitchFamily="34" charset="-122"/>
                <a:ea typeface="微软雅黑" panose="020B0503020204020204" pitchFamily="34" charset="-122"/>
              </a:rPr>
              <a:t>No</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54" name="矩形 53"/>
          <p:cNvSpPr/>
          <p:nvPr/>
        </p:nvSpPr>
        <p:spPr>
          <a:xfrm>
            <a:off x="3168650" y="4048760"/>
            <a:ext cx="1271270" cy="337185"/>
          </a:xfrm>
          <a:prstGeom prst="rect">
            <a:avLst/>
          </a:prstGeom>
        </p:spPr>
        <p:txBody>
          <a:bodyPr wrap="square">
            <a:spAutoFit/>
          </a:bodyPr>
          <a:lstStyle/>
          <a:p>
            <a:pPr>
              <a:spcBef>
                <a:spcPts val="100"/>
              </a:spcBef>
            </a:pPr>
            <a:r>
              <a:rPr lang="zh-CN" altLang="en-US" sz="1600" b="1" dirty="0">
                <a:solidFill>
                  <a:srgbClr val="FF0000"/>
                </a:solidFill>
                <a:latin typeface="微软雅黑" panose="020B0503020204020204" pitchFamily="34" charset="-122"/>
                <a:ea typeface="微软雅黑" panose="020B0503020204020204" pitchFamily="34" charset="-122"/>
              </a:rPr>
              <a:t>Yes</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503555" y="4852670"/>
            <a:ext cx="4894580" cy="934720"/>
          </a:xfrm>
          <a:prstGeom prst="rect">
            <a:avLst/>
          </a:prstGeom>
        </p:spPr>
        <p:txBody>
          <a:bodyPr wrap="square">
            <a:spAutoFit/>
          </a:bodyPr>
          <a:lstStyle/>
          <a:p>
            <a:pPr>
              <a:spcBef>
                <a:spcPts val="100"/>
              </a:spcBef>
            </a:pPr>
            <a:r>
              <a:rPr lang="zh-CN" altLang="en-US" b="1" dirty="0">
                <a:solidFill>
                  <a:srgbClr val="FF0000"/>
                </a:solidFill>
                <a:latin typeface="微软雅黑" panose="020B0503020204020204" pitchFamily="34" charset="-122"/>
                <a:ea typeface="微软雅黑" panose="020B0503020204020204" pitchFamily="34" charset="-122"/>
              </a:rPr>
              <a:t>Flexible impact: suitable for low/medium speeds,</a:t>
            </a:r>
            <a:endParaRPr lang="en-US" altLang="zh-CN" b="1" dirty="0">
              <a:solidFill>
                <a:srgbClr val="FF0000"/>
              </a:solidFill>
              <a:latin typeface="微软雅黑" panose="020B0503020204020204" pitchFamily="34" charset="-122"/>
              <a:ea typeface="微软雅黑" panose="020B0503020204020204" pitchFamily="34" charset="-122"/>
            </a:endParaRPr>
          </a:p>
          <a:p>
            <a:pPr>
              <a:spcBef>
                <a:spcPts val="100"/>
              </a:spcBef>
            </a:pPr>
            <a:r>
              <a:rPr lang="zh-CN" altLang="en-US" b="1" dirty="0">
                <a:solidFill>
                  <a:srgbClr val="FF0000"/>
                </a:solidFill>
                <a:latin typeface="微软雅黑" panose="020B0503020204020204" pitchFamily="34" charset="-122"/>
                <a:ea typeface="微软雅黑" panose="020B0503020204020204" pitchFamily="34" charset="-122"/>
              </a:rPr>
              <a:t>can still cause problems at high speeds</a:t>
            </a:r>
            <a:endParaRPr lang="zh-CN" altLang="en-US"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8" name="文本框 57"/>
              <p:cNvSpPr txBox="1"/>
              <p:nvPr/>
            </p:nvSpPr>
            <p:spPr>
              <a:xfrm flipH="1">
                <a:off x="10198917" y="3165380"/>
                <a:ext cx="1139333" cy="36830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nor/>
                        </m:rPr>
                        <a:rPr lang="en-US" altLang="zh-CN" b="1" i="1" dirty="0">
                          <a:solidFill>
                            <a:schemeClr val="tx2"/>
                          </a:solidFill>
                          <a:latin typeface="Cambria Math" panose="02040503050406030204" pitchFamily="18" charset="0"/>
                        </a:rPr>
                        <m:t>t</m:t>
                      </m:r>
                      <m:r>
                        <a:rPr lang="en-US" altLang="zh-CN" b="1" i="1" smtClean="0">
                          <a:solidFill>
                            <a:schemeClr val="tx2"/>
                          </a:solidFill>
                          <a:latin typeface="Cambria Math" panose="02040503050406030204" pitchFamily="18" charset="0"/>
                        </a:rPr>
                        <m:t>=</m:t>
                      </m:r>
                      <m:r>
                        <a:rPr lang="zh-CN" altLang="en-US" b="1" i="1">
                          <a:solidFill>
                            <a:schemeClr val="tx2"/>
                          </a:solidFill>
                          <a:latin typeface="Cambria Math" panose="02040503050406030204" pitchFamily="18" charset="0"/>
                        </a:rPr>
                        <m:t>𝝋</m:t>
                      </m:r>
                      <m:r>
                        <a:rPr lang="en-US" altLang="zh-CN" b="1" i="1" smtClean="0">
                          <a:solidFill>
                            <a:schemeClr val="tx1"/>
                          </a:solidFill>
                          <a:latin typeface="Cambria Math" panose="02040503050406030204" pitchFamily="18" charset="0"/>
                        </a:rPr>
                        <m:t>/</m:t>
                      </m:r>
                      <m:r>
                        <a:rPr lang="zh-CN" altLang="en-US" b="1">
                          <a:solidFill>
                            <a:schemeClr val="tx1"/>
                          </a:solidFill>
                          <a:latin typeface="Cambria Math" panose="02040503050406030204" pitchFamily="18" charset="0"/>
                          <a:ea typeface="MS Mincho" charset="0"/>
                          <a:cs typeface="Cambria Math" panose="02040503050406030204" pitchFamily="18" charset="0"/>
                        </a:rPr>
                        <m:t>𝛚</m:t>
                      </m:r>
                    </m:oMath>
                  </m:oMathPara>
                </a14:m>
                <a:endParaRPr lang="zh-CN" altLang="en-US" b="1" i="1" dirty="0">
                  <a:solidFill>
                    <a:schemeClr val="tx1"/>
                  </a:solidFill>
                  <a:latin typeface="Cambria Math" panose="02040503050406030204" pitchFamily="18" charset="0"/>
                </a:endParaRPr>
              </a:p>
            </p:txBody>
          </p:sp>
        </mc:Choice>
        <mc:Fallback>
          <p:sp>
            <p:nvSpPr>
              <p:cNvPr id="58" name="文本框 57"/>
              <p:cNvSpPr txBox="1">
                <a:spLocks noRot="1" noChangeAspect="1" noMove="1" noResize="1" noEditPoints="1" noAdjustHandles="1" noChangeArrowheads="1" noChangeShapeType="1" noTextEdit="1"/>
              </p:cNvSpPr>
              <p:nvPr/>
            </p:nvSpPr>
            <p:spPr>
              <a:xfrm flipH="1">
                <a:off x="10198917" y="3165380"/>
                <a:ext cx="1139333" cy="368300"/>
              </a:xfrm>
              <a:prstGeom prst="rect">
                <a:avLst/>
              </a:prstGeom>
              <a:blipFill rotWithShape="1">
                <a:blip r:embed="rId19"/>
                <a:stretch>
                  <a:fillRect l="-16" t="-147" r="29" b="147"/>
                </a:stretch>
              </a:blipFill>
            </p:spPr>
            <p:txBody>
              <a:bodyPr/>
              <a:lstStyle/>
              <a:p>
                <a:r>
                  <a:rPr lang="zh-CN" altLang="en-US">
                    <a:noFill/>
                  </a:rPr>
                  <a:t> </a:t>
                </a:r>
              </a:p>
            </p:txBody>
          </p:sp>
        </mc:Fallback>
      </mc:AlternateContent>
      <p:sp>
        <p:nvSpPr>
          <p:cNvPr id="4" name="TextBox 8"/>
          <p:cNvSpPr txBox="1"/>
          <p:nvPr/>
        </p:nvSpPr>
        <p:spPr>
          <a:xfrm>
            <a:off x="1007878" y="319709"/>
            <a:ext cx="9470935" cy="460375"/>
          </a:xfrm>
          <a:prstGeom prst="rect">
            <a:avLst/>
          </a:prstGeom>
          <a:noFill/>
        </p:spPr>
        <p:txBody>
          <a:bodyPr wrap="square" rtlCol="0">
            <a:spAutoFit/>
          </a:bodyPr>
          <a:lstStyle/>
          <a:p>
            <a:r>
              <a:rPr lang="en-US" altLang="zh-CN" sz="24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4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2" grpId="0"/>
      <p:bldP spid="54"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z="1600" smtClean="0"/>
            </a:fld>
            <a:endParaRPr lang="zh-CN" altLang="en-US" sz="1600" smtClean="0"/>
          </a:p>
        </p:txBody>
      </p:sp>
      <p:sp>
        <p:nvSpPr>
          <p:cNvPr id="5" name="Text Box 2"/>
          <p:cNvSpPr txBox="1">
            <a:spLocks noChangeArrowheads="1"/>
          </p:cNvSpPr>
          <p:nvPr/>
        </p:nvSpPr>
        <p:spPr bwMode="auto">
          <a:xfrm>
            <a:off x="367709" y="1225171"/>
            <a:ext cx="69135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en-US" altLang="zh-CN" sz="2400" dirty="0">
                <a:solidFill>
                  <a:schemeClr val="tx1"/>
                </a:solidFill>
                <a:latin typeface="微软雅黑" panose="020B0503020204020204" pitchFamily="34" charset="-122"/>
                <a:ea typeface="微软雅黑" panose="020B0503020204020204" pitchFamily="34" charset="-122"/>
              </a:rPr>
              <a:t>4. Sine Acceleration (Cycloidal) Motion</a:t>
            </a:r>
            <a:endParaRPr lang="en-US" altLang="zh-CN" sz="2400" dirty="0">
              <a:solidFill>
                <a:schemeClr val="tx1"/>
              </a:solidFill>
              <a:latin typeface="微软雅黑" panose="020B0503020204020204" pitchFamily="34" charset="-122"/>
              <a:ea typeface="微软雅黑" panose="020B0503020204020204" pitchFamily="34" charset="-122"/>
            </a:endParaRPr>
          </a:p>
        </p:txBody>
      </p:sp>
      <p:grpSp>
        <p:nvGrpSpPr>
          <p:cNvPr id="6" name="Group 28"/>
          <p:cNvGrpSpPr/>
          <p:nvPr/>
        </p:nvGrpSpPr>
        <p:grpSpPr bwMode="auto">
          <a:xfrm>
            <a:off x="6696141" y="1660704"/>
            <a:ext cx="4899025" cy="4570412"/>
            <a:chOff x="720" y="672"/>
            <a:chExt cx="3086" cy="2879"/>
          </a:xfrm>
        </p:grpSpPr>
        <p:graphicFrame>
          <p:nvGraphicFramePr>
            <p:cNvPr id="7" name="Object 5"/>
            <p:cNvGraphicFramePr>
              <a:graphicFrameLocks noChangeAspect="1"/>
            </p:cNvGraphicFramePr>
            <p:nvPr/>
          </p:nvGraphicFramePr>
          <p:xfrm>
            <a:off x="720" y="672"/>
            <a:ext cx="3072" cy="2879"/>
          </p:xfrm>
          <a:graphic>
            <a:graphicData uri="http://schemas.openxmlformats.org/presentationml/2006/ole">
              <mc:AlternateContent xmlns:mc="http://schemas.openxmlformats.org/markup-compatibility/2006">
                <mc:Choice xmlns:v="urn:schemas-microsoft-com:vml" Requires="v">
                  <p:oleObj spid="_x0000_s212424" name="位图图像" r:id="rId1" imgW="3162300" imgH="2964180" progId="Paint.Picture">
                    <p:embed/>
                  </p:oleObj>
                </mc:Choice>
                <mc:Fallback>
                  <p:oleObj name="位图图像" r:id="rId1" imgW="3162300" imgH="2964180"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 y="672"/>
                          <a:ext cx="3072" cy="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Line 6"/>
            <p:cNvSpPr>
              <a:spLocks noChangeShapeType="1"/>
            </p:cNvSpPr>
            <p:nvPr/>
          </p:nvSpPr>
          <p:spPr bwMode="auto">
            <a:xfrm>
              <a:off x="1344" y="1002"/>
              <a:ext cx="0" cy="1782"/>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0" name="Line 7"/>
            <p:cNvSpPr>
              <a:spLocks noChangeShapeType="1"/>
            </p:cNvSpPr>
            <p:nvPr/>
          </p:nvSpPr>
          <p:spPr bwMode="auto">
            <a:xfrm>
              <a:off x="1758" y="828"/>
              <a:ext cx="0" cy="2401"/>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1" name="Line 8"/>
            <p:cNvSpPr>
              <a:spLocks noChangeShapeType="1"/>
            </p:cNvSpPr>
            <p:nvPr/>
          </p:nvSpPr>
          <p:spPr bwMode="auto">
            <a:xfrm>
              <a:off x="2268" y="834"/>
              <a:ext cx="0" cy="2401"/>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2" name="Line 9"/>
            <p:cNvSpPr>
              <a:spLocks noChangeShapeType="1"/>
            </p:cNvSpPr>
            <p:nvPr/>
          </p:nvSpPr>
          <p:spPr bwMode="auto">
            <a:xfrm>
              <a:off x="2592" y="1008"/>
              <a:ext cx="0" cy="1776"/>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3" name="Line 10"/>
            <p:cNvSpPr>
              <a:spLocks noChangeShapeType="1"/>
            </p:cNvSpPr>
            <p:nvPr/>
          </p:nvSpPr>
          <p:spPr bwMode="auto">
            <a:xfrm>
              <a:off x="2940" y="1176"/>
              <a:ext cx="24" cy="2040"/>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4" name="Line 11"/>
            <p:cNvSpPr>
              <a:spLocks noChangeShapeType="1"/>
            </p:cNvSpPr>
            <p:nvPr/>
          </p:nvSpPr>
          <p:spPr bwMode="auto">
            <a:xfrm>
              <a:off x="900" y="3162"/>
              <a:ext cx="866"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15" name="Line 12"/>
            <p:cNvSpPr>
              <a:spLocks noChangeShapeType="1"/>
            </p:cNvSpPr>
            <p:nvPr/>
          </p:nvSpPr>
          <p:spPr bwMode="auto">
            <a:xfrm>
              <a:off x="1770" y="3162"/>
              <a:ext cx="528"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16" name="Line 13"/>
            <p:cNvSpPr>
              <a:spLocks noChangeShapeType="1"/>
            </p:cNvSpPr>
            <p:nvPr/>
          </p:nvSpPr>
          <p:spPr bwMode="auto">
            <a:xfrm>
              <a:off x="2310" y="3162"/>
              <a:ext cx="682"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17" name="Line 14"/>
            <p:cNvSpPr>
              <a:spLocks noChangeShapeType="1"/>
            </p:cNvSpPr>
            <p:nvPr/>
          </p:nvSpPr>
          <p:spPr bwMode="auto">
            <a:xfrm>
              <a:off x="2994" y="3162"/>
              <a:ext cx="432" cy="0"/>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18" name="Object 15"/>
            <p:cNvGraphicFramePr>
              <a:graphicFrameLocks noChangeAspect="1"/>
            </p:cNvGraphicFramePr>
            <p:nvPr/>
          </p:nvGraphicFramePr>
          <p:xfrm>
            <a:off x="1122" y="2928"/>
            <a:ext cx="235" cy="264"/>
          </p:xfrm>
          <a:graphic>
            <a:graphicData uri="http://schemas.openxmlformats.org/presentationml/2006/ole">
              <mc:AlternateContent xmlns:mc="http://schemas.openxmlformats.org/markup-compatibility/2006">
                <mc:Choice xmlns:v="urn:schemas-microsoft-com:vml" Requires="v">
                  <p:oleObj spid="_x0000_s212425" name="Equation" r:id="rId3" imgW="121285" imgH="139065" progId="Equation.3">
                    <p:embed/>
                  </p:oleObj>
                </mc:Choice>
                <mc:Fallback>
                  <p:oleObj name="Equation" r:id="rId3" imgW="121285" imgH="139065"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2" y="2928"/>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6"/>
            <p:cNvGraphicFramePr>
              <a:graphicFrameLocks noChangeAspect="1"/>
            </p:cNvGraphicFramePr>
            <p:nvPr/>
          </p:nvGraphicFramePr>
          <p:xfrm>
            <a:off x="1890" y="2922"/>
            <a:ext cx="235" cy="264"/>
          </p:xfrm>
          <a:graphic>
            <a:graphicData uri="http://schemas.openxmlformats.org/presentationml/2006/ole">
              <mc:AlternateContent xmlns:mc="http://schemas.openxmlformats.org/markup-compatibility/2006">
                <mc:Choice xmlns:v="urn:schemas-microsoft-com:vml" Requires="v">
                  <p:oleObj spid="_x0000_s212426" name="Equation" r:id="rId5" imgW="121285" imgH="139065" progId="Equation.3">
                    <p:embed/>
                  </p:oleObj>
                </mc:Choice>
                <mc:Fallback>
                  <p:oleObj name="Equation" r:id="rId5" imgW="121285" imgH="139065"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0" y="292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7"/>
            <p:cNvGraphicFramePr>
              <a:graphicFrameLocks noChangeAspect="1"/>
            </p:cNvGraphicFramePr>
            <p:nvPr/>
          </p:nvGraphicFramePr>
          <p:xfrm>
            <a:off x="2658" y="2922"/>
            <a:ext cx="235" cy="264"/>
          </p:xfrm>
          <a:graphic>
            <a:graphicData uri="http://schemas.openxmlformats.org/presentationml/2006/ole">
              <mc:AlternateContent xmlns:mc="http://schemas.openxmlformats.org/markup-compatibility/2006">
                <mc:Choice xmlns:v="urn:schemas-microsoft-com:vml" Requires="v">
                  <p:oleObj spid="_x0000_s212427" name="Equation" r:id="rId7" imgW="121285" imgH="139065" progId="Equation.3">
                    <p:embed/>
                  </p:oleObj>
                </mc:Choice>
                <mc:Fallback>
                  <p:oleObj name="Equation" r:id="rId7" imgW="121285" imgH="139065"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58" y="2922"/>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8"/>
            <p:cNvGraphicFramePr>
              <a:graphicFrameLocks noChangeAspect="1"/>
            </p:cNvGraphicFramePr>
            <p:nvPr/>
          </p:nvGraphicFramePr>
          <p:xfrm>
            <a:off x="3096" y="2928"/>
            <a:ext cx="235" cy="264"/>
          </p:xfrm>
          <a:graphic>
            <a:graphicData uri="http://schemas.openxmlformats.org/presentationml/2006/ole">
              <mc:AlternateContent xmlns:mc="http://schemas.openxmlformats.org/markup-compatibility/2006">
                <mc:Choice xmlns:v="urn:schemas-microsoft-com:vml" Requires="v">
                  <p:oleObj spid="_x0000_s212428" name="Equation" r:id="rId9" imgW="121285" imgH="139065" progId="Equation.3">
                    <p:embed/>
                  </p:oleObj>
                </mc:Choice>
                <mc:Fallback>
                  <p:oleObj name="Equation" r:id="rId9" imgW="121285" imgH="139065"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96" y="2928"/>
                          <a:ext cx="235"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Line 19"/>
            <p:cNvSpPr>
              <a:spLocks noChangeShapeType="1"/>
            </p:cNvSpPr>
            <p:nvPr/>
          </p:nvSpPr>
          <p:spPr bwMode="auto">
            <a:xfrm>
              <a:off x="906" y="3006"/>
              <a:ext cx="0" cy="19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3" name="Line 20"/>
            <p:cNvSpPr>
              <a:spLocks noChangeShapeType="1"/>
            </p:cNvSpPr>
            <p:nvPr/>
          </p:nvSpPr>
          <p:spPr bwMode="auto">
            <a:xfrm>
              <a:off x="3396" y="1176"/>
              <a:ext cx="24" cy="2040"/>
            </a:xfrm>
            <a:prstGeom prst="line">
              <a:avLst/>
            </a:prstGeom>
            <a:noFill/>
            <a:ln w="19050">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24" name="Object 21"/>
            <p:cNvGraphicFramePr>
              <a:graphicFrameLocks noChangeAspect="1"/>
            </p:cNvGraphicFramePr>
            <p:nvPr/>
          </p:nvGraphicFramePr>
          <p:xfrm>
            <a:off x="3600" y="2688"/>
            <a:ext cx="206" cy="244"/>
          </p:xfrm>
          <a:graphic>
            <a:graphicData uri="http://schemas.openxmlformats.org/presentationml/2006/ole">
              <mc:AlternateContent xmlns:mc="http://schemas.openxmlformats.org/markup-compatibility/2006">
                <mc:Choice xmlns:v="urn:schemas-microsoft-com:vml" Requires="v">
                  <p:oleObj spid="_x0000_s212429" name="Equation" r:id="rId11" imgW="86995" imgH="98425" progId="Equation.3">
                    <p:embed/>
                  </p:oleObj>
                </mc:Choice>
                <mc:Fallback>
                  <p:oleObj name="Equation" r:id="rId11" imgW="86995" imgH="98425"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0" y="2688"/>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2"/>
            <p:cNvGraphicFramePr>
              <a:graphicFrameLocks noChangeAspect="1"/>
            </p:cNvGraphicFramePr>
            <p:nvPr/>
          </p:nvGraphicFramePr>
          <p:xfrm>
            <a:off x="3600" y="1728"/>
            <a:ext cx="206" cy="244"/>
          </p:xfrm>
          <a:graphic>
            <a:graphicData uri="http://schemas.openxmlformats.org/presentationml/2006/ole">
              <mc:AlternateContent xmlns:mc="http://schemas.openxmlformats.org/markup-compatibility/2006">
                <mc:Choice xmlns:v="urn:schemas-microsoft-com:vml" Requires="v">
                  <p:oleObj spid="_x0000_s212430" name="Equation" r:id="rId13" imgW="86995" imgH="98425" progId="Equation.3">
                    <p:embed/>
                  </p:oleObj>
                </mc:Choice>
                <mc:Fallback>
                  <p:oleObj name="Equation" r:id="rId13" imgW="86995" imgH="98425"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0" y="1728"/>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3"/>
            <p:cNvGraphicFramePr>
              <a:graphicFrameLocks noChangeAspect="1"/>
            </p:cNvGraphicFramePr>
            <p:nvPr/>
          </p:nvGraphicFramePr>
          <p:xfrm>
            <a:off x="3600" y="1056"/>
            <a:ext cx="206" cy="244"/>
          </p:xfrm>
          <a:graphic>
            <a:graphicData uri="http://schemas.openxmlformats.org/presentationml/2006/ole">
              <mc:AlternateContent xmlns:mc="http://schemas.openxmlformats.org/markup-compatibility/2006">
                <mc:Choice xmlns:v="urn:schemas-microsoft-com:vml" Requires="v">
                  <p:oleObj spid="_x0000_s212431" name="Equation" r:id="rId15" imgW="86995" imgH="98425" progId="Equation.3">
                    <p:embed/>
                  </p:oleObj>
                </mc:Choice>
                <mc:Fallback>
                  <p:oleObj name="Equation" r:id="rId15" imgW="86995" imgH="98425"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00" y="1056"/>
                          <a:ext cx="20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Line 24"/>
            <p:cNvSpPr>
              <a:spLocks noChangeShapeType="1"/>
            </p:cNvSpPr>
            <p:nvPr/>
          </p:nvSpPr>
          <p:spPr bwMode="auto">
            <a:xfrm>
              <a:off x="2304" y="828"/>
              <a:ext cx="91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8" name="Line 25"/>
            <p:cNvSpPr>
              <a:spLocks noChangeShapeType="1"/>
            </p:cNvSpPr>
            <p:nvPr/>
          </p:nvSpPr>
          <p:spPr bwMode="auto">
            <a:xfrm>
              <a:off x="3168" y="816"/>
              <a:ext cx="0" cy="384"/>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29" name="Object 26"/>
            <p:cNvGraphicFramePr>
              <a:graphicFrameLocks noChangeAspect="1"/>
            </p:cNvGraphicFramePr>
            <p:nvPr/>
          </p:nvGraphicFramePr>
          <p:xfrm>
            <a:off x="3216" y="900"/>
            <a:ext cx="177" cy="248"/>
          </p:xfrm>
          <a:graphic>
            <a:graphicData uri="http://schemas.openxmlformats.org/presentationml/2006/ole">
              <mc:AlternateContent xmlns:mc="http://schemas.openxmlformats.org/markup-compatibility/2006">
                <mc:Choice xmlns:v="urn:schemas-microsoft-com:vml" Requires="v">
                  <p:oleObj spid="_x0000_s212432" name="Equation" r:id="rId17" imgW="74930" imgH="109855" progId="Equation.3">
                    <p:embed/>
                  </p:oleObj>
                </mc:Choice>
                <mc:Fallback>
                  <p:oleObj name="Equation" r:id="rId17" imgW="74930" imgH="109855"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16" y="900"/>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 name="矩形 29"/>
          <p:cNvSpPr/>
          <p:nvPr/>
        </p:nvSpPr>
        <p:spPr>
          <a:xfrm>
            <a:off x="587883" y="2331089"/>
            <a:ext cx="2659702" cy="398780"/>
          </a:xfrm>
          <a:prstGeom prst="rect">
            <a:avLst/>
          </a:prstGeom>
        </p:spPr>
        <p:txBody>
          <a:bodyPr wrap="square">
            <a:spAutoFit/>
          </a:bodyPr>
          <a:lstStyle/>
          <a:p>
            <a:pPr>
              <a:spcBef>
                <a:spcPts val="100"/>
              </a:spcBef>
            </a:pPr>
            <a:r>
              <a:rPr lang="zh-CN" altLang="en-US" sz="2000" b="1" dirty="0">
                <a:solidFill>
                  <a:srgbClr val="000000"/>
                </a:solidFill>
                <a:latin typeface="微软雅黑" panose="020B0503020204020204" pitchFamily="34" charset="-122"/>
                <a:ea typeface="微软雅黑" panose="020B0503020204020204" pitchFamily="34" charset="-122"/>
              </a:rPr>
              <a:t>Any rigid impact?</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31" name="矩形 30"/>
          <p:cNvSpPr/>
          <p:nvPr/>
        </p:nvSpPr>
        <p:spPr>
          <a:xfrm>
            <a:off x="587883" y="3388351"/>
            <a:ext cx="2659702" cy="398780"/>
          </a:xfrm>
          <a:prstGeom prst="rect">
            <a:avLst/>
          </a:prstGeom>
        </p:spPr>
        <p:txBody>
          <a:bodyPr wrap="square">
            <a:spAutoFit/>
          </a:bodyPr>
          <a:lstStyle/>
          <a:p>
            <a:pPr>
              <a:spcBef>
                <a:spcPts val="100"/>
              </a:spcBef>
            </a:pPr>
            <a:r>
              <a:rPr lang="zh-CN" altLang="en-US" sz="2000" b="1" dirty="0">
                <a:solidFill>
                  <a:srgbClr val="000000"/>
                </a:solidFill>
                <a:latin typeface="微软雅黑" panose="020B0503020204020204" pitchFamily="34" charset="-122"/>
                <a:ea typeface="微软雅黑" panose="020B0503020204020204" pitchFamily="34" charset="-122"/>
              </a:rPr>
              <a:t>Any flexible impact?</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32" name="矩形 31"/>
          <p:cNvSpPr/>
          <p:nvPr/>
        </p:nvSpPr>
        <p:spPr>
          <a:xfrm>
            <a:off x="3369706" y="2344503"/>
            <a:ext cx="803425" cy="398780"/>
          </a:xfrm>
          <a:prstGeom prst="rect">
            <a:avLst/>
          </a:prstGeom>
        </p:spPr>
        <p:txBody>
          <a:bodyPr wrap="square">
            <a:spAutoFit/>
          </a:bodyPr>
          <a:lstStyle/>
          <a:p>
            <a:pPr>
              <a:spcBef>
                <a:spcPts val="100"/>
              </a:spcBef>
            </a:pPr>
            <a:r>
              <a:rPr lang="zh-CN" altLang="en-US" sz="2000" b="1" dirty="0">
                <a:solidFill>
                  <a:srgbClr val="FF0000"/>
                </a:solidFill>
                <a:latin typeface="微软雅黑" panose="020B0503020204020204" pitchFamily="34" charset="-122"/>
                <a:ea typeface="微软雅黑" panose="020B0503020204020204" pitchFamily="34" charset="-122"/>
              </a:rPr>
              <a:t>No</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3" name="矩形 32"/>
          <p:cNvSpPr/>
          <p:nvPr/>
        </p:nvSpPr>
        <p:spPr>
          <a:xfrm>
            <a:off x="3360221" y="3391468"/>
            <a:ext cx="803425" cy="398780"/>
          </a:xfrm>
          <a:prstGeom prst="rect">
            <a:avLst/>
          </a:prstGeom>
        </p:spPr>
        <p:txBody>
          <a:bodyPr wrap="square">
            <a:spAutoFit/>
          </a:bodyPr>
          <a:lstStyle/>
          <a:p>
            <a:pPr>
              <a:spcBef>
                <a:spcPts val="100"/>
              </a:spcBef>
            </a:pPr>
            <a:r>
              <a:rPr lang="zh-CN" altLang="en-US" sz="2000" b="1" dirty="0">
                <a:solidFill>
                  <a:srgbClr val="FF0000"/>
                </a:solidFill>
                <a:latin typeface="微软雅黑" panose="020B0503020204020204" pitchFamily="34" charset="-122"/>
                <a:ea typeface="微软雅黑" panose="020B0503020204020204" pitchFamily="34" charset="-122"/>
              </a:rPr>
              <a:t>No</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4" name="矩形 33"/>
          <p:cNvSpPr/>
          <p:nvPr/>
        </p:nvSpPr>
        <p:spPr>
          <a:xfrm>
            <a:off x="552745" y="5261022"/>
            <a:ext cx="4743298" cy="706755"/>
          </a:xfrm>
          <a:prstGeom prst="rect">
            <a:avLst/>
          </a:prstGeom>
        </p:spPr>
        <p:txBody>
          <a:bodyPr wrap="square">
            <a:spAutoFit/>
          </a:bodyPr>
          <a:lstStyle/>
          <a:p>
            <a:pPr>
              <a:spcBef>
                <a:spcPts val="100"/>
              </a:spcBef>
            </a:pPr>
            <a:r>
              <a:rPr lang="zh-CN" altLang="en-US" sz="2000" b="1" dirty="0">
                <a:solidFill>
                  <a:srgbClr val="000000"/>
                </a:solidFill>
                <a:latin typeface="微软雅黑" panose="020B0503020204020204" pitchFamily="34" charset="-122"/>
                <a:ea typeface="微软雅黑" panose="020B0503020204020204" pitchFamily="34" charset="-122"/>
              </a:rPr>
              <a:t>Disadvantages compared to constant velocity?</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35" name="矩形 34"/>
          <p:cNvSpPr/>
          <p:nvPr/>
        </p:nvSpPr>
        <p:spPr>
          <a:xfrm>
            <a:off x="552450" y="6168390"/>
            <a:ext cx="10845165" cy="368300"/>
          </a:xfrm>
          <a:prstGeom prst="rect">
            <a:avLst/>
          </a:prstGeom>
        </p:spPr>
        <p:txBody>
          <a:bodyPr wrap="square">
            <a:spAutoFit/>
          </a:bodyPr>
          <a:lstStyle/>
          <a:p>
            <a:pPr>
              <a:spcBef>
                <a:spcPts val="100"/>
              </a:spcBef>
            </a:pPr>
            <a:r>
              <a:rPr lang="zh-CN" altLang="en-US" b="1" dirty="0">
                <a:solidFill>
                  <a:srgbClr val="FF0000"/>
                </a:solidFill>
                <a:latin typeface="微软雅黑" panose="020B0503020204020204" pitchFamily="34" charset="-122"/>
                <a:ea typeface="微软雅黑" panose="020B0503020204020204" pitchFamily="34" charset="-122"/>
              </a:rPr>
              <a:t>Complex trajectory → complex cam profile → higher precision requirement and cost</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36" name="矩形 35"/>
          <p:cNvSpPr/>
          <p:nvPr/>
        </p:nvSpPr>
        <p:spPr>
          <a:xfrm>
            <a:off x="553085" y="4551680"/>
            <a:ext cx="5226685" cy="706755"/>
          </a:xfrm>
          <a:prstGeom prst="rect">
            <a:avLst/>
          </a:prstGeom>
        </p:spPr>
        <p:txBody>
          <a:bodyPr wrap="square">
            <a:spAutoFit/>
          </a:bodyPr>
          <a:lstStyle/>
          <a:p>
            <a:pPr>
              <a:spcBef>
                <a:spcPts val="100"/>
              </a:spcBef>
            </a:pPr>
            <a:r>
              <a:rPr lang="zh-CN" altLang="en-US" sz="2000" b="1" dirty="0">
                <a:solidFill>
                  <a:srgbClr val="FF0000"/>
                </a:solidFill>
                <a:latin typeface="微软雅黑" panose="020B0503020204020204" pitchFamily="34" charset="-122"/>
                <a:ea typeface="微软雅黑" panose="020B0503020204020204" pitchFamily="34" charset="-122"/>
              </a:rPr>
              <a:t>Smooth motion, suitable for heavy loads and high speeds</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9" name="文本框 38"/>
              <p:cNvSpPr txBox="1"/>
              <p:nvPr/>
            </p:nvSpPr>
            <p:spPr>
              <a:xfrm flipH="1">
                <a:off x="11003274" y="2772794"/>
                <a:ext cx="1139333" cy="36830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nor/>
                        </m:rPr>
                        <a:rPr lang="en-US" altLang="zh-CN" b="1" i="1" dirty="0">
                          <a:solidFill>
                            <a:schemeClr val="tx2"/>
                          </a:solidFill>
                          <a:latin typeface="Cambria Math" panose="02040503050406030204" pitchFamily="18" charset="0"/>
                        </a:rPr>
                        <m:t>t</m:t>
                      </m:r>
                      <m:r>
                        <a:rPr lang="en-US" altLang="zh-CN" b="1" i="1" smtClean="0">
                          <a:solidFill>
                            <a:schemeClr val="tx2"/>
                          </a:solidFill>
                          <a:latin typeface="Cambria Math" panose="02040503050406030204" pitchFamily="18" charset="0"/>
                        </a:rPr>
                        <m:t>=</m:t>
                      </m:r>
                      <m:r>
                        <a:rPr lang="zh-CN" altLang="en-US" b="1" i="1">
                          <a:solidFill>
                            <a:schemeClr val="tx2"/>
                          </a:solidFill>
                          <a:latin typeface="Cambria Math" panose="02040503050406030204" pitchFamily="18" charset="0"/>
                        </a:rPr>
                        <m:t>𝝋</m:t>
                      </m:r>
                      <m:r>
                        <a:rPr lang="en-US" altLang="zh-CN" b="1" i="1" smtClean="0">
                          <a:solidFill>
                            <a:schemeClr val="tx1"/>
                          </a:solidFill>
                          <a:latin typeface="Cambria Math" panose="02040503050406030204" pitchFamily="18" charset="0"/>
                        </a:rPr>
                        <m:t>/</m:t>
                      </m:r>
                      <m:r>
                        <a:rPr lang="zh-CN" altLang="en-US" b="1">
                          <a:solidFill>
                            <a:schemeClr val="tx1"/>
                          </a:solidFill>
                          <a:latin typeface="Cambria Math" panose="02040503050406030204" pitchFamily="18" charset="0"/>
                          <a:ea typeface="MS Mincho" charset="0"/>
                          <a:cs typeface="Cambria Math" panose="02040503050406030204" pitchFamily="18" charset="0"/>
                        </a:rPr>
                        <m:t>𝛚</m:t>
                      </m:r>
                    </m:oMath>
                  </m:oMathPara>
                </a14:m>
                <a:endParaRPr lang="zh-CN" altLang="en-US" b="1" i="1" dirty="0">
                  <a:solidFill>
                    <a:schemeClr val="tx1"/>
                  </a:solidFill>
                  <a:latin typeface="Cambria Math" panose="02040503050406030204" pitchFamily="18" charset="0"/>
                </a:endParaRPr>
              </a:p>
            </p:txBody>
          </p:sp>
        </mc:Choice>
        <mc:Fallback>
          <p:sp>
            <p:nvSpPr>
              <p:cNvPr id="39" name="文本框 38"/>
              <p:cNvSpPr txBox="1">
                <a:spLocks noRot="1" noChangeAspect="1" noMove="1" noResize="1" noEditPoints="1" noAdjustHandles="1" noChangeArrowheads="1" noChangeShapeType="1" noTextEdit="1"/>
              </p:cNvSpPr>
              <p:nvPr/>
            </p:nvSpPr>
            <p:spPr>
              <a:xfrm flipH="1">
                <a:off x="11003274" y="2772794"/>
                <a:ext cx="1139333" cy="368300"/>
              </a:xfrm>
              <a:prstGeom prst="rect">
                <a:avLst/>
              </a:prstGeom>
              <a:blipFill rotWithShape="1">
                <a:blip r:embed="rId19"/>
                <a:stretch>
                  <a:fillRect l="-55" t="-104" r="12" b="104"/>
                </a:stretch>
              </a:blipFill>
            </p:spPr>
            <p:txBody>
              <a:bodyPr/>
              <a:lstStyle/>
              <a:p>
                <a:r>
                  <a:rPr lang="zh-CN" altLang="en-US">
                    <a:noFill/>
                  </a:rPr>
                  <a:t> </a:t>
                </a:r>
              </a:p>
            </p:txBody>
          </p:sp>
        </mc:Fallback>
      </mc:AlternateContent>
      <p:sp>
        <p:nvSpPr>
          <p:cNvPr id="54" name="TextBox 8"/>
          <p:cNvSpPr txBox="1"/>
          <p:nvPr/>
        </p:nvSpPr>
        <p:spPr>
          <a:xfrm>
            <a:off x="1007878" y="319709"/>
            <a:ext cx="9470935" cy="460375"/>
          </a:xfrm>
          <a:prstGeom prst="rect">
            <a:avLst/>
          </a:prstGeom>
          <a:noFill/>
        </p:spPr>
        <p:txBody>
          <a:bodyPr wrap="square" rtlCol="0">
            <a:spAutoFit/>
          </a:bodyPr>
          <a:lstStyle/>
          <a:p>
            <a:r>
              <a:rPr lang="en-US" altLang="zh-CN" sz="24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rPr>
              <a:t>3-3 Follower Motion Laws &amp; Selection</a:t>
            </a:r>
            <a:endParaRPr lang="en-US" altLang="zh-CN" sz="2400" spc="100" dirty="0">
              <a:solidFill>
                <a:schemeClr val="accent2">
                  <a:lumMod val="7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5" grpId="0"/>
      <p:bldP spid="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wrap="square"/>
          <a:lstStyle/>
          <a:p>
            <a:fld id="{F54A3870-DF25-464D-B6EA-3BA6EAAA2BCA}" type="slidenum">
              <a:rPr lang="zh-CN" altLang="en-US" smtClean="0"/>
            </a:fld>
            <a:endParaRPr lang="zh-CN" altLang="en-US"/>
          </a:p>
        </p:txBody>
      </p:sp>
      <p:pic>
        <p:nvPicPr>
          <p:cNvPr id="11"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7829" y="1176425"/>
            <a:ext cx="2932767" cy="2199576"/>
          </a:xfrm>
          <a:prstGeom prst="rect">
            <a:avLst/>
          </a:prstGeom>
        </p:spPr>
      </p:pic>
      <p:pic>
        <p:nvPicPr>
          <p:cNvPr id="13" name="图片 12"/>
          <p:cNvPicPr>
            <a:picLocks noChangeAspect="1"/>
          </p:cNvPicPr>
          <p:nvPr/>
        </p:nvPicPr>
        <p:blipFill>
          <a:blip r:embed="rId4"/>
          <a:stretch>
            <a:fillRect/>
          </a:stretch>
        </p:blipFill>
        <p:spPr>
          <a:xfrm>
            <a:off x="6198574" y="4087744"/>
            <a:ext cx="4549393" cy="1206469"/>
          </a:xfrm>
          <a:prstGeom prst="rect">
            <a:avLst/>
          </a:prstGeom>
        </p:spPr>
      </p:pic>
      <p:grpSp>
        <p:nvGrpSpPr>
          <p:cNvPr id="14" name="组合 13"/>
          <p:cNvGrpSpPr/>
          <p:nvPr/>
        </p:nvGrpSpPr>
        <p:grpSpPr>
          <a:xfrm>
            <a:off x="7812256" y="1176562"/>
            <a:ext cx="3283475" cy="2097047"/>
            <a:chOff x="7294147" y="3051510"/>
            <a:chExt cx="3283475" cy="2097047"/>
          </a:xfrm>
        </p:grpSpPr>
        <p:pic>
          <p:nvPicPr>
            <p:cNvPr id="15" name="图片 14"/>
            <p:cNvPicPr>
              <a:picLocks noChangeAspect="1"/>
            </p:cNvPicPr>
            <p:nvPr/>
          </p:nvPicPr>
          <p:blipFill>
            <a:blip r:embed="rId5"/>
            <a:stretch>
              <a:fillRect/>
            </a:stretch>
          </p:blipFill>
          <p:spPr>
            <a:xfrm>
              <a:off x="7294147" y="3051510"/>
              <a:ext cx="2007621" cy="2097047"/>
            </a:xfrm>
            <a:prstGeom prst="rect">
              <a:avLst/>
            </a:prstGeom>
          </p:spPr>
        </p:pic>
        <p:pic>
          <p:nvPicPr>
            <p:cNvPr id="16" name="图片 15"/>
            <p:cNvPicPr>
              <a:picLocks noChangeAspect="1"/>
            </p:cNvPicPr>
            <p:nvPr/>
          </p:nvPicPr>
          <p:blipFill>
            <a:blip r:embed="rId6"/>
            <a:stretch>
              <a:fillRect/>
            </a:stretch>
          </p:blipFill>
          <p:spPr>
            <a:xfrm rot="10800000">
              <a:off x="9555345" y="3153208"/>
              <a:ext cx="1022277" cy="1810802"/>
            </a:xfrm>
            <a:prstGeom prst="rect">
              <a:avLst/>
            </a:prstGeom>
          </p:spPr>
        </p:pic>
      </p:grpSp>
      <p:pic>
        <p:nvPicPr>
          <p:cNvPr id="25" name="图片 24"/>
          <p:cNvPicPr>
            <a:picLocks noChangeAspect="1"/>
          </p:cNvPicPr>
          <p:nvPr/>
        </p:nvPicPr>
        <p:blipFill>
          <a:blip r:embed="rId7"/>
          <a:stretch>
            <a:fillRect/>
          </a:stretch>
        </p:blipFill>
        <p:spPr>
          <a:xfrm>
            <a:off x="3480365" y="1063993"/>
            <a:ext cx="3860223" cy="953142"/>
          </a:xfrm>
          <a:prstGeom prst="rect">
            <a:avLst/>
          </a:prstGeom>
        </p:spPr>
      </p:pic>
      <p:cxnSp>
        <p:nvCxnSpPr>
          <p:cNvPr id="3" name="直接箭头连接符 2"/>
          <p:cNvCxnSpPr/>
          <p:nvPr/>
        </p:nvCxnSpPr>
        <p:spPr bwMode="auto">
          <a:xfrm flipV="1">
            <a:off x="7710350" y="3210634"/>
            <a:ext cx="403636" cy="84304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pic>
        <p:nvPicPr>
          <p:cNvPr id="2" name="图片 1"/>
          <p:cNvPicPr>
            <a:picLocks noChangeAspect="1"/>
          </p:cNvPicPr>
          <p:nvPr/>
        </p:nvPicPr>
        <p:blipFill>
          <a:blip r:embed="rId8"/>
          <a:stretch>
            <a:fillRect/>
          </a:stretch>
        </p:blipFill>
        <p:spPr>
          <a:xfrm>
            <a:off x="3208020" y="2082800"/>
            <a:ext cx="4300220" cy="902335"/>
          </a:xfrm>
          <a:prstGeom prst="rect">
            <a:avLst/>
          </a:prstGeom>
        </p:spPr>
      </p:pic>
      <p:sp>
        <p:nvSpPr>
          <p:cNvPr id="6" name="标题 23553"/>
          <p:cNvSpPr txBox="1">
            <a:spLocks noRot="1"/>
          </p:cNvSpPr>
          <p:nvPr/>
        </p:nvSpPr>
        <p:spPr>
          <a:xfrm>
            <a:off x="6322060" y="1698625"/>
            <a:ext cx="1388745" cy="318770"/>
          </a:xfrm>
          <a:prstGeom prst="rect">
            <a:avLst/>
          </a:prstGeom>
          <a:solidFill>
            <a:schemeClr val="bg1"/>
          </a:solidFill>
        </p:spPr>
        <p:txBody>
          <a:bodyPr wrap="square" anchor="ct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algn="ctr" eaLnBrk="1" hangingPunct="1">
              <a:defRPr/>
            </a:pPr>
            <a:r>
              <a:rPr lang="en-US" altLang="zh-CN" sz="1400" kern="0" noProof="1">
                <a:solidFill>
                  <a:schemeClr val="tx1"/>
                </a:solidFill>
                <a:effectLst/>
                <a:latin typeface="Times New Roman" panose="02020603050405020304" pitchFamily="18" charset="0"/>
                <a:ea typeface="楷体_GB2312" pitchFamily="49" charset="-122"/>
              </a:rPr>
              <a:t>Spindle Position Angle</a:t>
            </a:r>
            <a:endParaRPr lang="en-US" altLang="zh-CN" sz="1400" kern="0" noProof="1">
              <a:solidFill>
                <a:schemeClr val="tx1"/>
              </a:solidFill>
              <a:effectLst/>
              <a:latin typeface="Times New Roman" panose="02020603050405020304" pitchFamily="18" charset="0"/>
              <a:ea typeface="楷体_GB2312" pitchFamily="49" charset="-122"/>
            </a:endParaRPr>
          </a:p>
        </p:txBody>
      </p:sp>
      <p:sp>
        <p:nvSpPr>
          <p:cNvPr id="9" name="内容占位符 23554"/>
          <p:cNvSpPr txBox="1">
            <a:spLocks noRot="1" noChangeArrowheads="1"/>
          </p:cNvSpPr>
          <p:nvPr/>
        </p:nvSpPr>
        <p:spPr>
          <a:xfrm>
            <a:off x="294640" y="3932555"/>
            <a:ext cx="7680960" cy="2636520"/>
          </a:xfrm>
          <a:prstGeom prst="rect">
            <a:avLst/>
          </a:prstGeom>
        </p:spPr>
        <p:txBody>
          <a:bodyPr wrap="square"/>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a:lstStyle>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rId9" action="ppaction://hlinksldjump"/>
              </a:rPr>
              <a:t>3-1 Characteristics &amp; Applications</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dirty="0">
                <a:solidFill>
                  <a:srgbClr val="201E84"/>
                </a:solidFill>
                <a:latin typeface="微软雅黑" panose="020B0503020204020204" pitchFamily="34" charset="-122"/>
                <a:ea typeface="微软雅黑" panose="020B0503020204020204" pitchFamily="34" charset="-122"/>
                <a:hlinkClick r:id="rId10" action="ppaction://hlinksldjump"/>
              </a:rPr>
              <a:t>3-2 Classification of Cam Mechanisms</a:t>
            </a:r>
            <a:endParaRPr lang="en-US" altLang="zh-CN" sz="2400" b="1" dirty="0">
              <a:solidFill>
                <a:srgbClr val="201E84"/>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 action="ppaction://noaction"/>
              </a:rPr>
              <a:t>3-3 Follower Motion Laws &amp; Selection</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r>
              <a:rPr lang="en-US" altLang="zh-CN" sz="2400" b="1" kern="0" dirty="0">
                <a:solidFill>
                  <a:schemeClr val="tx1"/>
                </a:solidFill>
                <a:latin typeface="微软雅黑" panose="020B0503020204020204" pitchFamily="34" charset="-122"/>
                <a:ea typeface="微软雅黑" panose="020B0503020204020204" pitchFamily="34" charset="-122"/>
                <a:hlinkClick r:id="" action="ppaction://noaction"/>
              </a:rPr>
              <a:t>3-4 Graphical Design of Cam Profiles</a:t>
            </a: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a:p>
            <a:pPr marL="868680" indent="-868680" algn="just" eaLnBrk="1" hangingPunct="1">
              <a:lnSpc>
                <a:spcPct val="150000"/>
              </a:lnSpc>
              <a:buNone/>
            </a:pPr>
            <a:endParaRPr lang="en-US" altLang="zh-CN" sz="2400" b="1" kern="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
          <p:cNvSpPr txBox="1"/>
          <p:nvPr/>
        </p:nvSpPr>
        <p:spPr>
          <a:xfrm>
            <a:off x="11624554" y="6446393"/>
            <a:ext cx="567446"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sp>
        <p:nvSpPr>
          <p:cNvPr id="74" name="标题 737370"/>
          <p:cNvSpPr txBox="1">
            <a:spLocks noRot="1" noChangeArrowheads="1"/>
          </p:cNvSpPr>
          <p:nvPr/>
        </p:nvSpPr>
        <p:spPr>
          <a:xfrm>
            <a:off x="540372" y="969422"/>
            <a:ext cx="5911817" cy="676275"/>
          </a:xfrm>
          <a:prstGeom prst="rect">
            <a:avLst/>
          </a:prstGeom>
        </p:spPr>
        <p:txBody>
          <a:bodyPr wrap="square"/>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eaLnBrk="1" hangingPunct="1"/>
            <a:r>
              <a:rPr lang="zh-CN" altLang="en-US" sz="2200" b="1" kern="1200" dirty="0">
                <a:solidFill>
                  <a:srgbClr val="201E84"/>
                </a:solidFill>
                <a:latin typeface="微软雅黑" panose="020B0503020204020204" pitchFamily="34" charset="-122"/>
                <a:ea typeface="微软雅黑" panose="020B0503020204020204" pitchFamily="34" charset="-122"/>
                <a:cs typeface="+mn-cs"/>
              </a:rPr>
              <a:t>Basic Principle of Cam Profile Design</a:t>
            </a:r>
            <a:endParaRPr lang="zh-CN" altLang="en-US" sz="2200" b="1" kern="1200" dirty="0">
              <a:solidFill>
                <a:srgbClr val="201E84"/>
              </a:solidFill>
              <a:latin typeface="微软雅黑" panose="020B0503020204020204" pitchFamily="34" charset="-122"/>
              <a:ea typeface="微软雅黑" panose="020B0503020204020204" pitchFamily="34" charset="-122"/>
              <a:cs typeface="+mn-cs"/>
            </a:endParaRPr>
          </a:p>
        </p:txBody>
      </p:sp>
      <p:grpSp>
        <p:nvGrpSpPr>
          <p:cNvPr id="90" name="组合 89"/>
          <p:cNvGrpSpPr/>
          <p:nvPr/>
        </p:nvGrpSpPr>
        <p:grpSpPr bwMode="auto">
          <a:xfrm>
            <a:off x="9548922" y="3207898"/>
            <a:ext cx="2617787" cy="233363"/>
            <a:chOff x="3564" y="2313"/>
            <a:chExt cx="1522" cy="147"/>
          </a:xfrm>
        </p:grpSpPr>
        <p:grpSp>
          <p:nvGrpSpPr>
            <p:cNvPr id="91" name="组合 737413"/>
            <p:cNvGrpSpPr/>
            <p:nvPr/>
          </p:nvGrpSpPr>
          <p:grpSpPr bwMode="auto">
            <a:xfrm rot="6446943">
              <a:off x="4600" y="2080"/>
              <a:ext cx="96" cy="664"/>
              <a:chOff x="3554" y="1008"/>
              <a:chExt cx="96" cy="664"/>
            </a:xfrm>
          </p:grpSpPr>
          <p:sp>
            <p:nvSpPr>
              <p:cNvPr id="93" name="等腰三角形 737414"/>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94" name="矩形 737415"/>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sp>
          <p:nvSpPr>
            <p:cNvPr id="92" name="直接连接符 737416"/>
            <p:cNvSpPr>
              <a:spLocks noChangeShapeType="1"/>
            </p:cNvSpPr>
            <p:nvPr/>
          </p:nvSpPr>
          <p:spPr bwMode="auto">
            <a:xfrm rot="6447787" flipV="1">
              <a:off x="4320" y="1549"/>
              <a:ext cx="1" cy="1522"/>
            </a:xfrm>
            <a:prstGeom prst="line">
              <a:avLst/>
            </a:prstGeom>
            <a:noFill/>
            <a:ln w="3175">
              <a:solidFill>
                <a:schemeClr val="tx1"/>
              </a:solidFill>
              <a:prstDash val="lgDashDot"/>
              <a:round/>
              <a:headEnd type="none" w="sm" len="lg"/>
              <a:tailEnd type="none" w="sm" len="lg"/>
            </a:ln>
            <a:extLst>
              <a:ext uri="{909E8E84-426E-40DD-AFC4-6F175D3DCCD1}">
                <a14:hiddenFill xmlns:a14="http://schemas.microsoft.com/office/drawing/2010/main">
                  <a:noFill/>
                </a14:hiddenFill>
              </a:ext>
            </a:extLst>
          </p:spPr>
          <p:txBody>
            <a:bodyPr/>
            <a:lstStyle/>
            <a:p>
              <a:endParaRPr lang="en-AU"/>
            </a:p>
          </p:txBody>
        </p:sp>
      </p:grpSp>
      <p:sp>
        <p:nvSpPr>
          <p:cNvPr id="95" name="任意多边形 737456"/>
          <p:cNvSpPr>
            <a:spLocks noChangeArrowheads="1"/>
          </p:cNvSpPr>
          <p:nvPr/>
        </p:nvSpPr>
        <p:spPr bwMode="auto">
          <a:xfrm>
            <a:off x="8854116" y="2209360"/>
            <a:ext cx="1996556" cy="1847850"/>
          </a:xfrm>
          <a:custGeom>
            <a:avLst/>
            <a:gdLst>
              <a:gd name="T0" fmla="*/ 135 w 1454"/>
              <a:gd name="T1" fmla="*/ 0 h 1457"/>
              <a:gd name="T2" fmla="*/ 172 w 1454"/>
              <a:gd name="T3" fmla="*/ 6 h 1457"/>
              <a:gd name="T4" fmla="*/ 204 w 1454"/>
              <a:gd name="T5" fmla="*/ 18 h 1457"/>
              <a:gd name="T6" fmla="*/ 232 w 1454"/>
              <a:gd name="T7" fmla="*/ 36 h 1457"/>
              <a:gd name="T8" fmla="*/ 258 w 1454"/>
              <a:gd name="T9" fmla="*/ 62 h 1457"/>
              <a:gd name="T10" fmla="*/ 275 w 1454"/>
              <a:gd name="T11" fmla="*/ 85 h 1457"/>
              <a:gd name="T12" fmla="*/ 290 w 1454"/>
              <a:gd name="T13" fmla="*/ 110 h 1457"/>
              <a:gd name="T14" fmla="*/ 299 w 1454"/>
              <a:gd name="T15" fmla="*/ 138 h 1457"/>
              <a:gd name="T16" fmla="*/ 301 w 1454"/>
              <a:gd name="T17" fmla="*/ 157 h 1457"/>
              <a:gd name="T18" fmla="*/ 295 w 1454"/>
              <a:gd name="T19" fmla="*/ 180 h 1457"/>
              <a:gd name="T20" fmla="*/ 284 w 1454"/>
              <a:gd name="T21" fmla="*/ 204 h 1457"/>
              <a:gd name="T22" fmla="*/ 271 w 1454"/>
              <a:gd name="T23" fmla="*/ 224 h 1457"/>
              <a:gd name="T24" fmla="*/ 254 w 1454"/>
              <a:gd name="T25" fmla="*/ 244 h 1457"/>
              <a:gd name="T26" fmla="*/ 232 w 1454"/>
              <a:gd name="T27" fmla="*/ 262 h 1457"/>
              <a:gd name="T28" fmla="*/ 204 w 1454"/>
              <a:gd name="T29" fmla="*/ 280 h 1457"/>
              <a:gd name="T30" fmla="*/ 176 w 1454"/>
              <a:gd name="T31" fmla="*/ 292 h 1457"/>
              <a:gd name="T32" fmla="*/ 148 w 1454"/>
              <a:gd name="T33" fmla="*/ 300 h 1457"/>
              <a:gd name="T34" fmla="*/ 115 w 1454"/>
              <a:gd name="T35" fmla="*/ 303 h 1457"/>
              <a:gd name="T36" fmla="*/ 93 w 1454"/>
              <a:gd name="T37" fmla="*/ 298 h 1457"/>
              <a:gd name="T38" fmla="*/ 68 w 1454"/>
              <a:gd name="T39" fmla="*/ 284 h 1457"/>
              <a:gd name="T40" fmla="*/ 44 w 1454"/>
              <a:gd name="T41" fmla="*/ 266 h 1457"/>
              <a:gd name="T42" fmla="*/ 27 w 1454"/>
              <a:gd name="T43" fmla="*/ 246 h 1457"/>
              <a:gd name="T44" fmla="*/ 10 w 1454"/>
              <a:gd name="T45" fmla="*/ 216 h 1457"/>
              <a:gd name="T46" fmla="*/ 2 w 1454"/>
              <a:gd name="T47" fmla="*/ 178 h 1457"/>
              <a:gd name="T48" fmla="*/ 0 w 1454"/>
              <a:gd name="T49" fmla="*/ 138 h 1457"/>
              <a:gd name="T50" fmla="*/ 4 w 1454"/>
              <a:gd name="T51" fmla="*/ 105 h 1457"/>
              <a:gd name="T52" fmla="*/ 14 w 1454"/>
              <a:gd name="T53" fmla="*/ 77 h 1457"/>
              <a:gd name="T54" fmla="*/ 22 w 1454"/>
              <a:gd name="T55" fmla="*/ 56 h 1457"/>
              <a:gd name="T56" fmla="*/ 32 w 1454"/>
              <a:gd name="T57" fmla="*/ 40 h 1457"/>
              <a:gd name="T58" fmla="*/ 49 w 1454"/>
              <a:gd name="T59" fmla="*/ 23 h 1457"/>
              <a:gd name="T60" fmla="*/ 69 w 1454"/>
              <a:gd name="T61" fmla="*/ 10 h 1457"/>
              <a:gd name="T62" fmla="*/ 92 w 1454"/>
              <a:gd name="T63" fmla="*/ 2 h 1457"/>
              <a:gd name="T64" fmla="*/ 115 w 1454"/>
              <a:gd name="T65" fmla="*/ 0 h 14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54" h="1457">
                <a:moveTo>
                  <a:pt x="553" y="0"/>
                </a:moveTo>
                <a:lnTo>
                  <a:pt x="653" y="0"/>
                </a:lnTo>
                <a:lnTo>
                  <a:pt x="750" y="11"/>
                </a:lnTo>
                <a:lnTo>
                  <a:pt x="834" y="26"/>
                </a:lnTo>
                <a:lnTo>
                  <a:pt x="913" y="53"/>
                </a:lnTo>
                <a:lnTo>
                  <a:pt x="987" y="87"/>
                </a:lnTo>
                <a:lnTo>
                  <a:pt x="1050" y="126"/>
                </a:lnTo>
                <a:lnTo>
                  <a:pt x="1118" y="171"/>
                </a:lnTo>
                <a:lnTo>
                  <a:pt x="1181" y="231"/>
                </a:lnTo>
                <a:lnTo>
                  <a:pt x="1247" y="297"/>
                </a:lnTo>
                <a:lnTo>
                  <a:pt x="1289" y="348"/>
                </a:lnTo>
                <a:lnTo>
                  <a:pt x="1331" y="408"/>
                </a:lnTo>
                <a:lnTo>
                  <a:pt x="1367" y="471"/>
                </a:lnTo>
                <a:lnTo>
                  <a:pt x="1397" y="534"/>
                </a:lnTo>
                <a:lnTo>
                  <a:pt x="1424" y="597"/>
                </a:lnTo>
                <a:lnTo>
                  <a:pt x="1442" y="663"/>
                </a:lnTo>
                <a:lnTo>
                  <a:pt x="1451" y="708"/>
                </a:lnTo>
                <a:lnTo>
                  <a:pt x="1454" y="759"/>
                </a:lnTo>
                <a:lnTo>
                  <a:pt x="1449" y="803"/>
                </a:lnTo>
                <a:lnTo>
                  <a:pt x="1425" y="866"/>
                </a:lnTo>
                <a:lnTo>
                  <a:pt x="1399" y="927"/>
                </a:lnTo>
                <a:lnTo>
                  <a:pt x="1373" y="977"/>
                </a:lnTo>
                <a:lnTo>
                  <a:pt x="1341" y="1029"/>
                </a:lnTo>
                <a:lnTo>
                  <a:pt x="1307" y="1079"/>
                </a:lnTo>
                <a:lnTo>
                  <a:pt x="1270" y="1126"/>
                </a:lnTo>
                <a:lnTo>
                  <a:pt x="1226" y="1171"/>
                </a:lnTo>
                <a:lnTo>
                  <a:pt x="1176" y="1221"/>
                </a:lnTo>
                <a:lnTo>
                  <a:pt x="1123" y="1263"/>
                </a:lnTo>
                <a:lnTo>
                  <a:pt x="1057" y="1310"/>
                </a:lnTo>
                <a:lnTo>
                  <a:pt x="989" y="1349"/>
                </a:lnTo>
                <a:lnTo>
                  <a:pt x="924" y="1381"/>
                </a:lnTo>
                <a:lnTo>
                  <a:pt x="853" y="1407"/>
                </a:lnTo>
                <a:lnTo>
                  <a:pt x="784" y="1425"/>
                </a:lnTo>
                <a:lnTo>
                  <a:pt x="713" y="1441"/>
                </a:lnTo>
                <a:lnTo>
                  <a:pt x="629" y="1449"/>
                </a:lnTo>
                <a:lnTo>
                  <a:pt x="553" y="1457"/>
                </a:lnTo>
                <a:lnTo>
                  <a:pt x="503" y="1444"/>
                </a:lnTo>
                <a:lnTo>
                  <a:pt x="451" y="1433"/>
                </a:lnTo>
                <a:lnTo>
                  <a:pt x="385" y="1407"/>
                </a:lnTo>
                <a:lnTo>
                  <a:pt x="325" y="1370"/>
                </a:lnTo>
                <a:lnTo>
                  <a:pt x="270" y="1328"/>
                </a:lnTo>
                <a:lnTo>
                  <a:pt x="214" y="1281"/>
                </a:lnTo>
                <a:lnTo>
                  <a:pt x="168" y="1232"/>
                </a:lnTo>
                <a:lnTo>
                  <a:pt x="126" y="1183"/>
                </a:lnTo>
                <a:lnTo>
                  <a:pt x="91" y="1120"/>
                </a:lnTo>
                <a:lnTo>
                  <a:pt x="49" y="1040"/>
                </a:lnTo>
                <a:lnTo>
                  <a:pt x="21" y="952"/>
                </a:lnTo>
                <a:lnTo>
                  <a:pt x="4" y="858"/>
                </a:lnTo>
                <a:lnTo>
                  <a:pt x="0" y="767"/>
                </a:lnTo>
                <a:lnTo>
                  <a:pt x="0" y="665"/>
                </a:lnTo>
                <a:lnTo>
                  <a:pt x="7" y="564"/>
                </a:lnTo>
                <a:lnTo>
                  <a:pt x="18" y="501"/>
                </a:lnTo>
                <a:lnTo>
                  <a:pt x="35" y="434"/>
                </a:lnTo>
                <a:lnTo>
                  <a:pt x="65" y="368"/>
                </a:lnTo>
                <a:lnTo>
                  <a:pt x="86" y="318"/>
                </a:lnTo>
                <a:lnTo>
                  <a:pt x="107" y="270"/>
                </a:lnTo>
                <a:lnTo>
                  <a:pt x="130" y="228"/>
                </a:lnTo>
                <a:lnTo>
                  <a:pt x="154" y="194"/>
                </a:lnTo>
                <a:lnTo>
                  <a:pt x="193" y="147"/>
                </a:lnTo>
                <a:lnTo>
                  <a:pt x="235" y="110"/>
                </a:lnTo>
                <a:lnTo>
                  <a:pt x="283" y="76"/>
                </a:lnTo>
                <a:lnTo>
                  <a:pt x="333" y="47"/>
                </a:lnTo>
                <a:lnTo>
                  <a:pt x="385" y="26"/>
                </a:lnTo>
                <a:lnTo>
                  <a:pt x="443" y="11"/>
                </a:lnTo>
                <a:lnTo>
                  <a:pt x="495" y="0"/>
                </a:lnTo>
                <a:lnTo>
                  <a:pt x="553" y="0"/>
                </a:lnTo>
                <a:close/>
              </a:path>
            </a:pathLst>
          </a:custGeom>
          <a:solidFill>
            <a:srgbClr val="CCFFFF"/>
          </a:solidFill>
          <a:ln w="19050">
            <a:solidFill>
              <a:srgbClr val="FF00FF"/>
            </a:solidFill>
            <a:round/>
          </a:ln>
        </p:spPr>
        <p:txBody>
          <a:bodyPr wrap="square"/>
          <a:lstStyle/>
          <a:p>
            <a:endParaRPr lang="en-AU"/>
          </a:p>
        </p:txBody>
      </p:sp>
      <p:grpSp>
        <p:nvGrpSpPr>
          <p:cNvPr id="96" name="组合 95"/>
          <p:cNvGrpSpPr/>
          <p:nvPr/>
        </p:nvGrpSpPr>
        <p:grpSpPr>
          <a:xfrm>
            <a:off x="9388938" y="1126686"/>
            <a:ext cx="666395" cy="1082675"/>
            <a:chOff x="9388938" y="1126686"/>
            <a:chExt cx="666395" cy="1082675"/>
          </a:xfrm>
        </p:grpSpPr>
        <p:grpSp>
          <p:nvGrpSpPr>
            <p:cNvPr id="97" name="组合 96"/>
            <p:cNvGrpSpPr/>
            <p:nvPr/>
          </p:nvGrpSpPr>
          <p:grpSpPr bwMode="auto">
            <a:xfrm>
              <a:off x="9528283" y="1126686"/>
              <a:ext cx="527050" cy="1082675"/>
              <a:chOff x="3554" y="1008"/>
              <a:chExt cx="305" cy="682"/>
            </a:xfrm>
          </p:grpSpPr>
          <p:sp>
            <p:nvSpPr>
              <p:cNvPr id="105" name="文本框 737376"/>
              <p:cNvSpPr txBox="1">
                <a:spLocks noChangeArrowheads="1"/>
              </p:cNvSpPr>
              <p:nvPr/>
            </p:nvSpPr>
            <p:spPr bwMode="auto">
              <a:xfrm>
                <a:off x="3678" y="1498"/>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Times New Roman" panose="02020603050405020304" pitchFamily="18" charset="0"/>
                  </a:rPr>
                  <a:t>A</a:t>
                </a:r>
                <a:endParaRPr lang="en-US" altLang="zh-CN" sz="1400">
                  <a:latin typeface="Times New Roman" panose="02020603050405020304" pitchFamily="18" charset="0"/>
                </a:endParaRPr>
              </a:p>
            </p:txBody>
          </p:sp>
          <p:grpSp>
            <p:nvGrpSpPr>
              <p:cNvPr id="106" name="组合 737377"/>
              <p:cNvGrpSpPr/>
              <p:nvPr/>
            </p:nvGrpSpPr>
            <p:grpSpPr bwMode="auto">
              <a:xfrm>
                <a:off x="3554" y="1008"/>
                <a:ext cx="96" cy="664"/>
                <a:chOff x="3554" y="1008"/>
                <a:chExt cx="96" cy="664"/>
              </a:xfrm>
            </p:grpSpPr>
            <p:sp>
              <p:nvSpPr>
                <p:cNvPr id="107" name="等腰三角形 737378"/>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08" name="矩形 737379"/>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grpSp>
        <p:grpSp>
          <p:nvGrpSpPr>
            <p:cNvPr id="102" name="组合 737382"/>
            <p:cNvGrpSpPr/>
            <p:nvPr/>
          </p:nvGrpSpPr>
          <p:grpSpPr bwMode="auto">
            <a:xfrm>
              <a:off x="9528278" y="1136211"/>
              <a:ext cx="165891" cy="1054100"/>
              <a:chOff x="3554" y="1008"/>
              <a:chExt cx="96" cy="664"/>
            </a:xfrm>
          </p:grpSpPr>
          <p:sp>
            <p:nvSpPr>
              <p:cNvPr id="103" name="等腰三角形 737383"/>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04" name="矩形 737384"/>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sp>
          <p:nvSpPr>
            <p:cNvPr id="99" name="任意多边形 737457"/>
            <p:cNvSpPr>
              <a:spLocks noChangeArrowheads="1"/>
            </p:cNvSpPr>
            <p:nvPr/>
          </p:nvSpPr>
          <p:spPr bwMode="auto">
            <a:xfrm>
              <a:off x="9388938" y="1371160"/>
              <a:ext cx="67068" cy="242887"/>
            </a:xfrm>
            <a:custGeom>
              <a:avLst/>
              <a:gdLst>
                <a:gd name="T0" fmla="*/ 0 w 48"/>
                <a:gd name="T1" fmla="*/ 0 h 192"/>
                <a:gd name="T2" fmla="*/ 11 w 48"/>
                <a:gd name="T3" fmla="*/ 0 h 192"/>
                <a:gd name="T4" fmla="*/ 11 w 48"/>
                <a:gd name="T5" fmla="*/ 39 h 192"/>
                <a:gd name="T6" fmla="*/ 0 w 48"/>
                <a:gd name="T7" fmla="*/ 3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1"/>
              <a:srcRect/>
              <a:tile tx="0" ty="0" sx="100000" sy="100000" flip="none" algn="tl"/>
            </a:blipFill>
            <a:ln w="19050">
              <a:solidFill>
                <a:schemeClr val="tx1"/>
              </a:solidFill>
              <a:round/>
            </a:ln>
          </p:spPr>
          <p:txBody>
            <a:bodyPr/>
            <a:lstStyle/>
            <a:p>
              <a:endParaRPr lang="en-AU"/>
            </a:p>
          </p:txBody>
        </p:sp>
        <p:sp>
          <p:nvSpPr>
            <p:cNvPr id="100" name="任意多边形 737458"/>
            <p:cNvSpPr>
              <a:spLocks noChangeArrowheads="1"/>
            </p:cNvSpPr>
            <p:nvPr/>
          </p:nvSpPr>
          <p:spPr bwMode="auto">
            <a:xfrm flipH="1">
              <a:off x="9755232" y="1371160"/>
              <a:ext cx="67068" cy="242887"/>
            </a:xfrm>
            <a:custGeom>
              <a:avLst/>
              <a:gdLst>
                <a:gd name="T0" fmla="*/ 0 w 48"/>
                <a:gd name="T1" fmla="*/ 0 h 192"/>
                <a:gd name="T2" fmla="*/ 11 w 48"/>
                <a:gd name="T3" fmla="*/ 0 h 192"/>
                <a:gd name="T4" fmla="*/ 11 w 48"/>
                <a:gd name="T5" fmla="*/ 39 h 192"/>
                <a:gd name="T6" fmla="*/ 0 w 48"/>
                <a:gd name="T7" fmla="*/ 3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1"/>
              <a:srcRect/>
              <a:tile tx="0" ty="0" sx="100000" sy="100000" flip="none" algn="tl"/>
            </a:blipFill>
            <a:ln w="19050">
              <a:solidFill>
                <a:schemeClr val="tx1"/>
              </a:solidFill>
              <a:round/>
            </a:ln>
          </p:spPr>
          <p:txBody>
            <a:bodyPr/>
            <a:lstStyle/>
            <a:p>
              <a:endParaRPr lang="en-AU"/>
            </a:p>
          </p:txBody>
        </p:sp>
      </p:grpSp>
      <p:sp>
        <p:nvSpPr>
          <p:cNvPr id="109" name="任意多边形 737459"/>
          <p:cNvSpPr>
            <a:spLocks noChangeArrowheads="1"/>
          </p:cNvSpPr>
          <p:nvPr/>
        </p:nvSpPr>
        <p:spPr bwMode="auto">
          <a:xfrm>
            <a:off x="9610778" y="2631635"/>
            <a:ext cx="656920" cy="212725"/>
          </a:xfrm>
          <a:custGeom>
            <a:avLst/>
            <a:gdLst>
              <a:gd name="T0" fmla="*/ 0 w 546"/>
              <a:gd name="T1" fmla="*/ 15 h 192"/>
              <a:gd name="T2" fmla="*/ 45 w 546"/>
              <a:gd name="T3" fmla="*/ 0 h 192"/>
              <a:gd name="T4" fmla="*/ 0 60000 65536"/>
              <a:gd name="T5" fmla="*/ 0 60000 65536"/>
            </a:gdLst>
            <a:ahLst/>
            <a:cxnLst>
              <a:cxn ang="T4">
                <a:pos x="T0" y="T1"/>
              </a:cxn>
              <a:cxn ang="T5">
                <a:pos x="T2" y="T3"/>
              </a:cxn>
            </a:cxnLst>
            <a:rect l="0" t="0" r="r" b="b"/>
            <a:pathLst>
              <a:path w="546" h="192">
                <a:moveTo>
                  <a:pt x="0" y="192"/>
                </a:moveTo>
                <a:lnTo>
                  <a:pt x="546" y="0"/>
                </a:lnTo>
              </a:path>
            </a:pathLst>
          </a:custGeom>
          <a:noFill/>
          <a:ln w="3175">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10" name="文本框 737460"/>
          <p:cNvSpPr txBox="1">
            <a:spLocks noChangeArrowheads="1"/>
          </p:cNvSpPr>
          <p:nvPr/>
        </p:nvSpPr>
        <p:spPr bwMode="auto">
          <a:xfrm>
            <a:off x="9695043" y="2460185"/>
            <a:ext cx="36629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Times New Roman" panose="02020603050405020304" pitchFamily="18" charset="0"/>
                <a:sym typeface="Symbol" panose="05050102010706020507" pitchFamily="18" charset="2"/>
              </a:rPr>
              <a:t>r</a:t>
            </a:r>
            <a:r>
              <a:rPr lang="en-US" altLang="zh-CN" sz="1400" baseline="-25000">
                <a:latin typeface="Times New Roman" panose="02020603050405020304" pitchFamily="18" charset="0"/>
                <a:sym typeface="Symbol" panose="05050102010706020507" pitchFamily="18" charset="2"/>
              </a:rPr>
              <a:t>0</a:t>
            </a:r>
            <a:endParaRPr lang="en-US" altLang="zh-CN" sz="1400">
              <a:latin typeface="Times New Roman" panose="02020603050405020304" pitchFamily="18" charset="0"/>
            </a:endParaRPr>
          </a:p>
        </p:txBody>
      </p:sp>
      <p:sp>
        <p:nvSpPr>
          <p:cNvPr id="111" name="直接连接符 737461"/>
          <p:cNvSpPr>
            <a:spLocks noChangeShapeType="1"/>
          </p:cNvSpPr>
          <p:nvPr/>
        </p:nvSpPr>
        <p:spPr bwMode="auto">
          <a:xfrm>
            <a:off x="9610778" y="907610"/>
            <a:ext cx="1720" cy="3306762"/>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wrap="square"/>
          <a:lstStyle/>
          <a:p>
            <a:endParaRPr lang="en-AU"/>
          </a:p>
        </p:txBody>
      </p:sp>
      <p:sp>
        <p:nvSpPr>
          <p:cNvPr id="112" name="椭圆 737463"/>
          <p:cNvSpPr>
            <a:spLocks noChangeArrowheads="1"/>
          </p:cNvSpPr>
          <p:nvPr/>
        </p:nvSpPr>
        <p:spPr bwMode="auto">
          <a:xfrm>
            <a:off x="8919464" y="2206185"/>
            <a:ext cx="1384348" cy="1277937"/>
          </a:xfrm>
          <a:prstGeom prst="ellipse">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 typeface="Arial" panose="020B0604020202020204" pitchFamily="34" charset="0"/>
              <a:buNone/>
            </a:pPr>
            <a:endParaRPr lang="zh-CN" altLang="en-US" sz="2000">
              <a:latin typeface="Times New Roman" panose="02020603050405020304" pitchFamily="18" charset="0"/>
            </a:endParaRPr>
          </a:p>
        </p:txBody>
      </p:sp>
      <p:grpSp>
        <p:nvGrpSpPr>
          <p:cNvPr id="114" name="组合 113"/>
          <p:cNvGrpSpPr/>
          <p:nvPr/>
        </p:nvGrpSpPr>
        <p:grpSpPr>
          <a:xfrm>
            <a:off x="104870" y="1449922"/>
            <a:ext cx="2426548" cy="3687762"/>
            <a:chOff x="1124807" y="3177319"/>
            <a:chExt cx="2426548" cy="3687762"/>
          </a:xfrm>
        </p:grpSpPr>
        <p:grpSp>
          <p:nvGrpSpPr>
            <p:cNvPr id="115" name="组合 114"/>
            <p:cNvGrpSpPr/>
            <p:nvPr/>
          </p:nvGrpSpPr>
          <p:grpSpPr bwMode="auto">
            <a:xfrm>
              <a:off x="1275620" y="3536094"/>
              <a:ext cx="1997075" cy="3168650"/>
              <a:chOff x="2359" y="1226"/>
              <a:chExt cx="1161" cy="1996"/>
            </a:xfrm>
          </p:grpSpPr>
          <p:sp>
            <p:nvSpPr>
              <p:cNvPr id="136" name="任意多边形 737329"/>
              <p:cNvSpPr>
                <a:spLocks noChangeArrowheads="1"/>
              </p:cNvSpPr>
              <p:nvPr/>
            </p:nvSpPr>
            <p:spPr bwMode="auto">
              <a:xfrm rot="-3505">
                <a:off x="2359" y="2058"/>
                <a:ext cx="1161" cy="1164"/>
              </a:xfrm>
              <a:custGeom>
                <a:avLst/>
                <a:gdLst>
                  <a:gd name="T0" fmla="*/ 135 w 1454"/>
                  <a:gd name="T1" fmla="*/ 0 h 1457"/>
                  <a:gd name="T2" fmla="*/ 172 w 1454"/>
                  <a:gd name="T3" fmla="*/ 6 h 1457"/>
                  <a:gd name="T4" fmla="*/ 204 w 1454"/>
                  <a:gd name="T5" fmla="*/ 18 h 1457"/>
                  <a:gd name="T6" fmla="*/ 232 w 1454"/>
                  <a:gd name="T7" fmla="*/ 36 h 1457"/>
                  <a:gd name="T8" fmla="*/ 258 w 1454"/>
                  <a:gd name="T9" fmla="*/ 62 h 1457"/>
                  <a:gd name="T10" fmla="*/ 275 w 1454"/>
                  <a:gd name="T11" fmla="*/ 85 h 1457"/>
                  <a:gd name="T12" fmla="*/ 290 w 1454"/>
                  <a:gd name="T13" fmla="*/ 110 h 1457"/>
                  <a:gd name="T14" fmla="*/ 299 w 1454"/>
                  <a:gd name="T15" fmla="*/ 138 h 1457"/>
                  <a:gd name="T16" fmla="*/ 301 w 1454"/>
                  <a:gd name="T17" fmla="*/ 157 h 1457"/>
                  <a:gd name="T18" fmla="*/ 295 w 1454"/>
                  <a:gd name="T19" fmla="*/ 180 h 1457"/>
                  <a:gd name="T20" fmla="*/ 284 w 1454"/>
                  <a:gd name="T21" fmla="*/ 204 h 1457"/>
                  <a:gd name="T22" fmla="*/ 271 w 1454"/>
                  <a:gd name="T23" fmla="*/ 224 h 1457"/>
                  <a:gd name="T24" fmla="*/ 254 w 1454"/>
                  <a:gd name="T25" fmla="*/ 244 h 1457"/>
                  <a:gd name="T26" fmla="*/ 232 w 1454"/>
                  <a:gd name="T27" fmla="*/ 262 h 1457"/>
                  <a:gd name="T28" fmla="*/ 204 w 1454"/>
                  <a:gd name="T29" fmla="*/ 280 h 1457"/>
                  <a:gd name="T30" fmla="*/ 176 w 1454"/>
                  <a:gd name="T31" fmla="*/ 292 h 1457"/>
                  <a:gd name="T32" fmla="*/ 148 w 1454"/>
                  <a:gd name="T33" fmla="*/ 300 h 1457"/>
                  <a:gd name="T34" fmla="*/ 115 w 1454"/>
                  <a:gd name="T35" fmla="*/ 303 h 1457"/>
                  <a:gd name="T36" fmla="*/ 93 w 1454"/>
                  <a:gd name="T37" fmla="*/ 298 h 1457"/>
                  <a:gd name="T38" fmla="*/ 68 w 1454"/>
                  <a:gd name="T39" fmla="*/ 284 h 1457"/>
                  <a:gd name="T40" fmla="*/ 44 w 1454"/>
                  <a:gd name="T41" fmla="*/ 266 h 1457"/>
                  <a:gd name="T42" fmla="*/ 27 w 1454"/>
                  <a:gd name="T43" fmla="*/ 246 h 1457"/>
                  <a:gd name="T44" fmla="*/ 10 w 1454"/>
                  <a:gd name="T45" fmla="*/ 216 h 1457"/>
                  <a:gd name="T46" fmla="*/ 2 w 1454"/>
                  <a:gd name="T47" fmla="*/ 178 h 1457"/>
                  <a:gd name="T48" fmla="*/ 0 w 1454"/>
                  <a:gd name="T49" fmla="*/ 138 h 1457"/>
                  <a:gd name="T50" fmla="*/ 4 w 1454"/>
                  <a:gd name="T51" fmla="*/ 105 h 1457"/>
                  <a:gd name="T52" fmla="*/ 14 w 1454"/>
                  <a:gd name="T53" fmla="*/ 77 h 1457"/>
                  <a:gd name="T54" fmla="*/ 22 w 1454"/>
                  <a:gd name="T55" fmla="*/ 56 h 1457"/>
                  <a:gd name="T56" fmla="*/ 32 w 1454"/>
                  <a:gd name="T57" fmla="*/ 40 h 1457"/>
                  <a:gd name="T58" fmla="*/ 49 w 1454"/>
                  <a:gd name="T59" fmla="*/ 23 h 1457"/>
                  <a:gd name="T60" fmla="*/ 69 w 1454"/>
                  <a:gd name="T61" fmla="*/ 10 h 1457"/>
                  <a:gd name="T62" fmla="*/ 92 w 1454"/>
                  <a:gd name="T63" fmla="*/ 2 h 1457"/>
                  <a:gd name="T64" fmla="*/ 115 w 1454"/>
                  <a:gd name="T65" fmla="*/ 0 h 14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54" h="1457">
                    <a:moveTo>
                      <a:pt x="553" y="0"/>
                    </a:moveTo>
                    <a:lnTo>
                      <a:pt x="653" y="0"/>
                    </a:lnTo>
                    <a:lnTo>
                      <a:pt x="750" y="11"/>
                    </a:lnTo>
                    <a:lnTo>
                      <a:pt x="834" y="26"/>
                    </a:lnTo>
                    <a:lnTo>
                      <a:pt x="913" y="53"/>
                    </a:lnTo>
                    <a:lnTo>
                      <a:pt x="987" y="87"/>
                    </a:lnTo>
                    <a:lnTo>
                      <a:pt x="1050" y="126"/>
                    </a:lnTo>
                    <a:lnTo>
                      <a:pt x="1118" y="171"/>
                    </a:lnTo>
                    <a:lnTo>
                      <a:pt x="1181" y="231"/>
                    </a:lnTo>
                    <a:lnTo>
                      <a:pt x="1247" y="297"/>
                    </a:lnTo>
                    <a:lnTo>
                      <a:pt x="1289" y="348"/>
                    </a:lnTo>
                    <a:lnTo>
                      <a:pt x="1331" y="408"/>
                    </a:lnTo>
                    <a:lnTo>
                      <a:pt x="1367" y="471"/>
                    </a:lnTo>
                    <a:lnTo>
                      <a:pt x="1397" y="534"/>
                    </a:lnTo>
                    <a:lnTo>
                      <a:pt x="1424" y="597"/>
                    </a:lnTo>
                    <a:lnTo>
                      <a:pt x="1442" y="663"/>
                    </a:lnTo>
                    <a:lnTo>
                      <a:pt x="1451" y="708"/>
                    </a:lnTo>
                    <a:lnTo>
                      <a:pt x="1454" y="759"/>
                    </a:lnTo>
                    <a:lnTo>
                      <a:pt x="1449" y="803"/>
                    </a:lnTo>
                    <a:lnTo>
                      <a:pt x="1425" y="866"/>
                    </a:lnTo>
                    <a:lnTo>
                      <a:pt x="1399" y="927"/>
                    </a:lnTo>
                    <a:lnTo>
                      <a:pt x="1373" y="977"/>
                    </a:lnTo>
                    <a:lnTo>
                      <a:pt x="1341" y="1029"/>
                    </a:lnTo>
                    <a:lnTo>
                      <a:pt x="1307" y="1079"/>
                    </a:lnTo>
                    <a:lnTo>
                      <a:pt x="1270" y="1126"/>
                    </a:lnTo>
                    <a:lnTo>
                      <a:pt x="1226" y="1171"/>
                    </a:lnTo>
                    <a:lnTo>
                      <a:pt x="1176" y="1221"/>
                    </a:lnTo>
                    <a:lnTo>
                      <a:pt x="1123" y="1263"/>
                    </a:lnTo>
                    <a:lnTo>
                      <a:pt x="1057" y="1310"/>
                    </a:lnTo>
                    <a:lnTo>
                      <a:pt x="989" y="1349"/>
                    </a:lnTo>
                    <a:lnTo>
                      <a:pt x="924" y="1381"/>
                    </a:lnTo>
                    <a:lnTo>
                      <a:pt x="853" y="1407"/>
                    </a:lnTo>
                    <a:lnTo>
                      <a:pt x="784" y="1425"/>
                    </a:lnTo>
                    <a:lnTo>
                      <a:pt x="713" y="1441"/>
                    </a:lnTo>
                    <a:lnTo>
                      <a:pt x="629" y="1449"/>
                    </a:lnTo>
                    <a:lnTo>
                      <a:pt x="553" y="1457"/>
                    </a:lnTo>
                    <a:lnTo>
                      <a:pt x="503" y="1444"/>
                    </a:lnTo>
                    <a:lnTo>
                      <a:pt x="451" y="1433"/>
                    </a:lnTo>
                    <a:lnTo>
                      <a:pt x="385" y="1407"/>
                    </a:lnTo>
                    <a:lnTo>
                      <a:pt x="325" y="1370"/>
                    </a:lnTo>
                    <a:lnTo>
                      <a:pt x="270" y="1328"/>
                    </a:lnTo>
                    <a:lnTo>
                      <a:pt x="214" y="1281"/>
                    </a:lnTo>
                    <a:lnTo>
                      <a:pt x="168" y="1232"/>
                    </a:lnTo>
                    <a:lnTo>
                      <a:pt x="126" y="1183"/>
                    </a:lnTo>
                    <a:lnTo>
                      <a:pt x="91" y="1120"/>
                    </a:lnTo>
                    <a:lnTo>
                      <a:pt x="49" y="1040"/>
                    </a:lnTo>
                    <a:lnTo>
                      <a:pt x="21" y="952"/>
                    </a:lnTo>
                    <a:lnTo>
                      <a:pt x="4" y="858"/>
                    </a:lnTo>
                    <a:lnTo>
                      <a:pt x="0" y="767"/>
                    </a:lnTo>
                    <a:lnTo>
                      <a:pt x="0" y="665"/>
                    </a:lnTo>
                    <a:lnTo>
                      <a:pt x="7" y="564"/>
                    </a:lnTo>
                    <a:lnTo>
                      <a:pt x="18" y="501"/>
                    </a:lnTo>
                    <a:lnTo>
                      <a:pt x="35" y="434"/>
                    </a:lnTo>
                    <a:lnTo>
                      <a:pt x="65" y="368"/>
                    </a:lnTo>
                    <a:lnTo>
                      <a:pt x="86" y="318"/>
                    </a:lnTo>
                    <a:lnTo>
                      <a:pt x="107" y="270"/>
                    </a:lnTo>
                    <a:lnTo>
                      <a:pt x="130" y="228"/>
                    </a:lnTo>
                    <a:lnTo>
                      <a:pt x="154" y="194"/>
                    </a:lnTo>
                    <a:lnTo>
                      <a:pt x="193" y="147"/>
                    </a:lnTo>
                    <a:lnTo>
                      <a:pt x="235" y="110"/>
                    </a:lnTo>
                    <a:lnTo>
                      <a:pt x="283" y="76"/>
                    </a:lnTo>
                    <a:lnTo>
                      <a:pt x="333" y="47"/>
                    </a:lnTo>
                    <a:lnTo>
                      <a:pt x="385" y="26"/>
                    </a:lnTo>
                    <a:lnTo>
                      <a:pt x="443" y="11"/>
                    </a:lnTo>
                    <a:lnTo>
                      <a:pt x="495" y="0"/>
                    </a:lnTo>
                    <a:lnTo>
                      <a:pt x="553" y="0"/>
                    </a:lnTo>
                    <a:close/>
                  </a:path>
                </a:pathLst>
              </a:custGeom>
              <a:solidFill>
                <a:srgbClr val="CCFFFF"/>
              </a:solidFill>
              <a:ln w="19050">
                <a:solidFill>
                  <a:srgbClr val="FF00FF"/>
                </a:solidFill>
                <a:round/>
              </a:ln>
            </p:spPr>
            <p:txBody>
              <a:bodyPr/>
              <a:lstStyle/>
              <a:p>
                <a:endParaRPr lang="en-AU"/>
              </a:p>
            </p:txBody>
          </p:sp>
          <p:grpSp>
            <p:nvGrpSpPr>
              <p:cNvPr id="137" name="组合 737332"/>
              <p:cNvGrpSpPr/>
              <p:nvPr/>
            </p:nvGrpSpPr>
            <p:grpSpPr bwMode="auto">
              <a:xfrm>
                <a:off x="2752" y="1226"/>
                <a:ext cx="96" cy="818"/>
                <a:chOff x="2556" y="1236"/>
                <a:chExt cx="96" cy="818"/>
              </a:xfrm>
            </p:grpSpPr>
            <p:sp>
              <p:nvSpPr>
                <p:cNvPr id="138" name="等腰三角形 737333"/>
                <p:cNvSpPr>
                  <a:spLocks noChangeArrowheads="1"/>
                </p:cNvSpPr>
                <p:nvPr/>
              </p:nvSpPr>
              <p:spPr bwMode="auto">
                <a:xfrm flipV="1">
                  <a:off x="2562" y="1910"/>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39" name="矩形 737334"/>
                <p:cNvSpPr>
                  <a:spLocks noChangeArrowheads="1"/>
                </p:cNvSpPr>
                <p:nvPr/>
              </p:nvSpPr>
              <p:spPr bwMode="auto">
                <a:xfrm>
                  <a:off x="2556" y="1236"/>
                  <a:ext cx="96" cy="672"/>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grpSp>
        <p:grpSp>
          <p:nvGrpSpPr>
            <p:cNvPr id="116" name="组合 115"/>
            <p:cNvGrpSpPr/>
            <p:nvPr/>
          </p:nvGrpSpPr>
          <p:grpSpPr bwMode="auto">
            <a:xfrm>
              <a:off x="1275619" y="3542445"/>
              <a:ext cx="2275736" cy="3165475"/>
              <a:chOff x="2359" y="1230"/>
              <a:chExt cx="1323" cy="1994"/>
            </a:xfrm>
          </p:grpSpPr>
          <p:grpSp>
            <p:nvGrpSpPr>
              <p:cNvPr id="130" name="组合 737364"/>
              <p:cNvGrpSpPr/>
              <p:nvPr/>
            </p:nvGrpSpPr>
            <p:grpSpPr bwMode="auto">
              <a:xfrm>
                <a:off x="2753" y="1230"/>
                <a:ext cx="929" cy="1546"/>
                <a:chOff x="2556" y="1236"/>
                <a:chExt cx="929" cy="1546"/>
              </a:xfrm>
            </p:grpSpPr>
            <p:sp>
              <p:nvSpPr>
                <p:cNvPr id="132" name="文本框 737365"/>
                <p:cNvSpPr txBox="1">
                  <a:spLocks noChangeArrowheads="1"/>
                </p:cNvSpPr>
                <p:nvPr/>
              </p:nvSpPr>
              <p:spPr bwMode="auto">
                <a:xfrm>
                  <a:off x="3308" y="2588"/>
                  <a:ext cx="17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Times New Roman" panose="02020603050405020304" pitchFamily="18" charset="0"/>
                    </a:rPr>
                    <a:t>B</a:t>
                  </a:r>
                  <a:endParaRPr lang="en-US" altLang="zh-CN" sz="1400" dirty="0">
                    <a:latin typeface="Times New Roman" panose="02020603050405020304" pitchFamily="18" charset="0"/>
                  </a:endParaRPr>
                </a:p>
              </p:txBody>
            </p:sp>
            <p:grpSp>
              <p:nvGrpSpPr>
                <p:cNvPr id="133" name="组合 737366"/>
                <p:cNvGrpSpPr/>
                <p:nvPr/>
              </p:nvGrpSpPr>
              <p:grpSpPr bwMode="auto">
                <a:xfrm>
                  <a:off x="2556" y="1236"/>
                  <a:ext cx="96" cy="818"/>
                  <a:chOff x="2556" y="1236"/>
                  <a:chExt cx="96" cy="818"/>
                </a:xfrm>
              </p:grpSpPr>
              <p:sp>
                <p:nvSpPr>
                  <p:cNvPr id="134" name="等腰三角形 737367"/>
                  <p:cNvSpPr>
                    <a:spLocks noChangeArrowheads="1"/>
                  </p:cNvSpPr>
                  <p:nvPr/>
                </p:nvSpPr>
                <p:spPr bwMode="auto">
                  <a:xfrm flipV="1">
                    <a:off x="2562" y="1910"/>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35" name="矩形 737368"/>
                  <p:cNvSpPr>
                    <a:spLocks noChangeArrowheads="1"/>
                  </p:cNvSpPr>
                  <p:nvPr/>
                </p:nvSpPr>
                <p:spPr bwMode="auto">
                  <a:xfrm>
                    <a:off x="2556" y="1236"/>
                    <a:ext cx="96" cy="672"/>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grpSp>
          <p:sp>
            <p:nvSpPr>
              <p:cNvPr id="131" name="任意多边形 737369"/>
              <p:cNvSpPr>
                <a:spLocks noChangeArrowheads="1"/>
              </p:cNvSpPr>
              <p:nvPr/>
            </p:nvSpPr>
            <p:spPr bwMode="auto">
              <a:xfrm>
                <a:off x="2359" y="2060"/>
                <a:ext cx="1161" cy="1164"/>
              </a:xfrm>
              <a:custGeom>
                <a:avLst/>
                <a:gdLst>
                  <a:gd name="T0" fmla="*/ 135 w 1454"/>
                  <a:gd name="T1" fmla="*/ 0 h 1457"/>
                  <a:gd name="T2" fmla="*/ 172 w 1454"/>
                  <a:gd name="T3" fmla="*/ 6 h 1457"/>
                  <a:gd name="T4" fmla="*/ 204 w 1454"/>
                  <a:gd name="T5" fmla="*/ 18 h 1457"/>
                  <a:gd name="T6" fmla="*/ 232 w 1454"/>
                  <a:gd name="T7" fmla="*/ 36 h 1457"/>
                  <a:gd name="T8" fmla="*/ 258 w 1454"/>
                  <a:gd name="T9" fmla="*/ 62 h 1457"/>
                  <a:gd name="T10" fmla="*/ 275 w 1454"/>
                  <a:gd name="T11" fmla="*/ 85 h 1457"/>
                  <a:gd name="T12" fmla="*/ 290 w 1454"/>
                  <a:gd name="T13" fmla="*/ 110 h 1457"/>
                  <a:gd name="T14" fmla="*/ 299 w 1454"/>
                  <a:gd name="T15" fmla="*/ 138 h 1457"/>
                  <a:gd name="T16" fmla="*/ 301 w 1454"/>
                  <a:gd name="T17" fmla="*/ 157 h 1457"/>
                  <a:gd name="T18" fmla="*/ 295 w 1454"/>
                  <a:gd name="T19" fmla="*/ 180 h 1457"/>
                  <a:gd name="T20" fmla="*/ 284 w 1454"/>
                  <a:gd name="T21" fmla="*/ 204 h 1457"/>
                  <a:gd name="T22" fmla="*/ 271 w 1454"/>
                  <a:gd name="T23" fmla="*/ 224 h 1457"/>
                  <a:gd name="T24" fmla="*/ 254 w 1454"/>
                  <a:gd name="T25" fmla="*/ 244 h 1457"/>
                  <a:gd name="T26" fmla="*/ 232 w 1454"/>
                  <a:gd name="T27" fmla="*/ 262 h 1457"/>
                  <a:gd name="T28" fmla="*/ 204 w 1454"/>
                  <a:gd name="T29" fmla="*/ 280 h 1457"/>
                  <a:gd name="T30" fmla="*/ 176 w 1454"/>
                  <a:gd name="T31" fmla="*/ 292 h 1457"/>
                  <a:gd name="T32" fmla="*/ 148 w 1454"/>
                  <a:gd name="T33" fmla="*/ 300 h 1457"/>
                  <a:gd name="T34" fmla="*/ 115 w 1454"/>
                  <a:gd name="T35" fmla="*/ 303 h 1457"/>
                  <a:gd name="T36" fmla="*/ 93 w 1454"/>
                  <a:gd name="T37" fmla="*/ 298 h 1457"/>
                  <a:gd name="T38" fmla="*/ 68 w 1454"/>
                  <a:gd name="T39" fmla="*/ 284 h 1457"/>
                  <a:gd name="T40" fmla="*/ 44 w 1454"/>
                  <a:gd name="T41" fmla="*/ 266 h 1457"/>
                  <a:gd name="T42" fmla="*/ 27 w 1454"/>
                  <a:gd name="T43" fmla="*/ 246 h 1457"/>
                  <a:gd name="T44" fmla="*/ 10 w 1454"/>
                  <a:gd name="T45" fmla="*/ 216 h 1457"/>
                  <a:gd name="T46" fmla="*/ 2 w 1454"/>
                  <a:gd name="T47" fmla="*/ 178 h 1457"/>
                  <a:gd name="T48" fmla="*/ 0 w 1454"/>
                  <a:gd name="T49" fmla="*/ 138 h 1457"/>
                  <a:gd name="T50" fmla="*/ 4 w 1454"/>
                  <a:gd name="T51" fmla="*/ 105 h 1457"/>
                  <a:gd name="T52" fmla="*/ 14 w 1454"/>
                  <a:gd name="T53" fmla="*/ 77 h 1457"/>
                  <a:gd name="T54" fmla="*/ 22 w 1454"/>
                  <a:gd name="T55" fmla="*/ 56 h 1457"/>
                  <a:gd name="T56" fmla="*/ 32 w 1454"/>
                  <a:gd name="T57" fmla="*/ 40 h 1457"/>
                  <a:gd name="T58" fmla="*/ 49 w 1454"/>
                  <a:gd name="T59" fmla="*/ 23 h 1457"/>
                  <a:gd name="T60" fmla="*/ 69 w 1454"/>
                  <a:gd name="T61" fmla="*/ 10 h 1457"/>
                  <a:gd name="T62" fmla="*/ 92 w 1454"/>
                  <a:gd name="T63" fmla="*/ 2 h 1457"/>
                  <a:gd name="T64" fmla="*/ 115 w 1454"/>
                  <a:gd name="T65" fmla="*/ 0 h 14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54" h="1457">
                    <a:moveTo>
                      <a:pt x="553" y="0"/>
                    </a:moveTo>
                    <a:lnTo>
                      <a:pt x="653" y="0"/>
                    </a:lnTo>
                    <a:lnTo>
                      <a:pt x="750" y="11"/>
                    </a:lnTo>
                    <a:lnTo>
                      <a:pt x="834" y="26"/>
                    </a:lnTo>
                    <a:lnTo>
                      <a:pt x="913" y="53"/>
                    </a:lnTo>
                    <a:lnTo>
                      <a:pt x="987" y="87"/>
                    </a:lnTo>
                    <a:lnTo>
                      <a:pt x="1050" y="126"/>
                    </a:lnTo>
                    <a:lnTo>
                      <a:pt x="1118" y="171"/>
                    </a:lnTo>
                    <a:lnTo>
                      <a:pt x="1181" y="231"/>
                    </a:lnTo>
                    <a:lnTo>
                      <a:pt x="1247" y="297"/>
                    </a:lnTo>
                    <a:lnTo>
                      <a:pt x="1289" y="348"/>
                    </a:lnTo>
                    <a:lnTo>
                      <a:pt x="1331" y="408"/>
                    </a:lnTo>
                    <a:lnTo>
                      <a:pt x="1367" y="471"/>
                    </a:lnTo>
                    <a:lnTo>
                      <a:pt x="1397" y="534"/>
                    </a:lnTo>
                    <a:lnTo>
                      <a:pt x="1424" y="597"/>
                    </a:lnTo>
                    <a:lnTo>
                      <a:pt x="1442" y="663"/>
                    </a:lnTo>
                    <a:lnTo>
                      <a:pt x="1451" y="708"/>
                    </a:lnTo>
                    <a:lnTo>
                      <a:pt x="1454" y="759"/>
                    </a:lnTo>
                    <a:lnTo>
                      <a:pt x="1449" y="803"/>
                    </a:lnTo>
                    <a:lnTo>
                      <a:pt x="1425" y="866"/>
                    </a:lnTo>
                    <a:lnTo>
                      <a:pt x="1399" y="927"/>
                    </a:lnTo>
                    <a:lnTo>
                      <a:pt x="1373" y="977"/>
                    </a:lnTo>
                    <a:lnTo>
                      <a:pt x="1341" y="1029"/>
                    </a:lnTo>
                    <a:lnTo>
                      <a:pt x="1307" y="1079"/>
                    </a:lnTo>
                    <a:lnTo>
                      <a:pt x="1270" y="1126"/>
                    </a:lnTo>
                    <a:lnTo>
                      <a:pt x="1226" y="1171"/>
                    </a:lnTo>
                    <a:lnTo>
                      <a:pt x="1176" y="1221"/>
                    </a:lnTo>
                    <a:lnTo>
                      <a:pt x="1123" y="1263"/>
                    </a:lnTo>
                    <a:lnTo>
                      <a:pt x="1057" y="1310"/>
                    </a:lnTo>
                    <a:lnTo>
                      <a:pt x="989" y="1349"/>
                    </a:lnTo>
                    <a:lnTo>
                      <a:pt x="924" y="1381"/>
                    </a:lnTo>
                    <a:lnTo>
                      <a:pt x="853" y="1407"/>
                    </a:lnTo>
                    <a:lnTo>
                      <a:pt x="784" y="1425"/>
                    </a:lnTo>
                    <a:lnTo>
                      <a:pt x="713" y="1441"/>
                    </a:lnTo>
                    <a:lnTo>
                      <a:pt x="629" y="1449"/>
                    </a:lnTo>
                    <a:lnTo>
                      <a:pt x="553" y="1457"/>
                    </a:lnTo>
                    <a:lnTo>
                      <a:pt x="503" y="1444"/>
                    </a:lnTo>
                    <a:lnTo>
                      <a:pt x="451" y="1433"/>
                    </a:lnTo>
                    <a:lnTo>
                      <a:pt x="385" y="1407"/>
                    </a:lnTo>
                    <a:lnTo>
                      <a:pt x="325" y="1370"/>
                    </a:lnTo>
                    <a:lnTo>
                      <a:pt x="270" y="1328"/>
                    </a:lnTo>
                    <a:lnTo>
                      <a:pt x="214" y="1281"/>
                    </a:lnTo>
                    <a:lnTo>
                      <a:pt x="168" y="1232"/>
                    </a:lnTo>
                    <a:lnTo>
                      <a:pt x="126" y="1183"/>
                    </a:lnTo>
                    <a:lnTo>
                      <a:pt x="91" y="1120"/>
                    </a:lnTo>
                    <a:lnTo>
                      <a:pt x="49" y="1040"/>
                    </a:lnTo>
                    <a:lnTo>
                      <a:pt x="21" y="952"/>
                    </a:lnTo>
                    <a:lnTo>
                      <a:pt x="4" y="858"/>
                    </a:lnTo>
                    <a:lnTo>
                      <a:pt x="0" y="767"/>
                    </a:lnTo>
                    <a:lnTo>
                      <a:pt x="0" y="665"/>
                    </a:lnTo>
                    <a:lnTo>
                      <a:pt x="7" y="564"/>
                    </a:lnTo>
                    <a:lnTo>
                      <a:pt x="18" y="501"/>
                    </a:lnTo>
                    <a:lnTo>
                      <a:pt x="35" y="434"/>
                    </a:lnTo>
                    <a:lnTo>
                      <a:pt x="65" y="368"/>
                    </a:lnTo>
                    <a:lnTo>
                      <a:pt x="86" y="318"/>
                    </a:lnTo>
                    <a:lnTo>
                      <a:pt x="107" y="270"/>
                    </a:lnTo>
                    <a:lnTo>
                      <a:pt x="130" y="228"/>
                    </a:lnTo>
                    <a:lnTo>
                      <a:pt x="154" y="194"/>
                    </a:lnTo>
                    <a:lnTo>
                      <a:pt x="193" y="147"/>
                    </a:lnTo>
                    <a:lnTo>
                      <a:pt x="235" y="110"/>
                    </a:lnTo>
                    <a:lnTo>
                      <a:pt x="283" y="76"/>
                    </a:lnTo>
                    <a:lnTo>
                      <a:pt x="333" y="47"/>
                    </a:lnTo>
                    <a:lnTo>
                      <a:pt x="385" y="26"/>
                    </a:lnTo>
                    <a:lnTo>
                      <a:pt x="443" y="11"/>
                    </a:lnTo>
                    <a:lnTo>
                      <a:pt x="495" y="0"/>
                    </a:lnTo>
                    <a:lnTo>
                      <a:pt x="553" y="0"/>
                    </a:lnTo>
                    <a:close/>
                  </a:path>
                </a:pathLst>
              </a:custGeom>
              <a:solidFill>
                <a:srgbClr val="CCFFFF"/>
              </a:solidFill>
              <a:ln w="19050">
                <a:solidFill>
                  <a:srgbClr val="FF00FF"/>
                </a:solidFill>
                <a:round/>
              </a:ln>
            </p:spPr>
            <p:txBody>
              <a:bodyPr/>
              <a:lstStyle/>
              <a:p>
                <a:endParaRPr lang="en-AU"/>
              </a:p>
            </p:txBody>
          </p:sp>
        </p:grpSp>
        <p:grpSp>
          <p:nvGrpSpPr>
            <p:cNvPr id="117" name="组合 116"/>
            <p:cNvGrpSpPr/>
            <p:nvPr/>
          </p:nvGrpSpPr>
          <p:grpSpPr bwMode="auto">
            <a:xfrm>
              <a:off x="1124807" y="3177319"/>
              <a:ext cx="2108200" cy="3687762"/>
              <a:chOff x="2271" y="1000"/>
              <a:chExt cx="1226" cy="2323"/>
            </a:xfrm>
          </p:grpSpPr>
          <p:sp>
            <p:nvSpPr>
              <p:cNvPr id="122" name="任意多边形 737386"/>
              <p:cNvSpPr>
                <a:spLocks noChangeArrowheads="1"/>
              </p:cNvSpPr>
              <p:nvPr/>
            </p:nvSpPr>
            <p:spPr bwMode="auto">
              <a:xfrm>
                <a:off x="2670" y="1532"/>
                <a:ext cx="39" cy="153"/>
              </a:xfrm>
              <a:custGeom>
                <a:avLst/>
                <a:gdLst>
                  <a:gd name="T0" fmla="*/ 0 w 48"/>
                  <a:gd name="T1" fmla="*/ 0 h 192"/>
                  <a:gd name="T2" fmla="*/ 11 w 48"/>
                  <a:gd name="T3" fmla="*/ 0 h 192"/>
                  <a:gd name="T4" fmla="*/ 11 w 48"/>
                  <a:gd name="T5" fmla="*/ 39 h 192"/>
                  <a:gd name="T6" fmla="*/ 0 w 48"/>
                  <a:gd name="T7" fmla="*/ 3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1"/>
                <a:srcRect/>
                <a:tile tx="0" ty="0" sx="100000" sy="100000" flip="none" algn="tl"/>
              </a:blipFill>
              <a:ln w="19050">
                <a:solidFill>
                  <a:schemeClr val="tx1"/>
                </a:solidFill>
                <a:round/>
              </a:ln>
            </p:spPr>
            <p:txBody>
              <a:bodyPr/>
              <a:lstStyle/>
              <a:p>
                <a:endParaRPr lang="en-AU"/>
              </a:p>
            </p:txBody>
          </p:sp>
          <p:sp>
            <p:nvSpPr>
              <p:cNvPr id="123" name="任意多边形 737387"/>
              <p:cNvSpPr>
                <a:spLocks noChangeArrowheads="1"/>
              </p:cNvSpPr>
              <p:nvPr/>
            </p:nvSpPr>
            <p:spPr bwMode="auto">
              <a:xfrm flipH="1">
                <a:off x="2883" y="1532"/>
                <a:ext cx="39" cy="153"/>
              </a:xfrm>
              <a:custGeom>
                <a:avLst/>
                <a:gdLst>
                  <a:gd name="T0" fmla="*/ 0 w 48"/>
                  <a:gd name="T1" fmla="*/ 0 h 192"/>
                  <a:gd name="T2" fmla="*/ 11 w 48"/>
                  <a:gd name="T3" fmla="*/ 0 h 192"/>
                  <a:gd name="T4" fmla="*/ 11 w 48"/>
                  <a:gd name="T5" fmla="*/ 39 h 192"/>
                  <a:gd name="T6" fmla="*/ 0 w 48"/>
                  <a:gd name="T7" fmla="*/ 3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1"/>
                <a:srcRect/>
                <a:tile tx="0" ty="0" sx="100000" sy="100000" flip="none" algn="tl"/>
              </a:blipFill>
              <a:ln w="19050">
                <a:solidFill>
                  <a:schemeClr val="tx1"/>
                </a:solidFill>
                <a:round/>
              </a:ln>
            </p:spPr>
            <p:txBody>
              <a:bodyPr/>
              <a:lstStyle/>
              <a:p>
                <a:endParaRPr lang="en-AU"/>
              </a:p>
            </p:txBody>
          </p:sp>
          <p:grpSp>
            <p:nvGrpSpPr>
              <p:cNvPr id="124" name="组合 737388"/>
              <p:cNvGrpSpPr/>
              <p:nvPr/>
            </p:nvGrpSpPr>
            <p:grpSpPr bwMode="auto">
              <a:xfrm>
                <a:off x="2271" y="1000"/>
                <a:ext cx="1226" cy="2323"/>
                <a:chOff x="2075" y="1008"/>
                <a:chExt cx="1226" cy="2323"/>
              </a:xfrm>
            </p:grpSpPr>
            <p:sp>
              <p:nvSpPr>
                <p:cNvPr id="125" name="任意多边形 737389"/>
                <p:cNvSpPr>
                  <a:spLocks noChangeArrowheads="1"/>
                </p:cNvSpPr>
                <p:nvPr/>
              </p:nvSpPr>
              <p:spPr bwMode="auto">
                <a:xfrm>
                  <a:off x="2603" y="2334"/>
                  <a:ext cx="382" cy="134"/>
                </a:xfrm>
                <a:custGeom>
                  <a:avLst/>
                  <a:gdLst>
                    <a:gd name="T0" fmla="*/ 0 w 546"/>
                    <a:gd name="T1" fmla="*/ 15 h 192"/>
                    <a:gd name="T2" fmla="*/ 45 w 546"/>
                    <a:gd name="T3" fmla="*/ 0 h 192"/>
                    <a:gd name="T4" fmla="*/ 0 60000 65536"/>
                    <a:gd name="T5" fmla="*/ 0 60000 65536"/>
                  </a:gdLst>
                  <a:ahLst/>
                  <a:cxnLst>
                    <a:cxn ang="T4">
                      <a:pos x="T0" y="T1"/>
                    </a:cxn>
                    <a:cxn ang="T5">
                      <a:pos x="T2" y="T3"/>
                    </a:cxn>
                  </a:cxnLst>
                  <a:rect l="0" t="0" r="r" b="b"/>
                  <a:pathLst>
                    <a:path w="546" h="192">
                      <a:moveTo>
                        <a:pt x="0" y="192"/>
                      </a:moveTo>
                      <a:lnTo>
                        <a:pt x="546" y="0"/>
                      </a:lnTo>
                    </a:path>
                  </a:pathLst>
                </a:custGeom>
                <a:noFill/>
                <a:ln w="3175">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26" name="文本框 737390"/>
                <p:cNvSpPr txBox="1">
                  <a:spLocks noChangeArrowheads="1"/>
                </p:cNvSpPr>
                <p:nvPr/>
              </p:nvSpPr>
              <p:spPr bwMode="auto">
                <a:xfrm>
                  <a:off x="2652" y="2226"/>
                  <a:ext cx="2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b="1">
                      <a:solidFill>
                        <a:srgbClr val="000000"/>
                      </a:solidFill>
                      <a:latin typeface="Times New Roman" panose="02020603050405020304" pitchFamily="18" charset="0"/>
                      <a:sym typeface="Symbol" panose="05050102010706020507" pitchFamily="18" charset="2"/>
                    </a:rPr>
                    <a:t>r</a:t>
                  </a:r>
                  <a:r>
                    <a:rPr lang="en-US" altLang="zh-CN" sz="1800" b="1" baseline="-25000">
                      <a:solidFill>
                        <a:srgbClr val="000000"/>
                      </a:solidFill>
                      <a:latin typeface="Times New Roman" panose="02020603050405020304" pitchFamily="18" charset="0"/>
                      <a:sym typeface="Symbol" panose="05050102010706020507" pitchFamily="18" charset="2"/>
                    </a:rPr>
                    <a:t>0</a:t>
                  </a:r>
                  <a:endParaRPr lang="en-US" altLang="zh-CN" sz="1800" b="1">
                    <a:solidFill>
                      <a:srgbClr val="000000"/>
                    </a:solidFill>
                    <a:latin typeface="Times New Roman" panose="02020603050405020304" pitchFamily="18" charset="0"/>
                  </a:endParaRPr>
                </a:p>
              </p:txBody>
            </p:sp>
            <p:sp>
              <p:nvSpPr>
                <p:cNvPr id="127" name="直接连接符 737391"/>
                <p:cNvSpPr>
                  <a:spLocks noChangeShapeType="1"/>
                </p:cNvSpPr>
                <p:nvPr/>
              </p:nvSpPr>
              <p:spPr bwMode="auto">
                <a:xfrm>
                  <a:off x="2604" y="1008"/>
                  <a:ext cx="0" cy="2323"/>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128" name="直接连接符 737392"/>
                <p:cNvSpPr>
                  <a:spLocks noChangeShapeType="1"/>
                </p:cNvSpPr>
                <p:nvPr/>
              </p:nvSpPr>
              <p:spPr bwMode="auto">
                <a:xfrm>
                  <a:off x="2075" y="2469"/>
                  <a:ext cx="1226" cy="0"/>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129" name="椭圆 737393"/>
                <p:cNvSpPr>
                  <a:spLocks noChangeArrowheads="1"/>
                </p:cNvSpPr>
                <p:nvPr/>
              </p:nvSpPr>
              <p:spPr bwMode="auto">
                <a:xfrm>
                  <a:off x="2201" y="2066"/>
                  <a:ext cx="805" cy="805"/>
                </a:xfrm>
                <a:prstGeom prst="ellipse">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 typeface="Arial" panose="020B0604020202020204" pitchFamily="34" charset="0"/>
                    <a:buNone/>
                  </a:pPr>
                  <a:endParaRPr lang="zh-CN" altLang="en-US" sz="2000">
                    <a:latin typeface="Times New Roman" panose="02020603050405020304" pitchFamily="18" charset="0"/>
                  </a:endParaRPr>
                </a:p>
              </p:txBody>
            </p:sp>
          </p:grpSp>
        </p:grpSp>
        <p:grpSp>
          <p:nvGrpSpPr>
            <p:cNvPr id="118" name="组合 117"/>
            <p:cNvGrpSpPr/>
            <p:nvPr/>
          </p:nvGrpSpPr>
          <p:grpSpPr bwMode="auto">
            <a:xfrm>
              <a:off x="2031269" y="5177569"/>
              <a:ext cx="1127798" cy="1033462"/>
              <a:chOff x="2798" y="2260"/>
              <a:chExt cx="656" cy="651"/>
            </a:xfrm>
          </p:grpSpPr>
          <p:sp>
            <p:nvSpPr>
              <p:cNvPr id="120" name="任意多边形 737395"/>
              <p:cNvSpPr>
                <a:spLocks noChangeArrowheads="1"/>
              </p:cNvSpPr>
              <p:nvPr/>
            </p:nvSpPr>
            <p:spPr bwMode="auto">
              <a:xfrm>
                <a:off x="2798" y="2260"/>
                <a:ext cx="485" cy="651"/>
              </a:xfrm>
              <a:custGeom>
                <a:avLst/>
                <a:gdLst>
                  <a:gd name="T0" fmla="*/ 0 w 21600"/>
                  <a:gd name="T1" fmla="*/ 0 h 29063"/>
                  <a:gd name="T2" fmla="*/ 0 w 21600"/>
                  <a:gd name="T3" fmla="*/ 0 h 29063"/>
                  <a:gd name="T4" fmla="*/ 0 w 21600"/>
                  <a:gd name="T5" fmla="*/ 0 h 29063"/>
                  <a:gd name="T6" fmla="*/ 0 w 21600"/>
                  <a:gd name="T7" fmla="*/ 0 h 29063"/>
                  <a:gd name="T8" fmla="*/ 0 w 21600"/>
                  <a:gd name="T9" fmla="*/ 0 h 29063"/>
                  <a:gd name="T10" fmla="*/ 0 w 21600"/>
                  <a:gd name="T11" fmla="*/ 0 h 29063"/>
                  <a:gd name="T12" fmla="*/ 0 w 21600"/>
                  <a:gd name="T13" fmla="*/ 0 h 290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9063" fill="none">
                    <a:moveTo>
                      <a:pt x="19629" y="0"/>
                    </a:moveTo>
                    <a:cubicBezTo>
                      <a:pt x="20895" y="2740"/>
                      <a:pt x="21599" y="5794"/>
                      <a:pt x="21599" y="9012"/>
                    </a:cubicBezTo>
                    <a:cubicBezTo>
                      <a:pt x="21599" y="18101"/>
                      <a:pt x="15986" y="25878"/>
                      <a:pt x="8040" y="29066"/>
                    </a:cubicBezTo>
                  </a:path>
                  <a:path w="21600" h="29063" stroke="0">
                    <a:moveTo>
                      <a:pt x="19629" y="0"/>
                    </a:moveTo>
                    <a:cubicBezTo>
                      <a:pt x="20895" y="2740"/>
                      <a:pt x="21599" y="5794"/>
                      <a:pt x="21599" y="9012"/>
                    </a:cubicBezTo>
                    <a:cubicBezTo>
                      <a:pt x="21599" y="18101"/>
                      <a:pt x="15986" y="25878"/>
                      <a:pt x="8040" y="29066"/>
                    </a:cubicBezTo>
                    <a:lnTo>
                      <a:pt x="0" y="9012"/>
                    </a:lnTo>
                    <a:lnTo>
                      <a:pt x="19629" y="0"/>
                    </a:lnTo>
                    <a:close/>
                  </a:path>
                </a:pathLst>
              </a:custGeom>
              <a:noFill/>
              <a:ln w="12700">
                <a:solidFill>
                  <a:srgbClr val="000000"/>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21" name="文本框 737396"/>
              <p:cNvSpPr txBox="1">
                <a:spLocks noChangeArrowheads="1"/>
              </p:cNvSpPr>
              <p:nvPr/>
            </p:nvSpPr>
            <p:spPr bwMode="auto">
              <a:xfrm>
                <a:off x="3256" y="2580"/>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800" b="1" dirty="0">
                    <a:solidFill>
                      <a:srgbClr val="000000"/>
                    </a:solidFill>
                    <a:latin typeface="Times New Roman" panose="02020603050405020304" pitchFamily="18" charset="0"/>
                    <a:sym typeface="Symbol" panose="05050102010706020507" pitchFamily="18" charset="2"/>
                  </a:rPr>
                  <a:t></a:t>
                </a:r>
                <a:endParaRPr lang="zh-CN" altLang="en-US" sz="1800" b="1" dirty="0">
                  <a:solidFill>
                    <a:srgbClr val="000000"/>
                  </a:solidFill>
                  <a:latin typeface="Times New Roman" panose="02020603050405020304" pitchFamily="18" charset="0"/>
                </a:endParaRPr>
              </a:p>
            </p:txBody>
          </p:sp>
        </p:grpSp>
        <p:cxnSp>
          <p:nvCxnSpPr>
            <p:cNvPr id="119" name="直接箭头连接符 118"/>
            <p:cNvCxnSpPr/>
            <p:nvPr/>
          </p:nvCxnSpPr>
          <p:spPr bwMode="auto">
            <a:xfrm>
              <a:off x="2347906" y="3629399"/>
              <a:ext cx="0" cy="880189"/>
            </a:xfrm>
            <a:prstGeom prst="straightConnector1">
              <a:avLst/>
            </a:prstGeom>
            <a:solidFill>
              <a:schemeClr val="accent1"/>
            </a:solidFill>
            <a:ln w="25400" cap="flat" cmpd="sng" algn="ctr">
              <a:solidFill>
                <a:srgbClr val="FF0000"/>
              </a:solidFill>
              <a:prstDash val="solid"/>
              <a:round/>
              <a:headEnd type="triangl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0" name="组合 139"/>
          <p:cNvGrpSpPr/>
          <p:nvPr/>
        </p:nvGrpSpPr>
        <p:grpSpPr bwMode="auto">
          <a:xfrm>
            <a:off x="1829282" y="1517875"/>
            <a:ext cx="4479925" cy="1570037"/>
            <a:chOff x="3136" y="1003"/>
            <a:chExt cx="2822" cy="989"/>
          </a:xfrm>
        </p:grpSpPr>
        <p:sp>
          <p:nvSpPr>
            <p:cNvPr id="141" name="任意多边形 739354"/>
            <p:cNvSpPr>
              <a:spLocks noChangeArrowheads="1"/>
            </p:cNvSpPr>
            <p:nvPr/>
          </p:nvSpPr>
          <p:spPr bwMode="auto">
            <a:xfrm>
              <a:off x="4573" y="1276"/>
              <a:ext cx="642" cy="518"/>
            </a:xfrm>
            <a:custGeom>
              <a:avLst/>
              <a:gdLst>
                <a:gd name="T0" fmla="*/ 0 w 963"/>
                <a:gd name="T1" fmla="*/ 0 h 654"/>
                <a:gd name="T2" fmla="*/ 57 w 963"/>
                <a:gd name="T3" fmla="*/ 128 h 654"/>
                <a:gd name="T4" fmla="*/ 0 60000 65536"/>
                <a:gd name="T5" fmla="*/ 0 60000 65536"/>
              </a:gdLst>
              <a:ahLst/>
              <a:cxnLst>
                <a:cxn ang="T4">
                  <a:pos x="T0" y="T1"/>
                </a:cxn>
                <a:cxn ang="T5">
                  <a:pos x="T2" y="T3"/>
                </a:cxn>
              </a:cxnLst>
              <a:rect l="0" t="0" r="r" b="b"/>
              <a:pathLst>
                <a:path w="963" h="654">
                  <a:moveTo>
                    <a:pt x="0" y="0"/>
                  </a:moveTo>
                  <a:lnTo>
                    <a:pt x="963" y="65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142" name="组合 739355"/>
            <p:cNvGrpSpPr/>
            <p:nvPr/>
          </p:nvGrpSpPr>
          <p:grpSpPr bwMode="auto">
            <a:xfrm>
              <a:off x="3136" y="1003"/>
              <a:ext cx="2822" cy="989"/>
              <a:chOff x="3136" y="1003"/>
              <a:chExt cx="2822" cy="989"/>
            </a:xfrm>
          </p:grpSpPr>
          <p:sp>
            <p:nvSpPr>
              <p:cNvPr id="143" name="直接连接符 739356"/>
              <p:cNvSpPr>
                <a:spLocks noChangeShapeType="1"/>
              </p:cNvSpPr>
              <p:nvPr/>
            </p:nvSpPr>
            <p:spPr bwMode="auto">
              <a:xfrm flipV="1">
                <a:off x="3369" y="1082"/>
                <a:ext cx="0" cy="835"/>
              </a:xfrm>
              <a:prstGeom prst="line">
                <a:avLst/>
              </a:prstGeom>
              <a:noFill/>
              <a:ln w="3175">
                <a:solidFill>
                  <a:srgbClr val="00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144" name="任意多边形 739357"/>
              <p:cNvSpPr>
                <a:spLocks noChangeArrowheads="1"/>
              </p:cNvSpPr>
              <p:nvPr/>
            </p:nvSpPr>
            <p:spPr bwMode="auto">
              <a:xfrm>
                <a:off x="3260" y="1794"/>
                <a:ext cx="2698" cy="0"/>
              </a:xfrm>
              <a:custGeom>
                <a:avLst/>
                <a:gdLst>
                  <a:gd name="T0" fmla="*/ 0 w 3225"/>
                  <a:gd name="T1" fmla="*/ 0 h 1"/>
                  <a:gd name="T2" fmla="*/ 924 w 3225"/>
                  <a:gd name="T3" fmla="*/ 1 h 1"/>
                  <a:gd name="T4" fmla="*/ 0 60000 65536"/>
                  <a:gd name="T5" fmla="*/ 0 60000 65536"/>
                </a:gdLst>
                <a:ahLst/>
                <a:cxnLst>
                  <a:cxn ang="T4">
                    <a:pos x="T0" y="T1"/>
                  </a:cxn>
                  <a:cxn ang="T5">
                    <a:pos x="T2" y="T3"/>
                  </a:cxn>
                </a:cxnLst>
                <a:rect l="0" t="0" r="r" b="b"/>
                <a:pathLst>
                  <a:path w="3225" h="1">
                    <a:moveTo>
                      <a:pt x="0" y="0"/>
                    </a:moveTo>
                    <a:lnTo>
                      <a:pt x="3225" y="1"/>
                    </a:lnTo>
                  </a:path>
                </a:pathLst>
              </a:custGeom>
              <a:noFill/>
              <a:ln w="3175">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45" name="文本框 739358"/>
              <p:cNvSpPr txBox="1">
                <a:spLocks noChangeArrowheads="1"/>
              </p:cNvSpPr>
              <p:nvPr/>
            </p:nvSpPr>
            <p:spPr bwMode="auto">
              <a:xfrm>
                <a:off x="3208" y="1003"/>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a:solidFill>
                      <a:srgbClr val="000000"/>
                    </a:solidFill>
                    <a:latin typeface="Times New Roman" panose="02020603050405020304" pitchFamily="18" charset="0"/>
                  </a:rPr>
                  <a:t>s</a:t>
                </a:r>
                <a:endParaRPr lang="en-US" altLang="zh-CN" sz="1800">
                  <a:solidFill>
                    <a:srgbClr val="000000"/>
                  </a:solidFill>
                  <a:latin typeface="Times New Roman" panose="02020603050405020304" pitchFamily="18" charset="0"/>
                </a:endParaRPr>
              </a:p>
            </p:txBody>
          </p:sp>
          <p:sp>
            <p:nvSpPr>
              <p:cNvPr id="146" name="文本框 739360"/>
              <p:cNvSpPr txBox="1">
                <a:spLocks noChangeArrowheads="1"/>
              </p:cNvSpPr>
              <p:nvPr/>
            </p:nvSpPr>
            <p:spPr bwMode="auto">
              <a:xfrm>
                <a:off x="3224" y="17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a:latin typeface="Times New Roman" panose="02020603050405020304" pitchFamily="18" charset="0"/>
                  </a:rPr>
                  <a:t>0</a:t>
                </a:r>
                <a:endParaRPr lang="zh-CN" altLang="zh-CN" sz="1400">
                  <a:latin typeface="Times New Roman" panose="02020603050405020304" pitchFamily="18" charset="0"/>
                </a:endParaRPr>
              </a:p>
            </p:txBody>
          </p:sp>
          <p:sp>
            <p:nvSpPr>
              <p:cNvPr id="147" name="任意多边形 739361"/>
              <p:cNvSpPr>
                <a:spLocks noChangeArrowheads="1"/>
              </p:cNvSpPr>
              <p:nvPr/>
            </p:nvSpPr>
            <p:spPr bwMode="auto">
              <a:xfrm>
                <a:off x="4171" y="1278"/>
                <a:ext cx="1" cy="639"/>
              </a:xfrm>
              <a:custGeom>
                <a:avLst/>
                <a:gdLst>
                  <a:gd name="T0" fmla="*/ 0 w 1"/>
                  <a:gd name="T1" fmla="*/ 0 h 1488"/>
                  <a:gd name="T2" fmla="*/ 0 w 1"/>
                  <a:gd name="T3" fmla="*/ 4 h 1488"/>
                  <a:gd name="T4" fmla="*/ 0 60000 65536"/>
                  <a:gd name="T5" fmla="*/ 0 60000 65536"/>
                </a:gdLst>
                <a:ahLst/>
                <a:cxnLst>
                  <a:cxn ang="T4">
                    <a:pos x="T0" y="T1"/>
                  </a:cxn>
                  <a:cxn ang="T5">
                    <a:pos x="T2" y="T3"/>
                  </a:cxn>
                </a:cxnLst>
                <a:rect l="0" t="0" r="r" b="b"/>
                <a:pathLst>
                  <a:path w="1" h="1488">
                    <a:moveTo>
                      <a:pt x="0" y="0"/>
                    </a:moveTo>
                    <a:lnTo>
                      <a:pt x="0" y="1488"/>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48" name="直接连接符 739362"/>
              <p:cNvSpPr>
                <a:spLocks noChangeShapeType="1"/>
              </p:cNvSpPr>
              <p:nvPr/>
            </p:nvSpPr>
            <p:spPr bwMode="auto">
              <a:xfrm>
                <a:off x="3369" y="1904"/>
                <a:ext cx="80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149" name="任意多边形 739363"/>
              <p:cNvSpPr>
                <a:spLocks noChangeArrowheads="1"/>
              </p:cNvSpPr>
              <p:nvPr/>
            </p:nvSpPr>
            <p:spPr bwMode="auto">
              <a:xfrm>
                <a:off x="4573" y="1278"/>
                <a:ext cx="1" cy="661"/>
              </a:xfrm>
              <a:custGeom>
                <a:avLst/>
                <a:gdLst>
                  <a:gd name="T0" fmla="*/ 0 w 1"/>
                  <a:gd name="T1" fmla="*/ 0 h 835"/>
                  <a:gd name="T2" fmla="*/ 1 w 1"/>
                  <a:gd name="T3" fmla="*/ 163 h 835"/>
                  <a:gd name="T4" fmla="*/ 0 60000 65536"/>
                  <a:gd name="T5" fmla="*/ 0 60000 65536"/>
                </a:gdLst>
                <a:ahLst/>
                <a:cxnLst>
                  <a:cxn ang="T4">
                    <a:pos x="T0" y="T1"/>
                  </a:cxn>
                  <a:cxn ang="T5">
                    <a:pos x="T2" y="T3"/>
                  </a:cxn>
                </a:cxnLst>
                <a:rect l="0" t="0" r="r" b="b"/>
                <a:pathLst>
                  <a:path w="1" h="835">
                    <a:moveTo>
                      <a:pt x="0" y="0"/>
                    </a:moveTo>
                    <a:lnTo>
                      <a:pt x="1" y="835"/>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50" name="任意多边形 739364"/>
              <p:cNvSpPr>
                <a:spLocks noChangeArrowheads="1"/>
              </p:cNvSpPr>
              <p:nvPr/>
            </p:nvSpPr>
            <p:spPr bwMode="auto">
              <a:xfrm>
                <a:off x="4573" y="1904"/>
                <a:ext cx="638" cy="0"/>
              </a:xfrm>
              <a:custGeom>
                <a:avLst/>
                <a:gdLst>
                  <a:gd name="T0" fmla="*/ 219 w 762"/>
                  <a:gd name="T1" fmla="*/ 1 h 1"/>
                  <a:gd name="T2" fmla="*/ 0 w 762"/>
                  <a:gd name="T3" fmla="*/ 0 h 1"/>
                  <a:gd name="T4" fmla="*/ 0 60000 65536"/>
                  <a:gd name="T5" fmla="*/ 0 60000 65536"/>
                </a:gdLst>
                <a:ahLst/>
                <a:cxnLst>
                  <a:cxn ang="T4">
                    <a:pos x="T0" y="T1"/>
                  </a:cxn>
                  <a:cxn ang="T5">
                    <a:pos x="T2" y="T3"/>
                  </a:cxn>
                </a:cxnLst>
                <a:rect l="0" t="0" r="r" b="b"/>
                <a:pathLst>
                  <a:path w="762" h="1">
                    <a:moveTo>
                      <a:pt x="762" y="1"/>
                    </a:moveTo>
                    <a:lnTo>
                      <a:pt x="0"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51" name="任意多边形 739365"/>
              <p:cNvSpPr>
                <a:spLocks noChangeArrowheads="1"/>
              </p:cNvSpPr>
              <p:nvPr/>
            </p:nvSpPr>
            <p:spPr bwMode="auto">
              <a:xfrm>
                <a:off x="5213" y="1794"/>
                <a:ext cx="1" cy="129"/>
              </a:xfrm>
              <a:custGeom>
                <a:avLst/>
                <a:gdLst>
                  <a:gd name="T0" fmla="*/ 0 w 1"/>
                  <a:gd name="T1" fmla="*/ 0 h 163"/>
                  <a:gd name="T2" fmla="*/ 1 w 1"/>
                  <a:gd name="T3" fmla="*/ 32 h 163"/>
                  <a:gd name="T4" fmla="*/ 0 60000 65536"/>
                  <a:gd name="T5" fmla="*/ 0 60000 65536"/>
                </a:gdLst>
                <a:ahLst/>
                <a:cxnLst>
                  <a:cxn ang="T4">
                    <a:pos x="T0" y="T1"/>
                  </a:cxn>
                  <a:cxn ang="T5">
                    <a:pos x="T2" y="T3"/>
                  </a:cxn>
                </a:cxnLst>
                <a:rect l="0" t="0" r="r" b="b"/>
                <a:pathLst>
                  <a:path w="1" h="163">
                    <a:moveTo>
                      <a:pt x="0" y="0"/>
                    </a:moveTo>
                    <a:lnTo>
                      <a:pt x="1" y="163"/>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52" name="直接连接符 739366"/>
              <p:cNvSpPr>
                <a:spLocks noChangeShapeType="1"/>
              </p:cNvSpPr>
              <p:nvPr/>
            </p:nvSpPr>
            <p:spPr bwMode="auto">
              <a:xfrm>
                <a:off x="3275" y="1278"/>
                <a:ext cx="1057"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a:p>
            </p:txBody>
          </p:sp>
          <p:sp>
            <p:nvSpPr>
              <p:cNvPr id="153" name="直接连接符 739367"/>
              <p:cNvSpPr>
                <a:spLocks noChangeShapeType="1"/>
              </p:cNvSpPr>
              <p:nvPr/>
            </p:nvSpPr>
            <p:spPr bwMode="auto">
              <a:xfrm>
                <a:off x="3315" y="1278"/>
                <a:ext cx="0" cy="516"/>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dirty="0"/>
              </a:p>
            </p:txBody>
          </p:sp>
          <p:sp>
            <p:nvSpPr>
              <p:cNvPr id="154" name="文本框 739368"/>
              <p:cNvSpPr txBox="1">
                <a:spLocks noChangeArrowheads="1"/>
              </p:cNvSpPr>
              <p:nvPr/>
            </p:nvSpPr>
            <p:spPr bwMode="auto">
              <a:xfrm rot="-5400000">
                <a:off x="3146" y="141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Times New Roman" panose="02020603050405020304" pitchFamily="18" charset="0"/>
                  </a:rPr>
                  <a:t>h</a:t>
                </a:r>
                <a:endParaRPr lang="en-US" altLang="zh-CN" sz="1400" dirty="0">
                  <a:latin typeface="Times New Roman" panose="02020603050405020304" pitchFamily="18" charset="0"/>
                </a:endParaRPr>
              </a:p>
            </p:txBody>
          </p:sp>
          <p:sp>
            <p:nvSpPr>
              <p:cNvPr id="155" name="任意多边形 739369"/>
              <p:cNvSpPr>
                <a:spLocks noChangeArrowheads="1"/>
              </p:cNvSpPr>
              <p:nvPr/>
            </p:nvSpPr>
            <p:spPr bwMode="auto">
              <a:xfrm>
                <a:off x="3369" y="1277"/>
                <a:ext cx="802" cy="517"/>
              </a:xfrm>
              <a:custGeom>
                <a:avLst/>
                <a:gdLst>
                  <a:gd name="T0" fmla="*/ 0 w 1442"/>
                  <a:gd name="T1" fmla="*/ 3 h 1203"/>
                  <a:gd name="T2" fmla="*/ 2 w 1442"/>
                  <a:gd name="T3" fmla="*/ 3 h 1203"/>
                  <a:gd name="T4" fmla="*/ 4 w 1442"/>
                  <a:gd name="T5" fmla="*/ 3 h 1203"/>
                  <a:gd name="T6" fmla="*/ 6 w 1442"/>
                  <a:gd name="T7" fmla="*/ 3 h 1203"/>
                  <a:gd name="T8" fmla="*/ 8 w 1442"/>
                  <a:gd name="T9" fmla="*/ 3 h 1203"/>
                  <a:gd name="T10" fmla="*/ 10 w 1442"/>
                  <a:gd name="T11" fmla="*/ 2 h 1203"/>
                  <a:gd name="T12" fmla="*/ 12 w 1442"/>
                  <a:gd name="T13" fmla="*/ 2 h 1203"/>
                  <a:gd name="T14" fmla="*/ 14 w 1442"/>
                  <a:gd name="T15" fmla="*/ 1 h 1203"/>
                  <a:gd name="T16" fmla="*/ 16 w 1442"/>
                  <a:gd name="T17" fmla="*/ 0 h 1203"/>
                  <a:gd name="T18" fmla="*/ 18 w 1442"/>
                  <a:gd name="T19" fmla="*/ 0 h 1203"/>
                  <a:gd name="T20" fmla="*/ 20 w 1442"/>
                  <a:gd name="T21" fmla="*/ 0 h 1203"/>
                  <a:gd name="T22" fmla="*/ 22 w 1442"/>
                  <a:gd name="T23" fmla="*/ 0 h 1203"/>
                  <a:gd name="T24" fmla="*/ 24 w 1442"/>
                  <a:gd name="T25" fmla="*/ 0 h 1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2" h="1203">
                    <a:moveTo>
                      <a:pt x="0" y="1202"/>
                    </a:moveTo>
                    <a:cubicBezTo>
                      <a:pt x="20" y="1201"/>
                      <a:pt x="82" y="1203"/>
                      <a:pt x="122" y="1198"/>
                    </a:cubicBezTo>
                    <a:cubicBezTo>
                      <a:pt x="162" y="1193"/>
                      <a:pt x="202" y="1188"/>
                      <a:pt x="242" y="1171"/>
                    </a:cubicBezTo>
                    <a:cubicBezTo>
                      <a:pt x="282" y="1154"/>
                      <a:pt x="322" y="1129"/>
                      <a:pt x="362" y="1097"/>
                    </a:cubicBezTo>
                    <a:cubicBezTo>
                      <a:pt x="402" y="1065"/>
                      <a:pt x="442" y="1027"/>
                      <a:pt x="482" y="977"/>
                    </a:cubicBezTo>
                    <a:cubicBezTo>
                      <a:pt x="522" y="927"/>
                      <a:pt x="562" y="860"/>
                      <a:pt x="602" y="797"/>
                    </a:cubicBezTo>
                    <a:cubicBezTo>
                      <a:pt x="642" y="734"/>
                      <a:pt x="685" y="664"/>
                      <a:pt x="725" y="599"/>
                    </a:cubicBezTo>
                    <a:cubicBezTo>
                      <a:pt x="765" y="534"/>
                      <a:pt x="803" y="465"/>
                      <a:pt x="842" y="404"/>
                    </a:cubicBezTo>
                    <a:cubicBezTo>
                      <a:pt x="881" y="343"/>
                      <a:pt x="922" y="278"/>
                      <a:pt x="962" y="230"/>
                    </a:cubicBezTo>
                    <a:cubicBezTo>
                      <a:pt x="1002" y="182"/>
                      <a:pt x="1042" y="146"/>
                      <a:pt x="1082" y="113"/>
                    </a:cubicBezTo>
                    <a:cubicBezTo>
                      <a:pt x="1122" y="80"/>
                      <a:pt x="1162" y="50"/>
                      <a:pt x="1202" y="32"/>
                    </a:cubicBezTo>
                    <a:cubicBezTo>
                      <a:pt x="1242" y="14"/>
                      <a:pt x="1282" y="10"/>
                      <a:pt x="1322" y="5"/>
                    </a:cubicBezTo>
                    <a:cubicBezTo>
                      <a:pt x="1362" y="0"/>
                      <a:pt x="1417" y="3"/>
                      <a:pt x="1442" y="2"/>
                    </a:cubicBezTo>
                  </a:path>
                </a:pathLst>
              </a:custGeom>
              <a:noFill/>
              <a:ln w="1905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56" name="任意多边形 739370"/>
              <p:cNvSpPr>
                <a:spLocks noChangeArrowheads="1"/>
              </p:cNvSpPr>
              <p:nvPr/>
            </p:nvSpPr>
            <p:spPr bwMode="auto">
              <a:xfrm>
                <a:off x="4171" y="1275"/>
                <a:ext cx="405" cy="1"/>
              </a:xfrm>
              <a:custGeom>
                <a:avLst/>
                <a:gdLst>
                  <a:gd name="T0" fmla="*/ 0 w 483"/>
                  <a:gd name="T1" fmla="*/ 0 h 1"/>
                  <a:gd name="T2" fmla="*/ 141 w 483"/>
                  <a:gd name="T3" fmla="*/ 1 h 1"/>
                  <a:gd name="T4" fmla="*/ 0 60000 65536"/>
                  <a:gd name="T5" fmla="*/ 0 60000 65536"/>
                </a:gdLst>
                <a:ahLst/>
                <a:cxnLst>
                  <a:cxn ang="T4">
                    <a:pos x="T0" y="T1"/>
                  </a:cxn>
                  <a:cxn ang="T5">
                    <a:pos x="T2" y="T3"/>
                  </a:cxn>
                </a:cxnLst>
                <a:rect l="0" t="0" r="r" b="b"/>
                <a:pathLst>
                  <a:path w="483" h="1">
                    <a:moveTo>
                      <a:pt x="0" y="0"/>
                    </a:moveTo>
                    <a:lnTo>
                      <a:pt x="483" y="1"/>
                    </a:lnTo>
                  </a:path>
                </a:pathLst>
              </a:custGeom>
              <a:noFill/>
              <a:ln w="19050">
                <a:solidFill>
                  <a:srgbClr val="FF99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57" name="直接连接符 739371"/>
              <p:cNvSpPr>
                <a:spLocks noChangeShapeType="1"/>
              </p:cNvSpPr>
              <p:nvPr/>
            </p:nvSpPr>
            <p:spPr bwMode="auto">
              <a:xfrm>
                <a:off x="5805" y="1794"/>
                <a:ext cx="0" cy="11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158" name="任意多边形 739372"/>
              <p:cNvSpPr>
                <a:spLocks noChangeArrowheads="1"/>
              </p:cNvSpPr>
              <p:nvPr/>
            </p:nvSpPr>
            <p:spPr bwMode="auto">
              <a:xfrm>
                <a:off x="4159" y="1904"/>
                <a:ext cx="411" cy="0"/>
              </a:xfrm>
              <a:custGeom>
                <a:avLst/>
                <a:gdLst>
                  <a:gd name="T0" fmla="*/ 0 w 492"/>
                  <a:gd name="T1" fmla="*/ 0 h 1"/>
                  <a:gd name="T2" fmla="*/ 140 w 492"/>
                  <a:gd name="T3" fmla="*/ 0 h 1"/>
                  <a:gd name="T4" fmla="*/ 0 60000 65536"/>
                  <a:gd name="T5" fmla="*/ 0 60000 65536"/>
                </a:gdLst>
                <a:ahLst/>
                <a:cxnLst>
                  <a:cxn ang="T4">
                    <a:pos x="T0" y="T1"/>
                  </a:cxn>
                  <a:cxn ang="T5">
                    <a:pos x="T2" y="T3"/>
                  </a:cxn>
                </a:cxnLst>
                <a:rect l="0" t="0" r="r" b="b"/>
                <a:pathLst>
                  <a:path w="492" h="1">
                    <a:moveTo>
                      <a:pt x="0" y="0"/>
                    </a:moveTo>
                    <a:lnTo>
                      <a:pt x="492"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59" name="直接连接符 739373"/>
              <p:cNvSpPr>
                <a:spLocks noChangeShapeType="1"/>
              </p:cNvSpPr>
              <p:nvPr/>
            </p:nvSpPr>
            <p:spPr bwMode="auto">
              <a:xfrm>
                <a:off x="5213" y="1904"/>
                <a:ext cx="59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dirty="0"/>
              </a:p>
            </p:txBody>
          </p:sp>
          <p:graphicFrame>
            <p:nvGraphicFramePr>
              <p:cNvPr id="160" name="对象 739374"/>
              <p:cNvGraphicFramePr/>
              <p:nvPr/>
            </p:nvGraphicFramePr>
            <p:xfrm>
              <a:off x="3672" y="1823"/>
              <a:ext cx="345" cy="153"/>
            </p:xfrm>
            <a:graphic>
              <a:graphicData uri="http://schemas.openxmlformats.org/presentationml/2006/ole">
                <mc:AlternateContent xmlns:mc="http://schemas.openxmlformats.org/markup-compatibility/2006">
                  <mc:Choice xmlns:v="urn:schemas-microsoft-com:vml" Requires="v">
                    <p:oleObj spid="_x0000_s230450" name="" r:id="rId2" imgW="316865" imgH="177800" progId="Equation.3">
                      <p:embed/>
                    </p:oleObj>
                  </mc:Choice>
                  <mc:Fallback>
                    <p:oleObj name="" r:id="rId2" imgW="316865" imgH="177800" progId="Equation.3">
                      <p:embed/>
                      <p:pic>
                        <p:nvPicPr>
                          <p:cNvPr id="0" name="对象 73937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2" y="1823"/>
                            <a:ext cx="34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1" name="对象 739375"/>
              <p:cNvGraphicFramePr/>
              <p:nvPr/>
            </p:nvGraphicFramePr>
            <p:xfrm>
              <a:off x="4270" y="1811"/>
              <a:ext cx="239" cy="179"/>
            </p:xfrm>
            <a:graphic>
              <a:graphicData uri="http://schemas.openxmlformats.org/presentationml/2006/ole">
                <mc:AlternateContent xmlns:mc="http://schemas.openxmlformats.org/markup-compatibility/2006">
                  <mc:Choice xmlns:v="urn:schemas-microsoft-com:vml" Requires="v">
                    <p:oleObj spid="_x0000_s230451" name="公式" r:id="rId4" imgW="5791200" imgH="4876800" progId="Equation.3">
                      <p:embed/>
                    </p:oleObj>
                  </mc:Choice>
                  <mc:Fallback>
                    <p:oleObj name="公式" r:id="rId4" imgW="5791200" imgH="4876800" progId="Equation.3">
                      <p:embed/>
                      <p:pic>
                        <p:nvPicPr>
                          <p:cNvPr id="0" name="对象 739375"/>
                          <p:cNvPicPr>
                            <a:picLocks noChangeArrowheads="1"/>
                          </p:cNvPicPr>
                          <p:nvPr/>
                        </p:nvPicPr>
                        <p:blipFill>
                          <a:blip r:embed="rId5"/>
                          <a:srcRect/>
                          <a:stretch>
                            <a:fillRect/>
                          </a:stretch>
                        </p:blipFill>
                        <p:spPr bwMode="auto">
                          <a:xfrm>
                            <a:off x="4270" y="1811"/>
                            <a:ext cx="23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2" name="对象 739376"/>
              <p:cNvGraphicFramePr/>
              <p:nvPr/>
            </p:nvGraphicFramePr>
            <p:xfrm>
              <a:off x="4835" y="1829"/>
              <a:ext cx="242" cy="161"/>
            </p:xfrm>
            <a:graphic>
              <a:graphicData uri="http://schemas.openxmlformats.org/presentationml/2006/ole">
                <mc:AlternateContent xmlns:mc="http://schemas.openxmlformats.org/markup-compatibility/2006">
                  <mc:Choice xmlns:v="urn:schemas-microsoft-com:vml" Requires="v">
                    <p:oleObj spid="_x0000_s230452" name="" r:id="rId6" imgW="241300" imgH="203200" progId="Equation.3">
                      <p:embed/>
                    </p:oleObj>
                  </mc:Choice>
                  <mc:Fallback>
                    <p:oleObj name="" r:id="rId6" imgW="241300" imgH="203200" progId="Equation.3">
                      <p:embed/>
                      <p:pic>
                        <p:nvPicPr>
                          <p:cNvPr id="0" name="对象 73937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5" y="1829"/>
                            <a:ext cx="242"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 name="对象 739377"/>
              <p:cNvGraphicFramePr/>
              <p:nvPr/>
            </p:nvGraphicFramePr>
            <p:xfrm>
              <a:off x="5444" y="1822"/>
              <a:ext cx="254" cy="170"/>
            </p:xfrm>
            <a:graphic>
              <a:graphicData uri="http://schemas.openxmlformats.org/presentationml/2006/ole">
                <mc:AlternateContent xmlns:mc="http://schemas.openxmlformats.org/markup-compatibility/2006">
                  <mc:Choice xmlns:v="urn:schemas-microsoft-com:vml" Requires="v">
                    <p:oleObj spid="_x0000_s230453" name="" r:id="rId8" imgW="241300" imgH="203200" progId="Equation.3">
                      <p:embed/>
                    </p:oleObj>
                  </mc:Choice>
                  <mc:Fallback>
                    <p:oleObj name="" r:id="rId8" imgW="241300" imgH="203200" progId="Equation.3">
                      <p:embed/>
                      <p:pic>
                        <p:nvPicPr>
                          <p:cNvPr id="0" name="对象 73937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4" y="1822"/>
                            <a:ext cx="25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4" name="任意多边形 739378"/>
              <p:cNvSpPr>
                <a:spLocks noChangeArrowheads="1"/>
              </p:cNvSpPr>
              <p:nvPr/>
            </p:nvSpPr>
            <p:spPr bwMode="auto">
              <a:xfrm>
                <a:off x="5213" y="1797"/>
                <a:ext cx="592" cy="0"/>
              </a:xfrm>
              <a:custGeom>
                <a:avLst/>
                <a:gdLst>
                  <a:gd name="T0" fmla="*/ 0 w 708"/>
                  <a:gd name="T1" fmla="*/ 0 h 1"/>
                  <a:gd name="T2" fmla="*/ 202 w 708"/>
                  <a:gd name="T3" fmla="*/ 1 h 1"/>
                  <a:gd name="T4" fmla="*/ 0 60000 65536"/>
                  <a:gd name="T5" fmla="*/ 0 60000 65536"/>
                </a:gdLst>
                <a:ahLst/>
                <a:cxnLst>
                  <a:cxn ang="T4">
                    <a:pos x="T0" y="T1"/>
                  </a:cxn>
                  <a:cxn ang="T5">
                    <a:pos x="T2" y="T3"/>
                  </a:cxn>
                </a:cxnLst>
                <a:rect l="0" t="0" r="r" b="b"/>
                <a:pathLst>
                  <a:path w="708" h="1">
                    <a:moveTo>
                      <a:pt x="0" y="0"/>
                    </a:moveTo>
                    <a:lnTo>
                      <a:pt x="708" y="1"/>
                    </a:ln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mc:AlternateContent xmlns:mc="http://schemas.openxmlformats.org/markup-compatibility/2006">
        <mc:Choice xmlns:a14="http://schemas.microsoft.com/office/drawing/2010/main" Requires="a14">
          <p:sp>
            <p:nvSpPr>
              <p:cNvPr id="165" name="矩形 164"/>
              <p:cNvSpPr/>
              <p:nvPr/>
            </p:nvSpPr>
            <p:spPr>
              <a:xfrm>
                <a:off x="6161045" y="2441099"/>
                <a:ext cx="40440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𝜑</m:t>
                      </m:r>
                    </m:oMath>
                  </m:oMathPara>
                </a14:m>
                <a:endParaRPr lang="en-AU" dirty="0"/>
              </a:p>
            </p:txBody>
          </p:sp>
        </mc:Choice>
        <mc:Fallback>
          <p:sp>
            <p:nvSpPr>
              <p:cNvPr id="165" name="矩形 164"/>
              <p:cNvSpPr>
                <a:spLocks noRot="1" noChangeAspect="1" noMove="1" noResize="1" noEditPoints="1" noAdjustHandles="1" noChangeArrowheads="1" noChangeShapeType="1" noTextEdit="1"/>
              </p:cNvSpPr>
              <p:nvPr/>
            </p:nvSpPr>
            <p:spPr>
              <a:xfrm>
                <a:off x="6161045" y="2441099"/>
                <a:ext cx="404406" cy="369332"/>
              </a:xfrm>
              <a:prstGeom prst="rect">
                <a:avLst/>
              </a:prstGeom>
              <a:blipFill rotWithShape="1">
                <a:blip r:embed="rId9"/>
                <a:stretch>
                  <a:fillRect l="-68" t="-43" r="46" b="151"/>
                </a:stretch>
              </a:blipFill>
            </p:spPr>
            <p:txBody>
              <a:bodyPr/>
              <a:lstStyle/>
              <a:p>
                <a:r>
                  <a:rPr lang="zh-CN" altLang="en-US">
                    <a:noFill/>
                  </a:rPr>
                  <a:t> </a:t>
                </a:r>
              </a:p>
            </p:txBody>
          </p:sp>
        </mc:Fallback>
      </mc:AlternateContent>
      <p:sp>
        <p:nvSpPr>
          <p:cNvPr id="166" name="矩形 165"/>
          <p:cNvSpPr/>
          <p:nvPr/>
        </p:nvSpPr>
        <p:spPr>
          <a:xfrm>
            <a:off x="2175510" y="3543935"/>
            <a:ext cx="5912485" cy="349250"/>
          </a:xfrm>
          <a:prstGeom prst="rect">
            <a:avLst/>
          </a:prstGeom>
        </p:spPr>
        <p:txBody>
          <a:bodyPr wrap="square">
            <a:spAutoFit/>
          </a:bodyPr>
          <a:lstStyle/>
          <a:p>
            <a:pPr marL="273050">
              <a:lnSpc>
                <a:spcPct val="105000"/>
              </a:lnSpc>
              <a:spcBef>
                <a:spcPct val="5000"/>
              </a:spcBef>
            </a:pPr>
            <a:r>
              <a:rPr lang="zh-CN" altLang="en-US" sz="1600" b="1" dirty="0">
                <a:latin typeface="微软雅黑" panose="020B0503020204020204" pitchFamily="34" charset="-122"/>
                <a:ea typeface="微软雅黑" panose="020B0503020204020204" pitchFamily="34" charset="-122"/>
              </a:rPr>
              <a:t>When rotating from B to A, what is the follower rise?</a:t>
            </a:r>
            <a:endParaRPr lang="zh-CN" altLang="en-US" sz="1600" b="1" dirty="0">
              <a:latin typeface="微软雅黑" panose="020B0503020204020204" pitchFamily="34" charset="-122"/>
              <a:ea typeface="微软雅黑" panose="020B0503020204020204" pitchFamily="34" charset="-122"/>
            </a:endParaRPr>
          </a:p>
        </p:txBody>
      </p:sp>
      <p:sp>
        <p:nvSpPr>
          <p:cNvPr id="167" name="直接连接符 166"/>
          <p:cNvSpPr>
            <a:spLocks noChangeShapeType="1"/>
          </p:cNvSpPr>
          <p:nvPr/>
        </p:nvSpPr>
        <p:spPr bwMode="auto">
          <a:xfrm rot="6447787" flipH="1" flipV="1">
            <a:off x="1589150" y="3260078"/>
            <a:ext cx="70227" cy="1319895"/>
          </a:xfrm>
          <a:prstGeom prst="line">
            <a:avLst/>
          </a:prstGeom>
          <a:noFill/>
          <a:ln w="3175">
            <a:solidFill>
              <a:schemeClr val="tx1"/>
            </a:solidFill>
            <a:prstDash val="lgDashDot"/>
            <a:round/>
            <a:headEnd type="none" w="sm" len="lg"/>
            <a:tailEnd type="none" w="sm" len="lg"/>
          </a:ln>
          <a:extLst>
            <a:ext uri="{909E8E84-426E-40DD-AFC4-6F175D3DCCD1}">
              <a14:hiddenFill xmlns:a14="http://schemas.microsoft.com/office/drawing/2010/main">
                <a:noFill/>
              </a14:hiddenFill>
            </a:ext>
          </a:extLst>
        </p:spPr>
        <p:txBody>
          <a:bodyPr wrap="square"/>
          <a:lstStyle/>
          <a:p>
            <a:endParaRPr lang="en-AU"/>
          </a:p>
        </p:txBody>
      </p:sp>
      <p:sp>
        <p:nvSpPr>
          <p:cNvPr id="168" name="直接连接符 737392"/>
          <p:cNvSpPr>
            <a:spLocks noChangeShapeType="1"/>
          </p:cNvSpPr>
          <p:nvPr/>
        </p:nvSpPr>
        <p:spPr bwMode="auto">
          <a:xfrm>
            <a:off x="8040414" y="2829303"/>
            <a:ext cx="2960389" cy="0"/>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wrap="square"/>
          <a:lstStyle/>
          <a:p>
            <a:endParaRPr lang="en-AU"/>
          </a:p>
        </p:txBody>
      </p:sp>
      <p:grpSp>
        <p:nvGrpSpPr>
          <p:cNvPr id="169" name="组合 168"/>
          <p:cNvGrpSpPr/>
          <p:nvPr/>
        </p:nvGrpSpPr>
        <p:grpSpPr bwMode="auto">
          <a:xfrm rot="6420000">
            <a:off x="10461433" y="2807972"/>
            <a:ext cx="527050" cy="1082675"/>
            <a:chOff x="3554" y="1008"/>
            <a:chExt cx="305" cy="682"/>
          </a:xfrm>
        </p:grpSpPr>
        <p:sp>
          <p:nvSpPr>
            <p:cNvPr id="170" name="文本框 737376"/>
            <p:cNvSpPr txBox="1">
              <a:spLocks noChangeArrowheads="1"/>
            </p:cNvSpPr>
            <p:nvPr/>
          </p:nvSpPr>
          <p:spPr bwMode="auto">
            <a:xfrm>
              <a:off x="3678" y="1498"/>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Times New Roman" panose="02020603050405020304" pitchFamily="18" charset="0"/>
                </a:rPr>
                <a:t>A</a:t>
              </a:r>
              <a:endParaRPr lang="en-US" altLang="zh-CN" sz="1400">
                <a:latin typeface="Times New Roman" panose="02020603050405020304" pitchFamily="18" charset="0"/>
              </a:endParaRPr>
            </a:p>
          </p:txBody>
        </p:sp>
        <p:grpSp>
          <p:nvGrpSpPr>
            <p:cNvPr id="171" name="组合 737377"/>
            <p:cNvGrpSpPr/>
            <p:nvPr/>
          </p:nvGrpSpPr>
          <p:grpSpPr bwMode="auto">
            <a:xfrm>
              <a:off x="3554" y="1008"/>
              <a:ext cx="96" cy="664"/>
              <a:chOff x="3554" y="1008"/>
              <a:chExt cx="96" cy="664"/>
            </a:xfrm>
          </p:grpSpPr>
          <p:sp>
            <p:nvSpPr>
              <p:cNvPr id="172" name="等腰三角形 737378"/>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73" name="矩形 737379"/>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grpSp>
      <p:grpSp>
        <p:nvGrpSpPr>
          <p:cNvPr id="174" name="组合 173"/>
          <p:cNvGrpSpPr/>
          <p:nvPr/>
        </p:nvGrpSpPr>
        <p:grpSpPr>
          <a:xfrm>
            <a:off x="10768221" y="3016818"/>
            <a:ext cx="349981" cy="417357"/>
            <a:chOff x="10768221" y="3016818"/>
            <a:chExt cx="349981" cy="417357"/>
          </a:xfrm>
        </p:grpSpPr>
        <p:sp>
          <p:nvSpPr>
            <p:cNvPr id="175" name="任意多边形 737457"/>
            <p:cNvSpPr>
              <a:spLocks noChangeArrowheads="1"/>
            </p:cNvSpPr>
            <p:nvPr/>
          </p:nvSpPr>
          <p:spPr bwMode="auto">
            <a:xfrm rot="6420000">
              <a:off x="10963225" y="2928908"/>
              <a:ext cx="67068" cy="242887"/>
            </a:xfrm>
            <a:custGeom>
              <a:avLst/>
              <a:gdLst>
                <a:gd name="T0" fmla="*/ 0 w 48"/>
                <a:gd name="T1" fmla="*/ 0 h 192"/>
                <a:gd name="T2" fmla="*/ 11 w 48"/>
                <a:gd name="T3" fmla="*/ 0 h 192"/>
                <a:gd name="T4" fmla="*/ 11 w 48"/>
                <a:gd name="T5" fmla="*/ 39 h 192"/>
                <a:gd name="T6" fmla="*/ 0 w 48"/>
                <a:gd name="T7" fmla="*/ 3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1"/>
              <a:srcRect/>
              <a:tile tx="0" ty="0" sx="100000" sy="100000" flip="none" algn="tl"/>
            </a:blipFill>
            <a:ln w="19050">
              <a:solidFill>
                <a:schemeClr val="tx1"/>
              </a:solidFill>
              <a:round/>
            </a:ln>
          </p:spPr>
          <p:txBody>
            <a:bodyPr/>
            <a:lstStyle/>
            <a:p>
              <a:endParaRPr lang="en-AU"/>
            </a:p>
          </p:txBody>
        </p:sp>
        <p:sp>
          <p:nvSpPr>
            <p:cNvPr id="176" name="任意多边形 737458"/>
            <p:cNvSpPr>
              <a:spLocks noChangeArrowheads="1"/>
            </p:cNvSpPr>
            <p:nvPr/>
          </p:nvSpPr>
          <p:spPr bwMode="auto">
            <a:xfrm rot="6420000" flipH="1">
              <a:off x="10856131" y="3279197"/>
              <a:ext cx="67068" cy="242887"/>
            </a:xfrm>
            <a:custGeom>
              <a:avLst/>
              <a:gdLst>
                <a:gd name="T0" fmla="*/ 0 w 48"/>
                <a:gd name="T1" fmla="*/ 0 h 192"/>
                <a:gd name="T2" fmla="*/ 11 w 48"/>
                <a:gd name="T3" fmla="*/ 0 h 192"/>
                <a:gd name="T4" fmla="*/ 11 w 48"/>
                <a:gd name="T5" fmla="*/ 39 h 192"/>
                <a:gd name="T6" fmla="*/ 0 w 48"/>
                <a:gd name="T7" fmla="*/ 39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0"/>
                  </a:moveTo>
                  <a:lnTo>
                    <a:pt x="48" y="0"/>
                  </a:lnTo>
                  <a:lnTo>
                    <a:pt x="48" y="192"/>
                  </a:lnTo>
                  <a:lnTo>
                    <a:pt x="0" y="192"/>
                  </a:lnTo>
                </a:path>
              </a:pathLst>
            </a:custGeom>
            <a:blipFill dpi="0" rotWithShape="0">
              <a:blip r:embed="rId1"/>
              <a:srcRect/>
              <a:tile tx="0" ty="0" sx="100000" sy="100000" flip="none" algn="tl"/>
            </a:blipFill>
            <a:ln w="19050">
              <a:solidFill>
                <a:schemeClr val="tx1"/>
              </a:solidFill>
              <a:round/>
            </a:ln>
          </p:spPr>
          <p:txBody>
            <a:bodyPr/>
            <a:lstStyle/>
            <a:p>
              <a:endParaRPr lang="en-AU"/>
            </a:p>
          </p:txBody>
        </p:sp>
      </p:grpSp>
      <p:sp>
        <p:nvSpPr>
          <p:cNvPr id="177" name="文本框 176"/>
          <p:cNvSpPr txBox="1"/>
          <p:nvPr/>
        </p:nvSpPr>
        <p:spPr>
          <a:xfrm>
            <a:off x="703302" y="3723442"/>
            <a:ext cx="425127" cy="369332"/>
          </a:xfrm>
          <a:prstGeom prst="rect">
            <a:avLst/>
          </a:prstGeom>
          <a:noFill/>
        </p:spPr>
        <p:txBody>
          <a:bodyPr wrap="square">
            <a:spAutoFit/>
          </a:bodyPr>
          <a:lstStyle/>
          <a:p>
            <a:r>
              <a:rPr lang="en-US" altLang="zh-CN" sz="1800" b="1" i="1" dirty="0">
                <a:solidFill>
                  <a:srgbClr val="000000"/>
                </a:solidFill>
                <a:latin typeface="宋体" panose="02010600030101010101" pitchFamily="2" charset="-122"/>
                <a:ea typeface="宋体" panose="02010600030101010101" pitchFamily="2" charset="-122"/>
              </a:rPr>
              <a:t>O</a:t>
            </a:r>
            <a:endParaRPr lang="zh-CN" altLang="en-US" dirty="0"/>
          </a:p>
        </p:txBody>
      </p:sp>
      <p:grpSp>
        <p:nvGrpSpPr>
          <p:cNvPr id="178" name="组合 177"/>
          <p:cNvGrpSpPr/>
          <p:nvPr/>
        </p:nvGrpSpPr>
        <p:grpSpPr>
          <a:xfrm>
            <a:off x="9548921" y="1164785"/>
            <a:ext cx="2617787" cy="2266244"/>
            <a:chOff x="9548921" y="1164785"/>
            <a:chExt cx="2617787" cy="2266244"/>
          </a:xfrm>
        </p:grpSpPr>
        <p:sp>
          <p:nvSpPr>
            <p:cNvPr id="179" name="直接连接符 178"/>
            <p:cNvSpPr>
              <a:spLocks noChangeShapeType="1"/>
            </p:cNvSpPr>
            <p:nvPr/>
          </p:nvSpPr>
          <p:spPr bwMode="auto">
            <a:xfrm rot="6447787" flipV="1">
              <a:off x="10857021" y="1899798"/>
              <a:ext cx="1588" cy="2617787"/>
            </a:xfrm>
            <a:prstGeom prst="line">
              <a:avLst/>
            </a:prstGeom>
            <a:noFill/>
            <a:ln w="3175">
              <a:solidFill>
                <a:schemeClr val="tx1"/>
              </a:solidFill>
              <a:prstDash val="lgDashDot"/>
              <a:round/>
              <a:headEnd type="none" w="sm" len="lg"/>
              <a:tailEnd type="none" w="sm" len="lg"/>
            </a:ln>
            <a:extLst>
              <a:ext uri="{909E8E84-426E-40DD-AFC4-6F175D3DCCD1}">
                <a14:hiddenFill xmlns:a14="http://schemas.microsoft.com/office/drawing/2010/main">
                  <a:noFill/>
                </a14:hiddenFill>
              </a:ext>
            </a:extLst>
          </p:spPr>
          <p:txBody>
            <a:bodyPr/>
            <a:lstStyle/>
            <a:p>
              <a:endParaRPr lang="en-AU" dirty="0"/>
            </a:p>
          </p:txBody>
        </p:sp>
        <p:grpSp>
          <p:nvGrpSpPr>
            <p:cNvPr id="180" name="组合 179"/>
            <p:cNvGrpSpPr/>
            <p:nvPr/>
          </p:nvGrpSpPr>
          <p:grpSpPr>
            <a:xfrm>
              <a:off x="9763233" y="1164785"/>
              <a:ext cx="2254445" cy="2266244"/>
              <a:chOff x="9610833" y="1012385"/>
              <a:chExt cx="2254445" cy="2266244"/>
            </a:xfrm>
          </p:grpSpPr>
          <p:grpSp>
            <p:nvGrpSpPr>
              <p:cNvPr id="181" name="组合 180"/>
              <p:cNvGrpSpPr/>
              <p:nvPr/>
            </p:nvGrpSpPr>
            <p:grpSpPr bwMode="auto">
              <a:xfrm>
                <a:off x="9610833" y="1012385"/>
                <a:ext cx="2213563" cy="2266244"/>
                <a:chOff x="3600" y="768"/>
                <a:chExt cx="1448" cy="1606"/>
              </a:xfrm>
            </p:grpSpPr>
            <p:sp>
              <p:nvSpPr>
                <p:cNvPr id="183" name="任意多边形 737453"/>
                <p:cNvSpPr>
                  <a:spLocks noChangeArrowheads="1"/>
                </p:cNvSpPr>
                <p:nvPr/>
              </p:nvSpPr>
              <p:spPr bwMode="auto">
                <a:xfrm>
                  <a:off x="3600" y="768"/>
                  <a:ext cx="1448" cy="16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175">
                  <a:solidFill>
                    <a:srgbClr val="FF33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84" name="文本框 737454"/>
                <p:cNvSpPr txBox="1">
                  <a:spLocks noChangeArrowheads="1"/>
                </p:cNvSpPr>
                <p:nvPr/>
              </p:nvSpPr>
              <p:spPr bwMode="auto">
                <a:xfrm>
                  <a:off x="4502" y="931"/>
                  <a:ext cx="12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endParaRPr lang="zh-CN" altLang="zh-CN" sz="1800" b="1" dirty="0">
                    <a:solidFill>
                      <a:srgbClr val="FF3300"/>
                    </a:solidFill>
                    <a:latin typeface="Times New Roman" panose="02020603050405020304" pitchFamily="18" charset="0"/>
                  </a:endParaRPr>
                </a:p>
              </p:txBody>
            </p:sp>
          </p:grpSp>
          <p:sp>
            <p:nvSpPr>
              <p:cNvPr id="182" name="文本框 181"/>
              <p:cNvSpPr txBox="1"/>
              <p:nvPr/>
            </p:nvSpPr>
            <p:spPr>
              <a:xfrm>
                <a:off x="11133932" y="1227872"/>
                <a:ext cx="731346" cy="369332"/>
              </a:xfrm>
              <a:prstGeom prst="rect">
                <a:avLst/>
              </a:prstGeom>
              <a:noFill/>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-120°</a:t>
                </a:r>
                <a:endParaRPr lang="zh-CN" altLang="en-US" dirty="0"/>
              </a:p>
            </p:txBody>
          </p:sp>
        </p:grpSp>
      </p:grpSp>
      <p:sp>
        <p:nvSpPr>
          <p:cNvPr id="185" name="文本框 737365"/>
          <p:cNvSpPr txBox="1">
            <a:spLocks noChangeArrowheads="1"/>
          </p:cNvSpPr>
          <p:nvPr/>
        </p:nvSpPr>
        <p:spPr bwMode="auto">
          <a:xfrm>
            <a:off x="648914" y="2800857"/>
            <a:ext cx="314784"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Times New Roman" panose="02020603050405020304" pitchFamily="18" charset="0"/>
              </a:rPr>
              <a:t>A</a:t>
            </a:r>
            <a:endParaRPr lang="en-US" altLang="zh-CN" sz="1400" dirty="0">
              <a:latin typeface="Times New Roman" panose="02020603050405020304" pitchFamily="18" charset="0"/>
            </a:endParaRPr>
          </a:p>
        </p:txBody>
      </p:sp>
      <p:sp>
        <p:nvSpPr>
          <p:cNvPr id="190" name="文本框 189"/>
          <p:cNvSpPr txBox="1"/>
          <p:nvPr/>
        </p:nvSpPr>
        <p:spPr>
          <a:xfrm>
            <a:off x="9321665" y="2801248"/>
            <a:ext cx="425127" cy="369332"/>
          </a:xfrm>
          <a:prstGeom prst="rect">
            <a:avLst/>
          </a:prstGeom>
          <a:noFill/>
        </p:spPr>
        <p:txBody>
          <a:bodyPr wrap="square">
            <a:spAutoFit/>
          </a:bodyPr>
          <a:lstStyle/>
          <a:p>
            <a:r>
              <a:rPr lang="en-US" altLang="zh-CN" sz="1800" b="1" i="1" dirty="0">
                <a:solidFill>
                  <a:srgbClr val="000000"/>
                </a:solidFill>
                <a:latin typeface="宋体" panose="02010600030101010101" pitchFamily="2" charset="-122"/>
                <a:ea typeface="宋体" panose="02010600030101010101" pitchFamily="2" charset="-122"/>
              </a:rPr>
              <a:t>O</a:t>
            </a:r>
            <a:endParaRPr lang="zh-CN" altLang="en-US" dirty="0"/>
          </a:p>
        </p:txBody>
      </p:sp>
      <p:grpSp>
        <p:nvGrpSpPr>
          <p:cNvPr id="191" name="组合 190"/>
          <p:cNvGrpSpPr/>
          <p:nvPr/>
        </p:nvGrpSpPr>
        <p:grpSpPr>
          <a:xfrm>
            <a:off x="6838058" y="1144893"/>
            <a:ext cx="1333333" cy="2466667"/>
            <a:chOff x="6838058" y="1144893"/>
            <a:chExt cx="1333333" cy="2466667"/>
          </a:xfrm>
        </p:grpSpPr>
        <p:pic>
          <p:nvPicPr>
            <p:cNvPr id="192" name="图片 191"/>
            <p:cNvPicPr>
              <a:picLocks noChangeAspect="1"/>
            </p:cNvPicPr>
            <p:nvPr/>
          </p:nvPicPr>
          <p:blipFill>
            <a:blip r:embed="rId10"/>
            <a:stretch>
              <a:fillRect/>
            </a:stretch>
          </p:blipFill>
          <p:spPr>
            <a:xfrm>
              <a:off x="6838058" y="1144893"/>
              <a:ext cx="1333333" cy="2466667"/>
            </a:xfrm>
            <a:prstGeom prst="rect">
              <a:avLst/>
            </a:prstGeom>
          </p:spPr>
        </p:pic>
        <p:sp>
          <p:nvSpPr>
            <p:cNvPr id="193" name="文本框 192"/>
            <p:cNvSpPr txBox="1"/>
            <p:nvPr/>
          </p:nvSpPr>
          <p:spPr>
            <a:xfrm>
              <a:off x="7425756" y="2425511"/>
              <a:ext cx="425127" cy="369332"/>
            </a:xfrm>
            <a:prstGeom prst="rect">
              <a:avLst/>
            </a:prstGeom>
            <a:noFill/>
          </p:spPr>
          <p:txBody>
            <a:bodyPr wrap="square">
              <a:spAutoFit/>
            </a:bodyPr>
            <a:lstStyle/>
            <a:p>
              <a:r>
                <a:rPr lang="en-US" altLang="zh-CN" sz="1800" b="1" i="1" dirty="0">
                  <a:solidFill>
                    <a:srgbClr val="000000"/>
                  </a:solidFill>
                  <a:latin typeface="宋体" panose="02010600030101010101" pitchFamily="2" charset="-122"/>
                  <a:ea typeface="宋体" panose="02010600030101010101" pitchFamily="2" charset="-122"/>
                </a:rPr>
                <a:t>O</a:t>
              </a:r>
              <a:endParaRPr lang="zh-CN" altLang="en-US" dirty="0"/>
            </a:p>
          </p:txBody>
        </p:sp>
      </p:grpSp>
      <p:sp>
        <p:nvSpPr>
          <p:cNvPr id="194" name="文本框 193"/>
          <p:cNvSpPr txBox="1"/>
          <p:nvPr/>
        </p:nvSpPr>
        <p:spPr>
          <a:xfrm>
            <a:off x="6695380" y="5331043"/>
            <a:ext cx="1705640" cy="337185"/>
          </a:xfrm>
          <a:prstGeom prst="rect">
            <a:avLst/>
          </a:prstGeom>
          <a:noFill/>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CW rotation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95" name="文本框 194"/>
          <p:cNvSpPr txBox="1"/>
          <p:nvPr/>
        </p:nvSpPr>
        <p:spPr>
          <a:xfrm>
            <a:off x="8116480" y="5701415"/>
            <a:ext cx="1705640" cy="337185"/>
          </a:xfrm>
          <a:prstGeom prst="rect">
            <a:avLst/>
          </a:prstGeom>
          <a:noFill/>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CW rotation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96" name="文本框 195"/>
          <p:cNvSpPr txBox="1"/>
          <p:nvPr/>
        </p:nvSpPr>
        <p:spPr>
          <a:xfrm>
            <a:off x="7165340" y="6169025"/>
            <a:ext cx="5269865" cy="337185"/>
          </a:xfrm>
          <a:prstGeom prst="rect">
            <a:avLst/>
          </a:prstGeom>
          <a:noFill/>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Translation along rotating guide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2034070" y="4750666"/>
            <a:ext cx="9736808" cy="1755452"/>
            <a:chOff x="1992448" y="4146027"/>
            <a:chExt cx="9736808" cy="1755452"/>
          </a:xfrm>
        </p:grpSpPr>
        <p:sp>
          <p:nvSpPr>
            <p:cNvPr id="113" name="矩形 112"/>
            <p:cNvSpPr/>
            <p:nvPr/>
          </p:nvSpPr>
          <p:spPr>
            <a:xfrm>
              <a:off x="2199170" y="4146027"/>
              <a:ext cx="9530086" cy="395749"/>
            </a:xfrm>
            <a:prstGeom prst="rect">
              <a:avLst/>
            </a:prstGeom>
          </p:spPr>
          <p:txBody>
            <a:bodyPr wrap="square">
              <a:spAutoFit/>
            </a:bodyPr>
            <a:lstStyle/>
            <a:p>
              <a:pPr marL="273050">
                <a:lnSpc>
                  <a:spcPct val="105000"/>
                </a:lnSpc>
                <a:spcBef>
                  <a:spcPct val="5000"/>
                </a:spcBef>
              </a:pP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nvGrpSpPr>
            <p:cNvPr id="186" name="组合 185"/>
            <p:cNvGrpSpPr/>
            <p:nvPr/>
          </p:nvGrpSpPr>
          <p:grpSpPr>
            <a:xfrm>
              <a:off x="1992448" y="4785784"/>
              <a:ext cx="4804410" cy="1115695"/>
              <a:chOff x="6774175" y="5311374"/>
              <a:chExt cx="4804410" cy="1115695"/>
            </a:xfrm>
          </p:grpSpPr>
          <p:sp>
            <p:nvSpPr>
              <p:cNvPr id="187" name="文本框 186"/>
              <p:cNvSpPr txBox="1"/>
              <p:nvPr/>
            </p:nvSpPr>
            <p:spPr>
              <a:xfrm>
                <a:off x="6774175" y="5311374"/>
                <a:ext cx="4804410" cy="349250"/>
              </a:xfrm>
              <a:prstGeom prst="rect">
                <a:avLst/>
              </a:prstGeom>
              <a:noFill/>
            </p:spPr>
            <p:txBody>
              <a:bodyPr wrap="square">
                <a:spAutoFit/>
              </a:bodyPr>
              <a:lstStyle/>
              <a:p>
                <a:pPr marL="273050">
                  <a:lnSpc>
                    <a:spcPct val="105000"/>
                  </a:lnSpc>
                  <a:spcBef>
                    <a:spcPct val="5000"/>
                  </a:spcBef>
                </a:pPr>
                <a:r>
                  <a:rPr lang="en-US" altLang="zh-CN" sz="1600" b="1" dirty="0">
                    <a:latin typeface="微软雅黑" panose="020B0503020204020204" pitchFamily="34" charset="-122"/>
                    <a:ea typeface="微软雅黑" panose="020B0503020204020204" pitchFamily="34" charset="-122"/>
                  </a:rPr>
                  <a:t>What motion should the frame perform?</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188" name="文本框 187"/>
              <p:cNvSpPr txBox="1"/>
              <p:nvPr/>
            </p:nvSpPr>
            <p:spPr>
              <a:xfrm>
                <a:off x="6774175" y="6077819"/>
                <a:ext cx="4804410" cy="349250"/>
              </a:xfrm>
              <a:prstGeom prst="rect">
                <a:avLst/>
              </a:prstGeom>
              <a:noFill/>
            </p:spPr>
            <p:txBody>
              <a:bodyPr wrap="square">
                <a:spAutoFit/>
              </a:bodyPr>
              <a:lstStyle/>
              <a:p>
                <a:pPr marL="273050">
                  <a:lnSpc>
                    <a:spcPct val="105000"/>
                  </a:lnSpc>
                  <a:spcBef>
                    <a:spcPct val="5000"/>
                  </a:spcBef>
                </a:pPr>
                <a:r>
                  <a:rPr lang="en-US" altLang="zh-CN" sz="1600" b="1" dirty="0">
                    <a:latin typeface="微软雅黑" panose="020B0503020204020204" pitchFamily="34" charset="-122"/>
                    <a:ea typeface="微软雅黑" panose="020B0503020204020204" pitchFamily="34" charset="-122"/>
                  </a:rPr>
                  <a:t>What motion does the pusher</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perform</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grpSp>
      </p:grpSp>
      <p:sp>
        <p:nvSpPr>
          <p:cNvPr id="199" name="直接连接符 739367"/>
          <p:cNvSpPr>
            <a:spLocks noChangeShapeType="1"/>
          </p:cNvSpPr>
          <p:nvPr/>
        </p:nvSpPr>
        <p:spPr bwMode="auto">
          <a:xfrm>
            <a:off x="1677184" y="3930344"/>
            <a:ext cx="596656" cy="155481"/>
          </a:xfrm>
          <a:prstGeom prst="line">
            <a:avLst/>
          </a:prstGeom>
          <a:noFill/>
          <a:ln w="3175">
            <a:solidFill>
              <a:srgbClr val="FF0000"/>
            </a:solidFill>
            <a:round/>
            <a:headEnd type="triangle" w="sm" len="lg"/>
            <a:tailEnd type="triangle" w="sm" len="lg"/>
          </a:ln>
          <a:extLst>
            <a:ext uri="{909E8E84-426E-40DD-AFC4-6F175D3DCCD1}">
              <a14:hiddenFill xmlns:a14="http://schemas.microsoft.com/office/drawing/2010/main">
                <a:noFill/>
              </a14:hiddenFill>
            </a:ext>
          </a:extLst>
        </p:spPr>
        <p:txBody>
          <a:bodyPr wrap="square"/>
          <a:lstStyle/>
          <a:p>
            <a:endParaRPr lang="en-AU" dirty="0"/>
          </a:p>
        </p:txBody>
      </p:sp>
      <p:sp>
        <p:nvSpPr>
          <p:cNvPr id="200" name="文本框 739368"/>
          <p:cNvSpPr txBox="1">
            <a:spLocks noChangeArrowheads="1"/>
          </p:cNvSpPr>
          <p:nvPr/>
        </p:nvSpPr>
        <p:spPr bwMode="auto">
          <a:xfrm>
            <a:off x="1902598" y="3781025"/>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solidFill>
                  <a:srgbClr val="FF0000"/>
                </a:solidFill>
                <a:latin typeface="Times New Roman" panose="02020603050405020304" pitchFamily="18" charset="0"/>
              </a:rPr>
              <a:t>h</a:t>
            </a:r>
            <a:endParaRPr lang="en-US" altLang="zh-CN" sz="1400" dirty="0">
              <a:solidFill>
                <a:srgbClr val="FF0000"/>
              </a:solidFill>
              <a:latin typeface="Times New Roman" panose="02020603050405020304" pitchFamily="18" charset="0"/>
            </a:endParaRPr>
          </a:p>
        </p:txBody>
      </p:sp>
      <p:sp>
        <p:nvSpPr>
          <p:cNvPr id="201" name="文本框 739368"/>
          <p:cNvSpPr txBox="1">
            <a:spLocks noChangeArrowheads="1"/>
          </p:cNvSpPr>
          <p:nvPr/>
        </p:nvSpPr>
        <p:spPr bwMode="auto">
          <a:xfrm>
            <a:off x="8088064" y="3484197"/>
            <a:ext cx="312906"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600" dirty="0">
                <a:solidFill>
                  <a:srgbClr val="FF0000"/>
                </a:solidFill>
                <a:latin typeface="Times New Roman" panose="02020603050405020304" pitchFamily="18" charset="0"/>
              </a:rPr>
              <a:t>h</a:t>
            </a:r>
            <a:endParaRPr lang="en-US" altLang="zh-CN" sz="1600" dirty="0">
              <a:solidFill>
                <a:srgbClr val="FF0000"/>
              </a:solidFill>
              <a:latin typeface="Times New Roman" panose="02020603050405020304" pitchFamily="18" charset="0"/>
            </a:endParaRPr>
          </a:p>
        </p:txBody>
      </p:sp>
      <p:sp>
        <p:nvSpPr>
          <p:cNvPr id="202" name="矩形 201"/>
          <p:cNvSpPr/>
          <p:nvPr/>
        </p:nvSpPr>
        <p:spPr>
          <a:xfrm>
            <a:off x="2198852" y="3957919"/>
            <a:ext cx="4621426" cy="349250"/>
          </a:xfrm>
          <a:prstGeom prst="rect">
            <a:avLst/>
          </a:prstGeom>
        </p:spPr>
        <p:txBody>
          <a:bodyPr wrap="square">
            <a:spAutoFit/>
          </a:bodyPr>
          <a:lstStyle/>
          <a:p>
            <a:pPr marL="273050">
              <a:lnSpc>
                <a:spcPct val="105000"/>
              </a:lnSpc>
              <a:spcBef>
                <a:spcPct val="5000"/>
              </a:spcBef>
            </a:pPr>
            <a:r>
              <a:rPr lang="zh-CN" altLang="en-US" sz="1600" b="1" dirty="0">
                <a:latin typeface="微软雅黑" panose="020B0503020204020204" pitchFamily="34" charset="-122"/>
                <a:ea typeface="微软雅黑" panose="020B0503020204020204" pitchFamily="34" charset="-122"/>
              </a:rPr>
              <a:t>Given h, how to find point B?</a:t>
            </a:r>
            <a:endParaRPr lang="zh-CN" altLang="en-US" sz="1600" b="1" dirty="0">
              <a:latin typeface="微软雅黑" panose="020B0503020204020204" pitchFamily="34" charset="-122"/>
              <a:ea typeface="微软雅黑" panose="020B0503020204020204" pitchFamily="34" charset="-122"/>
            </a:endParaRPr>
          </a:p>
        </p:txBody>
      </p:sp>
      <p:sp>
        <p:nvSpPr>
          <p:cNvPr id="203" name="文本框 737365"/>
          <p:cNvSpPr txBox="1">
            <a:spLocks noChangeArrowheads="1"/>
          </p:cNvSpPr>
          <p:nvPr/>
        </p:nvSpPr>
        <p:spPr bwMode="auto">
          <a:xfrm>
            <a:off x="10741585" y="2970521"/>
            <a:ext cx="304464"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dirty="0">
                <a:latin typeface="Times New Roman" panose="02020603050405020304" pitchFamily="18" charset="0"/>
              </a:rPr>
              <a:t>B</a:t>
            </a:r>
            <a:endParaRPr lang="en-US" altLang="zh-CN" sz="1400" dirty="0">
              <a:latin typeface="Times New Roman" panose="02020603050405020304" pitchFamily="18" charset="0"/>
            </a:endParaRPr>
          </a:p>
        </p:txBody>
      </p:sp>
      <p:sp>
        <p:nvSpPr>
          <p:cNvPr id="206" name="文本框 205"/>
          <p:cNvSpPr txBox="1"/>
          <p:nvPr/>
        </p:nvSpPr>
        <p:spPr>
          <a:xfrm>
            <a:off x="2385060" y="4640580"/>
            <a:ext cx="9596120" cy="645160"/>
          </a:xfrm>
          <a:prstGeom prst="rect">
            <a:avLst/>
          </a:prstGeom>
          <a:noFill/>
        </p:spPr>
        <p:txBody>
          <a:bodyPr wrap="square">
            <a:spAutoFit/>
          </a:bodyPr>
          <a:lstStyle/>
          <a:p>
            <a:r>
              <a:rPr lang="en-US" altLang="zh-CN" b="1" dirty="0">
                <a:solidFill>
                  <a:srgbClr val="C00000"/>
                </a:solidFill>
                <a:latin typeface="微软雅黑" panose="020B0503020204020204" pitchFamily="34" charset="-122"/>
                <a:ea typeface="微软雅黑" panose="020B0503020204020204" pitchFamily="34" charset="-122"/>
              </a:rPr>
              <a:t>"Inversion Method": The cam remains stationary; the other components move (without altering the relative motion pattern).</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207" name="文本框 206"/>
          <p:cNvSpPr txBox="1"/>
          <p:nvPr/>
        </p:nvSpPr>
        <p:spPr>
          <a:xfrm>
            <a:off x="2477135" y="3226435"/>
            <a:ext cx="3832860" cy="337185"/>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Cam CCW rotation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208" name="文本框 207"/>
          <p:cNvSpPr txBox="1"/>
          <p:nvPr/>
        </p:nvSpPr>
        <p:spPr>
          <a:xfrm>
            <a:off x="5466680" y="3963137"/>
            <a:ext cx="6286715" cy="542290"/>
          </a:xfrm>
          <a:prstGeom prst="rect">
            <a:avLst/>
          </a:prstGeom>
          <a:noFill/>
        </p:spPr>
        <p:txBody>
          <a:bodyPr wrap="square">
            <a:spAutoFit/>
          </a:bodyPr>
          <a:lstStyle/>
          <a:p>
            <a:pPr marL="273050">
              <a:lnSpc>
                <a:spcPct val="105000"/>
              </a:lnSpc>
              <a:spcBef>
                <a:spcPct val="5000"/>
              </a:spcBef>
            </a:pPr>
            <a:r>
              <a:rPr lang="zh-CN" altLang="en-US" sz="1400" b="1" dirty="0">
                <a:solidFill>
                  <a:srgbClr val="FF0000"/>
                </a:solidFill>
                <a:latin typeface="微软雅黑" panose="020B0503020204020204" pitchFamily="34" charset="-122"/>
                <a:ea typeface="微软雅黑" panose="020B0503020204020204" pitchFamily="34" charset="-122"/>
              </a:rPr>
              <a:t>For ease of drawing, can we fix the cam and determine point B's position?</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
        <p:nvSpPr>
          <p:cNvPr id="2" name="文本框 1"/>
          <p:cNvSpPr txBox="1"/>
          <p:nvPr/>
        </p:nvSpPr>
        <p:spPr>
          <a:xfrm>
            <a:off x="2341245" y="5734050"/>
            <a:ext cx="6096000" cy="337185"/>
          </a:xfrm>
          <a:prstGeom prst="rect">
            <a:avLst/>
          </a:prstGeom>
          <a:noFill/>
        </p:spPr>
        <p:txBody>
          <a:bodyPr wrap="square" rtlCol="0" anchor="t">
            <a:spAutoFit/>
          </a:bodyPr>
          <a:p>
            <a:r>
              <a:rPr lang="en-US" altLang="zh-CN" sz="1600" b="1">
                <a:latin typeface="微软雅黑" panose="020B0503020204020204" pitchFamily="34" charset="-122"/>
                <a:ea typeface="微软雅黑" panose="020B0503020204020204" pitchFamily="34" charset="-122"/>
              </a:rPr>
              <a:t>What motion does the pusher's guide path perform?</a:t>
            </a:r>
            <a:endParaRPr lang="en-US" altLang="zh-CN" sz="1600" b="1">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6"/>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169"/>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9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195" grpId="0"/>
      <p:bldP spid="196" grpId="0"/>
      <p:bldP spid="201" grpId="0"/>
      <p:bldP spid="202" grpId="0"/>
      <p:bldP spid="203" grpId="0"/>
      <p:bldP spid="206" grpId="0"/>
      <p:bldP spid="208" grpId="0"/>
      <p:bldP spid="2" grpId="0"/>
      <p:bldP spid="2" grpId="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84" name="组合 183"/>
          <p:cNvGrpSpPr/>
          <p:nvPr/>
        </p:nvGrpSpPr>
        <p:grpSpPr bwMode="auto">
          <a:xfrm rot="11400000">
            <a:off x="8540117" y="5185895"/>
            <a:ext cx="165100" cy="819150"/>
            <a:chOff x="3554" y="1008"/>
            <a:chExt cx="96" cy="664"/>
          </a:xfrm>
        </p:grpSpPr>
        <p:sp>
          <p:nvSpPr>
            <p:cNvPr id="185" name="等腰三角形 739481"/>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87" name="矩形 739482"/>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sp>
        <p:nvSpPr>
          <p:cNvPr id="56322" name="矩形 739329"/>
          <p:cNvSpPr>
            <a:spLocks noRot="1" noChangeArrowheads="1"/>
          </p:cNvSpPr>
          <p:nvPr/>
        </p:nvSpPr>
        <p:spPr bwMode="auto">
          <a:xfrm>
            <a:off x="1690689" y="1465263"/>
            <a:ext cx="3983037"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20000"/>
              </a:spcBef>
              <a:buClr>
                <a:schemeClr val="hlink"/>
              </a:buClr>
              <a:buSzPct val="70000"/>
              <a:buFont typeface="Wingdings" panose="05000000000000000000" pitchFamily="2" charset="2"/>
              <a:buNone/>
            </a:pPr>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739332" name="内容占位符 739331"/>
          <p:cNvSpPr>
            <a:spLocks noGrp="1" noRot="1" noChangeArrowheads="1"/>
          </p:cNvSpPr>
          <p:nvPr>
            <p:ph sz="half" idx="1"/>
          </p:nvPr>
        </p:nvSpPr>
        <p:spPr>
          <a:xfrm>
            <a:off x="146520" y="1571997"/>
            <a:ext cx="6701402" cy="965714"/>
          </a:xfrm>
        </p:spPr>
        <p:txBody>
          <a:bodyPr wrap="square"/>
          <a:lstStyle/>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Given: </a:t>
            </a:r>
            <a:r>
              <a:rPr lang="zh-CN" altLang="en-US" sz="1800" b="1" dirty="0">
                <a:solidFill>
                  <a:schemeClr val="tx1"/>
                </a:solidFill>
                <a:latin typeface="微软雅黑" panose="020B0503020204020204" pitchFamily="34" charset="-122"/>
                <a:ea typeface="微软雅黑" panose="020B0503020204020204" pitchFamily="34" charset="-122"/>
              </a:rPr>
              <a:t>Follower motion law, cam rotates CCW</a:t>
            </a:r>
            <a:endParaRPr lang="zh-CN" altLang="en-US" sz="1800" b="1" dirty="0">
              <a:solidFill>
                <a:schemeClr val="tx1"/>
              </a:solidFill>
              <a:latin typeface="微软雅黑" panose="020B0503020204020204" pitchFamily="34" charset="-122"/>
              <a:ea typeface="微软雅黑" panose="020B0503020204020204" pitchFamily="34" charset="-122"/>
            </a:endParaRPr>
          </a:p>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Design: </a:t>
            </a:r>
            <a:r>
              <a:rPr lang="zh-CN" altLang="en-US" sz="1800" b="1" dirty="0">
                <a:solidFill>
                  <a:schemeClr val="tx1"/>
                </a:solidFill>
                <a:latin typeface="微软雅黑" panose="020B0503020204020204" pitchFamily="34" charset="-122"/>
                <a:ea typeface="微软雅黑" panose="020B0503020204020204" pitchFamily="34" charset="-122"/>
              </a:rPr>
              <a:t>Cam profile</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
        <p:nvSpPr>
          <p:cNvPr id="739336" name="任意多边形 739335"/>
          <p:cNvSpPr>
            <a:spLocks noChangeArrowheads="1"/>
          </p:cNvSpPr>
          <p:nvPr/>
        </p:nvSpPr>
        <p:spPr bwMode="auto">
          <a:xfrm>
            <a:off x="6907028" y="1593089"/>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37" name="任意多边形 739336"/>
          <p:cNvSpPr>
            <a:spLocks noChangeArrowheads="1"/>
          </p:cNvSpPr>
          <p:nvPr/>
        </p:nvSpPr>
        <p:spPr bwMode="auto">
          <a:xfrm>
            <a:off x="7867888" y="1906031"/>
            <a:ext cx="0" cy="150812"/>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38" name="任意多边形 739337"/>
          <p:cNvSpPr>
            <a:spLocks noChangeArrowheads="1"/>
          </p:cNvSpPr>
          <p:nvPr/>
        </p:nvSpPr>
        <p:spPr bwMode="auto">
          <a:xfrm>
            <a:off x="8079027" y="1648857"/>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39" name="任意多边形 739338"/>
          <p:cNvSpPr>
            <a:spLocks noChangeArrowheads="1"/>
          </p:cNvSpPr>
          <p:nvPr/>
        </p:nvSpPr>
        <p:spPr bwMode="auto">
          <a:xfrm>
            <a:off x="8290163" y="1398031"/>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0" name="任意多边形 739339"/>
          <p:cNvSpPr>
            <a:spLocks noChangeArrowheads="1"/>
          </p:cNvSpPr>
          <p:nvPr/>
        </p:nvSpPr>
        <p:spPr bwMode="auto">
          <a:xfrm>
            <a:off x="8504476" y="1259919"/>
            <a:ext cx="0" cy="798513"/>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1" name="任意多边形 739340"/>
          <p:cNvSpPr>
            <a:spLocks noChangeArrowheads="1"/>
          </p:cNvSpPr>
          <p:nvPr/>
        </p:nvSpPr>
        <p:spPr bwMode="auto">
          <a:xfrm>
            <a:off x="8609252" y="1248807"/>
            <a:ext cx="1587" cy="814387"/>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2" name="任意多边形 739341"/>
          <p:cNvSpPr>
            <a:spLocks noChangeArrowheads="1"/>
          </p:cNvSpPr>
          <p:nvPr/>
        </p:nvSpPr>
        <p:spPr bwMode="auto">
          <a:xfrm>
            <a:off x="7761527" y="1988582"/>
            <a:ext cx="1587" cy="71437"/>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3" name="任意多边形 739342"/>
          <p:cNvSpPr>
            <a:spLocks noChangeArrowheads="1"/>
          </p:cNvSpPr>
          <p:nvPr/>
        </p:nvSpPr>
        <p:spPr bwMode="auto">
          <a:xfrm>
            <a:off x="7972663" y="1783793"/>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4" name="任意多边形 739343"/>
          <p:cNvSpPr>
            <a:spLocks noChangeArrowheads="1"/>
          </p:cNvSpPr>
          <p:nvPr/>
        </p:nvSpPr>
        <p:spPr bwMode="auto">
          <a:xfrm>
            <a:off x="8183802" y="1513919"/>
            <a:ext cx="1587" cy="544513"/>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5" name="任意多边形 739344"/>
          <p:cNvSpPr>
            <a:spLocks noChangeArrowheads="1"/>
          </p:cNvSpPr>
          <p:nvPr/>
        </p:nvSpPr>
        <p:spPr bwMode="auto">
          <a:xfrm>
            <a:off x="8398113" y="1313893"/>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6" name="任意多边形 739345"/>
          <p:cNvSpPr>
            <a:spLocks noChangeArrowheads="1"/>
          </p:cNvSpPr>
          <p:nvPr/>
        </p:nvSpPr>
        <p:spPr bwMode="auto">
          <a:xfrm>
            <a:off x="9464913" y="1334531"/>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7" name="任意多边形 739346"/>
          <p:cNvSpPr>
            <a:spLocks noChangeArrowheads="1"/>
          </p:cNvSpPr>
          <p:nvPr/>
        </p:nvSpPr>
        <p:spPr bwMode="auto">
          <a:xfrm>
            <a:off x="9574452" y="1425018"/>
            <a:ext cx="1587" cy="636588"/>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8" name="任意多边形 739347"/>
          <p:cNvSpPr>
            <a:spLocks noChangeArrowheads="1"/>
          </p:cNvSpPr>
          <p:nvPr/>
        </p:nvSpPr>
        <p:spPr bwMode="auto">
          <a:xfrm>
            <a:off x="9693513" y="1518682"/>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49" name="任意多边形 739348"/>
          <p:cNvSpPr>
            <a:spLocks noChangeArrowheads="1"/>
          </p:cNvSpPr>
          <p:nvPr/>
        </p:nvSpPr>
        <p:spPr bwMode="auto">
          <a:xfrm>
            <a:off x="9801463" y="1605994"/>
            <a:ext cx="1588" cy="455613"/>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50" name="任意多边形 739349"/>
          <p:cNvSpPr>
            <a:spLocks noChangeArrowheads="1"/>
          </p:cNvSpPr>
          <p:nvPr/>
        </p:nvSpPr>
        <p:spPr bwMode="auto">
          <a:xfrm>
            <a:off x="9912588" y="1688544"/>
            <a:ext cx="1588" cy="373063"/>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51" name="任意多边形 739350"/>
          <p:cNvSpPr>
            <a:spLocks noChangeArrowheads="1"/>
          </p:cNvSpPr>
          <p:nvPr/>
        </p:nvSpPr>
        <p:spPr bwMode="auto">
          <a:xfrm>
            <a:off x="10023713" y="1790144"/>
            <a:ext cx="1588" cy="271463"/>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52" name="任意多边形 739351"/>
          <p:cNvSpPr>
            <a:spLocks noChangeArrowheads="1"/>
          </p:cNvSpPr>
          <p:nvPr/>
        </p:nvSpPr>
        <p:spPr bwMode="auto">
          <a:xfrm>
            <a:off x="10136427" y="1875868"/>
            <a:ext cx="1587" cy="185738"/>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353" name="任意多边形 739352"/>
          <p:cNvSpPr>
            <a:spLocks noChangeArrowheads="1"/>
          </p:cNvSpPr>
          <p:nvPr/>
        </p:nvSpPr>
        <p:spPr bwMode="auto">
          <a:xfrm>
            <a:off x="10249138" y="1963182"/>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39354" name="组合 739353"/>
          <p:cNvGrpSpPr/>
          <p:nvPr/>
        </p:nvGrpSpPr>
        <p:grpSpPr bwMode="auto">
          <a:xfrm>
            <a:off x="7070964" y="804307"/>
            <a:ext cx="4479925" cy="1570037"/>
            <a:chOff x="3136" y="1003"/>
            <a:chExt cx="2822" cy="989"/>
          </a:xfrm>
        </p:grpSpPr>
        <p:sp>
          <p:nvSpPr>
            <p:cNvPr id="56460" name="任意多边形 739354"/>
            <p:cNvSpPr>
              <a:spLocks noChangeArrowheads="1"/>
            </p:cNvSpPr>
            <p:nvPr/>
          </p:nvSpPr>
          <p:spPr bwMode="auto">
            <a:xfrm>
              <a:off x="4573" y="1276"/>
              <a:ext cx="642" cy="518"/>
            </a:xfrm>
            <a:custGeom>
              <a:avLst/>
              <a:gdLst>
                <a:gd name="T0" fmla="*/ 0 w 963"/>
                <a:gd name="T1" fmla="*/ 0 h 654"/>
                <a:gd name="T2" fmla="*/ 57 w 963"/>
                <a:gd name="T3" fmla="*/ 128 h 654"/>
                <a:gd name="T4" fmla="*/ 0 60000 65536"/>
                <a:gd name="T5" fmla="*/ 0 60000 65536"/>
              </a:gdLst>
              <a:ahLst/>
              <a:cxnLst>
                <a:cxn ang="T4">
                  <a:pos x="T0" y="T1"/>
                </a:cxn>
                <a:cxn ang="T5">
                  <a:pos x="T2" y="T3"/>
                </a:cxn>
              </a:cxnLst>
              <a:rect l="0" t="0" r="r" b="b"/>
              <a:pathLst>
                <a:path w="963" h="654">
                  <a:moveTo>
                    <a:pt x="0" y="0"/>
                  </a:moveTo>
                  <a:lnTo>
                    <a:pt x="963" y="65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56461" name="组合 739355"/>
            <p:cNvGrpSpPr/>
            <p:nvPr/>
          </p:nvGrpSpPr>
          <p:grpSpPr bwMode="auto">
            <a:xfrm>
              <a:off x="3136" y="1003"/>
              <a:ext cx="2822" cy="989"/>
              <a:chOff x="3136" y="1003"/>
              <a:chExt cx="2822" cy="989"/>
            </a:xfrm>
          </p:grpSpPr>
          <p:sp>
            <p:nvSpPr>
              <p:cNvPr id="56462" name="直接连接符 739356"/>
              <p:cNvSpPr>
                <a:spLocks noChangeShapeType="1"/>
              </p:cNvSpPr>
              <p:nvPr/>
            </p:nvSpPr>
            <p:spPr bwMode="auto">
              <a:xfrm flipV="1">
                <a:off x="3369" y="1082"/>
                <a:ext cx="0" cy="835"/>
              </a:xfrm>
              <a:prstGeom prst="line">
                <a:avLst/>
              </a:prstGeom>
              <a:noFill/>
              <a:ln w="3175">
                <a:solidFill>
                  <a:srgbClr val="00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56463" name="任意多边形 739357"/>
              <p:cNvSpPr>
                <a:spLocks noChangeArrowheads="1"/>
              </p:cNvSpPr>
              <p:nvPr/>
            </p:nvSpPr>
            <p:spPr bwMode="auto">
              <a:xfrm>
                <a:off x="3260" y="1794"/>
                <a:ext cx="2698" cy="0"/>
              </a:xfrm>
              <a:custGeom>
                <a:avLst/>
                <a:gdLst>
                  <a:gd name="T0" fmla="*/ 0 w 3225"/>
                  <a:gd name="T1" fmla="*/ 0 h 1"/>
                  <a:gd name="T2" fmla="*/ 924 w 3225"/>
                  <a:gd name="T3" fmla="*/ 1 h 1"/>
                  <a:gd name="T4" fmla="*/ 0 60000 65536"/>
                  <a:gd name="T5" fmla="*/ 0 60000 65536"/>
                </a:gdLst>
                <a:ahLst/>
                <a:cxnLst>
                  <a:cxn ang="T4">
                    <a:pos x="T0" y="T1"/>
                  </a:cxn>
                  <a:cxn ang="T5">
                    <a:pos x="T2" y="T3"/>
                  </a:cxn>
                </a:cxnLst>
                <a:rect l="0" t="0" r="r" b="b"/>
                <a:pathLst>
                  <a:path w="3225" h="1">
                    <a:moveTo>
                      <a:pt x="0" y="0"/>
                    </a:moveTo>
                    <a:lnTo>
                      <a:pt x="3225" y="1"/>
                    </a:lnTo>
                  </a:path>
                </a:pathLst>
              </a:custGeom>
              <a:noFill/>
              <a:ln w="3175">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64" name="文本框 739358"/>
              <p:cNvSpPr txBox="1">
                <a:spLocks noChangeArrowheads="1"/>
              </p:cNvSpPr>
              <p:nvPr/>
            </p:nvSpPr>
            <p:spPr bwMode="auto">
              <a:xfrm>
                <a:off x="3208" y="1003"/>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dirty="0">
                    <a:solidFill>
                      <a:srgbClr val="000000"/>
                    </a:solidFill>
                    <a:latin typeface="Times New Roman" panose="02020603050405020304" pitchFamily="18" charset="0"/>
                  </a:rPr>
                  <a:t>s</a:t>
                </a:r>
                <a:endParaRPr lang="en-US" altLang="zh-CN" sz="1800" dirty="0">
                  <a:solidFill>
                    <a:srgbClr val="000000"/>
                  </a:solidFill>
                  <a:latin typeface="Times New Roman" panose="02020603050405020304" pitchFamily="18" charset="0"/>
                </a:endParaRPr>
              </a:p>
            </p:txBody>
          </p:sp>
          <p:sp>
            <p:nvSpPr>
              <p:cNvPr id="56466" name="文本框 739360"/>
              <p:cNvSpPr txBox="1">
                <a:spLocks noChangeArrowheads="1"/>
              </p:cNvSpPr>
              <p:nvPr/>
            </p:nvSpPr>
            <p:spPr bwMode="auto">
              <a:xfrm>
                <a:off x="3224" y="17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a:latin typeface="Times New Roman" panose="02020603050405020304" pitchFamily="18" charset="0"/>
                  </a:rPr>
                  <a:t>0</a:t>
                </a:r>
                <a:endParaRPr lang="zh-CN" altLang="zh-CN" sz="1400">
                  <a:latin typeface="Times New Roman" panose="02020603050405020304" pitchFamily="18" charset="0"/>
                </a:endParaRPr>
              </a:p>
            </p:txBody>
          </p:sp>
          <p:sp>
            <p:nvSpPr>
              <p:cNvPr id="56467" name="任意多边形 739361"/>
              <p:cNvSpPr>
                <a:spLocks noChangeArrowheads="1"/>
              </p:cNvSpPr>
              <p:nvPr/>
            </p:nvSpPr>
            <p:spPr bwMode="auto">
              <a:xfrm>
                <a:off x="4171" y="1278"/>
                <a:ext cx="1" cy="639"/>
              </a:xfrm>
              <a:custGeom>
                <a:avLst/>
                <a:gdLst>
                  <a:gd name="T0" fmla="*/ 0 w 1"/>
                  <a:gd name="T1" fmla="*/ 0 h 1488"/>
                  <a:gd name="T2" fmla="*/ 0 w 1"/>
                  <a:gd name="T3" fmla="*/ 4 h 1488"/>
                  <a:gd name="T4" fmla="*/ 0 60000 65536"/>
                  <a:gd name="T5" fmla="*/ 0 60000 65536"/>
                </a:gdLst>
                <a:ahLst/>
                <a:cxnLst>
                  <a:cxn ang="T4">
                    <a:pos x="T0" y="T1"/>
                  </a:cxn>
                  <a:cxn ang="T5">
                    <a:pos x="T2" y="T3"/>
                  </a:cxn>
                </a:cxnLst>
                <a:rect l="0" t="0" r="r" b="b"/>
                <a:pathLst>
                  <a:path w="1" h="1488">
                    <a:moveTo>
                      <a:pt x="0" y="0"/>
                    </a:moveTo>
                    <a:lnTo>
                      <a:pt x="0" y="1488"/>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68" name="直接连接符 739362"/>
              <p:cNvSpPr>
                <a:spLocks noChangeShapeType="1"/>
              </p:cNvSpPr>
              <p:nvPr/>
            </p:nvSpPr>
            <p:spPr bwMode="auto">
              <a:xfrm>
                <a:off x="3369" y="1904"/>
                <a:ext cx="80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56469" name="任意多边形 739363"/>
              <p:cNvSpPr>
                <a:spLocks noChangeArrowheads="1"/>
              </p:cNvSpPr>
              <p:nvPr/>
            </p:nvSpPr>
            <p:spPr bwMode="auto">
              <a:xfrm>
                <a:off x="4573" y="1278"/>
                <a:ext cx="1" cy="661"/>
              </a:xfrm>
              <a:custGeom>
                <a:avLst/>
                <a:gdLst>
                  <a:gd name="T0" fmla="*/ 0 w 1"/>
                  <a:gd name="T1" fmla="*/ 0 h 835"/>
                  <a:gd name="T2" fmla="*/ 1 w 1"/>
                  <a:gd name="T3" fmla="*/ 163 h 835"/>
                  <a:gd name="T4" fmla="*/ 0 60000 65536"/>
                  <a:gd name="T5" fmla="*/ 0 60000 65536"/>
                </a:gdLst>
                <a:ahLst/>
                <a:cxnLst>
                  <a:cxn ang="T4">
                    <a:pos x="T0" y="T1"/>
                  </a:cxn>
                  <a:cxn ang="T5">
                    <a:pos x="T2" y="T3"/>
                  </a:cxn>
                </a:cxnLst>
                <a:rect l="0" t="0" r="r" b="b"/>
                <a:pathLst>
                  <a:path w="1" h="835">
                    <a:moveTo>
                      <a:pt x="0" y="0"/>
                    </a:moveTo>
                    <a:lnTo>
                      <a:pt x="1" y="835"/>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70" name="任意多边形 739364"/>
              <p:cNvSpPr>
                <a:spLocks noChangeArrowheads="1"/>
              </p:cNvSpPr>
              <p:nvPr/>
            </p:nvSpPr>
            <p:spPr bwMode="auto">
              <a:xfrm>
                <a:off x="4573" y="1904"/>
                <a:ext cx="638" cy="0"/>
              </a:xfrm>
              <a:custGeom>
                <a:avLst/>
                <a:gdLst>
                  <a:gd name="T0" fmla="*/ 219 w 762"/>
                  <a:gd name="T1" fmla="*/ 1 h 1"/>
                  <a:gd name="T2" fmla="*/ 0 w 762"/>
                  <a:gd name="T3" fmla="*/ 0 h 1"/>
                  <a:gd name="T4" fmla="*/ 0 60000 65536"/>
                  <a:gd name="T5" fmla="*/ 0 60000 65536"/>
                </a:gdLst>
                <a:ahLst/>
                <a:cxnLst>
                  <a:cxn ang="T4">
                    <a:pos x="T0" y="T1"/>
                  </a:cxn>
                  <a:cxn ang="T5">
                    <a:pos x="T2" y="T3"/>
                  </a:cxn>
                </a:cxnLst>
                <a:rect l="0" t="0" r="r" b="b"/>
                <a:pathLst>
                  <a:path w="762" h="1">
                    <a:moveTo>
                      <a:pt x="762" y="1"/>
                    </a:moveTo>
                    <a:lnTo>
                      <a:pt x="0"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71" name="任意多边形 739365"/>
              <p:cNvSpPr>
                <a:spLocks noChangeArrowheads="1"/>
              </p:cNvSpPr>
              <p:nvPr/>
            </p:nvSpPr>
            <p:spPr bwMode="auto">
              <a:xfrm>
                <a:off x="5213" y="1794"/>
                <a:ext cx="1" cy="129"/>
              </a:xfrm>
              <a:custGeom>
                <a:avLst/>
                <a:gdLst>
                  <a:gd name="T0" fmla="*/ 0 w 1"/>
                  <a:gd name="T1" fmla="*/ 0 h 163"/>
                  <a:gd name="T2" fmla="*/ 1 w 1"/>
                  <a:gd name="T3" fmla="*/ 32 h 163"/>
                  <a:gd name="T4" fmla="*/ 0 60000 65536"/>
                  <a:gd name="T5" fmla="*/ 0 60000 65536"/>
                </a:gdLst>
                <a:ahLst/>
                <a:cxnLst>
                  <a:cxn ang="T4">
                    <a:pos x="T0" y="T1"/>
                  </a:cxn>
                  <a:cxn ang="T5">
                    <a:pos x="T2" y="T3"/>
                  </a:cxn>
                </a:cxnLst>
                <a:rect l="0" t="0" r="r" b="b"/>
                <a:pathLst>
                  <a:path w="1" h="163">
                    <a:moveTo>
                      <a:pt x="0" y="0"/>
                    </a:moveTo>
                    <a:lnTo>
                      <a:pt x="1" y="163"/>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72" name="直接连接符 739366"/>
              <p:cNvSpPr>
                <a:spLocks noChangeShapeType="1"/>
              </p:cNvSpPr>
              <p:nvPr/>
            </p:nvSpPr>
            <p:spPr bwMode="auto">
              <a:xfrm>
                <a:off x="3275" y="1278"/>
                <a:ext cx="1057"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a:p>
            </p:txBody>
          </p:sp>
          <p:sp>
            <p:nvSpPr>
              <p:cNvPr id="56473" name="直接连接符 739367"/>
              <p:cNvSpPr>
                <a:spLocks noChangeShapeType="1"/>
              </p:cNvSpPr>
              <p:nvPr/>
            </p:nvSpPr>
            <p:spPr bwMode="auto">
              <a:xfrm>
                <a:off x="3315" y="1278"/>
                <a:ext cx="0" cy="516"/>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56474" name="文本框 739368"/>
              <p:cNvSpPr txBox="1">
                <a:spLocks noChangeArrowheads="1"/>
              </p:cNvSpPr>
              <p:nvPr/>
            </p:nvSpPr>
            <p:spPr bwMode="auto">
              <a:xfrm rot="-5400000">
                <a:off x="3146" y="141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Times New Roman" panose="02020603050405020304" pitchFamily="18" charset="0"/>
                  </a:rPr>
                  <a:t>h</a:t>
                </a:r>
                <a:endParaRPr lang="en-US" altLang="zh-CN" sz="1400">
                  <a:latin typeface="Times New Roman" panose="02020603050405020304" pitchFamily="18" charset="0"/>
                </a:endParaRPr>
              </a:p>
            </p:txBody>
          </p:sp>
          <p:sp>
            <p:nvSpPr>
              <p:cNvPr id="56475" name="任意多边形 739369"/>
              <p:cNvSpPr>
                <a:spLocks noChangeArrowheads="1"/>
              </p:cNvSpPr>
              <p:nvPr/>
            </p:nvSpPr>
            <p:spPr bwMode="auto">
              <a:xfrm>
                <a:off x="3369" y="1277"/>
                <a:ext cx="802" cy="517"/>
              </a:xfrm>
              <a:custGeom>
                <a:avLst/>
                <a:gdLst>
                  <a:gd name="T0" fmla="*/ 0 w 1442"/>
                  <a:gd name="T1" fmla="*/ 3 h 1203"/>
                  <a:gd name="T2" fmla="*/ 2 w 1442"/>
                  <a:gd name="T3" fmla="*/ 3 h 1203"/>
                  <a:gd name="T4" fmla="*/ 4 w 1442"/>
                  <a:gd name="T5" fmla="*/ 3 h 1203"/>
                  <a:gd name="T6" fmla="*/ 6 w 1442"/>
                  <a:gd name="T7" fmla="*/ 3 h 1203"/>
                  <a:gd name="T8" fmla="*/ 8 w 1442"/>
                  <a:gd name="T9" fmla="*/ 3 h 1203"/>
                  <a:gd name="T10" fmla="*/ 10 w 1442"/>
                  <a:gd name="T11" fmla="*/ 2 h 1203"/>
                  <a:gd name="T12" fmla="*/ 12 w 1442"/>
                  <a:gd name="T13" fmla="*/ 2 h 1203"/>
                  <a:gd name="T14" fmla="*/ 14 w 1442"/>
                  <a:gd name="T15" fmla="*/ 1 h 1203"/>
                  <a:gd name="T16" fmla="*/ 16 w 1442"/>
                  <a:gd name="T17" fmla="*/ 0 h 1203"/>
                  <a:gd name="T18" fmla="*/ 18 w 1442"/>
                  <a:gd name="T19" fmla="*/ 0 h 1203"/>
                  <a:gd name="T20" fmla="*/ 20 w 1442"/>
                  <a:gd name="T21" fmla="*/ 0 h 1203"/>
                  <a:gd name="T22" fmla="*/ 22 w 1442"/>
                  <a:gd name="T23" fmla="*/ 0 h 1203"/>
                  <a:gd name="T24" fmla="*/ 24 w 1442"/>
                  <a:gd name="T25" fmla="*/ 0 h 1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2" h="1203">
                    <a:moveTo>
                      <a:pt x="0" y="1202"/>
                    </a:moveTo>
                    <a:cubicBezTo>
                      <a:pt x="20" y="1201"/>
                      <a:pt x="82" y="1203"/>
                      <a:pt x="122" y="1198"/>
                    </a:cubicBezTo>
                    <a:cubicBezTo>
                      <a:pt x="162" y="1193"/>
                      <a:pt x="202" y="1188"/>
                      <a:pt x="242" y="1171"/>
                    </a:cubicBezTo>
                    <a:cubicBezTo>
                      <a:pt x="282" y="1154"/>
                      <a:pt x="322" y="1129"/>
                      <a:pt x="362" y="1097"/>
                    </a:cubicBezTo>
                    <a:cubicBezTo>
                      <a:pt x="402" y="1065"/>
                      <a:pt x="442" y="1027"/>
                      <a:pt x="482" y="977"/>
                    </a:cubicBezTo>
                    <a:cubicBezTo>
                      <a:pt x="522" y="927"/>
                      <a:pt x="562" y="860"/>
                      <a:pt x="602" y="797"/>
                    </a:cubicBezTo>
                    <a:cubicBezTo>
                      <a:pt x="642" y="734"/>
                      <a:pt x="685" y="664"/>
                      <a:pt x="725" y="599"/>
                    </a:cubicBezTo>
                    <a:cubicBezTo>
                      <a:pt x="765" y="534"/>
                      <a:pt x="803" y="465"/>
                      <a:pt x="842" y="404"/>
                    </a:cubicBezTo>
                    <a:cubicBezTo>
                      <a:pt x="881" y="343"/>
                      <a:pt x="922" y="278"/>
                      <a:pt x="962" y="230"/>
                    </a:cubicBezTo>
                    <a:cubicBezTo>
                      <a:pt x="1002" y="182"/>
                      <a:pt x="1042" y="146"/>
                      <a:pt x="1082" y="113"/>
                    </a:cubicBezTo>
                    <a:cubicBezTo>
                      <a:pt x="1122" y="80"/>
                      <a:pt x="1162" y="50"/>
                      <a:pt x="1202" y="32"/>
                    </a:cubicBezTo>
                    <a:cubicBezTo>
                      <a:pt x="1242" y="14"/>
                      <a:pt x="1282" y="10"/>
                      <a:pt x="1322" y="5"/>
                    </a:cubicBezTo>
                    <a:cubicBezTo>
                      <a:pt x="1362" y="0"/>
                      <a:pt x="1417" y="3"/>
                      <a:pt x="1442" y="2"/>
                    </a:cubicBezTo>
                  </a:path>
                </a:pathLst>
              </a:custGeom>
              <a:noFill/>
              <a:ln w="1905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76" name="任意多边形 739370"/>
              <p:cNvSpPr>
                <a:spLocks noChangeArrowheads="1"/>
              </p:cNvSpPr>
              <p:nvPr/>
            </p:nvSpPr>
            <p:spPr bwMode="auto">
              <a:xfrm>
                <a:off x="4171" y="1275"/>
                <a:ext cx="405" cy="1"/>
              </a:xfrm>
              <a:custGeom>
                <a:avLst/>
                <a:gdLst>
                  <a:gd name="T0" fmla="*/ 0 w 483"/>
                  <a:gd name="T1" fmla="*/ 0 h 1"/>
                  <a:gd name="T2" fmla="*/ 141 w 483"/>
                  <a:gd name="T3" fmla="*/ 1 h 1"/>
                  <a:gd name="T4" fmla="*/ 0 60000 65536"/>
                  <a:gd name="T5" fmla="*/ 0 60000 65536"/>
                </a:gdLst>
                <a:ahLst/>
                <a:cxnLst>
                  <a:cxn ang="T4">
                    <a:pos x="T0" y="T1"/>
                  </a:cxn>
                  <a:cxn ang="T5">
                    <a:pos x="T2" y="T3"/>
                  </a:cxn>
                </a:cxnLst>
                <a:rect l="0" t="0" r="r" b="b"/>
                <a:pathLst>
                  <a:path w="483" h="1">
                    <a:moveTo>
                      <a:pt x="0" y="0"/>
                    </a:moveTo>
                    <a:lnTo>
                      <a:pt x="483" y="1"/>
                    </a:lnTo>
                  </a:path>
                </a:pathLst>
              </a:custGeom>
              <a:noFill/>
              <a:ln w="19050">
                <a:solidFill>
                  <a:srgbClr val="FF99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77" name="直接连接符 739371"/>
              <p:cNvSpPr>
                <a:spLocks noChangeShapeType="1"/>
              </p:cNvSpPr>
              <p:nvPr/>
            </p:nvSpPr>
            <p:spPr bwMode="auto">
              <a:xfrm>
                <a:off x="5805" y="1794"/>
                <a:ext cx="0" cy="11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56478" name="任意多边形 739372"/>
              <p:cNvSpPr>
                <a:spLocks noChangeArrowheads="1"/>
              </p:cNvSpPr>
              <p:nvPr/>
            </p:nvSpPr>
            <p:spPr bwMode="auto">
              <a:xfrm>
                <a:off x="4159" y="1904"/>
                <a:ext cx="411" cy="0"/>
              </a:xfrm>
              <a:custGeom>
                <a:avLst/>
                <a:gdLst>
                  <a:gd name="T0" fmla="*/ 0 w 492"/>
                  <a:gd name="T1" fmla="*/ 0 h 1"/>
                  <a:gd name="T2" fmla="*/ 140 w 492"/>
                  <a:gd name="T3" fmla="*/ 0 h 1"/>
                  <a:gd name="T4" fmla="*/ 0 60000 65536"/>
                  <a:gd name="T5" fmla="*/ 0 60000 65536"/>
                </a:gdLst>
                <a:ahLst/>
                <a:cxnLst>
                  <a:cxn ang="T4">
                    <a:pos x="T0" y="T1"/>
                  </a:cxn>
                  <a:cxn ang="T5">
                    <a:pos x="T2" y="T3"/>
                  </a:cxn>
                </a:cxnLst>
                <a:rect l="0" t="0" r="r" b="b"/>
                <a:pathLst>
                  <a:path w="492" h="1">
                    <a:moveTo>
                      <a:pt x="0" y="0"/>
                    </a:moveTo>
                    <a:lnTo>
                      <a:pt x="492"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79" name="直接连接符 739373"/>
              <p:cNvSpPr>
                <a:spLocks noChangeShapeType="1"/>
              </p:cNvSpPr>
              <p:nvPr/>
            </p:nvSpPr>
            <p:spPr bwMode="auto">
              <a:xfrm>
                <a:off x="5213" y="1904"/>
                <a:ext cx="59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graphicFrame>
            <p:nvGraphicFramePr>
              <p:cNvPr id="56480" name="对象 739374"/>
              <p:cNvGraphicFramePr/>
              <p:nvPr/>
            </p:nvGraphicFramePr>
            <p:xfrm>
              <a:off x="3672" y="1823"/>
              <a:ext cx="345" cy="153"/>
            </p:xfrm>
            <a:graphic>
              <a:graphicData uri="http://schemas.openxmlformats.org/presentationml/2006/ole">
                <mc:AlternateContent xmlns:mc="http://schemas.openxmlformats.org/markup-compatibility/2006">
                  <mc:Choice xmlns:v="urn:schemas-microsoft-com:vml" Requires="v">
                    <p:oleObj spid="_x0000_s231466" name="" r:id="rId1" imgW="316865" imgH="177800" progId="Equation.3">
                      <p:embed/>
                    </p:oleObj>
                  </mc:Choice>
                  <mc:Fallback>
                    <p:oleObj name="" r:id="rId1" imgW="316865" imgH="177800" progId="Equation.3">
                      <p:embed/>
                      <p:pic>
                        <p:nvPicPr>
                          <p:cNvPr id="0" name="对象 73937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2" y="1823"/>
                            <a:ext cx="34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481" name="对象 739375"/>
              <p:cNvGraphicFramePr/>
              <p:nvPr/>
            </p:nvGraphicFramePr>
            <p:xfrm>
              <a:off x="4270" y="1811"/>
              <a:ext cx="239" cy="179"/>
            </p:xfrm>
            <a:graphic>
              <a:graphicData uri="http://schemas.openxmlformats.org/presentationml/2006/ole">
                <mc:AlternateContent xmlns:mc="http://schemas.openxmlformats.org/markup-compatibility/2006">
                  <mc:Choice xmlns:v="urn:schemas-microsoft-com:vml" Requires="v">
                    <p:oleObj spid="_x0000_s231467" name="公式" r:id="rId3" imgW="5791200" imgH="4876800" progId="Equation.3">
                      <p:embed/>
                    </p:oleObj>
                  </mc:Choice>
                  <mc:Fallback>
                    <p:oleObj name="公式" r:id="rId3" imgW="5791200" imgH="4876800" progId="Equation.3">
                      <p:embed/>
                      <p:pic>
                        <p:nvPicPr>
                          <p:cNvPr id="0" name="对象 739375"/>
                          <p:cNvPicPr>
                            <a:picLocks noChangeArrowheads="1"/>
                          </p:cNvPicPr>
                          <p:nvPr/>
                        </p:nvPicPr>
                        <p:blipFill>
                          <a:blip r:embed="rId4"/>
                          <a:srcRect/>
                          <a:stretch>
                            <a:fillRect/>
                          </a:stretch>
                        </p:blipFill>
                        <p:spPr bwMode="auto">
                          <a:xfrm>
                            <a:off x="4270" y="1811"/>
                            <a:ext cx="23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482" name="对象 739376"/>
              <p:cNvGraphicFramePr/>
              <p:nvPr/>
            </p:nvGraphicFramePr>
            <p:xfrm>
              <a:off x="4835" y="1829"/>
              <a:ext cx="242" cy="161"/>
            </p:xfrm>
            <a:graphic>
              <a:graphicData uri="http://schemas.openxmlformats.org/presentationml/2006/ole">
                <mc:AlternateContent xmlns:mc="http://schemas.openxmlformats.org/markup-compatibility/2006">
                  <mc:Choice xmlns:v="urn:schemas-microsoft-com:vml" Requires="v">
                    <p:oleObj spid="_x0000_s231468" name="" r:id="rId5" imgW="241300" imgH="203200" progId="Equation.3">
                      <p:embed/>
                    </p:oleObj>
                  </mc:Choice>
                  <mc:Fallback>
                    <p:oleObj name="" r:id="rId5" imgW="241300" imgH="203200" progId="Equation.3">
                      <p:embed/>
                      <p:pic>
                        <p:nvPicPr>
                          <p:cNvPr id="0" name="对象 73937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5" y="1829"/>
                            <a:ext cx="242"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483" name="对象 739377"/>
              <p:cNvGraphicFramePr/>
              <p:nvPr/>
            </p:nvGraphicFramePr>
            <p:xfrm>
              <a:off x="5444" y="1822"/>
              <a:ext cx="254" cy="170"/>
            </p:xfrm>
            <a:graphic>
              <a:graphicData uri="http://schemas.openxmlformats.org/presentationml/2006/ole">
                <mc:AlternateContent xmlns:mc="http://schemas.openxmlformats.org/markup-compatibility/2006">
                  <mc:Choice xmlns:v="urn:schemas-microsoft-com:vml" Requires="v">
                    <p:oleObj spid="_x0000_s231469" name="" r:id="rId7" imgW="241300" imgH="203200" progId="Equation.3">
                      <p:embed/>
                    </p:oleObj>
                  </mc:Choice>
                  <mc:Fallback>
                    <p:oleObj name="" r:id="rId7" imgW="241300" imgH="203200" progId="Equation.3">
                      <p:embed/>
                      <p:pic>
                        <p:nvPicPr>
                          <p:cNvPr id="0" name="对象 73937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 y="1822"/>
                            <a:ext cx="25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484" name="任意多边形 739378"/>
              <p:cNvSpPr>
                <a:spLocks noChangeArrowheads="1"/>
              </p:cNvSpPr>
              <p:nvPr/>
            </p:nvSpPr>
            <p:spPr bwMode="auto">
              <a:xfrm>
                <a:off x="5213" y="1797"/>
                <a:ext cx="592" cy="0"/>
              </a:xfrm>
              <a:custGeom>
                <a:avLst/>
                <a:gdLst>
                  <a:gd name="T0" fmla="*/ 0 w 708"/>
                  <a:gd name="T1" fmla="*/ 0 h 1"/>
                  <a:gd name="T2" fmla="*/ 202 w 708"/>
                  <a:gd name="T3" fmla="*/ 1 h 1"/>
                  <a:gd name="T4" fmla="*/ 0 60000 65536"/>
                  <a:gd name="T5" fmla="*/ 0 60000 65536"/>
                </a:gdLst>
                <a:ahLst/>
                <a:cxnLst>
                  <a:cxn ang="T4">
                    <a:pos x="T0" y="T1"/>
                  </a:cxn>
                  <a:cxn ang="T5">
                    <a:pos x="T2" y="T3"/>
                  </a:cxn>
                </a:cxnLst>
                <a:rect l="0" t="0" r="r" b="b"/>
                <a:pathLst>
                  <a:path w="708" h="1">
                    <a:moveTo>
                      <a:pt x="0" y="0"/>
                    </a:moveTo>
                    <a:lnTo>
                      <a:pt x="708" y="1"/>
                    </a:ln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sp>
        <p:nvSpPr>
          <p:cNvPr id="739380" name="直接连接符 739379"/>
          <p:cNvSpPr>
            <a:spLocks noChangeShapeType="1"/>
          </p:cNvSpPr>
          <p:nvPr/>
        </p:nvSpPr>
        <p:spPr bwMode="auto">
          <a:xfrm rot="194254">
            <a:off x="8841026" y="4397166"/>
            <a:ext cx="1733550" cy="60960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1" name="直接连接符 739380"/>
          <p:cNvSpPr>
            <a:spLocks noChangeShapeType="1"/>
          </p:cNvSpPr>
          <p:nvPr/>
        </p:nvSpPr>
        <p:spPr bwMode="auto">
          <a:xfrm rot="20357694">
            <a:off x="8920401" y="4047916"/>
            <a:ext cx="1733550" cy="6096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2" name="直接连接符 739381"/>
          <p:cNvSpPr>
            <a:spLocks noChangeShapeType="1"/>
          </p:cNvSpPr>
          <p:nvPr/>
        </p:nvSpPr>
        <p:spPr bwMode="auto">
          <a:xfrm rot="21327787">
            <a:off x="8883888" y="4287629"/>
            <a:ext cx="1733550" cy="6096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3" name="直接连接符 739382"/>
          <p:cNvSpPr>
            <a:spLocks noChangeShapeType="1"/>
          </p:cNvSpPr>
          <p:nvPr/>
        </p:nvSpPr>
        <p:spPr bwMode="auto">
          <a:xfrm rot="20854584">
            <a:off x="8910876" y="4173329"/>
            <a:ext cx="1733550" cy="6096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4" name="直接连接符 739383"/>
          <p:cNvSpPr>
            <a:spLocks noChangeShapeType="1"/>
          </p:cNvSpPr>
          <p:nvPr/>
        </p:nvSpPr>
        <p:spPr bwMode="auto">
          <a:xfrm rot="19720172">
            <a:off x="8901352" y="3865354"/>
            <a:ext cx="1730375" cy="6350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5" name="直接连接符 739384"/>
          <p:cNvSpPr>
            <a:spLocks noChangeShapeType="1"/>
          </p:cNvSpPr>
          <p:nvPr/>
        </p:nvSpPr>
        <p:spPr bwMode="auto">
          <a:xfrm rot="18651080">
            <a:off x="8877538" y="3614529"/>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6" name="直接连接符 739385"/>
          <p:cNvSpPr>
            <a:spLocks noChangeShapeType="1"/>
          </p:cNvSpPr>
          <p:nvPr/>
        </p:nvSpPr>
        <p:spPr bwMode="auto">
          <a:xfrm rot="19210542">
            <a:off x="8863252" y="3739942"/>
            <a:ext cx="1730375" cy="63817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7" name="直接连接符 739386"/>
          <p:cNvSpPr>
            <a:spLocks noChangeShapeType="1"/>
          </p:cNvSpPr>
          <p:nvPr/>
        </p:nvSpPr>
        <p:spPr bwMode="auto">
          <a:xfrm rot="18070452">
            <a:off x="8790226" y="3492291"/>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8" name="直接连接符 739387"/>
          <p:cNvSpPr>
            <a:spLocks noChangeShapeType="1"/>
          </p:cNvSpPr>
          <p:nvPr/>
        </p:nvSpPr>
        <p:spPr bwMode="auto">
          <a:xfrm rot="16846435">
            <a:off x="8547338" y="3292266"/>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89" name="直接连接符 739388"/>
          <p:cNvSpPr>
            <a:spLocks noChangeShapeType="1"/>
          </p:cNvSpPr>
          <p:nvPr/>
        </p:nvSpPr>
        <p:spPr bwMode="auto">
          <a:xfrm rot="15576713">
            <a:off x="8228251" y="3179554"/>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0" name="直接连接符 739389"/>
          <p:cNvSpPr>
            <a:spLocks noChangeShapeType="1"/>
          </p:cNvSpPr>
          <p:nvPr/>
        </p:nvSpPr>
        <p:spPr bwMode="auto">
          <a:xfrm rot="16200000">
            <a:off x="8390176" y="3220829"/>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1" name="直接连接符 739390"/>
          <p:cNvSpPr>
            <a:spLocks noChangeShapeType="1"/>
          </p:cNvSpPr>
          <p:nvPr/>
        </p:nvSpPr>
        <p:spPr bwMode="auto">
          <a:xfrm rot="17457068">
            <a:off x="8679101" y="3382754"/>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2" name="直接连接符 739391"/>
          <p:cNvSpPr>
            <a:spLocks noChangeShapeType="1"/>
          </p:cNvSpPr>
          <p:nvPr/>
        </p:nvSpPr>
        <p:spPr bwMode="auto">
          <a:xfrm rot="7780787">
            <a:off x="7256701" y="4441616"/>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3" name="直接连接符 739392"/>
          <p:cNvSpPr>
            <a:spLocks noChangeShapeType="1"/>
          </p:cNvSpPr>
          <p:nvPr/>
        </p:nvSpPr>
        <p:spPr bwMode="auto">
          <a:xfrm rot="8929401">
            <a:off x="7093189" y="4200317"/>
            <a:ext cx="1711325" cy="646113"/>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4" name="直接连接符 739393"/>
          <p:cNvSpPr>
            <a:spLocks noChangeShapeType="1"/>
          </p:cNvSpPr>
          <p:nvPr/>
        </p:nvSpPr>
        <p:spPr bwMode="auto">
          <a:xfrm rot="8354418">
            <a:off x="7139226" y="4340016"/>
            <a:ext cx="1712912" cy="65405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5" name="直接连接符 739394"/>
          <p:cNvSpPr>
            <a:spLocks noChangeShapeType="1"/>
          </p:cNvSpPr>
          <p:nvPr/>
        </p:nvSpPr>
        <p:spPr bwMode="auto">
          <a:xfrm rot="7252647">
            <a:off x="7336076" y="4551154"/>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6" name="直接连接符 739395"/>
          <p:cNvSpPr>
            <a:spLocks noChangeShapeType="1"/>
          </p:cNvSpPr>
          <p:nvPr/>
        </p:nvSpPr>
        <p:spPr bwMode="auto">
          <a:xfrm rot="5975386">
            <a:off x="7593251" y="4759116"/>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7" name="直接连接符 739396"/>
          <p:cNvSpPr>
            <a:spLocks noChangeShapeType="1"/>
          </p:cNvSpPr>
          <p:nvPr/>
        </p:nvSpPr>
        <p:spPr bwMode="auto">
          <a:xfrm rot="4742410">
            <a:off x="7901226" y="4865479"/>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8" name="直接连接符 739397"/>
          <p:cNvSpPr>
            <a:spLocks noChangeShapeType="1"/>
          </p:cNvSpPr>
          <p:nvPr/>
        </p:nvSpPr>
        <p:spPr bwMode="auto">
          <a:xfrm rot="5365399">
            <a:off x="7739301" y="4824204"/>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399" name="直接连接符 739398"/>
          <p:cNvSpPr>
            <a:spLocks noChangeShapeType="1"/>
          </p:cNvSpPr>
          <p:nvPr/>
        </p:nvSpPr>
        <p:spPr bwMode="auto">
          <a:xfrm rot="6604870">
            <a:off x="7455138" y="4667041"/>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400" name="直接连接符 739399"/>
          <p:cNvSpPr>
            <a:spLocks noChangeShapeType="1"/>
          </p:cNvSpPr>
          <p:nvPr/>
        </p:nvSpPr>
        <p:spPr bwMode="auto">
          <a:xfrm rot="9548484">
            <a:off x="7070963" y="4019342"/>
            <a:ext cx="1728788" cy="66516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739401" name="任意多边形 739400"/>
          <p:cNvSpPr>
            <a:spLocks noChangeArrowheads="1"/>
          </p:cNvSpPr>
          <p:nvPr/>
        </p:nvSpPr>
        <p:spPr bwMode="auto">
          <a:xfrm>
            <a:off x="8861663" y="4347954"/>
            <a:ext cx="1588" cy="1719262"/>
          </a:xfrm>
          <a:custGeom>
            <a:avLst/>
            <a:gdLst>
              <a:gd name="T0" fmla="*/ 0 w 1"/>
              <a:gd name="T1" fmla="*/ 0 h 1083"/>
              <a:gd name="T2" fmla="*/ 0 w 1"/>
              <a:gd name="T3" fmla="*/ 2147483646 h 1083"/>
              <a:gd name="T4" fmla="*/ 0 60000 65536"/>
              <a:gd name="T5" fmla="*/ 0 60000 65536"/>
            </a:gdLst>
            <a:ahLst/>
            <a:cxnLst>
              <a:cxn ang="T4">
                <a:pos x="T0" y="T1"/>
              </a:cxn>
              <a:cxn ang="T5">
                <a:pos x="T2" y="T3"/>
              </a:cxn>
            </a:cxnLst>
            <a:rect l="0" t="0" r="r" b="b"/>
            <a:pathLst>
              <a:path w="1" h="1083">
                <a:moveTo>
                  <a:pt x="0" y="0"/>
                </a:moveTo>
                <a:lnTo>
                  <a:pt x="0" y="1083"/>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39402" name="组合 739401"/>
          <p:cNvGrpSpPr/>
          <p:nvPr/>
        </p:nvGrpSpPr>
        <p:grpSpPr bwMode="auto">
          <a:xfrm rot="1919138">
            <a:off x="9334738" y="3573255"/>
            <a:ext cx="46038" cy="71437"/>
            <a:chOff x="4204" y="1999"/>
            <a:chExt cx="27" cy="45"/>
          </a:xfrm>
        </p:grpSpPr>
        <p:sp>
          <p:nvSpPr>
            <p:cNvPr id="56458" name="任意多边形 739402"/>
            <p:cNvSpPr>
              <a:spLocks noChangeArrowheads="1"/>
            </p:cNvSpPr>
            <p:nvPr/>
          </p:nvSpPr>
          <p:spPr bwMode="auto">
            <a:xfrm>
              <a:off x="4216" y="1999"/>
              <a:ext cx="1" cy="45"/>
            </a:xfrm>
            <a:custGeom>
              <a:avLst/>
              <a:gdLst>
                <a:gd name="T0" fmla="*/ 0 w 1"/>
                <a:gd name="T1" fmla="*/ 10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59" name="任意多边形 739403"/>
            <p:cNvSpPr>
              <a:spLocks noChangeArrowheads="1"/>
            </p:cNvSpPr>
            <p:nvPr/>
          </p:nvSpPr>
          <p:spPr bwMode="auto">
            <a:xfrm>
              <a:off x="4204" y="2000"/>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05" name="组合 739404"/>
          <p:cNvGrpSpPr/>
          <p:nvPr/>
        </p:nvGrpSpPr>
        <p:grpSpPr bwMode="auto">
          <a:xfrm rot="2556159">
            <a:off x="9496663" y="3593892"/>
            <a:ext cx="46038" cy="150813"/>
            <a:chOff x="4276" y="2001"/>
            <a:chExt cx="27" cy="95"/>
          </a:xfrm>
        </p:grpSpPr>
        <p:sp>
          <p:nvSpPr>
            <p:cNvPr id="56456" name="任意多边形 739405"/>
            <p:cNvSpPr>
              <a:spLocks noChangeArrowheads="1"/>
            </p:cNvSpPr>
            <p:nvPr/>
          </p:nvSpPr>
          <p:spPr bwMode="auto">
            <a:xfrm>
              <a:off x="4290" y="2001"/>
              <a:ext cx="0" cy="95"/>
            </a:xfrm>
            <a:custGeom>
              <a:avLst/>
              <a:gdLst>
                <a:gd name="T0" fmla="*/ 0 w 1"/>
                <a:gd name="T1" fmla="*/ 23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57" name="任意多边形 739406"/>
            <p:cNvSpPr>
              <a:spLocks noChangeArrowheads="1"/>
            </p:cNvSpPr>
            <p:nvPr/>
          </p:nvSpPr>
          <p:spPr bwMode="auto">
            <a:xfrm>
              <a:off x="4276" y="200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08" name="组合 739407"/>
          <p:cNvGrpSpPr/>
          <p:nvPr/>
        </p:nvGrpSpPr>
        <p:grpSpPr bwMode="auto">
          <a:xfrm rot="3121337">
            <a:off x="9669702" y="3601830"/>
            <a:ext cx="41275" cy="295275"/>
            <a:chOff x="4338" y="1994"/>
            <a:chExt cx="27" cy="172"/>
          </a:xfrm>
        </p:grpSpPr>
        <p:sp>
          <p:nvSpPr>
            <p:cNvPr id="56454" name="任意多边形 739408"/>
            <p:cNvSpPr>
              <a:spLocks noChangeArrowheads="1"/>
            </p:cNvSpPr>
            <p:nvPr/>
          </p:nvSpPr>
          <p:spPr bwMode="auto">
            <a:xfrm>
              <a:off x="4351" y="1994"/>
              <a:ext cx="0" cy="172"/>
            </a:xfrm>
            <a:custGeom>
              <a:avLst/>
              <a:gdLst>
                <a:gd name="T0" fmla="*/ 0 w 1"/>
                <a:gd name="T1" fmla="*/ 41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55" name="任意多边形 739409"/>
            <p:cNvSpPr>
              <a:spLocks noChangeArrowheads="1"/>
            </p:cNvSpPr>
            <p:nvPr/>
          </p:nvSpPr>
          <p:spPr bwMode="auto">
            <a:xfrm>
              <a:off x="4338" y="1994"/>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11" name="组合 739410"/>
          <p:cNvGrpSpPr/>
          <p:nvPr/>
        </p:nvGrpSpPr>
        <p:grpSpPr bwMode="auto">
          <a:xfrm rot="3708831">
            <a:off x="9831626" y="3633579"/>
            <a:ext cx="44450" cy="444500"/>
            <a:chOff x="4390" y="1986"/>
            <a:chExt cx="27" cy="258"/>
          </a:xfrm>
        </p:grpSpPr>
        <p:sp>
          <p:nvSpPr>
            <p:cNvPr id="56452" name="任意多边形 739411"/>
            <p:cNvSpPr>
              <a:spLocks noChangeArrowheads="1"/>
            </p:cNvSpPr>
            <p:nvPr/>
          </p:nvSpPr>
          <p:spPr bwMode="auto">
            <a:xfrm>
              <a:off x="4403" y="1986"/>
              <a:ext cx="1" cy="258"/>
            </a:xfrm>
            <a:custGeom>
              <a:avLst/>
              <a:gdLst>
                <a:gd name="T0" fmla="*/ 0 w 1"/>
                <a:gd name="T1" fmla="*/ 63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53" name="任意多边形 739412"/>
            <p:cNvSpPr>
              <a:spLocks noChangeArrowheads="1"/>
            </p:cNvSpPr>
            <p:nvPr/>
          </p:nvSpPr>
          <p:spPr bwMode="auto">
            <a:xfrm>
              <a:off x="4390" y="1988"/>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14" name="组合 739413"/>
          <p:cNvGrpSpPr/>
          <p:nvPr/>
        </p:nvGrpSpPr>
        <p:grpSpPr bwMode="auto">
          <a:xfrm rot="4206916">
            <a:off x="9971326" y="3679617"/>
            <a:ext cx="42863" cy="588962"/>
            <a:chOff x="4426" y="1980"/>
            <a:chExt cx="27" cy="343"/>
          </a:xfrm>
        </p:grpSpPr>
        <p:sp>
          <p:nvSpPr>
            <p:cNvPr id="56450" name="任意多边形 739414"/>
            <p:cNvSpPr>
              <a:spLocks noChangeArrowheads="1"/>
            </p:cNvSpPr>
            <p:nvPr/>
          </p:nvSpPr>
          <p:spPr bwMode="auto">
            <a:xfrm>
              <a:off x="4440" y="1980"/>
              <a:ext cx="1" cy="343"/>
            </a:xfrm>
            <a:custGeom>
              <a:avLst/>
              <a:gdLst>
                <a:gd name="T0" fmla="*/ 0 w 1"/>
                <a:gd name="T1" fmla="*/ 85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51" name="任意多边形 739415"/>
            <p:cNvSpPr>
              <a:spLocks noChangeArrowheads="1"/>
            </p:cNvSpPr>
            <p:nvPr/>
          </p:nvSpPr>
          <p:spPr bwMode="auto">
            <a:xfrm>
              <a:off x="4426" y="1980"/>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17" name="组合 739416"/>
          <p:cNvGrpSpPr/>
          <p:nvPr/>
        </p:nvGrpSpPr>
        <p:grpSpPr bwMode="auto">
          <a:xfrm rot="4688895">
            <a:off x="10079276" y="3770104"/>
            <a:ext cx="42862" cy="715962"/>
            <a:chOff x="4444" y="1980"/>
            <a:chExt cx="27" cy="416"/>
          </a:xfrm>
        </p:grpSpPr>
        <p:sp>
          <p:nvSpPr>
            <p:cNvPr id="56448" name="任意多边形 739417"/>
            <p:cNvSpPr>
              <a:spLocks noChangeArrowheads="1"/>
            </p:cNvSpPr>
            <p:nvPr/>
          </p:nvSpPr>
          <p:spPr bwMode="auto">
            <a:xfrm>
              <a:off x="4455" y="1980"/>
              <a:ext cx="1" cy="416"/>
            </a:xfrm>
            <a:custGeom>
              <a:avLst/>
              <a:gdLst>
                <a:gd name="T0" fmla="*/ 0 w 1"/>
                <a:gd name="T1" fmla="*/ 102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49" name="任意多边形 739418"/>
            <p:cNvSpPr>
              <a:spLocks noChangeArrowheads="1"/>
            </p:cNvSpPr>
            <p:nvPr/>
          </p:nvSpPr>
          <p:spPr bwMode="auto">
            <a:xfrm>
              <a:off x="4444" y="198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20" name="组合 739419"/>
          <p:cNvGrpSpPr/>
          <p:nvPr/>
        </p:nvGrpSpPr>
        <p:grpSpPr bwMode="auto">
          <a:xfrm rot="5400000">
            <a:off x="10153889" y="3943142"/>
            <a:ext cx="42862" cy="808037"/>
            <a:chOff x="4452" y="2026"/>
            <a:chExt cx="27" cy="470"/>
          </a:xfrm>
        </p:grpSpPr>
        <p:sp>
          <p:nvSpPr>
            <p:cNvPr id="56446" name="任意多边形 739420"/>
            <p:cNvSpPr>
              <a:spLocks noChangeArrowheads="1"/>
            </p:cNvSpPr>
            <p:nvPr/>
          </p:nvSpPr>
          <p:spPr bwMode="auto">
            <a:xfrm>
              <a:off x="4464" y="2027"/>
              <a:ext cx="1" cy="469"/>
            </a:xfrm>
            <a:custGeom>
              <a:avLst/>
              <a:gdLst>
                <a:gd name="T0" fmla="*/ 0 w 1"/>
                <a:gd name="T1" fmla="*/ 115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47" name="任意多边形 739421"/>
            <p:cNvSpPr>
              <a:spLocks noChangeArrowheads="1"/>
            </p:cNvSpPr>
            <p:nvPr/>
          </p:nvSpPr>
          <p:spPr bwMode="auto">
            <a:xfrm>
              <a:off x="4452" y="2026"/>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23" name="组合 739422"/>
          <p:cNvGrpSpPr/>
          <p:nvPr/>
        </p:nvGrpSpPr>
        <p:grpSpPr bwMode="auto">
          <a:xfrm rot="5815621">
            <a:off x="10165001" y="4105066"/>
            <a:ext cx="42862" cy="865188"/>
            <a:chOff x="4448" y="2071"/>
            <a:chExt cx="27" cy="503"/>
          </a:xfrm>
        </p:grpSpPr>
        <p:sp>
          <p:nvSpPr>
            <p:cNvPr id="56444" name="任意多边形 739423"/>
            <p:cNvSpPr>
              <a:spLocks noChangeArrowheads="1"/>
            </p:cNvSpPr>
            <p:nvPr/>
          </p:nvSpPr>
          <p:spPr bwMode="auto">
            <a:xfrm>
              <a:off x="4458" y="2071"/>
              <a:ext cx="0" cy="503"/>
            </a:xfrm>
            <a:custGeom>
              <a:avLst/>
              <a:gdLst>
                <a:gd name="T0" fmla="*/ 0 w 1"/>
                <a:gd name="T1" fmla="*/ 124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45" name="任意多边形 739424"/>
            <p:cNvSpPr>
              <a:spLocks noChangeArrowheads="1"/>
            </p:cNvSpPr>
            <p:nvPr/>
          </p:nvSpPr>
          <p:spPr bwMode="auto">
            <a:xfrm>
              <a:off x="4448" y="207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26" name="组合 739425"/>
          <p:cNvGrpSpPr/>
          <p:nvPr/>
        </p:nvGrpSpPr>
        <p:grpSpPr bwMode="auto">
          <a:xfrm rot="6314475">
            <a:off x="10133252" y="4262230"/>
            <a:ext cx="41275" cy="885825"/>
            <a:chOff x="4432" y="2128"/>
            <a:chExt cx="27" cy="515"/>
          </a:xfrm>
        </p:grpSpPr>
        <p:sp>
          <p:nvSpPr>
            <p:cNvPr id="56442" name="任意多边形 739426"/>
            <p:cNvSpPr>
              <a:spLocks noChangeArrowheads="1"/>
            </p:cNvSpPr>
            <p:nvPr/>
          </p:nvSpPr>
          <p:spPr bwMode="auto">
            <a:xfrm>
              <a:off x="4443" y="2130"/>
              <a:ext cx="1" cy="513"/>
            </a:xfrm>
            <a:custGeom>
              <a:avLst/>
              <a:gdLst>
                <a:gd name="T0" fmla="*/ 0 w 1"/>
                <a:gd name="T1" fmla="*/ 0 h 648"/>
                <a:gd name="T2" fmla="*/ 0 w 1"/>
                <a:gd name="T3" fmla="*/ 12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43" name="任意多边形 739427"/>
            <p:cNvSpPr>
              <a:spLocks noChangeArrowheads="1"/>
            </p:cNvSpPr>
            <p:nvPr/>
          </p:nvSpPr>
          <p:spPr bwMode="auto">
            <a:xfrm>
              <a:off x="4432" y="2128"/>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29" name="组合 739428"/>
          <p:cNvGrpSpPr/>
          <p:nvPr/>
        </p:nvGrpSpPr>
        <p:grpSpPr bwMode="auto">
          <a:xfrm rot="1353850">
            <a:off x="9166463" y="3546267"/>
            <a:ext cx="46038" cy="22225"/>
            <a:chOff x="4111" y="1982"/>
            <a:chExt cx="27" cy="14"/>
          </a:xfrm>
        </p:grpSpPr>
        <p:sp>
          <p:nvSpPr>
            <p:cNvPr id="56440" name="任意多边形 739429"/>
            <p:cNvSpPr>
              <a:spLocks noChangeArrowheads="1"/>
            </p:cNvSpPr>
            <p:nvPr/>
          </p:nvSpPr>
          <p:spPr bwMode="auto">
            <a:xfrm>
              <a:off x="4124" y="1982"/>
              <a:ext cx="1" cy="14"/>
            </a:xfrm>
            <a:custGeom>
              <a:avLst/>
              <a:gdLst>
                <a:gd name="T0" fmla="*/ 0 w 1"/>
                <a:gd name="T1" fmla="*/ 5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41" name="任意多边形 739430"/>
            <p:cNvSpPr>
              <a:spLocks noChangeArrowheads="1"/>
            </p:cNvSpPr>
            <p:nvPr/>
          </p:nvSpPr>
          <p:spPr bwMode="auto">
            <a:xfrm>
              <a:off x="4111" y="198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32" name="组合 739431"/>
          <p:cNvGrpSpPr/>
          <p:nvPr/>
        </p:nvGrpSpPr>
        <p:grpSpPr bwMode="auto">
          <a:xfrm rot="6780769">
            <a:off x="10076101" y="4417804"/>
            <a:ext cx="42862" cy="893762"/>
            <a:chOff x="4404" y="2191"/>
            <a:chExt cx="27" cy="519"/>
          </a:xfrm>
        </p:grpSpPr>
        <p:sp>
          <p:nvSpPr>
            <p:cNvPr id="56438" name="任意多边形 739432"/>
            <p:cNvSpPr>
              <a:spLocks noChangeArrowheads="1"/>
            </p:cNvSpPr>
            <p:nvPr/>
          </p:nvSpPr>
          <p:spPr bwMode="auto">
            <a:xfrm rot="2716">
              <a:off x="4416" y="2191"/>
              <a:ext cx="1" cy="519"/>
            </a:xfrm>
            <a:custGeom>
              <a:avLst/>
              <a:gdLst>
                <a:gd name="T0" fmla="*/ 0 w 1"/>
                <a:gd name="T1" fmla="*/ 0 h 519"/>
                <a:gd name="T2" fmla="*/ 0 w 1"/>
                <a:gd name="T3" fmla="*/ 519 h 519"/>
                <a:gd name="T4" fmla="*/ 0 60000 65536"/>
                <a:gd name="T5" fmla="*/ 0 60000 65536"/>
              </a:gdLst>
              <a:ahLst/>
              <a:cxnLst>
                <a:cxn ang="T4">
                  <a:pos x="T0" y="T1"/>
                </a:cxn>
                <a:cxn ang="T5">
                  <a:pos x="T2" y="T3"/>
                </a:cxn>
              </a:cxnLst>
              <a:rect l="0" t="0" r="r" b="b"/>
              <a:pathLst>
                <a:path w="1" h="519">
                  <a:moveTo>
                    <a:pt x="0" y="0"/>
                  </a:moveTo>
                  <a:lnTo>
                    <a:pt x="0" y="519"/>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39" name="任意多边形 739433"/>
            <p:cNvSpPr>
              <a:spLocks noChangeArrowheads="1"/>
            </p:cNvSpPr>
            <p:nvPr/>
          </p:nvSpPr>
          <p:spPr bwMode="auto">
            <a:xfrm rot="-19137">
              <a:off x="4404" y="2191"/>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35" name="组合 739434"/>
          <p:cNvGrpSpPr/>
          <p:nvPr/>
        </p:nvGrpSpPr>
        <p:grpSpPr bwMode="auto">
          <a:xfrm rot="678208">
            <a:off x="8598138" y="5173454"/>
            <a:ext cx="82550" cy="730250"/>
            <a:chOff x="4200" y="2996"/>
            <a:chExt cx="48" cy="460"/>
          </a:xfrm>
        </p:grpSpPr>
        <p:sp>
          <p:nvSpPr>
            <p:cNvPr id="56436" name="任意多边形 739435"/>
            <p:cNvSpPr>
              <a:spLocks noChangeArrowheads="1"/>
            </p:cNvSpPr>
            <p:nvPr/>
          </p:nvSpPr>
          <p:spPr bwMode="auto">
            <a:xfrm>
              <a:off x="4224" y="2996"/>
              <a:ext cx="1" cy="460"/>
            </a:xfrm>
            <a:custGeom>
              <a:avLst/>
              <a:gdLst>
                <a:gd name="T0" fmla="*/ 0 w 1"/>
                <a:gd name="T1" fmla="*/ 0 h 460"/>
                <a:gd name="T2" fmla="*/ 0 w 1"/>
                <a:gd name="T3" fmla="*/ 460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37" name="直接连接符 739436"/>
            <p:cNvSpPr>
              <a:spLocks noChangeShapeType="1"/>
            </p:cNvSpPr>
            <p:nvPr/>
          </p:nvSpPr>
          <p:spPr bwMode="auto">
            <a:xfrm>
              <a:off x="4200" y="3456"/>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39438" name="组合 739437"/>
          <p:cNvGrpSpPr/>
          <p:nvPr/>
        </p:nvGrpSpPr>
        <p:grpSpPr bwMode="auto">
          <a:xfrm rot="1296887">
            <a:off x="8387001" y="5121066"/>
            <a:ext cx="82550" cy="636588"/>
            <a:chOff x="4264" y="3053"/>
            <a:chExt cx="48" cy="401"/>
          </a:xfrm>
        </p:grpSpPr>
        <p:sp>
          <p:nvSpPr>
            <p:cNvPr id="56434" name="任意多边形 739438"/>
            <p:cNvSpPr>
              <a:spLocks noChangeArrowheads="1"/>
            </p:cNvSpPr>
            <p:nvPr/>
          </p:nvSpPr>
          <p:spPr bwMode="auto">
            <a:xfrm>
              <a:off x="4287" y="3053"/>
              <a:ext cx="1" cy="401"/>
            </a:xfrm>
            <a:custGeom>
              <a:avLst/>
              <a:gdLst>
                <a:gd name="T0" fmla="*/ 0 w 1"/>
                <a:gd name="T1" fmla="*/ 0 h 401"/>
                <a:gd name="T2" fmla="*/ 1 w 1"/>
                <a:gd name="T3" fmla="*/ 401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35" name="直接连接符 739439"/>
            <p:cNvSpPr>
              <a:spLocks noChangeShapeType="1"/>
            </p:cNvSpPr>
            <p:nvPr/>
          </p:nvSpPr>
          <p:spPr bwMode="auto">
            <a:xfrm>
              <a:off x="4264"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39441" name="组合 739440"/>
          <p:cNvGrpSpPr/>
          <p:nvPr/>
        </p:nvGrpSpPr>
        <p:grpSpPr bwMode="auto">
          <a:xfrm rot="1949022">
            <a:off x="8209201" y="5038517"/>
            <a:ext cx="82550" cy="542925"/>
            <a:chOff x="4332" y="3112"/>
            <a:chExt cx="48" cy="342"/>
          </a:xfrm>
        </p:grpSpPr>
        <p:sp>
          <p:nvSpPr>
            <p:cNvPr id="56432" name="任意多边形 739441"/>
            <p:cNvSpPr>
              <a:spLocks noChangeArrowheads="1"/>
            </p:cNvSpPr>
            <p:nvPr/>
          </p:nvSpPr>
          <p:spPr bwMode="auto">
            <a:xfrm>
              <a:off x="4357" y="3112"/>
              <a:ext cx="1" cy="342"/>
            </a:xfrm>
            <a:custGeom>
              <a:avLst/>
              <a:gdLst>
                <a:gd name="T0" fmla="*/ 0 w 1"/>
                <a:gd name="T1" fmla="*/ 0 h 342"/>
                <a:gd name="T2" fmla="*/ 0 w 1"/>
                <a:gd name="T3" fmla="*/ 342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33" name="直接连接符 739442"/>
            <p:cNvSpPr>
              <a:spLocks noChangeShapeType="1"/>
            </p:cNvSpPr>
            <p:nvPr/>
          </p:nvSpPr>
          <p:spPr bwMode="auto">
            <a:xfrm>
              <a:off x="4332"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39444" name="组合 739443"/>
          <p:cNvGrpSpPr/>
          <p:nvPr/>
        </p:nvGrpSpPr>
        <p:grpSpPr bwMode="auto">
          <a:xfrm rot="2580548">
            <a:off x="8064738" y="4933742"/>
            <a:ext cx="82550" cy="455613"/>
            <a:chOff x="4398" y="3167"/>
            <a:chExt cx="48" cy="287"/>
          </a:xfrm>
        </p:grpSpPr>
        <p:sp>
          <p:nvSpPr>
            <p:cNvPr id="56430" name="任意多边形 739444"/>
            <p:cNvSpPr>
              <a:spLocks noChangeArrowheads="1"/>
            </p:cNvSpPr>
            <p:nvPr/>
          </p:nvSpPr>
          <p:spPr bwMode="auto">
            <a:xfrm>
              <a:off x="4419" y="3167"/>
              <a:ext cx="1" cy="287"/>
            </a:xfrm>
            <a:custGeom>
              <a:avLst/>
              <a:gdLst>
                <a:gd name="T0" fmla="*/ 0 w 1"/>
                <a:gd name="T1" fmla="*/ 0 h 287"/>
                <a:gd name="T2" fmla="*/ 0 w 1"/>
                <a:gd name="T3" fmla="*/ 287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31" name="直接连接符 739445"/>
            <p:cNvSpPr>
              <a:spLocks noChangeShapeType="1"/>
            </p:cNvSpPr>
            <p:nvPr/>
          </p:nvSpPr>
          <p:spPr bwMode="auto">
            <a:xfrm>
              <a:off x="4398"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39447" name="组合 739446"/>
          <p:cNvGrpSpPr/>
          <p:nvPr/>
        </p:nvGrpSpPr>
        <p:grpSpPr bwMode="auto">
          <a:xfrm rot="3261631">
            <a:off x="7949645" y="4783723"/>
            <a:ext cx="76200" cy="404813"/>
            <a:chOff x="4460" y="3219"/>
            <a:chExt cx="48" cy="235"/>
          </a:xfrm>
        </p:grpSpPr>
        <p:sp>
          <p:nvSpPr>
            <p:cNvPr id="56428" name="任意多边形 739447"/>
            <p:cNvSpPr>
              <a:spLocks noChangeArrowheads="1"/>
            </p:cNvSpPr>
            <p:nvPr/>
          </p:nvSpPr>
          <p:spPr bwMode="auto">
            <a:xfrm>
              <a:off x="4484" y="3219"/>
              <a:ext cx="1" cy="235"/>
            </a:xfrm>
            <a:custGeom>
              <a:avLst/>
              <a:gdLst>
                <a:gd name="T0" fmla="*/ 0 w 1"/>
                <a:gd name="T1" fmla="*/ 0 h 235"/>
                <a:gd name="T2" fmla="*/ 0 w 1"/>
                <a:gd name="T3" fmla="*/ 235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29" name="直接连接符 739448"/>
            <p:cNvSpPr>
              <a:spLocks noChangeShapeType="1"/>
            </p:cNvSpPr>
            <p:nvPr/>
          </p:nvSpPr>
          <p:spPr bwMode="auto">
            <a:xfrm>
              <a:off x="4460"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39450" name="组合 739449"/>
          <p:cNvGrpSpPr/>
          <p:nvPr/>
        </p:nvGrpSpPr>
        <p:grpSpPr bwMode="auto">
          <a:xfrm rot="3616196">
            <a:off x="7898845" y="4686886"/>
            <a:ext cx="76200" cy="293687"/>
            <a:chOff x="4524" y="3283"/>
            <a:chExt cx="48" cy="171"/>
          </a:xfrm>
        </p:grpSpPr>
        <p:sp>
          <p:nvSpPr>
            <p:cNvPr id="56426" name="任意多边形 739450"/>
            <p:cNvSpPr>
              <a:spLocks noChangeArrowheads="1"/>
            </p:cNvSpPr>
            <p:nvPr/>
          </p:nvSpPr>
          <p:spPr bwMode="auto">
            <a:xfrm>
              <a:off x="4549" y="3283"/>
              <a:ext cx="1" cy="171"/>
            </a:xfrm>
            <a:custGeom>
              <a:avLst/>
              <a:gdLst>
                <a:gd name="T0" fmla="*/ 0 w 1"/>
                <a:gd name="T1" fmla="*/ 0 h 171"/>
                <a:gd name="T2" fmla="*/ 0 w 1"/>
                <a:gd name="T3" fmla="*/ 171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27" name="直接连接符 739451"/>
            <p:cNvSpPr>
              <a:spLocks noChangeShapeType="1"/>
            </p:cNvSpPr>
            <p:nvPr/>
          </p:nvSpPr>
          <p:spPr bwMode="auto">
            <a:xfrm>
              <a:off x="4524"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sp>
        <p:nvSpPr>
          <p:cNvPr id="739459" name="任意多边形 739458"/>
          <p:cNvSpPr>
            <a:spLocks noChangeArrowheads="1"/>
          </p:cNvSpPr>
          <p:nvPr/>
        </p:nvSpPr>
        <p:spPr bwMode="auto">
          <a:xfrm>
            <a:off x="6907028" y="1593089"/>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0" name="任意多边形 739459"/>
          <p:cNvSpPr>
            <a:spLocks noChangeArrowheads="1"/>
          </p:cNvSpPr>
          <p:nvPr/>
        </p:nvSpPr>
        <p:spPr bwMode="auto">
          <a:xfrm>
            <a:off x="7867888" y="1906031"/>
            <a:ext cx="0" cy="150812"/>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1" name="任意多边形 739460"/>
          <p:cNvSpPr>
            <a:spLocks noChangeArrowheads="1"/>
          </p:cNvSpPr>
          <p:nvPr/>
        </p:nvSpPr>
        <p:spPr bwMode="auto">
          <a:xfrm>
            <a:off x="8079027" y="1648857"/>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2" name="任意多边形 739461"/>
          <p:cNvSpPr>
            <a:spLocks noChangeArrowheads="1"/>
          </p:cNvSpPr>
          <p:nvPr/>
        </p:nvSpPr>
        <p:spPr bwMode="auto">
          <a:xfrm>
            <a:off x="8290163" y="1398031"/>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3" name="任意多边形 739462"/>
          <p:cNvSpPr>
            <a:spLocks noChangeArrowheads="1"/>
          </p:cNvSpPr>
          <p:nvPr/>
        </p:nvSpPr>
        <p:spPr bwMode="auto">
          <a:xfrm>
            <a:off x="8504476" y="1259919"/>
            <a:ext cx="0" cy="798513"/>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4" name="任意多边形 739463"/>
          <p:cNvSpPr>
            <a:spLocks noChangeArrowheads="1"/>
          </p:cNvSpPr>
          <p:nvPr/>
        </p:nvSpPr>
        <p:spPr bwMode="auto">
          <a:xfrm>
            <a:off x="8609252" y="1248807"/>
            <a:ext cx="1587" cy="814387"/>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5" name="任意多边形 739464"/>
          <p:cNvSpPr>
            <a:spLocks noChangeArrowheads="1"/>
          </p:cNvSpPr>
          <p:nvPr/>
        </p:nvSpPr>
        <p:spPr bwMode="auto">
          <a:xfrm>
            <a:off x="7761527" y="1988582"/>
            <a:ext cx="1587" cy="71437"/>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6" name="任意多边形 739465"/>
          <p:cNvSpPr>
            <a:spLocks noChangeArrowheads="1"/>
          </p:cNvSpPr>
          <p:nvPr/>
        </p:nvSpPr>
        <p:spPr bwMode="auto">
          <a:xfrm>
            <a:off x="7972663" y="1783793"/>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7" name="任意多边形 739466"/>
          <p:cNvSpPr>
            <a:spLocks noChangeArrowheads="1"/>
          </p:cNvSpPr>
          <p:nvPr/>
        </p:nvSpPr>
        <p:spPr bwMode="auto">
          <a:xfrm>
            <a:off x="8183802" y="1513919"/>
            <a:ext cx="1587" cy="544513"/>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8" name="任意多边形 739467"/>
          <p:cNvSpPr>
            <a:spLocks noChangeArrowheads="1"/>
          </p:cNvSpPr>
          <p:nvPr/>
        </p:nvSpPr>
        <p:spPr bwMode="auto">
          <a:xfrm>
            <a:off x="8398113" y="1313893"/>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69" name="任意多边形 739468"/>
          <p:cNvSpPr>
            <a:spLocks noChangeArrowheads="1"/>
          </p:cNvSpPr>
          <p:nvPr/>
        </p:nvSpPr>
        <p:spPr bwMode="auto">
          <a:xfrm>
            <a:off x="9464913" y="1332943"/>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0" name="任意多边形 739469"/>
          <p:cNvSpPr>
            <a:spLocks noChangeArrowheads="1"/>
          </p:cNvSpPr>
          <p:nvPr/>
        </p:nvSpPr>
        <p:spPr bwMode="auto">
          <a:xfrm>
            <a:off x="9574452" y="1423432"/>
            <a:ext cx="1587" cy="636587"/>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1" name="任意多边形 739470"/>
          <p:cNvSpPr>
            <a:spLocks noChangeArrowheads="1"/>
          </p:cNvSpPr>
          <p:nvPr/>
        </p:nvSpPr>
        <p:spPr bwMode="auto">
          <a:xfrm>
            <a:off x="9693513" y="1517094"/>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2" name="任意多边形 739471"/>
          <p:cNvSpPr>
            <a:spLocks noChangeArrowheads="1"/>
          </p:cNvSpPr>
          <p:nvPr/>
        </p:nvSpPr>
        <p:spPr bwMode="auto">
          <a:xfrm>
            <a:off x="9801463" y="1604406"/>
            <a:ext cx="1588" cy="455612"/>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3" name="任意多边形 739472"/>
          <p:cNvSpPr>
            <a:spLocks noChangeArrowheads="1"/>
          </p:cNvSpPr>
          <p:nvPr/>
        </p:nvSpPr>
        <p:spPr bwMode="auto">
          <a:xfrm>
            <a:off x="9912588" y="1686956"/>
            <a:ext cx="1588" cy="373062"/>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4" name="任意多边形 739473"/>
          <p:cNvSpPr>
            <a:spLocks noChangeArrowheads="1"/>
          </p:cNvSpPr>
          <p:nvPr/>
        </p:nvSpPr>
        <p:spPr bwMode="auto">
          <a:xfrm>
            <a:off x="10023713" y="1788556"/>
            <a:ext cx="1588" cy="271462"/>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5" name="任意多边形 739474"/>
          <p:cNvSpPr>
            <a:spLocks noChangeArrowheads="1"/>
          </p:cNvSpPr>
          <p:nvPr/>
        </p:nvSpPr>
        <p:spPr bwMode="auto">
          <a:xfrm>
            <a:off x="10136427" y="1874282"/>
            <a:ext cx="1587" cy="185737"/>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6" name="任意多边形 739475"/>
          <p:cNvSpPr>
            <a:spLocks noChangeArrowheads="1"/>
          </p:cNvSpPr>
          <p:nvPr/>
        </p:nvSpPr>
        <p:spPr bwMode="auto">
          <a:xfrm>
            <a:off x="10249138" y="1974294"/>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77" name="任意多边形 739476"/>
          <p:cNvSpPr>
            <a:spLocks noChangeArrowheads="1"/>
          </p:cNvSpPr>
          <p:nvPr/>
        </p:nvSpPr>
        <p:spPr bwMode="auto">
          <a:xfrm>
            <a:off x="8714027" y="1234518"/>
            <a:ext cx="1587" cy="827088"/>
          </a:xfrm>
          <a:custGeom>
            <a:avLst/>
            <a:gdLst>
              <a:gd name="T0" fmla="*/ 2147483646 w 1"/>
              <a:gd name="T1" fmla="*/ 0 h 521"/>
              <a:gd name="T2" fmla="*/ 0 w 1"/>
              <a:gd name="T3" fmla="*/ 2147483646 h 521"/>
              <a:gd name="T4" fmla="*/ 0 60000 65536"/>
              <a:gd name="T5" fmla="*/ 0 60000 65536"/>
            </a:gdLst>
            <a:ahLst/>
            <a:cxnLst>
              <a:cxn ang="T4">
                <a:pos x="T0" y="T1"/>
              </a:cxn>
              <a:cxn ang="T5">
                <a:pos x="T2" y="T3"/>
              </a:cxn>
            </a:cxnLst>
            <a:rect l="0" t="0" r="r" b="b"/>
            <a:pathLst>
              <a:path w="1" h="521">
                <a:moveTo>
                  <a:pt x="1" y="0"/>
                </a:moveTo>
                <a:lnTo>
                  <a:pt x="0" y="521"/>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39478" name="组合 739477"/>
          <p:cNvGrpSpPr/>
          <p:nvPr/>
        </p:nvGrpSpPr>
        <p:grpSpPr bwMode="auto">
          <a:xfrm rot="10791080">
            <a:off x="8836263" y="5186154"/>
            <a:ext cx="46038" cy="823912"/>
            <a:chOff x="4404" y="2191"/>
            <a:chExt cx="27" cy="519"/>
          </a:xfrm>
        </p:grpSpPr>
        <p:sp>
          <p:nvSpPr>
            <p:cNvPr id="56420" name="任意多边形 739478"/>
            <p:cNvSpPr>
              <a:spLocks noChangeArrowheads="1"/>
            </p:cNvSpPr>
            <p:nvPr/>
          </p:nvSpPr>
          <p:spPr bwMode="auto">
            <a:xfrm rot="2716">
              <a:off x="4416" y="2191"/>
              <a:ext cx="1" cy="519"/>
            </a:xfrm>
            <a:custGeom>
              <a:avLst/>
              <a:gdLst>
                <a:gd name="T0" fmla="*/ 0 w 1"/>
                <a:gd name="T1" fmla="*/ 0 h 519"/>
                <a:gd name="T2" fmla="*/ 0 w 1"/>
                <a:gd name="T3" fmla="*/ 519 h 519"/>
                <a:gd name="T4" fmla="*/ 0 60000 65536"/>
                <a:gd name="T5" fmla="*/ 0 60000 65536"/>
              </a:gdLst>
              <a:ahLst/>
              <a:cxnLst>
                <a:cxn ang="T4">
                  <a:pos x="T0" y="T1"/>
                </a:cxn>
                <a:cxn ang="T5">
                  <a:pos x="T2" y="T3"/>
                </a:cxn>
              </a:cxnLst>
              <a:rect l="0" t="0" r="r" b="b"/>
              <a:pathLst>
                <a:path w="1" h="519">
                  <a:moveTo>
                    <a:pt x="0" y="0"/>
                  </a:moveTo>
                  <a:lnTo>
                    <a:pt x="0" y="519"/>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6421" name="任意多边形 739479"/>
            <p:cNvSpPr>
              <a:spLocks noChangeArrowheads="1"/>
            </p:cNvSpPr>
            <p:nvPr/>
          </p:nvSpPr>
          <p:spPr bwMode="auto">
            <a:xfrm rot="-19137">
              <a:off x="4404" y="2191"/>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39481" name="组合 739480"/>
          <p:cNvGrpSpPr/>
          <p:nvPr/>
        </p:nvGrpSpPr>
        <p:grpSpPr bwMode="auto">
          <a:xfrm>
            <a:off x="8783876" y="2685841"/>
            <a:ext cx="165100" cy="819150"/>
            <a:chOff x="3554" y="1008"/>
            <a:chExt cx="96" cy="664"/>
          </a:xfrm>
        </p:grpSpPr>
        <p:sp>
          <p:nvSpPr>
            <p:cNvPr id="56418" name="等腰三角形 739481"/>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56419" name="矩形 739482"/>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grpSp>
        <p:nvGrpSpPr>
          <p:cNvPr id="739484" name="组合 739483"/>
          <p:cNvGrpSpPr/>
          <p:nvPr/>
        </p:nvGrpSpPr>
        <p:grpSpPr bwMode="auto">
          <a:xfrm>
            <a:off x="7871063" y="3285916"/>
            <a:ext cx="2063750" cy="2057400"/>
            <a:chOff x="3360" y="1824"/>
            <a:chExt cx="1200" cy="1296"/>
          </a:xfrm>
        </p:grpSpPr>
        <p:sp>
          <p:nvSpPr>
            <p:cNvPr id="56415" name="椭圆 739484"/>
            <p:cNvSpPr>
              <a:spLocks noChangeArrowheads="1"/>
            </p:cNvSpPr>
            <p:nvPr/>
          </p:nvSpPr>
          <p:spPr bwMode="auto">
            <a:xfrm>
              <a:off x="3408" y="1968"/>
              <a:ext cx="1056" cy="1056"/>
            </a:xfrm>
            <a:prstGeom prst="ellipse">
              <a:avLst/>
            </a:prstGeom>
            <a:noFill/>
            <a:ln w="19050">
              <a:solidFill>
                <a:srgbClr val="000000"/>
              </a:solidFill>
              <a:prstDash val="lgDashDot"/>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56416" name="直接连接符 739485"/>
            <p:cNvSpPr>
              <a:spLocks noChangeShapeType="1"/>
            </p:cNvSpPr>
            <p:nvPr/>
          </p:nvSpPr>
          <p:spPr bwMode="auto">
            <a:xfrm>
              <a:off x="3360" y="2496"/>
              <a:ext cx="1200" cy="0"/>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56417" name="直接连接符 739486"/>
            <p:cNvSpPr>
              <a:spLocks noChangeShapeType="1"/>
            </p:cNvSpPr>
            <p:nvPr/>
          </p:nvSpPr>
          <p:spPr bwMode="auto">
            <a:xfrm>
              <a:off x="3936" y="1824"/>
              <a:ext cx="0" cy="1296"/>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grpSp>
      <p:sp>
        <p:nvSpPr>
          <p:cNvPr id="739488" name="任意多边形 739487"/>
          <p:cNvSpPr>
            <a:spLocks noChangeArrowheads="1"/>
          </p:cNvSpPr>
          <p:nvPr/>
        </p:nvSpPr>
        <p:spPr bwMode="auto">
          <a:xfrm rot="5400000">
            <a:off x="8850552" y="4360655"/>
            <a:ext cx="1660525" cy="1641475"/>
          </a:xfrm>
          <a:custGeom>
            <a:avLst/>
            <a:gdLst>
              <a:gd name="T0" fmla="*/ 2147483646 w 21600"/>
              <a:gd name="T1" fmla="*/ 0 h 19727"/>
              <a:gd name="T2" fmla="*/ 2147483646 w 21600"/>
              <a:gd name="T3" fmla="*/ 2147483646 h 19727"/>
              <a:gd name="T4" fmla="*/ 2147483646 w 21600"/>
              <a:gd name="T5" fmla="*/ 0 h 19727"/>
              <a:gd name="T6" fmla="*/ 2147483646 w 21600"/>
              <a:gd name="T7" fmla="*/ 2147483646 h 19727"/>
              <a:gd name="T8" fmla="*/ 0 w 21600"/>
              <a:gd name="T9" fmla="*/ 2147483646 h 197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19727" fill="none">
                <a:moveTo>
                  <a:pt x="8798" y="0"/>
                </a:moveTo>
                <a:cubicBezTo>
                  <a:pt x="16345" y="3367"/>
                  <a:pt x="21600" y="10934"/>
                  <a:pt x="21600" y="19727"/>
                </a:cubicBezTo>
              </a:path>
              <a:path w="21600" h="19727" stroke="0">
                <a:moveTo>
                  <a:pt x="8798" y="0"/>
                </a:moveTo>
                <a:cubicBezTo>
                  <a:pt x="16345" y="3367"/>
                  <a:pt x="21600" y="10934"/>
                  <a:pt x="21600" y="19727"/>
                </a:cubicBezTo>
                <a:lnTo>
                  <a:pt x="0" y="19727"/>
                </a:lnTo>
                <a:lnTo>
                  <a:pt x="8798" y="0"/>
                </a:lnTo>
                <a:close/>
              </a:path>
            </a:pathLst>
          </a:custGeom>
          <a:noFill/>
          <a:ln w="28575">
            <a:solidFill>
              <a:srgbClr val="FF99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89" name="任意多边形 739488"/>
          <p:cNvSpPr>
            <a:spLocks noChangeArrowheads="1"/>
          </p:cNvSpPr>
          <p:nvPr/>
        </p:nvSpPr>
        <p:spPr bwMode="auto">
          <a:xfrm>
            <a:off x="8861663" y="3514517"/>
            <a:ext cx="1754188" cy="1514475"/>
          </a:xfrm>
          <a:custGeom>
            <a:avLst/>
            <a:gdLst>
              <a:gd name="T0" fmla="*/ 0 w 1020"/>
              <a:gd name="T1" fmla="*/ 0 h 954"/>
              <a:gd name="T2" fmla="*/ 2147483646 w 1020"/>
              <a:gd name="T3" fmla="*/ 2147483646 h 954"/>
              <a:gd name="T4" fmla="*/ 2147483646 w 1020"/>
              <a:gd name="T5" fmla="*/ 2147483646 h 954"/>
              <a:gd name="T6" fmla="*/ 2147483646 w 1020"/>
              <a:gd name="T7" fmla="*/ 2147483646 h 954"/>
              <a:gd name="T8" fmla="*/ 2147483646 w 1020"/>
              <a:gd name="T9" fmla="*/ 2147483646 h 954"/>
              <a:gd name="T10" fmla="*/ 2147483646 w 1020"/>
              <a:gd name="T11" fmla="*/ 2147483646 h 954"/>
              <a:gd name="T12" fmla="*/ 2147483646 w 1020"/>
              <a:gd name="T13" fmla="*/ 2147483646 h 954"/>
              <a:gd name="T14" fmla="*/ 2147483646 w 1020"/>
              <a:gd name="T15" fmla="*/ 2147483646 h 954"/>
              <a:gd name="T16" fmla="*/ 2147483646 w 1020"/>
              <a:gd name="T17" fmla="*/ 2147483646 h 954"/>
              <a:gd name="T18" fmla="*/ 2147483646 w 1020"/>
              <a:gd name="T19" fmla="*/ 2147483646 h 954"/>
              <a:gd name="T20" fmla="*/ 2147483646 w 1020"/>
              <a:gd name="T21" fmla="*/ 2147483646 h 954"/>
              <a:gd name="T22" fmla="*/ 2147483646 w 1020"/>
              <a:gd name="T23" fmla="*/ 2147483646 h 954"/>
              <a:gd name="T24" fmla="*/ 2147483646 w 1020"/>
              <a:gd name="T25" fmla="*/ 2147483646 h 9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0" h="954">
                <a:moveTo>
                  <a:pt x="0" y="0"/>
                </a:moveTo>
                <a:cubicBezTo>
                  <a:pt x="16" y="1"/>
                  <a:pt x="63" y="3"/>
                  <a:pt x="95" y="6"/>
                </a:cubicBezTo>
                <a:cubicBezTo>
                  <a:pt x="127" y="9"/>
                  <a:pt x="158" y="14"/>
                  <a:pt x="192" y="20"/>
                </a:cubicBezTo>
                <a:cubicBezTo>
                  <a:pt x="226" y="26"/>
                  <a:pt x="262" y="34"/>
                  <a:pt x="299" y="41"/>
                </a:cubicBezTo>
                <a:cubicBezTo>
                  <a:pt x="336" y="48"/>
                  <a:pt x="372" y="56"/>
                  <a:pt x="414" y="65"/>
                </a:cubicBezTo>
                <a:cubicBezTo>
                  <a:pt x="456" y="74"/>
                  <a:pt x="503" y="81"/>
                  <a:pt x="549" y="96"/>
                </a:cubicBezTo>
                <a:cubicBezTo>
                  <a:pt x="595" y="111"/>
                  <a:pt x="644" y="132"/>
                  <a:pt x="689" y="156"/>
                </a:cubicBezTo>
                <a:cubicBezTo>
                  <a:pt x="734" y="180"/>
                  <a:pt x="783" y="209"/>
                  <a:pt x="822" y="243"/>
                </a:cubicBezTo>
                <a:cubicBezTo>
                  <a:pt x="861" y="277"/>
                  <a:pt x="895" y="311"/>
                  <a:pt x="924" y="359"/>
                </a:cubicBezTo>
                <a:cubicBezTo>
                  <a:pt x="953" y="407"/>
                  <a:pt x="982" y="477"/>
                  <a:pt x="998" y="530"/>
                </a:cubicBezTo>
                <a:cubicBezTo>
                  <a:pt x="1014" y="583"/>
                  <a:pt x="1018" y="631"/>
                  <a:pt x="1019" y="680"/>
                </a:cubicBezTo>
                <a:cubicBezTo>
                  <a:pt x="1020" y="729"/>
                  <a:pt x="1011" y="776"/>
                  <a:pt x="1001" y="822"/>
                </a:cubicBezTo>
                <a:cubicBezTo>
                  <a:pt x="991" y="868"/>
                  <a:pt x="966" y="926"/>
                  <a:pt x="956" y="954"/>
                </a:cubicBezTo>
              </a:path>
            </a:pathLst>
          </a:cu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90" name="任意多边形 739489"/>
          <p:cNvSpPr>
            <a:spLocks noChangeArrowheads="1"/>
          </p:cNvSpPr>
          <p:nvPr/>
        </p:nvSpPr>
        <p:spPr bwMode="auto">
          <a:xfrm>
            <a:off x="7807564" y="4352717"/>
            <a:ext cx="1057275" cy="1660525"/>
          </a:xfrm>
          <a:custGeom>
            <a:avLst/>
            <a:gdLst>
              <a:gd name="T0" fmla="*/ 2147483646 w 615"/>
              <a:gd name="T1" fmla="*/ 0 h 1046"/>
              <a:gd name="T2" fmla="*/ 2147483646 w 615"/>
              <a:gd name="T3" fmla="*/ 2147483646 h 1046"/>
              <a:gd name="T4" fmla="*/ 2147483646 w 615"/>
              <a:gd name="T5" fmla="*/ 2147483646 h 1046"/>
              <a:gd name="T6" fmla="*/ 2147483646 w 615"/>
              <a:gd name="T7" fmla="*/ 2147483646 h 1046"/>
              <a:gd name="T8" fmla="*/ 2147483646 w 615"/>
              <a:gd name="T9" fmla="*/ 2147483646 h 1046"/>
              <a:gd name="T10" fmla="*/ 2147483646 w 615"/>
              <a:gd name="T11" fmla="*/ 2147483646 h 1046"/>
              <a:gd name="T12" fmla="*/ 2147483646 w 615"/>
              <a:gd name="T13" fmla="*/ 2147483646 h 1046"/>
              <a:gd name="T14" fmla="*/ 2147483646 w 615"/>
              <a:gd name="T15" fmla="*/ 2147483646 h 1046"/>
              <a:gd name="T16" fmla="*/ 2147483646 w 615"/>
              <a:gd name="T17" fmla="*/ 2147483646 h 1046"/>
              <a:gd name="T18" fmla="*/ 2147483646 w 615"/>
              <a:gd name="T19" fmla="*/ 2147483646 h 10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5" h="1046">
                <a:moveTo>
                  <a:pt x="85" y="0"/>
                </a:moveTo>
                <a:cubicBezTo>
                  <a:pt x="76" y="17"/>
                  <a:pt x="46" y="68"/>
                  <a:pt x="33" y="104"/>
                </a:cubicBezTo>
                <a:cubicBezTo>
                  <a:pt x="20" y="140"/>
                  <a:pt x="12" y="180"/>
                  <a:pt x="7" y="219"/>
                </a:cubicBezTo>
                <a:cubicBezTo>
                  <a:pt x="2" y="258"/>
                  <a:pt x="0" y="297"/>
                  <a:pt x="1" y="339"/>
                </a:cubicBezTo>
                <a:cubicBezTo>
                  <a:pt x="2" y="381"/>
                  <a:pt x="3" y="425"/>
                  <a:pt x="15" y="471"/>
                </a:cubicBezTo>
                <a:cubicBezTo>
                  <a:pt x="27" y="517"/>
                  <a:pt x="50" y="568"/>
                  <a:pt x="76" y="614"/>
                </a:cubicBezTo>
                <a:cubicBezTo>
                  <a:pt x="102" y="660"/>
                  <a:pt x="134" y="706"/>
                  <a:pt x="169" y="749"/>
                </a:cubicBezTo>
                <a:cubicBezTo>
                  <a:pt x="204" y="792"/>
                  <a:pt x="241" y="833"/>
                  <a:pt x="286" y="870"/>
                </a:cubicBezTo>
                <a:cubicBezTo>
                  <a:pt x="331" y="907"/>
                  <a:pt x="387" y="943"/>
                  <a:pt x="442" y="972"/>
                </a:cubicBezTo>
                <a:cubicBezTo>
                  <a:pt x="497" y="1001"/>
                  <a:pt x="586" y="1034"/>
                  <a:pt x="615" y="1046"/>
                </a:cubicBezTo>
              </a:path>
            </a:pathLst>
          </a:custGeom>
          <a:noFill/>
          <a:ln w="285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39491" name="任意多边形 739490"/>
          <p:cNvSpPr>
            <a:spLocks noChangeArrowheads="1"/>
          </p:cNvSpPr>
          <p:nvPr/>
        </p:nvSpPr>
        <p:spPr bwMode="auto">
          <a:xfrm flipH="1">
            <a:off x="7953613" y="3514516"/>
            <a:ext cx="908050" cy="838200"/>
          </a:xfrm>
          <a:custGeom>
            <a:avLst/>
            <a:gdLst>
              <a:gd name="T0" fmla="*/ 0 w 21600"/>
              <a:gd name="T1" fmla="*/ 0 h 21600"/>
              <a:gd name="T2" fmla="*/ 2147483646 w 21600"/>
              <a:gd name="T3" fmla="*/ 2147483646 h 21600"/>
              <a:gd name="T4" fmla="*/ 0 w 21600"/>
              <a:gd name="T5" fmla="*/ 0 h 21600"/>
              <a:gd name="T6" fmla="*/ 2147483646 w 21600"/>
              <a:gd name="T7" fmla="*/ 2147483646 h 21600"/>
              <a:gd name="T8" fmla="*/ 0 w 21600"/>
              <a:gd name="T9" fmla="*/ 214748364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mc:AlternateContent xmlns:mc="http://schemas.openxmlformats.org/markup-compatibility/2006">
        <mc:Choice xmlns:a14="http://schemas.microsoft.com/office/drawing/2010/main" Requires="a14">
          <p:sp>
            <p:nvSpPr>
              <p:cNvPr id="2" name="矩形 1"/>
              <p:cNvSpPr/>
              <p:nvPr/>
            </p:nvSpPr>
            <p:spPr>
              <a:xfrm>
                <a:off x="11243299" y="1660526"/>
                <a:ext cx="40440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smtClean="0">
                          <a:solidFill>
                            <a:schemeClr val="tx1"/>
                          </a:solidFill>
                          <a:latin typeface="Cambria Math" panose="02040503050406030204" pitchFamily="18" charset="0"/>
                        </a:rPr>
                        <m:t>𝜑</m:t>
                      </m:r>
                    </m:oMath>
                  </m:oMathPara>
                </a14:m>
                <a:endParaRPr lang="en-AU" dirty="0">
                  <a:solidFill>
                    <a:schemeClr val="tx1"/>
                  </a:solidFill>
                </a:endParaRPr>
              </a:p>
            </p:txBody>
          </p:sp>
        </mc:Choice>
        <mc:Fallback>
          <p:sp>
            <p:nvSpPr>
              <p:cNvPr id="2" name="矩形 1"/>
              <p:cNvSpPr>
                <a:spLocks noRot="1" noChangeAspect="1" noMove="1" noResize="1" noEditPoints="1" noAdjustHandles="1" noChangeArrowheads="1" noChangeShapeType="1" noTextEdit="1"/>
              </p:cNvSpPr>
              <p:nvPr/>
            </p:nvSpPr>
            <p:spPr>
              <a:xfrm>
                <a:off x="11243299" y="1660526"/>
                <a:ext cx="404406" cy="369332"/>
              </a:xfrm>
              <a:prstGeom prst="rect">
                <a:avLst/>
              </a:prstGeom>
              <a:blipFill rotWithShape="1">
                <a:blip r:embed="rId8"/>
                <a:stretch>
                  <a:fillRect l="-154" r="132" b="108"/>
                </a:stretch>
              </a:blipFill>
            </p:spPr>
            <p:txBody>
              <a:bodyPr/>
              <a:lstStyle/>
              <a:p>
                <a:r>
                  <a:rPr lang="zh-CN" altLang="en-US">
                    <a:noFill/>
                  </a:rPr>
                  <a:t> </a:t>
                </a:r>
              </a:p>
            </p:txBody>
          </p:sp>
        </mc:Fallback>
      </mc:AlternateContent>
      <p:sp>
        <p:nvSpPr>
          <p:cNvPr id="164" name="文本框 623696"/>
          <p:cNvSpPr txBox="1">
            <a:spLocks noChangeArrowheads="1"/>
          </p:cNvSpPr>
          <p:nvPr/>
        </p:nvSpPr>
        <p:spPr bwMode="auto">
          <a:xfrm>
            <a:off x="9206960" y="4974984"/>
            <a:ext cx="30581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dirty="0">
                <a:solidFill>
                  <a:srgbClr val="CC3399"/>
                </a:solidFill>
                <a:latin typeface="Times New Roman" panose="02020603050405020304" pitchFamily="18" charset="0"/>
                <a:sym typeface="Symbol" panose="05050102010706020507" pitchFamily="18" charset="2"/>
              </a:rPr>
              <a:t></a:t>
            </a:r>
            <a:endParaRPr lang="zh-CN" altLang="en-US" sz="1400" dirty="0">
              <a:solidFill>
                <a:srgbClr val="CC3399"/>
              </a:solidFill>
              <a:latin typeface="Times New Roman" panose="02020603050405020304" pitchFamily="18" charset="0"/>
            </a:endParaRPr>
          </a:p>
        </p:txBody>
      </p:sp>
      <p:sp>
        <p:nvSpPr>
          <p:cNvPr id="167" name="任意多边形 623695"/>
          <p:cNvSpPr>
            <a:spLocks noChangeArrowheads="1"/>
          </p:cNvSpPr>
          <p:nvPr/>
        </p:nvSpPr>
        <p:spPr bwMode="auto">
          <a:xfrm rot="2105939">
            <a:off x="8489907" y="4590498"/>
            <a:ext cx="1197491" cy="808038"/>
          </a:xfrm>
          <a:custGeom>
            <a:avLst/>
            <a:gdLst>
              <a:gd name="T0" fmla="*/ 0 w 21600"/>
              <a:gd name="T1" fmla="*/ 0 h 15809"/>
              <a:gd name="T2" fmla="*/ 0 w 21600"/>
              <a:gd name="T3" fmla="*/ 0 h 15809"/>
              <a:gd name="T4" fmla="*/ 0 w 21600"/>
              <a:gd name="T5" fmla="*/ 0 h 15809"/>
              <a:gd name="T6" fmla="*/ 0 w 21600"/>
              <a:gd name="T7" fmla="*/ 0 h 15809"/>
              <a:gd name="T8" fmla="*/ 0 w 21600"/>
              <a:gd name="T9" fmla="*/ 0 h 15809"/>
              <a:gd name="T10" fmla="*/ 0 w 21600"/>
              <a:gd name="T11" fmla="*/ 0 h 15809"/>
              <a:gd name="T12" fmla="*/ 0 w 21600"/>
              <a:gd name="T13" fmla="*/ 0 h 158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15809" fill="none">
                <a:moveTo>
                  <a:pt x="21489" y="0"/>
                </a:moveTo>
                <a:cubicBezTo>
                  <a:pt x="21562" y="716"/>
                  <a:pt x="21599" y="1443"/>
                  <a:pt x="21599" y="2180"/>
                </a:cubicBezTo>
                <a:cubicBezTo>
                  <a:pt x="21599" y="7348"/>
                  <a:pt x="19784" y="12092"/>
                  <a:pt x="16757" y="15810"/>
                </a:cubicBezTo>
              </a:path>
              <a:path w="21600" h="15809" stroke="0">
                <a:moveTo>
                  <a:pt x="21489" y="0"/>
                </a:moveTo>
                <a:cubicBezTo>
                  <a:pt x="21562" y="716"/>
                  <a:pt x="21599" y="1443"/>
                  <a:pt x="21599" y="2180"/>
                </a:cubicBezTo>
                <a:cubicBezTo>
                  <a:pt x="21599" y="7348"/>
                  <a:pt x="19784" y="12092"/>
                  <a:pt x="16757" y="15810"/>
                </a:cubicBezTo>
                <a:lnTo>
                  <a:pt x="0" y="2180"/>
                </a:lnTo>
                <a:lnTo>
                  <a:pt x="21489" y="0"/>
                </a:lnTo>
                <a:close/>
              </a:path>
            </a:pathLst>
          </a:custGeom>
          <a:noFill/>
          <a:ln w="12700">
            <a:solidFill>
              <a:srgbClr val="CC3399"/>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169" name="组合 168"/>
          <p:cNvGrpSpPr/>
          <p:nvPr/>
        </p:nvGrpSpPr>
        <p:grpSpPr bwMode="auto">
          <a:xfrm>
            <a:off x="8966990" y="2750130"/>
            <a:ext cx="1981200" cy="1828800"/>
            <a:chOff x="3600" y="768"/>
            <a:chExt cx="1296" cy="1296"/>
          </a:xfrm>
        </p:grpSpPr>
        <p:sp>
          <p:nvSpPr>
            <p:cNvPr id="170" name="任意多边形 737453"/>
            <p:cNvSpPr>
              <a:spLocks noChangeArrowheads="1"/>
            </p:cNvSpPr>
            <p:nvPr/>
          </p:nvSpPr>
          <p:spPr bwMode="auto">
            <a:xfrm>
              <a:off x="3600" y="768"/>
              <a:ext cx="1296" cy="12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175">
              <a:solidFill>
                <a:srgbClr val="FF33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171" name="文本框 737454"/>
            <p:cNvSpPr txBox="1">
              <a:spLocks noChangeArrowheads="1"/>
            </p:cNvSpPr>
            <p:nvPr/>
          </p:nvSpPr>
          <p:spPr bwMode="auto">
            <a:xfrm>
              <a:off x="4502" y="931"/>
              <a:ext cx="27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800" b="1" dirty="0">
                  <a:solidFill>
                    <a:srgbClr val="FF3300"/>
                  </a:solidFill>
                  <a:latin typeface="Times New Roman" panose="02020603050405020304" pitchFamily="18" charset="0"/>
                </a:rPr>
                <a:t>-</a:t>
              </a:r>
              <a:r>
                <a:rPr lang="zh-CN" altLang="zh-CN" sz="1800" b="1" dirty="0">
                  <a:solidFill>
                    <a:srgbClr val="FF3300"/>
                  </a:solidFill>
                  <a:latin typeface="Times New Roman" panose="02020603050405020304" pitchFamily="18" charset="0"/>
                  <a:sym typeface="Symbol" panose="05050102010706020507" pitchFamily="18" charset="2"/>
                </a:rPr>
                <a:t></a:t>
              </a:r>
              <a:endParaRPr lang="zh-CN" altLang="zh-CN" sz="1800" b="1" dirty="0">
                <a:solidFill>
                  <a:srgbClr val="FF3300"/>
                </a:solidFill>
                <a:latin typeface="Times New Roman" panose="02020603050405020304" pitchFamily="18" charset="0"/>
              </a:endParaRPr>
            </a:p>
          </p:txBody>
        </p:sp>
      </p:grpSp>
      <p:sp>
        <p:nvSpPr>
          <p:cNvPr id="172" name="矩形 171"/>
          <p:cNvSpPr/>
          <p:nvPr/>
        </p:nvSpPr>
        <p:spPr>
          <a:xfrm>
            <a:off x="146685" y="6008370"/>
            <a:ext cx="7644130" cy="413385"/>
          </a:xfrm>
          <a:prstGeom prst="rect">
            <a:avLst/>
          </a:prstGeom>
        </p:spPr>
        <p:txBody>
          <a:bodyPr wrap="square">
            <a:spAutoFit/>
          </a:bodyPr>
          <a:lstStyle/>
          <a:p>
            <a:pPr>
              <a:lnSpc>
                <a:spcPct val="105000"/>
              </a:lnSpc>
              <a:spcBef>
                <a:spcPct val="5000"/>
              </a:spcBef>
            </a:pPr>
            <a:r>
              <a:rPr lang="en-US" altLang="zh-CN" sz="2000" b="1" dirty="0">
                <a:latin typeface="+mj-lt"/>
                <a:ea typeface="微软雅黑" panose="020B0503020204020204" pitchFamily="34" charset="-122"/>
              </a:rPr>
              <a:t>4. Advantages and disadvantages of knife-edge follower?</a:t>
            </a:r>
            <a:endParaRPr lang="en-US" altLang="zh-CN" sz="2000" b="1" dirty="0">
              <a:latin typeface="微软雅黑" panose="020B0503020204020204" pitchFamily="34" charset="-122"/>
              <a:ea typeface="微软雅黑" panose="020B0503020204020204" pitchFamily="34" charset="-122"/>
            </a:endParaRPr>
          </a:p>
        </p:txBody>
      </p:sp>
      <p:sp>
        <p:nvSpPr>
          <p:cNvPr id="174" name="任意多边形 173"/>
          <p:cNvSpPr>
            <a:spLocks noChangeArrowheads="1"/>
          </p:cNvSpPr>
          <p:nvPr/>
        </p:nvSpPr>
        <p:spPr bwMode="auto">
          <a:xfrm>
            <a:off x="9462533" y="1352640"/>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76" name="任意多边形 175"/>
          <p:cNvSpPr>
            <a:spLocks noChangeArrowheads="1"/>
          </p:cNvSpPr>
          <p:nvPr/>
        </p:nvSpPr>
        <p:spPr bwMode="auto">
          <a:xfrm rot="600000">
            <a:off x="8635485" y="5172374"/>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77" name="椭圆 176"/>
          <p:cNvSpPr>
            <a:spLocks noChangeArrowheads="1"/>
          </p:cNvSpPr>
          <p:nvPr/>
        </p:nvSpPr>
        <p:spPr bwMode="auto">
          <a:xfrm>
            <a:off x="8497612" y="5826544"/>
            <a:ext cx="130175" cy="120650"/>
          </a:xfrm>
          <a:prstGeom prst="ellipse">
            <a:avLst/>
          </a:prstGeom>
          <a:solidFill>
            <a:srgbClr val="FFFF99"/>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4" name="矩形 3"/>
          <p:cNvSpPr/>
          <p:nvPr/>
        </p:nvSpPr>
        <p:spPr>
          <a:xfrm>
            <a:off x="168433" y="4128518"/>
            <a:ext cx="5868914" cy="395558"/>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1. Find the contact point when cam rotates 190°.</a:t>
            </a:r>
            <a:endParaRPr lang="en-US" altLang="zh-CN" sz="2000" b="1" dirty="0">
              <a:latin typeface="微软雅黑" panose="020B0503020204020204" pitchFamily="34" charset="-122"/>
              <a:ea typeface="微软雅黑" panose="020B0503020204020204" pitchFamily="34" charset="-122"/>
            </a:endParaRPr>
          </a:p>
        </p:txBody>
      </p:sp>
      <p:sp>
        <p:nvSpPr>
          <p:cNvPr id="179" name="直接连接符 178"/>
          <p:cNvSpPr>
            <a:spLocks noChangeShapeType="1"/>
          </p:cNvSpPr>
          <p:nvPr/>
        </p:nvSpPr>
        <p:spPr bwMode="auto">
          <a:xfrm flipV="1">
            <a:off x="8928653" y="4344779"/>
            <a:ext cx="2209485" cy="10719"/>
          </a:xfrm>
          <a:prstGeom prst="line">
            <a:avLst/>
          </a:prstGeom>
          <a:noFill/>
          <a:ln w="19050">
            <a:solidFill>
              <a:srgbClr val="00B0F0"/>
            </a:solidFill>
            <a:prstDash val="dash"/>
            <a:round/>
          </a:ln>
          <a:extLst>
            <a:ext uri="{909E8E84-426E-40DD-AFC4-6F175D3DCCD1}">
              <a14:hiddenFill xmlns:a14="http://schemas.microsoft.com/office/drawing/2010/main">
                <a:noFill/>
              </a14:hiddenFill>
            </a:ext>
          </a:extLst>
        </p:spPr>
        <p:txBody>
          <a:bodyPr wrap="square"/>
          <a:lstStyle/>
          <a:p>
            <a:endParaRPr lang="en-AU"/>
          </a:p>
        </p:txBody>
      </p:sp>
      <p:sp>
        <p:nvSpPr>
          <p:cNvPr id="180" name="任意多边形 179"/>
          <p:cNvSpPr>
            <a:spLocks noChangeArrowheads="1"/>
          </p:cNvSpPr>
          <p:nvPr/>
        </p:nvSpPr>
        <p:spPr bwMode="auto">
          <a:xfrm>
            <a:off x="8398358" y="1337420"/>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2540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81" name="任意多边形 180"/>
          <p:cNvSpPr>
            <a:spLocks noChangeArrowheads="1"/>
          </p:cNvSpPr>
          <p:nvPr/>
        </p:nvSpPr>
        <p:spPr bwMode="auto">
          <a:xfrm rot="5400000">
            <a:off x="10166826" y="3980886"/>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2540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82" name="椭圆 181"/>
          <p:cNvSpPr>
            <a:spLocks noChangeArrowheads="1"/>
          </p:cNvSpPr>
          <p:nvPr/>
        </p:nvSpPr>
        <p:spPr bwMode="auto">
          <a:xfrm>
            <a:off x="10513982" y="4279098"/>
            <a:ext cx="130175" cy="120650"/>
          </a:xfrm>
          <a:prstGeom prst="ellipse">
            <a:avLst/>
          </a:prstGeom>
          <a:solidFill>
            <a:srgbClr val="FFFF99"/>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6" name="矩形 5"/>
          <p:cNvSpPr/>
          <p:nvPr/>
        </p:nvSpPr>
        <p:spPr>
          <a:xfrm>
            <a:off x="146444" y="4472052"/>
            <a:ext cx="6397397" cy="718915"/>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2. If 190° can be drawn, can any angle be drawn similarly?</a:t>
            </a:r>
            <a:endParaRPr lang="en-US" altLang="zh-CN" sz="2000" b="1" dirty="0">
              <a:latin typeface="微软雅黑" panose="020B0503020204020204" pitchFamily="34" charset="-122"/>
              <a:ea typeface="微软雅黑" panose="020B0503020204020204" pitchFamily="34" charset="-122"/>
            </a:endParaRPr>
          </a:p>
        </p:txBody>
      </p:sp>
      <p:sp>
        <p:nvSpPr>
          <p:cNvPr id="186" name="矩形 185"/>
          <p:cNvSpPr/>
          <p:nvPr/>
        </p:nvSpPr>
        <p:spPr>
          <a:xfrm>
            <a:off x="750701" y="5161548"/>
            <a:ext cx="2964466" cy="400110"/>
          </a:xfrm>
          <a:prstGeom prst="rect">
            <a:avLst/>
          </a:prstGeom>
        </p:spPr>
        <p:txBody>
          <a:bodyPr wrap="square">
            <a:spAutoFit/>
          </a:bodyPr>
          <a:lstStyle/>
          <a:p>
            <a:r>
              <a:rPr lang="en-US" altLang="zh-CN" sz="2000" b="1" dirty="0">
                <a:solidFill>
                  <a:srgbClr val="FF0000"/>
                </a:solidFill>
                <a:latin typeface="+mj-lt"/>
                <a:ea typeface="微软雅黑" panose="020B0503020204020204" pitchFamily="34" charset="-122"/>
              </a:rPr>
              <a:t>Sure! How about 90°?</a:t>
            </a:r>
            <a:endParaRPr lang="en-AU" sz="2000" dirty="0">
              <a:solidFill>
                <a:srgbClr val="FF0000"/>
              </a:solidFill>
              <a:latin typeface="+mj-lt"/>
              <a:ea typeface="微软雅黑" panose="020B0503020204020204" pitchFamily="34" charset="-122"/>
            </a:endParaRPr>
          </a:p>
        </p:txBody>
      </p:sp>
      <p:sp>
        <p:nvSpPr>
          <p:cNvPr id="173" name="直接连接符 172"/>
          <p:cNvSpPr>
            <a:spLocks noChangeShapeType="1"/>
          </p:cNvSpPr>
          <p:nvPr/>
        </p:nvSpPr>
        <p:spPr bwMode="auto">
          <a:xfrm rot="4742410">
            <a:off x="7736970" y="5005419"/>
            <a:ext cx="1867240" cy="770607"/>
          </a:xfrm>
          <a:prstGeom prst="line">
            <a:avLst/>
          </a:prstGeom>
          <a:noFill/>
          <a:ln w="19050">
            <a:solidFill>
              <a:srgbClr val="00B0F0"/>
            </a:solidFill>
            <a:prstDash val="dash"/>
            <a:round/>
          </a:ln>
          <a:extLst>
            <a:ext uri="{909E8E84-426E-40DD-AFC4-6F175D3DCCD1}">
              <a14:hiddenFill xmlns:a14="http://schemas.microsoft.com/office/drawing/2010/main">
                <a:noFill/>
              </a14:hiddenFill>
            </a:ext>
          </a:extLst>
        </p:spPr>
        <p:txBody>
          <a:bodyPr wrap="square"/>
          <a:lstStyle/>
          <a:p>
            <a:endParaRPr lang="en-AU"/>
          </a:p>
        </p:txBody>
      </p:sp>
      <p:grpSp>
        <p:nvGrpSpPr>
          <p:cNvPr id="188" name="组合 187"/>
          <p:cNvGrpSpPr/>
          <p:nvPr/>
        </p:nvGrpSpPr>
        <p:grpSpPr bwMode="auto">
          <a:xfrm rot="11400000">
            <a:off x="8409590" y="5886483"/>
            <a:ext cx="165100" cy="819150"/>
            <a:chOff x="3554" y="1008"/>
            <a:chExt cx="96" cy="664"/>
          </a:xfrm>
        </p:grpSpPr>
        <p:sp>
          <p:nvSpPr>
            <p:cNvPr id="189" name="等腰三角形 739481"/>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90" name="矩形 739482"/>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sp>
        <p:nvSpPr>
          <p:cNvPr id="191" name="椭圆 190"/>
          <p:cNvSpPr>
            <a:spLocks noChangeArrowheads="1"/>
          </p:cNvSpPr>
          <p:nvPr/>
        </p:nvSpPr>
        <p:spPr bwMode="auto">
          <a:xfrm>
            <a:off x="8643985" y="5117007"/>
            <a:ext cx="130175" cy="120650"/>
          </a:xfrm>
          <a:prstGeom prst="ellipse">
            <a:avLst/>
          </a:prstGeom>
          <a:solidFill>
            <a:schemeClr val="accent6"/>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192" name="椭圆 191"/>
          <p:cNvSpPr>
            <a:spLocks noChangeArrowheads="1"/>
          </p:cNvSpPr>
          <p:nvPr/>
        </p:nvSpPr>
        <p:spPr bwMode="auto">
          <a:xfrm>
            <a:off x="9699059" y="4272952"/>
            <a:ext cx="130175" cy="120650"/>
          </a:xfrm>
          <a:prstGeom prst="ellipse">
            <a:avLst/>
          </a:prstGeom>
          <a:solidFill>
            <a:schemeClr val="accent6"/>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206" name="文本框 205"/>
          <p:cNvSpPr txBox="1"/>
          <p:nvPr/>
        </p:nvSpPr>
        <p:spPr>
          <a:xfrm>
            <a:off x="8471130" y="3987248"/>
            <a:ext cx="425127" cy="369332"/>
          </a:xfrm>
          <a:prstGeom prst="rect">
            <a:avLst/>
          </a:prstGeom>
          <a:noFill/>
        </p:spPr>
        <p:txBody>
          <a:bodyPr wrap="square">
            <a:spAutoFit/>
          </a:bodyPr>
          <a:lstStyle/>
          <a:p>
            <a:r>
              <a:rPr lang="en-US" altLang="zh-CN" sz="1800" b="1" i="1" dirty="0">
                <a:solidFill>
                  <a:srgbClr val="000000"/>
                </a:solidFill>
                <a:latin typeface="宋体" panose="02010600030101010101" pitchFamily="2" charset="-122"/>
                <a:ea typeface="宋体" panose="02010600030101010101" pitchFamily="2" charset="-122"/>
              </a:rPr>
              <a:t>O</a:t>
            </a:r>
            <a:endParaRPr lang="zh-CN" altLang="en-US" dirty="0"/>
          </a:p>
        </p:txBody>
      </p:sp>
      <p:sp>
        <p:nvSpPr>
          <p:cNvPr id="195" name="标题 741383"/>
          <p:cNvSpPr>
            <a:spLocks noGrp="1" noRot="1" noChangeArrowheads="1"/>
          </p:cNvSpPr>
          <p:nvPr>
            <p:ph type="title"/>
          </p:nvPr>
        </p:nvSpPr>
        <p:spPr>
          <a:xfrm>
            <a:off x="182935" y="821382"/>
            <a:ext cx="5245099" cy="676275"/>
          </a:xfrm>
        </p:spPr>
        <p:txBody>
          <a:bodyPr wrap="square"/>
          <a:lstStyle/>
          <a:p>
            <a:pPr algn="l" eaLnBrk="1" hangingPunct="1"/>
            <a:r>
              <a:rPr lang="zh-CN" altLang="en-US" sz="2000" b="1" kern="1200" dirty="0">
                <a:solidFill>
                  <a:srgbClr val="201E84"/>
                </a:solidFill>
                <a:latin typeface="微软雅黑" panose="020B0503020204020204" pitchFamily="34" charset="-122"/>
                <a:ea typeface="微软雅黑" panose="020B0503020204020204" pitchFamily="34" charset="-122"/>
                <a:cs typeface="+mn-cs"/>
              </a:rPr>
              <a:t>Radial Knife-edge Follower Disk Cam</a:t>
            </a:r>
            <a:endParaRPr lang="zh-CN" altLang="en-US" sz="2000" b="1" kern="1200" dirty="0">
              <a:solidFill>
                <a:srgbClr val="201E84"/>
              </a:solidFill>
              <a:latin typeface="微软雅黑" panose="020B0503020204020204" pitchFamily="34" charset="-122"/>
              <a:ea typeface="微软雅黑" panose="020B0503020204020204" pitchFamily="34" charset="-122"/>
              <a:cs typeface="+mn-cs"/>
            </a:endParaRPr>
          </a:p>
        </p:txBody>
      </p:sp>
      <p:sp>
        <p:nvSpPr>
          <p:cNvPr id="196" name="灯片编号占位符 1"/>
          <p:cNvSpPr txBox="1"/>
          <p:nvPr/>
        </p:nvSpPr>
        <p:spPr>
          <a:xfrm>
            <a:off x="11550890" y="6446393"/>
            <a:ext cx="641110"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sp>
        <p:nvSpPr>
          <p:cNvPr id="193" name="矩形 192"/>
          <p:cNvSpPr/>
          <p:nvPr/>
        </p:nvSpPr>
        <p:spPr>
          <a:xfrm>
            <a:off x="6355987" y="6080332"/>
            <a:ext cx="2044149" cy="706755"/>
          </a:xfrm>
          <a:prstGeom prst="rect">
            <a:avLst/>
          </a:prstGeom>
        </p:spPr>
        <p:txBody>
          <a:bodyPr wrap="square">
            <a:spAutoFit/>
          </a:bodyPr>
          <a:lstStyle/>
          <a:p>
            <a:r>
              <a:rPr lang="zh-CN" altLang="en-US" sz="2000" b="1" dirty="0">
                <a:solidFill>
                  <a:srgbClr val="FF0000"/>
                </a:solidFill>
                <a:latin typeface="+mj-lt"/>
                <a:ea typeface="微软雅黑" panose="020B0503020204020204" pitchFamily="34" charset="-122"/>
              </a:rPr>
              <a:t>Simple structure, wear</a:t>
            </a:r>
            <a:r>
              <a:rPr lang="en-US" altLang="zh-CN" sz="2000" b="1" dirty="0">
                <a:solidFill>
                  <a:srgbClr val="FF0000"/>
                </a:solidFill>
                <a:latin typeface="+mj-lt"/>
                <a:ea typeface="微软雅黑" panose="020B0503020204020204" pitchFamily="34" charset="-122"/>
              </a:rPr>
              <a:t> easily</a:t>
            </a:r>
            <a:endParaRPr lang="en-US" altLang="zh-CN" sz="2000" b="1" dirty="0">
              <a:solidFill>
                <a:srgbClr val="FF0000"/>
              </a:solidFill>
              <a:latin typeface="+mj-lt"/>
              <a:ea typeface="微软雅黑" panose="020B0503020204020204" pitchFamily="34" charset="-122"/>
            </a:endParaRPr>
          </a:p>
        </p:txBody>
      </p:sp>
      <p:pic>
        <p:nvPicPr>
          <p:cNvPr id="194" name="1. 盘形凸轮">
            <a:hlinkClick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11"/>
          <a:stretch>
            <a:fillRect/>
          </a:stretch>
        </p:blipFill>
        <p:spPr>
          <a:xfrm>
            <a:off x="2738244" y="1961108"/>
            <a:ext cx="2535672" cy="1901754"/>
          </a:xfrm>
          <a:prstGeom prst="rect">
            <a:avLst/>
          </a:prstGeom>
        </p:spPr>
      </p:pic>
      <p:sp>
        <p:nvSpPr>
          <p:cNvPr id="200" name="文本框 199"/>
          <p:cNvSpPr txBox="1"/>
          <p:nvPr/>
        </p:nvSpPr>
        <p:spPr>
          <a:xfrm>
            <a:off x="5281262" y="2429862"/>
            <a:ext cx="3578194" cy="829945"/>
          </a:xfrm>
          <a:prstGeom prst="rect">
            <a:avLst/>
          </a:prstGeom>
          <a:noFill/>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Inversion method: Fix cam, move everything else</a:t>
            </a:r>
            <a:endParaRPr lang="en-US" altLang="zh-CN" sz="1600" b="1" dirty="0">
              <a:solidFill>
                <a:schemeClr val="tx1"/>
              </a:solidFill>
              <a:latin typeface="微软雅黑" panose="020B0503020204020204" pitchFamily="34" charset="-122"/>
              <a:ea typeface="微软雅黑" panose="020B0503020204020204" pitchFamily="34" charset="-122"/>
            </a:endParaRPr>
          </a:p>
          <a:p>
            <a:r>
              <a:rPr lang="zh-CN" altLang="en-US" sz="1600" b="1" dirty="0">
                <a:solidFill>
                  <a:schemeClr val="tx1"/>
                </a:solidFill>
                <a:latin typeface="微软雅黑" panose="020B0503020204020204" pitchFamily="34" charset="-122"/>
                <a:ea typeface="微软雅黑" panose="020B0503020204020204" pitchFamily="34" charset="-122"/>
              </a:rPr>
              <a:t>(Relative motion unchanged)</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201" name="矩形 200"/>
          <p:cNvSpPr/>
          <p:nvPr/>
        </p:nvSpPr>
        <p:spPr>
          <a:xfrm>
            <a:off x="193040" y="5561965"/>
            <a:ext cx="7162800" cy="413385"/>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3. After drawing 0°~360°, is the cam profile designed?</a:t>
            </a:r>
            <a:endParaRPr lang="en-US" altLang="zh-CN" sz="2000" b="1" dirty="0">
              <a:latin typeface="微软雅黑" panose="020B0503020204020204" pitchFamily="34" charset="-122"/>
              <a:ea typeface="微软雅黑" panose="020B0503020204020204" pitchFamily="34" charset="-122"/>
            </a:endParaRPr>
          </a:p>
        </p:txBody>
      </p: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Tree>
  </p:cSld>
  <p:clrMapOvr>
    <a:masterClrMapping/>
  </p:clrMapOvr>
  <p:transition>
    <p:sndAc>
      <p:stSnd>
        <p:snd r:embed="rId1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194"/>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194"/>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84"/>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8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3" presetClass="entr" presetSubtype="288" fill="hold" nodeType="clickEffect">
                                  <p:stCondLst>
                                    <p:cond delay="0"/>
                                  </p:stCondLst>
                                  <p:childTnLst>
                                    <p:set>
                                      <p:cBhvr>
                                        <p:cTn id="36" dur="1" fill="hold">
                                          <p:stCondLst>
                                            <p:cond delay="0"/>
                                          </p:stCondLst>
                                        </p:cTn>
                                        <p:tgtEl>
                                          <p:spTgt spid="177"/>
                                        </p:tgtEl>
                                        <p:attrNameLst>
                                          <p:attrName>style.visibility</p:attrName>
                                        </p:attrNameLst>
                                      </p:cBhvr>
                                      <p:to>
                                        <p:strVal val="visible"/>
                                      </p:to>
                                    </p:set>
                                    <p:anim calcmode="lin" valueType="num">
                                      <p:cBhvr>
                                        <p:cTn id="37" dur="500" fill="hold"/>
                                        <p:tgtEl>
                                          <p:spTgt spid="177"/>
                                        </p:tgtEl>
                                        <p:attrNameLst>
                                          <p:attrName>ppt_w</p:attrName>
                                        </p:attrNameLst>
                                      </p:cBhvr>
                                      <p:tavLst>
                                        <p:tav tm="0">
                                          <p:val>
                                            <p:strVal val="4/3*#ppt_w"/>
                                          </p:val>
                                        </p:tav>
                                        <p:tav tm="100000">
                                          <p:val>
                                            <p:strVal val="#ppt_w"/>
                                          </p:val>
                                        </p:tav>
                                      </p:tavLst>
                                    </p:anim>
                                    <p:anim calcmode="lin" valueType="num">
                                      <p:cBhvr>
                                        <p:cTn id="38" dur="500" fill="hold"/>
                                        <p:tgtEl>
                                          <p:spTgt spid="177"/>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13" name="TYPE.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3" presetClass="entr" presetSubtype="288" fill="hold" nodeType="clickEffect">
                                  <p:stCondLst>
                                    <p:cond delay="0"/>
                                  </p:stCondLst>
                                  <p:childTnLst>
                                    <p:set>
                                      <p:cBhvr>
                                        <p:cTn id="64" dur="1" fill="hold">
                                          <p:stCondLst>
                                            <p:cond delay="0"/>
                                          </p:stCondLst>
                                        </p:cTn>
                                        <p:tgtEl>
                                          <p:spTgt spid="182"/>
                                        </p:tgtEl>
                                        <p:attrNameLst>
                                          <p:attrName>style.visibility</p:attrName>
                                        </p:attrNameLst>
                                      </p:cBhvr>
                                      <p:to>
                                        <p:strVal val="visible"/>
                                      </p:to>
                                    </p:set>
                                    <p:anim calcmode="lin" valueType="num">
                                      <p:cBhvr>
                                        <p:cTn id="65" dur="500" fill="hold"/>
                                        <p:tgtEl>
                                          <p:spTgt spid="182"/>
                                        </p:tgtEl>
                                        <p:attrNameLst>
                                          <p:attrName>ppt_w</p:attrName>
                                        </p:attrNameLst>
                                      </p:cBhvr>
                                      <p:tavLst>
                                        <p:tav tm="0">
                                          <p:val>
                                            <p:strVal val="4/3*#ppt_w"/>
                                          </p:val>
                                        </p:tav>
                                        <p:tav tm="100000">
                                          <p:val>
                                            <p:strVal val="#ppt_w"/>
                                          </p:val>
                                        </p:tav>
                                      </p:tavLst>
                                    </p:anim>
                                    <p:anim calcmode="lin" valueType="num">
                                      <p:cBhvr>
                                        <p:cTn id="66" dur="500" fill="hold"/>
                                        <p:tgtEl>
                                          <p:spTgt spid="182"/>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13" name="TYPE.WAV"/>
                                        </p:tgtEl>
                                      </p:cMediaNode>
                                    </p:audio>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7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79" repeatCount="indefinite" fill="hold" display="0">
                  <p:stCondLst>
                    <p:cond delay="indefinite"/>
                  </p:stCondLst>
                </p:cTn>
                <p:tgtEl>
                  <p:spTgt spid="194"/>
                </p:tgtEl>
              </p:cMediaNode>
            </p:video>
          </p:childTnLst>
        </p:cTn>
      </p:par>
    </p:tnLst>
    <p:bldLst>
      <p:bldP spid="172" grpId="0"/>
      <p:bldP spid="174" grpId="0" animBg="1"/>
      <p:bldP spid="176" grpId="0" animBg="1"/>
      <p:bldP spid="179" grpId="0" animBg="1"/>
      <p:bldP spid="180" grpId="0" animBg="1"/>
      <p:bldP spid="181" grpId="0" animBg="1"/>
      <p:bldP spid="6" grpId="0"/>
      <p:bldP spid="186" grpId="0"/>
      <p:bldP spid="173" grpId="0" animBg="1"/>
      <p:bldP spid="191" grpId="0" animBg="1"/>
      <p:bldP spid="192" grpId="0" animBg="1"/>
      <p:bldP spid="193" grpId="0"/>
      <p:bldP spid="201"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87" name="组合 386"/>
          <p:cNvGrpSpPr/>
          <p:nvPr/>
        </p:nvGrpSpPr>
        <p:grpSpPr bwMode="auto">
          <a:xfrm rot="11400000">
            <a:off x="9020698" y="5683818"/>
            <a:ext cx="165100" cy="819150"/>
            <a:chOff x="3554" y="1008"/>
            <a:chExt cx="96" cy="664"/>
          </a:xfrm>
        </p:grpSpPr>
        <p:sp>
          <p:nvSpPr>
            <p:cNvPr id="388" name="等腰三角形 739481"/>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389" name="矩形 739482"/>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grpSp>
        <p:nvGrpSpPr>
          <p:cNvPr id="390" name="组合 389"/>
          <p:cNvGrpSpPr/>
          <p:nvPr/>
        </p:nvGrpSpPr>
        <p:grpSpPr bwMode="auto">
          <a:xfrm rot="11400000">
            <a:off x="8901894" y="6314068"/>
            <a:ext cx="165100" cy="819150"/>
            <a:chOff x="3554" y="1008"/>
            <a:chExt cx="96" cy="664"/>
          </a:xfrm>
        </p:grpSpPr>
        <p:sp>
          <p:nvSpPr>
            <p:cNvPr id="391" name="等腰三角形 739481"/>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392" name="矩形 739482"/>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sp>
        <p:nvSpPr>
          <p:cNvPr id="62504" name="矩形 745536"/>
          <p:cNvSpPr>
            <a:spLocks noRot="1" noChangeArrowheads="1"/>
          </p:cNvSpPr>
          <p:nvPr/>
        </p:nvSpPr>
        <p:spPr bwMode="auto">
          <a:xfrm>
            <a:off x="1690689" y="1465263"/>
            <a:ext cx="3983037"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20000"/>
              </a:spcBef>
              <a:buClr>
                <a:schemeClr val="hlink"/>
              </a:buClr>
              <a:buSzPct val="70000"/>
              <a:buFont typeface="Wingdings" panose="05000000000000000000" pitchFamily="2" charset="2"/>
              <a:buNone/>
            </a:pPr>
            <a:endParaRPr lang="zh-CN" altLang="en-US" sz="2400" b="1">
              <a:solidFill>
                <a:srgbClr val="000000"/>
              </a:solidFill>
              <a:latin typeface="微软雅黑" panose="020B0503020204020204" pitchFamily="34" charset="-122"/>
              <a:ea typeface="微软雅黑" panose="020B0503020204020204" pitchFamily="34" charset="-122"/>
            </a:endParaRPr>
          </a:p>
        </p:txBody>
      </p:sp>
      <p:sp>
        <p:nvSpPr>
          <p:cNvPr id="745539" name="内容占位符 745538"/>
          <p:cNvSpPr>
            <a:spLocks noGrp="1" noRot="1" noChangeArrowheads="1"/>
          </p:cNvSpPr>
          <p:nvPr>
            <p:ph sz="half" idx="1"/>
          </p:nvPr>
        </p:nvSpPr>
        <p:spPr>
          <a:xfrm>
            <a:off x="360680" y="1465580"/>
            <a:ext cx="6154420" cy="1117600"/>
          </a:xfrm>
        </p:spPr>
        <p:txBody>
          <a:bodyPr wrap="square"/>
          <a:lstStyle/>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Given: </a:t>
            </a:r>
            <a:r>
              <a:rPr lang="zh-CN" altLang="en-US" sz="1800" b="1" dirty="0">
                <a:solidFill>
                  <a:schemeClr val="tx1"/>
                </a:solidFill>
                <a:latin typeface="微软雅黑" panose="020B0503020204020204" pitchFamily="34" charset="-122"/>
                <a:ea typeface="微软雅黑" panose="020B0503020204020204" pitchFamily="34" charset="-122"/>
              </a:rPr>
              <a:t>r₀, offset circle radius e, follower motion law, cam CCW</a:t>
            </a:r>
            <a:endParaRPr lang="zh-CN" altLang="en-US" sz="1800" b="1" dirty="0">
              <a:solidFill>
                <a:srgbClr val="FF0000"/>
              </a:solidFill>
              <a:latin typeface="微软雅黑" panose="020B0503020204020204" pitchFamily="34" charset="-122"/>
              <a:ea typeface="微软雅黑" panose="020B0503020204020204" pitchFamily="34" charset="-122"/>
            </a:endParaRPr>
          </a:p>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Design: </a:t>
            </a:r>
            <a:r>
              <a:rPr lang="zh-CN" altLang="en-US" sz="1800" b="1" dirty="0">
                <a:solidFill>
                  <a:schemeClr val="tx1"/>
                </a:solidFill>
                <a:latin typeface="微软雅黑" panose="020B0503020204020204" pitchFamily="34" charset="-122"/>
                <a:ea typeface="微软雅黑" panose="020B0503020204020204" pitchFamily="34" charset="-122"/>
              </a:rPr>
              <a:t>Cam profile</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
        <p:nvSpPr>
          <p:cNvPr id="192" name="任意多边形 191"/>
          <p:cNvSpPr>
            <a:spLocks noChangeArrowheads="1"/>
          </p:cNvSpPr>
          <p:nvPr/>
        </p:nvSpPr>
        <p:spPr bwMode="auto">
          <a:xfrm>
            <a:off x="7455408" y="2830198"/>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grpSp>
        <p:nvGrpSpPr>
          <p:cNvPr id="193" name="组合 192"/>
          <p:cNvGrpSpPr/>
          <p:nvPr/>
        </p:nvGrpSpPr>
        <p:grpSpPr bwMode="auto">
          <a:xfrm>
            <a:off x="6869622" y="1595123"/>
            <a:ext cx="4651376" cy="1570037"/>
            <a:chOff x="3135" y="1003"/>
            <a:chExt cx="2930" cy="989"/>
          </a:xfrm>
        </p:grpSpPr>
        <p:sp>
          <p:nvSpPr>
            <p:cNvPr id="194" name="任意多边形 745475"/>
            <p:cNvSpPr>
              <a:spLocks noChangeArrowheads="1"/>
            </p:cNvSpPr>
            <p:nvPr/>
          </p:nvSpPr>
          <p:spPr bwMode="auto">
            <a:xfrm>
              <a:off x="4573" y="1276"/>
              <a:ext cx="642" cy="518"/>
            </a:xfrm>
            <a:custGeom>
              <a:avLst/>
              <a:gdLst>
                <a:gd name="T0" fmla="*/ 0 w 963"/>
                <a:gd name="T1" fmla="*/ 0 h 654"/>
                <a:gd name="T2" fmla="*/ 57 w 963"/>
                <a:gd name="T3" fmla="*/ 128 h 654"/>
                <a:gd name="T4" fmla="*/ 0 60000 65536"/>
                <a:gd name="T5" fmla="*/ 0 60000 65536"/>
              </a:gdLst>
              <a:ahLst/>
              <a:cxnLst>
                <a:cxn ang="T4">
                  <a:pos x="T0" y="T1"/>
                </a:cxn>
                <a:cxn ang="T5">
                  <a:pos x="T2" y="T3"/>
                </a:cxn>
              </a:cxnLst>
              <a:rect l="0" t="0" r="r" b="b"/>
              <a:pathLst>
                <a:path w="963" h="654">
                  <a:moveTo>
                    <a:pt x="0" y="0"/>
                  </a:moveTo>
                  <a:lnTo>
                    <a:pt x="963" y="65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nvGrpSpPr>
            <p:cNvPr id="195" name="组合 745476"/>
            <p:cNvGrpSpPr/>
            <p:nvPr/>
          </p:nvGrpSpPr>
          <p:grpSpPr bwMode="auto">
            <a:xfrm>
              <a:off x="3135" y="1003"/>
              <a:ext cx="2930" cy="989"/>
              <a:chOff x="3135" y="1003"/>
              <a:chExt cx="2930" cy="989"/>
            </a:xfrm>
          </p:grpSpPr>
          <p:sp>
            <p:nvSpPr>
              <p:cNvPr id="196" name="直接连接符 745477"/>
              <p:cNvSpPr>
                <a:spLocks noChangeShapeType="1"/>
              </p:cNvSpPr>
              <p:nvPr/>
            </p:nvSpPr>
            <p:spPr bwMode="auto">
              <a:xfrm flipV="1">
                <a:off x="3369" y="1082"/>
                <a:ext cx="0" cy="835"/>
              </a:xfrm>
              <a:prstGeom prst="line">
                <a:avLst/>
              </a:prstGeom>
              <a:noFill/>
              <a:ln w="3175">
                <a:solidFill>
                  <a:srgbClr val="00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197" name="任意多边形 745478"/>
              <p:cNvSpPr>
                <a:spLocks noChangeArrowheads="1"/>
              </p:cNvSpPr>
              <p:nvPr/>
            </p:nvSpPr>
            <p:spPr bwMode="auto">
              <a:xfrm>
                <a:off x="3260" y="1794"/>
                <a:ext cx="2698" cy="0"/>
              </a:xfrm>
              <a:custGeom>
                <a:avLst/>
                <a:gdLst>
                  <a:gd name="T0" fmla="*/ 0 w 3225"/>
                  <a:gd name="T1" fmla="*/ 0 h 1"/>
                  <a:gd name="T2" fmla="*/ 924 w 3225"/>
                  <a:gd name="T3" fmla="*/ 1 h 1"/>
                  <a:gd name="T4" fmla="*/ 0 60000 65536"/>
                  <a:gd name="T5" fmla="*/ 0 60000 65536"/>
                </a:gdLst>
                <a:ahLst/>
                <a:cxnLst>
                  <a:cxn ang="T4">
                    <a:pos x="T0" y="T1"/>
                  </a:cxn>
                  <a:cxn ang="T5">
                    <a:pos x="T2" y="T3"/>
                  </a:cxn>
                </a:cxnLst>
                <a:rect l="0" t="0" r="r" b="b"/>
                <a:pathLst>
                  <a:path w="3225" h="1">
                    <a:moveTo>
                      <a:pt x="0" y="0"/>
                    </a:moveTo>
                    <a:lnTo>
                      <a:pt x="3225" y="1"/>
                    </a:lnTo>
                  </a:path>
                </a:pathLst>
              </a:custGeom>
              <a:noFill/>
              <a:ln w="3175">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198" name="文本框 745479"/>
              <p:cNvSpPr txBox="1">
                <a:spLocks noChangeArrowheads="1"/>
              </p:cNvSpPr>
              <p:nvPr/>
            </p:nvSpPr>
            <p:spPr bwMode="auto">
              <a:xfrm>
                <a:off x="3208" y="1003"/>
                <a:ext cx="1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b="1">
                    <a:solidFill>
                      <a:srgbClr val="000000"/>
                    </a:solidFill>
                    <a:latin typeface="微软雅黑" panose="020B0503020204020204" pitchFamily="34" charset="-122"/>
                    <a:ea typeface="微软雅黑" panose="020B0503020204020204" pitchFamily="34" charset="-122"/>
                  </a:rPr>
                  <a:t>s</a:t>
                </a:r>
                <a:endParaRPr lang="en-US" altLang="zh-CN" sz="1800" b="1">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99" name="文本框 745480"/>
                  <p:cNvSpPr txBox="1">
                    <a:spLocks noChangeArrowheads="1"/>
                  </p:cNvSpPr>
                  <p:nvPr/>
                </p:nvSpPr>
                <p:spPr bwMode="auto">
                  <a:xfrm>
                    <a:off x="5795" y="1596"/>
                    <a:ext cx="27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buNone/>
                    </a:pPr>
                    <a14:m>
                      <m:oMathPara xmlns:m="http://schemas.openxmlformats.org/officeDocument/2006/math">
                        <m:oMathParaPr>
                          <m:jc m:val="centerGroup"/>
                        </m:oMathParaPr>
                        <m:oMath xmlns:m="http://schemas.openxmlformats.org/officeDocument/2006/math">
                          <m:r>
                            <a:rPr lang="zh-CN" altLang="en-US" sz="1800" b="1" i="1">
                              <a:latin typeface="Cambria Math" panose="02040503050406030204" pitchFamily="18" charset="0"/>
                            </a:rPr>
                            <m:t>𝝋</m:t>
                          </m:r>
                        </m:oMath>
                      </m:oMathPara>
                    </a14:m>
                    <a:endParaRPr lang="en-AU" sz="1800" b="1" dirty="0">
                      <a:latin typeface="微软雅黑" panose="020B0503020204020204" pitchFamily="34" charset="-122"/>
                      <a:ea typeface="微软雅黑" panose="020B0503020204020204" pitchFamily="34" charset="-122"/>
                    </a:endParaRPr>
                  </a:p>
                </p:txBody>
              </p:sp>
            </mc:Choice>
            <mc:Fallback>
              <p:sp>
                <p:nvSpPr>
                  <p:cNvPr id="199" name="文本框 745480"/>
                  <p:cNvSpPr txBox="1">
                    <a:spLocks noRot="1" noChangeAspect="1" noMove="1" noResize="1" noEditPoints="1" noAdjustHandles="1" noChangeArrowheads="1" noChangeShapeType="1" noTextEdit="1"/>
                  </p:cNvSpPr>
                  <p:nvPr/>
                </p:nvSpPr>
                <p:spPr bwMode="auto">
                  <a:xfrm>
                    <a:off x="5795" y="1596"/>
                    <a:ext cx="270" cy="215"/>
                  </a:xfrm>
                  <a:prstGeom prst="rect">
                    <a:avLst/>
                  </a:prstGeom>
                  <a:blipFill rotWithShape="1">
                    <a:blip r:embed="rId1"/>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r>
                      <a:rPr lang="zh-CN" altLang="en-US">
                        <a:noFill/>
                      </a:rPr>
                      <a:t> </a:t>
                    </a:r>
                  </a:p>
                </p:txBody>
              </p:sp>
            </mc:Fallback>
          </mc:AlternateContent>
          <p:sp>
            <p:nvSpPr>
              <p:cNvPr id="200" name="文本框 745481"/>
              <p:cNvSpPr txBox="1">
                <a:spLocks noChangeArrowheads="1"/>
              </p:cNvSpPr>
              <p:nvPr/>
            </p:nvSpPr>
            <p:spPr bwMode="auto">
              <a:xfrm>
                <a:off x="3224" y="1762"/>
                <a:ext cx="1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b="1">
                    <a:latin typeface="微软雅黑" panose="020B0503020204020204" pitchFamily="34" charset="-122"/>
                    <a:ea typeface="微软雅黑" panose="020B0503020204020204" pitchFamily="34" charset="-122"/>
                  </a:rPr>
                  <a:t>0</a:t>
                </a:r>
                <a:endParaRPr lang="zh-CN" altLang="zh-CN" sz="1400" b="1">
                  <a:latin typeface="微软雅黑" panose="020B0503020204020204" pitchFamily="34" charset="-122"/>
                  <a:ea typeface="微软雅黑" panose="020B0503020204020204" pitchFamily="34" charset="-122"/>
                </a:endParaRPr>
              </a:p>
            </p:txBody>
          </p:sp>
          <p:sp>
            <p:nvSpPr>
              <p:cNvPr id="201" name="任意多边形 745482"/>
              <p:cNvSpPr>
                <a:spLocks noChangeArrowheads="1"/>
              </p:cNvSpPr>
              <p:nvPr/>
            </p:nvSpPr>
            <p:spPr bwMode="auto">
              <a:xfrm>
                <a:off x="4171" y="1278"/>
                <a:ext cx="1" cy="639"/>
              </a:xfrm>
              <a:custGeom>
                <a:avLst/>
                <a:gdLst>
                  <a:gd name="T0" fmla="*/ 0 w 1"/>
                  <a:gd name="T1" fmla="*/ 0 h 1488"/>
                  <a:gd name="T2" fmla="*/ 0 w 1"/>
                  <a:gd name="T3" fmla="*/ 4 h 1488"/>
                  <a:gd name="T4" fmla="*/ 0 60000 65536"/>
                  <a:gd name="T5" fmla="*/ 0 60000 65536"/>
                </a:gdLst>
                <a:ahLst/>
                <a:cxnLst>
                  <a:cxn ang="T4">
                    <a:pos x="T0" y="T1"/>
                  </a:cxn>
                  <a:cxn ang="T5">
                    <a:pos x="T2" y="T3"/>
                  </a:cxn>
                </a:cxnLst>
                <a:rect l="0" t="0" r="r" b="b"/>
                <a:pathLst>
                  <a:path w="1" h="1488">
                    <a:moveTo>
                      <a:pt x="0" y="0"/>
                    </a:moveTo>
                    <a:lnTo>
                      <a:pt x="0" y="1488"/>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2" name="直接连接符 745483"/>
              <p:cNvSpPr>
                <a:spLocks noChangeShapeType="1"/>
              </p:cNvSpPr>
              <p:nvPr/>
            </p:nvSpPr>
            <p:spPr bwMode="auto">
              <a:xfrm>
                <a:off x="3369" y="1904"/>
                <a:ext cx="80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3" name="任意多边形 745484"/>
              <p:cNvSpPr>
                <a:spLocks noChangeArrowheads="1"/>
              </p:cNvSpPr>
              <p:nvPr/>
            </p:nvSpPr>
            <p:spPr bwMode="auto">
              <a:xfrm>
                <a:off x="4573" y="1278"/>
                <a:ext cx="1" cy="661"/>
              </a:xfrm>
              <a:custGeom>
                <a:avLst/>
                <a:gdLst>
                  <a:gd name="T0" fmla="*/ 0 w 1"/>
                  <a:gd name="T1" fmla="*/ 0 h 835"/>
                  <a:gd name="T2" fmla="*/ 1 w 1"/>
                  <a:gd name="T3" fmla="*/ 163 h 835"/>
                  <a:gd name="T4" fmla="*/ 0 60000 65536"/>
                  <a:gd name="T5" fmla="*/ 0 60000 65536"/>
                </a:gdLst>
                <a:ahLst/>
                <a:cxnLst>
                  <a:cxn ang="T4">
                    <a:pos x="T0" y="T1"/>
                  </a:cxn>
                  <a:cxn ang="T5">
                    <a:pos x="T2" y="T3"/>
                  </a:cxn>
                </a:cxnLst>
                <a:rect l="0" t="0" r="r" b="b"/>
                <a:pathLst>
                  <a:path w="1" h="835">
                    <a:moveTo>
                      <a:pt x="0" y="0"/>
                    </a:moveTo>
                    <a:lnTo>
                      <a:pt x="1" y="835"/>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4" name="任意多边形 745485"/>
              <p:cNvSpPr>
                <a:spLocks noChangeArrowheads="1"/>
              </p:cNvSpPr>
              <p:nvPr/>
            </p:nvSpPr>
            <p:spPr bwMode="auto">
              <a:xfrm>
                <a:off x="4573" y="1904"/>
                <a:ext cx="638" cy="0"/>
              </a:xfrm>
              <a:custGeom>
                <a:avLst/>
                <a:gdLst>
                  <a:gd name="T0" fmla="*/ 219 w 762"/>
                  <a:gd name="T1" fmla="*/ 1 h 1"/>
                  <a:gd name="T2" fmla="*/ 0 w 762"/>
                  <a:gd name="T3" fmla="*/ 0 h 1"/>
                  <a:gd name="T4" fmla="*/ 0 60000 65536"/>
                  <a:gd name="T5" fmla="*/ 0 60000 65536"/>
                </a:gdLst>
                <a:ahLst/>
                <a:cxnLst>
                  <a:cxn ang="T4">
                    <a:pos x="T0" y="T1"/>
                  </a:cxn>
                  <a:cxn ang="T5">
                    <a:pos x="T2" y="T3"/>
                  </a:cxn>
                </a:cxnLst>
                <a:rect l="0" t="0" r="r" b="b"/>
                <a:pathLst>
                  <a:path w="762" h="1">
                    <a:moveTo>
                      <a:pt x="762" y="1"/>
                    </a:moveTo>
                    <a:lnTo>
                      <a:pt x="0"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5" name="任意多边形 745486"/>
              <p:cNvSpPr>
                <a:spLocks noChangeArrowheads="1"/>
              </p:cNvSpPr>
              <p:nvPr/>
            </p:nvSpPr>
            <p:spPr bwMode="auto">
              <a:xfrm>
                <a:off x="5213" y="1794"/>
                <a:ext cx="1" cy="129"/>
              </a:xfrm>
              <a:custGeom>
                <a:avLst/>
                <a:gdLst>
                  <a:gd name="T0" fmla="*/ 0 w 1"/>
                  <a:gd name="T1" fmla="*/ 0 h 163"/>
                  <a:gd name="T2" fmla="*/ 1 w 1"/>
                  <a:gd name="T3" fmla="*/ 32 h 163"/>
                  <a:gd name="T4" fmla="*/ 0 60000 65536"/>
                  <a:gd name="T5" fmla="*/ 0 60000 65536"/>
                </a:gdLst>
                <a:ahLst/>
                <a:cxnLst>
                  <a:cxn ang="T4">
                    <a:pos x="T0" y="T1"/>
                  </a:cxn>
                  <a:cxn ang="T5">
                    <a:pos x="T2" y="T3"/>
                  </a:cxn>
                </a:cxnLst>
                <a:rect l="0" t="0" r="r" b="b"/>
                <a:pathLst>
                  <a:path w="1" h="163">
                    <a:moveTo>
                      <a:pt x="0" y="0"/>
                    </a:moveTo>
                    <a:lnTo>
                      <a:pt x="1" y="163"/>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6" name="直接连接符 745487"/>
              <p:cNvSpPr>
                <a:spLocks noChangeShapeType="1"/>
              </p:cNvSpPr>
              <p:nvPr/>
            </p:nvSpPr>
            <p:spPr bwMode="auto">
              <a:xfrm>
                <a:off x="3275" y="1278"/>
                <a:ext cx="1057"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7" name="直接连接符 745488"/>
              <p:cNvSpPr>
                <a:spLocks noChangeShapeType="1"/>
              </p:cNvSpPr>
              <p:nvPr/>
            </p:nvSpPr>
            <p:spPr bwMode="auto">
              <a:xfrm>
                <a:off x="3315" y="1278"/>
                <a:ext cx="0" cy="516"/>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08" name="文本框 745489"/>
              <p:cNvSpPr txBox="1">
                <a:spLocks noChangeArrowheads="1"/>
              </p:cNvSpPr>
              <p:nvPr/>
            </p:nvSpPr>
            <p:spPr bwMode="auto">
              <a:xfrm rot="16200000">
                <a:off x="3137" y="1412"/>
                <a:ext cx="18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b="1">
                    <a:latin typeface="微软雅黑" panose="020B0503020204020204" pitchFamily="34" charset="-122"/>
                    <a:ea typeface="微软雅黑" panose="020B0503020204020204" pitchFamily="34" charset="-122"/>
                  </a:rPr>
                  <a:t>h</a:t>
                </a:r>
                <a:endParaRPr lang="en-US" altLang="zh-CN" sz="1400" b="1">
                  <a:latin typeface="微软雅黑" panose="020B0503020204020204" pitchFamily="34" charset="-122"/>
                  <a:ea typeface="微软雅黑" panose="020B0503020204020204" pitchFamily="34" charset="-122"/>
                </a:endParaRPr>
              </a:p>
            </p:txBody>
          </p:sp>
          <p:sp>
            <p:nvSpPr>
              <p:cNvPr id="209" name="任意多边形 745490"/>
              <p:cNvSpPr>
                <a:spLocks noChangeArrowheads="1"/>
              </p:cNvSpPr>
              <p:nvPr/>
            </p:nvSpPr>
            <p:spPr bwMode="auto">
              <a:xfrm>
                <a:off x="3369" y="1277"/>
                <a:ext cx="802" cy="517"/>
              </a:xfrm>
              <a:custGeom>
                <a:avLst/>
                <a:gdLst>
                  <a:gd name="T0" fmla="*/ 0 w 1442"/>
                  <a:gd name="T1" fmla="*/ 3 h 1203"/>
                  <a:gd name="T2" fmla="*/ 2 w 1442"/>
                  <a:gd name="T3" fmla="*/ 3 h 1203"/>
                  <a:gd name="T4" fmla="*/ 4 w 1442"/>
                  <a:gd name="T5" fmla="*/ 3 h 1203"/>
                  <a:gd name="T6" fmla="*/ 6 w 1442"/>
                  <a:gd name="T7" fmla="*/ 3 h 1203"/>
                  <a:gd name="T8" fmla="*/ 8 w 1442"/>
                  <a:gd name="T9" fmla="*/ 3 h 1203"/>
                  <a:gd name="T10" fmla="*/ 10 w 1442"/>
                  <a:gd name="T11" fmla="*/ 2 h 1203"/>
                  <a:gd name="T12" fmla="*/ 12 w 1442"/>
                  <a:gd name="T13" fmla="*/ 2 h 1203"/>
                  <a:gd name="T14" fmla="*/ 14 w 1442"/>
                  <a:gd name="T15" fmla="*/ 1 h 1203"/>
                  <a:gd name="T16" fmla="*/ 16 w 1442"/>
                  <a:gd name="T17" fmla="*/ 0 h 1203"/>
                  <a:gd name="T18" fmla="*/ 18 w 1442"/>
                  <a:gd name="T19" fmla="*/ 0 h 1203"/>
                  <a:gd name="T20" fmla="*/ 20 w 1442"/>
                  <a:gd name="T21" fmla="*/ 0 h 1203"/>
                  <a:gd name="T22" fmla="*/ 22 w 1442"/>
                  <a:gd name="T23" fmla="*/ 0 h 1203"/>
                  <a:gd name="T24" fmla="*/ 24 w 1442"/>
                  <a:gd name="T25" fmla="*/ 0 h 1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2" h="1203">
                    <a:moveTo>
                      <a:pt x="0" y="1202"/>
                    </a:moveTo>
                    <a:cubicBezTo>
                      <a:pt x="20" y="1201"/>
                      <a:pt x="82" y="1203"/>
                      <a:pt x="122" y="1198"/>
                    </a:cubicBezTo>
                    <a:cubicBezTo>
                      <a:pt x="162" y="1193"/>
                      <a:pt x="202" y="1188"/>
                      <a:pt x="242" y="1171"/>
                    </a:cubicBezTo>
                    <a:cubicBezTo>
                      <a:pt x="282" y="1154"/>
                      <a:pt x="322" y="1129"/>
                      <a:pt x="362" y="1097"/>
                    </a:cubicBezTo>
                    <a:cubicBezTo>
                      <a:pt x="402" y="1065"/>
                      <a:pt x="442" y="1027"/>
                      <a:pt x="482" y="977"/>
                    </a:cubicBezTo>
                    <a:cubicBezTo>
                      <a:pt x="522" y="927"/>
                      <a:pt x="562" y="860"/>
                      <a:pt x="602" y="797"/>
                    </a:cubicBezTo>
                    <a:cubicBezTo>
                      <a:pt x="642" y="734"/>
                      <a:pt x="685" y="664"/>
                      <a:pt x="725" y="599"/>
                    </a:cubicBezTo>
                    <a:cubicBezTo>
                      <a:pt x="765" y="534"/>
                      <a:pt x="803" y="465"/>
                      <a:pt x="842" y="404"/>
                    </a:cubicBezTo>
                    <a:cubicBezTo>
                      <a:pt x="881" y="343"/>
                      <a:pt x="922" y="278"/>
                      <a:pt x="962" y="230"/>
                    </a:cubicBezTo>
                    <a:cubicBezTo>
                      <a:pt x="1002" y="182"/>
                      <a:pt x="1042" y="146"/>
                      <a:pt x="1082" y="113"/>
                    </a:cubicBezTo>
                    <a:cubicBezTo>
                      <a:pt x="1122" y="80"/>
                      <a:pt x="1162" y="50"/>
                      <a:pt x="1202" y="32"/>
                    </a:cubicBezTo>
                    <a:cubicBezTo>
                      <a:pt x="1242" y="14"/>
                      <a:pt x="1282" y="10"/>
                      <a:pt x="1322" y="5"/>
                    </a:cubicBezTo>
                    <a:cubicBezTo>
                      <a:pt x="1362" y="0"/>
                      <a:pt x="1417" y="3"/>
                      <a:pt x="1442" y="2"/>
                    </a:cubicBezTo>
                  </a:path>
                </a:pathLst>
              </a:custGeom>
              <a:noFill/>
              <a:ln w="1905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10" name="任意多边形 745491"/>
              <p:cNvSpPr>
                <a:spLocks noChangeArrowheads="1"/>
              </p:cNvSpPr>
              <p:nvPr/>
            </p:nvSpPr>
            <p:spPr bwMode="auto">
              <a:xfrm>
                <a:off x="4171" y="1275"/>
                <a:ext cx="405" cy="1"/>
              </a:xfrm>
              <a:custGeom>
                <a:avLst/>
                <a:gdLst>
                  <a:gd name="T0" fmla="*/ 0 w 483"/>
                  <a:gd name="T1" fmla="*/ 0 h 1"/>
                  <a:gd name="T2" fmla="*/ 141 w 483"/>
                  <a:gd name="T3" fmla="*/ 1 h 1"/>
                  <a:gd name="T4" fmla="*/ 0 60000 65536"/>
                  <a:gd name="T5" fmla="*/ 0 60000 65536"/>
                </a:gdLst>
                <a:ahLst/>
                <a:cxnLst>
                  <a:cxn ang="T4">
                    <a:pos x="T0" y="T1"/>
                  </a:cxn>
                  <a:cxn ang="T5">
                    <a:pos x="T2" y="T3"/>
                  </a:cxn>
                </a:cxnLst>
                <a:rect l="0" t="0" r="r" b="b"/>
                <a:pathLst>
                  <a:path w="483" h="1">
                    <a:moveTo>
                      <a:pt x="0" y="0"/>
                    </a:moveTo>
                    <a:lnTo>
                      <a:pt x="483" y="1"/>
                    </a:lnTo>
                  </a:path>
                </a:pathLst>
              </a:custGeom>
              <a:noFill/>
              <a:ln w="19050">
                <a:solidFill>
                  <a:srgbClr val="FF99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11" name="直接连接符 745492"/>
              <p:cNvSpPr>
                <a:spLocks noChangeShapeType="1"/>
              </p:cNvSpPr>
              <p:nvPr/>
            </p:nvSpPr>
            <p:spPr bwMode="auto">
              <a:xfrm>
                <a:off x="5805" y="1794"/>
                <a:ext cx="0" cy="11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12" name="任意多边形 745493"/>
              <p:cNvSpPr>
                <a:spLocks noChangeArrowheads="1"/>
              </p:cNvSpPr>
              <p:nvPr/>
            </p:nvSpPr>
            <p:spPr bwMode="auto">
              <a:xfrm>
                <a:off x="4159" y="1904"/>
                <a:ext cx="411" cy="0"/>
              </a:xfrm>
              <a:custGeom>
                <a:avLst/>
                <a:gdLst>
                  <a:gd name="T0" fmla="*/ 0 w 492"/>
                  <a:gd name="T1" fmla="*/ 0 h 1"/>
                  <a:gd name="T2" fmla="*/ 140 w 492"/>
                  <a:gd name="T3" fmla="*/ 0 h 1"/>
                  <a:gd name="T4" fmla="*/ 0 60000 65536"/>
                  <a:gd name="T5" fmla="*/ 0 60000 65536"/>
                </a:gdLst>
                <a:ahLst/>
                <a:cxnLst>
                  <a:cxn ang="T4">
                    <a:pos x="T0" y="T1"/>
                  </a:cxn>
                  <a:cxn ang="T5">
                    <a:pos x="T2" y="T3"/>
                  </a:cxn>
                </a:cxnLst>
                <a:rect l="0" t="0" r="r" b="b"/>
                <a:pathLst>
                  <a:path w="492" h="1">
                    <a:moveTo>
                      <a:pt x="0" y="0"/>
                    </a:moveTo>
                    <a:lnTo>
                      <a:pt x="492"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13" name="直接连接符 745494"/>
              <p:cNvSpPr>
                <a:spLocks noChangeShapeType="1"/>
              </p:cNvSpPr>
              <p:nvPr/>
            </p:nvSpPr>
            <p:spPr bwMode="auto">
              <a:xfrm>
                <a:off x="5213" y="1904"/>
                <a:ext cx="59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aphicFrame>
            <p:nvGraphicFramePr>
              <p:cNvPr id="214" name="对象 745495"/>
              <p:cNvGraphicFramePr/>
              <p:nvPr/>
            </p:nvGraphicFramePr>
            <p:xfrm>
              <a:off x="3672" y="1823"/>
              <a:ext cx="345" cy="153"/>
            </p:xfrm>
            <a:graphic>
              <a:graphicData uri="http://schemas.openxmlformats.org/presentationml/2006/ole">
                <mc:AlternateContent xmlns:mc="http://schemas.openxmlformats.org/markup-compatibility/2006">
                  <mc:Choice xmlns:v="urn:schemas-microsoft-com:vml" Requires="v">
                    <p:oleObj spid="_x0000_s234530" name="" r:id="rId2" imgW="316865" imgH="177800" progId="Equation.3">
                      <p:embed/>
                    </p:oleObj>
                  </mc:Choice>
                  <mc:Fallback>
                    <p:oleObj name="" r:id="rId2" imgW="316865" imgH="177800" progId="Equation.3">
                      <p:embed/>
                      <p:pic>
                        <p:nvPicPr>
                          <p:cNvPr id="0" name="对象 74549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2" y="1823"/>
                            <a:ext cx="34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 name="对象 745496"/>
              <p:cNvGraphicFramePr/>
              <p:nvPr/>
            </p:nvGraphicFramePr>
            <p:xfrm>
              <a:off x="4264" y="1811"/>
              <a:ext cx="252" cy="179"/>
            </p:xfrm>
            <a:graphic>
              <a:graphicData uri="http://schemas.openxmlformats.org/presentationml/2006/ole">
                <mc:AlternateContent xmlns:mc="http://schemas.openxmlformats.org/markup-compatibility/2006">
                  <mc:Choice xmlns:v="urn:schemas-microsoft-com:vml" Requires="v">
                    <p:oleObj spid="_x0000_s234531" name="" r:id="rId4" imgW="254000" imgH="203200" progId="Equation.3">
                      <p:embed/>
                    </p:oleObj>
                  </mc:Choice>
                  <mc:Fallback>
                    <p:oleObj name="" r:id="rId4" imgW="254000" imgH="203200" progId="Equation.3">
                      <p:embed/>
                      <p:pic>
                        <p:nvPicPr>
                          <p:cNvPr id="0" name="对象 74549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4" y="1811"/>
                            <a:ext cx="25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6" name="对象 745497"/>
              <p:cNvGraphicFramePr/>
              <p:nvPr/>
            </p:nvGraphicFramePr>
            <p:xfrm>
              <a:off x="4835" y="1829"/>
              <a:ext cx="242" cy="161"/>
            </p:xfrm>
            <a:graphic>
              <a:graphicData uri="http://schemas.openxmlformats.org/presentationml/2006/ole">
                <mc:AlternateContent xmlns:mc="http://schemas.openxmlformats.org/markup-compatibility/2006">
                  <mc:Choice xmlns:v="urn:schemas-microsoft-com:vml" Requires="v">
                    <p:oleObj spid="_x0000_s234532" name="" r:id="rId6" imgW="241300" imgH="203200" progId="Equation.3">
                      <p:embed/>
                    </p:oleObj>
                  </mc:Choice>
                  <mc:Fallback>
                    <p:oleObj name="" r:id="rId6" imgW="241300" imgH="203200" progId="Equation.3">
                      <p:embed/>
                      <p:pic>
                        <p:nvPicPr>
                          <p:cNvPr id="0" name="对象 74549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5" y="1829"/>
                            <a:ext cx="242"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7" name="对象 745498"/>
              <p:cNvGraphicFramePr/>
              <p:nvPr/>
            </p:nvGraphicFramePr>
            <p:xfrm>
              <a:off x="5444" y="1822"/>
              <a:ext cx="254" cy="170"/>
            </p:xfrm>
            <a:graphic>
              <a:graphicData uri="http://schemas.openxmlformats.org/presentationml/2006/ole">
                <mc:AlternateContent xmlns:mc="http://schemas.openxmlformats.org/markup-compatibility/2006">
                  <mc:Choice xmlns:v="urn:schemas-microsoft-com:vml" Requires="v">
                    <p:oleObj spid="_x0000_s234533" name="" r:id="rId8" imgW="241300" imgH="203200" progId="Equation.3">
                      <p:embed/>
                    </p:oleObj>
                  </mc:Choice>
                  <mc:Fallback>
                    <p:oleObj name="" r:id="rId8" imgW="241300" imgH="203200" progId="Equation.3">
                      <p:embed/>
                      <p:pic>
                        <p:nvPicPr>
                          <p:cNvPr id="0" name="对象 74549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4" y="1822"/>
                            <a:ext cx="25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8" name="任意多边形 745499"/>
              <p:cNvSpPr>
                <a:spLocks noChangeArrowheads="1"/>
              </p:cNvSpPr>
              <p:nvPr/>
            </p:nvSpPr>
            <p:spPr bwMode="auto">
              <a:xfrm>
                <a:off x="5213" y="1797"/>
                <a:ext cx="592" cy="0"/>
              </a:xfrm>
              <a:custGeom>
                <a:avLst/>
                <a:gdLst>
                  <a:gd name="T0" fmla="*/ 0 w 708"/>
                  <a:gd name="T1" fmla="*/ 0 h 1"/>
                  <a:gd name="T2" fmla="*/ 202 w 708"/>
                  <a:gd name="T3" fmla="*/ 1 h 1"/>
                  <a:gd name="T4" fmla="*/ 0 60000 65536"/>
                  <a:gd name="T5" fmla="*/ 0 60000 65536"/>
                </a:gdLst>
                <a:ahLst/>
                <a:cxnLst>
                  <a:cxn ang="T4">
                    <a:pos x="T0" y="T1"/>
                  </a:cxn>
                  <a:cxn ang="T5">
                    <a:pos x="T2" y="T3"/>
                  </a:cxn>
                </a:cxnLst>
                <a:rect l="0" t="0" r="r" b="b"/>
                <a:pathLst>
                  <a:path w="708" h="1">
                    <a:moveTo>
                      <a:pt x="0" y="0"/>
                    </a:moveTo>
                    <a:lnTo>
                      <a:pt x="708" y="1"/>
                    </a:ln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sp>
        <p:nvSpPr>
          <p:cNvPr id="219" name="任意多边形 218"/>
          <p:cNvSpPr>
            <a:spLocks noChangeArrowheads="1"/>
          </p:cNvSpPr>
          <p:nvPr/>
        </p:nvSpPr>
        <p:spPr bwMode="auto">
          <a:xfrm>
            <a:off x="7668133" y="2698435"/>
            <a:ext cx="0" cy="150813"/>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0" name="任意多边形 219"/>
          <p:cNvSpPr>
            <a:spLocks noChangeArrowheads="1"/>
          </p:cNvSpPr>
          <p:nvPr/>
        </p:nvSpPr>
        <p:spPr bwMode="auto">
          <a:xfrm>
            <a:off x="7879271" y="2441260"/>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1" name="任意多边形 220"/>
          <p:cNvSpPr>
            <a:spLocks noChangeArrowheads="1"/>
          </p:cNvSpPr>
          <p:nvPr/>
        </p:nvSpPr>
        <p:spPr bwMode="auto">
          <a:xfrm>
            <a:off x="8090408" y="2190435"/>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2" name="任意多边形 221"/>
          <p:cNvSpPr>
            <a:spLocks noChangeArrowheads="1"/>
          </p:cNvSpPr>
          <p:nvPr/>
        </p:nvSpPr>
        <p:spPr bwMode="auto">
          <a:xfrm>
            <a:off x="8304721" y="2052323"/>
            <a:ext cx="0" cy="798512"/>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3" name="任意多边形 222"/>
          <p:cNvSpPr>
            <a:spLocks noChangeArrowheads="1"/>
          </p:cNvSpPr>
          <p:nvPr/>
        </p:nvSpPr>
        <p:spPr bwMode="auto">
          <a:xfrm>
            <a:off x="7561771" y="2780985"/>
            <a:ext cx="1587" cy="71438"/>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4" name="任意多边形 223"/>
          <p:cNvSpPr>
            <a:spLocks noChangeArrowheads="1"/>
          </p:cNvSpPr>
          <p:nvPr/>
        </p:nvSpPr>
        <p:spPr bwMode="auto">
          <a:xfrm>
            <a:off x="7772908" y="2576198"/>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5" name="任意多边形 224"/>
          <p:cNvSpPr>
            <a:spLocks noChangeArrowheads="1"/>
          </p:cNvSpPr>
          <p:nvPr/>
        </p:nvSpPr>
        <p:spPr bwMode="auto">
          <a:xfrm>
            <a:off x="7984046" y="2306323"/>
            <a:ext cx="1587" cy="544512"/>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6" name="任意多边形 225"/>
          <p:cNvSpPr>
            <a:spLocks noChangeArrowheads="1"/>
          </p:cNvSpPr>
          <p:nvPr/>
        </p:nvSpPr>
        <p:spPr bwMode="auto">
          <a:xfrm>
            <a:off x="8198358" y="2106298"/>
            <a:ext cx="1588" cy="744537"/>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7" name="任意多边形 226"/>
          <p:cNvSpPr>
            <a:spLocks noChangeArrowheads="1"/>
          </p:cNvSpPr>
          <p:nvPr/>
        </p:nvSpPr>
        <p:spPr bwMode="auto">
          <a:xfrm>
            <a:off x="8409496" y="2041210"/>
            <a:ext cx="1587" cy="814388"/>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8" name="任意多边形 227"/>
          <p:cNvSpPr>
            <a:spLocks noChangeArrowheads="1"/>
          </p:cNvSpPr>
          <p:nvPr/>
        </p:nvSpPr>
        <p:spPr bwMode="auto">
          <a:xfrm>
            <a:off x="10049383" y="2766698"/>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29" name="任意多边形 228"/>
          <p:cNvSpPr>
            <a:spLocks noChangeArrowheads="1"/>
          </p:cNvSpPr>
          <p:nvPr/>
        </p:nvSpPr>
        <p:spPr bwMode="auto">
          <a:xfrm>
            <a:off x="9936671" y="2666685"/>
            <a:ext cx="1587" cy="185738"/>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0" name="任意多边形 229"/>
          <p:cNvSpPr>
            <a:spLocks noChangeArrowheads="1"/>
          </p:cNvSpPr>
          <p:nvPr/>
        </p:nvSpPr>
        <p:spPr bwMode="auto">
          <a:xfrm>
            <a:off x="9823958" y="2580960"/>
            <a:ext cx="1588" cy="271463"/>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1" name="任意多边形 230"/>
          <p:cNvSpPr>
            <a:spLocks noChangeArrowheads="1"/>
          </p:cNvSpPr>
          <p:nvPr/>
        </p:nvSpPr>
        <p:spPr bwMode="auto">
          <a:xfrm>
            <a:off x="9712833" y="2479360"/>
            <a:ext cx="1588" cy="373063"/>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2" name="任意多边形 231"/>
          <p:cNvSpPr>
            <a:spLocks noChangeArrowheads="1"/>
          </p:cNvSpPr>
          <p:nvPr/>
        </p:nvSpPr>
        <p:spPr bwMode="auto">
          <a:xfrm>
            <a:off x="9601708" y="2396810"/>
            <a:ext cx="1588" cy="455613"/>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3" name="任意多边形 232"/>
          <p:cNvSpPr>
            <a:spLocks noChangeArrowheads="1"/>
          </p:cNvSpPr>
          <p:nvPr/>
        </p:nvSpPr>
        <p:spPr bwMode="auto">
          <a:xfrm>
            <a:off x="9493758" y="2309498"/>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4" name="任意多边形 233"/>
          <p:cNvSpPr>
            <a:spLocks noChangeArrowheads="1"/>
          </p:cNvSpPr>
          <p:nvPr/>
        </p:nvSpPr>
        <p:spPr bwMode="auto">
          <a:xfrm>
            <a:off x="9374696" y="2215835"/>
            <a:ext cx="1587" cy="636588"/>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5" name="任意多边形 234"/>
          <p:cNvSpPr>
            <a:spLocks noChangeArrowheads="1"/>
          </p:cNvSpPr>
          <p:nvPr/>
        </p:nvSpPr>
        <p:spPr bwMode="auto">
          <a:xfrm>
            <a:off x="9265158" y="2125348"/>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6" name="任意多边形 235"/>
          <p:cNvSpPr>
            <a:spLocks noChangeArrowheads="1"/>
          </p:cNvSpPr>
          <p:nvPr/>
        </p:nvSpPr>
        <p:spPr bwMode="auto">
          <a:xfrm>
            <a:off x="7455408" y="2830198"/>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7" name="任意多边形 236"/>
          <p:cNvSpPr>
            <a:spLocks noChangeArrowheads="1"/>
          </p:cNvSpPr>
          <p:nvPr/>
        </p:nvSpPr>
        <p:spPr bwMode="auto">
          <a:xfrm>
            <a:off x="7668133" y="2698435"/>
            <a:ext cx="0" cy="150813"/>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8" name="任意多边形 237"/>
          <p:cNvSpPr>
            <a:spLocks noChangeArrowheads="1"/>
          </p:cNvSpPr>
          <p:nvPr/>
        </p:nvSpPr>
        <p:spPr bwMode="auto">
          <a:xfrm>
            <a:off x="7879271" y="2441260"/>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39" name="任意多边形 238"/>
          <p:cNvSpPr>
            <a:spLocks noChangeArrowheads="1"/>
          </p:cNvSpPr>
          <p:nvPr/>
        </p:nvSpPr>
        <p:spPr bwMode="auto">
          <a:xfrm>
            <a:off x="8090408" y="2190435"/>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0" name="任意多边形 239"/>
          <p:cNvSpPr>
            <a:spLocks noChangeArrowheads="1"/>
          </p:cNvSpPr>
          <p:nvPr/>
        </p:nvSpPr>
        <p:spPr bwMode="auto">
          <a:xfrm>
            <a:off x="8304721" y="2052323"/>
            <a:ext cx="0" cy="798512"/>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1" name="任意多边形 240"/>
          <p:cNvSpPr>
            <a:spLocks noChangeArrowheads="1"/>
          </p:cNvSpPr>
          <p:nvPr/>
        </p:nvSpPr>
        <p:spPr bwMode="auto">
          <a:xfrm>
            <a:off x="8409496" y="2041210"/>
            <a:ext cx="1587" cy="814388"/>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2" name="任意多边形 241"/>
          <p:cNvSpPr>
            <a:spLocks noChangeArrowheads="1"/>
          </p:cNvSpPr>
          <p:nvPr/>
        </p:nvSpPr>
        <p:spPr bwMode="auto">
          <a:xfrm>
            <a:off x="7561771" y="2780985"/>
            <a:ext cx="1587" cy="71438"/>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3" name="任意多边形 242"/>
          <p:cNvSpPr>
            <a:spLocks noChangeArrowheads="1"/>
          </p:cNvSpPr>
          <p:nvPr/>
        </p:nvSpPr>
        <p:spPr bwMode="auto">
          <a:xfrm>
            <a:off x="7772908" y="2576198"/>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4" name="任意多边形 243"/>
          <p:cNvSpPr>
            <a:spLocks noChangeArrowheads="1"/>
          </p:cNvSpPr>
          <p:nvPr/>
        </p:nvSpPr>
        <p:spPr bwMode="auto">
          <a:xfrm>
            <a:off x="7984046" y="2306323"/>
            <a:ext cx="1587" cy="544512"/>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5" name="任意多边形 244"/>
          <p:cNvSpPr>
            <a:spLocks noChangeArrowheads="1"/>
          </p:cNvSpPr>
          <p:nvPr/>
        </p:nvSpPr>
        <p:spPr bwMode="auto">
          <a:xfrm>
            <a:off x="8198358" y="2106298"/>
            <a:ext cx="1588" cy="744537"/>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6" name="任意多边形 245"/>
          <p:cNvSpPr>
            <a:spLocks noChangeArrowheads="1"/>
          </p:cNvSpPr>
          <p:nvPr/>
        </p:nvSpPr>
        <p:spPr bwMode="auto">
          <a:xfrm>
            <a:off x="9265158" y="2126935"/>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7" name="任意多边形 246"/>
          <p:cNvSpPr>
            <a:spLocks noChangeArrowheads="1"/>
          </p:cNvSpPr>
          <p:nvPr/>
        </p:nvSpPr>
        <p:spPr bwMode="auto">
          <a:xfrm>
            <a:off x="9374696" y="2217423"/>
            <a:ext cx="1587" cy="636587"/>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8" name="任意多边形 247"/>
          <p:cNvSpPr>
            <a:spLocks noChangeArrowheads="1"/>
          </p:cNvSpPr>
          <p:nvPr/>
        </p:nvSpPr>
        <p:spPr bwMode="auto">
          <a:xfrm>
            <a:off x="9493758" y="2311085"/>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49" name="任意多边形 248"/>
          <p:cNvSpPr>
            <a:spLocks noChangeArrowheads="1"/>
          </p:cNvSpPr>
          <p:nvPr/>
        </p:nvSpPr>
        <p:spPr bwMode="auto">
          <a:xfrm>
            <a:off x="9601708" y="2398398"/>
            <a:ext cx="1588" cy="455612"/>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50" name="任意多边形 249"/>
          <p:cNvSpPr>
            <a:spLocks noChangeArrowheads="1"/>
          </p:cNvSpPr>
          <p:nvPr/>
        </p:nvSpPr>
        <p:spPr bwMode="auto">
          <a:xfrm>
            <a:off x="9712833" y="2480948"/>
            <a:ext cx="1588" cy="373062"/>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51" name="任意多边形 250"/>
          <p:cNvSpPr>
            <a:spLocks noChangeArrowheads="1"/>
          </p:cNvSpPr>
          <p:nvPr/>
        </p:nvSpPr>
        <p:spPr bwMode="auto">
          <a:xfrm>
            <a:off x="9823958" y="2582548"/>
            <a:ext cx="1588" cy="271462"/>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52" name="任意多边形 251"/>
          <p:cNvSpPr>
            <a:spLocks noChangeArrowheads="1"/>
          </p:cNvSpPr>
          <p:nvPr/>
        </p:nvSpPr>
        <p:spPr bwMode="auto">
          <a:xfrm>
            <a:off x="9936671" y="2668273"/>
            <a:ext cx="1587" cy="185737"/>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53" name="任意多边形 252"/>
          <p:cNvSpPr>
            <a:spLocks noChangeArrowheads="1"/>
          </p:cNvSpPr>
          <p:nvPr/>
        </p:nvSpPr>
        <p:spPr bwMode="auto">
          <a:xfrm>
            <a:off x="10049383" y="2755585"/>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54" name="任意多边形 253"/>
          <p:cNvSpPr>
            <a:spLocks noChangeArrowheads="1"/>
          </p:cNvSpPr>
          <p:nvPr/>
        </p:nvSpPr>
        <p:spPr bwMode="auto">
          <a:xfrm>
            <a:off x="8514271" y="2026923"/>
            <a:ext cx="1587" cy="827087"/>
          </a:xfrm>
          <a:custGeom>
            <a:avLst/>
            <a:gdLst>
              <a:gd name="T0" fmla="*/ 2147483646 w 1"/>
              <a:gd name="T1" fmla="*/ 0 h 521"/>
              <a:gd name="T2" fmla="*/ 0 w 1"/>
              <a:gd name="T3" fmla="*/ 2147483646 h 521"/>
              <a:gd name="T4" fmla="*/ 0 60000 65536"/>
              <a:gd name="T5" fmla="*/ 0 60000 65536"/>
            </a:gdLst>
            <a:ahLst/>
            <a:cxnLst>
              <a:cxn ang="T4">
                <a:pos x="T0" y="T1"/>
              </a:cxn>
              <a:cxn ang="T5">
                <a:pos x="T2" y="T3"/>
              </a:cxn>
            </a:cxnLst>
            <a:rect l="0" t="0" r="r" b="b"/>
            <a:pathLst>
              <a:path w="1" h="521">
                <a:moveTo>
                  <a:pt x="1" y="0"/>
                </a:moveTo>
                <a:lnTo>
                  <a:pt x="0" y="521"/>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grpSp>
        <p:nvGrpSpPr>
          <p:cNvPr id="255" name="组合 254"/>
          <p:cNvGrpSpPr/>
          <p:nvPr/>
        </p:nvGrpSpPr>
        <p:grpSpPr bwMode="auto">
          <a:xfrm>
            <a:off x="8473968" y="3092135"/>
            <a:ext cx="2725737" cy="2971800"/>
            <a:chOff x="3264" y="1440"/>
            <a:chExt cx="1586" cy="1872"/>
          </a:xfrm>
        </p:grpSpPr>
        <p:sp>
          <p:nvSpPr>
            <p:cNvPr id="256" name="椭圆 745542"/>
            <p:cNvSpPr>
              <a:spLocks noChangeArrowheads="1"/>
            </p:cNvSpPr>
            <p:nvPr/>
          </p:nvSpPr>
          <p:spPr bwMode="auto">
            <a:xfrm>
              <a:off x="3377" y="1866"/>
              <a:ext cx="1309" cy="1309"/>
            </a:xfrm>
            <a:prstGeom prst="ellipse">
              <a:avLst/>
            </a:prstGeom>
            <a:noFill/>
            <a:ln w="12700">
              <a:solidFill>
                <a:srgbClr val="000000"/>
              </a:solidFill>
              <a:prstDash val="lgDashDot"/>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b="1">
                <a:latin typeface="微软雅黑" panose="020B0503020204020204" pitchFamily="34" charset="-122"/>
                <a:ea typeface="微软雅黑" panose="020B0503020204020204" pitchFamily="34" charset="-122"/>
              </a:endParaRPr>
            </a:p>
          </p:txBody>
        </p:sp>
        <p:sp>
          <p:nvSpPr>
            <p:cNvPr id="257" name="直接连接符 745543"/>
            <p:cNvSpPr>
              <a:spLocks noChangeShapeType="1"/>
            </p:cNvSpPr>
            <p:nvPr/>
          </p:nvSpPr>
          <p:spPr bwMode="auto">
            <a:xfrm>
              <a:off x="3264" y="2521"/>
              <a:ext cx="1586" cy="0"/>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258" name="直接连接符 745544"/>
            <p:cNvSpPr>
              <a:spLocks noChangeShapeType="1"/>
            </p:cNvSpPr>
            <p:nvPr/>
          </p:nvSpPr>
          <p:spPr bwMode="auto">
            <a:xfrm>
              <a:off x="4033" y="1440"/>
              <a:ext cx="0" cy="1872"/>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sp>
        <p:nvSpPr>
          <p:cNvPr id="259" name="任意多边形 258"/>
          <p:cNvSpPr>
            <a:spLocks noChangeArrowheads="1"/>
          </p:cNvSpPr>
          <p:nvPr/>
        </p:nvSpPr>
        <p:spPr bwMode="auto">
          <a:xfrm>
            <a:off x="9605855" y="4809810"/>
            <a:ext cx="188913" cy="381000"/>
          </a:xfrm>
          <a:custGeom>
            <a:avLst/>
            <a:gdLst>
              <a:gd name="T0" fmla="*/ 2147483646 w 110"/>
              <a:gd name="T1" fmla="*/ 0 h 240"/>
              <a:gd name="T2" fmla="*/ 0 w 110"/>
              <a:gd name="T3" fmla="*/ 2147483646 h 240"/>
              <a:gd name="T4" fmla="*/ 0 60000 65536"/>
              <a:gd name="T5" fmla="*/ 0 60000 65536"/>
            </a:gdLst>
            <a:ahLst/>
            <a:cxnLst>
              <a:cxn ang="T4">
                <a:pos x="T0" y="T1"/>
              </a:cxn>
              <a:cxn ang="T5">
                <a:pos x="T2" y="T3"/>
              </a:cxn>
            </a:cxnLst>
            <a:rect l="0" t="0" r="r" b="b"/>
            <a:pathLst>
              <a:path w="110" h="240">
                <a:moveTo>
                  <a:pt x="110" y="0"/>
                </a:moveTo>
                <a:lnTo>
                  <a:pt x="0" y="24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60" name="任意多边形 259"/>
          <p:cNvSpPr>
            <a:spLocks noChangeArrowheads="1"/>
          </p:cNvSpPr>
          <p:nvPr/>
        </p:nvSpPr>
        <p:spPr bwMode="auto">
          <a:xfrm>
            <a:off x="9340743" y="4809810"/>
            <a:ext cx="455612" cy="1588"/>
          </a:xfrm>
          <a:custGeom>
            <a:avLst/>
            <a:gdLst>
              <a:gd name="T0" fmla="*/ 2147483646 w 266"/>
              <a:gd name="T1" fmla="*/ 0 h 1"/>
              <a:gd name="T2" fmla="*/ 0 w 266"/>
              <a:gd name="T3" fmla="*/ 0 h 1"/>
              <a:gd name="T4" fmla="*/ 0 60000 65536"/>
              <a:gd name="T5" fmla="*/ 0 60000 65536"/>
            </a:gdLst>
            <a:ahLst/>
            <a:cxnLst>
              <a:cxn ang="T4">
                <a:pos x="T0" y="T1"/>
              </a:cxn>
              <a:cxn ang="T5">
                <a:pos x="T2" y="T3"/>
              </a:cxn>
            </a:cxnLst>
            <a:rect l="0" t="0" r="r" b="b"/>
            <a:pathLst>
              <a:path w="266" h="1">
                <a:moveTo>
                  <a:pt x="266" y="0"/>
                </a:moveTo>
                <a:lnTo>
                  <a:pt x="0"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61" name="椭圆 260"/>
          <p:cNvSpPr>
            <a:spLocks noChangeArrowheads="1"/>
          </p:cNvSpPr>
          <p:nvPr/>
        </p:nvSpPr>
        <p:spPr bwMode="auto">
          <a:xfrm>
            <a:off x="9340743" y="4387535"/>
            <a:ext cx="908050" cy="838200"/>
          </a:xfrm>
          <a:prstGeom prst="ellipse">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b="1">
              <a:latin typeface="微软雅黑" panose="020B0503020204020204" pitchFamily="34" charset="-122"/>
              <a:ea typeface="微软雅黑" panose="020B0503020204020204" pitchFamily="34" charset="-122"/>
            </a:endParaRPr>
          </a:p>
        </p:txBody>
      </p:sp>
      <p:grpSp>
        <p:nvGrpSpPr>
          <p:cNvPr id="262" name="组合 261"/>
          <p:cNvGrpSpPr/>
          <p:nvPr/>
        </p:nvGrpSpPr>
        <p:grpSpPr bwMode="auto">
          <a:xfrm>
            <a:off x="10166243" y="2968310"/>
            <a:ext cx="165100" cy="1828800"/>
            <a:chOff x="4248" y="1362"/>
            <a:chExt cx="96" cy="1152"/>
          </a:xfrm>
        </p:grpSpPr>
        <p:grpSp>
          <p:nvGrpSpPr>
            <p:cNvPr id="263" name="组合 745549"/>
            <p:cNvGrpSpPr/>
            <p:nvPr/>
          </p:nvGrpSpPr>
          <p:grpSpPr bwMode="auto">
            <a:xfrm>
              <a:off x="4248" y="1449"/>
              <a:ext cx="96" cy="462"/>
              <a:chOff x="3554" y="1008"/>
              <a:chExt cx="96" cy="664"/>
            </a:xfrm>
          </p:grpSpPr>
          <p:sp>
            <p:nvSpPr>
              <p:cNvPr id="265" name="等腰三角形 745550"/>
              <p:cNvSpPr>
                <a:spLocks noChangeArrowheads="1"/>
              </p:cNvSpPr>
              <p:nvPr/>
            </p:nvSpPr>
            <p:spPr bwMode="auto">
              <a:xfrm flipV="1">
                <a:off x="3560" y="1528"/>
                <a:ext cx="85" cy="144"/>
              </a:xfrm>
              <a:prstGeom prst="triangle">
                <a:avLst>
                  <a:gd name="adj" fmla="val 50000"/>
                </a:avLst>
              </a:prstGeom>
              <a:solidFill>
                <a:srgbClr val="FFFF00"/>
              </a:solidFill>
              <a:ln w="19050">
                <a:solidFill>
                  <a:schemeClr val="tx1"/>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b="1">
                  <a:latin typeface="微软雅黑" panose="020B0503020204020204" pitchFamily="34" charset="-122"/>
                  <a:ea typeface="微软雅黑" panose="020B0503020204020204" pitchFamily="34" charset="-122"/>
                </a:endParaRPr>
              </a:p>
            </p:txBody>
          </p:sp>
          <p:sp>
            <p:nvSpPr>
              <p:cNvPr id="266" name="矩形 745551"/>
              <p:cNvSpPr>
                <a:spLocks noChangeArrowheads="1"/>
              </p:cNvSpPr>
              <p:nvPr/>
            </p:nvSpPr>
            <p:spPr bwMode="auto">
              <a:xfrm>
                <a:off x="3554" y="1008"/>
                <a:ext cx="96" cy="518"/>
              </a:xfrm>
              <a:prstGeom prst="rect">
                <a:avLst/>
              </a:prstGeom>
              <a:solidFill>
                <a:srgbClr val="FFFF00"/>
              </a:solidFill>
              <a:ln w="19050">
                <a:solidFill>
                  <a:schemeClr val="tx1"/>
                </a:solidFill>
                <a:miter lim="800000"/>
                <a:headEnd type="none" w="sm" len="lg"/>
                <a:tailEnd type="none" w="sm" len="lg"/>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b="1">
                  <a:latin typeface="微软雅黑" panose="020B0503020204020204" pitchFamily="34" charset="-122"/>
                  <a:ea typeface="微软雅黑" panose="020B0503020204020204" pitchFamily="34" charset="-122"/>
                </a:endParaRPr>
              </a:p>
            </p:txBody>
          </p:sp>
        </p:grpSp>
        <p:sp>
          <p:nvSpPr>
            <p:cNvPr id="264" name="直接连接符 745552"/>
            <p:cNvSpPr>
              <a:spLocks noChangeShapeType="1"/>
            </p:cNvSpPr>
            <p:nvPr/>
          </p:nvSpPr>
          <p:spPr bwMode="auto">
            <a:xfrm flipV="1">
              <a:off x="4296" y="1362"/>
              <a:ext cx="0" cy="1152"/>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sp>
        <p:nvSpPr>
          <p:cNvPr id="267" name="任意多边形 266"/>
          <p:cNvSpPr>
            <a:spLocks noChangeArrowheads="1"/>
          </p:cNvSpPr>
          <p:nvPr/>
        </p:nvSpPr>
        <p:spPr bwMode="auto">
          <a:xfrm>
            <a:off x="9794768" y="4808223"/>
            <a:ext cx="1587" cy="420687"/>
          </a:xfrm>
          <a:custGeom>
            <a:avLst/>
            <a:gdLst>
              <a:gd name="T0" fmla="*/ 0 w 1"/>
              <a:gd name="T1" fmla="*/ 0 h 265"/>
              <a:gd name="T2" fmla="*/ 2147483646 w 1"/>
              <a:gd name="T3" fmla="*/ 2147483646 h 265"/>
              <a:gd name="T4" fmla="*/ 0 60000 65536"/>
              <a:gd name="T5" fmla="*/ 0 60000 65536"/>
            </a:gdLst>
            <a:ahLst/>
            <a:cxnLst>
              <a:cxn ang="T4">
                <a:pos x="T0" y="T1"/>
              </a:cxn>
              <a:cxn ang="T5">
                <a:pos x="T2" y="T3"/>
              </a:cxn>
            </a:cxnLst>
            <a:rect l="0" t="0" r="r" b="b"/>
            <a:pathLst>
              <a:path w="1" h="265">
                <a:moveTo>
                  <a:pt x="0" y="0"/>
                </a:moveTo>
                <a:lnTo>
                  <a:pt x="1" y="265"/>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68" name="任意多边形 267"/>
          <p:cNvSpPr>
            <a:spLocks noChangeArrowheads="1"/>
          </p:cNvSpPr>
          <p:nvPr/>
        </p:nvSpPr>
        <p:spPr bwMode="auto">
          <a:xfrm>
            <a:off x="9667768" y="4808223"/>
            <a:ext cx="128587" cy="401637"/>
          </a:xfrm>
          <a:custGeom>
            <a:avLst/>
            <a:gdLst>
              <a:gd name="T0" fmla="*/ 2147483646 w 75"/>
              <a:gd name="T1" fmla="*/ 0 h 253"/>
              <a:gd name="T2" fmla="*/ 0 w 75"/>
              <a:gd name="T3" fmla="*/ 2147483646 h 253"/>
              <a:gd name="T4" fmla="*/ 0 60000 65536"/>
              <a:gd name="T5" fmla="*/ 0 60000 65536"/>
            </a:gdLst>
            <a:ahLst/>
            <a:cxnLst>
              <a:cxn ang="T4">
                <a:pos x="T0" y="T1"/>
              </a:cxn>
              <a:cxn ang="T5">
                <a:pos x="T2" y="T3"/>
              </a:cxn>
            </a:cxnLst>
            <a:rect l="0" t="0" r="r" b="b"/>
            <a:pathLst>
              <a:path w="75" h="253">
                <a:moveTo>
                  <a:pt x="75" y="0"/>
                </a:moveTo>
                <a:lnTo>
                  <a:pt x="0" y="253"/>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69" name="任意多边形 268"/>
          <p:cNvSpPr>
            <a:spLocks noChangeArrowheads="1"/>
          </p:cNvSpPr>
          <p:nvPr/>
        </p:nvSpPr>
        <p:spPr bwMode="auto">
          <a:xfrm>
            <a:off x="9797943" y="4809810"/>
            <a:ext cx="79375" cy="407988"/>
          </a:xfrm>
          <a:custGeom>
            <a:avLst/>
            <a:gdLst>
              <a:gd name="T0" fmla="*/ 0 w 45"/>
              <a:gd name="T1" fmla="*/ 0 h 257"/>
              <a:gd name="T2" fmla="*/ 2147483646 w 45"/>
              <a:gd name="T3" fmla="*/ 2147483646 h 257"/>
              <a:gd name="T4" fmla="*/ 0 60000 65536"/>
              <a:gd name="T5" fmla="*/ 0 60000 65536"/>
            </a:gdLst>
            <a:ahLst/>
            <a:cxnLst>
              <a:cxn ang="T4">
                <a:pos x="T0" y="T1"/>
              </a:cxn>
              <a:cxn ang="T5">
                <a:pos x="T2" y="T3"/>
              </a:cxn>
            </a:cxnLst>
            <a:rect l="0" t="0" r="r" b="b"/>
            <a:pathLst>
              <a:path w="45" h="257">
                <a:moveTo>
                  <a:pt x="0" y="0"/>
                </a:moveTo>
                <a:lnTo>
                  <a:pt x="45" y="25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0" name="任意多边形 269"/>
          <p:cNvSpPr>
            <a:spLocks noChangeArrowheads="1"/>
          </p:cNvSpPr>
          <p:nvPr/>
        </p:nvSpPr>
        <p:spPr bwMode="auto">
          <a:xfrm>
            <a:off x="9796355" y="4808223"/>
            <a:ext cx="215900" cy="368300"/>
          </a:xfrm>
          <a:custGeom>
            <a:avLst/>
            <a:gdLst>
              <a:gd name="T0" fmla="*/ 0 w 125"/>
              <a:gd name="T1" fmla="*/ 0 h 232"/>
              <a:gd name="T2" fmla="*/ 2147483646 w 125"/>
              <a:gd name="T3" fmla="*/ 2147483646 h 232"/>
              <a:gd name="T4" fmla="*/ 0 60000 65536"/>
              <a:gd name="T5" fmla="*/ 0 60000 65536"/>
            </a:gdLst>
            <a:ahLst/>
            <a:cxnLst>
              <a:cxn ang="T4">
                <a:pos x="T0" y="T1"/>
              </a:cxn>
              <a:cxn ang="T5">
                <a:pos x="T2" y="T3"/>
              </a:cxn>
            </a:cxnLst>
            <a:rect l="0" t="0" r="r" b="b"/>
            <a:pathLst>
              <a:path w="125" h="232">
                <a:moveTo>
                  <a:pt x="0" y="0"/>
                </a:moveTo>
                <a:lnTo>
                  <a:pt x="125" y="232"/>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1" name="任意多边形 270"/>
          <p:cNvSpPr>
            <a:spLocks noChangeArrowheads="1"/>
          </p:cNvSpPr>
          <p:nvPr/>
        </p:nvSpPr>
        <p:spPr bwMode="auto">
          <a:xfrm>
            <a:off x="9796355" y="4808223"/>
            <a:ext cx="152400" cy="392112"/>
          </a:xfrm>
          <a:custGeom>
            <a:avLst/>
            <a:gdLst>
              <a:gd name="T0" fmla="*/ 0 w 88"/>
              <a:gd name="T1" fmla="*/ 0 h 247"/>
              <a:gd name="T2" fmla="*/ 2147483646 w 88"/>
              <a:gd name="T3" fmla="*/ 2147483646 h 247"/>
              <a:gd name="T4" fmla="*/ 0 60000 65536"/>
              <a:gd name="T5" fmla="*/ 0 60000 65536"/>
            </a:gdLst>
            <a:ahLst/>
            <a:cxnLst>
              <a:cxn ang="T4">
                <a:pos x="T0" y="T1"/>
              </a:cxn>
              <a:cxn ang="T5">
                <a:pos x="T2" y="T3"/>
              </a:cxn>
            </a:cxnLst>
            <a:rect l="0" t="0" r="r" b="b"/>
            <a:pathLst>
              <a:path w="88" h="247">
                <a:moveTo>
                  <a:pt x="0" y="0"/>
                </a:moveTo>
                <a:lnTo>
                  <a:pt x="88" y="24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2" name="任意多边形 271"/>
          <p:cNvSpPr>
            <a:spLocks noChangeArrowheads="1"/>
          </p:cNvSpPr>
          <p:nvPr/>
        </p:nvSpPr>
        <p:spPr bwMode="auto">
          <a:xfrm>
            <a:off x="9794768" y="4809810"/>
            <a:ext cx="282575" cy="325438"/>
          </a:xfrm>
          <a:custGeom>
            <a:avLst/>
            <a:gdLst>
              <a:gd name="T0" fmla="*/ 0 w 164"/>
              <a:gd name="T1" fmla="*/ 0 h 205"/>
              <a:gd name="T2" fmla="*/ 2147483646 w 164"/>
              <a:gd name="T3" fmla="*/ 2147483646 h 205"/>
              <a:gd name="T4" fmla="*/ 0 60000 65536"/>
              <a:gd name="T5" fmla="*/ 0 60000 65536"/>
            </a:gdLst>
            <a:ahLst/>
            <a:cxnLst>
              <a:cxn ang="T4">
                <a:pos x="T0" y="T1"/>
              </a:cxn>
              <a:cxn ang="T5">
                <a:pos x="T2" y="T3"/>
              </a:cxn>
            </a:cxnLst>
            <a:rect l="0" t="0" r="r" b="b"/>
            <a:pathLst>
              <a:path w="164" h="205">
                <a:moveTo>
                  <a:pt x="0" y="0"/>
                </a:moveTo>
                <a:lnTo>
                  <a:pt x="164" y="205"/>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3" name="任意多边形 272"/>
          <p:cNvSpPr>
            <a:spLocks noChangeArrowheads="1"/>
          </p:cNvSpPr>
          <p:nvPr/>
        </p:nvSpPr>
        <p:spPr bwMode="auto">
          <a:xfrm>
            <a:off x="9796355" y="4809810"/>
            <a:ext cx="384175" cy="217488"/>
          </a:xfrm>
          <a:custGeom>
            <a:avLst/>
            <a:gdLst>
              <a:gd name="T0" fmla="*/ 0 w 223"/>
              <a:gd name="T1" fmla="*/ 0 h 137"/>
              <a:gd name="T2" fmla="*/ 2147483646 w 223"/>
              <a:gd name="T3" fmla="*/ 2147483646 h 137"/>
              <a:gd name="T4" fmla="*/ 0 60000 65536"/>
              <a:gd name="T5" fmla="*/ 0 60000 65536"/>
            </a:gdLst>
            <a:ahLst/>
            <a:cxnLst>
              <a:cxn ang="T4">
                <a:pos x="T0" y="T1"/>
              </a:cxn>
              <a:cxn ang="T5">
                <a:pos x="T2" y="T3"/>
              </a:cxn>
            </a:cxnLst>
            <a:rect l="0" t="0" r="r" b="b"/>
            <a:pathLst>
              <a:path w="223" h="137">
                <a:moveTo>
                  <a:pt x="0" y="0"/>
                </a:moveTo>
                <a:lnTo>
                  <a:pt x="223" y="13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4" name="任意多边形 273"/>
          <p:cNvSpPr>
            <a:spLocks noChangeArrowheads="1"/>
          </p:cNvSpPr>
          <p:nvPr/>
        </p:nvSpPr>
        <p:spPr bwMode="auto">
          <a:xfrm>
            <a:off x="9796355" y="4808223"/>
            <a:ext cx="442913" cy="74612"/>
          </a:xfrm>
          <a:custGeom>
            <a:avLst/>
            <a:gdLst>
              <a:gd name="T0" fmla="*/ 0 w 257"/>
              <a:gd name="T1" fmla="*/ 0 h 47"/>
              <a:gd name="T2" fmla="*/ 2147483646 w 257"/>
              <a:gd name="T3" fmla="*/ 2147483646 h 47"/>
              <a:gd name="T4" fmla="*/ 0 60000 65536"/>
              <a:gd name="T5" fmla="*/ 0 60000 65536"/>
            </a:gdLst>
            <a:ahLst/>
            <a:cxnLst>
              <a:cxn ang="T4">
                <a:pos x="T0" y="T1"/>
              </a:cxn>
              <a:cxn ang="T5">
                <a:pos x="T2" y="T3"/>
              </a:cxn>
            </a:cxnLst>
            <a:rect l="0" t="0" r="r" b="b"/>
            <a:pathLst>
              <a:path w="257" h="47">
                <a:moveTo>
                  <a:pt x="0" y="0"/>
                </a:moveTo>
                <a:lnTo>
                  <a:pt x="257" y="4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5" name="任意多边形 274"/>
          <p:cNvSpPr>
            <a:spLocks noChangeArrowheads="1"/>
          </p:cNvSpPr>
          <p:nvPr/>
        </p:nvSpPr>
        <p:spPr bwMode="auto">
          <a:xfrm>
            <a:off x="9794768" y="4808223"/>
            <a:ext cx="422275" cy="147637"/>
          </a:xfrm>
          <a:custGeom>
            <a:avLst/>
            <a:gdLst>
              <a:gd name="T0" fmla="*/ 0 w 245"/>
              <a:gd name="T1" fmla="*/ 0 h 93"/>
              <a:gd name="T2" fmla="*/ 2147483646 w 245"/>
              <a:gd name="T3" fmla="*/ 2147483646 h 93"/>
              <a:gd name="T4" fmla="*/ 0 60000 65536"/>
              <a:gd name="T5" fmla="*/ 0 60000 65536"/>
            </a:gdLst>
            <a:ahLst/>
            <a:cxnLst>
              <a:cxn ang="T4">
                <a:pos x="T0" y="T1"/>
              </a:cxn>
              <a:cxn ang="T5">
                <a:pos x="T2" y="T3"/>
              </a:cxn>
            </a:cxnLst>
            <a:rect l="0" t="0" r="r" b="b"/>
            <a:pathLst>
              <a:path w="245" h="93">
                <a:moveTo>
                  <a:pt x="0" y="0"/>
                </a:moveTo>
                <a:lnTo>
                  <a:pt x="245" y="93"/>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6" name="任意多边形 275"/>
          <p:cNvSpPr>
            <a:spLocks noChangeArrowheads="1"/>
          </p:cNvSpPr>
          <p:nvPr/>
        </p:nvSpPr>
        <p:spPr bwMode="auto">
          <a:xfrm>
            <a:off x="9794768" y="4808223"/>
            <a:ext cx="336550" cy="277812"/>
          </a:xfrm>
          <a:custGeom>
            <a:avLst/>
            <a:gdLst>
              <a:gd name="T0" fmla="*/ 0 w 196"/>
              <a:gd name="T1" fmla="*/ 0 h 175"/>
              <a:gd name="T2" fmla="*/ 2147483646 w 196"/>
              <a:gd name="T3" fmla="*/ 2147483646 h 175"/>
              <a:gd name="T4" fmla="*/ 0 60000 65536"/>
              <a:gd name="T5" fmla="*/ 0 60000 65536"/>
            </a:gdLst>
            <a:ahLst/>
            <a:cxnLst>
              <a:cxn ang="T4">
                <a:pos x="T0" y="T1"/>
              </a:cxn>
              <a:cxn ang="T5">
                <a:pos x="T2" y="T3"/>
              </a:cxn>
            </a:cxnLst>
            <a:rect l="0" t="0" r="r" b="b"/>
            <a:pathLst>
              <a:path w="196" h="175">
                <a:moveTo>
                  <a:pt x="0" y="0"/>
                </a:moveTo>
                <a:lnTo>
                  <a:pt x="196" y="175"/>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7" name="任意多边形 276"/>
          <p:cNvSpPr>
            <a:spLocks noChangeArrowheads="1"/>
          </p:cNvSpPr>
          <p:nvPr/>
        </p:nvSpPr>
        <p:spPr bwMode="auto">
          <a:xfrm>
            <a:off x="9569343" y="4439923"/>
            <a:ext cx="227012" cy="369887"/>
          </a:xfrm>
          <a:custGeom>
            <a:avLst/>
            <a:gdLst>
              <a:gd name="T0" fmla="*/ 2147483646 w 132"/>
              <a:gd name="T1" fmla="*/ 2147483646 h 233"/>
              <a:gd name="T2" fmla="*/ 0 w 132"/>
              <a:gd name="T3" fmla="*/ 0 h 233"/>
              <a:gd name="T4" fmla="*/ 0 60000 65536"/>
              <a:gd name="T5" fmla="*/ 0 60000 65536"/>
            </a:gdLst>
            <a:ahLst/>
            <a:cxnLst>
              <a:cxn ang="T4">
                <a:pos x="T0" y="T1"/>
              </a:cxn>
              <a:cxn ang="T5">
                <a:pos x="T2" y="T3"/>
              </a:cxn>
            </a:cxnLst>
            <a:rect l="0" t="0" r="r" b="b"/>
            <a:pathLst>
              <a:path w="132" h="233">
                <a:moveTo>
                  <a:pt x="132" y="23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8" name="任意多边形 277"/>
          <p:cNvSpPr>
            <a:spLocks noChangeArrowheads="1"/>
          </p:cNvSpPr>
          <p:nvPr/>
        </p:nvSpPr>
        <p:spPr bwMode="auto">
          <a:xfrm>
            <a:off x="9721743" y="4392298"/>
            <a:ext cx="73025" cy="417512"/>
          </a:xfrm>
          <a:custGeom>
            <a:avLst/>
            <a:gdLst>
              <a:gd name="T0" fmla="*/ 2147483646 w 43"/>
              <a:gd name="T1" fmla="*/ 2147483646 h 263"/>
              <a:gd name="T2" fmla="*/ 0 w 43"/>
              <a:gd name="T3" fmla="*/ 0 h 263"/>
              <a:gd name="T4" fmla="*/ 0 60000 65536"/>
              <a:gd name="T5" fmla="*/ 0 60000 65536"/>
            </a:gdLst>
            <a:ahLst/>
            <a:cxnLst>
              <a:cxn ang="T4">
                <a:pos x="T0" y="T1"/>
              </a:cxn>
              <a:cxn ang="T5">
                <a:pos x="T2" y="T3"/>
              </a:cxn>
            </a:cxnLst>
            <a:rect l="0" t="0" r="r" b="b"/>
            <a:pathLst>
              <a:path w="43" h="263">
                <a:moveTo>
                  <a:pt x="43" y="26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79" name="任意多边形 278"/>
          <p:cNvSpPr>
            <a:spLocks noChangeArrowheads="1"/>
          </p:cNvSpPr>
          <p:nvPr/>
        </p:nvSpPr>
        <p:spPr bwMode="auto">
          <a:xfrm>
            <a:off x="9639193" y="4409760"/>
            <a:ext cx="155575" cy="398463"/>
          </a:xfrm>
          <a:custGeom>
            <a:avLst/>
            <a:gdLst>
              <a:gd name="T0" fmla="*/ 2147483646 w 91"/>
              <a:gd name="T1" fmla="*/ 2147483646 h 251"/>
              <a:gd name="T2" fmla="*/ 0 w 91"/>
              <a:gd name="T3" fmla="*/ 0 h 251"/>
              <a:gd name="T4" fmla="*/ 0 60000 65536"/>
              <a:gd name="T5" fmla="*/ 0 60000 65536"/>
            </a:gdLst>
            <a:ahLst/>
            <a:cxnLst>
              <a:cxn ang="T4">
                <a:pos x="T0" y="T1"/>
              </a:cxn>
              <a:cxn ang="T5">
                <a:pos x="T2" y="T3"/>
              </a:cxn>
            </a:cxnLst>
            <a:rect l="0" t="0" r="r" b="b"/>
            <a:pathLst>
              <a:path w="91" h="251">
                <a:moveTo>
                  <a:pt x="91" y="251"/>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0" name="任意多边形 279"/>
          <p:cNvSpPr>
            <a:spLocks noChangeArrowheads="1"/>
          </p:cNvSpPr>
          <p:nvPr/>
        </p:nvSpPr>
        <p:spPr bwMode="auto">
          <a:xfrm>
            <a:off x="9509018" y="4476435"/>
            <a:ext cx="285750" cy="333375"/>
          </a:xfrm>
          <a:custGeom>
            <a:avLst/>
            <a:gdLst>
              <a:gd name="T0" fmla="*/ 2147483646 w 166"/>
              <a:gd name="T1" fmla="*/ 2147483646 h 210"/>
              <a:gd name="T2" fmla="*/ 0 w 166"/>
              <a:gd name="T3" fmla="*/ 0 h 210"/>
              <a:gd name="T4" fmla="*/ 0 60000 65536"/>
              <a:gd name="T5" fmla="*/ 0 60000 65536"/>
            </a:gdLst>
            <a:ahLst/>
            <a:cxnLst>
              <a:cxn ang="T4">
                <a:pos x="T0" y="T1"/>
              </a:cxn>
              <a:cxn ang="T5">
                <a:pos x="T2" y="T3"/>
              </a:cxn>
            </a:cxnLst>
            <a:rect l="0" t="0" r="r" b="b"/>
            <a:pathLst>
              <a:path w="166" h="210">
                <a:moveTo>
                  <a:pt x="166" y="210"/>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1" name="任意多边形 280"/>
          <p:cNvSpPr>
            <a:spLocks noChangeArrowheads="1"/>
          </p:cNvSpPr>
          <p:nvPr/>
        </p:nvSpPr>
        <p:spPr bwMode="auto">
          <a:xfrm>
            <a:off x="9397893" y="4593910"/>
            <a:ext cx="396875" cy="215900"/>
          </a:xfrm>
          <a:custGeom>
            <a:avLst/>
            <a:gdLst>
              <a:gd name="T0" fmla="*/ 2147483646 w 231"/>
              <a:gd name="T1" fmla="*/ 2147483646 h 136"/>
              <a:gd name="T2" fmla="*/ 0 w 231"/>
              <a:gd name="T3" fmla="*/ 0 h 136"/>
              <a:gd name="T4" fmla="*/ 0 60000 65536"/>
              <a:gd name="T5" fmla="*/ 0 60000 65536"/>
            </a:gdLst>
            <a:ahLst/>
            <a:cxnLst>
              <a:cxn ang="T4">
                <a:pos x="T0" y="T1"/>
              </a:cxn>
              <a:cxn ang="T5">
                <a:pos x="T2" y="T3"/>
              </a:cxn>
            </a:cxnLst>
            <a:rect l="0" t="0" r="r" b="b"/>
            <a:pathLst>
              <a:path w="231" h="136">
                <a:moveTo>
                  <a:pt x="231" y="136"/>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3" name="任意多边形 282"/>
          <p:cNvSpPr>
            <a:spLocks noChangeArrowheads="1"/>
          </p:cNvSpPr>
          <p:nvPr/>
        </p:nvSpPr>
        <p:spPr bwMode="auto">
          <a:xfrm>
            <a:off x="9364555" y="4660585"/>
            <a:ext cx="431800" cy="147638"/>
          </a:xfrm>
          <a:custGeom>
            <a:avLst/>
            <a:gdLst>
              <a:gd name="T0" fmla="*/ 2147483646 w 251"/>
              <a:gd name="T1" fmla="*/ 2147483646 h 93"/>
              <a:gd name="T2" fmla="*/ 0 w 251"/>
              <a:gd name="T3" fmla="*/ 0 h 93"/>
              <a:gd name="T4" fmla="*/ 0 60000 65536"/>
              <a:gd name="T5" fmla="*/ 0 60000 65536"/>
            </a:gdLst>
            <a:ahLst/>
            <a:cxnLst>
              <a:cxn ang="T4">
                <a:pos x="T0" y="T1"/>
              </a:cxn>
              <a:cxn ang="T5">
                <a:pos x="T2" y="T3"/>
              </a:cxn>
            </a:cxnLst>
            <a:rect l="0" t="0" r="r" b="b"/>
            <a:pathLst>
              <a:path w="251" h="93">
                <a:moveTo>
                  <a:pt x="251" y="9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4" name="任意多边形 283"/>
          <p:cNvSpPr>
            <a:spLocks noChangeArrowheads="1"/>
          </p:cNvSpPr>
          <p:nvPr/>
        </p:nvSpPr>
        <p:spPr bwMode="auto">
          <a:xfrm>
            <a:off x="9447105" y="4528823"/>
            <a:ext cx="349250" cy="279400"/>
          </a:xfrm>
          <a:custGeom>
            <a:avLst/>
            <a:gdLst>
              <a:gd name="T0" fmla="*/ 2147483646 w 203"/>
              <a:gd name="T1" fmla="*/ 2147483646 h 176"/>
              <a:gd name="T2" fmla="*/ 0 w 203"/>
              <a:gd name="T3" fmla="*/ 0 h 176"/>
              <a:gd name="T4" fmla="*/ 0 60000 65536"/>
              <a:gd name="T5" fmla="*/ 0 60000 65536"/>
            </a:gdLst>
            <a:ahLst/>
            <a:cxnLst>
              <a:cxn ang="T4">
                <a:pos x="T0" y="T1"/>
              </a:cxn>
              <a:cxn ang="T5">
                <a:pos x="T2" y="T3"/>
              </a:cxn>
            </a:cxnLst>
            <a:rect l="0" t="0" r="r" b="b"/>
            <a:pathLst>
              <a:path w="203" h="176">
                <a:moveTo>
                  <a:pt x="203" y="176"/>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5" name="任意多边形 284"/>
          <p:cNvSpPr>
            <a:spLocks noChangeArrowheads="1"/>
          </p:cNvSpPr>
          <p:nvPr/>
        </p:nvSpPr>
        <p:spPr bwMode="auto">
          <a:xfrm>
            <a:off x="9728093" y="4808223"/>
            <a:ext cx="66675" cy="414337"/>
          </a:xfrm>
          <a:custGeom>
            <a:avLst/>
            <a:gdLst>
              <a:gd name="T0" fmla="*/ 2147483646 w 39"/>
              <a:gd name="T1" fmla="*/ 0 h 261"/>
              <a:gd name="T2" fmla="*/ 0 w 39"/>
              <a:gd name="T3" fmla="*/ 2147483646 h 261"/>
              <a:gd name="T4" fmla="*/ 0 60000 65536"/>
              <a:gd name="T5" fmla="*/ 0 60000 65536"/>
            </a:gdLst>
            <a:ahLst/>
            <a:cxnLst>
              <a:cxn ang="T4">
                <a:pos x="T0" y="T1"/>
              </a:cxn>
              <a:cxn ang="T5">
                <a:pos x="T2" y="T3"/>
              </a:cxn>
            </a:cxnLst>
            <a:rect l="0" t="0" r="r" b="b"/>
            <a:pathLst>
              <a:path w="39" h="261">
                <a:moveTo>
                  <a:pt x="39" y="0"/>
                </a:moveTo>
                <a:lnTo>
                  <a:pt x="0" y="261"/>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6" name="任意多边形 285"/>
          <p:cNvSpPr>
            <a:spLocks noChangeArrowheads="1"/>
          </p:cNvSpPr>
          <p:nvPr/>
        </p:nvSpPr>
        <p:spPr bwMode="auto">
          <a:xfrm rot="16200000">
            <a:off x="9579661" y="3904142"/>
            <a:ext cx="1643063" cy="323850"/>
          </a:xfrm>
          <a:custGeom>
            <a:avLst/>
            <a:gdLst>
              <a:gd name="T0" fmla="*/ 0 w 257"/>
              <a:gd name="T1" fmla="*/ 0 h 47"/>
              <a:gd name="T2" fmla="*/ 2147483646 w 257"/>
              <a:gd name="T3" fmla="*/ 2147483646 h 47"/>
              <a:gd name="T4" fmla="*/ 0 60000 65536"/>
              <a:gd name="T5" fmla="*/ 0 60000 65536"/>
            </a:gdLst>
            <a:ahLst/>
            <a:cxnLst>
              <a:cxn ang="T4">
                <a:pos x="T0" y="T1"/>
              </a:cxn>
              <a:cxn ang="T5">
                <a:pos x="T2" y="T3"/>
              </a:cxn>
            </a:cxnLst>
            <a:rect l="0" t="0" r="r" b="b"/>
            <a:pathLst>
              <a:path w="257" h="47">
                <a:moveTo>
                  <a:pt x="0" y="0"/>
                </a:moveTo>
                <a:lnTo>
                  <a:pt x="257" y="4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7" name="任意多边形 286"/>
          <p:cNvSpPr>
            <a:spLocks noChangeArrowheads="1"/>
          </p:cNvSpPr>
          <p:nvPr/>
        </p:nvSpPr>
        <p:spPr bwMode="auto">
          <a:xfrm rot="5400000">
            <a:off x="9728093" y="3801748"/>
            <a:ext cx="1641475" cy="676275"/>
          </a:xfrm>
          <a:custGeom>
            <a:avLst/>
            <a:gdLst>
              <a:gd name="T0" fmla="*/ 0 w 245"/>
              <a:gd name="T1" fmla="*/ 0 h 93"/>
              <a:gd name="T2" fmla="*/ 2147483646 w 245"/>
              <a:gd name="T3" fmla="*/ 2147483646 h 93"/>
              <a:gd name="T4" fmla="*/ 0 60000 65536"/>
              <a:gd name="T5" fmla="*/ 0 60000 65536"/>
            </a:gdLst>
            <a:ahLst/>
            <a:cxnLst>
              <a:cxn ang="T4">
                <a:pos x="T0" y="T1"/>
              </a:cxn>
              <a:cxn ang="T5">
                <a:pos x="T2" y="T3"/>
              </a:cxn>
            </a:cxnLst>
            <a:rect l="0" t="0" r="r" b="b"/>
            <a:pathLst>
              <a:path w="245" h="93">
                <a:moveTo>
                  <a:pt x="0" y="0"/>
                </a:moveTo>
                <a:lnTo>
                  <a:pt x="245" y="93"/>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8" name="任意多边形 287"/>
          <p:cNvSpPr>
            <a:spLocks noChangeArrowheads="1"/>
          </p:cNvSpPr>
          <p:nvPr/>
        </p:nvSpPr>
        <p:spPr bwMode="auto">
          <a:xfrm rot="5400000">
            <a:off x="9929705" y="3796986"/>
            <a:ext cx="1482725" cy="984250"/>
          </a:xfrm>
          <a:custGeom>
            <a:avLst/>
            <a:gdLst>
              <a:gd name="T0" fmla="*/ 0 w 223"/>
              <a:gd name="T1" fmla="*/ 0 h 137"/>
              <a:gd name="T2" fmla="*/ 2147483646 w 223"/>
              <a:gd name="T3" fmla="*/ 2147483646 h 137"/>
              <a:gd name="T4" fmla="*/ 0 60000 65536"/>
              <a:gd name="T5" fmla="*/ 0 60000 65536"/>
            </a:gdLst>
            <a:ahLst/>
            <a:cxnLst>
              <a:cxn ang="T4">
                <a:pos x="T0" y="T1"/>
              </a:cxn>
              <a:cxn ang="T5">
                <a:pos x="T2" y="T3"/>
              </a:cxn>
            </a:cxnLst>
            <a:rect l="0" t="0" r="r" b="b"/>
            <a:pathLst>
              <a:path w="223" h="137">
                <a:moveTo>
                  <a:pt x="0" y="0"/>
                </a:moveTo>
                <a:lnTo>
                  <a:pt x="223" y="13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89" name="任意多边形 288"/>
          <p:cNvSpPr>
            <a:spLocks noChangeArrowheads="1"/>
          </p:cNvSpPr>
          <p:nvPr/>
        </p:nvSpPr>
        <p:spPr bwMode="auto">
          <a:xfrm rot="5400000">
            <a:off x="10107506" y="3874772"/>
            <a:ext cx="1238250" cy="1196975"/>
          </a:xfrm>
          <a:custGeom>
            <a:avLst/>
            <a:gdLst>
              <a:gd name="T0" fmla="*/ 0 w 196"/>
              <a:gd name="T1" fmla="*/ 0 h 175"/>
              <a:gd name="T2" fmla="*/ 2147483646 w 196"/>
              <a:gd name="T3" fmla="*/ 2147483646 h 175"/>
              <a:gd name="T4" fmla="*/ 0 60000 65536"/>
              <a:gd name="T5" fmla="*/ 0 60000 65536"/>
            </a:gdLst>
            <a:ahLst/>
            <a:cxnLst>
              <a:cxn ang="T4">
                <a:pos x="T0" y="T1"/>
              </a:cxn>
              <a:cxn ang="T5">
                <a:pos x="T2" y="T3"/>
              </a:cxn>
            </a:cxnLst>
            <a:rect l="0" t="0" r="r" b="b"/>
            <a:pathLst>
              <a:path w="196" h="175">
                <a:moveTo>
                  <a:pt x="0" y="0"/>
                </a:moveTo>
                <a:lnTo>
                  <a:pt x="196" y="175"/>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90" name="任意多边形 289"/>
          <p:cNvSpPr>
            <a:spLocks noChangeArrowheads="1"/>
          </p:cNvSpPr>
          <p:nvPr/>
        </p:nvSpPr>
        <p:spPr bwMode="auto">
          <a:xfrm rot="5400000">
            <a:off x="10266256" y="3874772"/>
            <a:ext cx="1071562" cy="1452563"/>
          </a:xfrm>
          <a:custGeom>
            <a:avLst/>
            <a:gdLst>
              <a:gd name="T0" fmla="*/ 0 w 164"/>
              <a:gd name="T1" fmla="*/ 0 h 205"/>
              <a:gd name="T2" fmla="*/ 2147483646 w 164"/>
              <a:gd name="T3" fmla="*/ 2147483646 h 205"/>
              <a:gd name="T4" fmla="*/ 0 60000 65536"/>
              <a:gd name="T5" fmla="*/ 0 60000 65536"/>
            </a:gdLst>
            <a:ahLst/>
            <a:cxnLst>
              <a:cxn ang="T4">
                <a:pos x="T0" y="T1"/>
              </a:cxn>
              <a:cxn ang="T5">
                <a:pos x="T2" y="T3"/>
              </a:cxn>
            </a:cxnLst>
            <a:rect l="0" t="0" r="r" b="b"/>
            <a:pathLst>
              <a:path w="164" h="205">
                <a:moveTo>
                  <a:pt x="0" y="0"/>
                </a:moveTo>
                <a:lnTo>
                  <a:pt x="164" y="205"/>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291" name="任意多边形 290"/>
          <p:cNvSpPr>
            <a:spLocks noChangeArrowheads="1"/>
          </p:cNvSpPr>
          <p:nvPr/>
        </p:nvSpPr>
        <p:spPr bwMode="auto">
          <a:xfrm rot="5400000">
            <a:off x="10453580" y="3854136"/>
            <a:ext cx="879475" cy="1765300"/>
          </a:xfrm>
          <a:custGeom>
            <a:avLst/>
            <a:gdLst>
              <a:gd name="T0" fmla="*/ 0 w 125"/>
              <a:gd name="T1" fmla="*/ 0 h 232"/>
              <a:gd name="T2" fmla="*/ 2147483646 w 125"/>
              <a:gd name="T3" fmla="*/ 2147483646 h 232"/>
              <a:gd name="T4" fmla="*/ 0 60000 65536"/>
              <a:gd name="T5" fmla="*/ 0 60000 65536"/>
            </a:gdLst>
            <a:ahLst/>
            <a:cxnLst>
              <a:cxn ang="T4">
                <a:pos x="T0" y="T1"/>
              </a:cxn>
              <a:cxn ang="T5">
                <a:pos x="T2" y="T3"/>
              </a:cxn>
            </a:cxnLst>
            <a:rect l="0" t="0" r="r" b="b"/>
            <a:pathLst>
              <a:path w="125" h="232">
                <a:moveTo>
                  <a:pt x="0" y="0"/>
                </a:moveTo>
                <a:lnTo>
                  <a:pt x="125" y="232"/>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2" name="任意多边形 291"/>
          <p:cNvSpPr>
            <a:spLocks noChangeArrowheads="1"/>
          </p:cNvSpPr>
          <p:nvPr/>
        </p:nvSpPr>
        <p:spPr bwMode="auto">
          <a:xfrm rot="16200000">
            <a:off x="10588518" y="3931923"/>
            <a:ext cx="625475" cy="1908175"/>
          </a:xfrm>
          <a:custGeom>
            <a:avLst/>
            <a:gdLst>
              <a:gd name="T0" fmla="*/ 0 w 88"/>
              <a:gd name="T1" fmla="*/ 0 h 247"/>
              <a:gd name="T2" fmla="*/ 2147483646 w 88"/>
              <a:gd name="T3" fmla="*/ 2147483646 h 247"/>
              <a:gd name="T4" fmla="*/ 0 60000 65536"/>
              <a:gd name="T5" fmla="*/ 0 60000 65536"/>
            </a:gdLst>
            <a:ahLst/>
            <a:cxnLst>
              <a:cxn ang="T4">
                <a:pos x="T0" y="T1"/>
              </a:cxn>
              <a:cxn ang="T5">
                <a:pos x="T2" y="T3"/>
              </a:cxn>
            </a:cxnLst>
            <a:rect l="0" t="0" r="r" b="b"/>
            <a:pathLst>
              <a:path w="88" h="247">
                <a:moveTo>
                  <a:pt x="0" y="0"/>
                </a:moveTo>
                <a:lnTo>
                  <a:pt x="88" y="24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3" name="任意多边形 292"/>
          <p:cNvSpPr>
            <a:spLocks noChangeArrowheads="1"/>
          </p:cNvSpPr>
          <p:nvPr/>
        </p:nvSpPr>
        <p:spPr bwMode="auto">
          <a:xfrm rot="5400000">
            <a:off x="10740918" y="4019235"/>
            <a:ext cx="333375" cy="2066925"/>
          </a:xfrm>
          <a:custGeom>
            <a:avLst/>
            <a:gdLst>
              <a:gd name="T0" fmla="*/ 0 w 45"/>
              <a:gd name="T1" fmla="*/ 0 h 257"/>
              <a:gd name="T2" fmla="*/ 2147483646 w 45"/>
              <a:gd name="T3" fmla="*/ 2147483646 h 257"/>
              <a:gd name="T4" fmla="*/ 0 60000 65536"/>
              <a:gd name="T5" fmla="*/ 0 60000 65536"/>
            </a:gdLst>
            <a:ahLst/>
            <a:cxnLst>
              <a:cxn ang="T4">
                <a:pos x="T0" y="T1"/>
              </a:cxn>
              <a:cxn ang="T5">
                <a:pos x="T2" y="T3"/>
              </a:cxn>
            </a:cxnLst>
            <a:rect l="0" t="0" r="r" b="b"/>
            <a:pathLst>
              <a:path w="45" h="257">
                <a:moveTo>
                  <a:pt x="0" y="0"/>
                </a:moveTo>
                <a:lnTo>
                  <a:pt x="45" y="257"/>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4" name="任意多边形 293"/>
          <p:cNvSpPr>
            <a:spLocks noChangeArrowheads="1"/>
          </p:cNvSpPr>
          <p:nvPr/>
        </p:nvSpPr>
        <p:spPr bwMode="auto">
          <a:xfrm>
            <a:off x="9797943" y="5225735"/>
            <a:ext cx="2144712" cy="1588"/>
          </a:xfrm>
          <a:custGeom>
            <a:avLst/>
            <a:gdLst>
              <a:gd name="T0" fmla="*/ 0 w 1247"/>
              <a:gd name="T1" fmla="*/ 0 h 1"/>
              <a:gd name="T2" fmla="*/ 2147483646 w 1247"/>
              <a:gd name="T3" fmla="*/ 0 h 1"/>
              <a:gd name="T4" fmla="*/ 0 60000 65536"/>
              <a:gd name="T5" fmla="*/ 0 60000 65536"/>
            </a:gdLst>
            <a:ahLst/>
            <a:cxnLst>
              <a:cxn ang="T4">
                <a:pos x="T0" y="T1"/>
              </a:cxn>
              <a:cxn ang="T5">
                <a:pos x="T2" y="T3"/>
              </a:cxn>
            </a:cxnLst>
            <a:rect l="0" t="0" r="r" b="b"/>
            <a:pathLst>
              <a:path w="1247" h="1">
                <a:moveTo>
                  <a:pt x="0" y="0"/>
                </a:moveTo>
                <a:lnTo>
                  <a:pt x="1247"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5" name="任意多边形 294"/>
          <p:cNvSpPr>
            <a:spLocks noChangeArrowheads="1"/>
          </p:cNvSpPr>
          <p:nvPr/>
        </p:nvSpPr>
        <p:spPr bwMode="auto">
          <a:xfrm rot="16200000">
            <a:off x="10682181" y="4270060"/>
            <a:ext cx="304800" cy="2212975"/>
          </a:xfrm>
          <a:custGeom>
            <a:avLst/>
            <a:gdLst>
              <a:gd name="T0" fmla="*/ 2147483646 w 39"/>
              <a:gd name="T1" fmla="*/ 0 h 261"/>
              <a:gd name="T2" fmla="*/ 0 w 39"/>
              <a:gd name="T3" fmla="*/ 2147483646 h 261"/>
              <a:gd name="T4" fmla="*/ 0 60000 65536"/>
              <a:gd name="T5" fmla="*/ 0 60000 65536"/>
            </a:gdLst>
            <a:ahLst/>
            <a:cxnLst>
              <a:cxn ang="T4">
                <a:pos x="T0" y="T1"/>
              </a:cxn>
              <a:cxn ang="T5">
                <a:pos x="T2" y="T3"/>
              </a:cxn>
            </a:cxnLst>
            <a:rect l="0" t="0" r="r" b="b"/>
            <a:pathLst>
              <a:path w="39" h="261">
                <a:moveTo>
                  <a:pt x="39" y="0"/>
                </a:moveTo>
                <a:lnTo>
                  <a:pt x="0" y="261"/>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6" name="任意多边形 295"/>
          <p:cNvSpPr>
            <a:spLocks noChangeArrowheads="1"/>
          </p:cNvSpPr>
          <p:nvPr/>
        </p:nvSpPr>
        <p:spPr bwMode="auto">
          <a:xfrm rot="16200000">
            <a:off x="10491681" y="4384360"/>
            <a:ext cx="622300" cy="2276475"/>
          </a:xfrm>
          <a:custGeom>
            <a:avLst/>
            <a:gdLst>
              <a:gd name="T0" fmla="*/ 2147483646 w 75"/>
              <a:gd name="T1" fmla="*/ 0 h 253"/>
              <a:gd name="T2" fmla="*/ 0 w 75"/>
              <a:gd name="T3" fmla="*/ 2147483646 h 253"/>
              <a:gd name="T4" fmla="*/ 0 60000 65536"/>
              <a:gd name="T5" fmla="*/ 0 60000 65536"/>
            </a:gdLst>
            <a:ahLst/>
            <a:cxnLst>
              <a:cxn ang="T4">
                <a:pos x="T0" y="T1"/>
              </a:cxn>
              <a:cxn ang="T5">
                <a:pos x="T2" y="T3"/>
              </a:cxn>
            </a:cxnLst>
            <a:rect l="0" t="0" r="r" b="b"/>
            <a:pathLst>
              <a:path w="75" h="253">
                <a:moveTo>
                  <a:pt x="75" y="0"/>
                </a:moveTo>
                <a:lnTo>
                  <a:pt x="0" y="253"/>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7" name="任意多边形 296"/>
          <p:cNvSpPr>
            <a:spLocks noChangeArrowheads="1"/>
          </p:cNvSpPr>
          <p:nvPr/>
        </p:nvSpPr>
        <p:spPr bwMode="auto">
          <a:xfrm rot="16200000">
            <a:off x="10278955" y="4516123"/>
            <a:ext cx="987425" cy="2336800"/>
          </a:xfrm>
          <a:custGeom>
            <a:avLst/>
            <a:gdLst>
              <a:gd name="T0" fmla="*/ 2147483646 w 110"/>
              <a:gd name="T1" fmla="*/ 0 h 240"/>
              <a:gd name="T2" fmla="*/ 0 w 110"/>
              <a:gd name="T3" fmla="*/ 2147483646 h 240"/>
              <a:gd name="T4" fmla="*/ 0 60000 65536"/>
              <a:gd name="T5" fmla="*/ 0 60000 65536"/>
            </a:gdLst>
            <a:ahLst/>
            <a:cxnLst>
              <a:cxn ang="T4">
                <a:pos x="T0" y="T1"/>
              </a:cxn>
              <a:cxn ang="T5">
                <a:pos x="T2" y="T3"/>
              </a:cxn>
            </a:cxnLst>
            <a:rect l="0" t="0" r="r" b="b"/>
            <a:pathLst>
              <a:path w="110" h="240">
                <a:moveTo>
                  <a:pt x="110" y="0"/>
                </a:moveTo>
                <a:lnTo>
                  <a:pt x="0" y="24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98" name="任意多边形 297"/>
          <p:cNvSpPr>
            <a:spLocks noChangeArrowheads="1"/>
          </p:cNvSpPr>
          <p:nvPr/>
        </p:nvSpPr>
        <p:spPr bwMode="auto">
          <a:xfrm>
            <a:off x="9337568" y="4805048"/>
            <a:ext cx="3175" cy="2120900"/>
          </a:xfrm>
          <a:custGeom>
            <a:avLst/>
            <a:gdLst>
              <a:gd name="T0" fmla="*/ 0 w 1"/>
              <a:gd name="T1" fmla="*/ 0 h 1336"/>
              <a:gd name="T2" fmla="*/ 2147483646 w 1"/>
              <a:gd name="T3" fmla="*/ 2147483646 h 1336"/>
              <a:gd name="T4" fmla="*/ 0 60000 65536"/>
              <a:gd name="T5" fmla="*/ 0 60000 65536"/>
            </a:gdLst>
            <a:ahLst/>
            <a:cxnLst>
              <a:cxn ang="T4">
                <a:pos x="T0" y="T1"/>
              </a:cxn>
              <a:cxn ang="T5">
                <a:pos x="T2" y="T3"/>
              </a:cxn>
            </a:cxnLst>
            <a:rect l="0" t="0" r="r" b="b"/>
            <a:pathLst>
              <a:path w="1" h="1336">
                <a:moveTo>
                  <a:pt x="0" y="0"/>
                </a:moveTo>
                <a:lnTo>
                  <a:pt x="1" y="1336"/>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2" name="组合 1"/>
          <p:cNvGrpSpPr/>
          <p:nvPr/>
        </p:nvGrpSpPr>
        <p:grpSpPr>
          <a:xfrm>
            <a:off x="8950218" y="4735198"/>
            <a:ext cx="846137" cy="2089150"/>
            <a:chOff x="8950218" y="4735198"/>
            <a:chExt cx="846137" cy="2089150"/>
          </a:xfrm>
        </p:grpSpPr>
        <p:sp>
          <p:nvSpPr>
            <p:cNvPr id="282" name="任意多边形 281"/>
            <p:cNvSpPr>
              <a:spLocks noChangeArrowheads="1"/>
            </p:cNvSpPr>
            <p:nvPr/>
          </p:nvSpPr>
          <p:spPr bwMode="auto">
            <a:xfrm>
              <a:off x="9343918" y="4736785"/>
              <a:ext cx="452437" cy="73025"/>
            </a:xfrm>
            <a:custGeom>
              <a:avLst/>
              <a:gdLst>
                <a:gd name="T0" fmla="*/ 2147483646 w 263"/>
                <a:gd name="T1" fmla="*/ 2147483646 h 46"/>
                <a:gd name="T2" fmla="*/ 0 w 263"/>
                <a:gd name="T3" fmla="*/ 0 h 46"/>
                <a:gd name="T4" fmla="*/ 0 60000 65536"/>
                <a:gd name="T5" fmla="*/ 0 60000 65536"/>
              </a:gdLst>
              <a:ahLst/>
              <a:cxnLst>
                <a:cxn ang="T4">
                  <a:pos x="T0" y="T1"/>
                </a:cxn>
                <a:cxn ang="T5">
                  <a:pos x="T2" y="T3"/>
                </a:cxn>
              </a:cxnLst>
              <a:rect l="0" t="0" r="r" b="b"/>
              <a:pathLst>
                <a:path w="263" h="46">
                  <a:moveTo>
                    <a:pt x="263" y="46"/>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99" name="任意多边形 298"/>
            <p:cNvSpPr>
              <a:spLocks noChangeArrowheads="1"/>
            </p:cNvSpPr>
            <p:nvPr/>
          </p:nvSpPr>
          <p:spPr bwMode="auto">
            <a:xfrm rot="16200000">
              <a:off x="8102493" y="5582923"/>
              <a:ext cx="2089150" cy="393700"/>
            </a:xfrm>
            <a:custGeom>
              <a:avLst/>
              <a:gdLst>
                <a:gd name="T0" fmla="*/ 2147483646 w 263"/>
                <a:gd name="T1" fmla="*/ 2147483646 h 46"/>
                <a:gd name="T2" fmla="*/ 0 w 263"/>
                <a:gd name="T3" fmla="*/ 0 h 46"/>
                <a:gd name="T4" fmla="*/ 0 60000 65536"/>
                <a:gd name="T5" fmla="*/ 0 60000 65536"/>
              </a:gdLst>
              <a:ahLst/>
              <a:cxnLst>
                <a:cxn ang="T4">
                  <a:pos x="T0" y="T1"/>
                </a:cxn>
                <a:cxn ang="T5">
                  <a:pos x="T2" y="T3"/>
                </a:cxn>
              </a:cxnLst>
              <a:rect l="0" t="0" r="r" b="b"/>
              <a:pathLst>
                <a:path w="263" h="46">
                  <a:moveTo>
                    <a:pt x="263" y="46"/>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sp>
        <p:nvSpPr>
          <p:cNvPr id="300" name="任意多边形 299"/>
          <p:cNvSpPr>
            <a:spLocks noChangeArrowheads="1"/>
          </p:cNvSpPr>
          <p:nvPr/>
        </p:nvSpPr>
        <p:spPr bwMode="auto">
          <a:xfrm rot="16200000">
            <a:off x="7956443" y="5262248"/>
            <a:ext cx="2014537" cy="808037"/>
          </a:xfrm>
          <a:custGeom>
            <a:avLst/>
            <a:gdLst>
              <a:gd name="T0" fmla="*/ 2147483646 w 251"/>
              <a:gd name="T1" fmla="*/ 2147483646 h 93"/>
              <a:gd name="T2" fmla="*/ 0 w 251"/>
              <a:gd name="T3" fmla="*/ 0 h 93"/>
              <a:gd name="T4" fmla="*/ 0 60000 65536"/>
              <a:gd name="T5" fmla="*/ 0 60000 65536"/>
            </a:gdLst>
            <a:ahLst/>
            <a:cxnLst>
              <a:cxn ang="T4">
                <a:pos x="T0" y="T1"/>
              </a:cxn>
              <a:cxn ang="T5">
                <a:pos x="T2" y="T3"/>
              </a:cxn>
            </a:cxnLst>
            <a:rect l="0" t="0" r="r" b="b"/>
            <a:pathLst>
              <a:path w="251" h="93">
                <a:moveTo>
                  <a:pt x="251" y="9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301" name="任意多边形 300"/>
          <p:cNvSpPr>
            <a:spLocks noChangeArrowheads="1"/>
          </p:cNvSpPr>
          <p:nvPr/>
        </p:nvSpPr>
        <p:spPr bwMode="auto">
          <a:xfrm rot="16200000">
            <a:off x="7948505" y="4914585"/>
            <a:ext cx="1774825" cy="1133475"/>
          </a:xfrm>
          <a:custGeom>
            <a:avLst/>
            <a:gdLst>
              <a:gd name="T0" fmla="*/ 2147483646 w 231"/>
              <a:gd name="T1" fmla="*/ 2147483646 h 136"/>
              <a:gd name="T2" fmla="*/ 0 w 231"/>
              <a:gd name="T3" fmla="*/ 0 h 136"/>
              <a:gd name="T4" fmla="*/ 0 60000 65536"/>
              <a:gd name="T5" fmla="*/ 0 60000 65536"/>
            </a:gdLst>
            <a:ahLst/>
            <a:cxnLst>
              <a:cxn ang="T4">
                <a:pos x="T0" y="T1"/>
              </a:cxn>
              <a:cxn ang="T5">
                <a:pos x="T2" y="T3"/>
              </a:cxn>
            </a:cxnLst>
            <a:rect l="0" t="0" r="r" b="b"/>
            <a:pathLst>
              <a:path w="231" h="136">
                <a:moveTo>
                  <a:pt x="231" y="136"/>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302" name="任意多边形 301"/>
          <p:cNvSpPr>
            <a:spLocks noChangeArrowheads="1"/>
          </p:cNvSpPr>
          <p:nvPr/>
        </p:nvSpPr>
        <p:spPr bwMode="auto">
          <a:xfrm rot="16200000">
            <a:off x="7959618" y="4573273"/>
            <a:ext cx="1533525" cy="1444625"/>
          </a:xfrm>
          <a:custGeom>
            <a:avLst/>
            <a:gdLst>
              <a:gd name="T0" fmla="*/ 2147483646 w 203"/>
              <a:gd name="T1" fmla="*/ 2147483646 h 176"/>
              <a:gd name="T2" fmla="*/ 0 w 203"/>
              <a:gd name="T3" fmla="*/ 0 h 176"/>
              <a:gd name="T4" fmla="*/ 0 60000 65536"/>
              <a:gd name="T5" fmla="*/ 0 60000 65536"/>
            </a:gdLst>
            <a:ahLst/>
            <a:cxnLst>
              <a:cxn ang="T4">
                <a:pos x="T0" y="T1"/>
              </a:cxn>
              <a:cxn ang="T5">
                <a:pos x="T2" y="T3"/>
              </a:cxn>
            </a:cxnLst>
            <a:rect l="0" t="0" r="r" b="b"/>
            <a:pathLst>
              <a:path w="203" h="176">
                <a:moveTo>
                  <a:pt x="203" y="176"/>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03" name="任意多边形 302"/>
          <p:cNvSpPr>
            <a:spLocks noChangeArrowheads="1"/>
          </p:cNvSpPr>
          <p:nvPr/>
        </p:nvSpPr>
        <p:spPr bwMode="auto">
          <a:xfrm rot="16200000">
            <a:off x="8112018" y="4258948"/>
            <a:ext cx="1181100" cy="1612900"/>
          </a:xfrm>
          <a:custGeom>
            <a:avLst/>
            <a:gdLst>
              <a:gd name="T0" fmla="*/ 2147483646 w 166"/>
              <a:gd name="T1" fmla="*/ 2147483646 h 210"/>
              <a:gd name="T2" fmla="*/ 0 w 166"/>
              <a:gd name="T3" fmla="*/ 0 h 210"/>
              <a:gd name="T4" fmla="*/ 0 60000 65536"/>
              <a:gd name="T5" fmla="*/ 0 60000 65536"/>
            </a:gdLst>
            <a:ahLst/>
            <a:cxnLst>
              <a:cxn ang="T4">
                <a:pos x="T0" y="T1"/>
              </a:cxn>
              <a:cxn ang="T5">
                <a:pos x="T2" y="T3"/>
              </a:cxn>
            </a:cxnLst>
            <a:rect l="0" t="0" r="r" b="b"/>
            <a:pathLst>
              <a:path w="166" h="210">
                <a:moveTo>
                  <a:pt x="166" y="210"/>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04" name="任意多边形 303"/>
          <p:cNvSpPr>
            <a:spLocks noChangeArrowheads="1"/>
          </p:cNvSpPr>
          <p:nvPr/>
        </p:nvSpPr>
        <p:spPr bwMode="auto">
          <a:xfrm rot="16200000">
            <a:off x="8358081" y="4062097"/>
            <a:ext cx="831850" cy="1590675"/>
          </a:xfrm>
          <a:custGeom>
            <a:avLst/>
            <a:gdLst>
              <a:gd name="T0" fmla="*/ 2147483646 w 132"/>
              <a:gd name="T1" fmla="*/ 2147483646 h 233"/>
              <a:gd name="T2" fmla="*/ 0 w 132"/>
              <a:gd name="T3" fmla="*/ 0 h 233"/>
              <a:gd name="T4" fmla="*/ 0 60000 65536"/>
              <a:gd name="T5" fmla="*/ 0 60000 65536"/>
            </a:gdLst>
            <a:ahLst/>
            <a:cxnLst>
              <a:cxn ang="T4">
                <a:pos x="T0" y="T1"/>
              </a:cxn>
              <a:cxn ang="T5">
                <a:pos x="T2" y="T3"/>
              </a:cxn>
            </a:cxnLst>
            <a:rect l="0" t="0" r="r" b="b"/>
            <a:pathLst>
              <a:path w="132" h="233">
                <a:moveTo>
                  <a:pt x="132" y="23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05" name="任意多边形 304"/>
          <p:cNvSpPr>
            <a:spLocks noChangeArrowheads="1"/>
          </p:cNvSpPr>
          <p:nvPr/>
        </p:nvSpPr>
        <p:spPr bwMode="auto">
          <a:xfrm rot="16200000">
            <a:off x="8642243" y="3914460"/>
            <a:ext cx="498475" cy="1495425"/>
          </a:xfrm>
          <a:custGeom>
            <a:avLst/>
            <a:gdLst>
              <a:gd name="T0" fmla="*/ 2147483646 w 91"/>
              <a:gd name="T1" fmla="*/ 2147483646 h 251"/>
              <a:gd name="T2" fmla="*/ 0 w 91"/>
              <a:gd name="T3" fmla="*/ 0 h 251"/>
              <a:gd name="T4" fmla="*/ 0 60000 65536"/>
              <a:gd name="T5" fmla="*/ 0 60000 65536"/>
            </a:gdLst>
            <a:ahLst/>
            <a:cxnLst>
              <a:cxn ang="T4">
                <a:pos x="T0" y="T1"/>
              </a:cxn>
              <a:cxn ang="T5">
                <a:pos x="T2" y="T3"/>
              </a:cxn>
            </a:cxnLst>
            <a:rect l="0" t="0" r="r" b="b"/>
            <a:pathLst>
              <a:path w="91" h="251">
                <a:moveTo>
                  <a:pt x="91" y="251"/>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06" name="任意多边形 305"/>
          <p:cNvSpPr>
            <a:spLocks noChangeArrowheads="1"/>
          </p:cNvSpPr>
          <p:nvPr/>
        </p:nvSpPr>
        <p:spPr bwMode="auto">
          <a:xfrm rot="16200000">
            <a:off x="8905768" y="3792223"/>
            <a:ext cx="212725" cy="1412875"/>
          </a:xfrm>
          <a:custGeom>
            <a:avLst/>
            <a:gdLst>
              <a:gd name="T0" fmla="*/ 2147483646 w 43"/>
              <a:gd name="T1" fmla="*/ 2147483646 h 263"/>
              <a:gd name="T2" fmla="*/ 0 w 43"/>
              <a:gd name="T3" fmla="*/ 0 h 263"/>
              <a:gd name="T4" fmla="*/ 0 60000 65536"/>
              <a:gd name="T5" fmla="*/ 0 60000 65536"/>
            </a:gdLst>
            <a:ahLst/>
            <a:cxnLst>
              <a:cxn ang="T4">
                <a:pos x="T0" y="T1"/>
              </a:cxn>
              <a:cxn ang="T5">
                <a:pos x="T2" y="T3"/>
              </a:cxn>
            </a:cxnLst>
            <a:rect l="0" t="0" r="r" b="b"/>
            <a:pathLst>
              <a:path w="43" h="263">
                <a:moveTo>
                  <a:pt x="43" y="263"/>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07" name="任意多边形 306"/>
          <p:cNvSpPr>
            <a:spLocks noChangeArrowheads="1"/>
          </p:cNvSpPr>
          <p:nvPr/>
        </p:nvSpPr>
        <p:spPr bwMode="auto">
          <a:xfrm>
            <a:off x="9794768" y="4387535"/>
            <a:ext cx="1587" cy="422275"/>
          </a:xfrm>
          <a:custGeom>
            <a:avLst/>
            <a:gdLst>
              <a:gd name="T0" fmla="*/ 0 w 1"/>
              <a:gd name="T1" fmla="*/ 2147483646 h 266"/>
              <a:gd name="T2" fmla="*/ 0 w 1"/>
              <a:gd name="T3" fmla="*/ 0 h 266"/>
              <a:gd name="T4" fmla="*/ 0 60000 65536"/>
              <a:gd name="T5" fmla="*/ 0 60000 65536"/>
            </a:gdLst>
            <a:ahLst/>
            <a:cxnLst>
              <a:cxn ang="T4">
                <a:pos x="T0" y="T1"/>
              </a:cxn>
              <a:cxn ang="T5">
                <a:pos x="T2" y="T3"/>
              </a:cxn>
            </a:cxnLst>
            <a:rect l="0" t="0" r="r" b="b"/>
            <a:pathLst>
              <a:path w="1" h="266">
                <a:moveTo>
                  <a:pt x="0" y="266"/>
                </a:moveTo>
                <a:lnTo>
                  <a:pt x="0"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08" name="任意多边形 307"/>
          <p:cNvSpPr>
            <a:spLocks noChangeArrowheads="1"/>
          </p:cNvSpPr>
          <p:nvPr/>
        </p:nvSpPr>
        <p:spPr bwMode="auto">
          <a:xfrm>
            <a:off x="8435868" y="4387535"/>
            <a:ext cx="1358900" cy="1588"/>
          </a:xfrm>
          <a:custGeom>
            <a:avLst/>
            <a:gdLst>
              <a:gd name="T0" fmla="*/ 2147483646 w 790"/>
              <a:gd name="T1" fmla="*/ 0 h 1"/>
              <a:gd name="T2" fmla="*/ 0 w 790"/>
              <a:gd name="T3" fmla="*/ 0 h 1"/>
              <a:gd name="T4" fmla="*/ 0 60000 65536"/>
              <a:gd name="T5" fmla="*/ 0 60000 65536"/>
            </a:gdLst>
            <a:ahLst/>
            <a:cxnLst>
              <a:cxn ang="T4">
                <a:pos x="T0" y="T1"/>
              </a:cxn>
              <a:cxn ang="T5">
                <a:pos x="T2" y="T3"/>
              </a:cxn>
            </a:cxnLst>
            <a:rect l="0" t="0" r="r" b="b"/>
            <a:pathLst>
              <a:path w="790" h="1">
                <a:moveTo>
                  <a:pt x="790" y="0"/>
                </a:move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grpSp>
        <p:nvGrpSpPr>
          <p:cNvPr id="309" name="组合 308"/>
          <p:cNvGrpSpPr/>
          <p:nvPr/>
        </p:nvGrpSpPr>
        <p:grpSpPr bwMode="auto">
          <a:xfrm rot="12124810">
            <a:off x="10550418" y="4049398"/>
            <a:ext cx="90487" cy="17462"/>
            <a:chOff x="4698" y="1590"/>
            <a:chExt cx="48" cy="10"/>
          </a:xfrm>
        </p:grpSpPr>
        <p:sp>
          <p:nvSpPr>
            <p:cNvPr id="310" name="任意多边形 745596"/>
            <p:cNvSpPr>
              <a:spLocks noChangeArrowheads="1"/>
            </p:cNvSpPr>
            <p:nvPr/>
          </p:nvSpPr>
          <p:spPr bwMode="auto">
            <a:xfrm>
              <a:off x="4724" y="1590"/>
              <a:ext cx="1" cy="9"/>
            </a:xfrm>
            <a:custGeom>
              <a:avLst/>
              <a:gdLst>
                <a:gd name="T0" fmla="*/ 0 w 1"/>
                <a:gd name="T1" fmla="*/ 1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11" name="直接连接符 745597"/>
            <p:cNvSpPr>
              <a:spLocks noChangeShapeType="1"/>
            </p:cNvSpPr>
            <p:nvPr/>
          </p:nvSpPr>
          <p:spPr bwMode="auto">
            <a:xfrm>
              <a:off x="4698"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12" name="组合 311"/>
          <p:cNvGrpSpPr/>
          <p:nvPr/>
        </p:nvGrpSpPr>
        <p:grpSpPr bwMode="auto">
          <a:xfrm rot="2002953" flipV="1">
            <a:off x="10686943" y="4168460"/>
            <a:ext cx="92075" cy="55563"/>
            <a:chOff x="4762" y="1568"/>
            <a:chExt cx="48" cy="32"/>
          </a:xfrm>
        </p:grpSpPr>
        <p:sp>
          <p:nvSpPr>
            <p:cNvPr id="313" name="任意多边形 745599"/>
            <p:cNvSpPr>
              <a:spLocks noChangeArrowheads="1"/>
            </p:cNvSpPr>
            <p:nvPr/>
          </p:nvSpPr>
          <p:spPr bwMode="auto">
            <a:xfrm>
              <a:off x="4786" y="1568"/>
              <a:ext cx="1" cy="31"/>
            </a:xfrm>
            <a:custGeom>
              <a:avLst/>
              <a:gdLst>
                <a:gd name="T0" fmla="*/ 0 w 1"/>
                <a:gd name="T1" fmla="*/ 1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14" name="直接连接符 745600"/>
            <p:cNvSpPr>
              <a:spLocks noChangeShapeType="1"/>
            </p:cNvSpPr>
            <p:nvPr/>
          </p:nvSpPr>
          <p:spPr bwMode="auto">
            <a:xfrm>
              <a:off x="4762"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15" name="组合 314"/>
          <p:cNvGrpSpPr/>
          <p:nvPr/>
        </p:nvGrpSpPr>
        <p:grpSpPr bwMode="auto">
          <a:xfrm rot="2560754" flipV="1">
            <a:off x="10807593" y="4284348"/>
            <a:ext cx="92075" cy="112712"/>
            <a:chOff x="4824" y="1533"/>
            <a:chExt cx="48" cy="65"/>
          </a:xfrm>
        </p:grpSpPr>
        <p:sp>
          <p:nvSpPr>
            <p:cNvPr id="316" name="任意多边形 745602"/>
            <p:cNvSpPr>
              <a:spLocks noChangeArrowheads="1"/>
            </p:cNvSpPr>
            <p:nvPr/>
          </p:nvSpPr>
          <p:spPr bwMode="auto">
            <a:xfrm>
              <a:off x="4848" y="1533"/>
              <a:ext cx="0" cy="65"/>
            </a:xfrm>
            <a:custGeom>
              <a:avLst/>
              <a:gdLst>
                <a:gd name="T0" fmla="*/ 0 w 1"/>
                <a:gd name="T1" fmla="*/ 2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17" name="直接连接符 745603"/>
            <p:cNvSpPr>
              <a:spLocks noChangeShapeType="1"/>
            </p:cNvSpPr>
            <p:nvPr/>
          </p:nvSpPr>
          <p:spPr bwMode="auto">
            <a:xfrm>
              <a:off x="4824" y="1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18" name="组合 317"/>
          <p:cNvGrpSpPr/>
          <p:nvPr/>
        </p:nvGrpSpPr>
        <p:grpSpPr bwMode="auto">
          <a:xfrm rot="13916918">
            <a:off x="10925068" y="4370072"/>
            <a:ext cx="82550" cy="219075"/>
            <a:chOff x="4886" y="1480"/>
            <a:chExt cx="48" cy="118"/>
          </a:xfrm>
        </p:grpSpPr>
        <p:sp>
          <p:nvSpPr>
            <p:cNvPr id="319" name="任意多边形 745605"/>
            <p:cNvSpPr>
              <a:spLocks noChangeArrowheads="1"/>
            </p:cNvSpPr>
            <p:nvPr/>
          </p:nvSpPr>
          <p:spPr bwMode="auto">
            <a:xfrm>
              <a:off x="4909" y="1480"/>
              <a:ext cx="0" cy="118"/>
            </a:xfrm>
            <a:custGeom>
              <a:avLst/>
              <a:gdLst>
                <a:gd name="T0" fmla="*/ 0 w 1"/>
                <a:gd name="T1" fmla="*/ 3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20" name="直接连接符 745606"/>
            <p:cNvSpPr>
              <a:spLocks noChangeShapeType="1"/>
            </p:cNvSpPr>
            <p:nvPr/>
          </p:nvSpPr>
          <p:spPr bwMode="auto">
            <a:xfrm>
              <a:off x="4886" y="1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21" name="组合 320"/>
          <p:cNvGrpSpPr/>
          <p:nvPr/>
        </p:nvGrpSpPr>
        <p:grpSpPr bwMode="auto">
          <a:xfrm rot="14511673">
            <a:off x="11023493" y="4481198"/>
            <a:ext cx="82550" cy="336550"/>
            <a:chOff x="4948" y="1421"/>
            <a:chExt cx="48" cy="179"/>
          </a:xfrm>
        </p:grpSpPr>
        <p:sp>
          <p:nvSpPr>
            <p:cNvPr id="322" name="任意多边形 745608"/>
            <p:cNvSpPr>
              <a:spLocks noChangeArrowheads="1"/>
            </p:cNvSpPr>
            <p:nvPr/>
          </p:nvSpPr>
          <p:spPr bwMode="auto">
            <a:xfrm>
              <a:off x="4971" y="1421"/>
              <a:ext cx="1" cy="178"/>
            </a:xfrm>
            <a:custGeom>
              <a:avLst/>
              <a:gdLst>
                <a:gd name="T0" fmla="*/ 0 w 1"/>
                <a:gd name="T1" fmla="*/ 5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23" name="直接连接符 745609"/>
            <p:cNvSpPr>
              <a:spLocks noChangeShapeType="1"/>
            </p:cNvSpPr>
            <p:nvPr/>
          </p:nvSpPr>
          <p:spPr bwMode="auto">
            <a:xfrm>
              <a:off x="4948"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24" name="组合 323"/>
          <p:cNvGrpSpPr/>
          <p:nvPr/>
        </p:nvGrpSpPr>
        <p:grpSpPr bwMode="auto">
          <a:xfrm rot="15051953">
            <a:off x="11083818" y="4592323"/>
            <a:ext cx="82550" cy="444500"/>
            <a:chOff x="5010" y="1363"/>
            <a:chExt cx="48" cy="237"/>
          </a:xfrm>
        </p:grpSpPr>
        <p:sp>
          <p:nvSpPr>
            <p:cNvPr id="325" name="任意多边形 745611"/>
            <p:cNvSpPr>
              <a:spLocks noChangeArrowheads="1"/>
            </p:cNvSpPr>
            <p:nvPr/>
          </p:nvSpPr>
          <p:spPr bwMode="auto">
            <a:xfrm>
              <a:off x="5032" y="1363"/>
              <a:ext cx="1" cy="236"/>
            </a:xfrm>
            <a:custGeom>
              <a:avLst/>
              <a:gdLst>
                <a:gd name="T0" fmla="*/ 0 w 1"/>
                <a:gd name="T1" fmla="*/ 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26" name="直接连接符 745612"/>
            <p:cNvSpPr>
              <a:spLocks noChangeShapeType="1"/>
            </p:cNvSpPr>
            <p:nvPr/>
          </p:nvSpPr>
          <p:spPr bwMode="auto">
            <a:xfrm>
              <a:off x="5010"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27" name="组合 326"/>
          <p:cNvGrpSpPr/>
          <p:nvPr/>
        </p:nvGrpSpPr>
        <p:grpSpPr bwMode="auto">
          <a:xfrm rot="15588863">
            <a:off x="11106837" y="4739166"/>
            <a:ext cx="82550" cy="538163"/>
            <a:chOff x="5072" y="1313"/>
            <a:chExt cx="48" cy="287"/>
          </a:xfrm>
        </p:grpSpPr>
        <p:sp>
          <p:nvSpPr>
            <p:cNvPr id="328" name="任意多边形 745614"/>
            <p:cNvSpPr>
              <a:spLocks noChangeArrowheads="1"/>
            </p:cNvSpPr>
            <p:nvPr/>
          </p:nvSpPr>
          <p:spPr bwMode="auto">
            <a:xfrm>
              <a:off x="5094" y="1313"/>
              <a:ext cx="1" cy="286"/>
            </a:xfrm>
            <a:custGeom>
              <a:avLst/>
              <a:gdLst>
                <a:gd name="T0" fmla="*/ 0 w 1"/>
                <a:gd name="T1" fmla="*/ 8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29" name="直接连接符 745615"/>
            <p:cNvSpPr>
              <a:spLocks noChangeShapeType="1"/>
            </p:cNvSpPr>
            <p:nvPr/>
          </p:nvSpPr>
          <p:spPr bwMode="auto">
            <a:xfrm>
              <a:off x="5072"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30" name="组合 329"/>
          <p:cNvGrpSpPr/>
          <p:nvPr/>
        </p:nvGrpSpPr>
        <p:grpSpPr bwMode="auto">
          <a:xfrm rot="16200000">
            <a:off x="11083818" y="4925697"/>
            <a:ext cx="82550" cy="606425"/>
            <a:chOff x="5132" y="1276"/>
            <a:chExt cx="48" cy="324"/>
          </a:xfrm>
        </p:grpSpPr>
        <p:sp>
          <p:nvSpPr>
            <p:cNvPr id="331" name="任意多边形 745617"/>
            <p:cNvSpPr>
              <a:spLocks noChangeArrowheads="1"/>
            </p:cNvSpPr>
            <p:nvPr/>
          </p:nvSpPr>
          <p:spPr bwMode="auto">
            <a:xfrm>
              <a:off x="5156" y="1276"/>
              <a:ext cx="1" cy="323"/>
            </a:xfrm>
            <a:custGeom>
              <a:avLst/>
              <a:gdLst>
                <a:gd name="T0" fmla="*/ 0 w 1"/>
                <a:gd name="T1" fmla="*/ 8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32" name="直接连接符 745618"/>
            <p:cNvSpPr>
              <a:spLocks noChangeShapeType="1"/>
            </p:cNvSpPr>
            <p:nvPr/>
          </p:nvSpPr>
          <p:spPr bwMode="auto">
            <a:xfrm>
              <a:off x="5132"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33" name="组合 332"/>
          <p:cNvGrpSpPr/>
          <p:nvPr/>
        </p:nvGrpSpPr>
        <p:grpSpPr bwMode="auto">
          <a:xfrm rot="16711826">
            <a:off x="11021905" y="5081273"/>
            <a:ext cx="84137" cy="649288"/>
            <a:chOff x="5194" y="1253"/>
            <a:chExt cx="48" cy="347"/>
          </a:xfrm>
        </p:grpSpPr>
        <p:sp>
          <p:nvSpPr>
            <p:cNvPr id="334" name="任意多边形 745620"/>
            <p:cNvSpPr>
              <a:spLocks noChangeArrowheads="1"/>
            </p:cNvSpPr>
            <p:nvPr/>
          </p:nvSpPr>
          <p:spPr bwMode="auto">
            <a:xfrm>
              <a:off x="5218" y="1253"/>
              <a:ext cx="0" cy="346"/>
            </a:xfrm>
            <a:custGeom>
              <a:avLst/>
              <a:gdLst>
                <a:gd name="T0" fmla="*/ 0 w 1"/>
                <a:gd name="T1" fmla="*/ 9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35" name="直接连接符 745621"/>
            <p:cNvSpPr>
              <a:spLocks noChangeShapeType="1"/>
            </p:cNvSpPr>
            <p:nvPr/>
          </p:nvSpPr>
          <p:spPr bwMode="auto">
            <a:xfrm>
              <a:off x="5194"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36" name="组合 335"/>
          <p:cNvGrpSpPr/>
          <p:nvPr/>
        </p:nvGrpSpPr>
        <p:grpSpPr bwMode="auto">
          <a:xfrm rot="17178363">
            <a:off x="10928243" y="5233673"/>
            <a:ext cx="82550" cy="660400"/>
            <a:chOff x="5256" y="1248"/>
            <a:chExt cx="48" cy="353"/>
          </a:xfrm>
        </p:grpSpPr>
        <p:sp>
          <p:nvSpPr>
            <p:cNvPr id="337" name="任意多边形 745623"/>
            <p:cNvSpPr>
              <a:spLocks noChangeArrowheads="1"/>
            </p:cNvSpPr>
            <p:nvPr/>
          </p:nvSpPr>
          <p:spPr bwMode="auto">
            <a:xfrm>
              <a:off x="5279" y="1248"/>
              <a:ext cx="1" cy="353"/>
            </a:xfrm>
            <a:custGeom>
              <a:avLst/>
              <a:gdLst>
                <a:gd name="T0" fmla="*/ 0 w 1"/>
                <a:gd name="T1" fmla="*/ 0 h 648"/>
                <a:gd name="T2" fmla="*/ 0 w 1"/>
                <a:gd name="T3" fmla="*/ 9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38" name="直接连接符 745624"/>
            <p:cNvSpPr>
              <a:spLocks noChangeShapeType="1"/>
            </p:cNvSpPr>
            <p:nvPr/>
          </p:nvSpPr>
          <p:spPr bwMode="auto">
            <a:xfrm>
              <a:off x="5256"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39" name="组合 338"/>
          <p:cNvGrpSpPr/>
          <p:nvPr/>
        </p:nvGrpSpPr>
        <p:grpSpPr bwMode="auto">
          <a:xfrm rot="6846382">
            <a:off x="10788543" y="5373373"/>
            <a:ext cx="85725" cy="669925"/>
            <a:chOff x="3862" y="598"/>
            <a:chExt cx="48" cy="356"/>
          </a:xfrm>
        </p:grpSpPr>
        <p:sp>
          <p:nvSpPr>
            <p:cNvPr id="340" name="任意多边形 745626"/>
            <p:cNvSpPr>
              <a:spLocks noChangeArrowheads="1"/>
            </p:cNvSpPr>
            <p:nvPr/>
          </p:nvSpPr>
          <p:spPr bwMode="auto">
            <a:xfrm>
              <a:off x="3885" y="599"/>
              <a:ext cx="1" cy="355"/>
            </a:xfrm>
            <a:custGeom>
              <a:avLst/>
              <a:gdLst>
                <a:gd name="T0" fmla="*/ 0 w 1"/>
                <a:gd name="T1" fmla="*/ 0 h 355"/>
                <a:gd name="T2" fmla="*/ 0 w 1"/>
                <a:gd name="T3" fmla="*/ 355 h 355"/>
                <a:gd name="T4" fmla="*/ 0 60000 65536"/>
                <a:gd name="T5" fmla="*/ 0 60000 65536"/>
              </a:gdLst>
              <a:ahLst/>
              <a:cxnLst>
                <a:cxn ang="T4">
                  <a:pos x="T0" y="T1"/>
                </a:cxn>
                <a:cxn ang="T5">
                  <a:pos x="T2" y="T3"/>
                </a:cxn>
              </a:cxnLst>
              <a:rect l="0" t="0" r="r" b="b"/>
              <a:pathLst>
                <a:path w="1" h="355">
                  <a:moveTo>
                    <a:pt x="0" y="0"/>
                  </a:moveTo>
                  <a:lnTo>
                    <a:pt x="0" y="355"/>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41" name="直接连接符 745627"/>
            <p:cNvSpPr>
              <a:spLocks noChangeShapeType="1"/>
            </p:cNvSpPr>
            <p:nvPr/>
          </p:nvSpPr>
          <p:spPr bwMode="auto">
            <a:xfrm>
              <a:off x="3862" y="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42" name="组合 341"/>
          <p:cNvGrpSpPr/>
          <p:nvPr/>
        </p:nvGrpSpPr>
        <p:grpSpPr bwMode="auto">
          <a:xfrm rot="10794702">
            <a:off x="9294705" y="5759135"/>
            <a:ext cx="88900" cy="615950"/>
            <a:chOff x="3862" y="598"/>
            <a:chExt cx="48" cy="356"/>
          </a:xfrm>
        </p:grpSpPr>
        <p:sp>
          <p:nvSpPr>
            <p:cNvPr id="343" name="任意多边形 745629"/>
            <p:cNvSpPr>
              <a:spLocks noChangeArrowheads="1"/>
            </p:cNvSpPr>
            <p:nvPr/>
          </p:nvSpPr>
          <p:spPr bwMode="auto">
            <a:xfrm>
              <a:off x="3885" y="599"/>
              <a:ext cx="1" cy="355"/>
            </a:xfrm>
            <a:custGeom>
              <a:avLst/>
              <a:gdLst>
                <a:gd name="T0" fmla="*/ 0 w 1"/>
                <a:gd name="T1" fmla="*/ 0 h 355"/>
                <a:gd name="T2" fmla="*/ 0 w 1"/>
                <a:gd name="T3" fmla="*/ 355 h 355"/>
                <a:gd name="T4" fmla="*/ 0 60000 65536"/>
                <a:gd name="T5" fmla="*/ 0 60000 65536"/>
              </a:gdLst>
              <a:ahLst/>
              <a:cxnLst>
                <a:cxn ang="T4">
                  <a:pos x="T0" y="T1"/>
                </a:cxn>
                <a:cxn ang="T5">
                  <a:pos x="T2" y="T3"/>
                </a:cxn>
              </a:cxnLst>
              <a:rect l="0" t="0" r="r" b="b"/>
              <a:pathLst>
                <a:path w="1" h="355">
                  <a:moveTo>
                    <a:pt x="0" y="0"/>
                  </a:moveTo>
                  <a:lnTo>
                    <a:pt x="0" y="355"/>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44" name="直接连接符 745630"/>
            <p:cNvSpPr>
              <a:spLocks noChangeShapeType="1"/>
            </p:cNvSpPr>
            <p:nvPr/>
          </p:nvSpPr>
          <p:spPr bwMode="auto">
            <a:xfrm>
              <a:off x="3862" y="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345" name="组合 344"/>
          <p:cNvGrpSpPr/>
          <p:nvPr/>
        </p:nvGrpSpPr>
        <p:grpSpPr bwMode="auto">
          <a:xfrm>
            <a:off x="9012130" y="5673410"/>
            <a:ext cx="158750" cy="588963"/>
            <a:chOff x="3747" y="3086"/>
            <a:chExt cx="84" cy="340"/>
          </a:xfrm>
        </p:grpSpPr>
        <p:sp>
          <p:nvSpPr>
            <p:cNvPr id="346" name="任意多边形 745632"/>
            <p:cNvSpPr>
              <a:spLocks noChangeArrowheads="1"/>
            </p:cNvSpPr>
            <p:nvPr/>
          </p:nvSpPr>
          <p:spPr bwMode="auto">
            <a:xfrm>
              <a:off x="3771" y="3086"/>
              <a:ext cx="60" cy="340"/>
            </a:xfrm>
            <a:custGeom>
              <a:avLst/>
              <a:gdLst>
                <a:gd name="T0" fmla="*/ 60 w 60"/>
                <a:gd name="T1" fmla="*/ 0 h 340"/>
                <a:gd name="T2" fmla="*/ 0 w 60"/>
                <a:gd name="T3" fmla="*/ 340 h 340"/>
                <a:gd name="T4" fmla="*/ 0 60000 65536"/>
                <a:gd name="T5" fmla="*/ 0 60000 65536"/>
              </a:gdLst>
              <a:ahLst/>
              <a:cxnLst>
                <a:cxn ang="T4">
                  <a:pos x="T0" y="T1"/>
                </a:cxn>
                <a:cxn ang="T5">
                  <a:pos x="T2" y="T3"/>
                </a:cxn>
              </a:cxnLst>
              <a:rect l="0" t="0" r="r" b="b"/>
              <a:pathLst>
                <a:path w="60" h="340">
                  <a:moveTo>
                    <a:pt x="60" y="0"/>
                  </a:moveTo>
                  <a:lnTo>
                    <a:pt x="0" y="34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47" name="直接连接符 745633"/>
            <p:cNvSpPr>
              <a:spLocks noChangeShapeType="1"/>
            </p:cNvSpPr>
            <p:nvPr/>
          </p:nvSpPr>
          <p:spPr bwMode="auto">
            <a:xfrm rot="598097">
              <a:off x="3747" y="3426"/>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348" name="组合 347"/>
          <p:cNvGrpSpPr/>
          <p:nvPr/>
        </p:nvGrpSpPr>
        <p:grpSpPr bwMode="auto">
          <a:xfrm>
            <a:off x="8754955" y="5552760"/>
            <a:ext cx="255588" cy="515938"/>
            <a:chOff x="3589" y="3057"/>
            <a:chExt cx="136" cy="298"/>
          </a:xfrm>
        </p:grpSpPr>
        <p:sp>
          <p:nvSpPr>
            <p:cNvPr id="349" name="任意多边形 745635"/>
            <p:cNvSpPr>
              <a:spLocks noChangeArrowheads="1"/>
            </p:cNvSpPr>
            <p:nvPr/>
          </p:nvSpPr>
          <p:spPr bwMode="auto">
            <a:xfrm>
              <a:off x="3613" y="3057"/>
              <a:ext cx="112" cy="298"/>
            </a:xfrm>
            <a:custGeom>
              <a:avLst/>
              <a:gdLst>
                <a:gd name="T0" fmla="*/ 112 w 112"/>
                <a:gd name="T1" fmla="*/ 0 h 298"/>
                <a:gd name="T2" fmla="*/ 0 w 112"/>
                <a:gd name="T3" fmla="*/ 298 h 298"/>
                <a:gd name="T4" fmla="*/ 0 60000 65536"/>
                <a:gd name="T5" fmla="*/ 0 60000 65536"/>
              </a:gdLst>
              <a:ahLst/>
              <a:cxnLst>
                <a:cxn ang="T4">
                  <a:pos x="T0" y="T1"/>
                </a:cxn>
                <a:cxn ang="T5">
                  <a:pos x="T2" y="T3"/>
                </a:cxn>
              </a:cxnLst>
              <a:rect l="0" t="0" r="r" b="b"/>
              <a:pathLst>
                <a:path w="112" h="298">
                  <a:moveTo>
                    <a:pt x="112" y="0"/>
                  </a:moveTo>
                  <a:lnTo>
                    <a:pt x="0" y="298"/>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50" name="直接连接符 745636"/>
            <p:cNvSpPr>
              <a:spLocks noChangeShapeType="1"/>
            </p:cNvSpPr>
            <p:nvPr/>
          </p:nvSpPr>
          <p:spPr bwMode="auto">
            <a:xfrm rot="1238476">
              <a:off x="3589" y="33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51" name="组合 350"/>
          <p:cNvGrpSpPr/>
          <p:nvPr/>
        </p:nvGrpSpPr>
        <p:grpSpPr bwMode="auto">
          <a:xfrm>
            <a:off x="8578743" y="5413060"/>
            <a:ext cx="301625" cy="401638"/>
            <a:chOff x="3468" y="3012"/>
            <a:chExt cx="161" cy="232"/>
          </a:xfrm>
        </p:grpSpPr>
        <p:sp>
          <p:nvSpPr>
            <p:cNvPr id="352" name="任意多边形 745638"/>
            <p:cNvSpPr>
              <a:spLocks noChangeArrowheads="1"/>
            </p:cNvSpPr>
            <p:nvPr/>
          </p:nvSpPr>
          <p:spPr bwMode="auto">
            <a:xfrm>
              <a:off x="3492" y="3012"/>
              <a:ext cx="137" cy="232"/>
            </a:xfrm>
            <a:custGeom>
              <a:avLst/>
              <a:gdLst>
                <a:gd name="T0" fmla="*/ 137 w 137"/>
                <a:gd name="T1" fmla="*/ 0 h 232"/>
                <a:gd name="T2" fmla="*/ 0 w 137"/>
                <a:gd name="T3" fmla="*/ 232 h 232"/>
                <a:gd name="T4" fmla="*/ 0 60000 65536"/>
                <a:gd name="T5" fmla="*/ 0 60000 65536"/>
              </a:gdLst>
              <a:ahLst/>
              <a:cxnLst>
                <a:cxn ang="T4">
                  <a:pos x="T0" y="T1"/>
                </a:cxn>
                <a:cxn ang="T5">
                  <a:pos x="T2" y="T3"/>
                </a:cxn>
              </a:cxnLst>
              <a:rect l="0" t="0" r="r" b="b"/>
              <a:pathLst>
                <a:path w="137" h="232">
                  <a:moveTo>
                    <a:pt x="137" y="0"/>
                  </a:moveTo>
                  <a:lnTo>
                    <a:pt x="0" y="232"/>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53" name="直接连接符 745639"/>
            <p:cNvSpPr>
              <a:spLocks noChangeShapeType="1"/>
            </p:cNvSpPr>
            <p:nvPr/>
          </p:nvSpPr>
          <p:spPr bwMode="auto">
            <a:xfrm rot="1814875">
              <a:off x="3468" y="3243"/>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54" name="组合 353"/>
          <p:cNvGrpSpPr/>
          <p:nvPr/>
        </p:nvGrpSpPr>
        <p:grpSpPr bwMode="auto">
          <a:xfrm>
            <a:off x="8473968" y="5247960"/>
            <a:ext cx="300037" cy="273050"/>
            <a:chOff x="3377" y="2945"/>
            <a:chExt cx="160" cy="157"/>
          </a:xfrm>
        </p:grpSpPr>
        <p:sp>
          <p:nvSpPr>
            <p:cNvPr id="355" name="任意多边形 745641"/>
            <p:cNvSpPr>
              <a:spLocks noChangeArrowheads="1"/>
            </p:cNvSpPr>
            <p:nvPr/>
          </p:nvSpPr>
          <p:spPr bwMode="auto">
            <a:xfrm>
              <a:off x="3399" y="2945"/>
              <a:ext cx="138" cy="157"/>
            </a:xfrm>
            <a:custGeom>
              <a:avLst/>
              <a:gdLst>
                <a:gd name="T0" fmla="*/ 138 w 138"/>
                <a:gd name="T1" fmla="*/ 0 h 157"/>
                <a:gd name="T2" fmla="*/ 0 w 138"/>
                <a:gd name="T3" fmla="*/ 157 h 157"/>
                <a:gd name="T4" fmla="*/ 0 60000 65536"/>
                <a:gd name="T5" fmla="*/ 0 60000 65536"/>
              </a:gdLst>
              <a:ahLst/>
              <a:cxnLst>
                <a:cxn ang="T4">
                  <a:pos x="T0" y="T1"/>
                </a:cxn>
                <a:cxn ang="T5">
                  <a:pos x="T2" y="T3"/>
                </a:cxn>
              </a:cxnLst>
              <a:rect l="0" t="0" r="r" b="b"/>
              <a:pathLst>
                <a:path w="138" h="157">
                  <a:moveTo>
                    <a:pt x="138" y="0"/>
                  </a:moveTo>
                  <a:lnTo>
                    <a:pt x="0" y="157"/>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56" name="直接连接符 745642"/>
            <p:cNvSpPr>
              <a:spLocks noChangeShapeType="1"/>
            </p:cNvSpPr>
            <p:nvPr/>
          </p:nvSpPr>
          <p:spPr bwMode="auto">
            <a:xfrm rot="2465983">
              <a:off x="3377" y="3102"/>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57" name="组合 356"/>
          <p:cNvGrpSpPr/>
          <p:nvPr/>
        </p:nvGrpSpPr>
        <p:grpSpPr bwMode="auto">
          <a:xfrm>
            <a:off x="8486668" y="5066985"/>
            <a:ext cx="215900" cy="198438"/>
            <a:chOff x="3348" y="2868"/>
            <a:chExt cx="116" cy="114"/>
          </a:xfrm>
        </p:grpSpPr>
        <p:sp>
          <p:nvSpPr>
            <p:cNvPr id="358" name="任意多边形 745644"/>
            <p:cNvSpPr>
              <a:spLocks noChangeArrowheads="1"/>
            </p:cNvSpPr>
            <p:nvPr/>
          </p:nvSpPr>
          <p:spPr bwMode="auto">
            <a:xfrm>
              <a:off x="3348" y="2868"/>
              <a:ext cx="116" cy="90"/>
            </a:xfrm>
            <a:custGeom>
              <a:avLst/>
              <a:gdLst>
                <a:gd name="T0" fmla="*/ 116 w 116"/>
                <a:gd name="T1" fmla="*/ 0 h 90"/>
                <a:gd name="T2" fmla="*/ 0 w 116"/>
                <a:gd name="T3" fmla="*/ 90 h 90"/>
                <a:gd name="T4" fmla="*/ 0 60000 65536"/>
                <a:gd name="T5" fmla="*/ 0 60000 65536"/>
              </a:gdLst>
              <a:ahLst/>
              <a:cxnLst>
                <a:cxn ang="T4">
                  <a:pos x="T0" y="T1"/>
                </a:cxn>
                <a:cxn ang="T5">
                  <a:pos x="T2" y="T3"/>
                </a:cxn>
              </a:cxnLst>
              <a:rect l="0" t="0" r="r" b="b"/>
              <a:pathLst>
                <a:path w="116" h="90">
                  <a:moveTo>
                    <a:pt x="116" y="0"/>
                  </a:moveTo>
                  <a:lnTo>
                    <a:pt x="0" y="9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59" name="直接连接符 745645"/>
            <p:cNvSpPr>
              <a:spLocks noChangeShapeType="1"/>
            </p:cNvSpPr>
            <p:nvPr/>
          </p:nvSpPr>
          <p:spPr bwMode="auto">
            <a:xfrm rot="3097880">
              <a:off x="3326" y="295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60" name="组合 359"/>
          <p:cNvGrpSpPr/>
          <p:nvPr/>
        </p:nvGrpSpPr>
        <p:grpSpPr bwMode="auto">
          <a:xfrm>
            <a:off x="8518418" y="4908235"/>
            <a:ext cx="153987" cy="125413"/>
            <a:chOff x="3327" y="2786"/>
            <a:chExt cx="82" cy="72"/>
          </a:xfrm>
        </p:grpSpPr>
        <p:sp>
          <p:nvSpPr>
            <p:cNvPr id="361" name="任意多边形 745647"/>
            <p:cNvSpPr>
              <a:spLocks noChangeArrowheads="1"/>
            </p:cNvSpPr>
            <p:nvPr/>
          </p:nvSpPr>
          <p:spPr bwMode="auto">
            <a:xfrm>
              <a:off x="3327" y="2786"/>
              <a:ext cx="82" cy="48"/>
            </a:xfrm>
            <a:custGeom>
              <a:avLst/>
              <a:gdLst>
                <a:gd name="T0" fmla="*/ 82 w 82"/>
                <a:gd name="T1" fmla="*/ 0 h 48"/>
                <a:gd name="T2" fmla="*/ 0 w 82"/>
                <a:gd name="T3" fmla="*/ 48 h 48"/>
                <a:gd name="T4" fmla="*/ 0 60000 65536"/>
                <a:gd name="T5" fmla="*/ 0 60000 65536"/>
              </a:gdLst>
              <a:ahLst/>
              <a:cxnLst>
                <a:cxn ang="T4">
                  <a:pos x="T0" y="T1"/>
                </a:cxn>
                <a:cxn ang="T5">
                  <a:pos x="T2" y="T3"/>
                </a:cxn>
              </a:cxnLst>
              <a:rect l="0" t="0" r="r" b="b"/>
              <a:pathLst>
                <a:path w="82" h="48">
                  <a:moveTo>
                    <a:pt x="82" y="0"/>
                  </a:moveTo>
                  <a:lnTo>
                    <a:pt x="0" y="48"/>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62" name="直接连接符 745648"/>
            <p:cNvSpPr>
              <a:spLocks noChangeShapeType="1"/>
            </p:cNvSpPr>
            <p:nvPr/>
          </p:nvSpPr>
          <p:spPr bwMode="auto">
            <a:xfrm rot="3632452">
              <a:off x="3304" y="283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grpSp>
        <p:nvGrpSpPr>
          <p:cNvPr id="363" name="组合 362"/>
          <p:cNvGrpSpPr/>
          <p:nvPr/>
        </p:nvGrpSpPr>
        <p:grpSpPr bwMode="auto">
          <a:xfrm>
            <a:off x="8569218" y="4733610"/>
            <a:ext cx="96837" cy="82550"/>
            <a:chOff x="3319" y="2696"/>
            <a:chExt cx="52" cy="48"/>
          </a:xfrm>
        </p:grpSpPr>
        <p:sp>
          <p:nvSpPr>
            <p:cNvPr id="364" name="任意多边形 745650"/>
            <p:cNvSpPr>
              <a:spLocks noChangeArrowheads="1"/>
            </p:cNvSpPr>
            <p:nvPr/>
          </p:nvSpPr>
          <p:spPr bwMode="auto">
            <a:xfrm>
              <a:off x="3319" y="2699"/>
              <a:ext cx="52" cy="20"/>
            </a:xfrm>
            <a:custGeom>
              <a:avLst/>
              <a:gdLst>
                <a:gd name="T0" fmla="*/ 52 w 52"/>
                <a:gd name="T1" fmla="*/ 0 h 20"/>
                <a:gd name="T2" fmla="*/ 0 w 52"/>
                <a:gd name="T3" fmla="*/ 20 h 20"/>
                <a:gd name="T4" fmla="*/ 0 60000 65536"/>
                <a:gd name="T5" fmla="*/ 0 60000 65536"/>
              </a:gdLst>
              <a:ahLst/>
              <a:cxnLst>
                <a:cxn ang="T4">
                  <a:pos x="T0" y="T1"/>
                </a:cxn>
                <a:cxn ang="T5">
                  <a:pos x="T2" y="T3"/>
                </a:cxn>
              </a:cxnLst>
              <a:rect l="0" t="0" r="r" b="b"/>
              <a:pathLst>
                <a:path w="52" h="20">
                  <a:moveTo>
                    <a:pt x="52" y="0"/>
                  </a:moveTo>
                  <a:lnTo>
                    <a:pt x="0" y="2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65" name="直接连接符 745651"/>
            <p:cNvSpPr>
              <a:spLocks noChangeShapeType="1"/>
            </p:cNvSpPr>
            <p:nvPr/>
          </p:nvSpPr>
          <p:spPr bwMode="auto">
            <a:xfrm rot="4206387">
              <a:off x="3297" y="272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sp>
        <p:nvSpPr>
          <p:cNvPr id="366" name="直接连接符 365"/>
          <p:cNvSpPr>
            <a:spLocks noChangeShapeType="1"/>
          </p:cNvSpPr>
          <p:nvPr/>
        </p:nvSpPr>
        <p:spPr bwMode="auto">
          <a:xfrm rot="11393085">
            <a:off x="10382143" y="3941448"/>
            <a:ext cx="88900" cy="1587"/>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grpSp>
        <p:nvGrpSpPr>
          <p:cNvPr id="367" name="组合 366"/>
          <p:cNvGrpSpPr/>
          <p:nvPr/>
        </p:nvGrpSpPr>
        <p:grpSpPr bwMode="auto">
          <a:xfrm>
            <a:off x="8661293" y="4514535"/>
            <a:ext cx="39687" cy="84138"/>
            <a:chOff x="3326" y="2581"/>
            <a:chExt cx="20" cy="48"/>
          </a:xfrm>
        </p:grpSpPr>
        <p:sp>
          <p:nvSpPr>
            <p:cNvPr id="368" name="任意多边形 745654"/>
            <p:cNvSpPr>
              <a:spLocks noChangeArrowheads="1"/>
            </p:cNvSpPr>
            <p:nvPr/>
          </p:nvSpPr>
          <p:spPr bwMode="auto">
            <a:xfrm>
              <a:off x="3326" y="2600"/>
              <a:ext cx="20" cy="4"/>
            </a:xfrm>
            <a:custGeom>
              <a:avLst/>
              <a:gdLst>
                <a:gd name="T0" fmla="*/ 20 w 20"/>
                <a:gd name="T1" fmla="*/ 0 h 4"/>
                <a:gd name="T2" fmla="*/ 0 w 20"/>
                <a:gd name="T3" fmla="*/ 4 h 4"/>
                <a:gd name="T4" fmla="*/ 0 60000 65536"/>
                <a:gd name="T5" fmla="*/ 0 60000 65536"/>
              </a:gdLst>
              <a:ahLst/>
              <a:cxnLst>
                <a:cxn ang="T4">
                  <a:pos x="T0" y="T1"/>
                </a:cxn>
                <a:cxn ang="T5">
                  <a:pos x="T2" y="T3"/>
                </a:cxn>
              </a:cxnLst>
              <a:rect l="0" t="0" r="r" b="b"/>
              <a:pathLst>
                <a:path w="20" h="4">
                  <a:moveTo>
                    <a:pt x="20" y="0"/>
                  </a:moveTo>
                  <a:lnTo>
                    <a:pt x="0" y="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b="1">
                <a:latin typeface="微软雅黑" panose="020B0503020204020204" pitchFamily="34" charset="-122"/>
                <a:ea typeface="微软雅黑" panose="020B0503020204020204" pitchFamily="34" charset="-122"/>
              </a:endParaRPr>
            </a:p>
          </p:txBody>
        </p:sp>
        <p:sp>
          <p:nvSpPr>
            <p:cNvPr id="369" name="直接连接符 745655"/>
            <p:cNvSpPr>
              <a:spLocks noChangeShapeType="1"/>
            </p:cNvSpPr>
            <p:nvPr/>
          </p:nvSpPr>
          <p:spPr bwMode="auto">
            <a:xfrm rot="4805995">
              <a:off x="3303" y="2605"/>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b="1">
                <a:latin typeface="微软雅黑" panose="020B0503020204020204" pitchFamily="34" charset="-122"/>
                <a:ea typeface="微软雅黑" panose="020B0503020204020204" pitchFamily="34" charset="-122"/>
              </a:endParaRPr>
            </a:p>
          </p:txBody>
        </p:sp>
      </p:grpSp>
      <p:sp>
        <p:nvSpPr>
          <p:cNvPr id="370" name="任意多边形 369"/>
          <p:cNvSpPr>
            <a:spLocks noChangeArrowheads="1"/>
          </p:cNvSpPr>
          <p:nvPr/>
        </p:nvSpPr>
        <p:spPr bwMode="auto">
          <a:xfrm>
            <a:off x="10248793" y="3857310"/>
            <a:ext cx="1185862" cy="1982788"/>
          </a:xfrm>
          <a:custGeom>
            <a:avLst/>
            <a:gdLst>
              <a:gd name="T0" fmla="*/ 0 w 690"/>
              <a:gd name="T1" fmla="*/ 0 h 1249"/>
              <a:gd name="T2" fmla="*/ 2147483646 w 690"/>
              <a:gd name="T3" fmla="*/ 2147483646 h 1249"/>
              <a:gd name="T4" fmla="*/ 2147483646 w 690"/>
              <a:gd name="T5" fmla="*/ 2147483646 h 1249"/>
              <a:gd name="T6" fmla="*/ 2147483646 w 690"/>
              <a:gd name="T7" fmla="*/ 2147483646 h 1249"/>
              <a:gd name="T8" fmla="*/ 2147483646 w 690"/>
              <a:gd name="T9" fmla="*/ 2147483646 h 1249"/>
              <a:gd name="T10" fmla="*/ 2147483646 w 690"/>
              <a:gd name="T11" fmla="*/ 2147483646 h 1249"/>
              <a:gd name="T12" fmla="*/ 2147483646 w 690"/>
              <a:gd name="T13" fmla="*/ 2147483646 h 1249"/>
              <a:gd name="T14" fmla="*/ 2147483646 w 690"/>
              <a:gd name="T15" fmla="*/ 2147483646 h 1249"/>
              <a:gd name="T16" fmla="*/ 2147483646 w 690"/>
              <a:gd name="T17" fmla="*/ 2147483646 h 1249"/>
              <a:gd name="T18" fmla="*/ 2147483646 w 690"/>
              <a:gd name="T19" fmla="*/ 2147483646 h 1249"/>
              <a:gd name="T20" fmla="*/ 2147483646 w 690"/>
              <a:gd name="T21" fmla="*/ 2147483646 h 1249"/>
              <a:gd name="T22" fmla="*/ 2147483646 w 690"/>
              <a:gd name="T23" fmla="*/ 2147483646 h 1249"/>
              <a:gd name="T24" fmla="*/ 2147483646 w 690"/>
              <a:gd name="T25" fmla="*/ 2147483646 h 12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90" h="1249">
                <a:moveTo>
                  <a:pt x="0" y="0"/>
                </a:moveTo>
                <a:cubicBezTo>
                  <a:pt x="17" y="9"/>
                  <a:pt x="72" y="34"/>
                  <a:pt x="105" y="54"/>
                </a:cubicBezTo>
                <a:cubicBezTo>
                  <a:pt x="138" y="74"/>
                  <a:pt x="170" y="96"/>
                  <a:pt x="201" y="120"/>
                </a:cubicBezTo>
                <a:cubicBezTo>
                  <a:pt x="232" y="144"/>
                  <a:pt x="264" y="172"/>
                  <a:pt x="293" y="199"/>
                </a:cubicBezTo>
                <a:cubicBezTo>
                  <a:pt x="322" y="226"/>
                  <a:pt x="348" y="254"/>
                  <a:pt x="377" y="279"/>
                </a:cubicBezTo>
                <a:cubicBezTo>
                  <a:pt x="406" y="304"/>
                  <a:pt x="437" y="323"/>
                  <a:pt x="468" y="352"/>
                </a:cubicBezTo>
                <a:cubicBezTo>
                  <a:pt x="499" y="381"/>
                  <a:pt x="534" y="419"/>
                  <a:pt x="561" y="454"/>
                </a:cubicBezTo>
                <a:cubicBezTo>
                  <a:pt x="588" y="489"/>
                  <a:pt x="613" y="520"/>
                  <a:pt x="633" y="561"/>
                </a:cubicBezTo>
                <a:cubicBezTo>
                  <a:pt x="653" y="602"/>
                  <a:pt x="671" y="650"/>
                  <a:pt x="680" y="700"/>
                </a:cubicBezTo>
                <a:cubicBezTo>
                  <a:pt x="689" y="750"/>
                  <a:pt x="690" y="811"/>
                  <a:pt x="687" y="861"/>
                </a:cubicBezTo>
                <a:cubicBezTo>
                  <a:pt x="684" y="911"/>
                  <a:pt x="676" y="958"/>
                  <a:pt x="662" y="1003"/>
                </a:cubicBezTo>
                <a:cubicBezTo>
                  <a:pt x="648" y="1048"/>
                  <a:pt x="629" y="1091"/>
                  <a:pt x="605" y="1132"/>
                </a:cubicBezTo>
                <a:cubicBezTo>
                  <a:pt x="581" y="1173"/>
                  <a:pt x="532" y="1230"/>
                  <a:pt x="518" y="1249"/>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71" name="任意多边形 370"/>
          <p:cNvSpPr>
            <a:spLocks noChangeArrowheads="1"/>
          </p:cNvSpPr>
          <p:nvPr/>
        </p:nvSpPr>
        <p:spPr bwMode="auto">
          <a:xfrm>
            <a:off x="9783469" y="4801062"/>
            <a:ext cx="450850" cy="1588"/>
          </a:xfrm>
          <a:custGeom>
            <a:avLst/>
            <a:gdLst>
              <a:gd name="T0" fmla="*/ 0 w 263"/>
              <a:gd name="T1" fmla="*/ 0 h 1"/>
              <a:gd name="T2" fmla="*/ 2147483646 w 263"/>
              <a:gd name="T3" fmla="*/ 0 h 1"/>
              <a:gd name="T4" fmla="*/ 0 60000 65536"/>
              <a:gd name="T5" fmla="*/ 0 60000 65536"/>
            </a:gdLst>
            <a:ahLst/>
            <a:cxnLst>
              <a:cxn ang="T4">
                <a:pos x="T0" y="T1"/>
              </a:cxn>
              <a:cxn ang="T5">
                <a:pos x="T2" y="T3"/>
              </a:cxn>
            </a:cxnLst>
            <a:rect l="0" t="0" r="r" b="b"/>
            <a:pathLst>
              <a:path w="263" h="1">
                <a:moveTo>
                  <a:pt x="0" y="0"/>
                </a:moveTo>
                <a:lnTo>
                  <a:pt x="263" y="0"/>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72" name="任意多边形 371"/>
          <p:cNvSpPr>
            <a:spLocks noChangeArrowheads="1"/>
          </p:cNvSpPr>
          <p:nvPr/>
        </p:nvSpPr>
        <p:spPr bwMode="auto">
          <a:xfrm>
            <a:off x="8488255" y="4387535"/>
            <a:ext cx="854075" cy="1985963"/>
          </a:xfrm>
          <a:custGeom>
            <a:avLst/>
            <a:gdLst>
              <a:gd name="T0" fmla="*/ 2147483646 w 497"/>
              <a:gd name="T1" fmla="*/ 2147483646 h 1251"/>
              <a:gd name="T2" fmla="*/ 2147483646 w 497"/>
              <a:gd name="T3" fmla="*/ 2147483646 h 1251"/>
              <a:gd name="T4" fmla="*/ 2147483646 w 497"/>
              <a:gd name="T5" fmla="*/ 2147483646 h 1251"/>
              <a:gd name="T6" fmla="*/ 2147483646 w 497"/>
              <a:gd name="T7" fmla="*/ 2147483646 h 1251"/>
              <a:gd name="T8" fmla="*/ 2147483646 w 497"/>
              <a:gd name="T9" fmla="*/ 2147483646 h 1251"/>
              <a:gd name="T10" fmla="*/ 0 w 497"/>
              <a:gd name="T11" fmla="*/ 2147483646 h 1251"/>
              <a:gd name="T12" fmla="*/ 2147483646 w 497"/>
              <a:gd name="T13" fmla="*/ 2147483646 h 1251"/>
              <a:gd name="T14" fmla="*/ 2147483646 w 497"/>
              <a:gd name="T15" fmla="*/ 2147483646 h 1251"/>
              <a:gd name="T16" fmla="*/ 2147483646 w 497"/>
              <a:gd name="T17" fmla="*/ 2147483646 h 1251"/>
              <a:gd name="T18" fmla="*/ 2147483646 w 497"/>
              <a:gd name="T19" fmla="*/ 0 h 12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7" h="1251">
                <a:moveTo>
                  <a:pt x="497" y="1251"/>
                </a:moveTo>
                <a:cubicBezTo>
                  <a:pt x="470" y="1239"/>
                  <a:pt x="385" y="1211"/>
                  <a:pt x="333" y="1179"/>
                </a:cubicBezTo>
                <a:cubicBezTo>
                  <a:pt x="281" y="1147"/>
                  <a:pt x="227" y="1105"/>
                  <a:pt x="185" y="1058"/>
                </a:cubicBezTo>
                <a:cubicBezTo>
                  <a:pt x="143" y="1011"/>
                  <a:pt x="111" y="954"/>
                  <a:pt x="83" y="897"/>
                </a:cubicBezTo>
                <a:cubicBezTo>
                  <a:pt x="55" y="840"/>
                  <a:pt x="31" y="775"/>
                  <a:pt x="17" y="713"/>
                </a:cubicBezTo>
                <a:cubicBezTo>
                  <a:pt x="3" y="651"/>
                  <a:pt x="0" y="580"/>
                  <a:pt x="0" y="525"/>
                </a:cubicBezTo>
                <a:cubicBezTo>
                  <a:pt x="0" y="470"/>
                  <a:pt x="10" y="427"/>
                  <a:pt x="18" y="380"/>
                </a:cubicBezTo>
                <a:cubicBezTo>
                  <a:pt x="26" y="333"/>
                  <a:pt x="36" y="286"/>
                  <a:pt x="50" y="240"/>
                </a:cubicBezTo>
                <a:cubicBezTo>
                  <a:pt x="64" y="194"/>
                  <a:pt x="84" y="145"/>
                  <a:pt x="102" y="105"/>
                </a:cubicBezTo>
                <a:cubicBezTo>
                  <a:pt x="120" y="65"/>
                  <a:pt x="150" y="17"/>
                  <a:pt x="159" y="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89" name="矩形 188"/>
          <p:cNvSpPr/>
          <p:nvPr/>
        </p:nvSpPr>
        <p:spPr>
          <a:xfrm>
            <a:off x="220426" y="3795129"/>
            <a:ext cx="5688278" cy="685800"/>
          </a:xfrm>
          <a:prstGeom prst="rect">
            <a:avLst/>
          </a:prstGeom>
        </p:spPr>
        <p:txBody>
          <a:bodyPr wrap="square">
            <a:spAutoFit/>
          </a:bodyPr>
          <a:lstStyle/>
          <a:p>
            <a:pPr algn="just">
              <a:lnSpc>
                <a:spcPct val="105000"/>
              </a:lnSpc>
              <a:spcBef>
                <a:spcPct val="5000"/>
              </a:spcBef>
            </a:pPr>
            <a:r>
              <a:rPr lang="en-US" altLang="zh-CN" b="1" dirty="0">
                <a:latin typeface="微软雅黑" panose="020B0503020204020204" pitchFamily="34" charset="-122"/>
                <a:ea typeface="微软雅黑" panose="020B0503020204020204" pitchFamily="34" charset="-122"/>
              </a:rPr>
              <a:t>2. Find the actual contact point at 190° rotation.</a:t>
            </a:r>
            <a:endParaRPr lang="en-US" altLang="zh-CN" b="1" dirty="0">
              <a:latin typeface="微软雅黑" panose="020B0503020204020204" pitchFamily="34" charset="-122"/>
              <a:ea typeface="微软雅黑" panose="020B0503020204020204" pitchFamily="34" charset="-122"/>
            </a:endParaRPr>
          </a:p>
          <a:p>
            <a:pPr algn="just">
              <a:lnSpc>
                <a:spcPct val="105000"/>
              </a:lnSpc>
              <a:spcBef>
                <a:spcPct val="5000"/>
              </a:spcBef>
            </a:pPr>
            <a:r>
              <a:rPr lang="en-US" altLang="zh-CN" b="1" dirty="0">
                <a:latin typeface="微软雅黑" panose="020B0503020204020204" pitchFamily="34" charset="-122"/>
                <a:ea typeface="微软雅黑" panose="020B0503020204020204" pitchFamily="34" charset="-122"/>
              </a:rPr>
              <a:t>      </a:t>
            </a:r>
            <a:endParaRPr lang="en-US" altLang="zh-CN" b="1" dirty="0">
              <a:latin typeface="微软雅黑" panose="020B0503020204020204" pitchFamily="34" charset="-122"/>
              <a:ea typeface="微软雅黑" panose="020B0503020204020204" pitchFamily="34" charset="-122"/>
            </a:endParaRPr>
          </a:p>
        </p:txBody>
      </p:sp>
      <p:grpSp>
        <p:nvGrpSpPr>
          <p:cNvPr id="373" name="组合 372"/>
          <p:cNvGrpSpPr/>
          <p:nvPr/>
        </p:nvGrpSpPr>
        <p:grpSpPr>
          <a:xfrm>
            <a:off x="8949541" y="4745534"/>
            <a:ext cx="846137" cy="2089150"/>
            <a:chOff x="8950218" y="4735198"/>
            <a:chExt cx="846137" cy="2089150"/>
          </a:xfrm>
        </p:grpSpPr>
        <p:sp>
          <p:nvSpPr>
            <p:cNvPr id="374" name="任意多边形 373"/>
            <p:cNvSpPr>
              <a:spLocks noChangeArrowheads="1"/>
            </p:cNvSpPr>
            <p:nvPr/>
          </p:nvSpPr>
          <p:spPr bwMode="auto">
            <a:xfrm>
              <a:off x="9343918" y="4736785"/>
              <a:ext cx="452437" cy="73025"/>
            </a:xfrm>
            <a:custGeom>
              <a:avLst/>
              <a:gdLst>
                <a:gd name="T0" fmla="*/ 2147483646 w 263"/>
                <a:gd name="T1" fmla="*/ 2147483646 h 46"/>
                <a:gd name="T2" fmla="*/ 0 w 263"/>
                <a:gd name="T3" fmla="*/ 0 h 46"/>
                <a:gd name="T4" fmla="*/ 0 60000 65536"/>
                <a:gd name="T5" fmla="*/ 0 60000 65536"/>
              </a:gdLst>
              <a:ahLst/>
              <a:cxnLst>
                <a:cxn ang="T4">
                  <a:pos x="T0" y="T1"/>
                </a:cxn>
                <a:cxn ang="T5">
                  <a:pos x="T2" y="T3"/>
                </a:cxn>
              </a:cxnLst>
              <a:rect l="0" t="0" r="r" b="b"/>
              <a:pathLst>
                <a:path w="263" h="46">
                  <a:moveTo>
                    <a:pt x="263" y="46"/>
                  </a:moveTo>
                  <a:lnTo>
                    <a:pt x="0" y="0"/>
                  </a:lnTo>
                </a:path>
              </a:pathLst>
            </a:custGeom>
            <a:noFill/>
            <a:ln w="38100">
              <a:solidFill>
                <a:srgbClr val="FF0000"/>
              </a:solidFill>
              <a:prstDash val="dash"/>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75" name="任意多边形 374"/>
            <p:cNvSpPr>
              <a:spLocks noChangeArrowheads="1"/>
            </p:cNvSpPr>
            <p:nvPr/>
          </p:nvSpPr>
          <p:spPr bwMode="auto">
            <a:xfrm rot="16200000">
              <a:off x="8102493" y="5582923"/>
              <a:ext cx="2089150" cy="393700"/>
            </a:xfrm>
            <a:custGeom>
              <a:avLst/>
              <a:gdLst>
                <a:gd name="T0" fmla="*/ 2147483646 w 263"/>
                <a:gd name="T1" fmla="*/ 2147483646 h 46"/>
                <a:gd name="T2" fmla="*/ 0 w 263"/>
                <a:gd name="T3" fmla="*/ 0 h 46"/>
                <a:gd name="T4" fmla="*/ 0 60000 65536"/>
                <a:gd name="T5" fmla="*/ 0 60000 65536"/>
              </a:gdLst>
              <a:ahLst/>
              <a:cxnLst>
                <a:cxn ang="T4">
                  <a:pos x="T0" y="T1"/>
                </a:cxn>
                <a:cxn ang="T5">
                  <a:pos x="T2" y="T3"/>
                </a:cxn>
              </a:cxnLst>
              <a:rect l="0" t="0" r="r" b="b"/>
              <a:pathLst>
                <a:path w="263" h="46">
                  <a:moveTo>
                    <a:pt x="263" y="46"/>
                  </a:moveTo>
                  <a:lnTo>
                    <a:pt x="0" y="0"/>
                  </a:lnTo>
                </a:path>
              </a:pathLst>
            </a:custGeom>
            <a:noFill/>
            <a:ln w="38100">
              <a:solidFill>
                <a:srgbClr val="FF0000"/>
              </a:solidFill>
              <a:prstDash val="dash"/>
              <a:round/>
            </a:ln>
            <a:extLst>
              <a:ext uri="{909E8E84-426E-40DD-AFC4-6F175D3DCCD1}">
                <a14:hiddenFill xmlns:a14="http://schemas.microsoft.com/office/drawing/2010/main">
                  <a:solidFill>
                    <a:srgbClr val="FFFFFF"/>
                  </a:solidFill>
                </a14:hiddenFill>
              </a:ext>
            </a:extLst>
          </p:spPr>
          <p:txBody>
            <a:bodyPr/>
            <a:lstStyle/>
            <a:p>
              <a:endParaRPr lang="en-AU"/>
            </a:p>
          </p:txBody>
        </p:sp>
      </p:grpSp>
      <p:sp>
        <p:nvSpPr>
          <p:cNvPr id="376" name="任意多边形 375"/>
          <p:cNvSpPr>
            <a:spLocks noChangeArrowheads="1"/>
          </p:cNvSpPr>
          <p:nvPr/>
        </p:nvSpPr>
        <p:spPr bwMode="auto">
          <a:xfrm flipH="1">
            <a:off x="8292816" y="2123750"/>
            <a:ext cx="969961"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8100">
            <a:solidFill>
              <a:srgbClr val="0070C0"/>
            </a:solidFill>
            <a:round/>
          </a:ln>
          <a:extLst>
            <a:ext uri="{909E8E84-426E-40DD-AFC4-6F175D3DCCD1}">
              <a14:hiddenFill xmlns:a14="http://schemas.microsoft.com/office/drawing/2010/main">
                <a:solidFill>
                  <a:srgbClr val="FFFFFF"/>
                </a:solidFill>
              </a14:hiddenFill>
            </a:ext>
          </a:extLst>
        </p:spPr>
        <p:txBody>
          <a:bodyPr wrap="square"/>
          <a:lstStyle/>
          <a:p>
            <a:endParaRPr lang="en-AU" b="1">
              <a:latin typeface="微软雅黑" panose="020B0503020204020204" pitchFamily="34" charset="-122"/>
              <a:ea typeface="微软雅黑" panose="020B0503020204020204" pitchFamily="34" charset="-122"/>
            </a:endParaRPr>
          </a:p>
        </p:txBody>
      </p:sp>
      <p:sp>
        <p:nvSpPr>
          <p:cNvPr id="377" name="任意多边形 376"/>
          <p:cNvSpPr>
            <a:spLocks noChangeArrowheads="1"/>
          </p:cNvSpPr>
          <p:nvPr/>
        </p:nvSpPr>
        <p:spPr bwMode="auto">
          <a:xfrm rot="600000" flipH="1">
            <a:off x="8144132" y="5594376"/>
            <a:ext cx="979769" cy="582567"/>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8100">
            <a:solidFill>
              <a:srgbClr val="0070C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378" name="椭圆 377"/>
          <p:cNvSpPr>
            <a:spLocks noChangeArrowheads="1"/>
          </p:cNvSpPr>
          <p:nvPr/>
        </p:nvSpPr>
        <p:spPr bwMode="auto">
          <a:xfrm>
            <a:off x="9005528" y="6218193"/>
            <a:ext cx="130175" cy="120650"/>
          </a:xfrm>
          <a:prstGeom prst="ellipse">
            <a:avLst/>
          </a:prstGeom>
          <a:solidFill>
            <a:srgbClr val="FFFF99"/>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379" name="矩形 378"/>
          <p:cNvSpPr/>
          <p:nvPr/>
        </p:nvSpPr>
        <p:spPr>
          <a:xfrm>
            <a:off x="210901" y="4515161"/>
            <a:ext cx="5421130" cy="671830"/>
          </a:xfrm>
          <a:prstGeom prst="rect">
            <a:avLst/>
          </a:prstGeom>
        </p:spPr>
        <p:txBody>
          <a:bodyPr wrap="square">
            <a:spAutoFit/>
          </a:bodyPr>
          <a:lstStyle/>
          <a:p>
            <a:pPr algn="just">
              <a:lnSpc>
                <a:spcPct val="105000"/>
              </a:lnSpc>
              <a:spcBef>
                <a:spcPct val="5000"/>
              </a:spcBef>
            </a:pPr>
            <a:r>
              <a:rPr lang="en-US" altLang="zh-CN" b="1" dirty="0">
                <a:latin typeface="微软雅黑" panose="020B0503020204020204" pitchFamily="34" charset="-122"/>
                <a:ea typeface="微软雅黑" panose="020B0503020204020204" pitchFamily="34" charset="-122"/>
              </a:rPr>
              <a:t>3. If 190° can be drawn, can any angle be drawn similarly?</a:t>
            </a:r>
            <a:endParaRPr lang="en-US" altLang="zh-CN" b="1" dirty="0">
              <a:latin typeface="微软雅黑" panose="020B0503020204020204" pitchFamily="34" charset="-122"/>
              <a:ea typeface="微软雅黑" panose="020B0503020204020204" pitchFamily="34" charset="-122"/>
            </a:endParaRPr>
          </a:p>
        </p:txBody>
      </p:sp>
      <p:sp>
        <p:nvSpPr>
          <p:cNvPr id="380" name="矩形 379"/>
          <p:cNvSpPr/>
          <p:nvPr/>
        </p:nvSpPr>
        <p:spPr>
          <a:xfrm>
            <a:off x="233619" y="5365930"/>
            <a:ext cx="1018549" cy="400110"/>
          </a:xfrm>
          <a:prstGeom prst="rect">
            <a:avLst/>
          </a:prstGeom>
        </p:spPr>
        <p:txBody>
          <a:bodyPr wrap="square">
            <a:spAutoFit/>
          </a:bodyPr>
          <a:lstStyle/>
          <a:p>
            <a:r>
              <a:rPr lang="en-US" altLang="zh-CN" sz="2000" b="1" dirty="0">
                <a:solidFill>
                  <a:srgbClr val="FF0000"/>
                </a:solidFill>
                <a:latin typeface="微软雅黑" panose="020B0503020204020204" pitchFamily="34" charset="-122"/>
                <a:ea typeface="微软雅黑" panose="020B0503020204020204" pitchFamily="34" charset="-122"/>
              </a:rPr>
              <a:t>Sure!</a:t>
            </a:r>
            <a:endParaRPr lang="en-AU" sz="2000" b="1" dirty="0">
              <a:solidFill>
                <a:srgbClr val="FF0000"/>
              </a:solidFill>
              <a:latin typeface="微软雅黑" panose="020B0503020204020204" pitchFamily="34" charset="-122"/>
              <a:ea typeface="微软雅黑" panose="020B0503020204020204" pitchFamily="34" charset="-122"/>
            </a:endParaRPr>
          </a:p>
        </p:txBody>
      </p:sp>
      <p:sp>
        <p:nvSpPr>
          <p:cNvPr id="382" name="文本框 623696"/>
          <p:cNvSpPr txBox="1">
            <a:spLocks noChangeArrowheads="1"/>
          </p:cNvSpPr>
          <p:nvPr/>
        </p:nvSpPr>
        <p:spPr bwMode="auto">
          <a:xfrm>
            <a:off x="10121453" y="5888579"/>
            <a:ext cx="30581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dirty="0">
                <a:solidFill>
                  <a:srgbClr val="CC3399"/>
                </a:solidFill>
                <a:latin typeface="Times New Roman" panose="02020603050405020304" pitchFamily="18" charset="0"/>
                <a:sym typeface="Symbol" panose="05050102010706020507" pitchFamily="18" charset="2"/>
              </a:rPr>
              <a:t></a:t>
            </a:r>
            <a:endParaRPr lang="zh-CN" altLang="en-US" sz="1400" dirty="0">
              <a:solidFill>
                <a:srgbClr val="CC3399"/>
              </a:solidFill>
              <a:latin typeface="Times New Roman" panose="02020603050405020304" pitchFamily="18" charset="0"/>
            </a:endParaRPr>
          </a:p>
        </p:txBody>
      </p:sp>
      <p:sp>
        <p:nvSpPr>
          <p:cNvPr id="383" name="任意多边形 623695"/>
          <p:cNvSpPr>
            <a:spLocks noChangeArrowheads="1"/>
          </p:cNvSpPr>
          <p:nvPr/>
        </p:nvSpPr>
        <p:spPr bwMode="auto">
          <a:xfrm rot="2105939">
            <a:off x="9404400" y="5504093"/>
            <a:ext cx="1197491" cy="808038"/>
          </a:xfrm>
          <a:custGeom>
            <a:avLst/>
            <a:gdLst>
              <a:gd name="T0" fmla="*/ 0 w 21600"/>
              <a:gd name="T1" fmla="*/ 0 h 15809"/>
              <a:gd name="T2" fmla="*/ 0 w 21600"/>
              <a:gd name="T3" fmla="*/ 0 h 15809"/>
              <a:gd name="T4" fmla="*/ 0 w 21600"/>
              <a:gd name="T5" fmla="*/ 0 h 15809"/>
              <a:gd name="T6" fmla="*/ 0 w 21600"/>
              <a:gd name="T7" fmla="*/ 0 h 15809"/>
              <a:gd name="T8" fmla="*/ 0 w 21600"/>
              <a:gd name="T9" fmla="*/ 0 h 15809"/>
              <a:gd name="T10" fmla="*/ 0 w 21600"/>
              <a:gd name="T11" fmla="*/ 0 h 15809"/>
              <a:gd name="T12" fmla="*/ 0 w 21600"/>
              <a:gd name="T13" fmla="*/ 0 h 158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15809" fill="none">
                <a:moveTo>
                  <a:pt x="21489" y="0"/>
                </a:moveTo>
                <a:cubicBezTo>
                  <a:pt x="21562" y="716"/>
                  <a:pt x="21599" y="1443"/>
                  <a:pt x="21599" y="2180"/>
                </a:cubicBezTo>
                <a:cubicBezTo>
                  <a:pt x="21599" y="7348"/>
                  <a:pt x="19784" y="12092"/>
                  <a:pt x="16757" y="15810"/>
                </a:cubicBezTo>
              </a:path>
              <a:path w="21600" h="15809" stroke="0">
                <a:moveTo>
                  <a:pt x="21489" y="0"/>
                </a:moveTo>
                <a:cubicBezTo>
                  <a:pt x="21562" y="716"/>
                  <a:pt x="21599" y="1443"/>
                  <a:pt x="21599" y="2180"/>
                </a:cubicBezTo>
                <a:cubicBezTo>
                  <a:pt x="21599" y="7348"/>
                  <a:pt x="19784" y="12092"/>
                  <a:pt x="16757" y="15810"/>
                </a:cubicBezTo>
                <a:lnTo>
                  <a:pt x="0" y="2180"/>
                </a:lnTo>
                <a:lnTo>
                  <a:pt x="21489" y="0"/>
                </a:lnTo>
                <a:close/>
              </a:path>
            </a:pathLst>
          </a:custGeom>
          <a:noFill/>
          <a:ln w="12700">
            <a:solidFill>
              <a:srgbClr val="CC3399"/>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384" name="任意多边形 737453"/>
          <p:cNvSpPr>
            <a:spLocks noChangeArrowheads="1"/>
          </p:cNvSpPr>
          <p:nvPr/>
        </p:nvSpPr>
        <p:spPr bwMode="auto">
          <a:xfrm>
            <a:off x="10247479" y="3308511"/>
            <a:ext cx="1818453" cy="15103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175">
            <a:solidFill>
              <a:srgbClr val="FF33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385" name="文本框 737454"/>
          <p:cNvSpPr txBox="1">
            <a:spLocks noChangeArrowheads="1"/>
          </p:cNvSpPr>
          <p:nvPr/>
        </p:nvSpPr>
        <p:spPr bwMode="auto">
          <a:xfrm>
            <a:off x="11378786" y="3291145"/>
            <a:ext cx="418865" cy="36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800" b="1" dirty="0">
                <a:solidFill>
                  <a:srgbClr val="FF3300"/>
                </a:solidFill>
                <a:latin typeface="Times New Roman" panose="02020603050405020304" pitchFamily="18" charset="0"/>
              </a:rPr>
              <a:t>-</a:t>
            </a:r>
            <a:r>
              <a:rPr lang="zh-CN" altLang="zh-CN" sz="1800" b="1" dirty="0">
                <a:solidFill>
                  <a:srgbClr val="FF3300"/>
                </a:solidFill>
                <a:latin typeface="Times New Roman" panose="02020603050405020304" pitchFamily="18" charset="0"/>
                <a:sym typeface="Symbol" panose="05050102010706020507" pitchFamily="18" charset="2"/>
              </a:rPr>
              <a:t></a:t>
            </a:r>
            <a:endParaRPr lang="zh-CN" altLang="zh-CN" sz="1800" b="1" dirty="0">
              <a:solidFill>
                <a:srgbClr val="FF3300"/>
              </a:solidFill>
              <a:latin typeface="Times New Roman" panose="02020603050405020304" pitchFamily="18" charset="0"/>
            </a:endParaRPr>
          </a:p>
        </p:txBody>
      </p:sp>
      <p:sp>
        <p:nvSpPr>
          <p:cNvPr id="386" name="椭圆 385"/>
          <p:cNvSpPr>
            <a:spLocks noChangeArrowheads="1"/>
          </p:cNvSpPr>
          <p:nvPr/>
        </p:nvSpPr>
        <p:spPr bwMode="auto">
          <a:xfrm>
            <a:off x="9112905" y="5595664"/>
            <a:ext cx="130175" cy="120650"/>
          </a:xfrm>
          <a:prstGeom prst="ellipse">
            <a:avLst/>
          </a:prstGeom>
          <a:solidFill>
            <a:schemeClr val="accent6"/>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b="1">
              <a:latin typeface="微软雅黑" panose="020B0503020204020204" pitchFamily="34" charset="-122"/>
              <a:ea typeface="微软雅黑" panose="020B0503020204020204" pitchFamily="34" charset="-122"/>
            </a:endParaRPr>
          </a:p>
        </p:txBody>
      </p:sp>
      <p:sp>
        <p:nvSpPr>
          <p:cNvPr id="393" name="灯片编号占位符 7"/>
          <p:cNvSpPr txBox="1"/>
          <p:nvPr/>
        </p:nvSpPr>
        <p:spPr>
          <a:xfrm>
            <a:off x="10768584" y="6446393"/>
            <a:ext cx="1423416"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22</a:t>
            </a:r>
            <a:endParaRPr lang="zh-CN" altLang="en-US" dirty="0"/>
          </a:p>
        </p:txBody>
      </p:sp>
      <p:sp>
        <p:nvSpPr>
          <p:cNvPr id="8" name="矩形 7"/>
          <p:cNvSpPr/>
          <p:nvPr/>
        </p:nvSpPr>
        <p:spPr>
          <a:xfrm>
            <a:off x="9319260" y="3613785"/>
            <a:ext cx="1108075" cy="33718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Offset 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95" name="矩形 394"/>
          <p:cNvSpPr/>
          <p:nvPr/>
        </p:nvSpPr>
        <p:spPr>
          <a:xfrm>
            <a:off x="8462688" y="3314018"/>
            <a:ext cx="881973" cy="58356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Offset Circle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cxnSp>
        <p:nvCxnSpPr>
          <p:cNvPr id="396" name="直接箭头连接符 395"/>
          <p:cNvCxnSpPr/>
          <p:nvPr/>
        </p:nvCxnSpPr>
        <p:spPr bwMode="auto">
          <a:xfrm>
            <a:off x="9115318" y="3692367"/>
            <a:ext cx="826110" cy="709066"/>
          </a:xfrm>
          <a:prstGeom prst="straightConnector1">
            <a:avLst/>
          </a:prstGeom>
          <a:solidFill>
            <a:schemeClr val="accent1"/>
          </a:solidFill>
          <a:ln w="952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7" name="直接连接符 396"/>
          <p:cNvCxnSpPr/>
          <p:nvPr/>
        </p:nvCxnSpPr>
        <p:spPr bwMode="auto">
          <a:xfrm>
            <a:off x="9793011" y="4009481"/>
            <a:ext cx="475082" cy="0"/>
          </a:xfrm>
          <a:prstGeom prst="line">
            <a:avLst/>
          </a:prstGeom>
          <a:solidFill>
            <a:schemeClr val="accent1"/>
          </a:solidFill>
          <a:ln w="25400" cap="flat" cmpd="sng" algn="ctr">
            <a:solidFill>
              <a:srgbClr val="FF0000"/>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1" name="矩形 380"/>
          <p:cNvSpPr/>
          <p:nvPr/>
        </p:nvSpPr>
        <p:spPr>
          <a:xfrm>
            <a:off x="205692" y="2675093"/>
            <a:ext cx="5688278" cy="671830"/>
          </a:xfrm>
          <a:prstGeom prst="rect">
            <a:avLst/>
          </a:prstGeom>
        </p:spPr>
        <p:txBody>
          <a:bodyPr wrap="square">
            <a:spAutoFit/>
          </a:bodyPr>
          <a:lstStyle/>
          <a:p>
            <a:pPr algn="just">
              <a:lnSpc>
                <a:spcPct val="105000"/>
              </a:lnSpc>
              <a:spcBef>
                <a:spcPct val="5000"/>
              </a:spcBef>
            </a:pPr>
            <a:r>
              <a:rPr lang="en-US" altLang="zh-CN" b="1" dirty="0">
                <a:latin typeface="微软雅黑" panose="020B0503020204020204" pitchFamily="34" charset="-122"/>
                <a:ea typeface="微软雅黑" panose="020B0503020204020204" pitchFamily="34" charset="-122"/>
              </a:rPr>
              <a:t>1. What is the relationship between guide direction and offset circle?</a:t>
            </a:r>
            <a:endParaRPr lang="en-US" altLang="zh-CN" b="1" dirty="0">
              <a:latin typeface="微软雅黑" panose="020B0503020204020204" pitchFamily="34" charset="-122"/>
              <a:ea typeface="微软雅黑" panose="020B0503020204020204" pitchFamily="34" charset="-122"/>
            </a:endParaRPr>
          </a:p>
        </p:txBody>
      </p:sp>
      <p:sp>
        <p:nvSpPr>
          <p:cNvPr id="394" name="矩形 393"/>
          <p:cNvSpPr/>
          <p:nvPr/>
        </p:nvSpPr>
        <p:spPr>
          <a:xfrm>
            <a:off x="215900" y="3244850"/>
            <a:ext cx="3113405" cy="368300"/>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Always tangent</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400" name="标题 741383"/>
          <p:cNvSpPr>
            <a:spLocks noGrp="1" noRot="1" noChangeArrowheads="1"/>
          </p:cNvSpPr>
          <p:nvPr>
            <p:ph type="title"/>
          </p:nvPr>
        </p:nvSpPr>
        <p:spPr>
          <a:xfrm>
            <a:off x="182880" y="821690"/>
            <a:ext cx="6626225" cy="676275"/>
          </a:xfrm>
        </p:spPr>
        <p:txBody>
          <a:bodyPr wrap="square"/>
          <a:lstStyle/>
          <a:p>
            <a:pPr algn="l" eaLnBrk="1" hangingPunct="1"/>
            <a:r>
              <a:rPr lang="zh-CN" altLang="en-US" sz="2200" b="1" kern="1200" dirty="0">
                <a:solidFill>
                  <a:srgbClr val="201E84"/>
                </a:solidFill>
                <a:latin typeface="微软雅黑" panose="020B0503020204020204" pitchFamily="34" charset="-122"/>
                <a:ea typeface="微软雅黑" panose="020B0503020204020204" pitchFamily="34" charset="-122"/>
                <a:cs typeface="+mn-cs"/>
              </a:rPr>
              <a:t>Offset Knife-edge Follower Disk Cam</a:t>
            </a:r>
            <a:endParaRPr lang="zh-CN" altLang="en-US" sz="2200" b="1" kern="1200" dirty="0">
              <a:solidFill>
                <a:srgbClr val="201E84"/>
              </a:solidFill>
              <a:latin typeface="微软雅黑" panose="020B0503020204020204" pitchFamily="34" charset="-122"/>
              <a:ea typeface="微软雅黑" panose="020B0503020204020204" pitchFamily="34" charset="-122"/>
              <a:cs typeface="+mn-cs"/>
            </a:endParaRPr>
          </a:p>
        </p:txBody>
      </p:sp>
      <p:sp>
        <p:nvSpPr>
          <p:cNvPr id="401" name="文本框 400"/>
          <p:cNvSpPr txBox="1"/>
          <p:nvPr/>
        </p:nvSpPr>
        <p:spPr>
          <a:xfrm>
            <a:off x="7378065" y="972185"/>
            <a:ext cx="4232910" cy="922020"/>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Inversion method: Fix cam, move everything else</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sym typeface="+mn-ea"/>
              </a:rPr>
              <a:t>(Relative motion unchanged)</a:t>
            </a:r>
            <a:endParaRPr lang="zh-CN" altLang="en-US" b="1" dirty="0">
              <a:latin typeface="微软雅黑" panose="020B0503020204020204" pitchFamily="34" charset="-122"/>
              <a:ea typeface="微软雅黑" panose="020B0503020204020204" pitchFamily="34" charset="-122"/>
              <a:sym typeface="+mn-ea"/>
            </a:endParaRPr>
          </a:p>
        </p:txBody>
      </p: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Tree>
  </p:cSld>
  <p:clrMapOvr>
    <a:masterClrMapping/>
  </p:clrMapOvr>
  <p:transition>
    <p:sndAc>
      <p:stSnd>
        <p:snd r:embed="rId9"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3" presetClass="entr" presetSubtype="288" fill="hold" nodeType="clickEffect">
                                  <p:stCondLst>
                                    <p:cond delay="0"/>
                                  </p:stCondLst>
                                  <p:childTnLst>
                                    <p:set>
                                      <p:cBhvr>
                                        <p:cTn id="26" dur="1" fill="hold">
                                          <p:stCondLst>
                                            <p:cond delay="0"/>
                                          </p:stCondLst>
                                        </p:cTn>
                                        <p:tgtEl>
                                          <p:spTgt spid="378"/>
                                        </p:tgtEl>
                                        <p:attrNameLst>
                                          <p:attrName>style.visibility</p:attrName>
                                        </p:attrNameLst>
                                      </p:cBhvr>
                                      <p:to>
                                        <p:strVal val="visible"/>
                                      </p:to>
                                    </p:set>
                                    <p:anim calcmode="lin" valueType="num">
                                      <p:cBhvr>
                                        <p:cTn id="27" dur="500" fill="hold"/>
                                        <p:tgtEl>
                                          <p:spTgt spid="378"/>
                                        </p:tgtEl>
                                        <p:attrNameLst>
                                          <p:attrName>ppt_w</p:attrName>
                                        </p:attrNameLst>
                                      </p:cBhvr>
                                      <p:tavLst>
                                        <p:tav tm="0">
                                          <p:val>
                                            <p:strVal val="4/3*#ppt_w"/>
                                          </p:val>
                                        </p:tav>
                                        <p:tav tm="100000">
                                          <p:val>
                                            <p:strVal val="#ppt_w"/>
                                          </p:val>
                                        </p:tav>
                                      </p:tavLst>
                                    </p:anim>
                                    <p:anim calcmode="lin" valueType="num">
                                      <p:cBhvr>
                                        <p:cTn id="28" dur="500" fill="hold"/>
                                        <p:tgtEl>
                                          <p:spTgt spid="378"/>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25"/>
                                            </p:cond>
                                          </p:stCondLst>
                                          <p:endCondLst>
                                            <p:cond evt="onStopAudio" delay="0">
                                              <p:tgtEl>
                                                <p:sldTgt/>
                                              </p:tgtEl>
                                            </p:cond>
                                          </p:endCondLst>
                                        </p:cTn>
                                        <p:tgtEl>
                                          <p:sndTgt r:embed="rId10" name="TYPE.WAV"/>
                                        </p:tgtEl>
                                      </p:cMediaNode>
                                    </p:audio>
                                  </p:subTnLst>
                                </p:cTn>
                              </p:par>
                              <p:par>
                                <p:cTn id="29" presetID="1" presetClass="exit" presetSubtype="0" fill="hold" nodeType="withEffect">
                                  <p:stCondLst>
                                    <p:cond delay="0"/>
                                  </p:stCondLst>
                                  <p:childTnLst>
                                    <p:set>
                                      <p:cBhvr>
                                        <p:cTn id="30" dur="1" fill="hold">
                                          <p:stCondLst>
                                            <p:cond delay="0"/>
                                          </p:stCondLst>
                                        </p:cTn>
                                        <p:tgtEl>
                                          <p:spTgt spid="387"/>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39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 grpId="0" animBg="1"/>
      <p:bldP spid="377" grpId="0" animBg="1"/>
      <p:bldP spid="379" grpId="0"/>
      <p:bldP spid="380" grpId="0"/>
      <p:bldP spid="386" grpId="0" animBg="1"/>
      <p:bldP spid="394"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43426" name="组合 743425"/>
          <p:cNvGrpSpPr/>
          <p:nvPr/>
        </p:nvGrpSpPr>
        <p:grpSpPr bwMode="auto">
          <a:xfrm>
            <a:off x="7536523" y="901232"/>
            <a:ext cx="4625975" cy="1570037"/>
            <a:chOff x="3136" y="1003"/>
            <a:chExt cx="2914" cy="989"/>
          </a:xfrm>
        </p:grpSpPr>
        <p:sp>
          <p:nvSpPr>
            <p:cNvPr id="60581" name="任意多边形 743426"/>
            <p:cNvSpPr>
              <a:spLocks noChangeArrowheads="1"/>
            </p:cNvSpPr>
            <p:nvPr/>
          </p:nvSpPr>
          <p:spPr bwMode="auto">
            <a:xfrm>
              <a:off x="4573" y="1276"/>
              <a:ext cx="642" cy="518"/>
            </a:xfrm>
            <a:custGeom>
              <a:avLst/>
              <a:gdLst>
                <a:gd name="T0" fmla="*/ 0 w 963"/>
                <a:gd name="T1" fmla="*/ 0 h 654"/>
                <a:gd name="T2" fmla="*/ 57 w 963"/>
                <a:gd name="T3" fmla="*/ 128 h 654"/>
                <a:gd name="T4" fmla="*/ 0 60000 65536"/>
                <a:gd name="T5" fmla="*/ 0 60000 65536"/>
              </a:gdLst>
              <a:ahLst/>
              <a:cxnLst>
                <a:cxn ang="T4">
                  <a:pos x="T0" y="T1"/>
                </a:cxn>
                <a:cxn ang="T5">
                  <a:pos x="T2" y="T3"/>
                </a:cxn>
              </a:cxnLst>
              <a:rect l="0" t="0" r="r" b="b"/>
              <a:pathLst>
                <a:path w="963" h="654">
                  <a:moveTo>
                    <a:pt x="0" y="0"/>
                  </a:moveTo>
                  <a:lnTo>
                    <a:pt x="963" y="65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60582" name="组合 743427"/>
            <p:cNvGrpSpPr/>
            <p:nvPr/>
          </p:nvGrpSpPr>
          <p:grpSpPr bwMode="auto">
            <a:xfrm>
              <a:off x="3136" y="1003"/>
              <a:ext cx="2914" cy="989"/>
              <a:chOff x="3136" y="1003"/>
              <a:chExt cx="2914" cy="989"/>
            </a:xfrm>
          </p:grpSpPr>
          <p:sp>
            <p:nvSpPr>
              <p:cNvPr id="60583" name="直接连接符 743428"/>
              <p:cNvSpPr>
                <a:spLocks noChangeShapeType="1"/>
              </p:cNvSpPr>
              <p:nvPr/>
            </p:nvSpPr>
            <p:spPr bwMode="auto">
              <a:xfrm flipV="1">
                <a:off x="3369" y="1082"/>
                <a:ext cx="0" cy="835"/>
              </a:xfrm>
              <a:prstGeom prst="line">
                <a:avLst/>
              </a:prstGeom>
              <a:noFill/>
              <a:ln w="3175">
                <a:solidFill>
                  <a:srgbClr val="00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60584" name="任意多边形 743429"/>
              <p:cNvSpPr>
                <a:spLocks noChangeArrowheads="1"/>
              </p:cNvSpPr>
              <p:nvPr/>
            </p:nvSpPr>
            <p:spPr bwMode="auto">
              <a:xfrm>
                <a:off x="3260" y="1794"/>
                <a:ext cx="2698" cy="0"/>
              </a:xfrm>
              <a:custGeom>
                <a:avLst/>
                <a:gdLst>
                  <a:gd name="T0" fmla="*/ 0 w 3225"/>
                  <a:gd name="T1" fmla="*/ 0 h 1"/>
                  <a:gd name="T2" fmla="*/ 924 w 3225"/>
                  <a:gd name="T3" fmla="*/ 1 h 1"/>
                  <a:gd name="T4" fmla="*/ 0 60000 65536"/>
                  <a:gd name="T5" fmla="*/ 0 60000 65536"/>
                </a:gdLst>
                <a:ahLst/>
                <a:cxnLst>
                  <a:cxn ang="T4">
                    <a:pos x="T0" y="T1"/>
                  </a:cxn>
                  <a:cxn ang="T5">
                    <a:pos x="T2" y="T3"/>
                  </a:cxn>
                </a:cxnLst>
                <a:rect l="0" t="0" r="r" b="b"/>
                <a:pathLst>
                  <a:path w="3225" h="1">
                    <a:moveTo>
                      <a:pt x="0" y="0"/>
                    </a:moveTo>
                    <a:lnTo>
                      <a:pt x="3225" y="1"/>
                    </a:lnTo>
                  </a:path>
                </a:pathLst>
              </a:custGeom>
              <a:noFill/>
              <a:ln w="3175">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85" name="文本框 743430"/>
              <p:cNvSpPr txBox="1">
                <a:spLocks noChangeArrowheads="1"/>
              </p:cNvSpPr>
              <p:nvPr/>
            </p:nvSpPr>
            <p:spPr bwMode="auto">
              <a:xfrm>
                <a:off x="3208" y="1003"/>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a:solidFill>
                      <a:srgbClr val="000000"/>
                    </a:solidFill>
                    <a:latin typeface="Times New Roman" panose="02020603050405020304" pitchFamily="18" charset="0"/>
                  </a:rPr>
                  <a:t>s</a:t>
                </a:r>
                <a:endParaRPr lang="en-US" altLang="zh-CN" sz="1800">
                  <a:solidFill>
                    <a:srgbClr val="000000"/>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60586" name="文本框 743431"/>
                  <p:cNvSpPr txBox="1">
                    <a:spLocks noChangeArrowheads="1"/>
                  </p:cNvSpPr>
                  <p:nvPr/>
                </p:nvSpPr>
                <p:spPr bwMode="auto">
                  <a:xfrm>
                    <a:off x="5795" y="1596"/>
                    <a:ext cx="255"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buNone/>
                    </a:pPr>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𝜑</m:t>
                          </m:r>
                        </m:oMath>
                      </m:oMathPara>
                    </a14:m>
                    <a:endParaRPr lang="en-AU" sz="1800" dirty="0"/>
                  </a:p>
                </p:txBody>
              </p:sp>
            </mc:Choice>
            <mc:Fallback>
              <p:sp>
                <p:nvSpPr>
                  <p:cNvPr id="60586" name="文本框 743431"/>
                  <p:cNvSpPr txBox="1">
                    <a:spLocks noRot="1" noChangeAspect="1" noMove="1" noResize="1" noEditPoints="1" noAdjustHandles="1" noChangeArrowheads="1" noChangeShapeType="1" noTextEdit="1"/>
                  </p:cNvSpPr>
                  <p:nvPr/>
                </p:nvSpPr>
                <p:spPr bwMode="auto">
                  <a:xfrm>
                    <a:off x="5795" y="1596"/>
                    <a:ext cx="255" cy="215"/>
                  </a:xfrm>
                  <a:prstGeom prst="rect">
                    <a:avLst/>
                  </a:prstGeom>
                  <a:blipFill rotWithShape="1">
                    <a:blip r:embed="rId1"/>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r>
                      <a:rPr lang="zh-CN" altLang="en-US">
                        <a:noFill/>
                      </a:rPr>
                      <a:t> </a:t>
                    </a:r>
                  </a:p>
                </p:txBody>
              </p:sp>
            </mc:Fallback>
          </mc:AlternateContent>
          <p:sp>
            <p:nvSpPr>
              <p:cNvPr id="60587" name="文本框 743432"/>
              <p:cNvSpPr txBox="1">
                <a:spLocks noChangeArrowheads="1"/>
              </p:cNvSpPr>
              <p:nvPr/>
            </p:nvSpPr>
            <p:spPr bwMode="auto">
              <a:xfrm>
                <a:off x="3224" y="17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a:latin typeface="Times New Roman" panose="02020603050405020304" pitchFamily="18" charset="0"/>
                  </a:rPr>
                  <a:t>0</a:t>
                </a:r>
                <a:endParaRPr lang="zh-CN" altLang="zh-CN" sz="1400">
                  <a:latin typeface="Times New Roman" panose="02020603050405020304" pitchFamily="18" charset="0"/>
                </a:endParaRPr>
              </a:p>
            </p:txBody>
          </p:sp>
          <p:sp>
            <p:nvSpPr>
              <p:cNvPr id="60588" name="任意多边形 743433"/>
              <p:cNvSpPr>
                <a:spLocks noChangeArrowheads="1"/>
              </p:cNvSpPr>
              <p:nvPr/>
            </p:nvSpPr>
            <p:spPr bwMode="auto">
              <a:xfrm>
                <a:off x="4171" y="1278"/>
                <a:ext cx="1" cy="639"/>
              </a:xfrm>
              <a:custGeom>
                <a:avLst/>
                <a:gdLst>
                  <a:gd name="T0" fmla="*/ 0 w 1"/>
                  <a:gd name="T1" fmla="*/ 0 h 1488"/>
                  <a:gd name="T2" fmla="*/ 0 w 1"/>
                  <a:gd name="T3" fmla="*/ 4 h 1488"/>
                  <a:gd name="T4" fmla="*/ 0 60000 65536"/>
                  <a:gd name="T5" fmla="*/ 0 60000 65536"/>
                </a:gdLst>
                <a:ahLst/>
                <a:cxnLst>
                  <a:cxn ang="T4">
                    <a:pos x="T0" y="T1"/>
                  </a:cxn>
                  <a:cxn ang="T5">
                    <a:pos x="T2" y="T3"/>
                  </a:cxn>
                </a:cxnLst>
                <a:rect l="0" t="0" r="r" b="b"/>
                <a:pathLst>
                  <a:path w="1" h="1488">
                    <a:moveTo>
                      <a:pt x="0" y="0"/>
                    </a:moveTo>
                    <a:lnTo>
                      <a:pt x="0" y="1488"/>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89" name="直接连接符 743434"/>
              <p:cNvSpPr>
                <a:spLocks noChangeShapeType="1"/>
              </p:cNvSpPr>
              <p:nvPr/>
            </p:nvSpPr>
            <p:spPr bwMode="auto">
              <a:xfrm>
                <a:off x="3369" y="1904"/>
                <a:ext cx="80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60590" name="任意多边形 743435"/>
              <p:cNvSpPr>
                <a:spLocks noChangeArrowheads="1"/>
              </p:cNvSpPr>
              <p:nvPr/>
            </p:nvSpPr>
            <p:spPr bwMode="auto">
              <a:xfrm>
                <a:off x="4573" y="1278"/>
                <a:ext cx="1" cy="661"/>
              </a:xfrm>
              <a:custGeom>
                <a:avLst/>
                <a:gdLst>
                  <a:gd name="T0" fmla="*/ 0 w 1"/>
                  <a:gd name="T1" fmla="*/ 0 h 835"/>
                  <a:gd name="T2" fmla="*/ 1 w 1"/>
                  <a:gd name="T3" fmla="*/ 163 h 835"/>
                  <a:gd name="T4" fmla="*/ 0 60000 65536"/>
                  <a:gd name="T5" fmla="*/ 0 60000 65536"/>
                </a:gdLst>
                <a:ahLst/>
                <a:cxnLst>
                  <a:cxn ang="T4">
                    <a:pos x="T0" y="T1"/>
                  </a:cxn>
                  <a:cxn ang="T5">
                    <a:pos x="T2" y="T3"/>
                  </a:cxn>
                </a:cxnLst>
                <a:rect l="0" t="0" r="r" b="b"/>
                <a:pathLst>
                  <a:path w="1" h="835">
                    <a:moveTo>
                      <a:pt x="0" y="0"/>
                    </a:moveTo>
                    <a:lnTo>
                      <a:pt x="1" y="835"/>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91" name="任意多边形 743436"/>
              <p:cNvSpPr>
                <a:spLocks noChangeArrowheads="1"/>
              </p:cNvSpPr>
              <p:nvPr/>
            </p:nvSpPr>
            <p:spPr bwMode="auto">
              <a:xfrm>
                <a:off x="4573" y="1904"/>
                <a:ext cx="638" cy="0"/>
              </a:xfrm>
              <a:custGeom>
                <a:avLst/>
                <a:gdLst>
                  <a:gd name="T0" fmla="*/ 219 w 762"/>
                  <a:gd name="T1" fmla="*/ 1 h 1"/>
                  <a:gd name="T2" fmla="*/ 0 w 762"/>
                  <a:gd name="T3" fmla="*/ 0 h 1"/>
                  <a:gd name="T4" fmla="*/ 0 60000 65536"/>
                  <a:gd name="T5" fmla="*/ 0 60000 65536"/>
                </a:gdLst>
                <a:ahLst/>
                <a:cxnLst>
                  <a:cxn ang="T4">
                    <a:pos x="T0" y="T1"/>
                  </a:cxn>
                  <a:cxn ang="T5">
                    <a:pos x="T2" y="T3"/>
                  </a:cxn>
                </a:cxnLst>
                <a:rect l="0" t="0" r="r" b="b"/>
                <a:pathLst>
                  <a:path w="762" h="1">
                    <a:moveTo>
                      <a:pt x="762" y="1"/>
                    </a:moveTo>
                    <a:lnTo>
                      <a:pt x="0"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92" name="任意多边形 743437"/>
              <p:cNvSpPr>
                <a:spLocks noChangeArrowheads="1"/>
              </p:cNvSpPr>
              <p:nvPr/>
            </p:nvSpPr>
            <p:spPr bwMode="auto">
              <a:xfrm>
                <a:off x="5213" y="1794"/>
                <a:ext cx="1" cy="129"/>
              </a:xfrm>
              <a:custGeom>
                <a:avLst/>
                <a:gdLst>
                  <a:gd name="T0" fmla="*/ 0 w 1"/>
                  <a:gd name="T1" fmla="*/ 0 h 163"/>
                  <a:gd name="T2" fmla="*/ 1 w 1"/>
                  <a:gd name="T3" fmla="*/ 32 h 163"/>
                  <a:gd name="T4" fmla="*/ 0 60000 65536"/>
                  <a:gd name="T5" fmla="*/ 0 60000 65536"/>
                </a:gdLst>
                <a:ahLst/>
                <a:cxnLst>
                  <a:cxn ang="T4">
                    <a:pos x="T0" y="T1"/>
                  </a:cxn>
                  <a:cxn ang="T5">
                    <a:pos x="T2" y="T3"/>
                  </a:cxn>
                </a:cxnLst>
                <a:rect l="0" t="0" r="r" b="b"/>
                <a:pathLst>
                  <a:path w="1" h="163">
                    <a:moveTo>
                      <a:pt x="0" y="0"/>
                    </a:moveTo>
                    <a:lnTo>
                      <a:pt x="1" y="163"/>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93" name="直接连接符 743438"/>
              <p:cNvSpPr>
                <a:spLocks noChangeShapeType="1"/>
              </p:cNvSpPr>
              <p:nvPr/>
            </p:nvSpPr>
            <p:spPr bwMode="auto">
              <a:xfrm>
                <a:off x="3275" y="1278"/>
                <a:ext cx="1057"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a:p>
            </p:txBody>
          </p:sp>
          <p:sp>
            <p:nvSpPr>
              <p:cNvPr id="60594" name="直接连接符 743439"/>
              <p:cNvSpPr>
                <a:spLocks noChangeShapeType="1"/>
              </p:cNvSpPr>
              <p:nvPr/>
            </p:nvSpPr>
            <p:spPr bwMode="auto">
              <a:xfrm>
                <a:off x="3315" y="1278"/>
                <a:ext cx="0" cy="516"/>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60595" name="文本框 743440"/>
              <p:cNvSpPr txBox="1">
                <a:spLocks noChangeArrowheads="1"/>
              </p:cNvSpPr>
              <p:nvPr/>
            </p:nvSpPr>
            <p:spPr bwMode="auto">
              <a:xfrm rot="-5400000">
                <a:off x="3146" y="141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Times New Roman" panose="02020603050405020304" pitchFamily="18" charset="0"/>
                  </a:rPr>
                  <a:t>h</a:t>
                </a:r>
                <a:endParaRPr lang="en-US" altLang="zh-CN" sz="1400">
                  <a:latin typeface="Times New Roman" panose="02020603050405020304" pitchFamily="18" charset="0"/>
                </a:endParaRPr>
              </a:p>
            </p:txBody>
          </p:sp>
          <p:sp>
            <p:nvSpPr>
              <p:cNvPr id="60596" name="任意多边形 743441"/>
              <p:cNvSpPr>
                <a:spLocks noChangeArrowheads="1"/>
              </p:cNvSpPr>
              <p:nvPr/>
            </p:nvSpPr>
            <p:spPr bwMode="auto">
              <a:xfrm>
                <a:off x="3369" y="1277"/>
                <a:ext cx="802" cy="517"/>
              </a:xfrm>
              <a:custGeom>
                <a:avLst/>
                <a:gdLst>
                  <a:gd name="T0" fmla="*/ 0 w 1442"/>
                  <a:gd name="T1" fmla="*/ 3 h 1203"/>
                  <a:gd name="T2" fmla="*/ 2 w 1442"/>
                  <a:gd name="T3" fmla="*/ 3 h 1203"/>
                  <a:gd name="T4" fmla="*/ 4 w 1442"/>
                  <a:gd name="T5" fmla="*/ 3 h 1203"/>
                  <a:gd name="T6" fmla="*/ 6 w 1442"/>
                  <a:gd name="T7" fmla="*/ 3 h 1203"/>
                  <a:gd name="T8" fmla="*/ 8 w 1442"/>
                  <a:gd name="T9" fmla="*/ 3 h 1203"/>
                  <a:gd name="T10" fmla="*/ 10 w 1442"/>
                  <a:gd name="T11" fmla="*/ 2 h 1203"/>
                  <a:gd name="T12" fmla="*/ 12 w 1442"/>
                  <a:gd name="T13" fmla="*/ 2 h 1203"/>
                  <a:gd name="T14" fmla="*/ 14 w 1442"/>
                  <a:gd name="T15" fmla="*/ 1 h 1203"/>
                  <a:gd name="T16" fmla="*/ 16 w 1442"/>
                  <a:gd name="T17" fmla="*/ 0 h 1203"/>
                  <a:gd name="T18" fmla="*/ 18 w 1442"/>
                  <a:gd name="T19" fmla="*/ 0 h 1203"/>
                  <a:gd name="T20" fmla="*/ 20 w 1442"/>
                  <a:gd name="T21" fmla="*/ 0 h 1203"/>
                  <a:gd name="T22" fmla="*/ 22 w 1442"/>
                  <a:gd name="T23" fmla="*/ 0 h 1203"/>
                  <a:gd name="T24" fmla="*/ 24 w 1442"/>
                  <a:gd name="T25" fmla="*/ 0 h 1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2" h="1203">
                    <a:moveTo>
                      <a:pt x="0" y="1202"/>
                    </a:moveTo>
                    <a:cubicBezTo>
                      <a:pt x="20" y="1201"/>
                      <a:pt x="82" y="1203"/>
                      <a:pt x="122" y="1198"/>
                    </a:cubicBezTo>
                    <a:cubicBezTo>
                      <a:pt x="162" y="1193"/>
                      <a:pt x="202" y="1188"/>
                      <a:pt x="242" y="1171"/>
                    </a:cubicBezTo>
                    <a:cubicBezTo>
                      <a:pt x="282" y="1154"/>
                      <a:pt x="322" y="1129"/>
                      <a:pt x="362" y="1097"/>
                    </a:cubicBezTo>
                    <a:cubicBezTo>
                      <a:pt x="402" y="1065"/>
                      <a:pt x="442" y="1027"/>
                      <a:pt x="482" y="977"/>
                    </a:cubicBezTo>
                    <a:cubicBezTo>
                      <a:pt x="522" y="927"/>
                      <a:pt x="562" y="860"/>
                      <a:pt x="602" y="797"/>
                    </a:cubicBezTo>
                    <a:cubicBezTo>
                      <a:pt x="642" y="734"/>
                      <a:pt x="685" y="664"/>
                      <a:pt x="725" y="599"/>
                    </a:cubicBezTo>
                    <a:cubicBezTo>
                      <a:pt x="765" y="534"/>
                      <a:pt x="803" y="465"/>
                      <a:pt x="842" y="404"/>
                    </a:cubicBezTo>
                    <a:cubicBezTo>
                      <a:pt x="881" y="343"/>
                      <a:pt x="922" y="278"/>
                      <a:pt x="962" y="230"/>
                    </a:cubicBezTo>
                    <a:cubicBezTo>
                      <a:pt x="1002" y="182"/>
                      <a:pt x="1042" y="146"/>
                      <a:pt x="1082" y="113"/>
                    </a:cubicBezTo>
                    <a:cubicBezTo>
                      <a:pt x="1122" y="80"/>
                      <a:pt x="1162" y="50"/>
                      <a:pt x="1202" y="32"/>
                    </a:cubicBezTo>
                    <a:cubicBezTo>
                      <a:pt x="1242" y="14"/>
                      <a:pt x="1282" y="10"/>
                      <a:pt x="1322" y="5"/>
                    </a:cubicBezTo>
                    <a:cubicBezTo>
                      <a:pt x="1362" y="0"/>
                      <a:pt x="1417" y="3"/>
                      <a:pt x="1442" y="2"/>
                    </a:cubicBezTo>
                  </a:path>
                </a:pathLst>
              </a:custGeom>
              <a:noFill/>
              <a:ln w="1905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97" name="任意多边形 743442"/>
              <p:cNvSpPr>
                <a:spLocks noChangeArrowheads="1"/>
              </p:cNvSpPr>
              <p:nvPr/>
            </p:nvSpPr>
            <p:spPr bwMode="auto">
              <a:xfrm>
                <a:off x="4171" y="1275"/>
                <a:ext cx="405" cy="1"/>
              </a:xfrm>
              <a:custGeom>
                <a:avLst/>
                <a:gdLst>
                  <a:gd name="T0" fmla="*/ 0 w 483"/>
                  <a:gd name="T1" fmla="*/ 0 h 1"/>
                  <a:gd name="T2" fmla="*/ 141 w 483"/>
                  <a:gd name="T3" fmla="*/ 1 h 1"/>
                  <a:gd name="T4" fmla="*/ 0 60000 65536"/>
                  <a:gd name="T5" fmla="*/ 0 60000 65536"/>
                </a:gdLst>
                <a:ahLst/>
                <a:cxnLst>
                  <a:cxn ang="T4">
                    <a:pos x="T0" y="T1"/>
                  </a:cxn>
                  <a:cxn ang="T5">
                    <a:pos x="T2" y="T3"/>
                  </a:cxn>
                </a:cxnLst>
                <a:rect l="0" t="0" r="r" b="b"/>
                <a:pathLst>
                  <a:path w="483" h="1">
                    <a:moveTo>
                      <a:pt x="0" y="0"/>
                    </a:moveTo>
                    <a:lnTo>
                      <a:pt x="483" y="1"/>
                    </a:lnTo>
                  </a:path>
                </a:pathLst>
              </a:custGeom>
              <a:noFill/>
              <a:ln w="19050">
                <a:solidFill>
                  <a:srgbClr val="FF99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98" name="直接连接符 743443"/>
              <p:cNvSpPr>
                <a:spLocks noChangeShapeType="1"/>
              </p:cNvSpPr>
              <p:nvPr/>
            </p:nvSpPr>
            <p:spPr bwMode="auto">
              <a:xfrm>
                <a:off x="5805" y="1794"/>
                <a:ext cx="0" cy="11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60599" name="任意多边形 743444"/>
              <p:cNvSpPr>
                <a:spLocks noChangeArrowheads="1"/>
              </p:cNvSpPr>
              <p:nvPr/>
            </p:nvSpPr>
            <p:spPr bwMode="auto">
              <a:xfrm>
                <a:off x="4159" y="1904"/>
                <a:ext cx="411" cy="0"/>
              </a:xfrm>
              <a:custGeom>
                <a:avLst/>
                <a:gdLst>
                  <a:gd name="T0" fmla="*/ 0 w 492"/>
                  <a:gd name="T1" fmla="*/ 0 h 1"/>
                  <a:gd name="T2" fmla="*/ 140 w 492"/>
                  <a:gd name="T3" fmla="*/ 0 h 1"/>
                  <a:gd name="T4" fmla="*/ 0 60000 65536"/>
                  <a:gd name="T5" fmla="*/ 0 60000 65536"/>
                </a:gdLst>
                <a:ahLst/>
                <a:cxnLst>
                  <a:cxn ang="T4">
                    <a:pos x="T0" y="T1"/>
                  </a:cxn>
                  <a:cxn ang="T5">
                    <a:pos x="T2" y="T3"/>
                  </a:cxn>
                </a:cxnLst>
                <a:rect l="0" t="0" r="r" b="b"/>
                <a:pathLst>
                  <a:path w="492" h="1">
                    <a:moveTo>
                      <a:pt x="0" y="0"/>
                    </a:moveTo>
                    <a:lnTo>
                      <a:pt x="492"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600" name="直接连接符 743445"/>
              <p:cNvSpPr>
                <a:spLocks noChangeShapeType="1"/>
              </p:cNvSpPr>
              <p:nvPr/>
            </p:nvSpPr>
            <p:spPr bwMode="auto">
              <a:xfrm>
                <a:off x="5213" y="1904"/>
                <a:ext cx="59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graphicFrame>
            <p:nvGraphicFramePr>
              <p:cNvPr id="60601" name="对象 743446"/>
              <p:cNvGraphicFramePr/>
              <p:nvPr/>
            </p:nvGraphicFramePr>
            <p:xfrm>
              <a:off x="3672" y="1823"/>
              <a:ext cx="345" cy="153"/>
            </p:xfrm>
            <a:graphic>
              <a:graphicData uri="http://schemas.openxmlformats.org/presentationml/2006/ole">
                <mc:AlternateContent xmlns:mc="http://schemas.openxmlformats.org/markup-compatibility/2006">
                  <mc:Choice xmlns:v="urn:schemas-microsoft-com:vml" Requires="v">
                    <p:oleObj spid="_x0000_s232486" name="" r:id="rId2" imgW="316865" imgH="177800" progId="Equation.3">
                      <p:embed/>
                    </p:oleObj>
                  </mc:Choice>
                  <mc:Fallback>
                    <p:oleObj name="" r:id="rId2" imgW="316865" imgH="177800" progId="Equation.3">
                      <p:embed/>
                      <p:pic>
                        <p:nvPicPr>
                          <p:cNvPr id="0" name="对象 74344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2" y="1823"/>
                            <a:ext cx="34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602" name="对象 743447"/>
              <p:cNvGraphicFramePr/>
              <p:nvPr/>
            </p:nvGraphicFramePr>
            <p:xfrm>
              <a:off x="4264" y="1811"/>
              <a:ext cx="252" cy="179"/>
            </p:xfrm>
            <a:graphic>
              <a:graphicData uri="http://schemas.openxmlformats.org/presentationml/2006/ole">
                <mc:AlternateContent xmlns:mc="http://schemas.openxmlformats.org/markup-compatibility/2006">
                  <mc:Choice xmlns:v="urn:schemas-microsoft-com:vml" Requires="v">
                    <p:oleObj spid="_x0000_s232487" name="" r:id="rId4" imgW="254000" imgH="203200" progId="Equation.3">
                      <p:embed/>
                    </p:oleObj>
                  </mc:Choice>
                  <mc:Fallback>
                    <p:oleObj name="" r:id="rId4" imgW="254000" imgH="203200" progId="Equation.3">
                      <p:embed/>
                      <p:pic>
                        <p:nvPicPr>
                          <p:cNvPr id="0" name="对象 74344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4" y="1811"/>
                            <a:ext cx="25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603" name="对象 743448"/>
              <p:cNvGraphicFramePr/>
              <p:nvPr/>
            </p:nvGraphicFramePr>
            <p:xfrm>
              <a:off x="4835" y="1829"/>
              <a:ext cx="242" cy="161"/>
            </p:xfrm>
            <a:graphic>
              <a:graphicData uri="http://schemas.openxmlformats.org/presentationml/2006/ole">
                <mc:AlternateContent xmlns:mc="http://schemas.openxmlformats.org/markup-compatibility/2006">
                  <mc:Choice xmlns:v="urn:schemas-microsoft-com:vml" Requires="v">
                    <p:oleObj spid="_x0000_s232488" name="" r:id="rId6" imgW="241300" imgH="203200" progId="Equation.3">
                      <p:embed/>
                    </p:oleObj>
                  </mc:Choice>
                  <mc:Fallback>
                    <p:oleObj name="" r:id="rId6" imgW="241300" imgH="203200" progId="Equation.3">
                      <p:embed/>
                      <p:pic>
                        <p:nvPicPr>
                          <p:cNvPr id="0" name="对象 74344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5" y="1829"/>
                            <a:ext cx="242"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604" name="对象 743449"/>
              <p:cNvGraphicFramePr/>
              <p:nvPr/>
            </p:nvGraphicFramePr>
            <p:xfrm>
              <a:off x="5444" y="1822"/>
              <a:ext cx="254" cy="170"/>
            </p:xfrm>
            <a:graphic>
              <a:graphicData uri="http://schemas.openxmlformats.org/presentationml/2006/ole">
                <mc:AlternateContent xmlns:mc="http://schemas.openxmlformats.org/markup-compatibility/2006">
                  <mc:Choice xmlns:v="urn:schemas-microsoft-com:vml" Requires="v">
                    <p:oleObj spid="_x0000_s232489" name="" r:id="rId8" imgW="241300" imgH="203200" progId="Equation.3">
                      <p:embed/>
                    </p:oleObj>
                  </mc:Choice>
                  <mc:Fallback>
                    <p:oleObj name="" r:id="rId8" imgW="241300" imgH="203200" progId="Equation.3">
                      <p:embed/>
                      <p:pic>
                        <p:nvPicPr>
                          <p:cNvPr id="0" name="对象 74344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4" y="1822"/>
                            <a:ext cx="25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605" name="任意多边形 743450"/>
              <p:cNvSpPr>
                <a:spLocks noChangeArrowheads="1"/>
              </p:cNvSpPr>
              <p:nvPr/>
            </p:nvSpPr>
            <p:spPr bwMode="auto">
              <a:xfrm>
                <a:off x="5213" y="1797"/>
                <a:ext cx="592" cy="0"/>
              </a:xfrm>
              <a:custGeom>
                <a:avLst/>
                <a:gdLst>
                  <a:gd name="T0" fmla="*/ 0 w 708"/>
                  <a:gd name="T1" fmla="*/ 0 h 1"/>
                  <a:gd name="T2" fmla="*/ 202 w 708"/>
                  <a:gd name="T3" fmla="*/ 1 h 1"/>
                  <a:gd name="T4" fmla="*/ 0 60000 65536"/>
                  <a:gd name="T5" fmla="*/ 0 60000 65536"/>
                </a:gdLst>
                <a:ahLst/>
                <a:cxnLst>
                  <a:cxn ang="T4">
                    <a:pos x="T0" y="T1"/>
                  </a:cxn>
                  <a:cxn ang="T5">
                    <a:pos x="T2" y="T3"/>
                  </a:cxn>
                </a:cxnLst>
                <a:rect l="0" t="0" r="r" b="b"/>
                <a:pathLst>
                  <a:path w="708" h="1">
                    <a:moveTo>
                      <a:pt x="0" y="0"/>
                    </a:moveTo>
                    <a:lnTo>
                      <a:pt x="708" y="1"/>
                    </a:ln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sp>
        <p:nvSpPr>
          <p:cNvPr id="743452" name="任意多边形 743451"/>
          <p:cNvSpPr>
            <a:spLocks noChangeArrowheads="1"/>
          </p:cNvSpPr>
          <p:nvPr/>
        </p:nvSpPr>
        <p:spPr bwMode="auto">
          <a:xfrm>
            <a:off x="9155165" y="1323905"/>
            <a:ext cx="1587" cy="827087"/>
          </a:xfrm>
          <a:custGeom>
            <a:avLst/>
            <a:gdLst>
              <a:gd name="T0" fmla="*/ 2147483646 w 1"/>
              <a:gd name="T1" fmla="*/ 0 h 521"/>
              <a:gd name="T2" fmla="*/ 0 w 1"/>
              <a:gd name="T3" fmla="*/ 2147483646 h 521"/>
              <a:gd name="T4" fmla="*/ 0 60000 65536"/>
              <a:gd name="T5" fmla="*/ 0 60000 65536"/>
            </a:gdLst>
            <a:ahLst/>
            <a:cxnLst>
              <a:cxn ang="T4">
                <a:pos x="T0" y="T1"/>
              </a:cxn>
              <a:cxn ang="T5">
                <a:pos x="T2" y="T3"/>
              </a:cxn>
            </a:cxnLst>
            <a:rect l="0" t="0" r="r" b="b"/>
            <a:pathLst>
              <a:path w="1" h="521">
                <a:moveTo>
                  <a:pt x="1" y="0"/>
                </a:moveTo>
                <a:lnTo>
                  <a:pt x="0" y="521"/>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3" name="任意多边形 743452"/>
          <p:cNvSpPr>
            <a:spLocks noChangeArrowheads="1"/>
          </p:cNvSpPr>
          <p:nvPr/>
        </p:nvSpPr>
        <p:spPr bwMode="auto">
          <a:xfrm>
            <a:off x="8096301" y="2127180"/>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4" name="任意多边形 743453"/>
          <p:cNvSpPr>
            <a:spLocks noChangeArrowheads="1"/>
          </p:cNvSpPr>
          <p:nvPr/>
        </p:nvSpPr>
        <p:spPr bwMode="auto">
          <a:xfrm>
            <a:off x="8309026" y="1995417"/>
            <a:ext cx="0" cy="150813"/>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5" name="任意多边形 743454"/>
          <p:cNvSpPr>
            <a:spLocks noChangeArrowheads="1"/>
          </p:cNvSpPr>
          <p:nvPr/>
        </p:nvSpPr>
        <p:spPr bwMode="auto">
          <a:xfrm>
            <a:off x="8520165" y="1738242"/>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6" name="任意多边形 743455"/>
          <p:cNvSpPr>
            <a:spLocks noChangeArrowheads="1"/>
          </p:cNvSpPr>
          <p:nvPr/>
        </p:nvSpPr>
        <p:spPr bwMode="auto">
          <a:xfrm>
            <a:off x="8731301" y="1487416"/>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7" name="任意多边形 743456"/>
          <p:cNvSpPr>
            <a:spLocks noChangeArrowheads="1"/>
          </p:cNvSpPr>
          <p:nvPr/>
        </p:nvSpPr>
        <p:spPr bwMode="auto">
          <a:xfrm>
            <a:off x="8945614" y="1349304"/>
            <a:ext cx="0" cy="798512"/>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8" name="任意多边形 743457"/>
          <p:cNvSpPr>
            <a:spLocks noChangeArrowheads="1"/>
          </p:cNvSpPr>
          <p:nvPr/>
        </p:nvSpPr>
        <p:spPr bwMode="auto">
          <a:xfrm>
            <a:off x="9050390" y="1338191"/>
            <a:ext cx="1587" cy="814388"/>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59" name="任意多边形 743458"/>
          <p:cNvSpPr>
            <a:spLocks noChangeArrowheads="1"/>
          </p:cNvSpPr>
          <p:nvPr/>
        </p:nvSpPr>
        <p:spPr bwMode="auto">
          <a:xfrm>
            <a:off x="8202665" y="2077966"/>
            <a:ext cx="1587" cy="71438"/>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0" name="任意多边形 743459"/>
          <p:cNvSpPr>
            <a:spLocks noChangeArrowheads="1"/>
          </p:cNvSpPr>
          <p:nvPr/>
        </p:nvSpPr>
        <p:spPr bwMode="auto">
          <a:xfrm>
            <a:off x="8413801" y="1873179"/>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1" name="任意多边形 743460"/>
          <p:cNvSpPr>
            <a:spLocks noChangeArrowheads="1"/>
          </p:cNvSpPr>
          <p:nvPr/>
        </p:nvSpPr>
        <p:spPr bwMode="auto">
          <a:xfrm>
            <a:off x="8624940" y="1603304"/>
            <a:ext cx="1587" cy="544512"/>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2" name="任意多边形 743461"/>
          <p:cNvSpPr>
            <a:spLocks noChangeArrowheads="1"/>
          </p:cNvSpPr>
          <p:nvPr/>
        </p:nvSpPr>
        <p:spPr bwMode="auto">
          <a:xfrm>
            <a:off x="8839251" y="1403280"/>
            <a:ext cx="1588" cy="744537"/>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3" name="任意多边形 743462"/>
          <p:cNvSpPr>
            <a:spLocks noChangeArrowheads="1"/>
          </p:cNvSpPr>
          <p:nvPr/>
        </p:nvSpPr>
        <p:spPr bwMode="auto">
          <a:xfrm>
            <a:off x="10464851" y="1877942"/>
            <a:ext cx="1588" cy="271463"/>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4" name="任意多边形 743463"/>
          <p:cNvSpPr>
            <a:spLocks noChangeArrowheads="1"/>
          </p:cNvSpPr>
          <p:nvPr/>
        </p:nvSpPr>
        <p:spPr bwMode="auto">
          <a:xfrm>
            <a:off x="10577565" y="1963666"/>
            <a:ext cx="1587" cy="185738"/>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5" name="任意多边形 743464"/>
          <p:cNvSpPr>
            <a:spLocks noChangeArrowheads="1"/>
          </p:cNvSpPr>
          <p:nvPr/>
        </p:nvSpPr>
        <p:spPr bwMode="auto">
          <a:xfrm>
            <a:off x="10690276" y="2063680"/>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6" name="任意多边形 743465"/>
          <p:cNvSpPr>
            <a:spLocks noChangeArrowheads="1"/>
          </p:cNvSpPr>
          <p:nvPr/>
        </p:nvSpPr>
        <p:spPr bwMode="auto">
          <a:xfrm>
            <a:off x="10015590" y="1512816"/>
            <a:ext cx="1587" cy="636588"/>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7" name="任意多边形 743466"/>
          <p:cNvSpPr>
            <a:spLocks noChangeArrowheads="1"/>
          </p:cNvSpPr>
          <p:nvPr/>
        </p:nvSpPr>
        <p:spPr bwMode="auto">
          <a:xfrm>
            <a:off x="10134651" y="1606480"/>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8" name="任意多边形 743467"/>
          <p:cNvSpPr>
            <a:spLocks noChangeArrowheads="1"/>
          </p:cNvSpPr>
          <p:nvPr/>
        </p:nvSpPr>
        <p:spPr bwMode="auto">
          <a:xfrm>
            <a:off x="10242601" y="1693792"/>
            <a:ext cx="1588" cy="455613"/>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69" name="任意多边形 743468"/>
          <p:cNvSpPr>
            <a:spLocks noChangeArrowheads="1"/>
          </p:cNvSpPr>
          <p:nvPr/>
        </p:nvSpPr>
        <p:spPr bwMode="auto">
          <a:xfrm>
            <a:off x="10353726" y="1776342"/>
            <a:ext cx="1588" cy="373063"/>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70" name="任意多边形 743469"/>
          <p:cNvSpPr>
            <a:spLocks noChangeArrowheads="1"/>
          </p:cNvSpPr>
          <p:nvPr/>
        </p:nvSpPr>
        <p:spPr bwMode="auto">
          <a:xfrm>
            <a:off x="9906051" y="1422329"/>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60438" name="矩形 743470"/>
          <p:cNvSpPr>
            <a:spLocks noRot="1" noChangeArrowheads="1"/>
          </p:cNvSpPr>
          <p:nvPr/>
        </p:nvSpPr>
        <p:spPr bwMode="auto">
          <a:xfrm>
            <a:off x="1690689" y="1465263"/>
            <a:ext cx="3983037"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20000"/>
              </a:spcBef>
              <a:buClr>
                <a:schemeClr val="hlink"/>
              </a:buClr>
              <a:buSzPct val="70000"/>
              <a:buFont typeface="Wingdings" panose="05000000000000000000" pitchFamily="2" charset="2"/>
              <a:buNone/>
            </a:pPr>
            <a:endParaRPr lang="zh-CN" altLang="en-US" sz="2400">
              <a:solidFill>
                <a:srgbClr val="000000"/>
              </a:solidFill>
              <a:latin typeface="Arial" panose="020B0604020202020204" pitchFamily="34" charset="0"/>
              <a:ea typeface="楷体_GB2312" pitchFamily="49" charset="-122"/>
            </a:endParaRPr>
          </a:p>
        </p:txBody>
      </p:sp>
      <p:sp>
        <p:nvSpPr>
          <p:cNvPr id="743473" name="内容占位符 743472"/>
          <p:cNvSpPr>
            <a:spLocks noGrp="1" noRot="1" noChangeArrowheads="1"/>
          </p:cNvSpPr>
          <p:nvPr>
            <p:ph sz="half" idx="1"/>
          </p:nvPr>
        </p:nvSpPr>
        <p:spPr>
          <a:xfrm>
            <a:off x="172827" y="1669286"/>
            <a:ext cx="7926387" cy="801972"/>
          </a:xfrm>
        </p:spPr>
        <p:txBody>
          <a:bodyPr wrap="square"/>
          <a:lstStyle/>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Given: </a:t>
            </a:r>
            <a:r>
              <a:rPr lang="zh-CN" altLang="en-US" sz="1800" b="1" dirty="0">
                <a:solidFill>
                  <a:schemeClr val="tx1"/>
                </a:solidFill>
                <a:latin typeface="微软雅黑" panose="020B0503020204020204" pitchFamily="34" charset="-122"/>
                <a:ea typeface="微软雅黑" panose="020B0503020204020204" pitchFamily="34" charset="-122"/>
              </a:rPr>
              <a:t>Follower motion law, cam rotates CCW</a:t>
            </a:r>
            <a:endParaRPr lang="zh-CN" altLang="en-US" sz="1800" b="1" dirty="0">
              <a:solidFill>
                <a:schemeClr val="tx1"/>
              </a:solidFill>
              <a:latin typeface="微软雅黑" panose="020B0503020204020204" pitchFamily="34" charset="-122"/>
              <a:ea typeface="微软雅黑" panose="020B0503020204020204" pitchFamily="34" charset="-122"/>
            </a:endParaRPr>
          </a:p>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Design: </a:t>
            </a:r>
            <a:r>
              <a:rPr lang="zh-CN" altLang="en-US" sz="1800" b="1" dirty="0">
                <a:solidFill>
                  <a:schemeClr val="tx1"/>
                </a:solidFill>
                <a:latin typeface="微软雅黑" panose="020B0503020204020204" pitchFamily="34" charset="-122"/>
                <a:ea typeface="微软雅黑" panose="020B0503020204020204" pitchFamily="34" charset="-122"/>
              </a:rPr>
              <a:t>Cam profile</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grpSp>
        <p:nvGrpSpPr>
          <p:cNvPr id="743476" name="组合 743475"/>
          <p:cNvGrpSpPr/>
          <p:nvPr/>
        </p:nvGrpSpPr>
        <p:grpSpPr bwMode="auto">
          <a:xfrm>
            <a:off x="8651489" y="3283738"/>
            <a:ext cx="2725737" cy="2243138"/>
            <a:chOff x="3264" y="1788"/>
            <a:chExt cx="1586" cy="1413"/>
          </a:xfrm>
        </p:grpSpPr>
        <p:sp>
          <p:nvSpPr>
            <p:cNvPr id="60578" name="椭圆 743476"/>
            <p:cNvSpPr>
              <a:spLocks noChangeArrowheads="1"/>
            </p:cNvSpPr>
            <p:nvPr/>
          </p:nvSpPr>
          <p:spPr bwMode="auto">
            <a:xfrm>
              <a:off x="3377" y="1866"/>
              <a:ext cx="1309" cy="1309"/>
            </a:xfrm>
            <a:prstGeom prst="ellipse">
              <a:avLst/>
            </a:prstGeom>
            <a:noFill/>
            <a:ln w="19050">
              <a:solidFill>
                <a:srgbClr val="000000"/>
              </a:solidFill>
              <a:prstDash val="lgDashDot"/>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60579" name="直接连接符 743477"/>
            <p:cNvSpPr>
              <a:spLocks noChangeShapeType="1"/>
            </p:cNvSpPr>
            <p:nvPr/>
          </p:nvSpPr>
          <p:spPr bwMode="auto">
            <a:xfrm>
              <a:off x="3264" y="2521"/>
              <a:ext cx="1586" cy="0"/>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60580" name="直接连接符 743478"/>
            <p:cNvSpPr>
              <a:spLocks noChangeShapeType="1"/>
            </p:cNvSpPr>
            <p:nvPr/>
          </p:nvSpPr>
          <p:spPr bwMode="auto">
            <a:xfrm>
              <a:off x="4031" y="1788"/>
              <a:ext cx="0" cy="1413"/>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grpSp>
      <p:sp>
        <p:nvSpPr>
          <p:cNvPr id="743480" name="直接连接符 743479"/>
          <p:cNvSpPr>
            <a:spLocks noChangeShapeType="1"/>
          </p:cNvSpPr>
          <p:nvPr/>
        </p:nvSpPr>
        <p:spPr bwMode="auto">
          <a:xfrm rot="194254">
            <a:off x="9946888" y="4495001"/>
            <a:ext cx="1892300" cy="66516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1" name="任意多边形 743480"/>
          <p:cNvSpPr>
            <a:spLocks noChangeArrowheads="1"/>
          </p:cNvSpPr>
          <p:nvPr/>
        </p:nvSpPr>
        <p:spPr bwMode="auto">
          <a:xfrm>
            <a:off x="9965939" y="4444202"/>
            <a:ext cx="2008187" cy="1587"/>
          </a:xfrm>
          <a:custGeom>
            <a:avLst/>
            <a:gdLst>
              <a:gd name="T0" fmla="*/ 0 w 1167"/>
              <a:gd name="T1" fmla="*/ 0 h 1"/>
              <a:gd name="T2" fmla="*/ 2147483646 w 1167"/>
              <a:gd name="T3" fmla="*/ 2147483646 h 1"/>
              <a:gd name="T4" fmla="*/ 0 60000 65536"/>
              <a:gd name="T5" fmla="*/ 0 60000 65536"/>
            </a:gdLst>
            <a:ahLst/>
            <a:cxnLst>
              <a:cxn ang="T4">
                <a:pos x="T0" y="T1"/>
              </a:cxn>
              <a:cxn ang="T5">
                <a:pos x="T2" y="T3"/>
              </a:cxn>
            </a:cxnLst>
            <a:rect l="0" t="0" r="r" b="b"/>
            <a:pathLst>
              <a:path w="1167" h="1">
                <a:moveTo>
                  <a:pt x="0" y="0"/>
                </a:moveTo>
                <a:lnTo>
                  <a:pt x="1167" y="1"/>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482" name="直接连接符 743481"/>
          <p:cNvSpPr>
            <a:spLocks noChangeShapeType="1"/>
          </p:cNvSpPr>
          <p:nvPr/>
        </p:nvSpPr>
        <p:spPr bwMode="auto">
          <a:xfrm rot="21327787">
            <a:off x="9992925" y="4375939"/>
            <a:ext cx="1892300" cy="665163"/>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3" name="直接连接符 743482"/>
          <p:cNvSpPr>
            <a:spLocks noChangeShapeType="1"/>
          </p:cNvSpPr>
          <p:nvPr/>
        </p:nvSpPr>
        <p:spPr bwMode="auto">
          <a:xfrm rot="19720172">
            <a:off x="10007213" y="3910802"/>
            <a:ext cx="1892300" cy="700087"/>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4" name="直接连接符 743483"/>
          <p:cNvSpPr>
            <a:spLocks noChangeShapeType="1"/>
          </p:cNvSpPr>
          <p:nvPr/>
        </p:nvSpPr>
        <p:spPr bwMode="auto">
          <a:xfrm rot="18651080">
            <a:off x="9986576" y="3640926"/>
            <a:ext cx="1746250"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5" name="直接连接符 743484"/>
          <p:cNvSpPr>
            <a:spLocks noChangeShapeType="1"/>
          </p:cNvSpPr>
          <p:nvPr/>
        </p:nvSpPr>
        <p:spPr bwMode="auto">
          <a:xfrm rot="19210542">
            <a:off x="9972289" y="3766339"/>
            <a:ext cx="1881187" cy="7080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6" name="直接连接符 743485"/>
          <p:cNvSpPr>
            <a:spLocks noChangeShapeType="1"/>
          </p:cNvSpPr>
          <p:nvPr/>
        </p:nvSpPr>
        <p:spPr bwMode="auto">
          <a:xfrm rot="18070452">
            <a:off x="9890532" y="3506783"/>
            <a:ext cx="1746250" cy="719137"/>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7" name="直接连接符 743486"/>
          <p:cNvSpPr>
            <a:spLocks noChangeShapeType="1"/>
          </p:cNvSpPr>
          <p:nvPr/>
        </p:nvSpPr>
        <p:spPr bwMode="auto">
          <a:xfrm rot="16846435">
            <a:off x="9624626" y="3290089"/>
            <a:ext cx="1746250"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8" name="直接连接符 743487"/>
          <p:cNvSpPr>
            <a:spLocks noChangeShapeType="1"/>
          </p:cNvSpPr>
          <p:nvPr/>
        </p:nvSpPr>
        <p:spPr bwMode="auto">
          <a:xfrm rot="15576713">
            <a:off x="9276964" y="3164677"/>
            <a:ext cx="1743075"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89" name="直接连接符 743488"/>
          <p:cNvSpPr>
            <a:spLocks noChangeShapeType="1"/>
          </p:cNvSpPr>
          <p:nvPr/>
        </p:nvSpPr>
        <p:spPr bwMode="auto">
          <a:xfrm rot="16200000">
            <a:off x="9454763" y="3212301"/>
            <a:ext cx="1746250"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0" name="直接连接符 743489"/>
          <p:cNvSpPr>
            <a:spLocks noChangeShapeType="1"/>
          </p:cNvSpPr>
          <p:nvPr/>
        </p:nvSpPr>
        <p:spPr bwMode="auto">
          <a:xfrm rot="17457068">
            <a:off x="9769882" y="3387720"/>
            <a:ext cx="1746250" cy="722313"/>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1" name="直接连接符 743490"/>
          <p:cNvSpPr>
            <a:spLocks noChangeShapeType="1"/>
          </p:cNvSpPr>
          <p:nvPr/>
        </p:nvSpPr>
        <p:spPr bwMode="auto">
          <a:xfrm rot="7780787">
            <a:off x="8220482" y="4527545"/>
            <a:ext cx="1746250" cy="722313"/>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2" name="直接连接符 743491"/>
          <p:cNvSpPr>
            <a:spLocks noChangeShapeType="1"/>
          </p:cNvSpPr>
          <p:nvPr/>
        </p:nvSpPr>
        <p:spPr bwMode="auto">
          <a:xfrm rot="8929401">
            <a:off x="8033951" y="4282276"/>
            <a:ext cx="1870075" cy="696912"/>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3" name="直接连接符 743492"/>
          <p:cNvSpPr>
            <a:spLocks noChangeShapeType="1"/>
          </p:cNvSpPr>
          <p:nvPr/>
        </p:nvSpPr>
        <p:spPr bwMode="auto">
          <a:xfrm rot="8354418">
            <a:off x="8079989" y="4436264"/>
            <a:ext cx="1868487" cy="696913"/>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4" name="直接连接符 743493"/>
          <p:cNvSpPr>
            <a:spLocks noChangeShapeType="1"/>
          </p:cNvSpPr>
          <p:nvPr/>
        </p:nvSpPr>
        <p:spPr bwMode="auto">
          <a:xfrm rot="7252647">
            <a:off x="8307001" y="4660101"/>
            <a:ext cx="1746250"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5" name="直接连接符 743494"/>
          <p:cNvSpPr>
            <a:spLocks noChangeShapeType="1"/>
          </p:cNvSpPr>
          <p:nvPr/>
        </p:nvSpPr>
        <p:spPr bwMode="auto">
          <a:xfrm rot="5975386">
            <a:off x="8578463" y="4890289"/>
            <a:ext cx="1746250"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6" name="直接连接符 743495"/>
          <p:cNvSpPr>
            <a:spLocks noChangeShapeType="1"/>
          </p:cNvSpPr>
          <p:nvPr/>
        </p:nvSpPr>
        <p:spPr bwMode="auto">
          <a:xfrm rot="4742410">
            <a:off x="8918188" y="5009351"/>
            <a:ext cx="1746250" cy="720725"/>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7" name="直接连接符 743496"/>
          <p:cNvSpPr>
            <a:spLocks noChangeShapeType="1"/>
          </p:cNvSpPr>
          <p:nvPr/>
        </p:nvSpPr>
        <p:spPr bwMode="auto">
          <a:xfrm rot="5365399">
            <a:off x="8741182" y="4948233"/>
            <a:ext cx="1746250" cy="719137"/>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8" name="直接连接符 743497"/>
          <p:cNvSpPr>
            <a:spLocks noChangeShapeType="1"/>
          </p:cNvSpPr>
          <p:nvPr/>
        </p:nvSpPr>
        <p:spPr bwMode="auto">
          <a:xfrm rot="6604870">
            <a:off x="8426857" y="4779958"/>
            <a:ext cx="1746250" cy="719137"/>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499" name="直接连接符 743498"/>
          <p:cNvSpPr>
            <a:spLocks noChangeShapeType="1"/>
          </p:cNvSpPr>
          <p:nvPr/>
        </p:nvSpPr>
        <p:spPr bwMode="auto">
          <a:xfrm rot="9548484">
            <a:off x="8011725" y="4091776"/>
            <a:ext cx="1885950" cy="70961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00" name="任意多边形 743499"/>
          <p:cNvSpPr>
            <a:spLocks noChangeArrowheads="1"/>
          </p:cNvSpPr>
          <p:nvPr/>
        </p:nvSpPr>
        <p:spPr bwMode="auto">
          <a:xfrm>
            <a:off x="9969114" y="4441027"/>
            <a:ext cx="3175" cy="1876425"/>
          </a:xfrm>
          <a:custGeom>
            <a:avLst/>
            <a:gdLst>
              <a:gd name="T0" fmla="*/ 0 w 1"/>
              <a:gd name="T1" fmla="*/ 0 h 1083"/>
              <a:gd name="T2" fmla="*/ 0 w 1"/>
              <a:gd name="T3" fmla="*/ 2147483646 h 1083"/>
              <a:gd name="T4" fmla="*/ 0 60000 65536"/>
              <a:gd name="T5" fmla="*/ 0 60000 65536"/>
            </a:gdLst>
            <a:ahLst/>
            <a:cxnLst>
              <a:cxn ang="T4">
                <a:pos x="T0" y="T1"/>
              </a:cxn>
              <a:cxn ang="T5">
                <a:pos x="T2" y="T3"/>
              </a:cxn>
            </a:cxnLst>
            <a:rect l="0" t="0" r="r" b="b"/>
            <a:pathLst>
              <a:path w="1" h="1083">
                <a:moveTo>
                  <a:pt x="0" y="0"/>
                </a:moveTo>
                <a:lnTo>
                  <a:pt x="0" y="1083"/>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01" name="任意多边形 743500"/>
          <p:cNvSpPr>
            <a:spLocks noChangeArrowheads="1"/>
          </p:cNvSpPr>
          <p:nvPr/>
        </p:nvSpPr>
        <p:spPr bwMode="auto">
          <a:xfrm>
            <a:off x="9969113" y="4441026"/>
            <a:ext cx="1998662" cy="271462"/>
          </a:xfrm>
          <a:custGeom>
            <a:avLst/>
            <a:gdLst>
              <a:gd name="T0" fmla="*/ 0 w 1065"/>
              <a:gd name="T1" fmla="*/ 0 h 156"/>
              <a:gd name="T2" fmla="*/ 2147483646 w 1065"/>
              <a:gd name="T3" fmla="*/ 2147483646 h 156"/>
              <a:gd name="T4" fmla="*/ 0 60000 65536"/>
              <a:gd name="T5" fmla="*/ 0 60000 65536"/>
            </a:gdLst>
            <a:ahLst/>
            <a:cxnLst>
              <a:cxn ang="T4">
                <a:pos x="T0" y="T1"/>
              </a:cxn>
              <a:cxn ang="T5">
                <a:pos x="T2" y="T3"/>
              </a:cxn>
            </a:cxnLst>
            <a:rect l="0" t="0" r="r" b="b"/>
            <a:pathLst>
              <a:path w="1065" h="156">
                <a:moveTo>
                  <a:pt x="0" y="0"/>
                </a:moveTo>
                <a:lnTo>
                  <a:pt x="1065" y="156"/>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02" name="任意多边形 743501"/>
          <p:cNvSpPr>
            <a:spLocks noChangeArrowheads="1"/>
          </p:cNvSpPr>
          <p:nvPr/>
        </p:nvSpPr>
        <p:spPr bwMode="auto">
          <a:xfrm rot="16200000">
            <a:off x="10150089" y="5083964"/>
            <a:ext cx="1587" cy="2030413"/>
          </a:xfrm>
          <a:custGeom>
            <a:avLst/>
            <a:gdLst>
              <a:gd name="T0" fmla="*/ 0 w 1"/>
              <a:gd name="T1" fmla="*/ 0 h 1083"/>
              <a:gd name="T2" fmla="*/ 0 w 1"/>
              <a:gd name="T3" fmla="*/ 2147483646 h 1083"/>
              <a:gd name="T4" fmla="*/ 0 60000 65536"/>
              <a:gd name="T5" fmla="*/ 0 60000 65536"/>
            </a:gdLst>
            <a:ahLst/>
            <a:cxnLst>
              <a:cxn ang="T4">
                <a:pos x="T0" y="T1"/>
              </a:cxn>
              <a:cxn ang="T5">
                <a:pos x="T2" y="T3"/>
              </a:cxn>
            </a:cxnLst>
            <a:rect l="0" t="0" r="r" b="b"/>
            <a:pathLst>
              <a:path w="1" h="1083">
                <a:moveTo>
                  <a:pt x="0" y="0"/>
                </a:moveTo>
                <a:lnTo>
                  <a:pt x="0" y="1083"/>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3503" name="组合 743502"/>
          <p:cNvGrpSpPr/>
          <p:nvPr/>
        </p:nvGrpSpPr>
        <p:grpSpPr bwMode="auto">
          <a:xfrm>
            <a:off x="8889614" y="2739227"/>
            <a:ext cx="2160587" cy="668337"/>
            <a:chOff x="3360" y="1582"/>
            <a:chExt cx="1152" cy="386"/>
          </a:xfrm>
        </p:grpSpPr>
        <p:sp>
          <p:nvSpPr>
            <p:cNvPr id="60576" name="直接连接符 743503"/>
            <p:cNvSpPr>
              <a:spLocks noChangeShapeType="1"/>
            </p:cNvSpPr>
            <p:nvPr/>
          </p:nvSpPr>
          <p:spPr bwMode="auto">
            <a:xfrm flipV="1">
              <a:off x="3936" y="1582"/>
              <a:ext cx="0" cy="38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60577" name="直接连接符 743504"/>
            <p:cNvSpPr>
              <a:spLocks noChangeShapeType="1"/>
            </p:cNvSpPr>
            <p:nvPr/>
          </p:nvSpPr>
          <p:spPr bwMode="auto">
            <a:xfrm rot="5400000" flipV="1">
              <a:off x="3936" y="1392"/>
              <a:ext cx="0" cy="115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06" name="组合 743505"/>
          <p:cNvGrpSpPr/>
          <p:nvPr/>
        </p:nvGrpSpPr>
        <p:grpSpPr bwMode="auto">
          <a:xfrm rot="12124810">
            <a:off x="10334238" y="3461539"/>
            <a:ext cx="88900" cy="17463"/>
            <a:chOff x="4698" y="1590"/>
            <a:chExt cx="48" cy="10"/>
          </a:xfrm>
        </p:grpSpPr>
        <p:sp>
          <p:nvSpPr>
            <p:cNvPr id="60574" name="任意多边形 743506"/>
            <p:cNvSpPr>
              <a:spLocks noChangeArrowheads="1"/>
            </p:cNvSpPr>
            <p:nvPr/>
          </p:nvSpPr>
          <p:spPr bwMode="auto">
            <a:xfrm>
              <a:off x="4724" y="1590"/>
              <a:ext cx="1" cy="9"/>
            </a:xfrm>
            <a:custGeom>
              <a:avLst/>
              <a:gdLst>
                <a:gd name="T0" fmla="*/ 0 w 1"/>
                <a:gd name="T1" fmla="*/ 1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75" name="直接连接符 743507"/>
            <p:cNvSpPr>
              <a:spLocks noChangeShapeType="1"/>
            </p:cNvSpPr>
            <p:nvPr/>
          </p:nvSpPr>
          <p:spPr bwMode="auto">
            <a:xfrm>
              <a:off x="4698"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09" name="组合 743508"/>
          <p:cNvGrpSpPr/>
          <p:nvPr/>
        </p:nvGrpSpPr>
        <p:grpSpPr bwMode="auto">
          <a:xfrm rot="2002953" flipV="1">
            <a:off x="10526325" y="3515514"/>
            <a:ext cx="90488" cy="55563"/>
            <a:chOff x="4762" y="1568"/>
            <a:chExt cx="48" cy="32"/>
          </a:xfrm>
        </p:grpSpPr>
        <p:sp>
          <p:nvSpPr>
            <p:cNvPr id="60572" name="任意多边形 743509"/>
            <p:cNvSpPr>
              <a:spLocks noChangeArrowheads="1"/>
            </p:cNvSpPr>
            <p:nvPr/>
          </p:nvSpPr>
          <p:spPr bwMode="auto">
            <a:xfrm>
              <a:off x="4786" y="1568"/>
              <a:ext cx="1" cy="31"/>
            </a:xfrm>
            <a:custGeom>
              <a:avLst/>
              <a:gdLst>
                <a:gd name="T0" fmla="*/ 0 w 1"/>
                <a:gd name="T1" fmla="*/ 1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73" name="直接连接符 743510"/>
            <p:cNvSpPr>
              <a:spLocks noChangeShapeType="1"/>
            </p:cNvSpPr>
            <p:nvPr/>
          </p:nvSpPr>
          <p:spPr bwMode="auto">
            <a:xfrm>
              <a:off x="4762"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12" name="组合 743511"/>
          <p:cNvGrpSpPr/>
          <p:nvPr/>
        </p:nvGrpSpPr>
        <p:grpSpPr bwMode="auto">
          <a:xfrm rot="2560754" flipV="1">
            <a:off x="10710475" y="3577426"/>
            <a:ext cx="90488" cy="112712"/>
            <a:chOff x="4824" y="1533"/>
            <a:chExt cx="48" cy="65"/>
          </a:xfrm>
        </p:grpSpPr>
        <p:sp>
          <p:nvSpPr>
            <p:cNvPr id="60570" name="任意多边形 743512"/>
            <p:cNvSpPr>
              <a:spLocks noChangeArrowheads="1"/>
            </p:cNvSpPr>
            <p:nvPr/>
          </p:nvSpPr>
          <p:spPr bwMode="auto">
            <a:xfrm>
              <a:off x="4848" y="1533"/>
              <a:ext cx="0" cy="65"/>
            </a:xfrm>
            <a:custGeom>
              <a:avLst/>
              <a:gdLst>
                <a:gd name="T0" fmla="*/ 0 w 1"/>
                <a:gd name="T1" fmla="*/ 2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71" name="直接连接符 743513"/>
            <p:cNvSpPr>
              <a:spLocks noChangeShapeType="1"/>
            </p:cNvSpPr>
            <p:nvPr/>
          </p:nvSpPr>
          <p:spPr bwMode="auto">
            <a:xfrm>
              <a:off x="4824" y="1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15" name="组合 743514"/>
          <p:cNvGrpSpPr/>
          <p:nvPr/>
        </p:nvGrpSpPr>
        <p:grpSpPr bwMode="auto">
          <a:xfrm rot="13916918">
            <a:off x="10893038" y="3631401"/>
            <a:ext cx="82550" cy="222250"/>
            <a:chOff x="4886" y="1480"/>
            <a:chExt cx="48" cy="118"/>
          </a:xfrm>
        </p:grpSpPr>
        <p:sp>
          <p:nvSpPr>
            <p:cNvPr id="60568" name="任意多边形 743515"/>
            <p:cNvSpPr>
              <a:spLocks noChangeArrowheads="1"/>
            </p:cNvSpPr>
            <p:nvPr/>
          </p:nvSpPr>
          <p:spPr bwMode="auto">
            <a:xfrm>
              <a:off x="4909" y="1480"/>
              <a:ext cx="0" cy="118"/>
            </a:xfrm>
            <a:custGeom>
              <a:avLst/>
              <a:gdLst>
                <a:gd name="T0" fmla="*/ 0 w 1"/>
                <a:gd name="T1" fmla="*/ 3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69" name="直接连接符 743516"/>
            <p:cNvSpPr>
              <a:spLocks noChangeShapeType="1"/>
            </p:cNvSpPr>
            <p:nvPr/>
          </p:nvSpPr>
          <p:spPr bwMode="auto">
            <a:xfrm>
              <a:off x="4886" y="1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18" name="组合 743517"/>
          <p:cNvGrpSpPr/>
          <p:nvPr/>
        </p:nvGrpSpPr>
        <p:grpSpPr bwMode="auto">
          <a:xfrm rot="14511673">
            <a:off x="11058932" y="3711570"/>
            <a:ext cx="82550" cy="334963"/>
            <a:chOff x="4948" y="1421"/>
            <a:chExt cx="48" cy="179"/>
          </a:xfrm>
        </p:grpSpPr>
        <p:sp>
          <p:nvSpPr>
            <p:cNvPr id="60566" name="任意多边形 743518"/>
            <p:cNvSpPr>
              <a:spLocks noChangeArrowheads="1"/>
            </p:cNvSpPr>
            <p:nvPr/>
          </p:nvSpPr>
          <p:spPr bwMode="auto">
            <a:xfrm>
              <a:off x="4971" y="1421"/>
              <a:ext cx="1" cy="178"/>
            </a:xfrm>
            <a:custGeom>
              <a:avLst/>
              <a:gdLst>
                <a:gd name="T0" fmla="*/ 0 w 1"/>
                <a:gd name="T1" fmla="*/ 5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67" name="直接连接符 743519"/>
            <p:cNvSpPr>
              <a:spLocks noChangeShapeType="1"/>
            </p:cNvSpPr>
            <p:nvPr/>
          </p:nvSpPr>
          <p:spPr bwMode="auto">
            <a:xfrm>
              <a:off x="4948"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21" name="组合 743520"/>
          <p:cNvGrpSpPr/>
          <p:nvPr/>
        </p:nvGrpSpPr>
        <p:grpSpPr bwMode="auto">
          <a:xfrm rot="14916936">
            <a:off x="11194663" y="3796501"/>
            <a:ext cx="82550" cy="444500"/>
            <a:chOff x="5010" y="1363"/>
            <a:chExt cx="48" cy="237"/>
          </a:xfrm>
        </p:grpSpPr>
        <p:sp>
          <p:nvSpPr>
            <p:cNvPr id="60564" name="任意多边形 743521"/>
            <p:cNvSpPr>
              <a:spLocks noChangeArrowheads="1"/>
            </p:cNvSpPr>
            <p:nvPr/>
          </p:nvSpPr>
          <p:spPr bwMode="auto">
            <a:xfrm>
              <a:off x="5032" y="1363"/>
              <a:ext cx="1" cy="236"/>
            </a:xfrm>
            <a:custGeom>
              <a:avLst/>
              <a:gdLst>
                <a:gd name="T0" fmla="*/ 0 w 1"/>
                <a:gd name="T1" fmla="*/ 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65" name="直接连接符 743522"/>
            <p:cNvSpPr>
              <a:spLocks noChangeShapeType="1"/>
            </p:cNvSpPr>
            <p:nvPr/>
          </p:nvSpPr>
          <p:spPr bwMode="auto">
            <a:xfrm>
              <a:off x="5010"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24" name="组合 743523"/>
          <p:cNvGrpSpPr/>
          <p:nvPr/>
        </p:nvGrpSpPr>
        <p:grpSpPr bwMode="auto">
          <a:xfrm rot="15501917">
            <a:off x="11291500" y="3928263"/>
            <a:ext cx="82550" cy="539750"/>
            <a:chOff x="5072" y="1313"/>
            <a:chExt cx="48" cy="287"/>
          </a:xfrm>
        </p:grpSpPr>
        <p:sp>
          <p:nvSpPr>
            <p:cNvPr id="60562" name="任意多边形 743524"/>
            <p:cNvSpPr>
              <a:spLocks noChangeArrowheads="1"/>
            </p:cNvSpPr>
            <p:nvPr/>
          </p:nvSpPr>
          <p:spPr bwMode="auto">
            <a:xfrm>
              <a:off x="5094" y="1313"/>
              <a:ext cx="1" cy="286"/>
            </a:xfrm>
            <a:custGeom>
              <a:avLst/>
              <a:gdLst>
                <a:gd name="T0" fmla="*/ 0 w 1"/>
                <a:gd name="T1" fmla="*/ 8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63" name="直接连接符 743525"/>
            <p:cNvSpPr>
              <a:spLocks noChangeShapeType="1"/>
            </p:cNvSpPr>
            <p:nvPr/>
          </p:nvSpPr>
          <p:spPr bwMode="auto">
            <a:xfrm>
              <a:off x="5072"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27" name="组合 743526"/>
          <p:cNvGrpSpPr/>
          <p:nvPr/>
        </p:nvGrpSpPr>
        <p:grpSpPr bwMode="auto">
          <a:xfrm rot="16200000">
            <a:off x="11351826" y="4137814"/>
            <a:ext cx="82550" cy="606425"/>
            <a:chOff x="5132" y="1276"/>
            <a:chExt cx="48" cy="324"/>
          </a:xfrm>
        </p:grpSpPr>
        <p:sp>
          <p:nvSpPr>
            <p:cNvPr id="60560" name="任意多边形 743527"/>
            <p:cNvSpPr>
              <a:spLocks noChangeArrowheads="1"/>
            </p:cNvSpPr>
            <p:nvPr/>
          </p:nvSpPr>
          <p:spPr bwMode="auto">
            <a:xfrm>
              <a:off x="5156" y="1276"/>
              <a:ext cx="1" cy="323"/>
            </a:xfrm>
            <a:custGeom>
              <a:avLst/>
              <a:gdLst>
                <a:gd name="T0" fmla="*/ 0 w 1"/>
                <a:gd name="T1" fmla="*/ 8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61" name="直接连接符 743528"/>
            <p:cNvSpPr>
              <a:spLocks noChangeShapeType="1"/>
            </p:cNvSpPr>
            <p:nvPr/>
          </p:nvSpPr>
          <p:spPr bwMode="auto">
            <a:xfrm>
              <a:off x="5132"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30" name="组合 743529"/>
          <p:cNvGrpSpPr/>
          <p:nvPr/>
        </p:nvGrpSpPr>
        <p:grpSpPr bwMode="auto">
          <a:xfrm rot="16711826">
            <a:off x="11353414" y="4310852"/>
            <a:ext cx="85725" cy="650875"/>
            <a:chOff x="5194" y="1253"/>
            <a:chExt cx="48" cy="347"/>
          </a:xfrm>
        </p:grpSpPr>
        <p:sp>
          <p:nvSpPr>
            <p:cNvPr id="60558" name="任意多边形 743530"/>
            <p:cNvSpPr>
              <a:spLocks noChangeArrowheads="1"/>
            </p:cNvSpPr>
            <p:nvPr/>
          </p:nvSpPr>
          <p:spPr bwMode="auto">
            <a:xfrm>
              <a:off x="5218" y="1253"/>
              <a:ext cx="0" cy="346"/>
            </a:xfrm>
            <a:custGeom>
              <a:avLst/>
              <a:gdLst>
                <a:gd name="T0" fmla="*/ 0 w 1"/>
                <a:gd name="T1" fmla="*/ 9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59" name="直接连接符 743531"/>
            <p:cNvSpPr>
              <a:spLocks noChangeShapeType="1"/>
            </p:cNvSpPr>
            <p:nvPr/>
          </p:nvSpPr>
          <p:spPr bwMode="auto">
            <a:xfrm>
              <a:off x="5194"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33" name="组合 743532"/>
          <p:cNvGrpSpPr/>
          <p:nvPr/>
        </p:nvGrpSpPr>
        <p:grpSpPr bwMode="auto">
          <a:xfrm rot="17064018">
            <a:off x="11326425" y="4487063"/>
            <a:ext cx="84138" cy="661988"/>
            <a:chOff x="5256" y="1248"/>
            <a:chExt cx="48" cy="353"/>
          </a:xfrm>
        </p:grpSpPr>
        <p:sp>
          <p:nvSpPr>
            <p:cNvPr id="60556" name="任意多边形 743533"/>
            <p:cNvSpPr>
              <a:spLocks noChangeArrowheads="1"/>
            </p:cNvSpPr>
            <p:nvPr/>
          </p:nvSpPr>
          <p:spPr bwMode="auto">
            <a:xfrm>
              <a:off x="5279" y="1248"/>
              <a:ext cx="1" cy="353"/>
            </a:xfrm>
            <a:custGeom>
              <a:avLst/>
              <a:gdLst>
                <a:gd name="T0" fmla="*/ 0 w 1"/>
                <a:gd name="T1" fmla="*/ 0 h 648"/>
                <a:gd name="T2" fmla="*/ 0 w 1"/>
                <a:gd name="T3" fmla="*/ 9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57" name="直接连接符 743534"/>
            <p:cNvSpPr>
              <a:spLocks noChangeShapeType="1"/>
            </p:cNvSpPr>
            <p:nvPr/>
          </p:nvSpPr>
          <p:spPr bwMode="auto">
            <a:xfrm>
              <a:off x="5256" y="160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sp>
        <p:nvSpPr>
          <p:cNvPr id="743536" name="直接连接符 743535"/>
          <p:cNvSpPr>
            <a:spLocks noChangeShapeType="1"/>
          </p:cNvSpPr>
          <p:nvPr/>
        </p:nvSpPr>
        <p:spPr bwMode="auto">
          <a:xfrm rot="20976713">
            <a:off x="9386501" y="3117051"/>
            <a:ext cx="1890713" cy="665162"/>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37" name="直接连接符 743536"/>
          <p:cNvSpPr>
            <a:spLocks noChangeShapeType="1"/>
          </p:cNvSpPr>
          <p:nvPr/>
        </p:nvSpPr>
        <p:spPr bwMode="auto">
          <a:xfrm rot="10800000">
            <a:off x="9875450" y="3286914"/>
            <a:ext cx="1892300" cy="66516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38" name="直接连接符 743537"/>
          <p:cNvSpPr>
            <a:spLocks noChangeShapeType="1"/>
          </p:cNvSpPr>
          <p:nvPr/>
        </p:nvSpPr>
        <p:spPr bwMode="auto">
          <a:xfrm rot="11446435">
            <a:off x="10059601" y="3423439"/>
            <a:ext cx="1890713" cy="66516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39" name="直接连接符 743538"/>
          <p:cNvSpPr>
            <a:spLocks noChangeShapeType="1"/>
          </p:cNvSpPr>
          <p:nvPr/>
        </p:nvSpPr>
        <p:spPr bwMode="auto">
          <a:xfrm rot="12057068">
            <a:off x="10180250" y="3532976"/>
            <a:ext cx="1892300" cy="665162"/>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0" name="直接连接符 743539"/>
          <p:cNvSpPr>
            <a:spLocks noChangeShapeType="1"/>
          </p:cNvSpPr>
          <p:nvPr/>
        </p:nvSpPr>
        <p:spPr bwMode="auto">
          <a:xfrm rot="12670452">
            <a:off x="10018183" y="3725100"/>
            <a:ext cx="1892300" cy="665162"/>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1" name="直接连接符 743540"/>
          <p:cNvSpPr>
            <a:spLocks noChangeShapeType="1"/>
          </p:cNvSpPr>
          <p:nvPr/>
        </p:nvSpPr>
        <p:spPr bwMode="auto">
          <a:xfrm rot="2451080">
            <a:off x="10316633" y="4392307"/>
            <a:ext cx="1892300" cy="665162"/>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2" name="直接连接符 743541"/>
          <p:cNvSpPr>
            <a:spLocks noChangeShapeType="1"/>
          </p:cNvSpPr>
          <p:nvPr/>
        </p:nvSpPr>
        <p:spPr bwMode="auto">
          <a:xfrm rot="3010542">
            <a:off x="10457921" y="4500257"/>
            <a:ext cx="1744663" cy="719138"/>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3" name="直接连接符 743542"/>
          <p:cNvSpPr>
            <a:spLocks noChangeShapeType="1"/>
          </p:cNvSpPr>
          <p:nvPr/>
        </p:nvSpPr>
        <p:spPr bwMode="auto">
          <a:xfrm rot="3520172">
            <a:off x="10505547" y="4652658"/>
            <a:ext cx="1743075" cy="720725"/>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4" name="直接连接符 743543"/>
          <p:cNvSpPr>
            <a:spLocks noChangeShapeType="1"/>
          </p:cNvSpPr>
          <p:nvPr/>
        </p:nvSpPr>
        <p:spPr bwMode="auto">
          <a:xfrm rot="4157694">
            <a:off x="10511896" y="5154307"/>
            <a:ext cx="1746250" cy="717550"/>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5" name="任意多边形 743544"/>
          <p:cNvSpPr>
            <a:spLocks noChangeArrowheads="1"/>
          </p:cNvSpPr>
          <p:nvPr/>
        </p:nvSpPr>
        <p:spPr bwMode="auto">
          <a:xfrm rot="5400000">
            <a:off x="10718414" y="5037927"/>
            <a:ext cx="1844675" cy="295275"/>
          </a:xfrm>
          <a:custGeom>
            <a:avLst/>
            <a:gdLst>
              <a:gd name="T0" fmla="*/ 0 w 1065"/>
              <a:gd name="T1" fmla="*/ 0 h 156"/>
              <a:gd name="T2" fmla="*/ 2147483646 w 1065"/>
              <a:gd name="T3" fmla="*/ 2147483646 h 156"/>
              <a:gd name="T4" fmla="*/ 0 60000 65536"/>
              <a:gd name="T5" fmla="*/ 0 60000 65536"/>
            </a:gdLst>
            <a:ahLst/>
            <a:cxnLst>
              <a:cxn ang="T4">
                <a:pos x="T0" y="T1"/>
              </a:cxn>
              <a:cxn ang="T5">
                <a:pos x="T2" y="T3"/>
              </a:cxn>
            </a:cxnLst>
            <a:rect l="0" t="0" r="r" b="b"/>
            <a:pathLst>
              <a:path w="1065" h="156">
                <a:moveTo>
                  <a:pt x="0" y="0"/>
                </a:moveTo>
                <a:lnTo>
                  <a:pt x="1065" y="156"/>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46" name="直接连接符 743545"/>
          <p:cNvSpPr>
            <a:spLocks noChangeShapeType="1"/>
          </p:cNvSpPr>
          <p:nvPr/>
        </p:nvSpPr>
        <p:spPr bwMode="auto">
          <a:xfrm rot="5127787">
            <a:off x="10705713" y="4876001"/>
            <a:ext cx="1746250" cy="717550"/>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47" name="直接连接符 743546"/>
          <p:cNvSpPr>
            <a:spLocks noChangeShapeType="1"/>
          </p:cNvSpPr>
          <p:nvPr/>
        </p:nvSpPr>
        <p:spPr bwMode="auto">
          <a:xfrm rot="5594254">
            <a:off x="10443776" y="5327463"/>
            <a:ext cx="1746250" cy="720725"/>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grpSp>
        <p:nvGrpSpPr>
          <p:cNvPr id="743548" name="组合 743547"/>
          <p:cNvGrpSpPr/>
          <p:nvPr/>
        </p:nvGrpSpPr>
        <p:grpSpPr bwMode="auto">
          <a:xfrm rot="6846382">
            <a:off x="11251814" y="4660102"/>
            <a:ext cx="85725" cy="669925"/>
            <a:chOff x="3862" y="598"/>
            <a:chExt cx="48" cy="356"/>
          </a:xfrm>
        </p:grpSpPr>
        <p:sp>
          <p:nvSpPr>
            <p:cNvPr id="60554" name="任意多边形 743548"/>
            <p:cNvSpPr>
              <a:spLocks noChangeArrowheads="1"/>
            </p:cNvSpPr>
            <p:nvPr/>
          </p:nvSpPr>
          <p:spPr bwMode="auto">
            <a:xfrm>
              <a:off x="3885" y="599"/>
              <a:ext cx="1" cy="355"/>
            </a:xfrm>
            <a:custGeom>
              <a:avLst/>
              <a:gdLst>
                <a:gd name="T0" fmla="*/ 0 w 1"/>
                <a:gd name="T1" fmla="*/ 0 h 355"/>
                <a:gd name="T2" fmla="*/ 0 w 1"/>
                <a:gd name="T3" fmla="*/ 355 h 355"/>
                <a:gd name="T4" fmla="*/ 0 60000 65536"/>
                <a:gd name="T5" fmla="*/ 0 60000 65536"/>
              </a:gdLst>
              <a:ahLst/>
              <a:cxnLst>
                <a:cxn ang="T4">
                  <a:pos x="T0" y="T1"/>
                </a:cxn>
                <a:cxn ang="T5">
                  <a:pos x="T2" y="T3"/>
                </a:cxn>
              </a:cxnLst>
              <a:rect l="0" t="0" r="r" b="b"/>
              <a:pathLst>
                <a:path w="1" h="355">
                  <a:moveTo>
                    <a:pt x="0" y="0"/>
                  </a:moveTo>
                  <a:lnTo>
                    <a:pt x="0" y="355"/>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55" name="直接连接符 743549"/>
            <p:cNvSpPr>
              <a:spLocks noChangeShapeType="1"/>
            </p:cNvSpPr>
            <p:nvPr/>
          </p:nvSpPr>
          <p:spPr bwMode="auto">
            <a:xfrm>
              <a:off x="3862" y="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51" name="组合 743550"/>
          <p:cNvGrpSpPr/>
          <p:nvPr/>
        </p:nvGrpSpPr>
        <p:grpSpPr bwMode="auto">
          <a:xfrm rot="10794702">
            <a:off x="9926250" y="5484013"/>
            <a:ext cx="88900" cy="615950"/>
            <a:chOff x="3862" y="598"/>
            <a:chExt cx="48" cy="356"/>
          </a:xfrm>
        </p:grpSpPr>
        <p:sp>
          <p:nvSpPr>
            <p:cNvPr id="60552" name="任意多边形 743551"/>
            <p:cNvSpPr>
              <a:spLocks noChangeArrowheads="1"/>
            </p:cNvSpPr>
            <p:nvPr/>
          </p:nvSpPr>
          <p:spPr bwMode="auto">
            <a:xfrm>
              <a:off x="3885" y="599"/>
              <a:ext cx="1" cy="355"/>
            </a:xfrm>
            <a:custGeom>
              <a:avLst/>
              <a:gdLst>
                <a:gd name="T0" fmla="*/ 0 w 1"/>
                <a:gd name="T1" fmla="*/ 0 h 355"/>
                <a:gd name="T2" fmla="*/ 0 w 1"/>
                <a:gd name="T3" fmla="*/ 355 h 355"/>
                <a:gd name="T4" fmla="*/ 0 60000 65536"/>
                <a:gd name="T5" fmla="*/ 0 60000 65536"/>
              </a:gdLst>
              <a:ahLst/>
              <a:cxnLst>
                <a:cxn ang="T4">
                  <a:pos x="T0" y="T1"/>
                </a:cxn>
                <a:cxn ang="T5">
                  <a:pos x="T2" y="T3"/>
                </a:cxn>
              </a:cxnLst>
              <a:rect l="0" t="0" r="r" b="b"/>
              <a:pathLst>
                <a:path w="1" h="355">
                  <a:moveTo>
                    <a:pt x="0" y="0"/>
                  </a:moveTo>
                  <a:lnTo>
                    <a:pt x="0" y="355"/>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53" name="直接连接符 743552"/>
            <p:cNvSpPr>
              <a:spLocks noChangeShapeType="1"/>
            </p:cNvSpPr>
            <p:nvPr/>
          </p:nvSpPr>
          <p:spPr bwMode="auto">
            <a:xfrm>
              <a:off x="3862" y="59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54" name="组合 743553"/>
          <p:cNvGrpSpPr/>
          <p:nvPr/>
        </p:nvGrpSpPr>
        <p:grpSpPr bwMode="auto">
          <a:xfrm>
            <a:off x="9615101" y="5468139"/>
            <a:ext cx="157163" cy="588963"/>
            <a:chOff x="3747" y="3086"/>
            <a:chExt cx="84" cy="340"/>
          </a:xfrm>
        </p:grpSpPr>
        <p:sp>
          <p:nvSpPr>
            <p:cNvPr id="60550" name="任意多边形 743554"/>
            <p:cNvSpPr>
              <a:spLocks noChangeArrowheads="1"/>
            </p:cNvSpPr>
            <p:nvPr/>
          </p:nvSpPr>
          <p:spPr bwMode="auto">
            <a:xfrm>
              <a:off x="3771" y="3086"/>
              <a:ext cx="60" cy="340"/>
            </a:xfrm>
            <a:custGeom>
              <a:avLst/>
              <a:gdLst>
                <a:gd name="T0" fmla="*/ 60 w 60"/>
                <a:gd name="T1" fmla="*/ 0 h 340"/>
                <a:gd name="T2" fmla="*/ 0 w 60"/>
                <a:gd name="T3" fmla="*/ 340 h 340"/>
                <a:gd name="T4" fmla="*/ 0 60000 65536"/>
                <a:gd name="T5" fmla="*/ 0 60000 65536"/>
              </a:gdLst>
              <a:ahLst/>
              <a:cxnLst>
                <a:cxn ang="T4">
                  <a:pos x="T0" y="T1"/>
                </a:cxn>
                <a:cxn ang="T5">
                  <a:pos x="T2" y="T3"/>
                </a:cxn>
              </a:cxnLst>
              <a:rect l="0" t="0" r="r" b="b"/>
              <a:pathLst>
                <a:path w="60" h="340">
                  <a:moveTo>
                    <a:pt x="60" y="0"/>
                  </a:moveTo>
                  <a:lnTo>
                    <a:pt x="0" y="34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51" name="直接连接符 743555"/>
            <p:cNvSpPr>
              <a:spLocks noChangeShapeType="1"/>
            </p:cNvSpPr>
            <p:nvPr/>
          </p:nvSpPr>
          <p:spPr bwMode="auto">
            <a:xfrm rot="598097">
              <a:off x="3747" y="3426"/>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57" name="组合 743556"/>
          <p:cNvGrpSpPr/>
          <p:nvPr/>
        </p:nvGrpSpPr>
        <p:grpSpPr bwMode="auto">
          <a:xfrm>
            <a:off x="9318239" y="5418927"/>
            <a:ext cx="255587" cy="515937"/>
            <a:chOff x="3589" y="3057"/>
            <a:chExt cx="136" cy="298"/>
          </a:xfrm>
        </p:grpSpPr>
        <p:sp>
          <p:nvSpPr>
            <p:cNvPr id="60548" name="任意多边形 743557"/>
            <p:cNvSpPr>
              <a:spLocks noChangeArrowheads="1"/>
            </p:cNvSpPr>
            <p:nvPr/>
          </p:nvSpPr>
          <p:spPr bwMode="auto">
            <a:xfrm>
              <a:off x="3613" y="3057"/>
              <a:ext cx="112" cy="298"/>
            </a:xfrm>
            <a:custGeom>
              <a:avLst/>
              <a:gdLst>
                <a:gd name="T0" fmla="*/ 112 w 112"/>
                <a:gd name="T1" fmla="*/ 0 h 298"/>
                <a:gd name="T2" fmla="*/ 0 w 112"/>
                <a:gd name="T3" fmla="*/ 298 h 298"/>
                <a:gd name="T4" fmla="*/ 0 60000 65536"/>
                <a:gd name="T5" fmla="*/ 0 60000 65536"/>
              </a:gdLst>
              <a:ahLst/>
              <a:cxnLst>
                <a:cxn ang="T4">
                  <a:pos x="T0" y="T1"/>
                </a:cxn>
                <a:cxn ang="T5">
                  <a:pos x="T2" y="T3"/>
                </a:cxn>
              </a:cxnLst>
              <a:rect l="0" t="0" r="r" b="b"/>
              <a:pathLst>
                <a:path w="112" h="298">
                  <a:moveTo>
                    <a:pt x="112" y="0"/>
                  </a:moveTo>
                  <a:lnTo>
                    <a:pt x="0" y="298"/>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49" name="直接连接符 743558"/>
            <p:cNvSpPr>
              <a:spLocks noChangeShapeType="1"/>
            </p:cNvSpPr>
            <p:nvPr/>
          </p:nvSpPr>
          <p:spPr bwMode="auto">
            <a:xfrm rot="1238476">
              <a:off x="3589" y="33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60" name="组合 743559"/>
          <p:cNvGrpSpPr/>
          <p:nvPr/>
        </p:nvGrpSpPr>
        <p:grpSpPr bwMode="auto">
          <a:xfrm>
            <a:off x="8919776" y="5223663"/>
            <a:ext cx="301625" cy="273050"/>
            <a:chOff x="3377" y="2945"/>
            <a:chExt cx="160" cy="157"/>
          </a:xfrm>
        </p:grpSpPr>
        <p:sp>
          <p:nvSpPr>
            <p:cNvPr id="60546" name="任意多边形 743560"/>
            <p:cNvSpPr>
              <a:spLocks noChangeArrowheads="1"/>
            </p:cNvSpPr>
            <p:nvPr/>
          </p:nvSpPr>
          <p:spPr bwMode="auto">
            <a:xfrm>
              <a:off x="3399" y="2945"/>
              <a:ext cx="138" cy="157"/>
            </a:xfrm>
            <a:custGeom>
              <a:avLst/>
              <a:gdLst>
                <a:gd name="T0" fmla="*/ 138 w 138"/>
                <a:gd name="T1" fmla="*/ 0 h 157"/>
                <a:gd name="T2" fmla="*/ 0 w 138"/>
                <a:gd name="T3" fmla="*/ 157 h 157"/>
                <a:gd name="T4" fmla="*/ 0 60000 65536"/>
                <a:gd name="T5" fmla="*/ 0 60000 65536"/>
              </a:gdLst>
              <a:ahLst/>
              <a:cxnLst>
                <a:cxn ang="T4">
                  <a:pos x="T0" y="T1"/>
                </a:cxn>
                <a:cxn ang="T5">
                  <a:pos x="T2" y="T3"/>
                </a:cxn>
              </a:cxnLst>
              <a:rect l="0" t="0" r="r" b="b"/>
              <a:pathLst>
                <a:path w="138" h="157">
                  <a:moveTo>
                    <a:pt x="138" y="0"/>
                  </a:moveTo>
                  <a:lnTo>
                    <a:pt x="0" y="157"/>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47" name="直接连接符 743561"/>
            <p:cNvSpPr>
              <a:spLocks noChangeShapeType="1"/>
            </p:cNvSpPr>
            <p:nvPr/>
          </p:nvSpPr>
          <p:spPr bwMode="auto">
            <a:xfrm rot="2465983">
              <a:off x="3377" y="3102"/>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63" name="组合 743562"/>
          <p:cNvGrpSpPr/>
          <p:nvPr/>
        </p:nvGrpSpPr>
        <p:grpSpPr bwMode="auto">
          <a:xfrm>
            <a:off x="8867389" y="5090313"/>
            <a:ext cx="217487" cy="198438"/>
            <a:chOff x="3348" y="2868"/>
            <a:chExt cx="116" cy="114"/>
          </a:xfrm>
        </p:grpSpPr>
        <p:sp>
          <p:nvSpPr>
            <p:cNvPr id="60544" name="任意多边形 743563"/>
            <p:cNvSpPr>
              <a:spLocks noChangeArrowheads="1"/>
            </p:cNvSpPr>
            <p:nvPr/>
          </p:nvSpPr>
          <p:spPr bwMode="auto">
            <a:xfrm>
              <a:off x="3348" y="2868"/>
              <a:ext cx="116" cy="90"/>
            </a:xfrm>
            <a:custGeom>
              <a:avLst/>
              <a:gdLst>
                <a:gd name="T0" fmla="*/ 116 w 116"/>
                <a:gd name="T1" fmla="*/ 0 h 90"/>
                <a:gd name="T2" fmla="*/ 0 w 116"/>
                <a:gd name="T3" fmla="*/ 90 h 90"/>
                <a:gd name="T4" fmla="*/ 0 60000 65536"/>
                <a:gd name="T5" fmla="*/ 0 60000 65536"/>
              </a:gdLst>
              <a:ahLst/>
              <a:cxnLst>
                <a:cxn ang="T4">
                  <a:pos x="T0" y="T1"/>
                </a:cxn>
                <a:cxn ang="T5">
                  <a:pos x="T2" y="T3"/>
                </a:cxn>
              </a:cxnLst>
              <a:rect l="0" t="0" r="r" b="b"/>
              <a:pathLst>
                <a:path w="116" h="90">
                  <a:moveTo>
                    <a:pt x="116" y="0"/>
                  </a:moveTo>
                  <a:lnTo>
                    <a:pt x="0" y="9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45" name="直接连接符 743564"/>
            <p:cNvSpPr>
              <a:spLocks noChangeShapeType="1"/>
            </p:cNvSpPr>
            <p:nvPr/>
          </p:nvSpPr>
          <p:spPr bwMode="auto">
            <a:xfrm rot="3097880">
              <a:off x="3326" y="2958"/>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66" name="组合 743565"/>
          <p:cNvGrpSpPr/>
          <p:nvPr/>
        </p:nvGrpSpPr>
        <p:grpSpPr bwMode="auto">
          <a:xfrm>
            <a:off x="8827700" y="4949026"/>
            <a:ext cx="153988" cy="125412"/>
            <a:chOff x="3327" y="2786"/>
            <a:chExt cx="82" cy="72"/>
          </a:xfrm>
        </p:grpSpPr>
        <p:sp>
          <p:nvSpPr>
            <p:cNvPr id="60542" name="任意多边形 743566"/>
            <p:cNvSpPr>
              <a:spLocks noChangeArrowheads="1"/>
            </p:cNvSpPr>
            <p:nvPr/>
          </p:nvSpPr>
          <p:spPr bwMode="auto">
            <a:xfrm>
              <a:off x="3327" y="2786"/>
              <a:ext cx="82" cy="48"/>
            </a:xfrm>
            <a:custGeom>
              <a:avLst/>
              <a:gdLst>
                <a:gd name="T0" fmla="*/ 82 w 82"/>
                <a:gd name="T1" fmla="*/ 0 h 48"/>
                <a:gd name="T2" fmla="*/ 0 w 82"/>
                <a:gd name="T3" fmla="*/ 48 h 48"/>
                <a:gd name="T4" fmla="*/ 0 60000 65536"/>
                <a:gd name="T5" fmla="*/ 0 60000 65536"/>
              </a:gdLst>
              <a:ahLst/>
              <a:cxnLst>
                <a:cxn ang="T4">
                  <a:pos x="T0" y="T1"/>
                </a:cxn>
                <a:cxn ang="T5">
                  <a:pos x="T2" y="T3"/>
                </a:cxn>
              </a:cxnLst>
              <a:rect l="0" t="0" r="r" b="b"/>
              <a:pathLst>
                <a:path w="82" h="48">
                  <a:moveTo>
                    <a:pt x="82" y="0"/>
                  </a:moveTo>
                  <a:lnTo>
                    <a:pt x="0" y="48"/>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43" name="直接连接符 743567"/>
            <p:cNvSpPr>
              <a:spLocks noChangeShapeType="1"/>
            </p:cNvSpPr>
            <p:nvPr/>
          </p:nvSpPr>
          <p:spPr bwMode="auto">
            <a:xfrm rot="3632452">
              <a:off x="3304" y="283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69" name="组合 743568"/>
          <p:cNvGrpSpPr/>
          <p:nvPr/>
        </p:nvGrpSpPr>
        <p:grpSpPr bwMode="auto">
          <a:xfrm>
            <a:off x="8811826" y="4793451"/>
            <a:ext cx="98425" cy="82550"/>
            <a:chOff x="3319" y="2696"/>
            <a:chExt cx="52" cy="48"/>
          </a:xfrm>
        </p:grpSpPr>
        <p:sp>
          <p:nvSpPr>
            <p:cNvPr id="60540" name="任意多边形 743569"/>
            <p:cNvSpPr>
              <a:spLocks noChangeArrowheads="1"/>
            </p:cNvSpPr>
            <p:nvPr/>
          </p:nvSpPr>
          <p:spPr bwMode="auto">
            <a:xfrm>
              <a:off x="3319" y="2699"/>
              <a:ext cx="52" cy="20"/>
            </a:xfrm>
            <a:custGeom>
              <a:avLst/>
              <a:gdLst>
                <a:gd name="T0" fmla="*/ 52 w 52"/>
                <a:gd name="T1" fmla="*/ 0 h 20"/>
                <a:gd name="T2" fmla="*/ 0 w 52"/>
                <a:gd name="T3" fmla="*/ 20 h 20"/>
                <a:gd name="T4" fmla="*/ 0 60000 65536"/>
                <a:gd name="T5" fmla="*/ 0 60000 65536"/>
              </a:gdLst>
              <a:ahLst/>
              <a:cxnLst>
                <a:cxn ang="T4">
                  <a:pos x="T0" y="T1"/>
                </a:cxn>
                <a:cxn ang="T5">
                  <a:pos x="T2" y="T3"/>
                </a:cxn>
              </a:cxnLst>
              <a:rect l="0" t="0" r="r" b="b"/>
              <a:pathLst>
                <a:path w="52" h="20">
                  <a:moveTo>
                    <a:pt x="52" y="0"/>
                  </a:moveTo>
                  <a:lnTo>
                    <a:pt x="0" y="2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41" name="直接连接符 743570"/>
            <p:cNvSpPr>
              <a:spLocks noChangeShapeType="1"/>
            </p:cNvSpPr>
            <p:nvPr/>
          </p:nvSpPr>
          <p:spPr bwMode="auto">
            <a:xfrm rot="4206387">
              <a:off x="3297" y="2720"/>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3572" name="组合 743571"/>
          <p:cNvGrpSpPr/>
          <p:nvPr/>
        </p:nvGrpSpPr>
        <p:grpSpPr bwMode="auto">
          <a:xfrm>
            <a:off x="8826113" y="4593427"/>
            <a:ext cx="36512" cy="84137"/>
            <a:chOff x="3326" y="2581"/>
            <a:chExt cx="20" cy="48"/>
          </a:xfrm>
        </p:grpSpPr>
        <p:sp>
          <p:nvSpPr>
            <p:cNvPr id="60538" name="任意多边形 743572"/>
            <p:cNvSpPr>
              <a:spLocks noChangeArrowheads="1"/>
            </p:cNvSpPr>
            <p:nvPr/>
          </p:nvSpPr>
          <p:spPr bwMode="auto">
            <a:xfrm>
              <a:off x="3326" y="2600"/>
              <a:ext cx="20" cy="4"/>
            </a:xfrm>
            <a:custGeom>
              <a:avLst/>
              <a:gdLst>
                <a:gd name="T0" fmla="*/ 20 w 20"/>
                <a:gd name="T1" fmla="*/ 0 h 4"/>
                <a:gd name="T2" fmla="*/ 0 w 20"/>
                <a:gd name="T3" fmla="*/ 4 h 4"/>
                <a:gd name="T4" fmla="*/ 0 60000 65536"/>
                <a:gd name="T5" fmla="*/ 0 60000 65536"/>
              </a:gdLst>
              <a:ahLst/>
              <a:cxnLst>
                <a:cxn ang="T4">
                  <a:pos x="T0" y="T1"/>
                </a:cxn>
                <a:cxn ang="T5">
                  <a:pos x="T2" y="T3"/>
                </a:cxn>
              </a:cxnLst>
              <a:rect l="0" t="0" r="r" b="b"/>
              <a:pathLst>
                <a:path w="20" h="4">
                  <a:moveTo>
                    <a:pt x="20" y="0"/>
                  </a:moveTo>
                  <a:lnTo>
                    <a:pt x="0" y="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60539" name="直接连接符 743573"/>
            <p:cNvSpPr>
              <a:spLocks noChangeShapeType="1"/>
            </p:cNvSpPr>
            <p:nvPr/>
          </p:nvSpPr>
          <p:spPr bwMode="auto">
            <a:xfrm rot="4805995">
              <a:off x="3303" y="2605"/>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sp>
        <p:nvSpPr>
          <p:cNvPr id="743575" name="直接连接符 743574"/>
          <p:cNvSpPr>
            <a:spLocks noChangeShapeType="1"/>
          </p:cNvSpPr>
          <p:nvPr/>
        </p:nvSpPr>
        <p:spPr bwMode="auto">
          <a:xfrm rot="4148484">
            <a:off x="7968864" y="4707727"/>
            <a:ext cx="1743075" cy="720725"/>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76" name="直接连接符 743575"/>
          <p:cNvSpPr>
            <a:spLocks noChangeShapeType="1"/>
          </p:cNvSpPr>
          <p:nvPr/>
        </p:nvSpPr>
        <p:spPr bwMode="auto">
          <a:xfrm rot="3529401">
            <a:off x="8055382" y="4791070"/>
            <a:ext cx="1746250" cy="72231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77" name="直接连接符 743576"/>
          <p:cNvSpPr>
            <a:spLocks noChangeShapeType="1"/>
          </p:cNvSpPr>
          <p:nvPr/>
        </p:nvSpPr>
        <p:spPr bwMode="auto">
          <a:xfrm rot="2954418">
            <a:off x="8135551" y="4964901"/>
            <a:ext cx="1746250" cy="720725"/>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78" name="直接连接符 743577"/>
          <p:cNvSpPr>
            <a:spLocks noChangeShapeType="1"/>
          </p:cNvSpPr>
          <p:nvPr/>
        </p:nvSpPr>
        <p:spPr bwMode="auto">
          <a:xfrm rot="13180787">
            <a:off x="8076813" y="5018876"/>
            <a:ext cx="1892300" cy="665162"/>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79" name="直接连接符 743578"/>
          <p:cNvSpPr>
            <a:spLocks noChangeShapeType="1"/>
          </p:cNvSpPr>
          <p:nvPr/>
        </p:nvSpPr>
        <p:spPr bwMode="auto">
          <a:xfrm rot="12652647">
            <a:off x="8230801" y="5274464"/>
            <a:ext cx="1890713" cy="66516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80" name="直接连接符 743579"/>
          <p:cNvSpPr>
            <a:spLocks noChangeShapeType="1"/>
          </p:cNvSpPr>
          <p:nvPr/>
        </p:nvSpPr>
        <p:spPr bwMode="auto">
          <a:xfrm rot="12004870">
            <a:off x="8359388" y="5439564"/>
            <a:ext cx="1892300" cy="66516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81" name="直接连接符 743580"/>
          <p:cNvSpPr>
            <a:spLocks noChangeShapeType="1"/>
          </p:cNvSpPr>
          <p:nvPr/>
        </p:nvSpPr>
        <p:spPr bwMode="auto">
          <a:xfrm rot="11375386">
            <a:off x="8692763" y="5677689"/>
            <a:ext cx="1890712" cy="66516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82" name="直接连接符 743581"/>
          <p:cNvSpPr>
            <a:spLocks noChangeShapeType="1"/>
          </p:cNvSpPr>
          <p:nvPr/>
        </p:nvSpPr>
        <p:spPr bwMode="auto">
          <a:xfrm rot="10765399">
            <a:off x="8921363" y="5769764"/>
            <a:ext cx="1892300" cy="665163"/>
          </a:xfrm>
          <a:prstGeom prst="line">
            <a:avLst/>
          </a:prstGeom>
          <a:noFill/>
          <a:ln w="3175">
            <a:solidFill>
              <a:srgbClr val="FF00FF"/>
            </a:solidFill>
            <a:round/>
          </a:ln>
          <a:extLst>
            <a:ext uri="{909E8E84-426E-40DD-AFC4-6F175D3DCCD1}">
              <a14:hiddenFill xmlns:a14="http://schemas.microsoft.com/office/drawing/2010/main">
                <a:noFill/>
              </a14:hiddenFill>
            </a:ext>
          </a:extLst>
        </p:spPr>
        <p:txBody>
          <a:bodyPr wrap="square"/>
          <a:lstStyle/>
          <a:p>
            <a:endParaRPr lang="en-AU"/>
          </a:p>
        </p:txBody>
      </p:sp>
      <p:sp>
        <p:nvSpPr>
          <p:cNvPr id="743584" name="任意多边形 743583"/>
          <p:cNvSpPr>
            <a:spLocks noChangeArrowheads="1"/>
          </p:cNvSpPr>
          <p:nvPr/>
        </p:nvSpPr>
        <p:spPr bwMode="auto">
          <a:xfrm>
            <a:off x="9967526" y="3407564"/>
            <a:ext cx="1730375" cy="1712913"/>
          </a:xfrm>
          <a:custGeom>
            <a:avLst/>
            <a:gdLst>
              <a:gd name="T0" fmla="*/ 0 w 1006"/>
              <a:gd name="T1" fmla="*/ 0 h 1079"/>
              <a:gd name="T2" fmla="*/ 0 w 1006"/>
              <a:gd name="T3" fmla="*/ 0 h 1079"/>
              <a:gd name="T4" fmla="*/ 2147483646 w 1006"/>
              <a:gd name="T5" fmla="*/ 2147483646 h 1079"/>
              <a:gd name="T6" fmla="*/ 2147483646 w 1006"/>
              <a:gd name="T7" fmla="*/ 2147483646 h 1079"/>
              <a:gd name="T8" fmla="*/ 2147483646 w 1006"/>
              <a:gd name="T9" fmla="*/ 2147483646 h 1079"/>
              <a:gd name="T10" fmla="*/ 2147483646 w 1006"/>
              <a:gd name="T11" fmla="*/ 2147483646 h 1079"/>
              <a:gd name="T12" fmla="*/ 2147483646 w 1006"/>
              <a:gd name="T13" fmla="*/ 2147483646 h 1079"/>
              <a:gd name="T14" fmla="*/ 2147483646 w 1006"/>
              <a:gd name="T15" fmla="*/ 2147483646 h 1079"/>
              <a:gd name="T16" fmla="*/ 2147483646 w 1006"/>
              <a:gd name="T17" fmla="*/ 2147483646 h 1079"/>
              <a:gd name="T18" fmla="*/ 2147483646 w 1006"/>
              <a:gd name="T19" fmla="*/ 2147483646 h 1079"/>
              <a:gd name="T20" fmla="*/ 2147483646 w 1006"/>
              <a:gd name="T21" fmla="*/ 2147483646 h 1079"/>
              <a:gd name="T22" fmla="*/ 2147483646 w 1006"/>
              <a:gd name="T23" fmla="*/ 2147483646 h 1079"/>
              <a:gd name="T24" fmla="*/ 2147483646 w 1006"/>
              <a:gd name="T25" fmla="*/ 2147483646 h 1079"/>
              <a:gd name="T26" fmla="*/ 2147483646 w 1006"/>
              <a:gd name="T27" fmla="*/ 2147483646 h 107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06" h="1079">
                <a:moveTo>
                  <a:pt x="0" y="0"/>
                </a:moveTo>
                <a:lnTo>
                  <a:pt x="0" y="0"/>
                </a:lnTo>
                <a:cubicBezTo>
                  <a:pt x="21" y="2"/>
                  <a:pt x="71" y="2"/>
                  <a:pt x="123" y="12"/>
                </a:cubicBezTo>
                <a:cubicBezTo>
                  <a:pt x="174" y="22"/>
                  <a:pt x="250" y="40"/>
                  <a:pt x="309" y="62"/>
                </a:cubicBezTo>
                <a:cubicBezTo>
                  <a:pt x="368" y="84"/>
                  <a:pt x="417" y="106"/>
                  <a:pt x="475" y="141"/>
                </a:cubicBezTo>
                <a:cubicBezTo>
                  <a:pt x="533" y="176"/>
                  <a:pt x="599" y="223"/>
                  <a:pt x="658" y="274"/>
                </a:cubicBezTo>
                <a:cubicBezTo>
                  <a:pt x="717" y="325"/>
                  <a:pt x="785" y="397"/>
                  <a:pt x="829" y="450"/>
                </a:cubicBezTo>
                <a:cubicBezTo>
                  <a:pt x="874" y="504"/>
                  <a:pt x="902" y="552"/>
                  <a:pt x="927" y="594"/>
                </a:cubicBezTo>
                <a:cubicBezTo>
                  <a:pt x="953" y="637"/>
                  <a:pt x="968" y="677"/>
                  <a:pt x="980" y="709"/>
                </a:cubicBezTo>
                <a:cubicBezTo>
                  <a:pt x="992" y="741"/>
                  <a:pt x="997" y="760"/>
                  <a:pt x="1002" y="784"/>
                </a:cubicBezTo>
                <a:cubicBezTo>
                  <a:pt x="1006" y="808"/>
                  <a:pt x="1005" y="830"/>
                  <a:pt x="1005" y="853"/>
                </a:cubicBezTo>
                <a:cubicBezTo>
                  <a:pt x="1005" y="876"/>
                  <a:pt x="1004" y="900"/>
                  <a:pt x="1002" y="919"/>
                </a:cubicBezTo>
                <a:cubicBezTo>
                  <a:pt x="999" y="939"/>
                  <a:pt x="998" y="946"/>
                  <a:pt x="990" y="972"/>
                </a:cubicBezTo>
                <a:cubicBezTo>
                  <a:pt x="981" y="998"/>
                  <a:pt x="957" y="1061"/>
                  <a:pt x="950" y="1079"/>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3585" name="组合 743584"/>
          <p:cNvGrpSpPr/>
          <p:nvPr/>
        </p:nvGrpSpPr>
        <p:grpSpPr bwMode="auto">
          <a:xfrm>
            <a:off x="9094401" y="5339552"/>
            <a:ext cx="301625" cy="401637"/>
            <a:chOff x="3522" y="3083"/>
            <a:chExt cx="176" cy="253"/>
          </a:xfrm>
        </p:grpSpPr>
        <p:sp>
          <p:nvSpPr>
            <p:cNvPr id="60536" name="直接连接符 743585"/>
            <p:cNvSpPr>
              <a:spLocks noChangeShapeType="1"/>
            </p:cNvSpPr>
            <p:nvPr/>
          </p:nvSpPr>
          <p:spPr bwMode="auto">
            <a:xfrm rot="1814875">
              <a:off x="3522" y="3336"/>
              <a:ext cx="52"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sp>
          <p:nvSpPr>
            <p:cNvPr id="60537" name="任意多边形 743586"/>
            <p:cNvSpPr>
              <a:spLocks noChangeArrowheads="1"/>
            </p:cNvSpPr>
            <p:nvPr/>
          </p:nvSpPr>
          <p:spPr bwMode="auto">
            <a:xfrm>
              <a:off x="3550" y="3083"/>
              <a:ext cx="148" cy="251"/>
            </a:xfrm>
            <a:custGeom>
              <a:avLst/>
              <a:gdLst>
                <a:gd name="T0" fmla="*/ 0 w 148"/>
                <a:gd name="T1" fmla="*/ 251 h 251"/>
                <a:gd name="T2" fmla="*/ 148 w 148"/>
                <a:gd name="T3" fmla="*/ 0 h 251"/>
                <a:gd name="T4" fmla="*/ 0 60000 65536"/>
                <a:gd name="T5" fmla="*/ 0 60000 65536"/>
              </a:gdLst>
              <a:ahLst/>
              <a:cxnLst>
                <a:cxn ang="T4">
                  <a:pos x="T0" y="T1"/>
                </a:cxn>
                <a:cxn ang="T5">
                  <a:pos x="T2" y="T3"/>
                </a:cxn>
              </a:cxnLst>
              <a:rect l="0" t="0" r="r" b="b"/>
              <a:pathLst>
                <a:path w="148" h="251">
                  <a:moveTo>
                    <a:pt x="0" y="251"/>
                  </a:moveTo>
                  <a:lnTo>
                    <a:pt x="148"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sp>
        <p:nvSpPr>
          <p:cNvPr id="743588" name="任意多边形 743587"/>
          <p:cNvSpPr>
            <a:spLocks noChangeArrowheads="1"/>
          </p:cNvSpPr>
          <p:nvPr/>
        </p:nvSpPr>
        <p:spPr bwMode="auto">
          <a:xfrm>
            <a:off x="8849925" y="4450552"/>
            <a:ext cx="1125538" cy="1652587"/>
          </a:xfrm>
          <a:custGeom>
            <a:avLst/>
            <a:gdLst>
              <a:gd name="T0" fmla="*/ 2147483646 w 655"/>
              <a:gd name="T1" fmla="*/ 2147483646 h 1041"/>
              <a:gd name="T2" fmla="*/ 2147483646 w 655"/>
              <a:gd name="T3" fmla="*/ 2147483646 h 1041"/>
              <a:gd name="T4" fmla="*/ 2147483646 w 655"/>
              <a:gd name="T5" fmla="*/ 2147483646 h 1041"/>
              <a:gd name="T6" fmla="*/ 2147483646 w 655"/>
              <a:gd name="T7" fmla="*/ 2147483646 h 1041"/>
              <a:gd name="T8" fmla="*/ 2147483646 w 655"/>
              <a:gd name="T9" fmla="*/ 2147483646 h 1041"/>
              <a:gd name="T10" fmla="*/ 2147483646 w 655"/>
              <a:gd name="T11" fmla="*/ 2147483646 h 1041"/>
              <a:gd name="T12" fmla="*/ 2147483646 w 655"/>
              <a:gd name="T13" fmla="*/ 2147483646 h 1041"/>
              <a:gd name="T14" fmla="*/ 2147483646 w 655"/>
              <a:gd name="T15" fmla="*/ 2147483646 h 1041"/>
              <a:gd name="T16" fmla="*/ 2147483646 w 655"/>
              <a:gd name="T17" fmla="*/ 2147483646 h 1041"/>
              <a:gd name="T18" fmla="*/ 0 w 655"/>
              <a:gd name="T19" fmla="*/ 0 h 10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55" h="1041">
                <a:moveTo>
                  <a:pt x="655" y="1041"/>
                </a:moveTo>
                <a:cubicBezTo>
                  <a:pt x="645" y="1040"/>
                  <a:pt x="618" y="1040"/>
                  <a:pt x="597" y="1037"/>
                </a:cubicBezTo>
                <a:cubicBezTo>
                  <a:pt x="576" y="1033"/>
                  <a:pt x="555" y="1030"/>
                  <a:pt x="531" y="1020"/>
                </a:cubicBezTo>
                <a:cubicBezTo>
                  <a:pt x="507" y="1010"/>
                  <a:pt x="479" y="997"/>
                  <a:pt x="450" y="979"/>
                </a:cubicBezTo>
                <a:cubicBezTo>
                  <a:pt x="420" y="960"/>
                  <a:pt x="388" y="940"/>
                  <a:pt x="355" y="910"/>
                </a:cubicBezTo>
                <a:cubicBezTo>
                  <a:pt x="321" y="881"/>
                  <a:pt x="285" y="846"/>
                  <a:pt x="250" y="802"/>
                </a:cubicBezTo>
                <a:cubicBezTo>
                  <a:pt x="215" y="759"/>
                  <a:pt x="178" y="702"/>
                  <a:pt x="147" y="648"/>
                </a:cubicBezTo>
                <a:cubicBezTo>
                  <a:pt x="117" y="595"/>
                  <a:pt x="90" y="543"/>
                  <a:pt x="69" y="480"/>
                </a:cubicBezTo>
                <a:cubicBezTo>
                  <a:pt x="48" y="418"/>
                  <a:pt x="33" y="355"/>
                  <a:pt x="21" y="275"/>
                </a:cubicBezTo>
                <a:cubicBezTo>
                  <a:pt x="9" y="196"/>
                  <a:pt x="3" y="46"/>
                  <a:pt x="0" y="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0" name="任意多边形 743589"/>
          <p:cNvSpPr>
            <a:spLocks noChangeArrowheads="1"/>
          </p:cNvSpPr>
          <p:nvPr/>
        </p:nvSpPr>
        <p:spPr bwMode="auto">
          <a:xfrm flipH="1">
            <a:off x="8848339" y="3404389"/>
            <a:ext cx="1133475" cy="1046163"/>
          </a:xfrm>
          <a:custGeom>
            <a:avLst/>
            <a:gdLst>
              <a:gd name="T0" fmla="*/ 0 w 21600"/>
              <a:gd name="T1" fmla="*/ 0 h 21600"/>
              <a:gd name="T2" fmla="*/ 2147483646 w 21600"/>
              <a:gd name="T3" fmla="*/ 2147483646 h 21600"/>
              <a:gd name="T4" fmla="*/ 0 w 21600"/>
              <a:gd name="T5" fmla="*/ 0 h 21600"/>
              <a:gd name="T6" fmla="*/ 2147483646 w 21600"/>
              <a:gd name="T7" fmla="*/ 2147483646 h 21600"/>
              <a:gd name="T8" fmla="*/ 0 w 21600"/>
              <a:gd name="T9" fmla="*/ 214748364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1" name="任意多边形 743590"/>
          <p:cNvSpPr>
            <a:spLocks noChangeArrowheads="1"/>
          </p:cNvSpPr>
          <p:nvPr/>
        </p:nvSpPr>
        <p:spPr bwMode="auto">
          <a:xfrm>
            <a:off x="8096301" y="2127180"/>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2" name="任意多边形 743591"/>
          <p:cNvSpPr>
            <a:spLocks noChangeArrowheads="1"/>
          </p:cNvSpPr>
          <p:nvPr/>
        </p:nvSpPr>
        <p:spPr bwMode="auto">
          <a:xfrm>
            <a:off x="8309026" y="1995417"/>
            <a:ext cx="0" cy="150813"/>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3" name="任意多边形 743592"/>
          <p:cNvSpPr>
            <a:spLocks noChangeArrowheads="1"/>
          </p:cNvSpPr>
          <p:nvPr/>
        </p:nvSpPr>
        <p:spPr bwMode="auto">
          <a:xfrm>
            <a:off x="8520165" y="1738242"/>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4" name="任意多边形 743593"/>
          <p:cNvSpPr>
            <a:spLocks noChangeArrowheads="1"/>
          </p:cNvSpPr>
          <p:nvPr/>
        </p:nvSpPr>
        <p:spPr bwMode="auto">
          <a:xfrm>
            <a:off x="8731301" y="1487416"/>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5" name="任意多边形 743594"/>
          <p:cNvSpPr>
            <a:spLocks noChangeArrowheads="1"/>
          </p:cNvSpPr>
          <p:nvPr/>
        </p:nvSpPr>
        <p:spPr bwMode="auto">
          <a:xfrm>
            <a:off x="8945614" y="1349304"/>
            <a:ext cx="0" cy="798512"/>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6" name="任意多边形 743595"/>
          <p:cNvSpPr>
            <a:spLocks noChangeArrowheads="1"/>
          </p:cNvSpPr>
          <p:nvPr/>
        </p:nvSpPr>
        <p:spPr bwMode="auto">
          <a:xfrm>
            <a:off x="9050390" y="1338191"/>
            <a:ext cx="1587" cy="814388"/>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7" name="任意多边形 743596"/>
          <p:cNvSpPr>
            <a:spLocks noChangeArrowheads="1"/>
          </p:cNvSpPr>
          <p:nvPr/>
        </p:nvSpPr>
        <p:spPr bwMode="auto">
          <a:xfrm>
            <a:off x="8202665" y="2077966"/>
            <a:ext cx="1587" cy="71438"/>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8" name="任意多边形 743597"/>
          <p:cNvSpPr>
            <a:spLocks noChangeArrowheads="1"/>
          </p:cNvSpPr>
          <p:nvPr/>
        </p:nvSpPr>
        <p:spPr bwMode="auto">
          <a:xfrm>
            <a:off x="8413801" y="1873179"/>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599" name="任意多边形 743598"/>
          <p:cNvSpPr>
            <a:spLocks noChangeArrowheads="1"/>
          </p:cNvSpPr>
          <p:nvPr/>
        </p:nvSpPr>
        <p:spPr bwMode="auto">
          <a:xfrm>
            <a:off x="8624940" y="1603304"/>
            <a:ext cx="1587" cy="544512"/>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0" name="任意多边形 743599"/>
          <p:cNvSpPr>
            <a:spLocks noChangeArrowheads="1"/>
          </p:cNvSpPr>
          <p:nvPr/>
        </p:nvSpPr>
        <p:spPr bwMode="auto">
          <a:xfrm>
            <a:off x="8839251" y="1403280"/>
            <a:ext cx="1588" cy="744537"/>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1" name="任意多边形 743600"/>
          <p:cNvSpPr>
            <a:spLocks noChangeArrowheads="1"/>
          </p:cNvSpPr>
          <p:nvPr/>
        </p:nvSpPr>
        <p:spPr bwMode="auto">
          <a:xfrm>
            <a:off x="9906051" y="1423916"/>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2" name="任意多边形 743601"/>
          <p:cNvSpPr>
            <a:spLocks noChangeArrowheads="1"/>
          </p:cNvSpPr>
          <p:nvPr/>
        </p:nvSpPr>
        <p:spPr bwMode="auto">
          <a:xfrm>
            <a:off x="10015590" y="1514405"/>
            <a:ext cx="1587" cy="636587"/>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3" name="任意多边形 743602"/>
          <p:cNvSpPr>
            <a:spLocks noChangeArrowheads="1"/>
          </p:cNvSpPr>
          <p:nvPr/>
        </p:nvSpPr>
        <p:spPr bwMode="auto">
          <a:xfrm>
            <a:off x="10134651" y="1608067"/>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4" name="任意多边形 743603"/>
          <p:cNvSpPr>
            <a:spLocks noChangeArrowheads="1"/>
          </p:cNvSpPr>
          <p:nvPr/>
        </p:nvSpPr>
        <p:spPr bwMode="auto">
          <a:xfrm>
            <a:off x="10242601" y="1695379"/>
            <a:ext cx="1588" cy="455612"/>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5" name="任意多边形 743604"/>
          <p:cNvSpPr>
            <a:spLocks noChangeArrowheads="1"/>
          </p:cNvSpPr>
          <p:nvPr/>
        </p:nvSpPr>
        <p:spPr bwMode="auto">
          <a:xfrm>
            <a:off x="10353726" y="1777929"/>
            <a:ext cx="1588" cy="373062"/>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6" name="任意多边形 743605"/>
          <p:cNvSpPr>
            <a:spLocks noChangeArrowheads="1"/>
          </p:cNvSpPr>
          <p:nvPr/>
        </p:nvSpPr>
        <p:spPr bwMode="auto">
          <a:xfrm>
            <a:off x="10464851" y="1879529"/>
            <a:ext cx="1588" cy="271462"/>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7" name="任意多边形 743606"/>
          <p:cNvSpPr>
            <a:spLocks noChangeArrowheads="1"/>
          </p:cNvSpPr>
          <p:nvPr/>
        </p:nvSpPr>
        <p:spPr bwMode="auto">
          <a:xfrm>
            <a:off x="10577565" y="1965255"/>
            <a:ext cx="1587" cy="185737"/>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3608" name="任意多边形 743607"/>
          <p:cNvSpPr>
            <a:spLocks noChangeArrowheads="1"/>
          </p:cNvSpPr>
          <p:nvPr/>
        </p:nvSpPr>
        <p:spPr bwMode="auto">
          <a:xfrm>
            <a:off x="10690276" y="2052567"/>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60534" name="组合 743616"/>
          <p:cNvGrpSpPr/>
          <p:nvPr/>
        </p:nvGrpSpPr>
        <p:grpSpPr bwMode="auto">
          <a:xfrm>
            <a:off x="7167179" y="3813957"/>
            <a:ext cx="1901826" cy="454024"/>
            <a:chOff x="2738" y="2498"/>
            <a:chExt cx="1198" cy="286"/>
          </a:xfrm>
        </p:grpSpPr>
        <p:sp>
          <p:nvSpPr>
            <p:cNvPr id="2" name="文本框 743614"/>
            <p:cNvSpPr txBox="1">
              <a:spLocks noChangeArrowheads="1"/>
            </p:cNvSpPr>
            <p:nvPr/>
          </p:nvSpPr>
          <p:spPr bwMode="auto">
            <a:xfrm>
              <a:off x="2738" y="2552"/>
              <a:ext cx="101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r>
                <a:rPr lang="en-US" altLang="zh-CN" sz="1800" b="1" dirty="0">
                  <a:latin typeface="Arial" panose="020B0604020202020204" pitchFamily="34" charset="0"/>
                </a:rPr>
                <a:t>actual profile</a:t>
              </a:r>
              <a:endParaRPr lang="en-US" altLang="zh-CN" sz="1800" b="1" dirty="0">
                <a:latin typeface="Arial" panose="020B0604020202020204" pitchFamily="34" charset="0"/>
              </a:endParaRPr>
            </a:p>
          </p:txBody>
        </p:sp>
        <p:sp>
          <p:nvSpPr>
            <p:cNvPr id="60535" name="直接连接符 743615"/>
            <p:cNvSpPr>
              <a:spLocks noChangeShapeType="1"/>
            </p:cNvSpPr>
            <p:nvPr/>
          </p:nvSpPr>
          <p:spPr bwMode="auto">
            <a:xfrm flipV="1">
              <a:off x="3590" y="2498"/>
              <a:ext cx="346"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sp>
        <p:nvSpPr>
          <p:cNvPr id="187" name="矩形 186"/>
          <p:cNvSpPr/>
          <p:nvPr/>
        </p:nvSpPr>
        <p:spPr>
          <a:xfrm>
            <a:off x="158029" y="2579364"/>
            <a:ext cx="7676667" cy="395558"/>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1. Find the contact point when cam rotates 190°.</a:t>
            </a:r>
            <a:endParaRPr lang="en-US" altLang="zh-CN" sz="2000" b="1" dirty="0">
              <a:latin typeface="微软雅黑" panose="020B0503020204020204" pitchFamily="34" charset="-122"/>
              <a:ea typeface="微软雅黑" panose="020B0503020204020204" pitchFamily="34" charset="-122"/>
            </a:endParaRPr>
          </a:p>
        </p:txBody>
      </p:sp>
      <p:grpSp>
        <p:nvGrpSpPr>
          <p:cNvPr id="189" name="组合 188"/>
          <p:cNvGrpSpPr/>
          <p:nvPr/>
        </p:nvGrpSpPr>
        <p:grpSpPr bwMode="auto">
          <a:xfrm rot="11400000">
            <a:off x="8628606" y="5473052"/>
            <a:ext cx="2160587" cy="668337"/>
            <a:chOff x="3360" y="1582"/>
            <a:chExt cx="1152" cy="386"/>
          </a:xfrm>
        </p:grpSpPr>
        <p:sp>
          <p:nvSpPr>
            <p:cNvPr id="191" name="直接连接符 743503"/>
            <p:cNvSpPr>
              <a:spLocks noChangeShapeType="1"/>
            </p:cNvSpPr>
            <p:nvPr/>
          </p:nvSpPr>
          <p:spPr bwMode="auto">
            <a:xfrm flipV="1">
              <a:off x="3936" y="1582"/>
              <a:ext cx="0" cy="384"/>
            </a:xfrm>
            <a:prstGeom prst="line">
              <a:avLst/>
            </a:prstGeom>
            <a:noFill/>
            <a:ln w="19050">
              <a:solidFill>
                <a:srgbClr val="FFC000"/>
              </a:solidFill>
              <a:round/>
            </a:ln>
            <a:extLst>
              <a:ext uri="{909E8E84-426E-40DD-AFC4-6F175D3DCCD1}">
                <a14:hiddenFill xmlns:a14="http://schemas.microsoft.com/office/drawing/2010/main">
                  <a:noFill/>
                </a14:hiddenFill>
              </a:ext>
            </a:extLst>
          </p:spPr>
          <p:txBody>
            <a:bodyPr/>
            <a:lstStyle/>
            <a:p>
              <a:endParaRPr lang="en-AU"/>
            </a:p>
          </p:txBody>
        </p:sp>
        <p:sp>
          <p:nvSpPr>
            <p:cNvPr id="192" name="直接连接符 743504"/>
            <p:cNvSpPr>
              <a:spLocks noChangeShapeType="1"/>
            </p:cNvSpPr>
            <p:nvPr/>
          </p:nvSpPr>
          <p:spPr bwMode="auto">
            <a:xfrm rot="5400000" flipV="1">
              <a:off x="3936" y="1392"/>
              <a:ext cx="0" cy="1152"/>
            </a:xfrm>
            <a:prstGeom prst="line">
              <a:avLst/>
            </a:prstGeom>
            <a:noFill/>
            <a:ln w="19050">
              <a:solidFill>
                <a:srgbClr val="FFC000"/>
              </a:solidFill>
              <a:round/>
            </a:ln>
            <a:extLst>
              <a:ext uri="{909E8E84-426E-40DD-AFC4-6F175D3DCCD1}">
                <a14:hiddenFill xmlns:a14="http://schemas.microsoft.com/office/drawing/2010/main">
                  <a:noFill/>
                </a14:hiddenFill>
              </a:ext>
            </a:extLst>
          </p:spPr>
          <p:txBody>
            <a:bodyPr/>
            <a:lstStyle/>
            <a:p>
              <a:endParaRPr lang="en-AU"/>
            </a:p>
          </p:txBody>
        </p:sp>
      </p:grpSp>
      <p:sp>
        <p:nvSpPr>
          <p:cNvPr id="193" name="任意多边形 192"/>
          <p:cNvSpPr>
            <a:spLocks noChangeArrowheads="1"/>
          </p:cNvSpPr>
          <p:nvPr/>
        </p:nvSpPr>
        <p:spPr bwMode="auto">
          <a:xfrm>
            <a:off x="9914624" y="1418573"/>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2540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194" name="组合 193"/>
          <p:cNvGrpSpPr/>
          <p:nvPr/>
        </p:nvGrpSpPr>
        <p:grpSpPr bwMode="auto">
          <a:xfrm rot="11400000">
            <a:off x="8507304" y="6061519"/>
            <a:ext cx="2160587" cy="668337"/>
            <a:chOff x="3360" y="1582"/>
            <a:chExt cx="1152" cy="386"/>
          </a:xfrm>
        </p:grpSpPr>
        <p:sp>
          <p:nvSpPr>
            <p:cNvPr id="195" name="直接连接符 743503"/>
            <p:cNvSpPr>
              <a:spLocks noChangeShapeType="1"/>
            </p:cNvSpPr>
            <p:nvPr/>
          </p:nvSpPr>
          <p:spPr bwMode="auto">
            <a:xfrm flipV="1">
              <a:off x="3936" y="1582"/>
              <a:ext cx="0" cy="384"/>
            </a:xfrm>
            <a:prstGeom prst="line">
              <a:avLst/>
            </a:prstGeom>
            <a:noFill/>
            <a:ln w="19050">
              <a:solidFill>
                <a:srgbClr val="00B050"/>
              </a:solidFill>
              <a:round/>
            </a:ln>
            <a:extLst>
              <a:ext uri="{909E8E84-426E-40DD-AFC4-6F175D3DCCD1}">
                <a14:hiddenFill xmlns:a14="http://schemas.microsoft.com/office/drawing/2010/main">
                  <a:noFill/>
                </a14:hiddenFill>
              </a:ext>
            </a:extLst>
          </p:spPr>
          <p:txBody>
            <a:bodyPr/>
            <a:lstStyle/>
            <a:p>
              <a:endParaRPr lang="en-AU"/>
            </a:p>
          </p:txBody>
        </p:sp>
        <p:sp>
          <p:nvSpPr>
            <p:cNvPr id="196" name="直接连接符 743504"/>
            <p:cNvSpPr>
              <a:spLocks noChangeShapeType="1"/>
            </p:cNvSpPr>
            <p:nvPr/>
          </p:nvSpPr>
          <p:spPr bwMode="auto">
            <a:xfrm rot="5400000" flipV="1">
              <a:off x="3936" y="1392"/>
              <a:ext cx="0" cy="1152"/>
            </a:xfrm>
            <a:prstGeom prst="line">
              <a:avLst/>
            </a:prstGeom>
            <a:noFill/>
            <a:ln w="19050">
              <a:solidFill>
                <a:srgbClr val="00B050"/>
              </a:solidFill>
              <a:round/>
            </a:ln>
            <a:extLst>
              <a:ext uri="{909E8E84-426E-40DD-AFC4-6F175D3DCCD1}">
                <a14:hiddenFill xmlns:a14="http://schemas.microsoft.com/office/drawing/2010/main">
                  <a:noFill/>
                </a14:hiddenFill>
              </a:ext>
            </a:extLst>
          </p:spPr>
          <p:txBody>
            <a:bodyPr/>
            <a:lstStyle/>
            <a:p>
              <a:endParaRPr lang="en-AU"/>
            </a:p>
          </p:txBody>
        </p:sp>
      </p:grpSp>
      <p:sp>
        <p:nvSpPr>
          <p:cNvPr id="200" name="任意多边形 199"/>
          <p:cNvSpPr>
            <a:spLocks noChangeArrowheads="1"/>
          </p:cNvSpPr>
          <p:nvPr/>
        </p:nvSpPr>
        <p:spPr bwMode="auto">
          <a:xfrm rot="600000" flipH="1">
            <a:off x="9689810" y="5427677"/>
            <a:ext cx="45719" cy="629250"/>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2540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1" name="矩形 200"/>
          <p:cNvSpPr/>
          <p:nvPr/>
        </p:nvSpPr>
        <p:spPr>
          <a:xfrm>
            <a:off x="146745" y="3237006"/>
            <a:ext cx="7640868" cy="395558"/>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2. If 190° can be drawn, can any angle be drawn similarly?</a:t>
            </a:r>
            <a:endParaRPr lang="en-US" altLang="zh-CN" sz="2000" b="1" dirty="0">
              <a:latin typeface="微软雅黑" panose="020B0503020204020204" pitchFamily="34" charset="-122"/>
              <a:ea typeface="微软雅黑" panose="020B0503020204020204" pitchFamily="34" charset="-122"/>
            </a:endParaRPr>
          </a:p>
        </p:txBody>
      </p:sp>
      <p:sp>
        <p:nvSpPr>
          <p:cNvPr id="202" name="矩形 201"/>
          <p:cNvSpPr/>
          <p:nvPr/>
        </p:nvSpPr>
        <p:spPr>
          <a:xfrm>
            <a:off x="474508" y="3571496"/>
            <a:ext cx="949491" cy="400110"/>
          </a:xfrm>
          <a:prstGeom prst="rect">
            <a:avLst/>
          </a:prstGeom>
        </p:spPr>
        <p:txBody>
          <a:bodyPr wrap="square">
            <a:spAutoFit/>
          </a:bodyPr>
          <a:lstStyle/>
          <a:p>
            <a:r>
              <a:rPr lang="en-US" altLang="zh-CN" sz="2000" b="1" dirty="0">
                <a:solidFill>
                  <a:srgbClr val="FF0000"/>
                </a:solidFill>
                <a:latin typeface="+mj-lt"/>
                <a:ea typeface="微软雅黑" panose="020B0503020204020204" pitchFamily="34" charset="-122"/>
              </a:rPr>
              <a:t>Sure!</a:t>
            </a:r>
            <a:endParaRPr lang="en-AU" sz="2000" dirty="0">
              <a:solidFill>
                <a:srgbClr val="FF0000"/>
              </a:solidFill>
              <a:latin typeface="+mj-lt"/>
              <a:ea typeface="微软雅黑" panose="020B0503020204020204" pitchFamily="34" charset="-122"/>
            </a:endParaRPr>
          </a:p>
        </p:txBody>
      </p:sp>
      <p:sp>
        <p:nvSpPr>
          <p:cNvPr id="203" name="矩形 202"/>
          <p:cNvSpPr/>
          <p:nvPr/>
        </p:nvSpPr>
        <p:spPr>
          <a:xfrm>
            <a:off x="417941" y="3937784"/>
            <a:ext cx="6003698" cy="607695"/>
          </a:xfrm>
          <a:prstGeom prst="rect">
            <a:avLst/>
          </a:prstGeom>
        </p:spPr>
        <p:txBody>
          <a:bodyPr wrap="square">
            <a:spAutoFit/>
          </a:bodyPr>
          <a:lstStyle/>
          <a:p>
            <a:pPr algn="just">
              <a:lnSpc>
                <a:spcPct val="105000"/>
              </a:lnSpc>
              <a:spcBef>
                <a:spcPct val="5000"/>
              </a:spcBef>
            </a:pPr>
            <a:r>
              <a:rPr lang="zh-CN" altLang="en-US" sz="1600" b="1" dirty="0">
                <a:solidFill>
                  <a:schemeClr val="accent6"/>
                </a:solidFill>
                <a:latin typeface="微软雅黑" panose="020B0503020204020204" pitchFamily="34" charset="-122"/>
                <a:ea typeface="微软雅黑" panose="020B0503020204020204" pitchFamily="34" charset="-122"/>
              </a:rPr>
              <a:t>The </a:t>
            </a:r>
            <a:r>
              <a:rPr lang="zh-CN" altLang="en-US" sz="1600" b="1" dirty="0">
                <a:solidFill>
                  <a:srgbClr val="FF0000"/>
                </a:solidFill>
                <a:latin typeface="微软雅黑" panose="020B0503020204020204" pitchFamily="34" charset="-122"/>
                <a:ea typeface="微软雅黑" panose="020B0503020204020204" pitchFamily="34" charset="-122"/>
              </a:rPr>
              <a:t>envelope</a:t>
            </a:r>
            <a:r>
              <a:rPr lang="zh-CN" altLang="en-US" sz="1600" b="1" dirty="0">
                <a:solidFill>
                  <a:schemeClr val="accent6"/>
                </a:solidFill>
                <a:latin typeface="微软雅黑" panose="020B0503020204020204" pitchFamily="34" charset="-122"/>
                <a:ea typeface="微软雅黑" panose="020B0503020204020204" pitchFamily="34" charset="-122"/>
              </a:rPr>
              <a:t> of all flat-face positions gives the desired cam profile.</a:t>
            </a:r>
            <a:endParaRPr lang="zh-CN" altLang="en-US" sz="1600" b="1" dirty="0">
              <a:solidFill>
                <a:schemeClr val="accent6"/>
              </a:solidFill>
              <a:latin typeface="微软雅黑" panose="020B0503020204020204" pitchFamily="34" charset="-122"/>
              <a:ea typeface="微软雅黑" panose="020B0503020204020204" pitchFamily="34" charset="-122"/>
            </a:endParaRPr>
          </a:p>
        </p:txBody>
      </p:sp>
      <p:pic>
        <p:nvPicPr>
          <p:cNvPr id="205" name="平底凸轮">
            <a:hlinkClick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11"/>
          <a:stretch>
            <a:fillRect/>
          </a:stretch>
        </p:blipFill>
        <p:spPr>
          <a:xfrm>
            <a:off x="5535925" y="1017101"/>
            <a:ext cx="2000917" cy="1500688"/>
          </a:xfrm>
          <a:prstGeom prst="rect">
            <a:avLst/>
          </a:prstGeom>
        </p:spPr>
      </p:pic>
      <p:sp>
        <p:nvSpPr>
          <p:cNvPr id="207" name="文本框 206"/>
          <p:cNvSpPr txBox="1"/>
          <p:nvPr/>
        </p:nvSpPr>
        <p:spPr>
          <a:xfrm>
            <a:off x="9523774" y="4094989"/>
            <a:ext cx="425127" cy="369332"/>
          </a:xfrm>
          <a:prstGeom prst="rect">
            <a:avLst/>
          </a:prstGeom>
          <a:noFill/>
        </p:spPr>
        <p:txBody>
          <a:bodyPr wrap="square">
            <a:spAutoFit/>
          </a:bodyPr>
          <a:lstStyle/>
          <a:p>
            <a:r>
              <a:rPr lang="en-US" altLang="zh-CN" sz="1800" b="1" i="1" dirty="0">
                <a:solidFill>
                  <a:srgbClr val="000000"/>
                </a:solidFill>
                <a:latin typeface="宋体" panose="02010600030101010101" pitchFamily="2" charset="-122"/>
                <a:ea typeface="宋体" panose="02010600030101010101" pitchFamily="2" charset="-122"/>
              </a:rPr>
              <a:t>O</a:t>
            </a:r>
            <a:endParaRPr lang="zh-CN" altLang="en-US" dirty="0"/>
          </a:p>
        </p:txBody>
      </p:sp>
      <p:sp>
        <p:nvSpPr>
          <p:cNvPr id="209" name="标题 741383"/>
          <p:cNvSpPr txBox="1">
            <a:spLocks noRot="1" noChangeArrowheads="1"/>
          </p:cNvSpPr>
          <p:nvPr/>
        </p:nvSpPr>
        <p:spPr bwMode="auto">
          <a:xfrm>
            <a:off x="172720" y="905510"/>
            <a:ext cx="5362575" cy="565150"/>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eaLnBrk="1" hangingPunct="1"/>
            <a:r>
              <a:rPr lang="zh-CN" altLang="en-US" sz="2000" b="1" kern="1200" dirty="0">
                <a:solidFill>
                  <a:srgbClr val="201E84"/>
                </a:solidFill>
                <a:latin typeface="微软雅黑" panose="020B0503020204020204" pitchFamily="34" charset="-122"/>
                <a:ea typeface="微软雅黑" panose="020B0503020204020204" pitchFamily="34" charset="-122"/>
                <a:cs typeface="+mn-cs"/>
              </a:rPr>
              <a:t>Radial Flat-faced Follower Disk Cam</a:t>
            </a:r>
            <a:endParaRPr lang="zh-CN" altLang="en-US" sz="2000" b="1" kern="1200" dirty="0">
              <a:solidFill>
                <a:srgbClr val="201E84"/>
              </a:solidFill>
              <a:latin typeface="微软雅黑" panose="020B0503020204020204" pitchFamily="34" charset="-122"/>
              <a:ea typeface="微软雅黑" panose="020B0503020204020204" pitchFamily="34" charset="-122"/>
              <a:cs typeface="+mn-cs"/>
            </a:endParaRPr>
          </a:p>
        </p:txBody>
      </p:sp>
      <p:pic>
        <p:nvPicPr>
          <p:cNvPr id="210" name="图片 209"/>
          <p:cNvPicPr>
            <a:picLocks noChangeAspect="1"/>
          </p:cNvPicPr>
          <p:nvPr/>
        </p:nvPicPr>
        <p:blipFill>
          <a:blip r:embed="rId12"/>
          <a:stretch>
            <a:fillRect/>
          </a:stretch>
        </p:blipFill>
        <p:spPr>
          <a:xfrm>
            <a:off x="165642" y="4751554"/>
            <a:ext cx="1088789" cy="1806400"/>
          </a:xfrm>
          <a:prstGeom prst="rect">
            <a:avLst/>
          </a:prstGeom>
        </p:spPr>
      </p:pic>
      <p:sp>
        <p:nvSpPr>
          <p:cNvPr id="204" name="灯片编号占位符 1"/>
          <p:cNvSpPr txBox="1"/>
          <p:nvPr/>
        </p:nvSpPr>
        <p:spPr>
          <a:xfrm>
            <a:off x="11582920" y="6446393"/>
            <a:ext cx="609079"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pic>
        <p:nvPicPr>
          <p:cNvPr id="3" name="图片 2"/>
          <p:cNvPicPr>
            <a:picLocks noChangeAspect="1"/>
          </p:cNvPicPr>
          <p:nvPr/>
        </p:nvPicPr>
        <p:blipFill>
          <a:blip r:embed="rId13"/>
          <a:stretch>
            <a:fillRect/>
          </a:stretch>
        </p:blipFill>
        <p:spPr>
          <a:xfrm>
            <a:off x="1152115" y="4771355"/>
            <a:ext cx="1015743" cy="1822574"/>
          </a:xfrm>
          <a:prstGeom prst="rect">
            <a:avLst/>
          </a:prstGeom>
        </p:spPr>
      </p:pic>
      <p:sp>
        <p:nvSpPr>
          <p:cNvPr id="221" name="矩形 220"/>
          <p:cNvSpPr/>
          <p:nvPr/>
        </p:nvSpPr>
        <p:spPr>
          <a:xfrm>
            <a:off x="250190" y="6483350"/>
            <a:ext cx="3715385" cy="316865"/>
          </a:xfrm>
          <a:prstGeom prst="rect">
            <a:avLst/>
          </a:prstGeom>
        </p:spPr>
        <p:txBody>
          <a:bodyPr wrap="square">
            <a:spAutoFit/>
          </a:bodyPr>
          <a:lstStyle/>
          <a:p>
            <a:pPr algn="just">
              <a:lnSpc>
                <a:spcPct val="105000"/>
              </a:lnSpc>
              <a:spcBef>
                <a:spcPct val="5000"/>
              </a:spcBef>
            </a:pPr>
            <a:r>
              <a:rPr lang="zh-CN" altLang="en-US" sz="1400" b="1" dirty="0">
                <a:solidFill>
                  <a:srgbClr val="FF0000"/>
                </a:solidFill>
                <a:latin typeface="微软雅黑" panose="020B0503020204020204" pitchFamily="34" charset="-122"/>
                <a:ea typeface="微软雅黑" panose="020B0503020204020204" pitchFamily="34" charset="-122"/>
              </a:rPr>
              <a:t>Flat face: high transmission efficiency</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208" name="心形 207"/>
          <p:cNvSpPr/>
          <p:nvPr/>
        </p:nvSpPr>
        <p:spPr bwMode="auto">
          <a:xfrm>
            <a:off x="4250415" y="5255882"/>
            <a:ext cx="812302" cy="727941"/>
          </a:xfrm>
          <a:prstGeom prst="heart">
            <a:avLst/>
          </a:prstGeom>
          <a:solidFill>
            <a:schemeClr val="bg1"/>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212" name="矩形 211"/>
          <p:cNvSpPr/>
          <p:nvPr/>
        </p:nvSpPr>
        <p:spPr>
          <a:xfrm>
            <a:off x="2543810" y="4829810"/>
            <a:ext cx="5623560" cy="521970"/>
          </a:xfrm>
          <a:prstGeom prst="rect">
            <a:avLst/>
          </a:prstGeom>
        </p:spPr>
        <p:txBody>
          <a:bodyPr wrap="square">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Profile contact issue: </a:t>
            </a:r>
            <a:r>
              <a:rPr lang="zh-CN" altLang="en-US" sz="1400" b="1" dirty="0">
                <a:solidFill>
                  <a:schemeClr val="tx1"/>
                </a:solidFill>
                <a:latin typeface="微软雅黑" panose="020B0503020204020204" pitchFamily="34" charset="-122"/>
                <a:ea typeface="微软雅黑" panose="020B0503020204020204" pitchFamily="34" charset="-122"/>
              </a:rPr>
              <a:t>What about heart-shaped (concave) cam profiles?</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214" name="矩形 213"/>
          <p:cNvSpPr/>
          <p:nvPr/>
        </p:nvSpPr>
        <p:spPr>
          <a:xfrm>
            <a:off x="4299690" y="6057255"/>
            <a:ext cx="4123055" cy="829945"/>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Flat face cannot fully contact concave sections, limiting accurate motion realization.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217" name="矩形 216"/>
          <p:cNvSpPr/>
          <p:nvPr/>
        </p:nvSpPr>
        <p:spPr>
          <a:xfrm>
            <a:off x="146745" y="4408937"/>
            <a:ext cx="3147454" cy="395558"/>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3. Advantages of flat face?</a:t>
            </a:r>
            <a:endParaRPr lang="en-US" altLang="zh-CN" sz="2000" b="1" dirty="0">
              <a:latin typeface="微软雅黑" panose="020B0503020204020204" pitchFamily="34" charset="-122"/>
              <a:ea typeface="微软雅黑" panose="020B0503020204020204" pitchFamily="34" charset="-122"/>
            </a:endParaRPr>
          </a:p>
        </p:txBody>
      </p:sp>
      <p:sp>
        <p:nvSpPr>
          <p:cNvPr id="218" name="文本框 217"/>
          <p:cNvSpPr txBox="1"/>
          <p:nvPr/>
        </p:nvSpPr>
        <p:spPr>
          <a:xfrm>
            <a:off x="3810635" y="4467860"/>
            <a:ext cx="2531110" cy="368300"/>
          </a:xfrm>
          <a:prstGeom prst="rect">
            <a:avLst/>
          </a:prstGeom>
          <a:noFill/>
        </p:spPr>
        <p:txBody>
          <a:bodyPr wrap="square">
            <a:spAutoFit/>
          </a:bodyPr>
          <a:lstStyle/>
          <a:p>
            <a:r>
              <a:rPr lang="zh-CN" altLang="en-US" sz="1800" b="1" dirty="0">
                <a:solidFill>
                  <a:srgbClr val="FF0000"/>
                </a:solidFill>
                <a:latin typeface="微软雅黑" panose="020B0503020204020204" pitchFamily="34" charset="-122"/>
                <a:ea typeface="微软雅黑" panose="020B0503020204020204" pitchFamily="34" charset="-122"/>
              </a:rPr>
              <a:t>Disadvantages?</a:t>
            </a:r>
            <a:endParaRPr lang="zh-CN" altLang="en-US" dirty="0"/>
          </a:p>
        </p:txBody>
      </p:sp>
      <p:sp>
        <p:nvSpPr>
          <p:cNvPr id="219" name="文本框 623696"/>
          <p:cNvSpPr txBox="1">
            <a:spLocks noChangeArrowheads="1"/>
          </p:cNvSpPr>
          <p:nvPr/>
        </p:nvSpPr>
        <p:spPr bwMode="auto">
          <a:xfrm>
            <a:off x="10159764" y="4839066"/>
            <a:ext cx="30581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dirty="0">
                <a:solidFill>
                  <a:srgbClr val="CC3399"/>
                </a:solidFill>
                <a:latin typeface="Times New Roman" panose="02020603050405020304" pitchFamily="18" charset="0"/>
                <a:sym typeface="Symbol" panose="05050102010706020507" pitchFamily="18" charset="2"/>
              </a:rPr>
              <a:t></a:t>
            </a:r>
            <a:endParaRPr lang="zh-CN" altLang="en-US" sz="1400" dirty="0">
              <a:solidFill>
                <a:srgbClr val="CC3399"/>
              </a:solidFill>
              <a:latin typeface="Times New Roman" panose="02020603050405020304" pitchFamily="18" charset="0"/>
            </a:endParaRPr>
          </a:p>
        </p:txBody>
      </p:sp>
      <p:sp>
        <p:nvSpPr>
          <p:cNvPr id="220" name="任意多边形 623695"/>
          <p:cNvSpPr>
            <a:spLocks noChangeArrowheads="1"/>
          </p:cNvSpPr>
          <p:nvPr/>
        </p:nvSpPr>
        <p:spPr bwMode="auto">
          <a:xfrm rot="2105939">
            <a:off x="9442711" y="4454580"/>
            <a:ext cx="1197491" cy="808038"/>
          </a:xfrm>
          <a:custGeom>
            <a:avLst/>
            <a:gdLst>
              <a:gd name="T0" fmla="*/ 0 w 21600"/>
              <a:gd name="T1" fmla="*/ 0 h 15809"/>
              <a:gd name="T2" fmla="*/ 0 w 21600"/>
              <a:gd name="T3" fmla="*/ 0 h 15809"/>
              <a:gd name="T4" fmla="*/ 0 w 21600"/>
              <a:gd name="T5" fmla="*/ 0 h 15809"/>
              <a:gd name="T6" fmla="*/ 0 w 21600"/>
              <a:gd name="T7" fmla="*/ 0 h 15809"/>
              <a:gd name="T8" fmla="*/ 0 w 21600"/>
              <a:gd name="T9" fmla="*/ 0 h 15809"/>
              <a:gd name="T10" fmla="*/ 0 w 21600"/>
              <a:gd name="T11" fmla="*/ 0 h 15809"/>
              <a:gd name="T12" fmla="*/ 0 w 21600"/>
              <a:gd name="T13" fmla="*/ 0 h 158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15809" fill="none">
                <a:moveTo>
                  <a:pt x="21489" y="0"/>
                </a:moveTo>
                <a:cubicBezTo>
                  <a:pt x="21562" y="716"/>
                  <a:pt x="21599" y="1443"/>
                  <a:pt x="21599" y="2180"/>
                </a:cubicBezTo>
                <a:cubicBezTo>
                  <a:pt x="21599" y="7348"/>
                  <a:pt x="19784" y="12092"/>
                  <a:pt x="16757" y="15810"/>
                </a:cubicBezTo>
              </a:path>
              <a:path w="21600" h="15809" stroke="0">
                <a:moveTo>
                  <a:pt x="21489" y="0"/>
                </a:moveTo>
                <a:cubicBezTo>
                  <a:pt x="21562" y="716"/>
                  <a:pt x="21599" y="1443"/>
                  <a:pt x="21599" y="2180"/>
                </a:cubicBezTo>
                <a:cubicBezTo>
                  <a:pt x="21599" y="7348"/>
                  <a:pt x="19784" y="12092"/>
                  <a:pt x="16757" y="15810"/>
                </a:cubicBezTo>
                <a:lnTo>
                  <a:pt x="0" y="2180"/>
                </a:lnTo>
                <a:lnTo>
                  <a:pt x="21489" y="0"/>
                </a:lnTo>
                <a:close/>
              </a:path>
            </a:pathLst>
          </a:custGeom>
          <a:noFill/>
          <a:ln w="12700">
            <a:solidFill>
              <a:srgbClr val="CC3399"/>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223" name="组合 222"/>
          <p:cNvGrpSpPr/>
          <p:nvPr/>
        </p:nvGrpSpPr>
        <p:grpSpPr bwMode="auto">
          <a:xfrm>
            <a:off x="10093645" y="2710619"/>
            <a:ext cx="1981200" cy="1828800"/>
            <a:chOff x="4337" y="740"/>
            <a:chExt cx="1296" cy="1296"/>
          </a:xfrm>
        </p:grpSpPr>
        <p:sp>
          <p:nvSpPr>
            <p:cNvPr id="224" name="任意多边形 737453"/>
            <p:cNvSpPr>
              <a:spLocks noChangeArrowheads="1"/>
            </p:cNvSpPr>
            <p:nvPr/>
          </p:nvSpPr>
          <p:spPr bwMode="auto">
            <a:xfrm>
              <a:off x="4337" y="740"/>
              <a:ext cx="1296" cy="12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175">
              <a:solidFill>
                <a:srgbClr val="FF33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dirty="0"/>
            </a:p>
          </p:txBody>
        </p:sp>
        <p:sp>
          <p:nvSpPr>
            <p:cNvPr id="225" name="文本框 737454"/>
            <p:cNvSpPr txBox="1">
              <a:spLocks noChangeArrowheads="1"/>
            </p:cNvSpPr>
            <p:nvPr/>
          </p:nvSpPr>
          <p:spPr bwMode="auto">
            <a:xfrm>
              <a:off x="5239" y="903"/>
              <a:ext cx="27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800" b="1" dirty="0">
                  <a:solidFill>
                    <a:srgbClr val="FF3300"/>
                  </a:solidFill>
                  <a:latin typeface="Times New Roman" panose="02020603050405020304" pitchFamily="18" charset="0"/>
                </a:rPr>
                <a:t>-</a:t>
              </a:r>
              <a:r>
                <a:rPr lang="zh-CN" altLang="zh-CN" sz="1800" b="1" dirty="0">
                  <a:solidFill>
                    <a:srgbClr val="FF3300"/>
                  </a:solidFill>
                  <a:latin typeface="Times New Roman" panose="02020603050405020304" pitchFamily="18" charset="0"/>
                  <a:sym typeface="Symbol" panose="05050102010706020507" pitchFamily="18" charset="2"/>
                </a:rPr>
                <a:t></a:t>
              </a:r>
              <a:endParaRPr lang="zh-CN" altLang="zh-CN" sz="1800" b="1" dirty="0">
                <a:solidFill>
                  <a:srgbClr val="FF3300"/>
                </a:solidFill>
                <a:latin typeface="Times New Roman" panose="02020603050405020304" pitchFamily="18" charset="0"/>
              </a:endParaRPr>
            </a:p>
          </p:txBody>
        </p:sp>
      </p:grp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
        <p:nvSpPr>
          <p:cNvPr id="401" name="文本框 400"/>
          <p:cNvSpPr txBox="1"/>
          <p:nvPr/>
        </p:nvSpPr>
        <p:spPr>
          <a:xfrm>
            <a:off x="6232525" y="2468245"/>
            <a:ext cx="4232910" cy="922020"/>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Inversion method: Fix cam, move everything else</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sym typeface="+mn-ea"/>
              </a:rPr>
              <a:t>(Relative motion unchanged)</a:t>
            </a:r>
            <a:endParaRPr lang="zh-CN" altLang="en-US" b="1" dirty="0">
              <a:latin typeface="微软雅黑" panose="020B0503020204020204" pitchFamily="34" charset="-122"/>
              <a:ea typeface="微软雅黑" panose="020B0503020204020204" pitchFamily="34" charset="-122"/>
              <a:sym typeface="+mn-ea"/>
            </a:endParaRPr>
          </a:p>
        </p:txBody>
      </p:sp>
    </p:spTree>
  </p:cSld>
  <p:clrMapOvr>
    <a:masterClrMapping/>
  </p:clrMapOvr>
  <p:transition>
    <p:sndAc>
      <p:stSnd>
        <p:snd r:embed="rId1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205"/>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05"/>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8">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1" restart="whenNotActive" fill="hold" evtFilter="cancelBubble" nodeType="interactiveSeq">
                <p:stCondLst>
                  <p:cond evt="onClick" delay="0">
                    <p:tgtEl>
                      <p:spTgt spid="205"/>
                    </p:tgtEl>
                  </p:cond>
                </p:stCondLst>
                <p:endSync evt="end" delay="0">
                  <p:rtn val="all"/>
                </p:endSync>
                <p:childTnLst>
                  <p:par>
                    <p:cTn id="62" fill="hold">
                      <p:stCondLst>
                        <p:cond delay="0"/>
                      </p:stCondLst>
                      <p:childTnLst>
                        <p:par>
                          <p:cTn id="63" fill="hold">
                            <p:stCondLst>
                              <p:cond delay="0"/>
                            </p:stCondLst>
                            <p:childTnLst>
                              <p:par>
                                <p:cTn id="64" presetID="2" presetClass="mediacall" presetSubtype="0" fill="hold" nodeType="clickEffect">
                                  <p:stCondLst>
                                    <p:cond delay="0"/>
                                  </p:stCondLst>
                                  <p:childTnLst>
                                    <p:cmd type="call" cmd="togglePause">
                                      <p:cBhvr>
                                        <p:cTn id="65" dur="1" fill="hold"/>
                                        <p:tgtEl>
                                          <p:spTgt spid="205"/>
                                        </p:tgtEl>
                                      </p:cBhvr>
                                    </p:cmd>
                                  </p:childTnLst>
                                </p:cTn>
                              </p:par>
                            </p:childTnLst>
                          </p:cTn>
                        </p:par>
                      </p:childTnLst>
                    </p:cTn>
                  </p:par>
                </p:childTnLst>
              </p:cTn>
              <p:nextCondLst>
                <p:cond evt="onClick" delay="0">
                  <p:tgtEl>
                    <p:spTgt spid="205"/>
                  </p:tgtEl>
                </p:cond>
              </p:nextCondLst>
            </p:seq>
            <p:video>
              <p:cMediaNode vol="80000">
                <p:cTn id="66" repeatCount="indefinite" fill="hold" display="0">
                  <p:stCondLst>
                    <p:cond delay="indefinite"/>
                  </p:stCondLst>
                </p:cTn>
                <p:tgtEl>
                  <p:spTgt spid="205"/>
                </p:tgtEl>
              </p:cMediaNode>
            </p:video>
          </p:childTnLst>
        </p:cTn>
      </p:par>
    </p:tnLst>
    <p:bldLst>
      <p:bldP spid="193" grpId="0" animBg="1"/>
      <p:bldP spid="200" grpId="0" animBg="1"/>
      <p:bldP spid="201" grpId="0"/>
      <p:bldP spid="202" grpId="0"/>
      <p:bldP spid="203" grpId="0"/>
      <p:bldP spid="221" grpId="0"/>
      <p:bldP spid="208" grpId="0" animBg="1"/>
      <p:bldP spid="212" grpId="0"/>
      <p:bldP spid="214" grpId="0"/>
      <p:bldP spid="217"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9572" name="内容占位符 749571"/>
          <p:cNvSpPr>
            <a:spLocks noGrp="1" noRot="1" noChangeArrowheads="1"/>
          </p:cNvSpPr>
          <p:nvPr>
            <p:ph sz="half" idx="1"/>
          </p:nvPr>
        </p:nvSpPr>
        <p:spPr>
          <a:xfrm>
            <a:off x="54493" y="1505585"/>
            <a:ext cx="6385775" cy="1582737"/>
          </a:xfrm>
        </p:spPr>
        <p:txBody>
          <a:bodyPr wrap="square"/>
          <a:lstStyle/>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Given: </a:t>
            </a:r>
            <a:r>
              <a:rPr lang="zh-CN" altLang="en-US" sz="1800" b="1" dirty="0">
                <a:solidFill>
                  <a:schemeClr val="tx1"/>
                </a:solidFill>
                <a:latin typeface="微软雅黑" panose="020B0503020204020204" pitchFamily="34" charset="-122"/>
                <a:ea typeface="微软雅黑" panose="020B0503020204020204" pitchFamily="34" charset="-122"/>
              </a:rPr>
              <a:t>Frame length, follower motion law, cam CCW</a:t>
            </a:r>
            <a:endParaRPr lang="zh-CN" altLang="en-US" sz="1800" b="1" dirty="0">
              <a:solidFill>
                <a:schemeClr val="tx1"/>
              </a:solidFill>
              <a:latin typeface="微软雅黑" panose="020B0503020204020204" pitchFamily="34" charset="-122"/>
              <a:ea typeface="微软雅黑" panose="020B0503020204020204" pitchFamily="34" charset="-122"/>
            </a:endParaRPr>
          </a:p>
          <a:p>
            <a:pPr eaLnBrk="1" hangingPunct="1">
              <a:spcBef>
                <a:spcPts val="100"/>
              </a:spcBef>
              <a:buNone/>
            </a:pPr>
            <a:r>
              <a:rPr lang="zh-CN" altLang="en-US" sz="1800" b="1" dirty="0">
                <a:solidFill>
                  <a:srgbClr val="FF0000"/>
                </a:solidFill>
                <a:latin typeface="微软雅黑" panose="020B0503020204020204" pitchFamily="34" charset="-122"/>
                <a:ea typeface="微软雅黑" panose="020B0503020204020204" pitchFamily="34" charset="-122"/>
              </a:rPr>
              <a:t>Design: </a:t>
            </a:r>
            <a:r>
              <a:rPr lang="zh-CN" altLang="en-US" sz="1800" b="1" dirty="0">
                <a:solidFill>
                  <a:schemeClr val="tx1"/>
                </a:solidFill>
                <a:latin typeface="微软雅黑" panose="020B0503020204020204" pitchFamily="34" charset="-122"/>
                <a:ea typeface="微软雅黑" panose="020B0503020204020204" pitchFamily="34" charset="-122"/>
              </a:rPr>
              <a:t>Cam profile</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
        <p:nvSpPr>
          <p:cNvPr id="189" name="任意多边形 188"/>
          <p:cNvSpPr>
            <a:spLocks noChangeArrowheads="1"/>
          </p:cNvSpPr>
          <p:nvPr/>
        </p:nvSpPr>
        <p:spPr bwMode="auto">
          <a:xfrm>
            <a:off x="7787870" y="2178685"/>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0" name="任意多边形 189"/>
          <p:cNvSpPr>
            <a:spLocks noChangeArrowheads="1"/>
          </p:cNvSpPr>
          <p:nvPr/>
        </p:nvSpPr>
        <p:spPr bwMode="auto">
          <a:xfrm>
            <a:off x="8000595" y="2046923"/>
            <a:ext cx="0" cy="150812"/>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1" name="任意多边形 190"/>
          <p:cNvSpPr>
            <a:spLocks noChangeArrowheads="1"/>
          </p:cNvSpPr>
          <p:nvPr/>
        </p:nvSpPr>
        <p:spPr bwMode="auto">
          <a:xfrm>
            <a:off x="8211733" y="1789748"/>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2" name="任意多边形 191"/>
          <p:cNvSpPr>
            <a:spLocks noChangeArrowheads="1"/>
          </p:cNvSpPr>
          <p:nvPr/>
        </p:nvSpPr>
        <p:spPr bwMode="auto">
          <a:xfrm>
            <a:off x="8422870" y="1538923"/>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3" name="任意多边形 192"/>
          <p:cNvSpPr>
            <a:spLocks noChangeArrowheads="1"/>
          </p:cNvSpPr>
          <p:nvPr/>
        </p:nvSpPr>
        <p:spPr bwMode="auto">
          <a:xfrm>
            <a:off x="8637183" y="1400810"/>
            <a:ext cx="0" cy="798513"/>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4" name="任意多边形 193"/>
          <p:cNvSpPr>
            <a:spLocks noChangeArrowheads="1"/>
          </p:cNvSpPr>
          <p:nvPr/>
        </p:nvSpPr>
        <p:spPr bwMode="auto">
          <a:xfrm>
            <a:off x="8741958" y="1389698"/>
            <a:ext cx="1587" cy="814387"/>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5" name="任意多边形 194"/>
          <p:cNvSpPr>
            <a:spLocks noChangeArrowheads="1"/>
          </p:cNvSpPr>
          <p:nvPr/>
        </p:nvSpPr>
        <p:spPr bwMode="auto">
          <a:xfrm>
            <a:off x="7894233" y="2129473"/>
            <a:ext cx="1587" cy="71437"/>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6" name="任意多边形 195"/>
          <p:cNvSpPr>
            <a:spLocks noChangeArrowheads="1"/>
          </p:cNvSpPr>
          <p:nvPr/>
        </p:nvSpPr>
        <p:spPr bwMode="auto">
          <a:xfrm>
            <a:off x="8105370" y="1924685"/>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7" name="任意多边形 196"/>
          <p:cNvSpPr>
            <a:spLocks noChangeArrowheads="1"/>
          </p:cNvSpPr>
          <p:nvPr/>
        </p:nvSpPr>
        <p:spPr bwMode="auto">
          <a:xfrm>
            <a:off x="8316508" y="1654810"/>
            <a:ext cx="1587" cy="544513"/>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8" name="任意多边形 197"/>
          <p:cNvSpPr>
            <a:spLocks noChangeArrowheads="1"/>
          </p:cNvSpPr>
          <p:nvPr/>
        </p:nvSpPr>
        <p:spPr bwMode="auto">
          <a:xfrm>
            <a:off x="8530820" y="1454785"/>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99" name="任意多边形 198"/>
          <p:cNvSpPr>
            <a:spLocks noChangeArrowheads="1"/>
          </p:cNvSpPr>
          <p:nvPr/>
        </p:nvSpPr>
        <p:spPr bwMode="auto">
          <a:xfrm>
            <a:off x="9597620" y="1475423"/>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0" name="任意多边形 199"/>
          <p:cNvSpPr>
            <a:spLocks noChangeArrowheads="1"/>
          </p:cNvSpPr>
          <p:nvPr/>
        </p:nvSpPr>
        <p:spPr bwMode="auto">
          <a:xfrm>
            <a:off x="9707158" y="1565910"/>
            <a:ext cx="1587" cy="636588"/>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1" name="任意多边形 200"/>
          <p:cNvSpPr>
            <a:spLocks noChangeArrowheads="1"/>
          </p:cNvSpPr>
          <p:nvPr/>
        </p:nvSpPr>
        <p:spPr bwMode="auto">
          <a:xfrm>
            <a:off x="9826220" y="1659573"/>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2" name="任意多边形 201"/>
          <p:cNvSpPr>
            <a:spLocks noChangeArrowheads="1"/>
          </p:cNvSpPr>
          <p:nvPr/>
        </p:nvSpPr>
        <p:spPr bwMode="auto">
          <a:xfrm>
            <a:off x="9934170" y="1746885"/>
            <a:ext cx="1588" cy="455613"/>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3" name="任意多边形 202"/>
          <p:cNvSpPr>
            <a:spLocks noChangeArrowheads="1"/>
          </p:cNvSpPr>
          <p:nvPr/>
        </p:nvSpPr>
        <p:spPr bwMode="auto">
          <a:xfrm>
            <a:off x="10045295" y="1829435"/>
            <a:ext cx="1588" cy="373063"/>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4" name="任意多边形 203"/>
          <p:cNvSpPr>
            <a:spLocks noChangeArrowheads="1"/>
          </p:cNvSpPr>
          <p:nvPr/>
        </p:nvSpPr>
        <p:spPr bwMode="auto">
          <a:xfrm>
            <a:off x="10156420" y="1931035"/>
            <a:ext cx="1588" cy="271463"/>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5" name="任意多边形 204"/>
          <p:cNvSpPr>
            <a:spLocks noChangeArrowheads="1"/>
          </p:cNvSpPr>
          <p:nvPr/>
        </p:nvSpPr>
        <p:spPr bwMode="auto">
          <a:xfrm>
            <a:off x="10269133" y="2016760"/>
            <a:ext cx="1587" cy="185738"/>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6" name="任意多边形 205"/>
          <p:cNvSpPr>
            <a:spLocks noChangeArrowheads="1"/>
          </p:cNvSpPr>
          <p:nvPr/>
        </p:nvSpPr>
        <p:spPr bwMode="auto">
          <a:xfrm>
            <a:off x="10381845" y="2104073"/>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207" name="组合 206"/>
          <p:cNvGrpSpPr/>
          <p:nvPr/>
        </p:nvGrpSpPr>
        <p:grpSpPr bwMode="auto">
          <a:xfrm>
            <a:off x="7124295" y="940435"/>
            <a:ext cx="4559300" cy="1574800"/>
            <a:chOff x="3086" y="650"/>
            <a:chExt cx="2872" cy="992"/>
          </a:xfrm>
        </p:grpSpPr>
        <p:sp>
          <p:nvSpPr>
            <p:cNvPr id="208" name="任意多边形 749592"/>
            <p:cNvSpPr>
              <a:spLocks noChangeArrowheads="1"/>
            </p:cNvSpPr>
            <p:nvPr/>
          </p:nvSpPr>
          <p:spPr bwMode="auto">
            <a:xfrm>
              <a:off x="4573" y="926"/>
              <a:ext cx="642" cy="518"/>
            </a:xfrm>
            <a:custGeom>
              <a:avLst/>
              <a:gdLst>
                <a:gd name="T0" fmla="*/ 0 w 963"/>
                <a:gd name="T1" fmla="*/ 0 h 654"/>
                <a:gd name="T2" fmla="*/ 57 w 963"/>
                <a:gd name="T3" fmla="*/ 128 h 654"/>
                <a:gd name="T4" fmla="*/ 0 60000 65536"/>
                <a:gd name="T5" fmla="*/ 0 60000 65536"/>
              </a:gdLst>
              <a:ahLst/>
              <a:cxnLst>
                <a:cxn ang="T4">
                  <a:pos x="T0" y="T1"/>
                </a:cxn>
                <a:cxn ang="T5">
                  <a:pos x="T2" y="T3"/>
                </a:cxn>
              </a:cxnLst>
              <a:rect l="0" t="0" r="r" b="b"/>
              <a:pathLst>
                <a:path w="963" h="654">
                  <a:moveTo>
                    <a:pt x="0" y="0"/>
                  </a:moveTo>
                  <a:lnTo>
                    <a:pt x="963" y="65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209" name="组合 749593"/>
            <p:cNvGrpSpPr/>
            <p:nvPr/>
          </p:nvGrpSpPr>
          <p:grpSpPr bwMode="auto">
            <a:xfrm>
              <a:off x="3086" y="650"/>
              <a:ext cx="2872" cy="992"/>
              <a:chOff x="3086" y="650"/>
              <a:chExt cx="2872" cy="992"/>
            </a:xfrm>
          </p:grpSpPr>
          <p:sp>
            <p:nvSpPr>
              <p:cNvPr id="210" name="直接连接符 749594"/>
              <p:cNvSpPr>
                <a:spLocks noChangeShapeType="1"/>
              </p:cNvSpPr>
              <p:nvPr/>
            </p:nvSpPr>
            <p:spPr bwMode="auto">
              <a:xfrm flipV="1">
                <a:off x="3369" y="732"/>
                <a:ext cx="0" cy="835"/>
              </a:xfrm>
              <a:prstGeom prst="line">
                <a:avLst/>
              </a:prstGeom>
              <a:noFill/>
              <a:ln w="3175">
                <a:solidFill>
                  <a:srgbClr val="00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211" name="任意多边形 749595"/>
              <p:cNvSpPr>
                <a:spLocks noChangeArrowheads="1"/>
              </p:cNvSpPr>
              <p:nvPr/>
            </p:nvSpPr>
            <p:spPr bwMode="auto">
              <a:xfrm>
                <a:off x="3260" y="1444"/>
                <a:ext cx="2698" cy="0"/>
              </a:xfrm>
              <a:custGeom>
                <a:avLst/>
                <a:gdLst>
                  <a:gd name="T0" fmla="*/ 0 w 3225"/>
                  <a:gd name="T1" fmla="*/ 0 h 1"/>
                  <a:gd name="T2" fmla="*/ 924 w 3225"/>
                  <a:gd name="T3" fmla="*/ 1 h 1"/>
                  <a:gd name="T4" fmla="*/ 0 60000 65536"/>
                  <a:gd name="T5" fmla="*/ 0 60000 65536"/>
                </a:gdLst>
                <a:ahLst/>
                <a:cxnLst>
                  <a:cxn ang="T4">
                    <a:pos x="T0" y="T1"/>
                  </a:cxn>
                  <a:cxn ang="T5">
                    <a:pos x="T2" y="T3"/>
                  </a:cxn>
                </a:cxnLst>
                <a:rect l="0" t="0" r="r" b="b"/>
                <a:pathLst>
                  <a:path w="3225" h="1">
                    <a:moveTo>
                      <a:pt x="0" y="0"/>
                    </a:moveTo>
                    <a:lnTo>
                      <a:pt x="3225" y="1"/>
                    </a:lnTo>
                  </a:path>
                </a:pathLst>
              </a:custGeom>
              <a:noFill/>
              <a:ln w="3175">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12" name="文本框 749596"/>
              <p:cNvSpPr txBox="1">
                <a:spLocks noChangeArrowheads="1"/>
              </p:cNvSpPr>
              <p:nvPr/>
            </p:nvSpPr>
            <p:spPr bwMode="auto">
              <a:xfrm>
                <a:off x="3138" y="650"/>
                <a:ext cx="2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a:solidFill>
                      <a:srgbClr val="000000"/>
                    </a:solidFill>
                    <a:latin typeface="Symbol" panose="05050102010706020507" pitchFamily="18" charset="2"/>
                  </a:rPr>
                  <a:t>f</a:t>
                </a:r>
                <a:r>
                  <a:rPr lang="en-US" altLang="zh-CN" sz="1800" baseline="-25000">
                    <a:solidFill>
                      <a:srgbClr val="000000"/>
                    </a:solidFill>
                    <a:latin typeface="Symbol" panose="05050102010706020507" pitchFamily="18" charset="2"/>
                  </a:rPr>
                  <a:t>2</a:t>
                </a:r>
                <a:endParaRPr lang="en-US" altLang="zh-CN" sz="1800" baseline="-25000">
                  <a:solidFill>
                    <a:srgbClr val="000000"/>
                  </a:solidFill>
                  <a:latin typeface="Symbol" panose="05050102010706020507" pitchFamily="18" charset="2"/>
                </a:endParaRPr>
              </a:p>
            </p:txBody>
          </p:sp>
          <p:sp>
            <p:nvSpPr>
              <p:cNvPr id="214" name="文本框 749598"/>
              <p:cNvSpPr txBox="1">
                <a:spLocks noChangeArrowheads="1"/>
              </p:cNvSpPr>
              <p:nvPr/>
            </p:nvSpPr>
            <p:spPr bwMode="auto">
              <a:xfrm>
                <a:off x="3224" y="141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a:latin typeface="Times New Roman" panose="02020603050405020304" pitchFamily="18" charset="0"/>
                  </a:rPr>
                  <a:t>0</a:t>
                </a:r>
                <a:endParaRPr lang="zh-CN" altLang="zh-CN" sz="1400">
                  <a:latin typeface="Times New Roman" panose="02020603050405020304" pitchFamily="18" charset="0"/>
                </a:endParaRPr>
              </a:p>
            </p:txBody>
          </p:sp>
          <p:sp>
            <p:nvSpPr>
              <p:cNvPr id="215" name="任意多边形 749599"/>
              <p:cNvSpPr>
                <a:spLocks noChangeArrowheads="1"/>
              </p:cNvSpPr>
              <p:nvPr/>
            </p:nvSpPr>
            <p:spPr bwMode="auto">
              <a:xfrm>
                <a:off x="4171" y="928"/>
                <a:ext cx="1" cy="639"/>
              </a:xfrm>
              <a:custGeom>
                <a:avLst/>
                <a:gdLst>
                  <a:gd name="T0" fmla="*/ 0 w 1"/>
                  <a:gd name="T1" fmla="*/ 0 h 1488"/>
                  <a:gd name="T2" fmla="*/ 0 w 1"/>
                  <a:gd name="T3" fmla="*/ 4 h 1488"/>
                  <a:gd name="T4" fmla="*/ 0 60000 65536"/>
                  <a:gd name="T5" fmla="*/ 0 60000 65536"/>
                </a:gdLst>
                <a:ahLst/>
                <a:cxnLst>
                  <a:cxn ang="T4">
                    <a:pos x="T0" y="T1"/>
                  </a:cxn>
                  <a:cxn ang="T5">
                    <a:pos x="T2" y="T3"/>
                  </a:cxn>
                </a:cxnLst>
                <a:rect l="0" t="0" r="r" b="b"/>
                <a:pathLst>
                  <a:path w="1" h="1488">
                    <a:moveTo>
                      <a:pt x="0" y="0"/>
                    </a:moveTo>
                    <a:lnTo>
                      <a:pt x="0" y="1488"/>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16" name="直接连接符 749600"/>
              <p:cNvSpPr>
                <a:spLocks noChangeShapeType="1"/>
              </p:cNvSpPr>
              <p:nvPr/>
            </p:nvSpPr>
            <p:spPr bwMode="auto">
              <a:xfrm>
                <a:off x="3369" y="1554"/>
                <a:ext cx="80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217" name="任意多边形 749601"/>
              <p:cNvSpPr>
                <a:spLocks noChangeArrowheads="1"/>
              </p:cNvSpPr>
              <p:nvPr/>
            </p:nvSpPr>
            <p:spPr bwMode="auto">
              <a:xfrm>
                <a:off x="4573" y="928"/>
                <a:ext cx="1" cy="661"/>
              </a:xfrm>
              <a:custGeom>
                <a:avLst/>
                <a:gdLst>
                  <a:gd name="T0" fmla="*/ 0 w 1"/>
                  <a:gd name="T1" fmla="*/ 0 h 835"/>
                  <a:gd name="T2" fmla="*/ 1 w 1"/>
                  <a:gd name="T3" fmla="*/ 163 h 835"/>
                  <a:gd name="T4" fmla="*/ 0 60000 65536"/>
                  <a:gd name="T5" fmla="*/ 0 60000 65536"/>
                </a:gdLst>
                <a:ahLst/>
                <a:cxnLst>
                  <a:cxn ang="T4">
                    <a:pos x="T0" y="T1"/>
                  </a:cxn>
                  <a:cxn ang="T5">
                    <a:pos x="T2" y="T3"/>
                  </a:cxn>
                </a:cxnLst>
                <a:rect l="0" t="0" r="r" b="b"/>
                <a:pathLst>
                  <a:path w="1" h="835">
                    <a:moveTo>
                      <a:pt x="0" y="0"/>
                    </a:moveTo>
                    <a:lnTo>
                      <a:pt x="1" y="835"/>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18" name="任意多边形 749602"/>
              <p:cNvSpPr>
                <a:spLocks noChangeArrowheads="1"/>
              </p:cNvSpPr>
              <p:nvPr/>
            </p:nvSpPr>
            <p:spPr bwMode="auto">
              <a:xfrm>
                <a:off x="4573" y="1554"/>
                <a:ext cx="638" cy="0"/>
              </a:xfrm>
              <a:custGeom>
                <a:avLst/>
                <a:gdLst>
                  <a:gd name="T0" fmla="*/ 219 w 762"/>
                  <a:gd name="T1" fmla="*/ 1 h 1"/>
                  <a:gd name="T2" fmla="*/ 0 w 762"/>
                  <a:gd name="T3" fmla="*/ 0 h 1"/>
                  <a:gd name="T4" fmla="*/ 0 60000 65536"/>
                  <a:gd name="T5" fmla="*/ 0 60000 65536"/>
                </a:gdLst>
                <a:ahLst/>
                <a:cxnLst>
                  <a:cxn ang="T4">
                    <a:pos x="T0" y="T1"/>
                  </a:cxn>
                  <a:cxn ang="T5">
                    <a:pos x="T2" y="T3"/>
                  </a:cxn>
                </a:cxnLst>
                <a:rect l="0" t="0" r="r" b="b"/>
                <a:pathLst>
                  <a:path w="762" h="1">
                    <a:moveTo>
                      <a:pt x="762" y="1"/>
                    </a:moveTo>
                    <a:lnTo>
                      <a:pt x="0"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19" name="任意多边形 749603"/>
              <p:cNvSpPr>
                <a:spLocks noChangeArrowheads="1"/>
              </p:cNvSpPr>
              <p:nvPr/>
            </p:nvSpPr>
            <p:spPr bwMode="auto">
              <a:xfrm>
                <a:off x="5213" y="1444"/>
                <a:ext cx="1" cy="129"/>
              </a:xfrm>
              <a:custGeom>
                <a:avLst/>
                <a:gdLst>
                  <a:gd name="T0" fmla="*/ 0 w 1"/>
                  <a:gd name="T1" fmla="*/ 0 h 163"/>
                  <a:gd name="T2" fmla="*/ 1 w 1"/>
                  <a:gd name="T3" fmla="*/ 32 h 163"/>
                  <a:gd name="T4" fmla="*/ 0 60000 65536"/>
                  <a:gd name="T5" fmla="*/ 0 60000 65536"/>
                </a:gdLst>
                <a:ahLst/>
                <a:cxnLst>
                  <a:cxn ang="T4">
                    <a:pos x="T0" y="T1"/>
                  </a:cxn>
                  <a:cxn ang="T5">
                    <a:pos x="T2" y="T3"/>
                  </a:cxn>
                </a:cxnLst>
                <a:rect l="0" t="0" r="r" b="b"/>
                <a:pathLst>
                  <a:path w="1" h="163">
                    <a:moveTo>
                      <a:pt x="0" y="0"/>
                    </a:moveTo>
                    <a:lnTo>
                      <a:pt x="1" y="163"/>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20" name="直接连接符 749604"/>
              <p:cNvSpPr>
                <a:spLocks noChangeShapeType="1"/>
              </p:cNvSpPr>
              <p:nvPr/>
            </p:nvSpPr>
            <p:spPr bwMode="auto">
              <a:xfrm>
                <a:off x="3275" y="928"/>
                <a:ext cx="1057"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a:p>
            </p:txBody>
          </p:sp>
          <p:sp>
            <p:nvSpPr>
              <p:cNvPr id="221" name="直接连接符 749605"/>
              <p:cNvSpPr>
                <a:spLocks noChangeShapeType="1"/>
              </p:cNvSpPr>
              <p:nvPr/>
            </p:nvSpPr>
            <p:spPr bwMode="auto">
              <a:xfrm>
                <a:off x="3315" y="928"/>
                <a:ext cx="0" cy="516"/>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222" name="文本框 749606"/>
              <p:cNvSpPr txBox="1">
                <a:spLocks noChangeArrowheads="1"/>
              </p:cNvSpPr>
              <p:nvPr/>
            </p:nvSpPr>
            <p:spPr bwMode="auto">
              <a:xfrm rot="-5400000">
                <a:off x="3092" y="1000"/>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2000" dirty="0">
                    <a:latin typeface="Symbol" panose="05050102010706020507" pitchFamily="18" charset="2"/>
                  </a:rPr>
                  <a:t>F</a:t>
                </a:r>
                <a:endParaRPr lang="en-US" altLang="zh-CN" sz="2000" dirty="0">
                  <a:latin typeface="Symbol" panose="05050102010706020507" pitchFamily="18" charset="2"/>
                </a:endParaRPr>
              </a:p>
            </p:txBody>
          </p:sp>
          <p:sp>
            <p:nvSpPr>
              <p:cNvPr id="223" name="任意多边形 749607"/>
              <p:cNvSpPr>
                <a:spLocks noChangeArrowheads="1"/>
              </p:cNvSpPr>
              <p:nvPr/>
            </p:nvSpPr>
            <p:spPr bwMode="auto">
              <a:xfrm>
                <a:off x="3369" y="927"/>
                <a:ext cx="802" cy="517"/>
              </a:xfrm>
              <a:custGeom>
                <a:avLst/>
                <a:gdLst>
                  <a:gd name="T0" fmla="*/ 0 w 1442"/>
                  <a:gd name="T1" fmla="*/ 3 h 1203"/>
                  <a:gd name="T2" fmla="*/ 2 w 1442"/>
                  <a:gd name="T3" fmla="*/ 3 h 1203"/>
                  <a:gd name="T4" fmla="*/ 4 w 1442"/>
                  <a:gd name="T5" fmla="*/ 3 h 1203"/>
                  <a:gd name="T6" fmla="*/ 6 w 1442"/>
                  <a:gd name="T7" fmla="*/ 3 h 1203"/>
                  <a:gd name="T8" fmla="*/ 8 w 1442"/>
                  <a:gd name="T9" fmla="*/ 3 h 1203"/>
                  <a:gd name="T10" fmla="*/ 10 w 1442"/>
                  <a:gd name="T11" fmla="*/ 2 h 1203"/>
                  <a:gd name="T12" fmla="*/ 12 w 1442"/>
                  <a:gd name="T13" fmla="*/ 2 h 1203"/>
                  <a:gd name="T14" fmla="*/ 14 w 1442"/>
                  <a:gd name="T15" fmla="*/ 1 h 1203"/>
                  <a:gd name="T16" fmla="*/ 16 w 1442"/>
                  <a:gd name="T17" fmla="*/ 0 h 1203"/>
                  <a:gd name="T18" fmla="*/ 18 w 1442"/>
                  <a:gd name="T19" fmla="*/ 0 h 1203"/>
                  <a:gd name="T20" fmla="*/ 20 w 1442"/>
                  <a:gd name="T21" fmla="*/ 0 h 1203"/>
                  <a:gd name="T22" fmla="*/ 22 w 1442"/>
                  <a:gd name="T23" fmla="*/ 0 h 1203"/>
                  <a:gd name="T24" fmla="*/ 24 w 1442"/>
                  <a:gd name="T25" fmla="*/ 0 h 1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2" h="1203">
                    <a:moveTo>
                      <a:pt x="0" y="1202"/>
                    </a:moveTo>
                    <a:cubicBezTo>
                      <a:pt x="20" y="1201"/>
                      <a:pt x="82" y="1203"/>
                      <a:pt x="122" y="1198"/>
                    </a:cubicBezTo>
                    <a:cubicBezTo>
                      <a:pt x="162" y="1193"/>
                      <a:pt x="202" y="1188"/>
                      <a:pt x="242" y="1171"/>
                    </a:cubicBezTo>
                    <a:cubicBezTo>
                      <a:pt x="282" y="1154"/>
                      <a:pt x="322" y="1129"/>
                      <a:pt x="362" y="1097"/>
                    </a:cubicBezTo>
                    <a:cubicBezTo>
                      <a:pt x="402" y="1065"/>
                      <a:pt x="442" y="1027"/>
                      <a:pt x="482" y="977"/>
                    </a:cubicBezTo>
                    <a:cubicBezTo>
                      <a:pt x="522" y="927"/>
                      <a:pt x="562" y="860"/>
                      <a:pt x="602" y="797"/>
                    </a:cubicBezTo>
                    <a:cubicBezTo>
                      <a:pt x="642" y="734"/>
                      <a:pt x="685" y="664"/>
                      <a:pt x="725" y="599"/>
                    </a:cubicBezTo>
                    <a:cubicBezTo>
                      <a:pt x="765" y="534"/>
                      <a:pt x="803" y="465"/>
                      <a:pt x="842" y="404"/>
                    </a:cubicBezTo>
                    <a:cubicBezTo>
                      <a:pt x="881" y="343"/>
                      <a:pt x="922" y="278"/>
                      <a:pt x="962" y="230"/>
                    </a:cubicBezTo>
                    <a:cubicBezTo>
                      <a:pt x="1002" y="182"/>
                      <a:pt x="1042" y="146"/>
                      <a:pt x="1082" y="113"/>
                    </a:cubicBezTo>
                    <a:cubicBezTo>
                      <a:pt x="1122" y="80"/>
                      <a:pt x="1162" y="50"/>
                      <a:pt x="1202" y="32"/>
                    </a:cubicBezTo>
                    <a:cubicBezTo>
                      <a:pt x="1242" y="14"/>
                      <a:pt x="1282" y="10"/>
                      <a:pt x="1322" y="5"/>
                    </a:cubicBezTo>
                    <a:cubicBezTo>
                      <a:pt x="1362" y="0"/>
                      <a:pt x="1417" y="3"/>
                      <a:pt x="1442" y="2"/>
                    </a:cubicBezTo>
                  </a:path>
                </a:pathLst>
              </a:custGeom>
              <a:noFill/>
              <a:ln w="1905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24" name="任意多边形 749608"/>
              <p:cNvSpPr>
                <a:spLocks noChangeArrowheads="1"/>
              </p:cNvSpPr>
              <p:nvPr/>
            </p:nvSpPr>
            <p:spPr bwMode="auto">
              <a:xfrm>
                <a:off x="4171" y="925"/>
                <a:ext cx="405" cy="1"/>
              </a:xfrm>
              <a:custGeom>
                <a:avLst/>
                <a:gdLst>
                  <a:gd name="T0" fmla="*/ 0 w 483"/>
                  <a:gd name="T1" fmla="*/ 0 h 1"/>
                  <a:gd name="T2" fmla="*/ 141 w 483"/>
                  <a:gd name="T3" fmla="*/ 1 h 1"/>
                  <a:gd name="T4" fmla="*/ 0 60000 65536"/>
                  <a:gd name="T5" fmla="*/ 0 60000 65536"/>
                </a:gdLst>
                <a:ahLst/>
                <a:cxnLst>
                  <a:cxn ang="T4">
                    <a:pos x="T0" y="T1"/>
                  </a:cxn>
                  <a:cxn ang="T5">
                    <a:pos x="T2" y="T3"/>
                  </a:cxn>
                </a:cxnLst>
                <a:rect l="0" t="0" r="r" b="b"/>
                <a:pathLst>
                  <a:path w="483" h="1">
                    <a:moveTo>
                      <a:pt x="0" y="0"/>
                    </a:moveTo>
                    <a:lnTo>
                      <a:pt x="483" y="1"/>
                    </a:lnTo>
                  </a:path>
                </a:pathLst>
              </a:custGeom>
              <a:noFill/>
              <a:ln w="19050">
                <a:solidFill>
                  <a:srgbClr val="FF99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25" name="直接连接符 749609"/>
              <p:cNvSpPr>
                <a:spLocks noChangeShapeType="1"/>
              </p:cNvSpPr>
              <p:nvPr/>
            </p:nvSpPr>
            <p:spPr bwMode="auto">
              <a:xfrm>
                <a:off x="5805" y="1444"/>
                <a:ext cx="0" cy="11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26" name="任意多边形 749610"/>
              <p:cNvSpPr>
                <a:spLocks noChangeArrowheads="1"/>
              </p:cNvSpPr>
              <p:nvPr/>
            </p:nvSpPr>
            <p:spPr bwMode="auto">
              <a:xfrm>
                <a:off x="4159" y="1554"/>
                <a:ext cx="411" cy="0"/>
              </a:xfrm>
              <a:custGeom>
                <a:avLst/>
                <a:gdLst>
                  <a:gd name="T0" fmla="*/ 0 w 492"/>
                  <a:gd name="T1" fmla="*/ 0 h 1"/>
                  <a:gd name="T2" fmla="*/ 140 w 492"/>
                  <a:gd name="T3" fmla="*/ 0 h 1"/>
                  <a:gd name="T4" fmla="*/ 0 60000 65536"/>
                  <a:gd name="T5" fmla="*/ 0 60000 65536"/>
                </a:gdLst>
                <a:ahLst/>
                <a:cxnLst>
                  <a:cxn ang="T4">
                    <a:pos x="T0" y="T1"/>
                  </a:cxn>
                  <a:cxn ang="T5">
                    <a:pos x="T2" y="T3"/>
                  </a:cxn>
                </a:cxnLst>
                <a:rect l="0" t="0" r="r" b="b"/>
                <a:pathLst>
                  <a:path w="492" h="1">
                    <a:moveTo>
                      <a:pt x="0" y="0"/>
                    </a:moveTo>
                    <a:lnTo>
                      <a:pt x="492"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27" name="直接连接符 749611"/>
              <p:cNvSpPr>
                <a:spLocks noChangeShapeType="1"/>
              </p:cNvSpPr>
              <p:nvPr/>
            </p:nvSpPr>
            <p:spPr bwMode="auto">
              <a:xfrm>
                <a:off x="5213" y="1554"/>
                <a:ext cx="59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graphicFrame>
            <p:nvGraphicFramePr>
              <p:cNvPr id="228" name="对象 749612"/>
              <p:cNvGraphicFramePr/>
              <p:nvPr/>
            </p:nvGraphicFramePr>
            <p:xfrm>
              <a:off x="3672" y="1473"/>
              <a:ext cx="345" cy="153"/>
            </p:xfrm>
            <a:graphic>
              <a:graphicData uri="http://schemas.openxmlformats.org/presentationml/2006/ole">
                <mc:AlternateContent xmlns:mc="http://schemas.openxmlformats.org/markup-compatibility/2006">
                  <mc:Choice xmlns:v="urn:schemas-microsoft-com:vml" Requires="v">
                    <p:oleObj spid="_x0000_s233510" name="" r:id="rId1" imgW="316865" imgH="177800" progId="Equation.3">
                      <p:embed/>
                    </p:oleObj>
                  </mc:Choice>
                  <mc:Fallback>
                    <p:oleObj name="" r:id="rId1" imgW="316865" imgH="177800" progId="Equation.3">
                      <p:embed/>
                      <p:pic>
                        <p:nvPicPr>
                          <p:cNvPr id="0" name="对象 7496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2" y="1473"/>
                            <a:ext cx="34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9" name="对象 749613"/>
              <p:cNvGraphicFramePr/>
              <p:nvPr/>
            </p:nvGraphicFramePr>
            <p:xfrm>
              <a:off x="4264" y="1461"/>
              <a:ext cx="252" cy="179"/>
            </p:xfrm>
            <a:graphic>
              <a:graphicData uri="http://schemas.openxmlformats.org/presentationml/2006/ole">
                <mc:AlternateContent xmlns:mc="http://schemas.openxmlformats.org/markup-compatibility/2006">
                  <mc:Choice xmlns:v="urn:schemas-microsoft-com:vml" Requires="v">
                    <p:oleObj spid="_x0000_s233511" name="" r:id="rId3" imgW="254000" imgH="203200" progId="Equation.3">
                      <p:embed/>
                    </p:oleObj>
                  </mc:Choice>
                  <mc:Fallback>
                    <p:oleObj name="" r:id="rId3" imgW="254000" imgH="203200" progId="Equation.3">
                      <p:embed/>
                      <p:pic>
                        <p:nvPicPr>
                          <p:cNvPr id="0" name="对象 7496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4" y="1461"/>
                            <a:ext cx="25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0" name="对象 749614"/>
              <p:cNvGraphicFramePr/>
              <p:nvPr/>
            </p:nvGraphicFramePr>
            <p:xfrm>
              <a:off x="4835" y="1479"/>
              <a:ext cx="242" cy="161"/>
            </p:xfrm>
            <a:graphic>
              <a:graphicData uri="http://schemas.openxmlformats.org/presentationml/2006/ole">
                <mc:AlternateContent xmlns:mc="http://schemas.openxmlformats.org/markup-compatibility/2006">
                  <mc:Choice xmlns:v="urn:schemas-microsoft-com:vml" Requires="v">
                    <p:oleObj spid="_x0000_s233512" name="" r:id="rId5" imgW="241300" imgH="203200" progId="Equation.3">
                      <p:embed/>
                    </p:oleObj>
                  </mc:Choice>
                  <mc:Fallback>
                    <p:oleObj name="" r:id="rId5" imgW="241300" imgH="203200" progId="Equation.3">
                      <p:embed/>
                      <p:pic>
                        <p:nvPicPr>
                          <p:cNvPr id="0" name="对象 7496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5" y="1479"/>
                            <a:ext cx="242"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1" name="对象 749615"/>
              <p:cNvGraphicFramePr/>
              <p:nvPr/>
            </p:nvGraphicFramePr>
            <p:xfrm>
              <a:off x="5444" y="1472"/>
              <a:ext cx="254" cy="170"/>
            </p:xfrm>
            <a:graphic>
              <a:graphicData uri="http://schemas.openxmlformats.org/presentationml/2006/ole">
                <mc:AlternateContent xmlns:mc="http://schemas.openxmlformats.org/markup-compatibility/2006">
                  <mc:Choice xmlns:v="urn:schemas-microsoft-com:vml" Requires="v">
                    <p:oleObj spid="_x0000_s233513" name="" r:id="rId7" imgW="241300" imgH="203200" progId="Equation.3">
                      <p:embed/>
                    </p:oleObj>
                  </mc:Choice>
                  <mc:Fallback>
                    <p:oleObj name="" r:id="rId7" imgW="241300" imgH="203200" progId="Equation.3">
                      <p:embed/>
                      <p:pic>
                        <p:nvPicPr>
                          <p:cNvPr id="0" name="对象 7496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 y="1472"/>
                            <a:ext cx="25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2" name="任意多边形 749616"/>
              <p:cNvSpPr>
                <a:spLocks noChangeArrowheads="1"/>
              </p:cNvSpPr>
              <p:nvPr/>
            </p:nvSpPr>
            <p:spPr bwMode="auto">
              <a:xfrm>
                <a:off x="5213" y="1447"/>
                <a:ext cx="592" cy="0"/>
              </a:xfrm>
              <a:custGeom>
                <a:avLst/>
                <a:gdLst>
                  <a:gd name="T0" fmla="*/ 0 w 708"/>
                  <a:gd name="T1" fmla="*/ 0 h 1"/>
                  <a:gd name="T2" fmla="*/ 202 w 708"/>
                  <a:gd name="T3" fmla="*/ 1 h 1"/>
                  <a:gd name="T4" fmla="*/ 0 60000 65536"/>
                  <a:gd name="T5" fmla="*/ 0 60000 65536"/>
                </a:gdLst>
                <a:ahLst/>
                <a:cxnLst>
                  <a:cxn ang="T4">
                    <a:pos x="T0" y="T1"/>
                  </a:cxn>
                  <a:cxn ang="T5">
                    <a:pos x="T2" y="T3"/>
                  </a:cxn>
                </a:cxnLst>
                <a:rect l="0" t="0" r="r" b="b"/>
                <a:pathLst>
                  <a:path w="708" h="1">
                    <a:moveTo>
                      <a:pt x="0" y="0"/>
                    </a:moveTo>
                    <a:lnTo>
                      <a:pt x="708" y="1"/>
                    </a:ln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sp>
        <p:nvSpPr>
          <p:cNvPr id="233" name="任意多边形 232"/>
          <p:cNvSpPr>
            <a:spLocks noChangeArrowheads="1"/>
          </p:cNvSpPr>
          <p:nvPr/>
        </p:nvSpPr>
        <p:spPr bwMode="auto">
          <a:xfrm>
            <a:off x="7787870" y="2178685"/>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34" name="任意多边形 233"/>
          <p:cNvSpPr>
            <a:spLocks noChangeArrowheads="1"/>
          </p:cNvSpPr>
          <p:nvPr/>
        </p:nvSpPr>
        <p:spPr bwMode="auto">
          <a:xfrm>
            <a:off x="8000595" y="2046923"/>
            <a:ext cx="0" cy="150812"/>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35" name="任意多边形 234"/>
          <p:cNvSpPr>
            <a:spLocks noChangeArrowheads="1"/>
          </p:cNvSpPr>
          <p:nvPr/>
        </p:nvSpPr>
        <p:spPr bwMode="auto">
          <a:xfrm>
            <a:off x="8211733" y="1789748"/>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36" name="任意多边形 235"/>
          <p:cNvSpPr>
            <a:spLocks noChangeArrowheads="1"/>
          </p:cNvSpPr>
          <p:nvPr/>
        </p:nvSpPr>
        <p:spPr bwMode="auto">
          <a:xfrm>
            <a:off x="8422870" y="1538923"/>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37" name="任意多边形 236"/>
          <p:cNvSpPr>
            <a:spLocks noChangeArrowheads="1"/>
          </p:cNvSpPr>
          <p:nvPr/>
        </p:nvSpPr>
        <p:spPr bwMode="auto">
          <a:xfrm>
            <a:off x="8637183" y="1400810"/>
            <a:ext cx="0" cy="798513"/>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38" name="任意多边形 237"/>
          <p:cNvSpPr>
            <a:spLocks noChangeArrowheads="1"/>
          </p:cNvSpPr>
          <p:nvPr/>
        </p:nvSpPr>
        <p:spPr bwMode="auto">
          <a:xfrm>
            <a:off x="8741958" y="1389698"/>
            <a:ext cx="1587" cy="814387"/>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39" name="任意多边形 238"/>
          <p:cNvSpPr>
            <a:spLocks noChangeArrowheads="1"/>
          </p:cNvSpPr>
          <p:nvPr/>
        </p:nvSpPr>
        <p:spPr bwMode="auto">
          <a:xfrm>
            <a:off x="7894233" y="2129473"/>
            <a:ext cx="1587" cy="71437"/>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0" name="任意多边形 239"/>
          <p:cNvSpPr>
            <a:spLocks noChangeArrowheads="1"/>
          </p:cNvSpPr>
          <p:nvPr/>
        </p:nvSpPr>
        <p:spPr bwMode="auto">
          <a:xfrm>
            <a:off x="8105370" y="1924685"/>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1" name="任意多边形 240"/>
          <p:cNvSpPr>
            <a:spLocks noChangeArrowheads="1"/>
          </p:cNvSpPr>
          <p:nvPr/>
        </p:nvSpPr>
        <p:spPr bwMode="auto">
          <a:xfrm>
            <a:off x="8316508" y="1654810"/>
            <a:ext cx="1587" cy="544513"/>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2" name="任意多边形 241"/>
          <p:cNvSpPr>
            <a:spLocks noChangeArrowheads="1"/>
          </p:cNvSpPr>
          <p:nvPr/>
        </p:nvSpPr>
        <p:spPr bwMode="auto">
          <a:xfrm>
            <a:off x="8530820" y="1454785"/>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3" name="任意多边形 242"/>
          <p:cNvSpPr>
            <a:spLocks noChangeArrowheads="1"/>
          </p:cNvSpPr>
          <p:nvPr/>
        </p:nvSpPr>
        <p:spPr bwMode="auto">
          <a:xfrm>
            <a:off x="9597620" y="1473835"/>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4" name="任意多边形 243"/>
          <p:cNvSpPr>
            <a:spLocks noChangeArrowheads="1"/>
          </p:cNvSpPr>
          <p:nvPr/>
        </p:nvSpPr>
        <p:spPr bwMode="auto">
          <a:xfrm>
            <a:off x="9707158" y="1564323"/>
            <a:ext cx="1587" cy="636587"/>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5" name="任意多边形 244"/>
          <p:cNvSpPr>
            <a:spLocks noChangeArrowheads="1"/>
          </p:cNvSpPr>
          <p:nvPr/>
        </p:nvSpPr>
        <p:spPr bwMode="auto">
          <a:xfrm>
            <a:off x="9826220" y="1657985"/>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6" name="任意多边形 245"/>
          <p:cNvSpPr>
            <a:spLocks noChangeArrowheads="1"/>
          </p:cNvSpPr>
          <p:nvPr/>
        </p:nvSpPr>
        <p:spPr bwMode="auto">
          <a:xfrm>
            <a:off x="9934170" y="1745298"/>
            <a:ext cx="1588" cy="455612"/>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7" name="任意多边形 246"/>
          <p:cNvSpPr>
            <a:spLocks noChangeArrowheads="1"/>
          </p:cNvSpPr>
          <p:nvPr/>
        </p:nvSpPr>
        <p:spPr bwMode="auto">
          <a:xfrm>
            <a:off x="10045295" y="1827848"/>
            <a:ext cx="1588" cy="373062"/>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8" name="任意多边形 247"/>
          <p:cNvSpPr>
            <a:spLocks noChangeArrowheads="1"/>
          </p:cNvSpPr>
          <p:nvPr/>
        </p:nvSpPr>
        <p:spPr bwMode="auto">
          <a:xfrm>
            <a:off x="10156420" y="1929448"/>
            <a:ext cx="1588" cy="271462"/>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49" name="任意多边形 248"/>
          <p:cNvSpPr>
            <a:spLocks noChangeArrowheads="1"/>
          </p:cNvSpPr>
          <p:nvPr/>
        </p:nvSpPr>
        <p:spPr bwMode="auto">
          <a:xfrm>
            <a:off x="10269133" y="2015173"/>
            <a:ext cx="1587" cy="185737"/>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50" name="任意多边形 249"/>
          <p:cNvSpPr>
            <a:spLocks noChangeArrowheads="1"/>
          </p:cNvSpPr>
          <p:nvPr/>
        </p:nvSpPr>
        <p:spPr bwMode="auto">
          <a:xfrm>
            <a:off x="10381845" y="2115185"/>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51" name="任意多边形 250"/>
          <p:cNvSpPr>
            <a:spLocks noChangeArrowheads="1"/>
          </p:cNvSpPr>
          <p:nvPr/>
        </p:nvSpPr>
        <p:spPr bwMode="auto">
          <a:xfrm>
            <a:off x="8846733" y="1375410"/>
            <a:ext cx="1587" cy="827088"/>
          </a:xfrm>
          <a:custGeom>
            <a:avLst/>
            <a:gdLst>
              <a:gd name="T0" fmla="*/ 2147483646 w 1"/>
              <a:gd name="T1" fmla="*/ 0 h 521"/>
              <a:gd name="T2" fmla="*/ 0 w 1"/>
              <a:gd name="T3" fmla="*/ 2147483646 h 521"/>
              <a:gd name="T4" fmla="*/ 0 60000 65536"/>
              <a:gd name="T5" fmla="*/ 0 60000 65536"/>
            </a:gdLst>
            <a:ahLst/>
            <a:cxnLst>
              <a:cxn ang="T4">
                <a:pos x="T0" y="T1"/>
              </a:cxn>
              <a:cxn ang="T5">
                <a:pos x="T2" y="T3"/>
              </a:cxn>
            </a:cxnLst>
            <a:rect l="0" t="0" r="r" b="b"/>
            <a:pathLst>
              <a:path w="1" h="521">
                <a:moveTo>
                  <a:pt x="1" y="0"/>
                </a:moveTo>
                <a:lnTo>
                  <a:pt x="0" y="521"/>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52" name="任意多边形 251"/>
          <p:cNvSpPr>
            <a:spLocks noChangeArrowheads="1"/>
          </p:cNvSpPr>
          <p:nvPr/>
        </p:nvSpPr>
        <p:spPr bwMode="auto">
          <a:xfrm>
            <a:off x="8489545" y="4021773"/>
            <a:ext cx="1949450" cy="1858962"/>
          </a:xfrm>
          <a:custGeom>
            <a:avLst/>
            <a:gdLst>
              <a:gd name="T0" fmla="*/ 2147483646 w 1228"/>
              <a:gd name="T1" fmla="*/ 0 h 1171"/>
              <a:gd name="T2" fmla="*/ 2147483646 w 1228"/>
              <a:gd name="T3" fmla="*/ 2147483646 h 1171"/>
              <a:gd name="T4" fmla="*/ 2147483646 w 1228"/>
              <a:gd name="T5" fmla="*/ 2147483646 h 1171"/>
              <a:gd name="T6" fmla="*/ 2147483646 w 1228"/>
              <a:gd name="T7" fmla="*/ 2147483646 h 1171"/>
              <a:gd name="T8" fmla="*/ 2147483646 w 1228"/>
              <a:gd name="T9" fmla="*/ 2147483646 h 1171"/>
              <a:gd name="T10" fmla="*/ 2147483646 w 1228"/>
              <a:gd name="T11" fmla="*/ 2147483646 h 1171"/>
              <a:gd name="T12" fmla="*/ 2147483646 w 1228"/>
              <a:gd name="T13" fmla="*/ 2147483646 h 1171"/>
              <a:gd name="T14" fmla="*/ 2147483646 w 1228"/>
              <a:gd name="T15" fmla="*/ 2147483646 h 1171"/>
              <a:gd name="T16" fmla="*/ 2147483646 w 1228"/>
              <a:gd name="T17" fmla="*/ 2147483646 h 1171"/>
              <a:gd name="T18" fmla="*/ 2147483646 w 1228"/>
              <a:gd name="T19" fmla="*/ 2147483646 h 1171"/>
              <a:gd name="T20" fmla="*/ 2147483646 w 1228"/>
              <a:gd name="T21" fmla="*/ 2147483646 h 1171"/>
              <a:gd name="T22" fmla="*/ 2147483646 w 1228"/>
              <a:gd name="T23" fmla="*/ 2147483646 h 1171"/>
              <a:gd name="T24" fmla="*/ 2147483646 w 1228"/>
              <a:gd name="T25" fmla="*/ 2147483646 h 1171"/>
              <a:gd name="T26" fmla="*/ 2147483646 w 1228"/>
              <a:gd name="T27" fmla="*/ 2147483646 h 1171"/>
              <a:gd name="T28" fmla="*/ 2147483646 w 1228"/>
              <a:gd name="T29" fmla="*/ 2147483646 h 1171"/>
              <a:gd name="T30" fmla="*/ 2147483646 w 1228"/>
              <a:gd name="T31" fmla="*/ 2147483646 h 1171"/>
              <a:gd name="T32" fmla="*/ 2147483646 w 1228"/>
              <a:gd name="T33" fmla="*/ 2147483646 h 1171"/>
              <a:gd name="T34" fmla="*/ 2147483646 w 1228"/>
              <a:gd name="T35" fmla="*/ 2147483646 h 1171"/>
              <a:gd name="T36" fmla="*/ 2147483646 w 1228"/>
              <a:gd name="T37" fmla="*/ 2147483646 h 1171"/>
              <a:gd name="T38" fmla="*/ 2147483646 w 1228"/>
              <a:gd name="T39" fmla="*/ 2147483646 h 1171"/>
              <a:gd name="T40" fmla="*/ 2147483646 w 1228"/>
              <a:gd name="T41" fmla="*/ 2147483646 h 1171"/>
              <a:gd name="T42" fmla="*/ 2147483646 w 1228"/>
              <a:gd name="T43" fmla="*/ 2147483646 h 1171"/>
              <a:gd name="T44" fmla="*/ 2147483646 w 1228"/>
              <a:gd name="T45" fmla="*/ 2147483646 h 1171"/>
              <a:gd name="T46" fmla="*/ 0 w 1228"/>
              <a:gd name="T47" fmla="*/ 2147483646 h 1171"/>
              <a:gd name="T48" fmla="*/ 2147483646 w 1228"/>
              <a:gd name="T49" fmla="*/ 2147483646 h 1171"/>
              <a:gd name="T50" fmla="*/ 2147483646 w 1228"/>
              <a:gd name="T51" fmla="*/ 2147483646 h 1171"/>
              <a:gd name="T52" fmla="*/ 2147483646 w 1228"/>
              <a:gd name="T53" fmla="*/ 2147483646 h 1171"/>
              <a:gd name="T54" fmla="*/ 2147483646 w 1228"/>
              <a:gd name="T55" fmla="*/ 2147483646 h 1171"/>
              <a:gd name="T56" fmla="*/ 2147483646 w 1228"/>
              <a:gd name="T57" fmla="*/ 2147483646 h 1171"/>
              <a:gd name="T58" fmla="*/ 2147483646 w 1228"/>
              <a:gd name="T59" fmla="*/ 2147483646 h 1171"/>
              <a:gd name="T60" fmla="*/ 2147483646 w 1228"/>
              <a:gd name="T61" fmla="*/ 2147483646 h 1171"/>
              <a:gd name="T62" fmla="*/ 2147483646 w 1228"/>
              <a:gd name="T63" fmla="*/ 2147483646 h 1171"/>
              <a:gd name="T64" fmla="*/ 2147483646 w 1228"/>
              <a:gd name="T65" fmla="*/ 0 h 117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28" h="1171">
                <a:moveTo>
                  <a:pt x="462" y="0"/>
                </a:moveTo>
                <a:lnTo>
                  <a:pt x="548" y="0"/>
                </a:lnTo>
                <a:lnTo>
                  <a:pt x="632" y="8"/>
                </a:lnTo>
                <a:lnTo>
                  <a:pt x="705" y="20"/>
                </a:lnTo>
                <a:lnTo>
                  <a:pt x="773" y="41"/>
                </a:lnTo>
                <a:lnTo>
                  <a:pt x="837" y="69"/>
                </a:lnTo>
                <a:lnTo>
                  <a:pt x="891" y="100"/>
                </a:lnTo>
                <a:lnTo>
                  <a:pt x="951" y="136"/>
                </a:lnTo>
                <a:lnTo>
                  <a:pt x="1005" y="184"/>
                </a:lnTo>
                <a:lnTo>
                  <a:pt x="1062" y="236"/>
                </a:lnTo>
                <a:lnTo>
                  <a:pt x="1098" y="277"/>
                </a:lnTo>
                <a:lnTo>
                  <a:pt x="1135" y="325"/>
                </a:lnTo>
                <a:lnTo>
                  <a:pt x="1166" y="375"/>
                </a:lnTo>
                <a:lnTo>
                  <a:pt x="1191" y="426"/>
                </a:lnTo>
                <a:lnTo>
                  <a:pt x="1209" y="473"/>
                </a:lnTo>
                <a:lnTo>
                  <a:pt x="1222" y="518"/>
                </a:lnTo>
                <a:lnTo>
                  <a:pt x="1228" y="560"/>
                </a:lnTo>
                <a:lnTo>
                  <a:pt x="1228" y="599"/>
                </a:lnTo>
                <a:lnTo>
                  <a:pt x="1224" y="635"/>
                </a:lnTo>
                <a:lnTo>
                  <a:pt x="1219" y="671"/>
                </a:lnTo>
                <a:lnTo>
                  <a:pt x="1194" y="740"/>
                </a:lnTo>
                <a:lnTo>
                  <a:pt x="1172" y="780"/>
                </a:lnTo>
                <a:lnTo>
                  <a:pt x="1145" y="821"/>
                </a:lnTo>
                <a:lnTo>
                  <a:pt x="1115" y="861"/>
                </a:lnTo>
                <a:lnTo>
                  <a:pt x="1083" y="899"/>
                </a:lnTo>
                <a:lnTo>
                  <a:pt x="1045" y="935"/>
                </a:lnTo>
                <a:lnTo>
                  <a:pt x="1002" y="974"/>
                </a:lnTo>
                <a:lnTo>
                  <a:pt x="956" y="1008"/>
                </a:lnTo>
                <a:lnTo>
                  <a:pt x="899" y="1046"/>
                </a:lnTo>
                <a:lnTo>
                  <a:pt x="840" y="1077"/>
                </a:lnTo>
                <a:lnTo>
                  <a:pt x="784" y="1102"/>
                </a:lnTo>
                <a:lnTo>
                  <a:pt x="722" y="1123"/>
                </a:lnTo>
                <a:lnTo>
                  <a:pt x="665" y="1141"/>
                </a:lnTo>
                <a:lnTo>
                  <a:pt x="596" y="1159"/>
                </a:lnTo>
                <a:lnTo>
                  <a:pt x="524" y="1165"/>
                </a:lnTo>
                <a:lnTo>
                  <a:pt x="473" y="1171"/>
                </a:lnTo>
                <a:lnTo>
                  <a:pt x="418" y="1156"/>
                </a:lnTo>
                <a:lnTo>
                  <a:pt x="375" y="1145"/>
                </a:lnTo>
                <a:lnTo>
                  <a:pt x="317" y="1124"/>
                </a:lnTo>
                <a:lnTo>
                  <a:pt x="263" y="1099"/>
                </a:lnTo>
                <a:lnTo>
                  <a:pt x="221" y="1078"/>
                </a:lnTo>
                <a:lnTo>
                  <a:pt x="158" y="1030"/>
                </a:lnTo>
                <a:lnTo>
                  <a:pt x="122" y="994"/>
                </a:lnTo>
                <a:lnTo>
                  <a:pt x="86" y="949"/>
                </a:lnTo>
                <a:lnTo>
                  <a:pt x="53" y="889"/>
                </a:lnTo>
                <a:lnTo>
                  <a:pt x="27" y="831"/>
                </a:lnTo>
                <a:lnTo>
                  <a:pt x="6" y="763"/>
                </a:lnTo>
                <a:lnTo>
                  <a:pt x="0" y="689"/>
                </a:lnTo>
                <a:lnTo>
                  <a:pt x="0" y="620"/>
                </a:lnTo>
                <a:lnTo>
                  <a:pt x="6" y="542"/>
                </a:lnTo>
                <a:lnTo>
                  <a:pt x="23" y="455"/>
                </a:lnTo>
                <a:lnTo>
                  <a:pt x="31" y="397"/>
                </a:lnTo>
                <a:lnTo>
                  <a:pt x="36" y="349"/>
                </a:lnTo>
                <a:lnTo>
                  <a:pt x="44" y="298"/>
                </a:lnTo>
                <a:lnTo>
                  <a:pt x="61" y="251"/>
                </a:lnTo>
                <a:lnTo>
                  <a:pt x="76" y="216"/>
                </a:lnTo>
                <a:lnTo>
                  <a:pt x="96" y="182"/>
                </a:lnTo>
                <a:lnTo>
                  <a:pt x="117" y="155"/>
                </a:lnTo>
                <a:lnTo>
                  <a:pt x="151" y="117"/>
                </a:lnTo>
                <a:lnTo>
                  <a:pt x="187" y="88"/>
                </a:lnTo>
                <a:lnTo>
                  <a:pt x="228" y="61"/>
                </a:lnTo>
                <a:lnTo>
                  <a:pt x="272" y="38"/>
                </a:lnTo>
                <a:lnTo>
                  <a:pt x="316" y="21"/>
                </a:lnTo>
                <a:lnTo>
                  <a:pt x="364" y="8"/>
                </a:lnTo>
                <a:lnTo>
                  <a:pt x="411" y="0"/>
                </a:lnTo>
                <a:lnTo>
                  <a:pt x="462" y="0"/>
                </a:lnTo>
                <a:close/>
              </a:path>
            </a:pathLst>
          </a:custGeom>
          <a:solidFill>
            <a:srgbClr val="CCFFCC"/>
          </a:solidFill>
          <a:ln w="28575">
            <a:solidFill>
              <a:schemeClr val="tx1"/>
            </a:solidFill>
            <a:round/>
          </a:ln>
        </p:spPr>
        <p:txBody>
          <a:bodyPr wrap="square"/>
          <a:lstStyle/>
          <a:p>
            <a:endParaRPr lang="en-AU"/>
          </a:p>
        </p:txBody>
      </p:sp>
      <p:sp>
        <p:nvSpPr>
          <p:cNvPr id="255" name="任意多边形 254"/>
          <p:cNvSpPr>
            <a:spLocks noChangeArrowheads="1"/>
          </p:cNvSpPr>
          <p:nvPr/>
        </p:nvSpPr>
        <p:spPr bwMode="auto">
          <a:xfrm rot="7372">
            <a:off x="9229320" y="3601085"/>
            <a:ext cx="2239963" cy="1054100"/>
          </a:xfrm>
          <a:custGeom>
            <a:avLst/>
            <a:gdLst>
              <a:gd name="T0" fmla="*/ 0 w 1200"/>
              <a:gd name="T1" fmla="*/ 2147483646 h 612"/>
              <a:gd name="T2" fmla="*/ 2147483646 w 1200"/>
              <a:gd name="T3" fmla="*/ 0 h 612"/>
              <a:gd name="T4" fmla="*/ 0 60000 65536"/>
              <a:gd name="T5" fmla="*/ 0 60000 65536"/>
            </a:gdLst>
            <a:ahLst/>
            <a:cxnLst>
              <a:cxn ang="T4">
                <a:pos x="T0" y="T1"/>
              </a:cxn>
              <a:cxn ang="T5">
                <a:pos x="T2" y="T3"/>
              </a:cxn>
            </a:cxnLst>
            <a:rect l="0" t="0" r="r" b="b"/>
            <a:pathLst>
              <a:path w="1200" h="612">
                <a:moveTo>
                  <a:pt x="0" y="612"/>
                </a:moveTo>
                <a:lnTo>
                  <a:pt x="1200"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256" name="组合 255"/>
          <p:cNvGrpSpPr/>
          <p:nvPr/>
        </p:nvGrpSpPr>
        <p:grpSpPr bwMode="auto">
          <a:xfrm>
            <a:off x="8319683" y="3848735"/>
            <a:ext cx="1747837" cy="1600200"/>
            <a:chOff x="3544" y="2112"/>
            <a:chExt cx="1016" cy="1008"/>
          </a:xfrm>
        </p:grpSpPr>
        <p:sp>
          <p:nvSpPr>
            <p:cNvPr id="257" name="直接连接符 749641"/>
            <p:cNvSpPr>
              <a:spLocks noChangeShapeType="1"/>
            </p:cNvSpPr>
            <p:nvPr/>
          </p:nvSpPr>
          <p:spPr bwMode="auto">
            <a:xfrm>
              <a:off x="4073" y="2112"/>
              <a:ext cx="0" cy="1008"/>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258" name="直接连接符 749642"/>
            <p:cNvSpPr>
              <a:spLocks noChangeShapeType="1"/>
            </p:cNvSpPr>
            <p:nvPr/>
          </p:nvSpPr>
          <p:spPr bwMode="auto">
            <a:xfrm>
              <a:off x="3544" y="2618"/>
              <a:ext cx="1016" cy="0"/>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259" name="椭圆 749643"/>
            <p:cNvSpPr>
              <a:spLocks noChangeArrowheads="1"/>
            </p:cNvSpPr>
            <p:nvPr/>
          </p:nvSpPr>
          <p:spPr bwMode="auto">
            <a:xfrm>
              <a:off x="3670" y="2215"/>
              <a:ext cx="805" cy="805"/>
            </a:xfrm>
            <a:prstGeom prst="ellipse">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 typeface="Arial" panose="020B0604020202020204" pitchFamily="34" charset="0"/>
                <a:buNone/>
              </a:pPr>
              <a:endParaRPr lang="zh-CN" altLang="en-US" sz="2000">
                <a:latin typeface="Times New Roman" panose="02020603050405020304" pitchFamily="18" charset="0"/>
              </a:endParaRPr>
            </a:p>
          </p:txBody>
        </p:sp>
      </p:grpSp>
      <p:sp>
        <p:nvSpPr>
          <p:cNvPr id="272" name="椭圆 271"/>
          <p:cNvSpPr>
            <a:spLocks noChangeArrowheads="1"/>
          </p:cNvSpPr>
          <p:nvPr/>
        </p:nvSpPr>
        <p:spPr bwMode="auto">
          <a:xfrm>
            <a:off x="6968720" y="2532698"/>
            <a:ext cx="4570413" cy="4219575"/>
          </a:xfrm>
          <a:prstGeom prst="ellipse">
            <a:avLst/>
          </a:prstGeom>
          <a:noFill/>
          <a:ln w="12700">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nvGrpSpPr>
          <p:cNvPr id="273" name="组合 272"/>
          <p:cNvGrpSpPr/>
          <p:nvPr/>
        </p:nvGrpSpPr>
        <p:grpSpPr bwMode="auto">
          <a:xfrm>
            <a:off x="9227733" y="3623310"/>
            <a:ext cx="2271712" cy="395288"/>
            <a:chOff x="4072" y="1970"/>
            <a:chExt cx="1321" cy="249"/>
          </a:xfrm>
        </p:grpSpPr>
        <p:sp>
          <p:nvSpPr>
            <p:cNvPr id="274" name="任意多边形 749658"/>
            <p:cNvSpPr>
              <a:spLocks noChangeArrowheads="1"/>
            </p:cNvSpPr>
            <p:nvPr/>
          </p:nvSpPr>
          <p:spPr bwMode="auto">
            <a:xfrm rot="2258">
              <a:off x="4072" y="2006"/>
              <a:ext cx="1200" cy="213"/>
            </a:xfrm>
            <a:custGeom>
              <a:avLst/>
              <a:gdLst>
                <a:gd name="T0" fmla="*/ 1200 w 1200"/>
                <a:gd name="T1" fmla="*/ 0 h 213"/>
                <a:gd name="T2" fmla="*/ 208 w 1200"/>
                <a:gd name="T3" fmla="*/ 4 h 213"/>
                <a:gd name="T4" fmla="*/ 0 w 1200"/>
                <a:gd name="T5" fmla="*/ 213 h 213"/>
                <a:gd name="T6" fmla="*/ 0 60000 65536"/>
                <a:gd name="T7" fmla="*/ 0 60000 65536"/>
                <a:gd name="T8" fmla="*/ 0 60000 65536"/>
              </a:gdLst>
              <a:ahLst/>
              <a:cxnLst>
                <a:cxn ang="T6">
                  <a:pos x="T0" y="T1"/>
                </a:cxn>
                <a:cxn ang="T7">
                  <a:pos x="T2" y="T3"/>
                </a:cxn>
                <a:cxn ang="T8">
                  <a:pos x="T4" y="T5"/>
                </a:cxn>
              </a:cxnLst>
              <a:rect l="0" t="0" r="r" b="b"/>
              <a:pathLst>
                <a:path w="1200" h="213">
                  <a:moveTo>
                    <a:pt x="1200" y="0"/>
                  </a:moveTo>
                  <a:lnTo>
                    <a:pt x="208" y="4"/>
                  </a:lnTo>
                  <a:lnTo>
                    <a:pt x="0" y="213"/>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275" name="组合 749659"/>
            <p:cNvGrpSpPr/>
            <p:nvPr/>
          </p:nvGrpSpPr>
          <p:grpSpPr bwMode="auto">
            <a:xfrm>
              <a:off x="5141" y="1970"/>
              <a:ext cx="252" cy="192"/>
              <a:chOff x="1023" y="2940"/>
              <a:chExt cx="252" cy="192"/>
            </a:xfrm>
          </p:grpSpPr>
          <p:sp>
            <p:nvSpPr>
              <p:cNvPr id="276" name="直接连接符 749660"/>
              <p:cNvSpPr>
                <a:spLocks noChangeShapeType="1"/>
              </p:cNvSpPr>
              <p:nvPr/>
            </p:nvSpPr>
            <p:spPr bwMode="auto">
              <a:xfrm flipH="1">
                <a:off x="1098" y="2988"/>
                <a:ext cx="48"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77" name="直接连接符 749661"/>
              <p:cNvSpPr>
                <a:spLocks noChangeShapeType="1"/>
              </p:cNvSpPr>
              <p:nvPr/>
            </p:nvSpPr>
            <p:spPr bwMode="auto">
              <a:xfrm>
                <a:off x="1164" y="2988"/>
                <a:ext cx="48"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78" name="直接连接符 749662"/>
              <p:cNvSpPr>
                <a:spLocks noChangeShapeType="1"/>
              </p:cNvSpPr>
              <p:nvPr/>
            </p:nvSpPr>
            <p:spPr bwMode="auto">
              <a:xfrm>
                <a:off x="1035" y="3084"/>
                <a:ext cx="24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79" name="椭圆 749663"/>
              <p:cNvSpPr>
                <a:spLocks noChangeArrowheads="1"/>
              </p:cNvSpPr>
              <p:nvPr/>
            </p:nvSpPr>
            <p:spPr bwMode="auto">
              <a:xfrm>
                <a:off x="1119" y="2940"/>
                <a:ext cx="76" cy="76"/>
              </a:xfrm>
              <a:prstGeom prst="ellipse">
                <a:avLst/>
              </a:prstGeom>
              <a:solidFill>
                <a:srgbClr val="FFFF99"/>
              </a:solidFill>
              <a:ln w="19050">
                <a:solidFill>
                  <a:schemeClr val="tx1"/>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280" name="直接连接符 749664"/>
              <p:cNvSpPr>
                <a:spLocks noChangeShapeType="1"/>
              </p:cNvSpPr>
              <p:nvPr/>
            </p:nvSpPr>
            <p:spPr bwMode="auto">
              <a:xfrm flipH="1">
                <a:off x="1215"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81" name="直接连接符 749665"/>
              <p:cNvSpPr>
                <a:spLocks noChangeShapeType="1"/>
              </p:cNvSpPr>
              <p:nvPr/>
            </p:nvSpPr>
            <p:spPr bwMode="auto">
              <a:xfrm flipH="1">
                <a:off x="1167"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82" name="直接连接符 749666"/>
              <p:cNvSpPr>
                <a:spLocks noChangeShapeType="1"/>
              </p:cNvSpPr>
              <p:nvPr/>
            </p:nvSpPr>
            <p:spPr bwMode="auto">
              <a:xfrm flipH="1">
                <a:off x="1119"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83" name="直接连接符 749667"/>
              <p:cNvSpPr>
                <a:spLocks noChangeShapeType="1"/>
              </p:cNvSpPr>
              <p:nvPr/>
            </p:nvSpPr>
            <p:spPr bwMode="auto">
              <a:xfrm flipH="1">
                <a:off x="1071"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284" name="直接连接符 749668"/>
              <p:cNvSpPr>
                <a:spLocks noChangeShapeType="1"/>
              </p:cNvSpPr>
              <p:nvPr/>
            </p:nvSpPr>
            <p:spPr bwMode="auto">
              <a:xfrm flipH="1">
                <a:off x="1023"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grpSp>
      <p:sp>
        <p:nvSpPr>
          <p:cNvPr id="289" name="直接连接符 288"/>
          <p:cNvSpPr>
            <a:spLocks noChangeShapeType="1"/>
          </p:cNvSpPr>
          <p:nvPr/>
        </p:nvSpPr>
        <p:spPr bwMode="auto">
          <a:xfrm rot="279481">
            <a:off x="9178298" y="4644284"/>
            <a:ext cx="0" cy="108155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290" name="任意多边形 289"/>
          <p:cNvSpPr>
            <a:spLocks noChangeArrowheads="1"/>
          </p:cNvSpPr>
          <p:nvPr/>
        </p:nvSpPr>
        <p:spPr bwMode="auto">
          <a:xfrm rot="600000">
            <a:off x="6887815" y="4439277"/>
            <a:ext cx="2311400" cy="1087438"/>
          </a:xfrm>
          <a:custGeom>
            <a:avLst/>
            <a:gdLst>
              <a:gd name="T0" fmla="*/ 0 w 1200"/>
              <a:gd name="T1" fmla="*/ 2147483646 h 612"/>
              <a:gd name="T2" fmla="*/ 2147483646 w 1200"/>
              <a:gd name="T3" fmla="*/ 0 h 612"/>
              <a:gd name="T4" fmla="*/ 0 60000 65536"/>
              <a:gd name="T5" fmla="*/ 0 60000 65536"/>
            </a:gdLst>
            <a:ahLst/>
            <a:cxnLst>
              <a:cxn ang="T4">
                <a:pos x="T0" y="T1"/>
              </a:cxn>
              <a:cxn ang="T5">
                <a:pos x="T2" y="T3"/>
              </a:cxn>
            </a:cxnLst>
            <a:rect l="0" t="0" r="r" b="b"/>
            <a:pathLst>
              <a:path w="1200" h="612">
                <a:moveTo>
                  <a:pt x="0" y="612"/>
                </a:moveTo>
                <a:lnTo>
                  <a:pt x="1200"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4" name="组合 3"/>
          <p:cNvGrpSpPr/>
          <p:nvPr/>
        </p:nvGrpSpPr>
        <p:grpSpPr>
          <a:xfrm>
            <a:off x="7068200" y="5333665"/>
            <a:ext cx="2063629" cy="565150"/>
            <a:chOff x="6388266" y="5333665"/>
            <a:chExt cx="2063629" cy="565150"/>
          </a:xfrm>
        </p:grpSpPr>
        <p:sp>
          <p:nvSpPr>
            <p:cNvPr id="416" name="任意多边形 749658"/>
            <p:cNvSpPr>
              <a:spLocks noChangeArrowheads="1"/>
            </p:cNvSpPr>
            <p:nvPr/>
          </p:nvSpPr>
          <p:spPr bwMode="auto">
            <a:xfrm rot="12300000">
              <a:off x="6388266" y="5377720"/>
              <a:ext cx="2063629" cy="338138"/>
            </a:xfrm>
            <a:custGeom>
              <a:avLst/>
              <a:gdLst>
                <a:gd name="T0" fmla="*/ 1200 w 1200"/>
                <a:gd name="T1" fmla="*/ 0 h 213"/>
                <a:gd name="T2" fmla="*/ 208 w 1200"/>
                <a:gd name="T3" fmla="*/ 4 h 213"/>
                <a:gd name="T4" fmla="*/ 0 w 1200"/>
                <a:gd name="T5" fmla="*/ 213 h 213"/>
                <a:gd name="T6" fmla="*/ 0 60000 65536"/>
                <a:gd name="T7" fmla="*/ 0 60000 65536"/>
                <a:gd name="T8" fmla="*/ 0 60000 65536"/>
              </a:gdLst>
              <a:ahLst/>
              <a:cxnLst>
                <a:cxn ang="T6">
                  <a:pos x="T0" y="T1"/>
                </a:cxn>
                <a:cxn ang="T7">
                  <a:pos x="T2" y="T3"/>
                </a:cxn>
                <a:cxn ang="T8">
                  <a:pos x="T4" y="T5"/>
                </a:cxn>
              </a:cxnLst>
              <a:rect l="0" t="0" r="r" b="b"/>
              <a:pathLst>
                <a:path w="1200" h="213">
                  <a:moveTo>
                    <a:pt x="1200" y="0"/>
                  </a:moveTo>
                  <a:lnTo>
                    <a:pt x="208" y="4"/>
                  </a:lnTo>
                  <a:lnTo>
                    <a:pt x="0" y="213"/>
                  </a:lnTo>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351" name="组合 350"/>
            <p:cNvGrpSpPr/>
            <p:nvPr/>
          </p:nvGrpSpPr>
          <p:grpSpPr bwMode="auto">
            <a:xfrm rot="485303">
              <a:off x="6438978" y="5333665"/>
              <a:ext cx="941534" cy="565150"/>
              <a:chOff x="3195" y="3579"/>
              <a:chExt cx="592" cy="356"/>
            </a:xfrm>
          </p:grpSpPr>
          <p:sp>
            <p:nvSpPr>
              <p:cNvPr id="352" name="任意多边形 749736"/>
              <p:cNvSpPr>
                <a:spLocks noChangeArrowheads="1"/>
              </p:cNvSpPr>
              <p:nvPr/>
            </p:nvSpPr>
            <p:spPr bwMode="auto">
              <a:xfrm>
                <a:off x="3195" y="3579"/>
                <a:ext cx="393" cy="120"/>
              </a:xfrm>
              <a:custGeom>
                <a:avLst/>
                <a:gdLst>
                  <a:gd name="T0" fmla="*/ 0 w 393"/>
                  <a:gd name="T1" fmla="*/ 0 h 120"/>
                  <a:gd name="T2" fmla="*/ 384 w 393"/>
                  <a:gd name="T3" fmla="*/ 6 h 120"/>
                  <a:gd name="T4" fmla="*/ 393 w 393"/>
                  <a:gd name="T5" fmla="*/ 57 h 120"/>
                  <a:gd name="T6" fmla="*/ 366 w 393"/>
                  <a:gd name="T7" fmla="*/ 120 h 120"/>
                  <a:gd name="T8" fmla="*/ 0 w 393"/>
                  <a:gd name="T9" fmla="*/ 0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3" h="120">
                    <a:moveTo>
                      <a:pt x="0" y="0"/>
                    </a:moveTo>
                    <a:lnTo>
                      <a:pt x="384" y="6"/>
                    </a:lnTo>
                    <a:lnTo>
                      <a:pt x="393" y="57"/>
                    </a:lnTo>
                    <a:lnTo>
                      <a:pt x="366" y="120"/>
                    </a:lnTo>
                    <a:lnTo>
                      <a:pt x="0" y="0"/>
                    </a:lnTo>
                    <a:close/>
                  </a:path>
                </a:pathLst>
              </a:custGeom>
              <a:solidFill>
                <a:srgbClr val="FF00FF"/>
              </a:solidFill>
              <a:ln w="9525">
                <a:solidFill>
                  <a:srgbClr val="FF00FF"/>
                </a:solidFill>
                <a:round/>
              </a:ln>
            </p:spPr>
            <p:txBody>
              <a:bodyPr/>
              <a:lstStyle/>
              <a:p>
                <a:endParaRPr lang="en-AU"/>
              </a:p>
            </p:txBody>
          </p:sp>
          <p:sp>
            <p:nvSpPr>
              <p:cNvPr id="353" name="矩形 749737"/>
              <p:cNvSpPr>
                <a:spLocks noChangeArrowheads="1"/>
              </p:cNvSpPr>
              <p:nvPr/>
            </p:nvSpPr>
            <p:spPr bwMode="auto">
              <a:xfrm>
                <a:off x="3450" y="3702"/>
                <a:ext cx="3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dirty="0">
                    <a:solidFill>
                      <a:srgbClr val="FF00FF"/>
                    </a:solidFill>
                    <a:latin typeface="Symbol" panose="05050102010706020507" pitchFamily="18" charset="2"/>
                  </a:rPr>
                  <a:t>f</a:t>
                </a:r>
                <a:r>
                  <a:rPr lang="en-US" altLang="zh-CN" sz="1800" baseline="-25000" dirty="0">
                    <a:solidFill>
                      <a:srgbClr val="FF00FF"/>
                    </a:solidFill>
                    <a:latin typeface="Symbol" panose="05050102010706020507" pitchFamily="18" charset="2"/>
                  </a:rPr>
                  <a:t>190</a:t>
                </a:r>
                <a:endParaRPr lang="zh-CN" altLang="en-US" sz="1800" baseline="-25000" dirty="0">
                  <a:solidFill>
                    <a:srgbClr val="FF00FF"/>
                  </a:solidFill>
                  <a:latin typeface="Symbol" panose="05050102010706020507" pitchFamily="18" charset="2"/>
                </a:endParaRPr>
              </a:p>
            </p:txBody>
          </p:sp>
        </p:grpSp>
      </p:grpSp>
      <p:grpSp>
        <p:nvGrpSpPr>
          <p:cNvPr id="3" name="组合 2"/>
          <p:cNvGrpSpPr/>
          <p:nvPr/>
        </p:nvGrpSpPr>
        <p:grpSpPr>
          <a:xfrm>
            <a:off x="7552950" y="1403004"/>
            <a:ext cx="2050227" cy="801081"/>
            <a:chOff x="6873016" y="1403004"/>
            <a:chExt cx="2050227" cy="801081"/>
          </a:xfrm>
        </p:grpSpPr>
        <p:sp>
          <p:nvSpPr>
            <p:cNvPr id="427" name="任意多边形 426"/>
            <p:cNvSpPr>
              <a:spLocks noChangeArrowheads="1"/>
            </p:cNvSpPr>
            <p:nvPr/>
          </p:nvSpPr>
          <p:spPr bwMode="auto">
            <a:xfrm>
              <a:off x="8921655" y="1473835"/>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428" name="直接连接符 749604"/>
            <p:cNvSpPr>
              <a:spLocks noChangeShapeType="1"/>
            </p:cNvSpPr>
            <p:nvPr/>
          </p:nvSpPr>
          <p:spPr bwMode="auto">
            <a:xfrm>
              <a:off x="6904892" y="1502876"/>
              <a:ext cx="1992400" cy="0"/>
            </a:xfrm>
            <a:prstGeom prst="line">
              <a:avLst/>
            </a:prstGeom>
            <a:noFill/>
            <a:ln w="3175">
              <a:solidFill>
                <a:schemeClr val="tx1"/>
              </a:solidFill>
              <a:round/>
              <a:headEnd type="oval" w="sm" len="lg"/>
              <a:tailEnd type="oval" w="sm" len="lg"/>
            </a:ln>
            <a:extLst>
              <a:ext uri="{909E8E84-426E-40DD-AFC4-6F175D3DCCD1}">
                <a14:hiddenFill xmlns:a14="http://schemas.microsoft.com/office/drawing/2010/main">
                  <a:noFill/>
                </a14:hiddenFill>
              </a:ext>
            </a:extLst>
          </p:spPr>
          <p:txBody>
            <a:bodyPr/>
            <a:lstStyle/>
            <a:p>
              <a:endParaRPr lang="en-AU"/>
            </a:p>
          </p:txBody>
        </p:sp>
        <p:sp>
          <p:nvSpPr>
            <p:cNvPr id="2" name="矩形 1"/>
            <p:cNvSpPr/>
            <p:nvPr/>
          </p:nvSpPr>
          <p:spPr>
            <a:xfrm>
              <a:off x="6873016" y="1403004"/>
              <a:ext cx="535724" cy="369332"/>
            </a:xfrm>
            <a:prstGeom prst="rect">
              <a:avLst/>
            </a:prstGeom>
          </p:spPr>
          <p:txBody>
            <a:bodyPr wrap="none">
              <a:spAutoFit/>
            </a:bodyPr>
            <a:lstStyle/>
            <a:p>
              <a:pPr>
                <a:spcBef>
                  <a:spcPct val="0"/>
                </a:spcBef>
              </a:pPr>
              <a:r>
                <a:rPr lang="en-US" altLang="zh-CN" dirty="0">
                  <a:solidFill>
                    <a:srgbClr val="FF00FF"/>
                  </a:solidFill>
                  <a:latin typeface="Symbol" panose="05050102010706020507" pitchFamily="18" charset="2"/>
                </a:rPr>
                <a:t>f</a:t>
              </a:r>
              <a:r>
                <a:rPr lang="en-US" altLang="zh-CN" baseline="-25000" dirty="0">
                  <a:solidFill>
                    <a:srgbClr val="FF00FF"/>
                  </a:solidFill>
                  <a:latin typeface="Symbol" panose="05050102010706020507" pitchFamily="18" charset="2"/>
                </a:rPr>
                <a:t>190</a:t>
              </a:r>
              <a:endParaRPr lang="zh-CN" altLang="en-US" baseline="-25000" dirty="0">
                <a:solidFill>
                  <a:srgbClr val="FF00FF"/>
                </a:solidFill>
                <a:latin typeface="Symbol" panose="05050102010706020507" pitchFamily="18" charset="2"/>
              </a:endParaRPr>
            </a:p>
          </p:txBody>
        </p:sp>
      </p:grpSp>
      <p:grpSp>
        <p:nvGrpSpPr>
          <p:cNvPr id="391" name="组合 390"/>
          <p:cNvGrpSpPr/>
          <p:nvPr/>
        </p:nvGrpSpPr>
        <p:grpSpPr bwMode="auto">
          <a:xfrm rot="11400000">
            <a:off x="6894787" y="5073870"/>
            <a:ext cx="2271712" cy="395288"/>
            <a:chOff x="4072" y="1970"/>
            <a:chExt cx="1321" cy="249"/>
          </a:xfrm>
        </p:grpSpPr>
        <p:sp>
          <p:nvSpPr>
            <p:cNvPr id="392" name="任意多边形 749658"/>
            <p:cNvSpPr>
              <a:spLocks noChangeArrowheads="1"/>
            </p:cNvSpPr>
            <p:nvPr/>
          </p:nvSpPr>
          <p:spPr bwMode="auto">
            <a:xfrm rot="2258">
              <a:off x="4072" y="2006"/>
              <a:ext cx="1200" cy="213"/>
            </a:xfrm>
            <a:custGeom>
              <a:avLst/>
              <a:gdLst>
                <a:gd name="T0" fmla="*/ 1200 w 1200"/>
                <a:gd name="T1" fmla="*/ 0 h 213"/>
                <a:gd name="T2" fmla="*/ 208 w 1200"/>
                <a:gd name="T3" fmla="*/ 4 h 213"/>
                <a:gd name="T4" fmla="*/ 0 w 1200"/>
                <a:gd name="T5" fmla="*/ 213 h 213"/>
                <a:gd name="T6" fmla="*/ 0 60000 65536"/>
                <a:gd name="T7" fmla="*/ 0 60000 65536"/>
                <a:gd name="T8" fmla="*/ 0 60000 65536"/>
              </a:gdLst>
              <a:ahLst/>
              <a:cxnLst>
                <a:cxn ang="T6">
                  <a:pos x="T0" y="T1"/>
                </a:cxn>
                <a:cxn ang="T7">
                  <a:pos x="T2" y="T3"/>
                </a:cxn>
                <a:cxn ang="T8">
                  <a:pos x="T4" y="T5"/>
                </a:cxn>
              </a:cxnLst>
              <a:rect l="0" t="0" r="r" b="b"/>
              <a:pathLst>
                <a:path w="1200" h="213">
                  <a:moveTo>
                    <a:pt x="1200" y="0"/>
                  </a:moveTo>
                  <a:lnTo>
                    <a:pt x="208" y="4"/>
                  </a:lnTo>
                  <a:lnTo>
                    <a:pt x="0" y="213"/>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393" name="组合 749659"/>
            <p:cNvGrpSpPr/>
            <p:nvPr/>
          </p:nvGrpSpPr>
          <p:grpSpPr bwMode="auto">
            <a:xfrm>
              <a:off x="5141" y="1970"/>
              <a:ext cx="252" cy="192"/>
              <a:chOff x="1023" y="2940"/>
              <a:chExt cx="252" cy="192"/>
            </a:xfrm>
          </p:grpSpPr>
          <p:sp>
            <p:nvSpPr>
              <p:cNvPr id="394" name="直接连接符 749660"/>
              <p:cNvSpPr>
                <a:spLocks noChangeShapeType="1"/>
              </p:cNvSpPr>
              <p:nvPr/>
            </p:nvSpPr>
            <p:spPr bwMode="auto">
              <a:xfrm flipH="1">
                <a:off x="1098" y="2988"/>
                <a:ext cx="48"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395" name="直接连接符 749661"/>
              <p:cNvSpPr>
                <a:spLocks noChangeShapeType="1"/>
              </p:cNvSpPr>
              <p:nvPr/>
            </p:nvSpPr>
            <p:spPr bwMode="auto">
              <a:xfrm>
                <a:off x="1164" y="2988"/>
                <a:ext cx="48"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396" name="直接连接符 749662"/>
              <p:cNvSpPr>
                <a:spLocks noChangeShapeType="1"/>
              </p:cNvSpPr>
              <p:nvPr/>
            </p:nvSpPr>
            <p:spPr bwMode="auto">
              <a:xfrm>
                <a:off x="1035" y="3084"/>
                <a:ext cx="24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397" name="椭圆 749663"/>
              <p:cNvSpPr>
                <a:spLocks noChangeArrowheads="1"/>
              </p:cNvSpPr>
              <p:nvPr/>
            </p:nvSpPr>
            <p:spPr bwMode="auto">
              <a:xfrm>
                <a:off x="1119" y="2940"/>
                <a:ext cx="76" cy="76"/>
              </a:xfrm>
              <a:prstGeom prst="ellipse">
                <a:avLst/>
              </a:prstGeom>
              <a:solidFill>
                <a:srgbClr val="FFFF99"/>
              </a:solidFill>
              <a:ln w="19050">
                <a:solidFill>
                  <a:schemeClr val="tx1"/>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398" name="直接连接符 749664"/>
              <p:cNvSpPr>
                <a:spLocks noChangeShapeType="1"/>
              </p:cNvSpPr>
              <p:nvPr/>
            </p:nvSpPr>
            <p:spPr bwMode="auto">
              <a:xfrm flipH="1">
                <a:off x="1215"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399" name="直接连接符 749665"/>
              <p:cNvSpPr>
                <a:spLocks noChangeShapeType="1"/>
              </p:cNvSpPr>
              <p:nvPr/>
            </p:nvSpPr>
            <p:spPr bwMode="auto">
              <a:xfrm flipH="1">
                <a:off x="1167"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400" name="直接连接符 749666"/>
              <p:cNvSpPr>
                <a:spLocks noChangeShapeType="1"/>
              </p:cNvSpPr>
              <p:nvPr/>
            </p:nvSpPr>
            <p:spPr bwMode="auto">
              <a:xfrm flipH="1">
                <a:off x="1119"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401" name="直接连接符 749667"/>
              <p:cNvSpPr>
                <a:spLocks noChangeShapeType="1"/>
              </p:cNvSpPr>
              <p:nvPr/>
            </p:nvSpPr>
            <p:spPr bwMode="auto">
              <a:xfrm flipH="1">
                <a:off x="1071"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402" name="直接连接符 749668"/>
              <p:cNvSpPr>
                <a:spLocks noChangeShapeType="1"/>
              </p:cNvSpPr>
              <p:nvPr/>
            </p:nvSpPr>
            <p:spPr bwMode="auto">
              <a:xfrm flipH="1">
                <a:off x="1023" y="3084"/>
                <a:ext cx="48" cy="4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grpSp>
      <p:sp>
        <p:nvSpPr>
          <p:cNvPr id="306" name="椭圆 305"/>
          <p:cNvSpPr>
            <a:spLocks noChangeArrowheads="1"/>
          </p:cNvSpPr>
          <p:nvPr/>
        </p:nvSpPr>
        <p:spPr bwMode="auto">
          <a:xfrm>
            <a:off x="9064343" y="5776815"/>
            <a:ext cx="131762" cy="120650"/>
          </a:xfrm>
          <a:prstGeom prst="ellipse">
            <a:avLst/>
          </a:prstGeom>
          <a:solidFill>
            <a:srgbClr val="FFFF99"/>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429" name="文本框 623696"/>
          <p:cNvSpPr txBox="1">
            <a:spLocks noChangeArrowheads="1"/>
          </p:cNvSpPr>
          <p:nvPr/>
        </p:nvSpPr>
        <p:spPr bwMode="auto">
          <a:xfrm rot="21308060">
            <a:off x="10263751" y="5497388"/>
            <a:ext cx="30581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dirty="0">
                <a:solidFill>
                  <a:srgbClr val="CC3399"/>
                </a:solidFill>
                <a:latin typeface="Times New Roman" panose="02020603050405020304" pitchFamily="18" charset="0"/>
                <a:sym typeface="Symbol" panose="05050102010706020507" pitchFamily="18" charset="2"/>
              </a:rPr>
              <a:t></a:t>
            </a:r>
            <a:endParaRPr lang="zh-CN" altLang="en-US" sz="1400" dirty="0">
              <a:solidFill>
                <a:srgbClr val="CC3399"/>
              </a:solidFill>
              <a:latin typeface="Times New Roman" panose="02020603050405020304" pitchFamily="18" charset="0"/>
            </a:endParaRPr>
          </a:p>
        </p:txBody>
      </p:sp>
      <p:sp>
        <p:nvSpPr>
          <p:cNvPr id="430" name="任意多边形 623695"/>
          <p:cNvSpPr>
            <a:spLocks noChangeArrowheads="1"/>
          </p:cNvSpPr>
          <p:nvPr/>
        </p:nvSpPr>
        <p:spPr bwMode="auto">
          <a:xfrm rot="1813999">
            <a:off x="9546698" y="5112902"/>
            <a:ext cx="1197491" cy="808038"/>
          </a:xfrm>
          <a:custGeom>
            <a:avLst/>
            <a:gdLst>
              <a:gd name="T0" fmla="*/ 0 w 21600"/>
              <a:gd name="T1" fmla="*/ 0 h 15809"/>
              <a:gd name="T2" fmla="*/ 0 w 21600"/>
              <a:gd name="T3" fmla="*/ 0 h 15809"/>
              <a:gd name="T4" fmla="*/ 0 w 21600"/>
              <a:gd name="T5" fmla="*/ 0 h 15809"/>
              <a:gd name="T6" fmla="*/ 0 w 21600"/>
              <a:gd name="T7" fmla="*/ 0 h 15809"/>
              <a:gd name="T8" fmla="*/ 0 w 21600"/>
              <a:gd name="T9" fmla="*/ 0 h 15809"/>
              <a:gd name="T10" fmla="*/ 0 w 21600"/>
              <a:gd name="T11" fmla="*/ 0 h 15809"/>
              <a:gd name="T12" fmla="*/ 0 w 21600"/>
              <a:gd name="T13" fmla="*/ 0 h 158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15809" fill="none">
                <a:moveTo>
                  <a:pt x="21489" y="0"/>
                </a:moveTo>
                <a:cubicBezTo>
                  <a:pt x="21562" y="716"/>
                  <a:pt x="21599" y="1443"/>
                  <a:pt x="21599" y="2180"/>
                </a:cubicBezTo>
                <a:cubicBezTo>
                  <a:pt x="21599" y="7348"/>
                  <a:pt x="19784" y="12092"/>
                  <a:pt x="16757" y="15810"/>
                </a:cubicBezTo>
              </a:path>
              <a:path w="21600" h="15809" stroke="0">
                <a:moveTo>
                  <a:pt x="21489" y="0"/>
                </a:moveTo>
                <a:cubicBezTo>
                  <a:pt x="21562" y="716"/>
                  <a:pt x="21599" y="1443"/>
                  <a:pt x="21599" y="2180"/>
                </a:cubicBezTo>
                <a:cubicBezTo>
                  <a:pt x="21599" y="7348"/>
                  <a:pt x="19784" y="12092"/>
                  <a:pt x="16757" y="15810"/>
                </a:cubicBezTo>
                <a:lnTo>
                  <a:pt x="0" y="2180"/>
                </a:lnTo>
                <a:lnTo>
                  <a:pt x="21489" y="0"/>
                </a:lnTo>
                <a:close/>
              </a:path>
            </a:pathLst>
          </a:custGeom>
          <a:noFill/>
          <a:ln w="12700">
            <a:solidFill>
              <a:srgbClr val="CC3399"/>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431" name="任意多边形 737453"/>
          <p:cNvSpPr>
            <a:spLocks noChangeArrowheads="1"/>
          </p:cNvSpPr>
          <p:nvPr/>
        </p:nvSpPr>
        <p:spPr bwMode="auto">
          <a:xfrm rot="1578155">
            <a:off x="10611407" y="2981325"/>
            <a:ext cx="1818453" cy="15103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175">
            <a:solidFill>
              <a:srgbClr val="FF33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432" name="文本框 737454"/>
          <p:cNvSpPr txBox="1">
            <a:spLocks noChangeArrowheads="1"/>
          </p:cNvSpPr>
          <p:nvPr/>
        </p:nvSpPr>
        <p:spPr bwMode="auto">
          <a:xfrm>
            <a:off x="11311200" y="3036302"/>
            <a:ext cx="418865" cy="36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800" b="1" dirty="0">
                <a:solidFill>
                  <a:srgbClr val="FF3300"/>
                </a:solidFill>
                <a:latin typeface="Times New Roman" panose="02020603050405020304" pitchFamily="18" charset="0"/>
              </a:rPr>
              <a:t>-</a:t>
            </a:r>
            <a:r>
              <a:rPr lang="zh-CN" altLang="zh-CN" sz="1800" b="1" dirty="0">
                <a:solidFill>
                  <a:srgbClr val="FF3300"/>
                </a:solidFill>
                <a:latin typeface="Times New Roman" panose="02020603050405020304" pitchFamily="18" charset="0"/>
                <a:sym typeface="Symbol" panose="05050102010706020507" pitchFamily="18" charset="2"/>
              </a:rPr>
              <a:t></a:t>
            </a:r>
            <a:endParaRPr lang="zh-CN" altLang="zh-CN" sz="1800" b="1" dirty="0">
              <a:solidFill>
                <a:srgbClr val="FF3300"/>
              </a:solidFill>
              <a:latin typeface="Times New Roman" panose="02020603050405020304" pitchFamily="18" charset="0"/>
            </a:endParaRPr>
          </a:p>
        </p:txBody>
      </p:sp>
      <p:grpSp>
        <p:nvGrpSpPr>
          <p:cNvPr id="9" name="组合 8"/>
          <p:cNvGrpSpPr/>
          <p:nvPr/>
        </p:nvGrpSpPr>
        <p:grpSpPr>
          <a:xfrm>
            <a:off x="8541419" y="4108834"/>
            <a:ext cx="1303341" cy="1124360"/>
            <a:chOff x="7861485" y="4108834"/>
            <a:chExt cx="1303341" cy="1124360"/>
          </a:xfrm>
        </p:grpSpPr>
        <p:sp>
          <p:nvSpPr>
            <p:cNvPr id="7" name="弧形 6"/>
            <p:cNvSpPr/>
            <p:nvPr/>
          </p:nvSpPr>
          <p:spPr bwMode="auto">
            <a:xfrm rot="2841211">
              <a:off x="8165486" y="4280678"/>
              <a:ext cx="720000" cy="720000"/>
            </a:xfrm>
            <a:prstGeom prst="arc">
              <a:avLst>
                <a:gd name="adj1" fmla="val 17385291"/>
                <a:gd name="adj2" fmla="val 6589729"/>
              </a:avLst>
            </a:prstGeom>
            <a:noFill/>
            <a:ln w="9525" cap="flat" cmpd="sng" algn="ctr">
              <a:solidFill>
                <a:srgbClr val="FF0000"/>
              </a:solidFill>
              <a:prstDash val="solid"/>
              <a:round/>
              <a:headEnd type="stealth" w="med" len="med"/>
              <a:tailEnd type="stealth"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437" name="弧形 436"/>
            <p:cNvSpPr/>
            <p:nvPr/>
          </p:nvSpPr>
          <p:spPr bwMode="auto">
            <a:xfrm rot="21423435">
              <a:off x="8072505" y="4108834"/>
              <a:ext cx="1080000" cy="1080000"/>
            </a:xfrm>
            <a:prstGeom prst="arc">
              <a:avLst>
                <a:gd name="adj1" fmla="val 16028941"/>
                <a:gd name="adj2" fmla="val 6589729"/>
              </a:avLst>
            </a:prstGeom>
            <a:noFill/>
            <a:ln w="9525" cap="flat" cmpd="sng" algn="ctr">
              <a:solidFill>
                <a:srgbClr val="FF0000"/>
              </a:solidFill>
              <a:prstDash val="solid"/>
              <a:round/>
              <a:headEnd type="stealth" w="med" len="med"/>
              <a:tailEnd type="stealth"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en-AU"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438" name="矩形 437"/>
            <p:cNvSpPr/>
            <p:nvPr/>
          </p:nvSpPr>
          <p:spPr>
            <a:xfrm>
              <a:off x="7861485" y="4863862"/>
              <a:ext cx="763351" cy="369332"/>
            </a:xfrm>
            <a:prstGeom prst="rect">
              <a:avLst/>
            </a:prstGeom>
          </p:spPr>
          <p:txBody>
            <a:bodyPr wrap="none">
              <a:spAutoFit/>
            </a:bodyPr>
            <a:lstStyle/>
            <a:p>
              <a:r>
                <a:rPr lang="en-US" altLang="zh-CN" b="1" dirty="0">
                  <a:solidFill>
                    <a:srgbClr val="FF0000"/>
                  </a:solidFill>
                  <a:latin typeface="Times New Roman" panose="02020603050405020304" pitchFamily="18" charset="0"/>
                  <a:ea typeface="楷体_GB2312" pitchFamily="49" charset="-122"/>
                </a:rPr>
                <a:t>190°</a:t>
              </a:r>
              <a:endParaRPr lang="en-AU" dirty="0">
                <a:solidFill>
                  <a:srgbClr val="FF0000"/>
                </a:solidFill>
              </a:endParaRPr>
            </a:p>
          </p:txBody>
        </p:sp>
        <p:sp>
          <p:nvSpPr>
            <p:cNvPr id="439" name="矩形 438"/>
            <p:cNvSpPr/>
            <p:nvPr/>
          </p:nvSpPr>
          <p:spPr>
            <a:xfrm>
              <a:off x="8401475" y="4162681"/>
              <a:ext cx="763351" cy="369332"/>
            </a:xfrm>
            <a:prstGeom prst="rect">
              <a:avLst/>
            </a:prstGeom>
          </p:spPr>
          <p:txBody>
            <a:bodyPr wrap="none">
              <a:spAutoFit/>
            </a:bodyPr>
            <a:lstStyle/>
            <a:p>
              <a:r>
                <a:rPr lang="en-US" altLang="zh-CN" b="1" dirty="0">
                  <a:solidFill>
                    <a:srgbClr val="FF0000"/>
                  </a:solidFill>
                  <a:latin typeface="Times New Roman" panose="02020603050405020304" pitchFamily="18" charset="0"/>
                  <a:ea typeface="楷体_GB2312" pitchFamily="49" charset="-122"/>
                </a:rPr>
                <a:t>190°</a:t>
              </a:r>
              <a:endParaRPr lang="en-AU" dirty="0">
                <a:solidFill>
                  <a:srgbClr val="FF0000"/>
                </a:solidFill>
              </a:endParaRPr>
            </a:p>
          </p:txBody>
        </p:sp>
      </p:grpSp>
      <p:sp>
        <p:nvSpPr>
          <p:cNvPr id="441" name="矩形 440"/>
          <p:cNvSpPr/>
          <p:nvPr/>
        </p:nvSpPr>
        <p:spPr>
          <a:xfrm>
            <a:off x="127938" y="4692867"/>
            <a:ext cx="6598087" cy="734304"/>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1. Find the contact point when cam rotates 190°.</a:t>
            </a:r>
            <a:endParaRPr lang="en-US" altLang="zh-CN" sz="2000" b="1" dirty="0">
              <a:latin typeface="微软雅黑" panose="020B0503020204020204" pitchFamily="34" charset="-122"/>
              <a:ea typeface="微软雅黑" panose="020B0503020204020204" pitchFamily="34" charset="-122"/>
            </a:endParaRPr>
          </a:p>
          <a:p>
            <a:pPr algn="just">
              <a:lnSpc>
                <a:spcPct val="105000"/>
              </a:lnSpc>
              <a:spcBef>
                <a:spcPct val="5000"/>
              </a:spcBef>
            </a:pPr>
            <a:r>
              <a:rPr lang="en-US" altLang="zh-CN"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p:txBody>
      </p:sp>
      <p:sp>
        <p:nvSpPr>
          <p:cNvPr id="442" name="矩形 441"/>
          <p:cNvSpPr/>
          <p:nvPr/>
        </p:nvSpPr>
        <p:spPr>
          <a:xfrm>
            <a:off x="149400" y="5429884"/>
            <a:ext cx="6770126" cy="718915"/>
          </a:xfrm>
          <a:prstGeom prst="rect">
            <a:avLst/>
          </a:prstGeom>
        </p:spPr>
        <p:txBody>
          <a:bodyPr wrap="square">
            <a:spAutoFit/>
          </a:bodyPr>
          <a:lstStyle/>
          <a:p>
            <a:pPr algn="just">
              <a:lnSpc>
                <a:spcPct val="105000"/>
              </a:lnSpc>
              <a:spcBef>
                <a:spcPct val="5000"/>
              </a:spcBef>
            </a:pPr>
            <a:r>
              <a:rPr lang="en-US" altLang="zh-CN" sz="2000" b="1" dirty="0">
                <a:latin typeface="+mj-lt"/>
                <a:ea typeface="微软雅黑" panose="020B0503020204020204" pitchFamily="34" charset="-122"/>
              </a:rPr>
              <a:t>2. If 190° can be drawn, can any angle be drawn similarly?</a:t>
            </a:r>
            <a:endParaRPr lang="en-US" altLang="zh-CN" sz="2000" b="1" dirty="0">
              <a:latin typeface="微软雅黑" panose="020B0503020204020204" pitchFamily="34" charset="-122"/>
              <a:ea typeface="微软雅黑" panose="020B0503020204020204" pitchFamily="34" charset="-122"/>
            </a:endParaRPr>
          </a:p>
        </p:txBody>
      </p:sp>
      <p:sp>
        <p:nvSpPr>
          <p:cNvPr id="443" name="矩形 442"/>
          <p:cNvSpPr/>
          <p:nvPr/>
        </p:nvSpPr>
        <p:spPr>
          <a:xfrm>
            <a:off x="1325818" y="5776815"/>
            <a:ext cx="951094" cy="400110"/>
          </a:xfrm>
          <a:prstGeom prst="rect">
            <a:avLst/>
          </a:prstGeom>
        </p:spPr>
        <p:txBody>
          <a:bodyPr wrap="square">
            <a:spAutoFit/>
          </a:bodyPr>
          <a:lstStyle/>
          <a:p>
            <a:r>
              <a:rPr lang="en-US" altLang="zh-CN" sz="2000" b="1" dirty="0">
                <a:solidFill>
                  <a:srgbClr val="FF0000"/>
                </a:solidFill>
                <a:latin typeface="+mj-lt"/>
                <a:ea typeface="楷体" panose="02010609060101010101" pitchFamily="49" charset="-122"/>
              </a:rPr>
              <a:t>Sure!</a:t>
            </a:r>
            <a:endParaRPr lang="en-AU" sz="2000" dirty="0">
              <a:solidFill>
                <a:srgbClr val="FF0000"/>
              </a:solidFill>
              <a:latin typeface="+mj-lt"/>
            </a:endParaRPr>
          </a:p>
        </p:txBody>
      </p:sp>
      <p:sp>
        <p:nvSpPr>
          <p:cNvPr id="131" name="椭圆 130"/>
          <p:cNvSpPr>
            <a:spLocks noChangeArrowheads="1"/>
          </p:cNvSpPr>
          <p:nvPr/>
        </p:nvSpPr>
        <p:spPr bwMode="auto">
          <a:xfrm>
            <a:off x="9112905" y="5220528"/>
            <a:ext cx="130175" cy="120650"/>
          </a:xfrm>
          <a:prstGeom prst="ellipse">
            <a:avLst/>
          </a:prstGeom>
          <a:solidFill>
            <a:schemeClr val="accent6"/>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mc:AlternateContent xmlns:mc="http://schemas.openxmlformats.org/markup-compatibility/2006">
        <mc:Choice xmlns:a14="http://schemas.microsoft.com/office/drawing/2010/main" Requires="a14">
          <p:sp>
            <p:nvSpPr>
              <p:cNvPr id="132" name="文本框 745480"/>
              <p:cNvSpPr txBox="1">
                <a:spLocks noChangeArrowheads="1"/>
              </p:cNvSpPr>
              <p:nvPr/>
            </p:nvSpPr>
            <p:spPr bwMode="auto">
              <a:xfrm>
                <a:off x="11391104" y="1830230"/>
                <a:ext cx="4048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buNone/>
                </a:pPr>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𝜑</m:t>
                      </m:r>
                    </m:oMath>
                  </m:oMathPara>
                </a14:m>
                <a:endParaRPr lang="en-AU" sz="1800" dirty="0"/>
              </a:p>
            </p:txBody>
          </p:sp>
        </mc:Choice>
        <mc:Fallback>
          <p:sp>
            <p:nvSpPr>
              <p:cNvPr id="132" name="文本框 745480"/>
              <p:cNvSpPr txBox="1">
                <a:spLocks noRot="1" noChangeAspect="1" noMove="1" noResize="1" noEditPoints="1" noAdjustHandles="1" noChangeArrowheads="1" noChangeShapeType="1" noTextEdit="1"/>
              </p:cNvSpPr>
              <p:nvPr/>
            </p:nvSpPr>
            <p:spPr bwMode="auto">
              <a:xfrm>
                <a:off x="11391104" y="1830230"/>
                <a:ext cx="404813" cy="341312"/>
              </a:xfrm>
              <a:prstGeom prst="rect">
                <a:avLst/>
              </a:prstGeom>
              <a:blipFill rotWithShape="1">
                <a:blip r:embed="rId8"/>
                <a:stretch>
                  <a:fillRect l="-117" t="-47" r="39" b="1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r>
                  <a:rPr lang="zh-CN" altLang="en-US">
                    <a:noFill/>
                  </a:rPr>
                  <a:t> </a:t>
                </a:r>
              </a:p>
            </p:txBody>
          </p:sp>
        </mc:Fallback>
      </mc:AlternateContent>
      <p:sp>
        <p:nvSpPr>
          <p:cNvPr id="127" name="文本框 126"/>
          <p:cNvSpPr txBox="1"/>
          <p:nvPr/>
        </p:nvSpPr>
        <p:spPr>
          <a:xfrm>
            <a:off x="8796082" y="4340090"/>
            <a:ext cx="347732" cy="382622"/>
          </a:xfrm>
          <a:prstGeom prst="rect">
            <a:avLst/>
          </a:prstGeom>
          <a:noFill/>
        </p:spPr>
        <p:txBody>
          <a:bodyPr wrap="square">
            <a:spAutoFit/>
          </a:bodyPr>
          <a:lstStyle/>
          <a:p>
            <a:r>
              <a:rPr lang="en-US" altLang="zh-CN" sz="1800" b="1" i="1" dirty="0">
                <a:solidFill>
                  <a:srgbClr val="000000"/>
                </a:solidFill>
                <a:latin typeface="宋体" panose="02010600030101010101" pitchFamily="2" charset="-122"/>
                <a:ea typeface="宋体" panose="02010600030101010101" pitchFamily="2" charset="-122"/>
              </a:rPr>
              <a:t>O</a:t>
            </a:r>
            <a:endParaRPr lang="zh-CN" altLang="en-US" dirty="0"/>
          </a:p>
        </p:txBody>
      </p:sp>
      <p:sp>
        <p:nvSpPr>
          <p:cNvPr id="129" name="标题 741383"/>
          <p:cNvSpPr txBox="1">
            <a:spLocks noRot="1" noChangeArrowheads="1"/>
          </p:cNvSpPr>
          <p:nvPr/>
        </p:nvSpPr>
        <p:spPr bwMode="auto">
          <a:xfrm>
            <a:off x="239388" y="897758"/>
            <a:ext cx="10668000" cy="676275"/>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eaLnBrk="1" hangingPunct="1"/>
            <a:endParaRPr lang="zh-CN" altLang="en-US" sz="2400" b="1" kern="1200" dirty="0">
              <a:solidFill>
                <a:srgbClr val="201E84"/>
              </a:solidFill>
              <a:latin typeface="宋体" panose="02010600030101010101" pitchFamily="2" charset="-122"/>
              <a:ea typeface="宋体" panose="02010600030101010101" pitchFamily="2" charset="-122"/>
              <a:cs typeface="+mn-cs"/>
            </a:endParaRPr>
          </a:p>
        </p:txBody>
      </p:sp>
      <p:sp>
        <p:nvSpPr>
          <p:cNvPr id="133" name="标题 741383"/>
          <p:cNvSpPr txBox="1">
            <a:spLocks noRot="1" noChangeArrowheads="1"/>
          </p:cNvSpPr>
          <p:nvPr/>
        </p:nvSpPr>
        <p:spPr bwMode="auto">
          <a:xfrm>
            <a:off x="623473" y="766602"/>
            <a:ext cx="10668000" cy="676275"/>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eaLnBrk="1" hangingPunct="1"/>
            <a:r>
              <a:rPr lang="en-US" altLang="zh-CN" sz="2000" b="1" kern="0" dirty="0">
                <a:solidFill>
                  <a:srgbClr val="FF00FF"/>
                </a:solidFill>
                <a:latin typeface="微软雅黑" panose="020B0503020204020204" pitchFamily="34" charset="-122"/>
                <a:ea typeface="微软雅黑" panose="020B0503020204020204" pitchFamily="34" charset="-122"/>
              </a:rPr>
              <a:t>Extension: Oscillating Follower Disk Cam Design</a:t>
            </a:r>
            <a:endParaRPr lang="en-US" altLang="zh-CN" sz="2000" b="1" kern="0" dirty="0">
              <a:solidFill>
                <a:srgbClr val="FF00FF"/>
              </a:solidFill>
              <a:latin typeface="微软雅黑" panose="020B0503020204020204" pitchFamily="34" charset="-122"/>
              <a:ea typeface="微软雅黑" panose="020B0503020204020204" pitchFamily="34" charset="-122"/>
              <a:cs typeface="+mn-cs"/>
            </a:endParaRPr>
          </a:p>
        </p:txBody>
      </p:sp>
      <p:pic>
        <p:nvPicPr>
          <p:cNvPr id="135" name="滚子摆动从动件">
            <a:hlinkClick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11"/>
          <a:stretch>
            <a:fillRect/>
          </a:stretch>
        </p:blipFill>
        <p:spPr>
          <a:xfrm>
            <a:off x="688788" y="2311078"/>
            <a:ext cx="2715025" cy="2036269"/>
          </a:xfrm>
          <a:prstGeom prst="rect">
            <a:avLst/>
          </a:prstGeom>
        </p:spPr>
      </p:pic>
      <p:sp>
        <p:nvSpPr>
          <p:cNvPr id="130" name="灯片编号占位符 1"/>
          <p:cNvSpPr txBox="1"/>
          <p:nvPr/>
        </p:nvSpPr>
        <p:spPr>
          <a:xfrm>
            <a:off x="11730066" y="6446393"/>
            <a:ext cx="461934"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
        <p:nvSpPr>
          <p:cNvPr id="5" name="文本框 4"/>
          <p:cNvSpPr txBox="1"/>
          <p:nvPr/>
        </p:nvSpPr>
        <p:spPr>
          <a:xfrm>
            <a:off x="3503295" y="2565400"/>
            <a:ext cx="4232910" cy="922020"/>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Inversion method: Fix cam, move everything else</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sym typeface="+mn-ea"/>
              </a:rPr>
              <a:t>(Relative motion unchanged)</a:t>
            </a:r>
            <a:endParaRPr lang="zh-CN" altLang="en-US" b="1" dirty="0">
              <a:latin typeface="微软雅黑" panose="020B0503020204020204" pitchFamily="34" charset="-122"/>
              <a:ea typeface="微软雅黑" panose="020B0503020204020204" pitchFamily="34" charset="-122"/>
              <a:sym typeface="+mn-ea"/>
            </a:endParaRPr>
          </a:p>
        </p:txBody>
      </p:sp>
    </p:spTree>
  </p:cSld>
  <p:clrMapOvr>
    <a:masterClrMapping/>
  </p:clrMapOvr>
  <p:transition>
    <p:sndAc>
      <p:stSnd>
        <p:snd r:embed="rId1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135"/>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135"/>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3" repeatCount="indefinite" fill="hold" display="0">
                  <p:stCondLst>
                    <p:cond delay="indefinite"/>
                  </p:stCondLst>
                </p:cTn>
                <p:tgtEl>
                  <p:spTgt spid="135"/>
                </p:tgtEl>
              </p:cMediaNode>
            </p:video>
          </p:childTnLst>
        </p:cTn>
      </p:par>
    </p:tnLst>
    <p:bldLst>
      <p:bldP spid="289" grpId="0" animBg="1"/>
      <p:bldP spid="290" grpId="0" animBg="1"/>
      <p:bldP spid="306" grpId="0" animBg="1"/>
      <p:bldP spid="442" grpId="0"/>
      <p:bldP spid="443" grpId="0"/>
      <p:bldP spid="13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a:p>
        </p:txBody>
      </p:sp>
      <p:sp>
        <p:nvSpPr>
          <p:cNvPr id="6" name="TextBox 8"/>
          <p:cNvSpPr txBox="1"/>
          <p:nvPr/>
        </p:nvSpPr>
        <p:spPr>
          <a:xfrm>
            <a:off x="1007879" y="319709"/>
            <a:ext cx="7185145" cy="523220"/>
          </a:xfrm>
          <a:prstGeom prst="rect">
            <a:avLst/>
          </a:prstGeom>
          <a:noFill/>
        </p:spPr>
        <p:txBody>
          <a:bodyPr wrap="square" rtlCol="0">
            <a:spAutoFit/>
          </a:bodyPr>
          <a:lstStyle/>
          <a:p>
            <a:r>
              <a:rPr lang="zh-CN" altLang="en-US" sz="2800" dirty="0">
                <a:solidFill>
                  <a:schemeClr val="accent2">
                    <a:lumMod val="75000"/>
                  </a:schemeClr>
                </a:solidFill>
              </a:rPr>
              <a:t>Content Review</a:t>
            </a:r>
            <a:endParaRPr lang="en-US" altLang="zh-CN" sz="2800" b="1" dirty="0">
              <a:solidFill>
                <a:schemeClr val="accent2">
                  <a:lumMod val="75000"/>
                </a:schemeClr>
              </a:solidFill>
            </a:endParaRPr>
          </a:p>
        </p:txBody>
      </p:sp>
      <p:sp>
        <p:nvSpPr>
          <p:cNvPr id="7" name="文本框 6"/>
          <p:cNvSpPr txBox="1"/>
          <p:nvPr/>
        </p:nvSpPr>
        <p:spPr>
          <a:xfrm>
            <a:off x="1487805" y="1321435"/>
            <a:ext cx="9913620" cy="4387215"/>
          </a:xfrm>
          <a:prstGeom prst="rect">
            <a:avLst/>
          </a:prstGeom>
        </p:spPr>
        <p:txBody>
          <a:bodyPr wrap="square">
            <a:spAutoFit/>
          </a:bodyPr>
          <a:p>
            <a:pPr>
              <a:spcAft>
                <a:spcPct val="60000"/>
              </a:spcAft>
            </a:pPr>
            <a:r>
              <a:rPr lang="en-US" altLang="zh-CN" sz="2200" b="1"/>
              <a:t>1. What are the advantages of realizing automation based on mechanical transmission?</a:t>
            </a:r>
            <a:endParaRPr lang="en-US" altLang="zh-CN" sz="2200" b="1"/>
          </a:p>
          <a:p>
            <a:r>
              <a:rPr lang="en-US" altLang="zh-CN"/>
              <a:t>(a) A common power source can be shared, with no separation of "drive, transmission and control".</a:t>
            </a:r>
            <a:endParaRPr lang="en-US" altLang="zh-CN"/>
          </a:p>
          <a:p>
            <a:r>
              <a:rPr lang="en-US" altLang="zh-CN"/>
              <a:t>(b) Full synchronisation can be achieved (no response time required).</a:t>
            </a:r>
            <a:endParaRPr lang="en-US" altLang="zh-CN"/>
          </a:p>
          <a:p>
            <a:endParaRPr lang="en-US" altLang="zh-CN" sz="1600"/>
          </a:p>
          <a:p>
            <a:endParaRPr lang="en-US" altLang="zh-CN" sz="1600"/>
          </a:p>
          <a:p>
            <a:pPr>
              <a:spcAft>
                <a:spcPct val="60000"/>
              </a:spcAft>
            </a:pPr>
            <a:r>
              <a:rPr lang="en-US" altLang="zh-CN" sz="2200" b="1"/>
              <a:t>2. What is the most commonly used control mechanism for automation implemented by mechanical transmission? What is it composed of? Is it a higher pair or lower pair mechanism? What controls its motion?</a:t>
            </a:r>
            <a:endParaRPr lang="en-US" altLang="zh-CN" sz="2200" b="1"/>
          </a:p>
          <a:p>
            <a:r>
              <a:rPr lang="en-US" altLang="zh-CN"/>
              <a:t>Cam mechanism;</a:t>
            </a:r>
            <a:endParaRPr lang="en-US" altLang="zh-CN"/>
          </a:p>
          <a:p>
            <a:r>
              <a:rPr lang="en-US" altLang="zh-CN"/>
              <a:t>Cam, follower and frame;</a:t>
            </a:r>
            <a:endParaRPr lang="en-US" altLang="zh-CN"/>
          </a:p>
          <a:p>
            <a:r>
              <a:rPr lang="en-US" altLang="zh-CN"/>
              <a:t>Higher pair mechanism;</a:t>
            </a:r>
            <a:endParaRPr lang="en-US" altLang="zh-CN"/>
          </a:p>
          <a:p>
            <a:r>
              <a:rPr lang="en-US" altLang="zh-CN"/>
              <a:t>The profile of the cam.</a:t>
            </a:r>
            <a:endParaRPr lang="en-US" altLang="zh-CN"/>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a:p>
        </p:txBody>
      </p:sp>
      <p:sp>
        <p:nvSpPr>
          <p:cNvPr id="2" name="矩形 1"/>
          <p:cNvSpPr/>
          <p:nvPr/>
        </p:nvSpPr>
        <p:spPr>
          <a:xfrm>
            <a:off x="677545" y="1114425"/>
            <a:ext cx="6204585" cy="583565"/>
          </a:xfrm>
          <a:prstGeom prst="rect">
            <a:avLst/>
          </a:prstGeom>
        </p:spPr>
        <p:txBody>
          <a:bodyPr wrap="square">
            <a:spAutoFit/>
          </a:bodyPr>
          <a:lstStyle/>
          <a:p>
            <a:r>
              <a:rPr lang="zh-CN" altLang="en-US" sz="3200" dirty="0">
                <a:solidFill>
                  <a:srgbClr val="FF0000"/>
                </a:solidFill>
                <a:latin typeface="隶书" panose="02010509060101010101" pitchFamily="49" charset="-122"/>
                <a:ea typeface="隶书" panose="02010509060101010101" pitchFamily="49" charset="-122"/>
              </a:rPr>
              <a:t>General Cam Design Procedure</a:t>
            </a:r>
            <a:endParaRPr lang="en-AU" sz="3200" dirty="0">
              <a:solidFill>
                <a:srgbClr val="FF0000"/>
              </a:solidFill>
              <a:latin typeface="隶书" panose="02010509060101010101" pitchFamily="49" charset="-122"/>
              <a:ea typeface="隶书" panose="02010509060101010101" pitchFamily="49" charset="-122"/>
            </a:endParaRPr>
          </a:p>
        </p:txBody>
      </p:sp>
      <p:pic>
        <p:nvPicPr>
          <p:cNvPr id="12" name="内燃机WMV">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9362759" y="2566244"/>
            <a:ext cx="2575512" cy="1931635"/>
          </a:xfrm>
          <a:prstGeom prst="rect">
            <a:avLst/>
          </a:prstGeom>
        </p:spPr>
      </p:pic>
      <mc:AlternateContent xmlns:mc="http://schemas.openxmlformats.org/markup-compatibility/2006">
        <mc:Choice xmlns:a14="http://schemas.microsoft.com/office/drawing/2010/main" Requires="a14">
          <p:sp>
            <p:nvSpPr>
              <p:cNvPr id="3" name="矩形 2"/>
              <p:cNvSpPr/>
              <p:nvPr/>
            </p:nvSpPr>
            <p:spPr>
              <a:xfrm>
                <a:off x="260852" y="1710441"/>
                <a:ext cx="7605937" cy="1364615"/>
              </a:xfrm>
              <a:prstGeom prst="rect">
                <a:avLst/>
              </a:prstGeom>
            </p:spPr>
            <p:txBody>
              <a:bodyPr wrap="square">
                <a:spAutoFit/>
              </a:bodyPr>
              <a:lstStyle/>
              <a:p>
                <a:pPr>
                  <a:lnSpc>
                    <a:spcPct val="12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Impact" panose="020B0806030902050204" pitchFamily="34" charset="0"/>
                  </a:rPr>
                  <a:t>1. Define design requirements, select the cam type, and determine the required motion coordination relationships </a:t>
                </a:r>
                <a14:m>
                  <m:oMath xmlns:m="http://schemas.openxmlformats.org/officeDocument/2006/math">
                    <m:r>
                      <a:rPr lang="en-US" altLang="zh-CN"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𝑠</m:t>
                    </m:r>
                    <m:d>
                      <m:dPr>
                        <m:begChr m:val="（"/>
                        <m:endChr m:val="）"/>
                        <m:ctrlPr>
                          <a:rPr lang="zh-CN" altLang="en-US"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i="1">
                            <a:solidFill>
                              <a:srgbClr val="FF0000"/>
                            </a:solidFill>
                            <a:latin typeface="Cambria Math" panose="02040503050406030204" pitchFamily="18" charset="0"/>
                            <a:ea typeface="MS Mincho" charset="0"/>
                            <a:cs typeface="Cambria Math" panose="02040503050406030204" pitchFamily="18" charset="0"/>
                          </a:rPr>
                          <m:t>𝜑</m:t>
                        </m:r>
                      </m:e>
                    </m:d>
                  </m:oMath>
                </a14:m>
                <a:endParaRPr lang="en-AU" i="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lvl="0"/>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3" name="矩形 2"/>
              <p:cNvSpPr>
                <a:spLocks noRot="1" noChangeAspect="1" noMove="1" noResize="1" noEditPoints="1" noAdjustHandles="1" noChangeArrowheads="1" noChangeShapeType="1" noTextEdit="1"/>
              </p:cNvSpPr>
              <p:nvPr/>
            </p:nvSpPr>
            <p:spPr>
              <a:xfrm>
                <a:off x="260852" y="1710441"/>
                <a:ext cx="7605937" cy="1364615"/>
              </a:xfrm>
              <a:prstGeom prst="rect">
                <a:avLst/>
              </a:prstGeom>
              <a:blipFill rotWithShape="1">
                <a:blip r:embed="rId4"/>
                <a:stretch>
                  <a:fillRect l="-7" t="-28" r="5"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矩形 20"/>
              <p:cNvSpPr/>
              <p:nvPr/>
            </p:nvSpPr>
            <p:spPr>
              <a:xfrm>
                <a:off x="191770" y="5456555"/>
                <a:ext cx="6555105" cy="1004570"/>
              </a:xfrm>
              <a:prstGeom prst="rect">
                <a:avLst/>
              </a:prstGeom>
            </p:spPr>
            <p:txBody>
              <a:bodyPr wrap="square">
                <a:spAutoFit/>
              </a:bodyPr>
              <a:lstStyle/>
              <a:p>
                <a:pPr>
                  <a:lnSpc>
                    <a:spcPct val="11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Impact" panose="020B0806030902050204" pitchFamily="34" charset="0"/>
                  </a:rPr>
                  <a:t>3. Determine the cam profile based on the required motion law </a:t>
                </a:r>
                <a14:m>
                  <m:oMath xmlns:m="http://schemas.openxmlformats.org/officeDocument/2006/math">
                    <m:r>
                      <a:rPr lang="en-US" altLang="zh-CN"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𝑠</m:t>
                    </m:r>
                    <m:d>
                      <m:dPr>
                        <m:begChr m:val="（"/>
                        <m:endChr m:val="）"/>
                        <m:ctrlPr>
                          <a:rPr lang="zh-CN" altLang="en-US"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i="1">
                            <a:solidFill>
                              <a:srgbClr val="FF0000"/>
                            </a:solidFill>
                            <a:latin typeface="Cambria Math" panose="02040503050406030204" pitchFamily="18" charset="0"/>
                            <a:ea typeface="MS Mincho" charset="0"/>
                            <a:cs typeface="Cambria Math" panose="02040503050406030204" pitchFamily="18" charset="0"/>
                          </a:rPr>
                          <m:t>𝜑</m:t>
                        </m:r>
                      </m:e>
                    </m:d>
                  </m:oMath>
                </a14:m>
                <a:endParaRPr lang="en-US" i="1">
                  <a:solidFill>
                    <a:srgbClr val="FF0000"/>
                  </a:solidFill>
                  <a:latin typeface="Cambria Math" panose="02040503050406030204" pitchFamily="18" charset="0"/>
                  <a:ea typeface="微软雅黑" panose="020B0503020204020204" pitchFamily="34" charset="-122"/>
                  <a:cs typeface="Cambria Math" panose="02040503050406030204" pitchFamily="18" charset="0"/>
                </a:endParaRPr>
              </a:p>
              <a:p>
                <a:pPr>
                  <a:lnSpc>
                    <a:spcPct val="11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Graphical Method: Inversion Method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AU"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21" name="矩形 20"/>
              <p:cNvSpPr>
                <a:spLocks noRot="1" noChangeAspect="1" noMove="1" noResize="1" noEditPoints="1" noAdjustHandles="1" noChangeArrowheads="1" noChangeShapeType="1" noTextEdit="1"/>
              </p:cNvSpPr>
              <p:nvPr/>
            </p:nvSpPr>
            <p:spPr>
              <a:xfrm>
                <a:off x="191770" y="5456555"/>
                <a:ext cx="6555105" cy="1004570"/>
              </a:xfrm>
              <a:prstGeom prst="rect">
                <a:avLst/>
              </a:prstGeom>
              <a:blipFill rotWithShape="1">
                <a:blip r:embed="rId5"/>
                <a:stretch>
                  <a:fillRect/>
                </a:stretch>
              </a:blipFill>
            </p:spPr>
            <p:txBody>
              <a:bodyPr/>
              <a:lstStyle/>
              <a:p>
                <a:r>
                  <a:rPr lang="zh-CN" altLang="en-US">
                    <a:noFill/>
                  </a:rPr>
                  <a:t> </a:t>
                </a:r>
              </a:p>
            </p:txBody>
          </p:sp>
        </mc:Fallback>
      </mc:AlternateContent>
      <p:pic>
        <p:nvPicPr>
          <p:cNvPr id="4" name="图片 3"/>
          <p:cNvPicPr>
            <a:picLocks noChangeAspect="1"/>
          </p:cNvPicPr>
          <p:nvPr/>
        </p:nvPicPr>
        <p:blipFill rotWithShape="1">
          <a:blip r:embed="rId6"/>
          <a:srcRect r="-210" b="6008"/>
          <a:stretch>
            <a:fillRect/>
          </a:stretch>
        </p:blipFill>
        <p:spPr>
          <a:xfrm>
            <a:off x="4263901" y="3442954"/>
            <a:ext cx="2943822" cy="827331"/>
          </a:xfrm>
          <a:prstGeom prst="rect">
            <a:avLst/>
          </a:prstGeom>
        </p:spPr>
      </p:pic>
      <p:pic>
        <p:nvPicPr>
          <p:cNvPr id="11" name="图片 10"/>
          <p:cNvPicPr>
            <a:picLocks noChangeAspect="1"/>
          </p:cNvPicPr>
          <p:nvPr/>
        </p:nvPicPr>
        <p:blipFill>
          <a:blip r:embed="rId7"/>
          <a:stretch>
            <a:fillRect/>
          </a:stretch>
        </p:blipFill>
        <p:spPr>
          <a:xfrm>
            <a:off x="4211842" y="4387918"/>
            <a:ext cx="3017349" cy="800181"/>
          </a:xfrm>
          <a:prstGeom prst="rect">
            <a:avLst/>
          </a:prstGeom>
        </p:spPr>
      </p:pic>
      <mc:AlternateContent xmlns:mc="http://schemas.openxmlformats.org/markup-compatibility/2006">
        <mc:Choice xmlns:a14="http://schemas.microsoft.com/office/drawing/2010/main" Requires="a14">
          <p:sp>
            <p:nvSpPr>
              <p:cNvPr id="13" name="矩形 12"/>
              <p:cNvSpPr/>
              <p:nvPr/>
            </p:nvSpPr>
            <p:spPr>
              <a:xfrm>
                <a:off x="307257" y="3036148"/>
                <a:ext cx="4037790" cy="1419860"/>
              </a:xfrm>
              <a:prstGeom prst="rect">
                <a:avLst/>
              </a:prstGeom>
            </p:spPr>
            <p:txBody>
              <a:bodyPr wrap="square">
                <a:spAutoFit/>
              </a:bodyPr>
              <a:lstStyle/>
              <a:p>
                <a:pPr>
                  <a:lnSpc>
                    <a:spcPct val="12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 Selection and Design of Follower Motion Laws (Optimization of Follower Motion Laws</a:t>
                </a:r>
                <a14:m>
                  <m:oMath xmlns:m="http://schemas.openxmlformats.org/officeDocument/2006/math">
                    <m:r>
                      <a:rPr lang="en-US" altLang="zh-CN" i="1">
                        <a:solidFill>
                          <a:srgbClr val="FF0000"/>
                        </a:solidFill>
                        <a:latin typeface="Cambria Math" panose="02040503050406030204" pitchFamily="18" charset="0"/>
                        <a:ea typeface="MS Mincho" charset="0"/>
                        <a:cs typeface="Cambria Math" panose="02040503050406030204" pitchFamily="18" charset="0"/>
                      </a:rPr>
                      <m:t>  </m:t>
                    </m:r>
                    <m:r>
                      <a:rPr lang="en-US" altLang="zh-CN"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𝑠</m:t>
                    </m:r>
                    <m:d>
                      <m:dPr>
                        <m:begChr m:val="（"/>
                        <m:endChr m:val="）"/>
                        <m:ctrlPr>
                          <a:rPr lang="zh-CN" altLang="en-US"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i="1">
                            <a:solidFill>
                              <a:srgbClr val="FF0000"/>
                            </a:solidFill>
                            <a:latin typeface="Cambria Math" panose="02040503050406030204" pitchFamily="18" charset="0"/>
                            <a:ea typeface="MS Mincho" charset="0"/>
                            <a:cs typeface="Cambria Math" panose="02040503050406030204" pitchFamily="18" charset="0"/>
                          </a:rPr>
                          <m:t>𝜑</m:t>
                        </m:r>
                      </m:e>
                    </m:d>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AU"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3" name="矩形 12"/>
              <p:cNvSpPr>
                <a:spLocks noRot="1" noChangeAspect="1" noMove="1" noResize="1" noEditPoints="1" noAdjustHandles="1" noChangeArrowheads="1" noChangeShapeType="1" noTextEdit="1"/>
              </p:cNvSpPr>
              <p:nvPr/>
            </p:nvSpPr>
            <p:spPr>
              <a:xfrm>
                <a:off x="307257" y="3036148"/>
                <a:ext cx="4037790" cy="1419860"/>
              </a:xfrm>
              <a:prstGeom prst="rect">
                <a:avLst/>
              </a:prstGeom>
              <a:blipFill rotWithShape="1">
                <a:blip r:embed="rId8"/>
                <a:stretch>
                  <a:fillRect l="-14" t="-15" r="9" b="15"/>
                </a:stretch>
              </a:blipFill>
            </p:spPr>
            <p:txBody>
              <a:bodyPr/>
              <a:lstStyle/>
              <a:p>
                <a:r>
                  <a:rPr lang="zh-CN" altLang="en-US">
                    <a:noFill/>
                  </a:rPr>
                  <a:t> </a:t>
                </a:r>
              </a:p>
            </p:txBody>
          </p:sp>
        </mc:Fallback>
      </mc:AlternateContent>
      <p:sp>
        <p:nvSpPr>
          <p:cNvPr id="37" name="矩形 36"/>
          <p:cNvSpPr/>
          <p:nvPr/>
        </p:nvSpPr>
        <p:spPr>
          <a:xfrm>
            <a:off x="345517" y="4456107"/>
            <a:ext cx="3694316" cy="646331"/>
          </a:xfrm>
          <a:prstGeom prst="rect">
            <a:avLst/>
          </a:prstGeom>
        </p:spPr>
        <p:txBody>
          <a:bodyPr wrap="square">
            <a:spAutoFit/>
          </a:bodyPr>
          <a:lstStyle/>
          <a:p>
            <a:pPr algn="ctr"/>
            <a:r>
              <a:rPr lang="zh-CN" altLang="en-US" dirty="0">
                <a:solidFill>
                  <a:srgbClr val="FF0000"/>
                </a:solidFill>
              </a:rPr>
              <a:t>Constant velocity, constant accel/decel...</a:t>
            </a:r>
            <a:endParaRPr lang="zh-CN" altLang="en-US" dirty="0">
              <a:solidFill>
                <a:srgbClr val="FF0000"/>
              </a:solidFill>
            </a:endParaRPr>
          </a:p>
          <a:p>
            <a:pPr algn="ctr"/>
            <a:r>
              <a:rPr lang="zh-CN" altLang="en-US" dirty="0">
                <a:solidFill>
                  <a:srgbClr val="FF0000"/>
                </a:solidFill>
              </a:rPr>
              <a:t>(Rigid/flexible impact vs. complexity)</a:t>
            </a:r>
            <a:endParaRPr lang="en-AU" dirty="0">
              <a:solidFill>
                <a:srgbClr val="FF0000"/>
              </a:solidFill>
            </a:endParaRPr>
          </a:p>
        </p:txBody>
      </p:sp>
      <p:grpSp>
        <p:nvGrpSpPr>
          <p:cNvPr id="38" name="组合 37"/>
          <p:cNvGrpSpPr/>
          <p:nvPr/>
        </p:nvGrpSpPr>
        <p:grpSpPr>
          <a:xfrm>
            <a:off x="7207723" y="4613389"/>
            <a:ext cx="3283475" cy="2097047"/>
            <a:chOff x="7294147" y="3051510"/>
            <a:chExt cx="3283475" cy="2097047"/>
          </a:xfrm>
        </p:grpSpPr>
        <p:pic>
          <p:nvPicPr>
            <p:cNvPr id="39" name="图片 38"/>
            <p:cNvPicPr>
              <a:picLocks noChangeAspect="1"/>
            </p:cNvPicPr>
            <p:nvPr/>
          </p:nvPicPr>
          <p:blipFill>
            <a:blip r:embed="rId9"/>
            <a:stretch>
              <a:fillRect/>
            </a:stretch>
          </p:blipFill>
          <p:spPr>
            <a:xfrm>
              <a:off x="7294147" y="3051510"/>
              <a:ext cx="2007621" cy="2097047"/>
            </a:xfrm>
            <a:prstGeom prst="rect">
              <a:avLst/>
            </a:prstGeom>
          </p:spPr>
        </p:pic>
        <p:pic>
          <p:nvPicPr>
            <p:cNvPr id="40" name="图片 39"/>
            <p:cNvPicPr>
              <a:picLocks noChangeAspect="1"/>
            </p:cNvPicPr>
            <p:nvPr/>
          </p:nvPicPr>
          <p:blipFill>
            <a:blip r:embed="rId10"/>
            <a:stretch>
              <a:fillRect/>
            </a:stretch>
          </p:blipFill>
          <p:spPr>
            <a:xfrm rot="10800000">
              <a:off x="9555345" y="3153208"/>
              <a:ext cx="1022277" cy="1810802"/>
            </a:xfrm>
            <a:prstGeom prst="rect">
              <a:avLst/>
            </a:prstGeom>
          </p:spPr>
        </p:pic>
      </p:grpSp>
      <p:pic>
        <p:nvPicPr>
          <p:cNvPr id="5" name="图片 4"/>
          <p:cNvPicPr>
            <a:picLocks noChangeAspect="1"/>
          </p:cNvPicPr>
          <p:nvPr/>
        </p:nvPicPr>
        <p:blipFill>
          <a:blip r:embed="rId11"/>
          <a:stretch>
            <a:fillRect/>
          </a:stretch>
        </p:blipFill>
        <p:spPr>
          <a:xfrm>
            <a:off x="7317618" y="2532289"/>
            <a:ext cx="1868287" cy="1978871"/>
          </a:xfrm>
          <a:prstGeom prst="rect">
            <a:avLst/>
          </a:prstGeom>
        </p:spPr>
      </p:pic>
      <p:sp>
        <p:nvSpPr>
          <p:cNvPr id="6" name="TextBox 8"/>
          <p:cNvSpPr txBox="1"/>
          <p:nvPr/>
        </p:nvSpPr>
        <p:spPr>
          <a:xfrm>
            <a:off x="1007879" y="319709"/>
            <a:ext cx="7185145" cy="523220"/>
          </a:xfrm>
          <a:prstGeom prst="rect">
            <a:avLst/>
          </a:prstGeom>
          <a:noFill/>
        </p:spPr>
        <p:txBody>
          <a:bodyPr wrap="square" rtlCol="0">
            <a:spAutoFit/>
          </a:bodyPr>
          <a:lstStyle/>
          <a:p>
            <a:r>
              <a:rPr lang="zh-CN" altLang="en-US" sz="2800" dirty="0">
                <a:solidFill>
                  <a:schemeClr val="accent2">
                    <a:lumMod val="75000"/>
                  </a:schemeClr>
                </a:solidFill>
              </a:rPr>
              <a:t>Content Review</a:t>
            </a:r>
            <a:endParaRPr lang="en-US" altLang="zh-CN" sz="2800" b="1" dirty="0">
              <a:solidFill>
                <a:schemeClr val="accent2">
                  <a:lumMod val="75000"/>
                </a:schemeClr>
              </a:solidFill>
            </a:endParaRPr>
          </a:p>
        </p:txBody>
      </p:sp>
    </p:spTree>
  </p:cSld>
  <p:clrMapOvr>
    <a:masterClrMapping/>
  </p:clrMapOvr>
  <p:transition/>
  <p:timing>
    <p:tnLst>
      <p:par>
        <p:cTn id="1" dur="indefinite" restart="never" nodeType="tmRoot">
          <p:childTnLst>
            <p:video>
              <p:cMediaNode vol="80000">
                <p:cTn id="2" repeatCount="indefinite" fill="hold" display="0">
                  <p:stCondLst>
                    <p:cond delay="indefinite"/>
                  </p:stCondLst>
                </p:cTn>
                <p:tgtEl>
                  <p:spTgt spid="12"/>
                </p:tgtEl>
              </p:cMediaNode>
            </p:vide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wrap="square"/>
          <a:lstStyle/>
          <a:p>
            <a:r>
              <a:rPr lang="zh-CN" altLang="en-US" dirty="0"/>
              <a:t>Practice Problem</a:t>
            </a:r>
            <a:endParaRPr lang="zh-CN" altLang="en-US" dirty="0"/>
          </a:p>
        </p:txBody>
      </p:sp>
      <p:pic>
        <p:nvPicPr>
          <p:cNvPr id="6" name="图片 5" descr="图示, 工程绘图&#10;&#10;描述已自动生成"/>
          <p:cNvPicPr>
            <a:picLocks noChangeAspect="1"/>
          </p:cNvPicPr>
          <p:nvPr/>
        </p:nvPicPr>
        <p:blipFill rotWithShape="1">
          <a:blip r:embed="rId1" cstate="print">
            <a:extLst>
              <a:ext uri="{28A0092B-C50C-407E-A947-70E740481C1C}">
                <a14:useLocalDpi xmlns:a14="http://schemas.microsoft.com/office/drawing/2010/main" val="0"/>
              </a:ext>
            </a:extLst>
          </a:blip>
          <a:srcRect l="7720" t="31773" r="2004" b="8794"/>
          <a:stretch>
            <a:fillRect/>
          </a:stretch>
        </p:blipFill>
        <p:spPr>
          <a:xfrm>
            <a:off x="1517515" y="2933090"/>
            <a:ext cx="2577829" cy="3017069"/>
          </a:xfrm>
          <a:prstGeom prst="rect">
            <a:avLst/>
          </a:prstGeom>
        </p:spPr>
      </p:pic>
      <p:pic>
        <p:nvPicPr>
          <p:cNvPr id="8" name="图片 7"/>
          <p:cNvPicPr>
            <a:picLocks noChangeAspect="1"/>
          </p:cNvPicPr>
          <p:nvPr/>
        </p:nvPicPr>
        <p:blipFill>
          <a:blip r:embed="rId2"/>
          <a:stretch>
            <a:fillRect/>
          </a:stretch>
        </p:blipFill>
        <p:spPr>
          <a:xfrm>
            <a:off x="7108348" y="2758846"/>
            <a:ext cx="3397437" cy="3167570"/>
          </a:xfrm>
          <a:prstGeom prst="rect">
            <a:avLst/>
          </a:prstGeom>
        </p:spPr>
      </p:pic>
      <p:sp>
        <p:nvSpPr>
          <p:cNvPr id="9" name="矩形 8"/>
          <p:cNvSpPr/>
          <p:nvPr/>
        </p:nvSpPr>
        <p:spPr>
          <a:xfrm>
            <a:off x="9397789" y="3126300"/>
            <a:ext cx="2954655"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rPr>
              <a:t>Guide direction is always tangent to offset circle</a:t>
            </a:r>
            <a:endParaRPr lang="en-AU" dirty="0">
              <a:solidFill>
                <a:srgbClr val="FF0000"/>
              </a:solidFill>
            </a:endParaRPr>
          </a:p>
        </p:txBody>
      </p:sp>
      <p:sp>
        <p:nvSpPr>
          <p:cNvPr id="10" name="矩形 9"/>
          <p:cNvSpPr/>
          <p:nvPr/>
        </p:nvSpPr>
        <p:spPr>
          <a:xfrm>
            <a:off x="4355351" y="2933090"/>
            <a:ext cx="2723823"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rPr>
              <a:t>How to find rise angle and return angle?</a:t>
            </a:r>
            <a:endParaRPr lang="en-AU" dirty="0">
              <a:solidFill>
                <a:srgbClr val="FF0000"/>
              </a:solidFill>
            </a:endParaRPr>
          </a:p>
        </p:txBody>
      </p:sp>
      <p:sp>
        <p:nvSpPr>
          <p:cNvPr id="11" name="矩形 10"/>
          <p:cNvSpPr/>
          <p:nvPr/>
        </p:nvSpPr>
        <p:spPr>
          <a:xfrm>
            <a:off x="4384525" y="3850905"/>
            <a:ext cx="2723823"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rPr>
              <a:t>Where are the lowest and highest follower positions?</a:t>
            </a:r>
            <a:endParaRPr lang="en-AU" dirty="0">
              <a:solidFill>
                <a:srgbClr val="FF0000"/>
              </a:solidFill>
            </a:endParaRPr>
          </a:p>
        </p:txBody>
      </p:sp>
      <p:cxnSp>
        <p:nvCxnSpPr>
          <p:cNvPr id="4" name="直接箭头连接符 3"/>
          <p:cNvCxnSpPr/>
          <p:nvPr/>
        </p:nvCxnSpPr>
        <p:spPr bwMode="auto">
          <a:xfrm flipV="1">
            <a:off x="5633545" y="3560867"/>
            <a:ext cx="0" cy="40773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箭头连接符 11"/>
          <p:cNvCxnSpPr/>
          <p:nvPr/>
        </p:nvCxnSpPr>
        <p:spPr bwMode="auto">
          <a:xfrm flipV="1">
            <a:off x="8714341" y="4100497"/>
            <a:ext cx="487533" cy="1123347"/>
          </a:xfrm>
          <a:prstGeom prst="straightConnector1">
            <a:avLst/>
          </a:prstGeom>
          <a:solidFill>
            <a:schemeClr val="accent1"/>
          </a:solidFill>
          <a:ln w="9525" cap="flat" cmpd="sng" algn="ctr">
            <a:solidFill>
              <a:srgbClr val="FF000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文本框 14"/>
          <p:cNvSpPr txBox="1"/>
          <p:nvPr/>
        </p:nvSpPr>
        <p:spPr>
          <a:xfrm>
            <a:off x="9160481" y="3731165"/>
            <a:ext cx="237308" cy="369332"/>
          </a:xfrm>
          <a:prstGeom prst="rect">
            <a:avLst/>
          </a:prstGeom>
          <a:noFill/>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B</a:t>
            </a:r>
            <a:endParaRPr lang="zh-CN" altLang="en-US" dirty="0"/>
          </a:p>
        </p:txBody>
      </p:sp>
      <p:cxnSp>
        <p:nvCxnSpPr>
          <p:cNvPr id="16" name="直接箭头连接符 15"/>
          <p:cNvCxnSpPr/>
          <p:nvPr/>
        </p:nvCxnSpPr>
        <p:spPr bwMode="auto">
          <a:xfrm flipH="1" flipV="1">
            <a:off x="8321042" y="4872448"/>
            <a:ext cx="439572" cy="248192"/>
          </a:xfrm>
          <a:prstGeom prst="straightConnector1">
            <a:avLst/>
          </a:prstGeom>
          <a:solidFill>
            <a:schemeClr val="accent1"/>
          </a:solidFill>
          <a:ln w="9525" cap="flat" cmpd="sng" algn="ctr">
            <a:solidFill>
              <a:srgbClr val="FF000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3" name="文本框 2"/>
              <p:cNvSpPr txBox="1"/>
              <p:nvPr/>
            </p:nvSpPr>
            <p:spPr>
              <a:xfrm>
                <a:off x="766445" y="1045845"/>
                <a:ext cx="10667365" cy="1805940"/>
              </a:xfrm>
              <a:prstGeom prst="rect">
                <a:avLst/>
              </a:prstGeom>
            </p:spPr>
            <p:txBody>
              <a:bodyPr wrap="square">
                <a:spAutoFit/>
              </a:bodyPr>
              <a:p>
                <a:r>
                  <a:rPr lang="en-US" altLang="zh-CN"/>
                  <a:t>Figure shows an offset translating follower plate cam mechanism. The cam is an eccentric disc with its center at point G, and the rotation direction is shown in the figure.</a:t>
                </a:r>
                <a:endParaRPr lang="en-US" altLang="zh-CN"/>
              </a:p>
              <a:p>
                <a:r>
                  <a:rPr lang="en-US" altLang="zh-CN"/>
                  <a:t>Given: </a:t>
                </a:r>
                <a14:m>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30</m:t>
                    </m:r>
                    <m:r>
                      <a:rPr lang="en-US" altLang="zh-CN" i="1">
                        <a:latin typeface="Cambria Math" panose="02040503050406030204" pitchFamily="18" charset="0"/>
                        <a:cs typeface="Cambria Math" panose="02040503050406030204" pitchFamily="18" charset="0"/>
                      </a:rPr>
                      <m:t> </m:t>
                    </m:r>
                    <m:r>
                      <m:rPr>
                        <m:sty m:val="p"/>
                      </m:rPr>
                      <a:rPr lang="en-US" altLang="zh-CN" i="1">
                        <a:latin typeface="Cambria Math" panose="02040503050406030204" pitchFamily="18" charset="0"/>
                        <a:cs typeface="Cambria Math" panose="02040503050406030204" pitchFamily="18" charset="0"/>
                      </a:rPr>
                      <m:t>mm</m:t>
                    </m:r>
                  </m:oMath>
                </a14:m>
                <a:r>
                  <a:rPr lang="en-US" altLang="zh-CN"/>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m:t>
                        </m:r>
                      </m:e>
                      <m:sub>
                        <m:r>
                          <a:rPr lang="en-US" altLang="zh-CN" i="1">
                            <a:latin typeface="Cambria Math" panose="02040503050406030204" pitchFamily="18" charset="0"/>
                            <a:cs typeface="Cambria Math" panose="02040503050406030204" pitchFamily="18" charset="0"/>
                          </a:rPr>
                          <m:t>𝑂</m:t>
                        </m:r>
                        <m:r>
                          <a:rPr lang="en-US" altLang="zh-CN" i="1">
                            <a:latin typeface="Cambria Math" panose="02040503050406030204" pitchFamily="18" charset="0"/>
                            <a:cs typeface="Cambria Math" panose="02040503050406030204" pitchFamily="18" charset="0"/>
                          </a:rPr>
                          <m:t>𝐺</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m:t>
                    </m:r>
                    <m:r>
                      <a:rPr lang="en-US" altLang="zh-CN" i="1">
                        <a:latin typeface="Cambria Math" panose="02040503050406030204" pitchFamily="18" charset="0"/>
                        <a:cs typeface="Cambria Math" panose="02040503050406030204" pitchFamily="18" charset="0"/>
                      </a:rPr>
                      <m:t> </m:t>
                    </m:r>
                    <m:r>
                      <m:rPr>
                        <m:sty m:val="p"/>
                      </m:rPr>
                      <a:rPr lang="en-US" altLang="zh-CN" i="1">
                        <a:latin typeface="Cambria Math" panose="02040503050406030204" pitchFamily="18" charset="0"/>
                        <a:cs typeface="Cambria Math" panose="02040503050406030204" pitchFamily="18" charset="0"/>
                      </a:rPr>
                      <m:t>mm</m:t>
                    </m:r>
                  </m:oMath>
                </a14:m>
                <a:r>
                  <a:rPr lang="en-US" altLang="zh-CN"/>
                  <a:t>, offset </a:t>
                </a:r>
                <a14:m>
                  <m:oMath xmlns:m="http://schemas.openxmlformats.org/officeDocument/2006/math">
                    <m:r>
                      <a:rPr lang="en-US" altLang="zh-CN" i="1">
                        <a:latin typeface="Cambria Math" panose="02040503050406030204" pitchFamily="18" charset="0"/>
                        <a:cs typeface="Cambria Math" panose="02040503050406030204" pitchFamily="18" charset="0"/>
                      </a:rPr>
                      <m:t>𝑒</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15</m:t>
                    </m:r>
                    <m:r>
                      <a:rPr lang="en-US" altLang="zh-CN" i="1">
                        <a:latin typeface="Cambria Math" panose="02040503050406030204" pitchFamily="18" charset="0"/>
                        <a:cs typeface="Cambria Math" panose="02040503050406030204" pitchFamily="18" charset="0"/>
                      </a:rPr>
                      <m:t> </m:t>
                    </m:r>
                    <m:r>
                      <m:rPr>
                        <m:sty m:val="p"/>
                      </m:rPr>
                      <a:rPr lang="en-US" altLang="zh-CN" i="1">
                        <a:latin typeface="Cambria Math" panose="02040503050406030204" pitchFamily="18" charset="0"/>
                        <a:cs typeface="Cambria Math" panose="02040503050406030204" pitchFamily="18" charset="0"/>
                      </a:rPr>
                      <m:t>mm</m:t>
                    </m:r>
                  </m:oMath>
                </a14:m>
                <a:r>
                  <a:rPr lang="en-US" altLang="zh-CN"/>
                  <a:t>. (1) Select a scale and draw the mechanism position diagram when OG is perpendicular to the moving direction of the follower; (2) Draw the base circle of the cam and mark the base circle radius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0</m:t>
                        </m:r>
                      </m:sub>
                    </m:sSub>
                  </m:oMath>
                </a14:m>
                <a:r>
                  <a:rPr lang="en-US" altLang="zh-CN"/>
                  <a:t>; (3) Mark the cam's rise angle </a:t>
                </a:r>
                <a14:m>
                  <m:oMath xmlns:m="http://schemas.openxmlformats.org/officeDocument/2006/math">
                    <m:r>
                      <a:rPr lang="en-US" altLang="zh-CN" i="1">
                        <a:latin typeface="Cambria Math" panose="02040503050406030204" pitchFamily="18" charset="0"/>
                        <a:cs typeface="Cambria Math" panose="02040503050406030204" pitchFamily="18" charset="0"/>
                      </a:rPr>
                      <m:t>𝛷</m:t>
                    </m:r>
                  </m:oMath>
                </a14:m>
                <a:r>
                  <a:rPr lang="en-US" altLang="zh-CN"/>
                  <a:t> and </a:t>
                </a:r>
                <a:r>
                  <a:rPr lang="en-US" altLang="zh-CN" sz="2000"/>
                  <a:t>return </a:t>
                </a:r>
                <a:r>
                  <a:rPr lang="en-US" altLang="zh-CN"/>
                  <a:t>angle </a:t>
                </a:r>
                <a14:m>
                  <m:oMath xmlns:m="http://schemas.openxmlformats.org/officeDocument/2006/math">
                    <m:r>
                      <a:rPr lang="en-US" altLang="zh-CN" i="1">
                        <a:latin typeface="Cambria Math" panose="02040503050406030204" pitchFamily="18" charset="0"/>
                        <a:cs typeface="Cambria Math" panose="02040503050406030204" pitchFamily="18" charset="0"/>
                      </a:rPr>
                      <m:t>𝛷</m:t>
                    </m:r>
                    <m:r>
                      <a:rPr lang="en-US" altLang="zh-CN" i="1">
                        <a:latin typeface="Cambria Math" panose="02040503050406030204" pitchFamily="18" charset="0"/>
                        <a:cs typeface="Cambria Math" panose="02040503050406030204" pitchFamily="18" charset="0"/>
                      </a:rPr>
                      <m:t>'</m:t>
                    </m:r>
                  </m:oMath>
                </a14:m>
                <a:r>
                  <a:rPr lang="en-US" altLang="zh-CN"/>
                  <a:t>; (4) Mark the pressure angle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𝑏</m:t>
                        </m:r>
                      </m:sub>
                    </m:sSub>
                  </m:oMath>
                </a14:m>
                <a:r>
                  <a:rPr lang="en-US" altLang="zh-CN"/>
                  <a:t> at the start of the follower's rise stroke and the pressure angle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𝑒</m:t>
                        </m:r>
                      </m:sub>
                    </m:sSub>
                  </m:oMath>
                </a14:m>
                <a:r>
                  <a:rPr lang="en-US" altLang="zh-CN"/>
                  <a:t> at the end of the rise stroke.</a:t>
                </a:r>
                <a:endParaRPr lang="en-US" altLang="zh-CN"/>
              </a:p>
            </p:txBody>
          </p:sp>
        </mc:Choice>
        <mc:Fallback>
          <p:sp>
            <p:nvSpPr>
              <p:cNvPr id="3" name="文本框 2"/>
              <p:cNvSpPr txBox="1">
                <a:spLocks noRot="1" noChangeAspect="1" noMove="1" noResize="1" noEditPoints="1" noAdjustHandles="1" noChangeArrowheads="1" noChangeShapeType="1" noTextEdit="1"/>
              </p:cNvSpPr>
              <p:nvPr/>
            </p:nvSpPr>
            <p:spPr>
              <a:xfrm>
                <a:off x="766445" y="1045845"/>
                <a:ext cx="10667365" cy="180594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a:spLocks noGrp="1"/>
          </p:cNvSpPr>
          <p:nvPr/>
        </p:nvSpPr>
        <p:spPr>
          <a:xfrm>
            <a:off x="846455" y="1087755"/>
            <a:ext cx="8536940" cy="6667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1800">
                <a:sym typeface="+mn-ea"/>
              </a:rPr>
              <a:t>Figure shows an offset translating follower plate cam mechanism.</a:t>
            </a:r>
            <a:r>
              <a:rPr sz="1800" b="0" i="0">
                <a:solidFill>
                  <a:srgbClr val="5D6E7B"/>
                </a:solidFill>
                <a:latin typeface="微软雅黑" panose="020B0503020204020204" pitchFamily="34" charset="-122"/>
                <a:ea typeface="微软雅黑" panose="020B0503020204020204" pitchFamily="34" charset="-122"/>
                <a:cs typeface="DejaVu Sans"/>
              </a:rPr>
              <a:t>Cam 1 is an eccentric circular disk of radius R, with its geometric center at G. The rotation direction is shown.</a:t>
            </a:r>
            <a:endParaRPr sz="1800" b="0" i="0">
              <a:solidFill>
                <a:srgbClr val="5D6E7B"/>
              </a:solidFill>
              <a:latin typeface="微软雅黑" panose="020B0503020204020204" pitchFamily="34" charset="-122"/>
              <a:ea typeface="微软雅黑" panose="020B0503020204020204" pitchFamily="34" charset="-122"/>
              <a:cs typeface="DejaVu Sans"/>
            </a:endParaRPr>
          </a:p>
        </p:txBody>
      </p:sp>
      <p:sp>
        <p:nvSpPr>
          <p:cNvPr id="6" name="矩形 5"/>
          <p:cNvSpPr>
            <a:spLocks noGrp="1"/>
          </p:cNvSpPr>
          <p:nvPr/>
        </p:nvSpPr>
        <p:spPr>
          <a:xfrm>
            <a:off x="609600" y="2295525"/>
            <a:ext cx="838200" cy="304800"/>
          </a:xfrm>
          <a:prstGeom prst="rect">
            <a:avLst/>
          </a:prstGeom>
          <a:noFill/>
          <a:ln w="0">
            <a:noFill/>
          </a:ln>
        </p:spPr>
        <p:txBody>
          <a:bodyPr anchor="ctr">
            <a:noAutofit/>
          </a:bodyPr>
          <a:lstStyle/>
          <a:p>
            <a:pPr algn="l">
              <a:defRPr sz="1275" b="1" i="0">
                <a:solidFill>
                  <a:srgbClr val="167C80"/>
                </a:solidFill>
                <a:latin typeface="DejaVu Sans"/>
                <a:ea typeface="DejaVu Sans"/>
                <a:cs typeface="DejaVu Sans"/>
              </a:defRPr>
            </a:pPr>
            <a:r>
              <a:rPr sz="1800" b="1" i="0">
                <a:solidFill>
                  <a:srgbClr val="167C80"/>
                </a:solidFill>
                <a:latin typeface="微软雅黑" panose="020B0503020204020204" pitchFamily="34" charset="-122"/>
                <a:ea typeface="微软雅黑" panose="020B0503020204020204" pitchFamily="34" charset="-122"/>
                <a:cs typeface="DejaVu Sans"/>
              </a:rPr>
              <a:t>Given</a:t>
            </a:r>
            <a:endParaRPr sz="1800" b="1" i="0">
              <a:solidFill>
                <a:srgbClr val="167C80"/>
              </a:solidFill>
              <a:latin typeface="微软雅黑" panose="020B0503020204020204" pitchFamily="34" charset="-122"/>
              <a:ea typeface="微软雅黑" panose="020B0503020204020204" pitchFamily="34" charset="-122"/>
              <a:cs typeface="DejaVu Sans"/>
            </a:endParaRPr>
          </a:p>
        </p:txBody>
      </p:sp>
      <p:sp>
        <p:nvSpPr>
          <p:cNvPr id="7" name="矩形 6"/>
          <p:cNvSpPr>
            <a:spLocks noGrp="1"/>
          </p:cNvSpPr>
          <p:nvPr/>
        </p:nvSpPr>
        <p:spPr>
          <a:xfrm>
            <a:off x="1371600" y="2247900"/>
            <a:ext cx="4953000" cy="381000"/>
          </a:xfrm>
          <a:prstGeom prst="rect">
            <a:avLst/>
          </a:prstGeom>
          <a:noFill/>
          <a:ln w="0">
            <a:noFill/>
          </a:ln>
        </p:spPr>
        <p:txBody>
          <a:bodyPr anchor="ctr">
            <a:noAutofit/>
          </a:bodyPr>
          <a:lstStyle/>
          <a:p>
            <a:pPr algn="l">
              <a:defRPr sz="150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R = 30 mm     OG = 10 mm     e = 15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8" name="椭圆 7"/>
          <p:cNvSpPr>
            <a:spLocks noGrp="1"/>
          </p:cNvSpPr>
          <p:nvPr/>
        </p:nvSpPr>
        <p:spPr>
          <a:xfrm>
            <a:off x="676275" y="2962275"/>
            <a:ext cx="285750" cy="285750"/>
          </a:xfrm>
          <a:prstGeom prst="ellipse">
            <a:avLst/>
          </a:prstGeom>
          <a:solidFill>
            <a:srgbClr val="167C80"/>
          </a:solidFill>
          <a:ln w="0">
            <a:solidFill>
              <a:srgbClr val="167C80"/>
            </a:solidFill>
            <a:prstDash val="solid"/>
          </a:ln>
        </p:spPr>
      </p:sp>
      <p:sp>
        <p:nvSpPr>
          <p:cNvPr id="9" name="矩形 8"/>
          <p:cNvSpPr>
            <a:spLocks noGrp="1"/>
          </p:cNvSpPr>
          <p:nvPr/>
        </p:nvSpPr>
        <p:spPr>
          <a:xfrm>
            <a:off x="695325" y="2931160"/>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0" name="矩形 9"/>
          <p:cNvSpPr>
            <a:spLocks noGrp="1"/>
          </p:cNvSpPr>
          <p:nvPr/>
        </p:nvSpPr>
        <p:spPr>
          <a:xfrm>
            <a:off x="1104900" y="2781300"/>
            <a:ext cx="5802630" cy="64770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Choose a suitable scale. Draw the mechanism when OG is perpendicular to the follower</a:t>
            </a:r>
            <a:r>
              <a:rPr lang="en-US" sz="1800" b="0" i="0">
                <a:solidFill>
                  <a:srgbClr val="17324D"/>
                </a:solidFill>
                <a:latin typeface="微软雅黑" panose="020B0503020204020204" pitchFamily="34" charset="-122"/>
                <a:ea typeface="微软雅黑" panose="020B0503020204020204" pitchFamily="34" charset="-122"/>
                <a:cs typeface="DejaVu Sans"/>
              </a:rPr>
              <a:t>’</a:t>
            </a:r>
            <a:r>
              <a:rPr sz="1800" b="0" i="0">
                <a:solidFill>
                  <a:srgbClr val="17324D"/>
                </a:solidFill>
                <a:latin typeface="微软雅黑" panose="020B0503020204020204" pitchFamily="34" charset="-122"/>
                <a:ea typeface="微软雅黑" panose="020B0503020204020204" pitchFamily="34" charset="-122"/>
                <a:cs typeface="DejaVu Sans"/>
              </a:rPr>
              <a:t>s direction of translation.</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1" name="椭圆 10"/>
          <p:cNvSpPr>
            <a:spLocks noGrp="1"/>
          </p:cNvSpPr>
          <p:nvPr/>
        </p:nvSpPr>
        <p:spPr>
          <a:xfrm>
            <a:off x="676275" y="3638550"/>
            <a:ext cx="285750" cy="285750"/>
          </a:xfrm>
          <a:prstGeom prst="ellipse">
            <a:avLst/>
          </a:prstGeom>
          <a:solidFill>
            <a:srgbClr val="167C80"/>
          </a:solidFill>
          <a:ln w="0">
            <a:solidFill>
              <a:srgbClr val="167C80"/>
            </a:solidFill>
            <a:prstDash val="solid"/>
          </a:ln>
        </p:spPr>
      </p:sp>
      <p:sp>
        <p:nvSpPr>
          <p:cNvPr id="12" name="矩形 11"/>
          <p:cNvSpPr>
            <a:spLocks noGrp="1"/>
          </p:cNvSpPr>
          <p:nvPr/>
        </p:nvSpPr>
        <p:spPr>
          <a:xfrm>
            <a:off x="695325" y="3609975"/>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3" name="矩形 12"/>
          <p:cNvSpPr>
            <a:spLocks noGrp="1"/>
          </p:cNvSpPr>
          <p:nvPr/>
        </p:nvSpPr>
        <p:spPr>
          <a:xfrm>
            <a:off x="1104900" y="3543300"/>
            <a:ext cx="5581015"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Draw the cam base circle and label its radius r₀.</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4" name="椭圆 13"/>
          <p:cNvSpPr>
            <a:spLocks noGrp="1"/>
          </p:cNvSpPr>
          <p:nvPr/>
        </p:nvSpPr>
        <p:spPr>
          <a:xfrm>
            <a:off x="676275" y="4229100"/>
            <a:ext cx="285750" cy="285750"/>
          </a:xfrm>
          <a:prstGeom prst="ellipse">
            <a:avLst/>
          </a:prstGeom>
          <a:solidFill>
            <a:srgbClr val="167C80"/>
          </a:solidFill>
          <a:ln w="0">
            <a:solidFill>
              <a:srgbClr val="167C80"/>
            </a:solidFill>
            <a:prstDash val="solid"/>
          </a:ln>
        </p:spPr>
      </p:sp>
      <p:sp>
        <p:nvSpPr>
          <p:cNvPr id="15" name="矩形 14"/>
          <p:cNvSpPr>
            <a:spLocks noGrp="1"/>
          </p:cNvSpPr>
          <p:nvPr/>
        </p:nvSpPr>
        <p:spPr>
          <a:xfrm>
            <a:off x="695325" y="4200525"/>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3</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6" name="矩形 15"/>
          <p:cNvSpPr>
            <a:spLocks noGrp="1"/>
          </p:cNvSpPr>
          <p:nvPr/>
        </p:nvSpPr>
        <p:spPr>
          <a:xfrm>
            <a:off x="1104900" y="4133850"/>
            <a:ext cx="580263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rise angle Φ and the return angle Φ′.</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7" name="椭圆 16"/>
          <p:cNvSpPr>
            <a:spLocks noGrp="1"/>
          </p:cNvSpPr>
          <p:nvPr/>
        </p:nvSpPr>
        <p:spPr>
          <a:xfrm>
            <a:off x="676275" y="4905375"/>
            <a:ext cx="285750" cy="285750"/>
          </a:xfrm>
          <a:prstGeom prst="ellipse">
            <a:avLst/>
          </a:prstGeom>
          <a:solidFill>
            <a:srgbClr val="167C80"/>
          </a:solidFill>
          <a:ln w="0">
            <a:solidFill>
              <a:srgbClr val="167C80"/>
            </a:solidFill>
            <a:prstDash val="solid"/>
          </a:ln>
        </p:spPr>
      </p:sp>
      <p:sp>
        <p:nvSpPr>
          <p:cNvPr id="18" name="矩形 17"/>
          <p:cNvSpPr>
            <a:spLocks noGrp="1"/>
          </p:cNvSpPr>
          <p:nvPr/>
        </p:nvSpPr>
        <p:spPr>
          <a:xfrm>
            <a:off x="676275" y="4848225"/>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4</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9" name="矩形 18"/>
          <p:cNvSpPr>
            <a:spLocks noGrp="1"/>
          </p:cNvSpPr>
          <p:nvPr/>
        </p:nvSpPr>
        <p:spPr>
          <a:xfrm>
            <a:off x="1104900" y="4724400"/>
            <a:ext cx="5914390" cy="64770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Indicate the pressure angle αᵦ at the beginning of rise and αₑ at the end of rise.</a:t>
            </a:r>
            <a:endPar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标题 20"/>
          <p:cNvSpPr>
            <a:spLocks noGrp="1"/>
          </p:cNvSpPr>
          <p:nvPr>
            <p:ph type="title"/>
          </p:nvPr>
        </p:nvSpPr>
        <p:spPr/>
        <p:txBody>
          <a:bodyPr wrap="square"/>
          <a:lstStyle/>
          <a:p>
            <a:r>
              <a:rPr lang="zh-CN" altLang="en-US" dirty="0"/>
              <a:t>Practice Problem</a:t>
            </a:r>
            <a:endParaRPr lang="zh-CN" altLang="en-US" dirty="0"/>
          </a:p>
        </p:txBody>
      </p:sp>
      <p:pic>
        <p:nvPicPr>
          <p:cNvPr id="22" name="图片 21"/>
          <p:cNvPicPr>
            <a:picLocks noChangeAspect="1"/>
          </p:cNvPicPr>
          <p:nvPr/>
        </p:nvPicPr>
        <p:blipFill>
          <a:blip r:embed="rId1"/>
          <a:stretch>
            <a:fillRect/>
          </a:stretch>
        </p:blipFill>
        <p:spPr>
          <a:xfrm>
            <a:off x="7727950" y="1675765"/>
            <a:ext cx="3753485" cy="453263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a:spLocks noGrp="1"/>
          </p:cNvSpPr>
          <p:nvPr/>
        </p:nvSpPr>
        <p:spPr>
          <a:xfrm>
            <a:off x="846455" y="1087755"/>
            <a:ext cx="8536940" cy="6667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sz="1800" b="1">
                <a:solidFill>
                  <a:srgbClr val="17324D"/>
                </a:solidFill>
                <a:sym typeface="+mn-ea"/>
              </a:rPr>
              <a:t>Offset translating flat-faced follower cam</a:t>
            </a:r>
            <a:endParaRPr sz="1800" b="1" i="0">
              <a:solidFill>
                <a:srgbClr val="17324D"/>
              </a:solidFill>
              <a:latin typeface="DejaVu Sans"/>
              <a:ea typeface="DejaVu Sans"/>
              <a:cs typeface="DejaVu Sans"/>
            </a:endParaRPr>
          </a:p>
          <a:p>
            <a:pPr algn="l">
              <a:defRPr sz="1200" b="0" i="0">
                <a:solidFill>
                  <a:srgbClr val="5D6E7B"/>
                </a:solidFill>
                <a:latin typeface="DejaVu Sans"/>
                <a:ea typeface="DejaVu Sans"/>
                <a:cs typeface="DejaVu Sans"/>
              </a:defRPr>
            </a:pPr>
            <a:r>
              <a:rPr sz="1800" b="0" i="0">
                <a:solidFill>
                  <a:srgbClr val="5D6E7B"/>
                </a:solidFill>
                <a:latin typeface="微软雅黑" panose="020B0503020204020204" pitchFamily="34" charset="-122"/>
                <a:ea typeface="微软雅黑" panose="020B0503020204020204" pitchFamily="34" charset="-122"/>
                <a:cs typeface="DejaVu Sans"/>
              </a:rPr>
              <a:t>Cam 1 is an eccentric circular disk of radius R, with its geometric center at G. The rotation direction is shown.</a:t>
            </a:r>
            <a:endParaRPr sz="1800" b="0" i="0">
              <a:solidFill>
                <a:srgbClr val="5D6E7B"/>
              </a:solidFill>
              <a:latin typeface="微软雅黑" panose="020B0503020204020204" pitchFamily="34" charset="-122"/>
              <a:ea typeface="微软雅黑" panose="020B0503020204020204" pitchFamily="34" charset="-122"/>
              <a:cs typeface="DejaVu Sans"/>
            </a:endParaRPr>
          </a:p>
        </p:txBody>
      </p:sp>
      <p:sp>
        <p:nvSpPr>
          <p:cNvPr id="6" name="矩形 5"/>
          <p:cNvSpPr>
            <a:spLocks noGrp="1"/>
          </p:cNvSpPr>
          <p:nvPr/>
        </p:nvSpPr>
        <p:spPr>
          <a:xfrm>
            <a:off x="609600" y="2295525"/>
            <a:ext cx="838200" cy="304800"/>
          </a:xfrm>
          <a:prstGeom prst="rect">
            <a:avLst/>
          </a:prstGeom>
          <a:noFill/>
          <a:ln w="0">
            <a:noFill/>
          </a:ln>
        </p:spPr>
        <p:txBody>
          <a:bodyPr anchor="ctr">
            <a:noAutofit/>
          </a:bodyPr>
          <a:lstStyle/>
          <a:p>
            <a:pPr algn="l">
              <a:defRPr sz="1275" b="1" i="0">
                <a:solidFill>
                  <a:srgbClr val="167C80"/>
                </a:solidFill>
                <a:latin typeface="DejaVu Sans"/>
                <a:ea typeface="DejaVu Sans"/>
                <a:cs typeface="DejaVu Sans"/>
              </a:defRPr>
            </a:pPr>
            <a:r>
              <a:rPr sz="1800" b="1" i="0">
                <a:solidFill>
                  <a:srgbClr val="167C80"/>
                </a:solidFill>
                <a:latin typeface="微软雅黑" panose="020B0503020204020204" pitchFamily="34" charset="-122"/>
                <a:ea typeface="微软雅黑" panose="020B0503020204020204" pitchFamily="34" charset="-122"/>
                <a:cs typeface="DejaVu Sans"/>
              </a:rPr>
              <a:t>Given</a:t>
            </a:r>
            <a:endParaRPr sz="1800" b="1" i="0">
              <a:solidFill>
                <a:srgbClr val="167C80"/>
              </a:solidFill>
              <a:latin typeface="微软雅黑" panose="020B0503020204020204" pitchFamily="34" charset="-122"/>
              <a:ea typeface="微软雅黑" panose="020B0503020204020204" pitchFamily="34" charset="-122"/>
              <a:cs typeface="DejaVu Sans"/>
            </a:endParaRPr>
          </a:p>
        </p:txBody>
      </p:sp>
      <p:sp>
        <p:nvSpPr>
          <p:cNvPr id="7" name="矩形 6"/>
          <p:cNvSpPr>
            <a:spLocks noGrp="1"/>
          </p:cNvSpPr>
          <p:nvPr/>
        </p:nvSpPr>
        <p:spPr>
          <a:xfrm>
            <a:off x="1371600" y="2247900"/>
            <a:ext cx="4953000" cy="381000"/>
          </a:xfrm>
          <a:prstGeom prst="rect">
            <a:avLst/>
          </a:prstGeom>
          <a:noFill/>
          <a:ln w="0">
            <a:noFill/>
          </a:ln>
        </p:spPr>
        <p:txBody>
          <a:bodyPr anchor="ctr">
            <a:noAutofit/>
          </a:bodyPr>
          <a:lstStyle/>
          <a:p>
            <a:pPr algn="l">
              <a:defRPr sz="150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R = 30 mm     OG = 10 mm     e = 15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8" name="椭圆 7"/>
          <p:cNvSpPr>
            <a:spLocks noGrp="1"/>
          </p:cNvSpPr>
          <p:nvPr/>
        </p:nvSpPr>
        <p:spPr>
          <a:xfrm>
            <a:off x="676275" y="2962275"/>
            <a:ext cx="285750" cy="285750"/>
          </a:xfrm>
          <a:prstGeom prst="ellipse">
            <a:avLst/>
          </a:prstGeom>
          <a:solidFill>
            <a:srgbClr val="167C80"/>
          </a:solidFill>
          <a:ln w="0">
            <a:solidFill>
              <a:srgbClr val="167C80"/>
            </a:solidFill>
            <a:prstDash val="solid"/>
          </a:ln>
        </p:spPr>
      </p:sp>
      <p:sp>
        <p:nvSpPr>
          <p:cNvPr id="9" name="矩形 8"/>
          <p:cNvSpPr>
            <a:spLocks noGrp="1"/>
          </p:cNvSpPr>
          <p:nvPr/>
        </p:nvSpPr>
        <p:spPr>
          <a:xfrm>
            <a:off x="695325" y="2931160"/>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0" name="矩形 9"/>
          <p:cNvSpPr>
            <a:spLocks noGrp="1"/>
          </p:cNvSpPr>
          <p:nvPr/>
        </p:nvSpPr>
        <p:spPr>
          <a:xfrm>
            <a:off x="1104900" y="2781300"/>
            <a:ext cx="5802630" cy="64770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Choose a suitable scale. Draw the mechanism when OG is perpendicular to the follower</a:t>
            </a:r>
            <a:r>
              <a:rPr lang="en-US" sz="1800" b="0" i="0">
                <a:solidFill>
                  <a:srgbClr val="17324D"/>
                </a:solidFill>
                <a:latin typeface="微软雅黑" panose="020B0503020204020204" pitchFamily="34" charset="-122"/>
                <a:ea typeface="微软雅黑" panose="020B0503020204020204" pitchFamily="34" charset="-122"/>
                <a:cs typeface="DejaVu Sans"/>
              </a:rPr>
              <a:t>’</a:t>
            </a:r>
            <a:r>
              <a:rPr sz="1800" b="0" i="0">
                <a:solidFill>
                  <a:srgbClr val="17324D"/>
                </a:solidFill>
                <a:latin typeface="微软雅黑" panose="020B0503020204020204" pitchFamily="34" charset="-122"/>
                <a:ea typeface="微软雅黑" panose="020B0503020204020204" pitchFamily="34" charset="-122"/>
                <a:cs typeface="DejaVu Sans"/>
              </a:rPr>
              <a:t>s direction of translation.</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21" name="标题 20"/>
          <p:cNvSpPr>
            <a:spLocks noGrp="1"/>
          </p:cNvSpPr>
          <p:nvPr>
            <p:ph type="title"/>
          </p:nvPr>
        </p:nvSpPr>
        <p:spPr/>
        <p:txBody>
          <a:bodyPr wrap="square"/>
          <a:lstStyle/>
          <a:p>
            <a:r>
              <a:rPr lang="zh-CN" altLang="en-US" dirty="0"/>
              <a:t>Practice Problem</a:t>
            </a:r>
            <a:endParaRPr lang="zh-CN" altLang="en-US" dirty="0"/>
          </a:p>
        </p:txBody>
      </p:sp>
      <p:pic>
        <p:nvPicPr>
          <p:cNvPr id="22" name="图片 21"/>
          <p:cNvPicPr>
            <a:picLocks noChangeAspect="1"/>
          </p:cNvPicPr>
          <p:nvPr/>
        </p:nvPicPr>
        <p:blipFill>
          <a:blip r:embed="rId1"/>
          <a:stretch>
            <a:fillRect/>
          </a:stretch>
        </p:blipFill>
        <p:spPr>
          <a:xfrm>
            <a:off x="7515225" y="1261745"/>
            <a:ext cx="3753485" cy="4532630"/>
          </a:xfrm>
          <a:prstGeom prst="rect">
            <a:avLst/>
          </a:prstGeom>
        </p:spPr>
      </p:pic>
      <p:pic>
        <p:nvPicPr>
          <p:cNvPr id="2" name="图片 1"/>
          <p:cNvPicPr>
            <a:picLocks noChangeAspect="1"/>
          </p:cNvPicPr>
          <p:nvPr/>
        </p:nvPicPr>
        <p:blipFill>
          <a:blip r:embed="rId2"/>
          <a:stretch>
            <a:fillRect/>
          </a:stretch>
        </p:blipFill>
        <p:spPr>
          <a:xfrm>
            <a:off x="846455" y="3709035"/>
            <a:ext cx="2539365" cy="3100070"/>
          </a:xfrm>
          <a:prstGeom prst="rect">
            <a:avLst/>
          </a:prstGeom>
        </p:spPr>
      </p:pic>
      <p:pic>
        <p:nvPicPr>
          <p:cNvPr id="3" name="图片 2"/>
          <p:cNvPicPr>
            <a:picLocks noChangeAspect="1"/>
          </p:cNvPicPr>
          <p:nvPr/>
        </p:nvPicPr>
        <p:blipFill>
          <a:blip r:embed="rId3"/>
          <a:stretch>
            <a:fillRect/>
          </a:stretch>
        </p:blipFill>
        <p:spPr>
          <a:xfrm>
            <a:off x="3284855" y="3747770"/>
            <a:ext cx="2619375" cy="310070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a:spLocks noGrp="1"/>
          </p:cNvSpPr>
          <p:nvPr/>
        </p:nvSpPr>
        <p:spPr>
          <a:xfrm>
            <a:off x="846455" y="1087755"/>
            <a:ext cx="10000615" cy="6667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a:latin typeface="微软雅黑" panose="020B0503020204020204" pitchFamily="34" charset="-122"/>
                <a:ea typeface="微软雅黑" panose="020B0503020204020204" pitchFamily="34" charset="-122"/>
                <a:sym typeface="+mn-ea"/>
              </a:rPr>
              <a:t>Figure shows an offset translating follower plate cam mechanism.</a:t>
            </a:r>
            <a:r>
              <a:rPr sz="2000" b="0" i="0">
                <a:solidFill>
                  <a:srgbClr val="5D6E7B"/>
                </a:solidFill>
                <a:latin typeface="微软雅黑" panose="020B0503020204020204" pitchFamily="34" charset="-122"/>
                <a:ea typeface="微软雅黑" panose="020B0503020204020204" pitchFamily="34" charset="-122"/>
                <a:cs typeface="DejaVu Sans"/>
              </a:rPr>
              <a:t>Cam 1 is an eccentric circular disk of radius R, with its geometric center at G. The rotation direction is shown.</a:t>
            </a:r>
            <a:endParaRPr sz="2000" b="0" i="0">
              <a:solidFill>
                <a:srgbClr val="5D6E7B"/>
              </a:solidFill>
              <a:latin typeface="微软雅黑" panose="020B0503020204020204" pitchFamily="34" charset="-122"/>
              <a:ea typeface="微软雅黑" panose="020B0503020204020204" pitchFamily="34" charset="-122"/>
              <a:cs typeface="DejaVu Sans"/>
            </a:endParaRPr>
          </a:p>
        </p:txBody>
      </p:sp>
      <p:sp>
        <p:nvSpPr>
          <p:cNvPr id="6" name="矩形 5"/>
          <p:cNvSpPr>
            <a:spLocks noGrp="1"/>
          </p:cNvSpPr>
          <p:nvPr/>
        </p:nvSpPr>
        <p:spPr>
          <a:xfrm>
            <a:off x="609600" y="1906270"/>
            <a:ext cx="838200" cy="304800"/>
          </a:xfrm>
          <a:prstGeom prst="rect">
            <a:avLst/>
          </a:prstGeom>
          <a:noFill/>
          <a:ln w="0">
            <a:noFill/>
          </a:ln>
        </p:spPr>
        <p:txBody>
          <a:bodyPr anchor="ctr">
            <a:noAutofit/>
          </a:bodyPr>
          <a:lstStyle/>
          <a:p>
            <a:pPr algn="l">
              <a:defRPr sz="1275" b="1" i="0">
                <a:solidFill>
                  <a:srgbClr val="167C80"/>
                </a:solidFill>
                <a:latin typeface="DejaVu Sans"/>
                <a:ea typeface="DejaVu Sans"/>
                <a:cs typeface="DejaVu Sans"/>
              </a:defRPr>
            </a:pPr>
            <a:r>
              <a:rPr sz="1800" b="1" i="0">
                <a:solidFill>
                  <a:srgbClr val="167C80"/>
                </a:solidFill>
                <a:latin typeface="微软雅黑" panose="020B0503020204020204" pitchFamily="34" charset="-122"/>
                <a:ea typeface="微软雅黑" panose="020B0503020204020204" pitchFamily="34" charset="-122"/>
                <a:cs typeface="DejaVu Sans"/>
              </a:rPr>
              <a:t>Given</a:t>
            </a:r>
            <a:endParaRPr sz="1800" b="1" i="0">
              <a:solidFill>
                <a:srgbClr val="167C80"/>
              </a:solidFill>
              <a:latin typeface="微软雅黑" panose="020B0503020204020204" pitchFamily="34" charset="-122"/>
              <a:ea typeface="微软雅黑" panose="020B0503020204020204" pitchFamily="34" charset="-122"/>
              <a:cs typeface="DejaVu Sans"/>
            </a:endParaRPr>
          </a:p>
        </p:txBody>
      </p:sp>
      <p:sp>
        <p:nvSpPr>
          <p:cNvPr id="7" name="矩形 6"/>
          <p:cNvSpPr>
            <a:spLocks noGrp="1"/>
          </p:cNvSpPr>
          <p:nvPr/>
        </p:nvSpPr>
        <p:spPr>
          <a:xfrm>
            <a:off x="1403985" y="1872615"/>
            <a:ext cx="4953000" cy="381000"/>
          </a:xfrm>
          <a:prstGeom prst="rect">
            <a:avLst/>
          </a:prstGeom>
          <a:noFill/>
          <a:ln w="0">
            <a:noFill/>
          </a:ln>
        </p:spPr>
        <p:txBody>
          <a:bodyPr anchor="ctr">
            <a:noAutofit/>
          </a:bodyPr>
          <a:lstStyle/>
          <a:p>
            <a:pPr algn="l">
              <a:defRPr sz="150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R = 30 mm     OG = 10 mm     e = 15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11" name="椭圆 10"/>
          <p:cNvSpPr>
            <a:spLocks noGrp="1"/>
          </p:cNvSpPr>
          <p:nvPr/>
        </p:nvSpPr>
        <p:spPr>
          <a:xfrm>
            <a:off x="708660" y="2348865"/>
            <a:ext cx="285750" cy="285750"/>
          </a:xfrm>
          <a:prstGeom prst="ellipse">
            <a:avLst/>
          </a:prstGeom>
          <a:solidFill>
            <a:srgbClr val="167C80"/>
          </a:solidFill>
          <a:ln w="0">
            <a:solidFill>
              <a:srgbClr val="167C80"/>
            </a:solidFill>
            <a:prstDash val="solid"/>
          </a:ln>
        </p:spPr>
      </p:sp>
      <p:sp>
        <p:nvSpPr>
          <p:cNvPr id="12" name="矩形 11"/>
          <p:cNvSpPr>
            <a:spLocks noGrp="1"/>
          </p:cNvSpPr>
          <p:nvPr/>
        </p:nvSpPr>
        <p:spPr>
          <a:xfrm>
            <a:off x="727710" y="2320290"/>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3" name="矩形 12"/>
          <p:cNvSpPr>
            <a:spLocks noGrp="1"/>
          </p:cNvSpPr>
          <p:nvPr/>
        </p:nvSpPr>
        <p:spPr>
          <a:xfrm>
            <a:off x="1137285" y="2253615"/>
            <a:ext cx="5581015"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Draw the cam base circle and label its radius r₀.</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4" name="椭圆 13"/>
          <p:cNvSpPr>
            <a:spLocks noGrp="1"/>
          </p:cNvSpPr>
          <p:nvPr/>
        </p:nvSpPr>
        <p:spPr>
          <a:xfrm>
            <a:off x="708660" y="2939415"/>
            <a:ext cx="285750" cy="285750"/>
          </a:xfrm>
          <a:prstGeom prst="ellipse">
            <a:avLst/>
          </a:prstGeom>
          <a:solidFill>
            <a:srgbClr val="167C80"/>
          </a:solidFill>
          <a:ln w="0">
            <a:solidFill>
              <a:srgbClr val="167C80"/>
            </a:solidFill>
            <a:prstDash val="solid"/>
          </a:ln>
        </p:spPr>
      </p:sp>
      <p:sp>
        <p:nvSpPr>
          <p:cNvPr id="15" name="矩形 14"/>
          <p:cNvSpPr>
            <a:spLocks noGrp="1"/>
          </p:cNvSpPr>
          <p:nvPr/>
        </p:nvSpPr>
        <p:spPr>
          <a:xfrm>
            <a:off x="727710" y="2910840"/>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3</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6" name="矩形 15"/>
          <p:cNvSpPr>
            <a:spLocks noGrp="1"/>
          </p:cNvSpPr>
          <p:nvPr/>
        </p:nvSpPr>
        <p:spPr>
          <a:xfrm>
            <a:off x="1137285" y="2844165"/>
            <a:ext cx="580263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rise angle Φ and the return angle Φ′.</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7" name="椭圆 16"/>
          <p:cNvSpPr>
            <a:spLocks noGrp="1"/>
          </p:cNvSpPr>
          <p:nvPr/>
        </p:nvSpPr>
        <p:spPr>
          <a:xfrm>
            <a:off x="708660" y="3615690"/>
            <a:ext cx="285750" cy="285750"/>
          </a:xfrm>
          <a:prstGeom prst="ellipse">
            <a:avLst/>
          </a:prstGeom>
          <a:solidFill>
            <a:srgbClr val="167C80"/>
          </a:solidFill>
          <a:ln w="0">
            <a:solidFill>
              <a:srgbClr val="167C80"/>
            </a:solidFill>
            <a:prstDash val="solid"/>
          </a:ln>
        </p:spPr>
      </p:sp>
      <p:sp>
        <p:nvSpPr>
          <p:cNvPr id="18" name="矩形 17"/>
          <p:cNvSpPr>
            <a:spLocks noGrp="1"/>
          </p:cNvSpPr>
          <p:nvPr/>
        </p:nvSpPr>
        <p:spPr>
          <a:xfrm>
            <a:off x="708660" y="3558540"/>
            <a:ext cx="247650"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4</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9" name="矩形 18"/>
          <p:cNvSpPr>
            <a:spLocks noGrp="1"/>
          </p:cNvSpPr>
          <p:nvPr/>
        </p:nvSpPr>
        <p:spPr>
          <a:xfrm>
            <a:off x="1137285" y="3434715"/>
            <a:ext cx="5914390" cy="64770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Indicate the pressure angle αᵦ at the beginning of rise and αₑ at the end of rise.</a:t>
            </a:r>
            <a:endPar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标题 20"/>
          <p:cNvSpPr>
            <a:spLocks noGrp="1"/>
          </p:cNvSpPr>
          <p:nvPr>
            <p:ph type="title"/>
          </p:nvPr>
        </p:nvSpPr>
        <p:spPr/>
        <p:txBody>
          <a:bodyPr wrap="square"/>
          <a:lstStyle/>
          <a:p>
            <a:r>
              <a:rPr lang="zh-CN" altLang="en-US" dirty="0"/>
              <a:t>Practice Problem</a:t>
            </a:r>
            <a:endParaRPr lang="zh-CN" altLang="en-US" dirty="0"/>
          </a:p>
        </p:txBody>
      </p:sp>
      <p:pic>
        <p:nvPicPr>
          <p:cNvPr id="2" name="图片 1"/>
          <p:cNvPicPr>
            <a:picLocks noChangeAspect="1"/>
          </p:cNvPicPr>
          <p:nvPr/>
        </p:nvPicPr>
        <p:blipFill>
          <a:blip r:embed="rId1"/>
          <a:stretch>
            <a:fillRect/>
          </a:stretch>
        </p:blipFill>
        <p:spPr>
          <a:xfrm>
            <a:off x="7082948" y="2396896"/>
            <a:ext cx="3397437" cy="3167570"/>
          </a:xfrm>
          <a:prstGeom prst="rect">
            <a:avLst/>
          </a:prstGeom>
        </p:spPr>
      </p:pic>
      <p:sp>
        <p:nvSpPr>
          <p:cNvPr id="3" name="矩形 2"/>
          <p:cNvSpPr/>
          <p:nvPr/>
        </p:nvSpPr>
        <p:spPr>
          <a:xfrm>
            <a:off x="9372389" y="2764350"/>
            <a:ext cx="2954655"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rPr>
              <a:t>Guide direction is always tangent to offset circle</a:t>
            </a:r>
            <a:endParaRPr lang="en-AU" dirty="0">
              <a:solidFill>
                <a:srgbClr val="FF0000"/>
              </a:solidFill>
            </a:endParaRPr>
          </a:p>
        </p:txBody>
      </p:sp>
      <p:sp>
        <p:nvSpPr>
          <p:cNvPr id="4" name="矩形 3"/>
          <p:cNvSpPr/>
          <p:nvPr/>
        </p:nvSpPr>
        <p:spPr>
          <a:xfrm>
            <a:off x="2360816" y="4401845"/>
            <a:ext cx="2723823"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rPr>
              <a:t>How to find rise angle and return angle?</a:t>
            </a:r>
            <a:endParaRPr lang="en-AU" dirty="0">
              <a:solidFill>
                <a:srgbClr val="FF0000"/>
              </a:solidFill>
            </a:endParaRPr>
          </a:p>
        </p:txBody>
      </p:sp>
      <p:cxnSp>
        <p:nvCxnSpPr>
          <p:cNvPr id="23" name="直接箭头连接符 22"/>
          <p:cNvCxnSpPr/>
          <p:nvPr/>
        </p:nvCxnSpPr>
        <p:spPr bwMode="auto">
          <a:xfrm flipV="1">
            <a:off x="3639010" y="5029622"/>
            <a:ext cx="0" cy="40773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箭头连接符 23"/>
          <p:cNvCxnSpPr/>
          <p:nvPr/>
        </p:nvCxnSpPr>
        <p:spPr bwMode="auto">
          <a:xfrm flipV="1">
            <a:off x="8688941" y="3738547"/>
            <a:ext cx="487533" cy="1123347"/>
          </a:xfrm>
          <a:prstGeom prst="straightConnector1">
            <a:avLst/>
          </a:prstGeom>
          <a:solidFill>
            <a:schemeClr val="accent1"/>
          </a:solidFill>
          <a:ln w="9525" cap="flat" cmpd="sng" algn="ctr">
            <a:solidFill>
              <a:srgbClr val="FF000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文本框 24"/>
          <p:cNvSpPr txBox="1"/>
          <p:nvPr/>
        </p:nvSpPr>
        <p:spPr>
          <a:xfrm>
            <a:off x="9135081" y="3369215"/>
            <a:ext cx="237308" cy="369332"/>
          </a:xfrm>
          <a:prstGeom prst="rect">
            <a:avLst/>
          </a:prstGeom>
          <a:noFill/>
        </p:spPr>
        <p:txBody>
          <a:bodyPr wrap="square">
            <a:spAutoFit/>
          </a:bodyPr>
          <a:lstStyle/>
          <a:p>
            <a:r>
              <a:rPr lang="en-US" altLang="zh-CN" b="1" dirty="0">
                <a:solidFill>
                  <a:srgbClr val="FF0000"/>
                </a:solidFill>
                <a:latin typeface="Times New Roman" panose="02020603050405020304" pitchFamily="18" charset="0"/>
                <a:ea typeface="楷体_GB2312" pitchFamily="49" charset="-122"/>
              </a:rPr>
              <a:t>B</a:t>
            </a:r>
            <a:endParaRPr lang="zh-CN" altLang="en-US" dirty="0"/>
          </a:p>
        </p:txBody>
      </p:sp>
      <p:cxnSp>
        <p:nvCxnSpPr>
          <p:cNvPr id="26" name="直接箭头连接符 25"/>
          <p:cNvCxnSpPr/>
          <p:nvPr/>
        </p:nvCxnSpPr>
        <p:spPr bwMode="auto">
          <a:xfrm flipH="1" flipV="1">
            <a:off x="8295642" y="4510498"/>
            <a:ext cx="439572" cy="248192"/>
          </a:xfrm>
          <a:prstGeom prst="straightConnector1">
            <a:avLst/>
          </a:prstGeom>
          <a:solidFill>
            <a:schemeClr val="accent1"/>
          </a:solidFill>
          <a:ln w="9525" cap="flat" cmpd="sng" algn="ctr">
            <a:solidFill>
              <a:srgbClr val="FF000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矩形 26"/>
          <p:cNvSpPr/>
          <p:nvPr/>
        </p:nvSpPr>
        <p:spPr>
          <a:xfrm>
            <a:off x="2389990" y="5306325"/>
            <a:ext cx="2723823"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rPr>
              <a:t>Where are the lowest and highest follower positions?</a:t>
            </a:r>
            <a:endParaRPr lang="en-AU"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25" grpId="0"/>
      <p:bldP spid="27"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41378" name="组合 741377"/>
          <p:cNvGrpSpPr/>
          <p:nvPr/>
        </p:nvGrpSpPr>
        <p:grpSpPr bwMode="auto">
          <a:xfrm>
            <a:off x="7665154" y="3630738"/>
            <a:ext cx="2063750" cy="2057400"/>
            <a:chOff x="3360" y="1824"/>
            <a:chExt cx="1200" cy="1296"/>
          </a:xfrm>
        </p:grpSpPr>
        <p:sp>
          <p:nvSpPr>
            <p:cNvPr id="58563" name="椭圆 741378"/>
            <p:cNvSpPr>
              <a:spLocks noChangeArrowheads="1"/>
            </p:cNvSpPr>
            <p:nvPr/>
          </p:nvSpPr>
          <p:spPr bwMode="auto">
            <a:xfrm>
              <a:off x="3408" y="1968"/>
              <a:ext cx="1056" cy="1056"/>
            </a:xfrm>
            <a:prstGeom prst="ellipse">
              <a:avLst/>
            </a:prstGeom>
            <a:noFill/>
            <a:ln w="12700">
              <a:solidFill>
                <a:srgbClr val="000000"/>
              </a:solidFill>
              <a:prstDash val="lgDashDot"/>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58564" name="直接连接符 741379"/>
            <p:cNvSpPr>
              <a:spLocks noChangeShapeType="1"/>
            </p:cNvSpPr>
            <p:nvPr/>
          </p:nvSpPr>
          <p:spPr bwMode="auto">
            <a:xfrm>
              <a:off x="3360" y="2496"/>
              <a:ext cx="1200" cy="0"/>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58565" name="直接连接符 741380"/>
            <p:cNvSpPr>
              <a:spLocks noChangeShapeType="1"/>
            </p:cNvSpPr>
            <p:nvPr/>
          </p:nvSpPr>
          <p:spPr bwMode="auto">
            <a:xfrm>
              <a:off x="3936" y="1824"/>
              <a:ext cx="0" cy="1296"/>
            </a:xfrm>
            <a:prstGeom prst="line">
              <a:avLst/>
            </a:prstGeom>
            <a:noFill/>
            <a:ln w="3175">
              <a:solidFill>
                <a:schemeClr val="tx1"/>
              </a:solidFill>
              <a:prstDash val="lgDashDot"/>
              <a:round/>
            </a:ln>
            <a:extLst>
              <a:ext uri="{909E8E84-426E-40DD-AFC4-6F175D3DCCD1}">
                <a14:hiddenFill xmlns:a14="http://schemas.microsoft.com/office/drawing/2010/main">
                  <a:noFill/>
                </a14:hiddenFill>
              </a:ext>
            </a:extLst>
          </p:spPr>
          <p:txBody>
            <a:bodyPr/>
            <a:lstStyle/>
            <a:p>
              <a:endParaRPr lang="en-AU"/>
            </a:p>
          </p:txBody>
        </p:sp>
        <p:sp>
          <p:nvSpPr>
            <p:cNvPr id="58566" name="椭圆 741381"/>
            <p:cNvSpPr>
              <a:spLocks noChangeArrowheads="1"/>
            </p:cNvSpPr>
            <p:nvPr/>
          </p:nvSpPr>
          <p:spPr bwMode="auto">
            <a:xfrm>
              <a:off x="3504" y="2064"/>
              <a:ext cx="864" cy="864"/>
            </a:xfrm>
            <a:prstGeom prst="ellipse">
              <a:avLst/>
            </a:pr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sp>
        <p:nvSpPr>
          <p:cNvPr id="58371" name="矩形 741382"/>
          <p:cNvSpPr>
            <a:spLocks noRot="1" noChangeArrowheads="1"/>
          </p:cNvSpPr>
          <p:nvPr/>
        </p:nvSpPr>
        <p:spPr bwMode="auto">
          <a:xfrm>
            <a:off x="1690689" y="1465263"/>
            <a:ext cx="3983037"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marL="342900" indent="-342900">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20000"/>
              </a:spcBef>
              <a:buClr>
                <a:schemeClr val="hlink"/>
              </a:buClr>
              <a:buSzPct val="70000"/>
              <a:buFont typeface="Wingdings" panose="05000000000000000000" pitchFamily="2" charset="2"/>
              <a:buNone/>
            </a:pPr>
            <a:endParaRPr lang="zh-CN" altLang="en-US" sz="2400">
              <a:solidFill>
                <a:srgbClr val="000000"/>
              </a:solidFill>
              <a:latin typeface="Arial" panose="020B0604020202020204" pitchFamily="34" charset="0"/>
              <a:ea typeface="楷体_GB2312" pitchFamily="49" charset="-122"/>
            </a:endParaRPr>
          </a:p>
        </p:txBody>
      </p:sp>
      <p:sp>
        <p:nvSpPr>
          <p:cNvPr id="58372" name="标题 741383"/>
          <p:cNvSpPr>
            <a:spLocks noGrp="1" noRot="1" noChangeArrowheads="1"/>
          </p:cNvSpPr>
          <p:nvPr>
            <p:ph type="title"/>
          </p:nvPr>
        </p:nvSpPr>
        <p:spPr>
          <a:xfrm>
            <a:off x="566940" y="833438"/>
            <a:ext cx="10668000" cy="676275"/>
          </a:xfrm>
        </p:spPr>
        <p:txBody>
          <a:bodyPr wrap="square"/>
          <a:lstStyle/>
          <a:p>
            <a:pPr algn="l" eaLnBrk="1" hangingPunct="1"/>
            <a:r>
              <a:rPr lang="en-US" altLang="zh-CN" sz="3200" b="1" dirty="0">
                <a:solidFill>
                  <a:srgbClr val="FF00FF"/>
                </a:solidFill>
                <a:latin typeface="Times New Roman" panose="02020603050405020304" pitchFamily="18" charset="0"/>
                <a:ea typeface="楷体_GB2312" pitchFamily="49" charset="-122"/>
              </a:rPr>
              <a:t>Radial Roller Follower Disk Cam</a:t>
            </a:r>
            <a:endParaRPr lang="zh-CN" altLang="en-US" sz="3200" b="1" dirty="0">
              <a:solidFill>
                <a:srgbClr val="FF00FF"/>
              </a:solidFill>
              <a:latin typeface="Times New Roman" panose="02020603050405020304" pitchFamily="18" charset="0"/>
              <a:ea typeface="楷体_GB2312" pitchFamily="49" charset="-122"/>
            </a:endParaRPr>
          </a:p>
        </p:txBody>
      </p:sp>
      <p:sp>
        <p:nvSpPr>
          <p:cNvPr id="741385" name="内容占位符 741384"/>
          <p:cNvSpPr>
            <a:spLocks noGrp="1" noRot="1" noChangeArrowheads="1"/>
          </p:cNvSpPr>
          <p:nvPr>
            <p:ph sz="half" idx="1"/>
          </p:nvPr>
        </p:nvSpPr>
        <p:spPr>
          <a:xfrm>
            <a:off x="206864" y="1465317"/>
            <a:ext cx="8751887" cy="3376330"/>
          </a:xfrm>
        </p:spPr>
        <p:txBody>
          <a:bodyPr wrap="square"/>
          <a:lstStyle/>
          <a:p>
            <a:pPr eaLnBrk="1" hangingPunct="1">
              <a:spcBef>
                <a:spcPts val="100"/>
              </a:spcBef>
              <a:buNone/>
            </a:pPr>
            <a:r>
              <a:rPr lang="zh-CN" altLang="en-US" sz="2000" b="1" dirty="0">
                <a:solidFill>
                  <a:srgbClr val="FF0000"/>
                </a:solidFill>
                <a:ea typeface="楷体_GB2312" pitchFamily="49" charset="-122"/>
              </a:rPr>
              <a:t>Given: </a:t>
            </a:r>
            <a:r>
              <a:rPr lang="zh-CN" altLang="en-US" sz="2000" b="1" dirty="0">
                <a:solidFill>
                  <a:schemeClr val="tx1"/>
                </a:solidFill>
                <a:ea typeface="楷体_GB2312" pitchFamily="49" charset="-122"/>
              </a:rPr>
              <a:t>r₀, follower motion law, roller radius rr,</a:t>
            </a:r>
            <a:endParaRPr lang="en-US" altLang="zh-CN" sz="2000" b="1" dirty="0">
              <a:solidFill>
                <a:schemeClr val="tx1"/>
              </a:solidFill>
              <a:ea typeface="楷体_GB2312" pitchFamily="49" charset="-122"/>
            </a:endParaRPr>
          </a:p>
          <a:p>
            <a:pPr eaLnBrk="1" hangingPunct="1">
              <a:spcBef>
                <a:spcPts val="100"/>
              </a:spcBef>
              <a:buNone/>
            </a:pPr>
            <a:r>
              <a:rPr lang="zh-CN" altLang="en-US" sz="2000" b="1" dirty="0">
                <a:solidFill>
                  <a:srgbClr val="000000"/>
                </a:solidFill>
                <a:ea typeface="楷体_GB2312" pitchFamily="49" charset="-122"/>
              </a:rPr>
              <a:t>cam CCW rotation. </a:t>
            </a:r>
            <a:r>
              <a:rPr lang="zh-CN" altLang="en-US" sz="2000" b="1" dirty="0">
                <a:solidFill>
                  <a:srgbClr val="FF0000"/>
                </a:solidFill>
                <a:ea typeface="楷体_GB2312" pitchFamily="49" charset="-122"/>
              </a:rPr>
              <a:t>Design</a:t>
            </a:r>
            <a:r>
              <a:rPr lang="zh-CN" altLang="en-US" sz="2000" b="1" dirty="0">
                <a:solidFill>
                  <a:srgbClr val="000000"/>
                </a:solidFill>
                <a:ea typeface="楷体_GB2312" pitchFamily="49" charset="-122"/>
              </a:rPr>
              <a:t>: cam profile</a:t>
            </a:r>
            <a:endParaRPr lang="zh-CN" altLang="en-US" sz="2000" b="1" dirty="0">
              <a:solidFill>
                <a:srgbClr val="000000"/>
              </a:solidFill>
              <a:ea typeface="楷体_GB2312" pitchFamily="49" charset="-122"/>
            </a:endParaRPr>
          </a:p>
          <a:p>
            <a:pPr eaLnBrk="1" hangingPunct="1">
              <a:spcBef>
                <a:spcPts val="100"/>
              </a:spcBef>
              <a:buNone/>
            </a:pPr>
            <a:endParaRPr lang="zh-CN" altLang="en-US" sz="2000" b="1" dirty="0">
              <a:solidFill>
                <a:srgbClr val="000000"/>
              </a:solidFill>
              <a:ea typeface="楷体_GB2312" pitchFamily="49" charset="-122"/>
            </a:endParaRPr>
          </a:p>
        </p:txBody>
      </p:sp>
      <p:sp>
        <p:nvSpPr>
          <p:cNvPr id="741389" name="任意多边形 741388"/>
          <p:cNvSpPr>
            <a:spLocks noChangeArrowheads="1"/>
          </p:cNvSpPr>
          <p:nvPr/>
        </p:nvSpPr>
        <p:spPr bwMode="auto">
          <a:xfrm>
            <a:off x="6548290" y="2703482"/>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0" name="任意多边形 741389"/>
          <p:cNvSpPr>
            <a:spLocks noChangeArrowheads="1"/>
          </p:cNvSpPr>
          <p:nvPr/>
        </p:nvSpPr>
        <p:spPr bwMode="auto">
          <a:xfrm>
            <a:off x="6761015" y="2571719"/>
            <a:ext cx="0" cy="150812"/>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1" name="任意多边形 741390"/>
          <p:cNvSpPr>
            <a:spLocks noChangeArrowheads="1"/>
          </p:cNvSpPr>
          <p:nvPr/>
        </p:nvSpPr>
        <p:spPr bwMode="auto">
          <a:xfrm>
            <a:off x="6972154" y="2314545"/>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2" name="任意多边形 741391"/>
          <p:cNvSpPr>
            <a:spLocks noChangeArrowheads="1"/>
          </p:cNvSpPr>
          <p:nvPr/>
        </p:nvSpPr>
        <p:spPr bwMode="auto">
          <a:xfrm>
            <a:off x="7183290" y="2063719"/>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3" name="任意多边形 741392"/>
          <p:cNvSpPr>
            <a:spLocks noChangeArrowheads="1"/>
          </p:cNvSpPr>
          <p:nvPr/>
        </p:nvSpPr>
        <p:spPr bwMode="auto">
          <a:xfrm>
            <a:off x="7397603" y="1925607"/>
            <a:ext cx="0" cy="798513"/>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4" name="任意多边形 741393"/>
          <p:cNvSpPr>
            <a:spLocks noChangeArrowheads="1"/>
          </p:cNvSpPr>
          <p:nvPr/>
        </p:nvSpPr>
        <p:spPr bwMode="auto">
          <a:xfrm>
            <a:off x="7502379" y="1914495"/>
            <a:ext cx="1587" cy="814387"/>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5" name="任意多边形 741394"/>
          <p:cNvSpPr>
            <a:spLocks noChangeArrowheads="1"/>
          </p:cNvSpPr>
          <p:nvPr/>
        </p:nvSpPr>
        <p:spPr bwMode="auto">
          <a:xfrm>
            <a:off x="6654654" y="2654270"/>
            <a:ext cx="1587" cy="71437"/>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6" name="任意多边形 741395"/>
          <p:cNvSpPr>
            <a:spLocks noChangeArrowheads="1"/>
          </p:cNvSpPr>
          <p:nvPr/>
        </p:nvSpPr>
        <p:spPr bwMode="auto">
          <a:xfrm>
            <a:off x="6865790" y="2449481"/>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7" name="任意多边形 741396"/>
          <p:cNvSpPr>
            <a:spLocks noChangeArrowheads="1"/>
          </p:cNvSpPr>
          <p:nvPr/>
        </p:nvSpPr>
        <p:spPr bwMode="auto">
          <a:xfrm>
            <a:off x="7076929" y="2179607"/>
            <a:ext cx="1587" cy="544513"/>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8" name="任意多边形 741397"/>
          <p:cNvSpPr>
            <a:spLocks noChangeArrowheads="1"/>
          </p:cNvSpPr>
          <p:nvPr/>
        </p:nvSpPr>
        <p:spPr bwMode="auto">
          <a:xfrm>
            <a:off x="7291240" y="1979581"/>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399" name="任意多边形 741398"/>
          <p:cNvSpPr>
            <a:spLocks noChangeArrowheads="1"/>
          </p:cNvSpPr>
          <p:nvPr/>
        </p:nvSpPr>
        <p:spPr bwMode="auto">
          <a:xfrm>
            <a:off x="8358040" y="2000219"/>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0" name="任意多边形 741399"/>
          <p:cNvSpPr>
            <a:spLocks noChangeArrowheads="1"/>
          </p:cNvSpPr>
          <p:nvPr/>
        </p:nvSpPr>
        <p:spPr bwMode="auto">
          <a:xfrm>
            <a:off x="8467579" y="2090706"/>
            <a:ext cx="1587" cy="636588"/>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1" name="任意多边形 741400"/>
          <p:cNvSpPr>
            <a:spLocks noChangeArrowheads="1"/>
          </p:cNvSpPr>
          <p:nvPr/>
        </p:nvSpPr>
        <p:spPr bwMode="auto">
          <a:xfrm>
            <a:off x="8586640" y="2184370"/>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2" name="任意多边形 741401"/>
          <p:cNvSpPr>
            <a:spLocks noChangeArrowheads="1"/>
          </p:cNvSpPr>
          <p:nvPr/>
        </p:nvSpPr>
        <p:spPr bwMode="auto">
          <a:xfrm>
            <a:off x="8694590" y="2271682"/>
            <a:ext cx="1588" cy="455613"/>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3" name="任意多边形 741402"/>
          <p:cNvSpPr>
            <a:spLocks noChangeArrowheads="1"/>
          </p:cNvSpPr>
          <p:nvPr/>
        </p:nvSpPr>
        <p:spPr bwMode="auto">
          <a:xfrm>
            <a:off x="8805715" y="2354232"/>
            <a:ext cx="1588" cy="373063"/>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4" name="任意多边形 741403"/>
          <p:cNvSpPr>
            <a:spLocks noChangeArrowheads="1"/>
          </p:cNvSpPr>
          <p:nvPr/>
        </p:nvSpPr>
        <p:spPr bwMode="auto">
          <a:xfrm>
            <a:off x="8916840" y="2455832"/>
            <a:ext cx="1588" cy="271463"/>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5" name="任意多边形 741404"/>
          <p:cNvSpPr>
            <a:spLocks noChangeArrowheads="1"/>
          </p:cNvSpPr>
          <p:nvPr/>
        </p:nvSpPr>
        <p:spPr bwMode="auto">
          <a:xfrm>
            <a:off x="9029554" y="2541556"/>
            <a:ext cx="1587" cy="185738"/>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406" name="任意多边形 741405"/>
          <p:cNvSpPr>
            <a:spLocks noChangeArrowheads="1"/>
          </p:cNvSpPr>
          <p:nvPr/>
        </p:nvSpPr>
        <p:spPr bwMode="auto">
          <a:xfrm>
            <a:off x="9142265" y="2628870"/>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1407" name="组合 741406"/>
          <p:cNvGrpSpPr/>
          <p:nvPr/>
        </p:nvGrpSpPr>
        <p:grpSpPr bwMode="auto">
          <a:xfrm>
            <a:off x="5964091" y="1469995"/>
            <a:ext cx="4479925" cy="1570037"/>
            <a:chOff x="3136" y="1003"/>
            <a:chExt cx="2822" cy="989"/>
          </a:xfrm>
        </p:grpSpPr>
        <p:sp>
          <p:nvSpPr>
            <p:cNvPr id="58538" name="任意多边形 741407"/>
            <p:cNvSpPr>
              <a:spLocks noChangeArrowheads="1"/>
            </p:cNvSpPr>
            <p:nvPr/>
          </p:nvSpPr>
          <p:spPr bwMode="auto">
            <a:xfrm>
              <a:off x="4573" y="1276"/>
              <a:ext cx="642" cy="518"/>
            </a:xfrm>
            <a:custGeom>
              <a:avLst/>
              <a:gdLst>
                <a:gd name="T0" fmla="*/ 0 w 963"/>
                <a:gd name="T1" fmla="*/ 0 h 654"/>
                <a:gd name="T2" fmla="*/ 57 w 963"/>
                <a:gd name="T3" fmla="*/ 128 h 654"/>
                <a:gd name="T4" fmla="*/ 0 60000 65536"/>
                <a:gd name="T5" fmla="*/ 0 60000 65536"/>
              </a:gdLst>
              <a:ahLst/>
              <a:cxnLst>
                <a:cxn ang="T4">
                  <a:pos x="T0" y="T1"/>
                </a:cxn>
                <a:cxn ang="T5">
                  <a:pos x="T2" y="T3"/>
                </a:cxn>
              </a:cxnLst>
              <a:rect l="0" t="0" r="r" b="b"/>
              <a:pathLst>
                <a:path w="963" h="654">
                  <a:moveTo>
                    <a:pt x="0" y="0"/>
                  </a:moveTo>
                  <a:lnTo>
                    <a:pt x="963" y="654"/>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58539" name="组合 741408"/>
            <p:cNvGrpSpPr/>
            <p:nvPr/>
          </p:nvGrpSpPr>
          <p:grpSpPr bwMode="auto">
            <a:xfrm>
              <a:off x="3136" y="1003"/>
              <a:ext cx="2822" cy="989"/>
              <a:chOff x="3136" y="1003"/>
              <a:chExt cx="2822" cy="989"/>
            </a:xfrm>
          </p:grpSpPr>
          <p:sp>
            <p:nvSpPr>
              <p:cNvPr id="58540" name="直接连接符 741409"/>
              <p:cNvSpPr>
                <a:spLocks noChangeShapeType="1"/>
              </p:cNvSpPr>
              <p:nvPr/>
            </p:nvSpPr>
            <p:spPr bwMode="auto">
              <a:xfrm flipV="1">
                <a:off x="3369" y="1082"/>
                <a:ext cx="0" cy="835"/>
              </a:xfrm>
              <a:prstGeom prst="line">
                <a:avLst/>
              </a:prstGeom>
              <a:noFill/>
              <a:ln w="3175">
                <a:solidFill>
                  <a:srgbClr val="000000"/>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58541" name="任意多边形 741410"/>
              <p:cNvSpPr>
                <a:spLocks noChangeArrowheads="1"/>
              </p:cNvSpPr>
              <p:nvPr/>
            </p:nvSpPr>
            <p:spPr bwMode="auto">
              <a:xfrm>
                <a:off x="3260" y="1794"/>
                <a:ext cx="2698" cy="0"/>
              </a:xfrm>
              <a:custGeom>
                <a:avLst/>
                <a:gdLst>
                  <a:gd name="T0" fmla="*/ 0 w 3225"/>
                  <a:gd name="T1" fmla="*/ 0 h 1"/>
                  <a:gd name="T2" fmla="*/ 924 w 3225"/>
                  <a:gd name="T3" fmla="*/ 1 h 1"/>
                  <a:gd name="T4" fmla="*/ 0 60000 65536"/>
                  <a:gd name="T5" fmla="*/ 0 60000 65536"/>
                </a:gdLst>
                <a:ahLst/>
                <a:cxnLst>
                  <a:cxn ang="T4">
                    <a:pos x="T0" y="T1"/>
                  </a:cxn>
                  <a:cxn ang="T5">
                    <a:pos x="T2" y="T3"/>
                  </a:cxn>
                </a:cxnLst>
                <a:rect l="0" t="0" r="r" b="b"/>
                <a:pathLst>
                  <a:path w="3225" h="1">
                    <a:moveTo>
                      <a:pt x="0" y="0"/>
                    </a:moveTo>
                    <a:lnTo>
                      <a:pt x="3225" y="1"/>
                    </a:lnTo>
                  </a:path>
                </a:pathLst>
              </a:custGeom>
              <a:noFill/>
              <a:ln w="3175">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42" name="文本框 741411"/>
              <p:cNvSpPr txBox="1">
                <a:spLocks noChangeArrowheads="1"/>
              </p:cNvSpPr>
              <p:nvPr/>
            </p:nvSpPr>
            <p:spPr bwMode="auto">
              <a:xfrm>
                <a:off x="3208" y="1003"/>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800">
                    <a:solidFill>
                      <a:srgbClr val="000000"/>
                    </a:solidFill>
                    <a:latin typeface="Times New Roman" panose="02020603050405020304" pitchFamily="18" charset="0"/>
                  </a:rPr>
                  <a:t>s</a:t>
                </a:r>
                <a:endParaRPr lang="en-US" altLang="zh-CN" sz="1800">
                  <a:solidFill>
                    <a:srgbClr val="000000"/>
                  </a:solidFill>
                  <a:latin typeface="Times New Roman" panose="02020603050405020304" pitchFamily="18" charset="0"/>
                </a:endParaRPr>
              </a:p>
            </p:txBody>
          </p:sp>
          <p:sp>
            <p:nvSpPr>
              <p:cNvPr id="58544" name="文本框 741413"/>
              <p:cNvSpPr txBox="1">
                <a:spLocks noChangeArrowheads="1"/>
              </p:cNvSpPr>
              <p:nvPr/>
            </p:nvSpPr>
            <p:spPr bwMode="auto">
              <a:xfrm>
                <a:off x="3224" y="17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400">
                    <a:latin typeface="Times New Roman" panose="02020603050405020304" pitchFamily="18" charset="0"/>
                  </a:rPr>
                  <a:t>0</a:t>
                </a:r>
                <a:endParaRPr lang="zh-CN" altLang="zh-CN" sz="1400">
                  <a:latin typeface="Times New Roman" panose="02020603050405020304" pitchFamily="18" charset="0"/>
                </a:endParaRPr>
              </a:p>
            </p:txBody>
          </p:sp>
          <p:sp>
            <p:nvSpPr>
              <p:cNvPr id="58545" name="任意多边形 741414"/>
              <p:cNvSpPr>
                <a:spLocks noChangeArrowheads="1"/>
              </p:cNvSpPr>
              <p:nvPr/>
            </p:nvSpPr>
            <p:spPr bwMode="auto">
              <a:xfrm>
                <a:off x="4171" y="1278"/>
                <a:ext cx="1" cy="639"/>
              </a:xfrm>
              <a:custGeom>
                <a:avLst/>
                <a:gdLst>
                  <a:gd name="T0" fmla="*/ 0 w 1"/>
                  <a:gd name="T1" fmla="*/ 0 h 1488"/>
                  <a:gd name="T2" fmla="*/ 0 w 1"/>
                  <a:gd name="T3" fmla="*/ 4 h 1488"/>
                  <a:gd name="T4" fmla="*/ 0 60000 65536"/>
                  <a:gd name="T5" fmla="*/ 0 60000 65536"/>
                </a:gdLst>
                <a:ahLst/>
                <a:cxnLst>
                  <a:cxn ang="T4">
                    <a:pos x="T0" y="T1"/>
                  </a:cxn>
                  <a:cxn ang="T5">
                    <a:pos x="T2" y="T3"/>
                  </a:cxn>
                </a:cxnLst>
                <a:rect l="0" t="0" r="r" b="b"/>
                <a:pathLst>
                  <a:path w="1" h="1488">
                    <a:moveTo>
                      <a:pt x="0" y="0"/>
                    </a:moveTo>
                    <a:lnTo>
                      <a:pt x="0" y="1488"/>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46" name="直接连接符 741415"/>
              <p:cNvSpPr>
                <a:spLocks noChangeShapeType="1"/>
              </p:cNvSpPr>
              <p:nvPr/>
            </p:nvSpPr>
            <p:spPr bwMode="auto">
              <a:xfrm>
                <a:off x="3369" y="1904"/>
                <a:ext cx="80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58547" name="任意多边形 741416"/>
              <p:cNvSpPr>
                <a:spLocks noChangeArrowheads="1"/>
              </p:cNvSpPr>
              <p:nvPr/>
            </p:nvSpPr>
            <p:spPr bwMode="auto">
              <a:xfrm>
                <a:off x="4573" y="1278"/>
                <a:ext cx="1" cy="661"/>
              </a:xfrm>
              <a:custGeom>
                <a:avLst/>
                <a:gdLst>
                  <a:gd name="T0" fmla="*/ 0 w 1"/>
                  <a:gd name="T1" fmla="*/ 0 h 835"/>
                  <a:gd name="T2" fmla="*/ 1 w 1"/>
                  <a:gd name="T3" fmla="*/ 163 h 835"/>
                  <a:gd name="T4" fmla="*/ 0 60000 65536"/>
                  <a:gd name="T5" fmla="*/ 0 60000 65536"/>
                </a:gdLst>
                <a:ahLst/>
                <a:cxnLst>
                  <a:cxn ang="T4">
                    <a:pos x="T0" y="T1"/>
                  </a:cxn>
                  <a:cxn ang="T5">
                    <a:pos x="T2" y="T3"/>
                  </a:cxn>
                </a:cxnLst>
                <a:rect l="0" t="0" r="r" b="b"/>
                <a:pathLst>
                  <a:path w="1" h="835">
                    <a:moveTo>
                      <a:pt x="0" y="0"/>
                    </a:moveTo>
                    <a:lnTo>
                      <a:pt x="1" y="835"/>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48" name="任意多边形 741417"/>
              <p:cNvSpPr>
                <a:spLocks noChangeArrowheads="1"/>
              </p:cNvSpPr>
              <p:nvPr/>
            </p:nvSpPr>
            <p:spPr bwMode="auto">
              <a:xfrm>
                <a:off x="4573" y="1904"/>
                <a:ext cx="638" cy="0"/>
              </a:xfrm>
              <a:custGeom>
                <a:avLst/>
                <a:gdLst>
                  <a:gd name="T0" fmla="*/ 219 w 762"/>
                  <a:gd name="T1" fmla="*/ 1 h 1"/>
                  <a:gd name="T2" fmla="*/ 0 w 762"/>
                  <a:gd name="T3" fmla="*/ 0 h 1"/>
                  <a:gd name="T4" fmla="*/ 0 60000 65536"/>
                  <a:gd name="T5" fmla="*/ 0 60000 65536"/>
                </a:gdLst>
                <a:ahLst/>
                <a:cxnLst>
                  <a:cxn ang="T4">
                    <a:pos x="T0" y="T1"/>
                  </a:cxn>
                  <a:cxn ang="T5">
                    <a:pos x="T2" y="T3"/>
                  </a:cxn>
                </a:cxnLst>
                <a:rect l="0" t="0" r="r" b="b"/>
                <a:pathLst>
                  <a:path w="762" h="1">
                    <a:moveTo>
                      <a:pt x="762" y="1"/>
                    </a:moveTo>
                    <a:lnTo>
                      <a:pt x="0"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49" name="任意多边形 741418"/>
              <p:cNvSpPr>
                <a:spLocks noChangeArrowheads="1"/>
              </p:cNvSpPr>
              <p:nvPr/>
            </p:nvSpPr>
            <p:spPr bwMode="auto">
              <a:xfrm>
                <a:off x="5213" y="1794"/>
                <a:ext cx="1" cy="129"/>
              </a:xfrm>
              <a:custGeom>
                <a:avLst/>
                <a:gdLst>
                  <a:gd name="T0" fmla="*/ 0 w 1"/>
                  <a:gd name="T1" fmla="*/ 0 h 163"/>
                  <a:gd name="T2" fmla="*/ 1 w 1"/>
                  <a:gd name="T3" fmla="*/ 32 h 163"/>
                  <a:gd name="T4" fmla="*/ 0 60000 65536"/>
                  <a:gd name="T5" fmla="*/ 0 60000 65536"/>
                </a:gdLst>
                <a:ahLst/>
                <a:cxnLst>
                  <a:cxn ang="T4">
                    <a:pos x="T0" y="T1"/>
                  </a:cxn>
                  <a:cxn ang="T5">
                    <a:pos x="T2" y="T3"/>
                  </a:cxn>
                </a:cxnLst>
                <a:rect l="0" t="0" r="r" b="b"/>
                <a:pathLst>
                  <a:path w="1" h="163">
                    <a:moveTo>
                      <a:pt x="0" y="0"/>
                    </a:moveTo>
                    <a:lnTo>
                      <a:pt x="1" y="163"/>
                    </a:lnTo>
                  </a:path>
                </a:pathLst>
              </a:custGeom>
              <a:noFill/>
              <a:ln w="317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50" name="直接连接符 741419"/>
              <p:cNvSpPr>
                <a:spLocks noChangeShapeType="1"/>
              </p:cNvSpPr>
              <p:nvPr/>
            </p:nvSpPr>
            <p:spPr bwMode="auto">
              <a:xfrm>
                <a:off x="3275" y="1278"/>
                <a:ext cx="1057" cy="0"/>
              </a:xfrm>
              <a:prstGeom prst="line">
                <a:avLst/>
              </a:prstGeom>
              <a:noFill/>
              <a:ln w="317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en-AU"/>
              </a:p>
            </p:txBody>
          </p:sp>
          <p:sp>
            <p:nvSpPr>
              <p:cNvPr id="58551" name="直接连接符 741420"/>
              <p:cNvSpPr>
                <a:spLocks noChangeShapeType="1"/>
              </p:cNvSpPr>
              <p:nvPr/>
            </p:nvSpPr>
            <p:spPr bwMode="auto">
              <a:xfrm>
                <a:off x="3315" y="1278"/>
                <a:ext cx="0" cy="516"/>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sp>
            <p:nvSpPr>
              <p:cNvPr id="58552" name="文本框 741421"/>
              <p:cNvSpPr txBox="1">
                <a:spLocks noChangeArrowheads="1"/>
              </p:cNvSpPr>
              <p:nvPr/>
            </p:nvSpPr>
            <p:spPr bwMode="auto">
              <a:xfrm rot="-5400000">
                <a:off x="3146" y="141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en-US" altLang="zh-CN" sz="1400">
                    <a:latin typeface="Times New Roman" panose="02020603050405020304" pitchFamily="18" charset="0"/>
                  </a:rPr>
                  <a:t>h</a:t>
                </a:r>
                <a:endParaRPr lang="en-US" altLang="zh-CN" sz="1400">
                  <a:latin typeface="Times New Roman" panose="02020603050405020304" pitchFamily="18" charset="0"/>
                </a:endParaRPr>
              </a:p>
            </p:txBody>
          </p:sp>
          <p:sp>
            <p:nvSpPr>
              <p:cNvPr id="58553" name="任意多边形 741422"/>
              <p:cNvSpPr>
                <a:spLocks noChangeArrowheads="1"/>
              </p:cNvSpPr>
              <p:nvPr/>
            </p:nvSpPr>
            <p:spPr bwMode="auto">
              <a:xfrm>
                <a:off x="3369" y="1277"/>
                <a:ext cx="802" cy="517"/>
              </a:xfrm>
              <a:custGeom>
                <a:avLst/>
                <a:gdLst>
                  <a:gd name="T0" fmla="*/ 0 w 1442"/>
                  <a:gd name="T1" fmla="*/ 3 h 1203"/>
                  <a:gd name="T2" fmla="*/ 2 w 1442"/>
                  <a:gd name="T3" fmla="*/ 3 h 1203"/>
                  <a:gd name="T4" fmla="*/ 4 w 1442"/>
                  <a:gd name="T5" fmla="*/ 3 h 1203"/>
                  <a:gd name="T6" fmla="*/ 6 w 1442"/>
                  <a:gd name="T7" fmla="*/ 3 h 1203"/>
                  <a:gd name="T8" fmla="*/ 8 w 1442"/>
                  <a:gd name="T9" fmla="*/ 3 h 1203"/>
                  <a:gd name="T10" fmla="*/ 10 w 1442"/>
                  <a:gd name="T11" fmla="*/ 2 h 1203"/>
                  <a:gd name="T12" fmla="*/ 12 w 1442"/>
                  <a:gd name="T13" fmla="*/ 2 h 1203"/>
                  <a:gd name="T14" fmla="*/ 14 w 1442"/>
                  <a:gd name="T15" fmla="*/ 1 h 1203"/>
                  <a:gd name="T16" fmla="*/ 16 w 1442"/>
                  <a:gd name="T17" fmla="*/ 0 h 1203"/>
                  <a:gd name="T18" fmla="*/ 18 w 1442"/>
                  <a:gd name="T19" fmla="*/ 0 h 1203"/>
                  <a:gd name="T20" fmla="*/ 20 w 1442"/>
                  <a:gd name="T21" fmla="*/ 0 h 1203"/>
                  <a:gd name="T22" fmla="*/ 22 w 1442"/>
                  <a:gd name="T23" fmla="*/ 0 h 1203"/>
                  <a:gd name="T24" fmla="*/ 24 w 1442"/>
                  <a:gd name="T25" fmla="*/ 0 h 1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2" h="1203">
                    <a:moveTo>
                      <a:pt x="0" y="1202"/>
                    </a:moveTo>
                    <a:cubicBezTo>
                      <a:pt x="20" y="1201"/>
                      <a:pt x="82" y="1203"/>
                      <a:pt x="122" y="1198"/>
                    </a:cubicBezTo>
                    <a:cubicBezTo>
                      <a:pt x="162" y="1193"/>
                      <a:pt x="202" y="1188"/>
                      <a:pt x="242" y="1171"/>
                    </a:cubicBezTo>
                    <a:cubicBezTo>
                      <a:pt x="282" y="1154"/>
                      <a:pt x="322" y="1129"/>
                      <a:pt x="362" y="1097"/>
                    </a:cubicBezTo>
                    <a:cubicBezTo>
                      <a:pt x="402" y="1065"/>
                      <a:pt x="442" y="1027"/>
                      <a:pt x="482" y="977"/>
                    </a:cubicBezTo>
                    <a:cubicBezTo>
                      <a:pt x="522" y="927"/>
                      <a:pt x="562" y="860"/>
                      <a:pt x="602" y="797"/>
                    </a:cubicBezTo>
                    <a:cubicBezTo>
                      <a:pt x="642" y="734"/>
                      <a:pt x="685" y="664"/>
                      <a:pt x="725" y="599"/>
                    </a:cubicBezTo>
                    <a:cubicBezTo>
                      <a:pt x="765" y="534"/>
                      <a:pt x="803" y="465"/>
                      <a:pt x="842" y="404"/>
                    </a:cubicBezTo>
                    <a:cubicBezTo>
                      <a:pt x="881" y="343"/>
                      <a:pt x="922" y="278"/>
                      <a:pt x="962" y="230"/>
                    </a:cubicBezTo>
                    <a:cubicBezTo>
                      <a:pt x="1002" y="182"/>
                      <a:pt x="1042" y="146"/>
                      <a:pt x="1082" y="113"/>
                    </a:cubicBezTo>
                    <a:cubicBezTo>
                      <a:pt x="1122" y="80"/>
                      <a:pt x="1162" y="50"/>
                      <a:pt x="1202" y="32"/>
                    </a:cubicBezTo>
                    <a:cubicBezTo>
                      <a:pt x="1242" y="14"/>
                      <a:pt x="1282" y="10"/>
                      <a:pt x="1322" y="5"/>
                    </a:cubicBezTo>
                    <a:cubicBezTo>
                      <a:pt x="1362" y="0"/>
                      <a:pt x="1417" y="3"/>
                      <a:pt x="1442" y="2"/>
                    </a:cubicBezTo>
                  </a:path>
                </a:pathLst>
              </a:custGeom>
              <a:noFill/>
              <a:ln w="1905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54" name="任意多边形 741423"/>
              <p:cNvSpPr>
                <a:spLocks noChangeArrowheads="1"/>
              </p:cNvSpPr>
              <p:nvPr/>
            </p:nvSpPr>
            <p:spPr bwMode="auto">
              <a:xfrm>
                <a:off x="4171" y="1275"/>
                <a:ext cx="405" cy="1"/>
              </a:xfrm>
              <a:custGeom>
                <a:avLst/>
                <a:gdLst>
                  <a:gd name="T0" fmla="*/ 0 w 483"/>
                  <a:gd name="T1" fmla="*/ 0 h 1"/>
                  <a:gd name="T2" fmla="*/ 141 w 483"/>
                  <a:gd name="T3" fmla="*/ 1 h 1"/>
                  <a:gd name="T4" fmla="*/ 0 60000 65536"/>
                  <a:gd name="T5" fmla="*/ 0 60000 65536"/>
                </a:gdLst>
                <a:ahLst/>
                <a:cxnLst>
                  <a:cxn ang="T4">
                    <a:pos x="T0" y="T1"/>
                  </a:cxn>
                  <a:cxn ang="T5">
                    <a:pos x="T2" y="T3"/>
                  </a:cxn>
                </a:cxnLst>
                <a:rect l="0" t="0" r="r" b="b"/>
                <a:pathLst>
                  <a:path w="483" h="1">
                    <a:moveTo>
                      <a:pt x="0" y="0"/>
                    </a:moveTo>
                    <a:lnTo>
                      <a:pt x="483" y="1"/>
                    </a:lnTo>
                  </a:path>
                </a:pathLst>
              </a:custGeom>
              <a:noFill/>
              <a:ln w="19050">
                <a:solidFill>
                  <a:srgbClr val="FF99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55" name="直接连接符 741424"/>
              <p:cNvSpPr>
                <a:spLocks noChangeShapeType="1"/>
              </p:cNvSpPr>
              <p:nvPr/>
            </p:nvSpPr>
            <p:spPr bwMode="auto">
              <a:xfrm>
                <a:off x="5805" y="1794"/>
                <a:ext cx="0" cy="114"/>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a:lstStyle/>
              <a:p>
                <a:endParaRPr lang="en-AU"/>
              </a:p>
            </p:txBody>
          </p:sp>
          <p:sp>
            <p:nvSpPr>
              <p:cNvPr id="58556" name="任意多边形 741425"/>
              <p:cNvSpPr>
                <a:spLocks noChangeArrowheads="1"/>
              </p:cNvSpPr>
              <p:nvPr/>
            </p:nvSpPr>
            <p:spPr bwMode="auto">
              <a:xfrm>
                <a:off x="4159" y="1904"/>
                <a:ext cx="411" cy="0"/>
              </a:xfrm>
              <a:custGeom>
                <a:avLst/>
                <a:gdLst>
                  <a:gd name="T0" fmla="*/ 0 w 492"/>
                  <a:gd name="T1" fmla="*/ 0 h 1"/>
                  <a:gd name="T2" fmla="*/ 140 w 492"/>
                  <a:gd name="T3" fmla="*/ 0 h 1"/>
                  <a:gd name="T4" fmla="*/ 0 60000 65536"/>
                  <a:gd name="T5" fmla="*/ 0 60000 65536"/>
                </a:gdLst>
                <a:ahLst/>
                <a:cxnLst>
                  <a:cxn ang="T4">
                    <a:pos x="T0" y="T1"/>
                  </a:cxn>
                  <a:cxn ang="T5">
                    <a:pos x="T2" y="T3"/>
                  </a:cxn>
                </a:cxnLst>
                <a:rect l="0" t="0" r="r" b="b"/>
                <a:pathLst>
                  <a:path w="492" h="1">
                    <a:moveTo>
                      <a:pt x="0" y="0"/>
                    </a:moveTo>
                    <a:lnTo>
                      <a:pt x="492" y="0"/>
                    </a:lnTo>
                  </a:path>
                </a:pathLst>
              </a:custGeom>
              <a:noFill/>
              <a:ln w="3175">
                <a:solidFill>
                  <a:schemeClr val="tx1"/>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57" name="直接连接符 741426"/>
              <p:cNvSpPr>
                <a:spLocks noChangeShapeType="1"/>
              </p:cNvSpPr>
              <p:nvPr/>
            </p:nvSpPr>
            <p:spPr bwMode="auto">
              <a:xfrm>
                <a:off x="5213" y="1904"/>
                <a:ext cx="592" cy="0"/>
              </a:xfrm>
              <a:prstGeom prst="line">
                <a:avLst/>
              </a:prstGeom>
              <a:noFill/>
              <a:ln w="317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en-AU"/>
              </a:p>
            </p:txBody>
          </p:sp>
          <p:graphicFrame>
            <p:nvGraphicFramePr>
              <p:cNvPr id="58558" name="对象 741427"/>
              <p:cNvGraphicFramePr/>
              <p:nvPr/>
            </p:nvGraphicFramePr>
            <p:xfrm>
              <a:off x="3672" y="1823"/>
              <a:ext cx="345" cy="153"/>
            </p:xfrm>
            <a:graphic>
              <a:graphicData uri="http://schemas.openxmlformats.org/presentationml/2006/ole">
                <mc:AlternateContent xmlns:mc="http://schemas.openxmlformats.org/markup-compatibility/2006">
                  <mc:Choice xmlns:v="urn:schemas-microsoft-com:vml" Requires="v">
                    <p:oleObj spid="_x0000_s103082" name="" r:id="rId1" imgW="316865" imgH="177800" progId="Equation.3">
                      <p:embed/>
                    </p:oleObj>
                  </mc:Choice>
                  <mc:Fallback>
                    <p:oleObj name="" r:id="rId1" imgW="316865" imgH="177800" progId="Equation.3">
                      <p:embed/>
                      <p:pic>
                        <p:nvPicPr>
                          <p:cNvPr id="0" name="对象 7414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2" y="1823"/>
                            <a:ext cx="34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559" name="对象 741428"/>
              <p:cNvGraphicFramePr/>
              <p:nvPr/>
            </p:nvGraphicFramePr>
            <p:xfrm>
              <a:off x="4264" y="1811"/>
              <a:ext cx="252" cy="179"/>
            </p:xfrm>
            <a:graphic>
              <a:graphicData uri="http://schemas.openxmlformats.org/presentationml/2006/ole">
                <mc:AlternateContent xmlns:mc="http://schemas.openxmlformats.org/markup-compatibility/2006">
                  <mc:Choice xmlns:v="urn:schemas-microsoft-com:vml" Requires="v">
                    <p:oleObj spid="_x0000_s103083" name="" r:id="rId3" imgW="254000" imgH="203200" progId="Equation.3">
                      <p:embed/>
                    </p:oleObj>
                  </mc:Choice>
                  <mc:Fallback>
                    <p:oleObj name="" r:id="rId3" imgW="254000" imgH="203200" progId="Equation.3">
                      <p:embed/>
                      <p:pic>
                        <p:nvPicPr>
                          <p:cNvPr id="0" name="对象 7414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4" y="1811"/>
                            <a:ext cx="25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560" name="对象 741429"/>
              <p:cNvGraphicFramePr/>
              <p:nvPr/>
            </p:nvGraphicFramePr>
            <p:xfrm>
              <a:off x="4835" y="1829"/>
              <a:ext cx="242" cy="161"/>
            </p:xfrm>
            <a:graphic>
              <a:graphicData uri="http://schemas.openxmlformats.org/presentationml/2006/ole">
                <mc:AlternateContent xmlns:mc="http://schemas.openxmlformats.org/markup-compatibility/2006">
                  <mc:Choice xmlns:v="urn:schemas-microsoft-com:vml" Requires="v">
                    <p:oleObj spid="_x0000_s103084" name="" r:id="rId5" imgW="241300" imgH="203200" progId="Equation.3">
                      <p:embed/>
                    </p:oleObj>
                  </mc:Choice>
                  <mc:Fallback>
                    <p:oleObj name="" r:id="rId5" imgW="241300" imgH="203200" progId="Equation.3">
                      <p:embed/>
                      <p:pic>
                        <p:nvPicPr>
                          <p:cNvPr id="0" name="对象 7414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5" y="1829"/>
                            <a:ext cx="242"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561" name="对象 741430"/>
              <p:cNvGraphicFramePr/>
              <p:nvPr/>
            </p:nvGraphicFramePr>
            <p:xfrm>
              <a:off x="5444" y="1822"/>
              <a:ext cx="254" cy="170"/>
            </p:xfrm>
            <a:graphic>
              <a:graphicData uri="http://schemas.openxmlformats.org/presentationml/2006/ole">
                <mc:AlternateContent xmlns:mc="http://schemas.openxmlformats.org/markup-compatibility/2006">
                  <mc:Choice xmlns:v="urn:schemas-microsoft-com:vml" Requires="v">
                    <p:oleObj spid="_x0000_s103085" name="公式" r:id="rId7" imgW="5791200" imgH="4876800" progId="Equation.3">
                      <p:embed/>
                    </p:oleObj>
                  </mc:Choice>
                  <mc:Fallback>
                    <p:oleObj name="公式" r:id="rId7" imgW="5791200" imgH="4876800" progId="Equation.3">
                      <p:embed/>
                      <p:pic>
                        <p:nvPicPr>
                          <p:cNvPr id="0" name="对象 741430"/>
                          <p:cNvPicPr>
                            <a:picLocks noChangeArrowheads="1"/>
                          </p:cNvPicPr>
                          <p:nvPr/>
                        </p:nvPicPr>
                        <p:blipFill>
                          <a:blip r:embed="rId8"/>
                          <a:srcRect/>
                          <a:stretch>
                            <a:fillRect/>
                          </a:stretch>
                        </p:blipFill>
                        <p:spPr bwMode="auto">
                          <a:xfrm>
                            <a:off x="5444" y="1822"/>
                            <a:ext cx="25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562" name="任意多边形 741431"/>
              <p:cNvSpPr>
                <a:spLocks noChangeArrowheads="1"/>
              </p:cNvSpPr>
              <p:nvPr/>
            </p:nvSpPr>
            <p:spPr bwMode="auto">
              <a:xfrm>
                <a:off x="5213" y="1797"/>
                <a:ext cx="592" cy="0"/>
              </a:xfrm>
              <a:custGeom>
                <a:avLst/>
                <a:gdLst>
                  <a:gd name="T0" fmla="*/ 0 w 708"/>
                  <a:gd name="T1" fmla="*/ 0 h 1"/>
                  <a:gd name="T2" fmla="*/ 202 w 708"/>
                  <a:gd name="T3" fmla="*/ 1 h 1"/>
                  <a:gd name="T4" fmla="*/ 0 60000 65536"/>
                  <a:gd name="T5" fmla="*/ 0 60000 65536"/>
                </a:gdLst>
                <a:ahLst/>
                <a:cxnLst>
                  <a:cxn ang="T4">
                    <a:pos x="T0" y="T1"/>
                  </a:cxn>
                  <a:cxn ang="T5">
                    <a:pos x="T2" y="T3"/>
                  </a:cxn>
                </a:cxnLst>
                <a:rect l="0" t="0" r="r" b="b"/>
                <a:pathLst>
                  <a:path w="708" h="1">
                    <a:moveTo>
                      <a:pt x="0" y="0"/>
                    </a:moveTo>
                    <a:lnTo>
                      <a:pt x="708" y="1"/>
                    </a:ln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sp>
        <p:nvSpPr>
          <p:cNvPr id="741433" name="直接连接符 741432"/>
          <p:cNvSpPr>
            <a:spLocks noChangeShapeType="1"/>
          </p:cNvSpPr>
          <p:nvPr/>
        </p:nvSpPr>
        <p:spPr bwMode="auto">
          <a:xfrm rot="194254">
            <a:off x="8644642" y="4738813"/>
            <a:ext cx="1733550" cy="60960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34" name="直接连接符 741433"/>
          <p:cNvSpPr>
            <a:spLocks noChangeShapeType="1"/>
          </p:cNvSpPr>
          <p:nvPr/>
        </p:nvSpPr>
        <p:spPr bwMode="auto">
          <a:xfrm rot="20357694">
            <a:off x="8724017" y="4389563"/>
            <a:ext cx="1733550" cy="6096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35" name="直接连接符 741434"/>
          <p:cNvSpPr>
            <a:spLocks noChangeShapeType="1"/>
          </p:cNvSpPr>
          <p:nvPr/>
        </p:nvSpPr>
        <p:spPr bwMode="auto">
          <a:xfrm rot="21327787">
            <a:off x="8687504" y="4629276"/>
            <a:ext cx="1733550" cy="6096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36" name="直接连接符 741435"/>
          <p:cNvSpPr>
            <a:spLocks noChangeShapeType="1"/>
          </p:cNvSpPr>
          <p:nvPr/>
        </p:nvSpPr>
        <p:spPr bwMode="auto">
          <a:xfrm rot="20854584">
            <a:off x="8714492" y="4514976"/>
            <a:ext cx="1733550" cy="6096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37" name="直接连接符 741436"/>
          <p:cNvSpPr>
            <a:spLocks noChangeShapeType="1"/>
          </p:cNvSpPr>
          <p:nvPr/>
        </p:nvSpPr>
        <p:spPr bwMode="auto">
          <a:xfrm rot="19720172">
            <a:off x="8697029" y="4208588"/>
            <a:ext cx="1739900" cy="636588"/>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38" name="直接连接符 741437"/>
          <p:cNvSpPr>
            <a:spLocks noChangeShapeType="1"/>
          </p:cNvSpPr>
          <p:nvPr/>
        </p:nvSpPr>
        <p:spPr bwMode="auto">
          <a:xfrm rot="18651080">
            <a:off x="8681154" y="3956176"/>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39" name="直接连接符 741438"/>
          <p:cNvSpPr>
            <a:spLocks noChangeShapeType="1"/>
          </p:cNvSpPr>
          <p:nvPr/>
        </p:nvSpPr>
        <p:spPr bwMode="auto">
          <a:xfrm rot="19210542">
            <a:off x="8662104" y="4080001"/>
            <a:ext cx="1733550" cy="64135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0" name="直接连接符 741439"/>
          <p:cNvSpPr>
            <a:spLocks noChangeShapeType="1"/>
          </p:cNvSpPr>
          <p:nvPr/>
        </p:nvSpPr>
        <p:spPr bwMode="auto">
          <a:xfrm rot="18070452">
            <a:off x="8593842" y="3833938"/>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1" name="直接连接符 741440"/>
          <p:cNvSpPr>
            <a:spLocks noChangeShapeType="1"/>
          </p:cNvSpPr>
          <p:nvPr/>
        </p:nvSpPr>
        <p:spPr bwMode="auto">
          <a:xfrm rot="16846435">
            <a:off x="8350954" y="3633913"/>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2" name="直接连接符 741441"/>
          <p:cNvSpPr>
            <a:spLocks noChangeShapeType="1"/>
          </p:cNvSpPr>
          <p:nvPr/>
        </p:nvSpPr>
        <p:spPr bwMode="auto">
          <a:xfrm rot="15576713">
            <a:off x="8031867" y="3521201"/>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3" name="直接连接符 741442"/>
          <p:cNvSpPr>
            <a:spLocks noChangeShapeType="1"/>
          </p:cNvSpPr>
          <p:nvPr/>
        </p:nvSpPr>
        <p:spPr bwMode="auto">
          <a:xfrm rot="16200000">
            <a:off x="8193792" y="3562476"/>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4" name="直接连接符 741443"/>
          <p:cNvSpPr>
            <a:spLocks noChangeShapeType="1"/>
          </p:cNvSpPr>
          <p:nvPr/>
        </p:nvSpPr>
        <p:spPr bwMode="auto">
          <a:xfrm rot="17457068">
            <a:off x="8482717" y="3724401"/>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5" name="直接连接符 741444"/>
          <p:cNvSpPr>
            <a:spLocks noChangeShapeType="1"/>
          </p:cNvSpPr>
          <p:nvPr/>
        </p:nvSpPr>
        <p:spPr bwMode="auto">
          <a:xfrm rot="7780787">
            <a:off x="7060317" y="4783263"/>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6" name="直接连接符 741445"/>
          <p:cNvSpPr>
            <a:spLocks noChangeShapeType="1"/>
          </p:cNvSpPr>
          <p:nvPr/>
        </p:nvSpPr>
        <p:spPr bwMode="auto">
          <a:xfrm rot="8929401">
            <a:off x="6896804" y="4543552"/>
            <a:ext cx="1708150" cy="649287"/>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7" name="直接连接符 741446"/>
          <p:cNvSpPr>
            <a:spLocks noChangeShapeType="1"/>
          </p:cNvSpPr>
          <p:nvPr/>
        </p:nvSpPr>
        <p:spPr bwMode="auto">
          <a:xfrm rot="8354418">
            <a:off x="6944429" y="4688014"/>
            <a:ext cx="1695450" cy="652463"/>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8" name="直接连接符 741447"/>
          <p:cNvSpPr>
            <a:spLocks noChangeShapeType="1"/>
          </p:cNvSpPr>
          <p:nvPr/>
        </p:nvSpPr>
        <p:spPr bwMode="auto">
          <a:xfrm rot="7252647">
            <a:off x="7139692" y="4892801"/>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49" name="直接连接符 741448"/>
          <p:cNvSpPr>
            <a:spLocks noChangeShapeType="1"/>
          </p:cNvSpPr>
          <p:nvPr/>
        </p:nvSpPr>
        <p:spPr bwMode="auto">
          <a:xfrm rot="5975386">
            <a:off x="7396867" y="5100763"/>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50" name="直接连接符 741449"/>
          <p:cNvSpPr>
            <a:spLocks noChangeShapeType="1"/>
          </p:cNvSpPr>
          <p:nvPr/>
        </p:nvSpPr>
        <p:spPr bwMode="auto">
          <a:xfrm rot="4742410">
            <a:off x="7704842" y="5207126"/>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51" name="直接连接符 741450"/>
          <p:cNvSpPr>
            <a:spLocks noChangeShapeType="1"/>
          </p:cNvSpPr>
          <p:nvPr/>
        </p:nvSpPr>
        <p:spPr bwMode="auto">
          <a:xfrm rot="5365399">
            <a:off x="7542917" y="5165851"/>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52" name="直接连接符 741451"/>
          <p:cNvSpPr>
            <a:spLocks noChangeShapeType="1"/>
          </p:cNvSpPr>
          <p:nvPr/>
        </p:nvSpPr>
        <p:spPr bwMode="auto">
          <a:xfrm rot="6604870">
            <a:off x="7258754" y="5008688"/>
            <a:ext cx="1600200" cy="660400"/>
          </a:xfrm>
          <a:prstGeom prst="line">
            <a:avLst/>
          </a:prstGeom>
          <a:noFill/>
          <a:ln w="3175">
            <a:solidFill>
              <a:schemeClr val="tx1"/>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53" name="直接连接符 741452"/>
          <p:cNvSpPr>
            <a:spLocks noChangeShapeType="1"/>
          </p:cNvSpPr>
          <p:nvPr/>
        </p:nvSpPr>
        <p:spPr bwMode="auto">
          <a:xfrm rot="9548484">
            <a:off x="6871405" y="4373689"/>
            <a:ext cx="1719263" cy="64611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square"/>
          <a:lstStyle/>
          <a:p>
            <a:endParaRPr lang="en-AU"/>
          </a:p>
        </p:txBody>
      </p:sp>
      <p:sp>
        <p:nvSpPr>
          <p:cNvPr id="741454" name="任意多边形 741453"/>
          <p:cNvSpPr>
            <a:spLocks noChangeArrowheads="1"/>
          </p:cNvSpPr>
          <p:nvPr/>
        </p:nvSpPr>
        <p:spPr bwMode="auto">
          <a:xfrm>
            <a:off x="8665279" y="4689601"/>
            <a:ext cx="1588" cy="1719262"/>
          </a:xfrm>
          <a:custGeom>
            <a:avLst/>
            <a:gdLst>
              <a:gd name="T0" fmla="*/ 0 w 1"/>
              <a:gd name="T1" fmla="*/ 0 h 1083"/>
              <a:gd name="T2" fmla="*/ 0 w 1"/>
              <a:gd name="T3" fmla="*/ 2147483646 h 1083"/>
              <a:gd name="T4" fmla="*/ 0 60000 65536"/>
              <a:gd name="T5" fmla="*/ 0 60000 65536"/>
            </a:gdLst>
            <a:ahLst/>
            <a:cxnLst>
              <a:cxn ang="T4">
                <a:pos x="T0" y="T1"/>
              </a:cxn>
              <a:cxn ang="T5">
                <a:pos x="T2" y="T3"/>
              </a:cxn>
            </a:cxnLst>
            <a:rect l="0" t="0" r="r" b="b"/>
            <a:pathLst>
              <a:path w="1" h="1083">
                <a:moveTo>
                  <a:pt x="0" y="0"/>
                </a:moveTo>
                <a:lnTo>
                  <a:pt x="0" y="1083"/>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1455" name="组合 741454"/>
          <p:cNvGrpSpPr/>
          <p:nvPr/>
        </p:nvGrpSpPr>
        <p:grpSpPr bwMode="auto">
          <a:xfrm rot="1919138">
            <a:off x="9138354" y="3914902"/>
            <a:ext cx="46038" cy="71437"/>
            <a:chOff x="4204" y="1999"/>
            <a:chExt cx="27" cy="45"/>
          </a:xfrm>
        </p:grpSpPr>
        <p:sp>
          <p:nvSpPr>
            <p:cNvPr id="58536" name="任意多边形 741455"/>
            <p:cNvSpPr>
              <a:spLocks noChangeArrowheads="1"/>
            </p:cNvSpPr>
            <p:nvPr/>
          </p:nvSpPr>
          <p:spPr bwMode="auto">
            <a:xfrm>
              <a:off x="4216" y="1999"/>
              <a:ext cx="1" cy="45"/>
            </a:xfrm>
            <a:custGeom>
              <a:avLst/>
              <a:gdLst>
                <a:gd name="T0" fmla="*/ 0 w 1"/>
                <a:gd name="T1" fmla="*/ 10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37" name="任意多边形 741456"/>
            <p:cNvSpPr>
              <a:spLocks noChangeArrowheads="1"/>
            </p:cNvSpPr>
            <p:nvPr/>
          </p:nvSpPr>
          <p:spPr bwMode="auto">
            <a:xfrm>
              <a:off x="4204" y="2000"/>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58" name="组合 741457"/>
          <p:cNvGrpSpPr/>
          <p:nvPr/>
        </p:nvGrpSpPr>
        <p:grpSpPr bwMode="auto">
          <a:xfrm rot="2556159">
            <a:off x="9300279" y="3935539"/>
            <a:ext cx="46038" cy="150813"/>
            <a:chOff x="4276" y="2001"/>
            <a:chExt cx="27" cy="95"/>
          </a:xfrm>
        </p:grpSpPr>
        <p:sp>
          <p:nvSpPr>
            <p:cNvPr id="58534" name="任意多边形 741458"/>
            <p:cNvSpPr>
              <a:spLocks noChangeArrowheads="1"/>
            </p:cNvSpPr>
            <p:nvPr/>
          </p:nvSpPr>
          <p:spPr bwMode="auto">
            <a:xfrm>
              <a:off x="4290" y="2001"/>
              <a:ext cx="0" cy="95"/>
            </a:xfrm>
            <a:custGeom>
              <a:avLst/>
              <a:gdLst>
                <a:gd name="T0" fmla="*/ 0 w 1"/>
                <a:gd name="T1" fmla="*/ 23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35" name="任意多边形 741459"/>
            <p:cNvSpPr>
              <a:spLocks noChangeArrowheads="1"/>
            </p:cNvSpPr>
            <p:nvPr/>
          </p:nvSpPr>
          <p:spPr bwMode="auto">
            <a:xfrm>
              <a:off x="4276" y="200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61" name="组合 741460"/>
          <p:cNvGrpSpPr/>
          <p:nvPr/>
        </p:nvGrpSpPr>
        <p:grpSpPr bwMode="auto">
          <a:xfrm rot="3121337">
            <a:off x="9473318" y="3943477"/>
            <a:ext cx="41275" cy="295275"/>
            <a:chOff x="4338" y="1994"/>
            <a:chExt cx="27" cy="172"/>
          </a:xfrm>
        </p:grpSpPr>
        <p:sp>
          <p:nvSpPr>
            <p:cNvPr id="58532" name="任意多边形 741461"/>
            <p:cNvSpPr>
              <a:spLocks noChangeArrowheads="1"/>
            </p:cNvSpPr>
            <p:nvPr/>
          </p:nvSpPr>
          <p:spPr bwMode="auto">
            <a:xfrm>
              <a:off x="4351" y="1994"/>
              <a:ext cx="0" cy="172"/>
            </a:xfrm>
            <a:custGeom>
              <a:avLst/>
              <a:gdLst>
                <a:gd name="T0" fmla="*/ 0 w 1"/>
                <a:gd name="T1" fmla="*/ 41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33" name="任意多边形 741462"/>
            <p:cNvSpPr>
              <a:spLocks noChangeArrowheads="1"/>
            </p:cNvSpPr>
            <p:nvPr/>
          </p:nvSpPr>
          <p:spPr bwMode="auto">
            <a:xfrm>
              <a:off x="4338" y="1994"/>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64" name="组合 741463"/>
          <p:cNvGrpSpPr/>
          <p:nvPr/>
        </p:nvGrpSpPr>
        <p:grpSpPr bwMode="auto">
          <a:xfrm rot="3708831">
            <a:off x="9635242" y="3975226"/>
            <a:ext cx="44450" cy="444500"/>
            <a:chOff x="4390" y="1986"/>
            <a:chExt cx="27" cy="258"/>
          </a:xfrm>
        </p:grpSpPr>
        <p:sp>
          <p:nvSpPr>
            <p:cNvPr id="58530" name="任意多边形 741464"/>
            <p:cNvSpPr>
              <a:spLocks noChangeArrowheads="1"/>
            </p:cNvSpPr>
            <p:nvPr/>
          </p:nvSpPr>
          <p:spPr bwMode="auto">
            <a:xfrm>
              <a:off x="4403" y="1986"/>
              <a:ext cx="1" cy="258"/>
            </a:xfrm>
            <a:custGeom>
              <a:avLst/>
              <a:gdLst>
                <a:gd name="T0" fmla="*/ 0 w 1"/>
                <a:gd name="T1" fmla="*/ 63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31" name="任意多边形 741465"/>
            <p:cNvSpPr>
              <a:spLocks noChangeArrowheads="1"/>
            </p:cNvSpPr>
            <p:nvPr/>
          </p:nvSpPr>
          <p:spPr bwMode="auto">
            <a:xfrm>
              <a:off x="4390" y="1988"/>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67" name="组合 741466"/>
          <p:cNvGrpSpPr/>
          <p:nvPr/>
        </p:nvGrpSpPr>
        <p:grpSpPr bwMode="auto">
          <a:xfrm rot="4206916">
            <a:off x="9774942" y="4021264"/>
            <a:ext cx="42863" cy="588962"/>
            <a:chOff x="4426" y="1980"/>
            <a:chExt cx="27" cy="343"/>
          </a:xfrm>
        </p:grpSpPr>
        <p:sp>
          <p:nvSpPr>
            <p:cNvPr id="58528" name="任意多边形 741467"/>
            <p:cNvSpPr>
              <a:spLocks noChangeArrowheads="1"/>
            </p:cNvSpPr>
            <p:nvPr/>
          </p:nvSpPr>
          <p:spPr bwMode="auto">
            <a:xfrm>
              <a:off x="4440" y="1980"/>
              <a:ext cx="1" cy="343"/>
            </a:xfrm>
            <a:custGeom>
              <a:avLst/>
              <a:gdLst>
                <a:gd name="T0" fmla="*/ 0 w 1"/>
                <a:gd name="T1" fmla="*/ 85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29" name="任意多边形 741468"/>
            <p:cNvSpPr>
              <a:spLocks noChangeArrowheads="1"/>
            </p:cNvSpPr>
            <p:nvPr/>
          </p:nvSpPr>
          <p:spPr bwMode="auto">
            <a:xfrm>
              <a:off x="4426" y="1980"/>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70" name="组合 741469"/>
          <p:cNvGrpSpPr/>
          <p:nvPr/>
        </p:nvGrpSpPr>
        <p:grpSpPr bwMode="auto">
          <a:xfrm rot="4688895">
            <a:off x="9882892" y="4111751"/>
            <a:ext cx="42862" cy="715962"/>
            <a:chOff x="4444" y="1980"/>
            <a:chExt cx="27" cy="416"/>
          </a:xfrm>
        </p:grpSpPr>
        <p:sp>
          <p:nvSpPr>
            <p:cNvPr id="58526" name="任意多边形 741470"/>
            <p:cNvSpPr>
              <a:spLocks noChangeArrowheads="1"/>
            </p:cNvSpPr>
            <p:nvPr/>
          </p:nvSpPr>
          <p:spPr bwMode="auto">
            <a:xfrm>
              <a:off x="4455" y="1980"/>
              <a:ext cx="1" cy="416"/>
            </a:xfrm>
            <a:custGeom>
              <a:avLst/>
              <a:gdLst>
                <a:gd name="T0" fmla="*/ 0 w 1"/>
                <a:gd name="T1" fmla="*/ 102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27" name="任意多边形 741471"/>
            <p:cNvSpPr>
              <a:spLocks noChangeArrowheads="1"/>
            </p:cNvSpPr>
            <p:nvPr/>
          </p:nvSpPr>
          <p:spPr bwMode="auto">
            <a:xfrm>
              <a:off x="4444" y="198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73" name="组合 741472"/>
          <p:cNvGrpSpPr/>
          <p:nvPr/>
        </p:nvGrpSpPr>
        <p:grpSpPr bwMode="auto">
          <a:xfrm rot="5400000">
            <a:off x="9957505" y="4284789"/>
            <a:ext cx="42862" cy="808037"/>
            <a:chOff x="4452" y="2026"/>
            <a:chExt cx="27" cy="470"/>
          </a:xfrm>
        </p:grpSpPr>
        <p:sp>
          <p:nvSpPr>
            <p:cNvPr id="58524" name="任意多边形 741473"/>
            <p:cNvSpPr>
              <a:spLocks noChangeArrowheads="1"/>
            </p:cNvSpPr>
            <p:nvPr/>
          </p:nvSpPr>
          <p:spPr bwMode="auto">
            <a:xfrm>
              <a:off x="4464" y="2027"/>
              <a:ext cx="1" cy="469"/>
            </a:xfrm>
            <a:custGeom>
              <a:avLst/>
              <a:gdLst>
                <a:gd name="T0" fmla="*/ 0 w 1"/>
                <a:gd name="T1" fmla="*/ 115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25" name="任意多边形 741474"/>
            <p:cNvSpPr>
              <a:spLocks noChangeArrowheads="1"/>
            </p:cNvSpPr>
            <p:nvPr/>
          </p:nvSpPr>
          <p:spPr bwMode="auto">
            <a:xfrm>
              <a:off x="4452" y="2026"/>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76" name="组合 741475"/>
          <p:cNvGrpSpPr/>
          <p:nvPr/>
        </p:nvGrpSpPr>
        <p:grpSpPr bwMode="auto">
          <a:xfrm rot="5815621">
            <a:off x="9968617" y="4446713"/>
            <a:ext cx="42862" cy="865188"/>
            <a:chOff x="4448" y="2071"/>
            <a:chExt cx="27" cy="503"/>
          </a:xfrm>
        </p:grpSpPr>
        <p:sp>
          <p:nvSpPr>
            <p:cNvPr id="58522" name="任意多边形 741476"/>
            <p:cNvSpPr>
              <a:spLocks noChangeArrowheads="1"/>
            </p:cNvSpPr>
            <p:nvPr/>
          </p:nvSpPr>
          <p:spPr bwMode="auto">
            <a:xfrm>
              <a:off x="4458" y="2071"/>
              <a:ext cx="0" cy="503"/>
            </a:xfrm>
            <a:custGeom>
              <a:avLst/>
              <a:gdLst>
                <a:gd name="T0" fmla="*/ 0 w 1"/>
                <a:gd name="T1" fmla="*/ 124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23" name="任意多边形 741477"/>
            <p:cNvSpPr>
              <a:spLocks noChangeArrowheads="1"/>
            </p:cNvSpPr>
            <p:nvPr/>
          </p:nvSpPr>
          <p:spPr bwMode="auto">
            <a:xfrm>
              <a:off x="4448" y="207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79" name="组合 741478"/>
          <p:cNvGrpSpPr/>
          <p:nvPr/>
        </p:nvGrpSpPr>
        <p:grpSpPr bwMode="auto">
          <a:xfrm rot="6314475">
            <a:off x="9936868" y="4603877"/>
            <a:ext cx="41275" cy="885825"/>
            <a:chOff x="4432" y="2128"/>
            <a:chExt cx="27" cy="515"/>
          </a:xfrm>
        </p:grpSpPr>
        <p:sp>
          <p:nvSpPr>
            <p:cNvPr id="58520" name="任意多边形 741479"/>
            <p:cNvSpPr>
              <a:spLocks noChangeArrowheads="1"/>
            </p:cNvSpPr>
            <p:nvPr/>
          </p:nvSpPr>
          <p:spPr bwMode="auto">
            <a:xfrm>
              <a:off x="4443" y="2130"/>
              <a:ext cx="1" cy="513"/>
            </a:xfrm>
            <a:custGeom>
              <a:avLst/>
              <a:gdLst>
                <a:gd name="T0" fmla="*/ 0 w 1"/>
                <a:gd name="T1" fmla="*/ 0 h 648"/>
                <a:gd name="T2" fmla="*/ 0 w 1"/>
                <a:gd name="T3" fmla="*/ 12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21" name="任意多边形 741480"/>
            <p:cNvSpPr>
              <a:spLocks noChangeArrowheads="1"/>
            </p:cNvSpPr>
            <p:nvPr/>
          </p:nvSpPr>
          <p:spPr bwMode="auto">
            <a:xfrm>
              <a:off x="4432" y="2128"/>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82" name="组合 741481"/>
          <p:cNvGrpSpPr/>
          <p:nvPr/>
        </p:nvGrpSpPr>
        <p:grpSpPr bwMode="auto">
          <a:xfrm rot="1353850">
            <a:off x="8970079" y="3887914"/>
            <a:ext cx="46038" cy="22225"/>
            <a:chOff x="4111" y="1982"/>
            <a:chExt cx="27" cy="14"/>
          </a:xfrm>
        </p:grpSpPr>
        <p:sp>
          <p:nvSpPr>
            <p:cNvPr id="58518" name="任意多边形 741482"/>
            <p:cNvSpPr>
              <a:spLocks noChangeArrowheads="1"/>
            </p:cNvSpPr>
            <p:nvPr/>
          </p:nvSpPr>
          <p:spPr bwMode="auto">
            <a:xfrm>
              <a:off x="4124" y="1982"/>
              <a:ext cx="1" cy="14"/>
            </a:xfrm>
            <a:custGeom>
              <a:avLst/>
              <a:gdLst>
                <a:gd name="T0" fmla="*/ 0 w 1"/>
                <a:gd name="T1" fmla="*/ 5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19050">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19" name="任意多边形 741483"/>
            <p:cNvSpPr>
              <a:spLocks noChangeArrowheads="1"/>
            </p:cNvSpPr>
            <p:nvPr/>
          </p:nvSpPr>
          <p:spPr bwMode="auto">
            <a:xfrm>
              <a:off x="4111" y="1982"/>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85" name="组合 741484"/>
          <p:cNvGrpSpPr/>
          <p:nvPr/>
        </p:nvGrpSpPr>
        <p:grpSpPr bwMode="auto">
          <a:xfrm rot="6780769">
            <a:off x="9879717" y="4759451"/>
            <a:ext cx="42862" cy="893762"/>
            <a:chOff x="4404" y="2191"/>
            <a:chExt cx="27" cy="519"/>
          </a:xfrm>
        </p:grpSpPr>
        <p:sp>
          <p:nvSpPr>
            <p:cNvPr id="58516" name="任意多边形 741485"/>
            <p:cNvSpPr>
              <a:spLocks noChangeArrowheads="1"/>
            </p:cNvSpPr>
            <p:nvPr/>
          </p:nvSpPr>
          <p:spPr bwMode="auto">
            <a:xfrm rot="2716">
              <a:off x="4416" y="2191"/>
              <a:ext cx="1" cy="519"/>
            </a:xfrm>
            <a:custGeom>
              <a:avLst/>
              <a:gdLst>
                <a:gd name="T0" fmla="*/ 0 w 1"/>
                <a:gd name="T1" fmla="*/ 0 h 519"/>
                <a:gd name="T2" fmla="*/ 0 w 1"/>
                <a:gd name="T3" fmla="*/ 519 h 519"/>
                <a:gd name="T4" fmla="*/ 0 60000 65536"/>
                <a:gd name="T5" fmla="*/ 0 60000 65536"/>
              </a:gdLst>
              <a:ahLst/>
              <a:cxnLst>
                <a:cxn ang="T4">
                  <a:pos x="T0" y="T1"/>
                </a:cxn>
                <a:cxn ang="T5">
                  <a:pos x="T2" y="T3"/>
                </a:cxn>
              </a:cxnLst>
              <a:rect l="0" t="0" r="r" b="b"/>
              <a:pathLst>
                <a:path w="1" h="519">
                  <a:moveTo>
                    <a:pt x="0" y="0"/>
                  </a:moveTo>
                  <a:lnTo>
                    <a:pt x="0" y="519"/>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17" name="任意多边形 741486"/>
            <p:cNvSpPr>
              <a:spLocks noChangeArrowheads="1"/>
            </p:cNvSpPr>
            <p:nvPr/>
          </p:nvSpPr>
          <p:spPr bwMode="auto">
            <a:xfrm rot="-19137">
              <a:off x="4404" y="2191"/>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741488" name="组合 741487"/>
          <p:cNvGrpSpPr/>
          <p:nvPr/>
        </p:nvGrpSpPr>
        <p:grpSpPr bwMode="auto">
          <a:xfrm rot="678208">
            <a:off x="8401754" y="5515101"/>
            <a:ext cx="82550" cy="730250"/>
            <a:chOff x="4200" y="2996"/>
            <a:chExt cx="48" cy="460"/>
          </a:xfrm>
        </p:grpSpPr>
        <p:sp>
          <p:nvSpPr>
            <p:cNvPr id="58514" name="任意多边形 741488"/>
            <p:cNvSpPr>
              <a:spLocks noChangeArrowheads="1"/>
            </p:cNvSpPr>
            <p:nvPr/>
          </p:nvSpPr>
          <p:spPr bwMode="auto">
            <a:xfrm>
              <a:off x="4224" y="2996"/>
              <a:ext cx="1" cy="460"/>
            </a:xfrm>
            <a:custGeom>
              <a:avLst/>
              <a:gdLst>
                <a:gd name="T0" fmla="*/ 0 w 1"/>
                <a:gd name="T1" fmla="*/ 0 h 460"/>
                <a:gd name="T2" fmla="*/ 0 w 1"/>
                <a:gd name="T3" fmla="*/ 460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15" name="直接连接符 741489"/>
            <p:cNvSpPr>
              <a:spLocks noChangeShapeType="1"/>
            </p:cNvSpPr>
            <p:nvPr/>
          </p:nvSpPr>
          <p:spPr bwMode="auto">
            <a:xfrm>
              <a:off x="4200" y="3456"/>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491" name="组合 741490"/>
          <p:cNvGrpSpPr/>
          <p:nvPr/>
        </p:nvGrpSpPr>
        <p:grpSpPr bwMode="auto">
          <a:xfrm rot="1296887">
            <a:off x="8190617" y="5462713"/>
            <a:ext cx="82550" cy="636588"/>
            <a:chOff x="4264" y="3053"/>
            <a:chExt cx="48" cy="401"/>
          </a:xfrm>
        </p:grpSpPr>
        <p:sp>
          <p:nvSpPr>
            <p:cNvPr id="58512" name="任意多边形 741491"/>
            <p:cNvSpPr>
              <a:spLocks noChangeArrowheads="1"/>
            </p:cNvSpPr>
            <p:nvPr/>
          </p:nvSpPr>
          <p:spPr bwMode="auto">
            <a:xfrm>
              <a:off x="4287" y="3053"/>
              <a:ext cx="1" cy="401"/>
            </a:xfrm>
            <a:custGeom>
              <a:avLst/>
              <a:gdLst>
                <a:gd name="T0" fmla="*/ 0 w 1"/>
                <a:gd name="T1" fmla="*/ 0 h 401"/>
                <a:gd name="T2" fmla="*/ 1 w 1"/>
                <a:gd name="T3" fmla="*/ 401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13" name="直接连接符 741492"/>
            <p:cNvSpPr>
              <a:spLocks noChangeShapeType="1"/>
            </p:cNvSpPr>
            <p:nvPr/>
          </p:nvSpPr>
          <p:spPr bwMode="auto">
            <a:xfrm>
              <a:off x="4264"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494" name="组合 741493"/>
          <p:cNvGrpSpPr/>
          <p:nvPr/>
        </p:nvGrpSpPr>
        <p:grpSpPr bwMode="auto">
          <a:xfrm rot="1949022">
            <a:off x="8012817" y="5380164"/>
            <a:ext cx="82550" cy="542925"/>
            <a:chOff x="4332" y="3112"/>
            <a:chExt cx="48" cy="342"/>
          </a:xfrm>
        </p:grpSpPr>
        <p:sp>
          <p:nvSpPr>
            <p:cNvPr id="58510" name="任意多边形 741494"/>
            <p:cNvSpPr>
              <a:spLocks noChangeArrowheads="1"/>
            </p:cNvSpPr>
            <p:nvPr/>
          </p:nvSpPr>
          <p:spPr bwMode="auto">
            <a:xfrm>
              <a:off x="4357" y="3112"/>
              <a:ext cx="1" cy="342"/>
            </a:xfrm>
            <a:custGeom>
              <a:avLst/>
              <a:gdLst>
                <a:gd name="T0" fmla="*/ 0 w 1"/>
                <a:gd name="T1" fmla="*/ 0 h 342"/>
                <a:gd name="T2" fmla="*/ 0 w 1"/>
                <a:gd name="T3" fmla="*/ 342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11" name="直接连接符 741495"/>
            <p:cNvSpPr>
              <a:spLocks noChangeShapeType="1"/>
            </p:cNvSpPr>
            <p:nvPr/>
          </p:nvSpPr>
          <p:spPr bwMode="auto">
            <a:xfrm>
              <a:off x="4332"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497" name="组合 741496"/>
          <p:cNvGrpSpPr/>
          <p:nvPr/>
        </p:nvGrpSpPr>
        <p:grpSpPr bwMode="auto">
          <a:xfrm rot="2580548">
            <a:off x="7868354" y="5275389"/>
            <a:ext cx="82550" cy="455613"/>
            <a:chOff x="4398" y="3167"/>
            <a:chExt cx="48" cy="287"/>
          </a:xfrm>
        </p:grpSpPr>
        <p:sp>
          <p:nvSpPr>
            <p:cNvPr id="58508" name="任意多边形 741497"/>
            <p:cNvSpPr>
              <a:spLocks noChangeArrowheads="1"/>
            </p:cNvSpPr>
            <p:nvPr/>
          </p:nvSpPr>
          <p:spPr bwMode="auto">
            <a:xfrm>
              <a:off x="4419" y="3167"/>
              <a:ext cx="1" cy="287"/>
            </a:xfrm>
            <a:custGeom>
              <a:avLst/>
              <a:gdLst>
                <a:gd name="T0" fmla="*/ 0 w 1"/>
                <a:gd name="T1" fmla="*/ 0 h 287"/>
                <a:gd name="T2" fmla="*/ 0 w 1"/>
                <a:gd name="T3" fmla="*/ 287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09" name="直接连接符 741498"/>
            <p:cNvSpPr>
              <a:spLocks noChangeShapeType="1"/>
            </p:cNvSpPr>
            <p:nvPr/>
          </p:nvSpPr>
          <p:spPr bwMode="auto">
            <a:xfrm>
              <a:off x="4398"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500" name="组合 741499"/>
          <p:cNvGrpSpPr/>
          <p:nvPr/>
        </p:nvGrpSpPr>
        <p:grpSpPr bwMode="auto">
          <a:xfrm rot="3261631">
            <a:off x="7753261" y="5125370"/>
            <a:ext cx="76200" cy="404813"/>
            <a:chOff x="4460" y="3219"/>
            <a:chExt cx="48" cy="235"/>
          </a:xfrm>
        </p:grpSpPr>
        <p:sp>
          <p:nvSpPr>
            <p:cNvPr id="58506" name="任意多边形 741500"/>
            <p:cNvSpPr>
              <a:spLocks noChangeArrowheads="1"/>
            </p:cNvSpPr>
            <p:nvPr/>
          </p:nvSpPr>
          <p:spPr bwMode="auto">
            <a:xfrm>
              <a:off x="4484" y="3219"/>
              <a:ext cx="1" cy="235"/>
            </a:xfrm>
            <a:custGeom>
              <a:avLst/>
              <a:gdLst>
                <a:gd name="T0" fmla="*/ 0 w 1"/>
                <a:gd name="T1" fmla="*/ 0 h 235"/>
                <a:gd name="T2" fmla="*/ 0 w 1"/>
                <a:gd name="T3" fmla="*/ 235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07" name="直接连接符 741501"/>
            <p:cNvSpPr>
              <a:spLocks noChangeShapeType="1"/>
            </p:cNvSpPr>
            <p:nvPr/>
          </p:nvSpPr>
          <p:spPr bwMode="auto">
            <a:xfrm>
              <a:off x="4460"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503" name="组合 741502"/>
          <p:cNvGrpSpPr/>
          <p:nvPr/>
        </p:nvGrpSpPr>
        <p:grpSpPr bwMode="auto">
          <a:xfrm rot="3616196">
            <a:off x="7702461" y="5028533"/>
            <a:ext cx="76200" cy="293687"/>
            <a:chOff x="4524" y="3283"/>
            <a:chExt cx="48" cy="171"/>
          </a:xfrm>
        </p:grpSpPr>
        <p:sp>
          <p:nvSpPr>
            <p:cNvPr id="58504" name="任意多边形 741503"/>
            <p:cNvSpPr>
              <a:spLocks noChangeArrowheads="1"/>
            </p:cNvSpPr>
            <p:nvPr/>
          </p:nvSpPr>
          <p:spPr bwMode="auto">
            <a:xfrm>
              <a:off x="4549" y="3283"/>
              <a:ext cx="1" cy="171"/>
            </a:xfrm>
            <a:custGeom>
              <a:avLst/>
              <a:gdLst>
                <a:gd name="T0" fmla="*/ 0 w 1"/>
                <a:gd name="T1" fmla="*/ 0 h 171"/>
                <a:gd name="T2" fmla="*/ 0 w 1"/>
                <a:gd name="T3" fmla="*/ 171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05" name="直接连接符 741504"/>
            <p:cNvSpPr>
              <a:spLocks noChangeShapeType="1"/>
            </p:cNvSpPr>
            <p:nvPr/>
          </p:nvSpPr>
          <p:spPr bwMode="auto">
            <a:xfrm>
              <a:off x="4524"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506" name="组合 741505"/>
          <p:cNvGrpSpPr/>
          <p:nvPr/>
        </p:nvGrpSpPr>
        <p:grpSpPr bwMode="auto">
          <a:xfrm rot="4073059">
            <a:off x="7679442" y="4915026"/>
            <a:ext cx="76200" cy="203200"/>
            <a:chOff x="4592" y="3337"/>
            <a:chExt cx="48" cy="117"/>
          </a:xfrm>
        </p:grpSpPr>
        <p:sp>
          <p:nvSpPr>
            <p:cNvPr id="58502" name="任意多边形 741506"/>
            <p:cNvSpPr>
              <a:spLocks noChangeArrowheads="1"/>
            </p:cNvSpPr>
            <p:nvPr/>
          </p:nvSpPr>
          <p:spPr bwMode="auto">
            <a:xfrm>
              <a:off x="4614" y="3337"/>
              <a:ext cx="1" cy="117"/>
            </a:xfrm>
            <a:custGeom>
              <a:avLst/>
              <a:gdLst>
                <a:gd name="T0" fmla="*/ 0 w 1"/>
                <a:gd name="T1" fmla="*/ 0 h 117"/>
                <a:gd name="T2" fmla="*/ 1 w 1"/>
                <a:gd name="T3" fmla="*/ 117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03" name="直接连接符 741507"/>
            <p:cNvSpPr>
              <a:spLocks noChangeShapeType="1"/>
            </p:cNvSpPr>
            <p:nvPr/>
          </p:nvSpPr>
          <p:spPr bwMode="auto">
            <a:xfrm>
              <a:off x="4592"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509" name="组合 741508"/>
          <p:cNvGrpSpPr/>
          <p:nvPr/>
        </p:nvGrpSpPr>
        <p:grpSpPr bwMode="auto">
          <a:xfrm rot="4810060">
            <a:off x="7679442" y="4797551"/>
            <a:ext cx="76200" cy="107950"/>
            <a:chOff x="4656" y="3392"/>
            <a:chExt cx="48" cy="62"/>
          </a:xfrm>
        </p:grpSpPr>
        <p:sp>
          <p:nvSpPr>
            <p:cNvPr id="58500" name="任意多边形 741509"/>
            <p:cNvSpPr>
              <a:spLocks noChangeArrowheads="1"/>
            </p:cNvSpPr>
            <p:nvPr/>
          </p:nvSpPr>
          <p:spPr bwMode="auto">
            <a:xfrm>
              <a:off x="4680" y="3392"/>
              <a:ext cx="1" cy="62"/>
            </a:xfrm>
            <a:custGeom>
              <a:avLst/>
              <a:gdLst>
                <a:gd name="T0" fmla="*/ 0 w 1"/>
                <a:gd name="T1" fmla="*/ 0 h 62"/>
                <a:gd name="T2" fmla="*/ 0 w 1"/>
                <a:gd name="T3" fmla="*/ 62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501" name="直接连接符 741510"/>
            <p:cNvSpPr>
              <a:spLocks noChangeShapeType="1"/>
            </p:cNvSpPr>
            <p:nvPr/>
          </p:nvSpPr>
          <p:spPr bwMode="auto">
            <a:xfrm>
              <a:off x="4656" y="3454"/>
              <a:ext cx="48" cy="0"/>
            </a:xfrm>
            <a:prstGeom prst="line">
              <a:avLst/>
            </a:prstGeom>
            <a:noFill/>
            <a:ln w="1905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sp>
        <p:nvSpPr>
          <p:cNvPr id="741512" name="任意多边形 741511"/>
          <p:cNvSpPr>
            <a:spLocks noChangeArrowheads="1"/>
          </p:cNvSpPr>
          <p:nvPr/>
        </p:nvSpPr>
        <p:spPr bwMode="auto">
          <a:xfrm>
            <a:off x="6548290" y="2703482"/>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3" name="任意多边形 741512"/>
          <p:cNvSpPr>
            <a:spLocks noChangeArrowheads="1"/>
          </p:cNvSpPr>
          <p:nvPr/>
        </p:nvSpPr>
        <p:spPr bwMode="auto">
          <a:xfrm>
            <a:off x="6761015" y="2571719"/>
            <a:ext cx="0" cy="150812"/>
          </a:xfrm>
          <a:custGeom>
            <a:avLst/>
            <a:gdLst>
              <a:gd name="T0" fmla="*/ 0 w 1"/>
              <a:gd name="T1" fmla="*/ 2147483646 h 120"/>
              <a:gd name="T2" fmla="*/ 0 w 1"/>
              <a:gd name="T3" fmla="*/ 0 h 120"/>
              <a:gd name="T4" fmla="*/ 0 60000 65536"/>
              <a:gd name="T5" fmla="*/ 0 60000 65536"/>
            </a:gdLst>
            <a:ahLst/>
            <a:cxnLst>
              <a:cxn ang="T4">
                <a:pos x="T0" y="T1"/>
              </a:cxn>
              <a:cxn ang="T5">
                <a:pos x="T2" y="T3"/>
              </a:cxn>
            </a:cxnLst>
            <a:rect l="0" t="0" r="r" b="b"/>
            <a:pathLst>
              <a:path w="1" h="120">
                <a:moveTo>
                  <a:pt x="0" y="120"/>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4" name="任意多边形 741513"/>
          <p:cNvSpPr>
            <a:spLocks noChangeArrowheads="1"/>
          </p:cNvSpPr>
          <p:nvPr/>
        </p:nvSpPr>
        <p:spPr bwMode="auto">
          <a:xfrm>
            <a:off x="6972154" y="2314545"/>
            <a:ext cx="1587" cy="409575"/>
          </a:xfrm>
          <a:custGeom>
            <a:avLst/>
            <a:gdLst>
              <a:gd name="T0" fmla="*/ 0 w 1"/>
              <a:gd name="T1" fmla="*/ 2147483646 h 326"/>
              <a:gd name="T2" fmla="*/ 0 w 1"/>
              <a:gd name="T3" fmla="*/ 0 h 326"/>
              <a:gd name="T4" fmla="*/ 0 60000 65536"/>
              <a:gd name="T5" fmla="*/ 0 60000 65536"/>
            </a:gdLst>
            <a:ahLst/>
            <a:cxnLst>
              <a:cxn ang="T4">
                <a:pos x="T0" y="T1"/>
              </a:cxn>
              <a:cxn ang="T5">
                <a:pos x="T2" y="T3"/>
              </a:cxn>
            </a:cxnLst>
            <a:rect l="0" t="0" r="r" b="b"/>
            <a:pathLst>
              <a:path w="1" h="326">
                <a:moveTo>
                  <a:pt x="0" y="3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5" name="任意多边形 741514"/>
          <p:cNvSpPr>
            <a:spLocks noChangeArrowheads="1"/>
          </p:cNvSpPr>
          <p:nvPr/>
        </p:nvSpPr>
        <p:spPr bwMode="auto">
          <a:xfrm>
            <a:off x="7183290" y="2063719"/>
            <a:ext cx="1588" cy="660400"/>
          </a:xfrm>
          <a:custGeom>
            <a:avLst/>
            <a:gdLst>
              <a:gd name="T0" fmla="*/ 0 w 1"/>
              <a:gd name="T1" fmla="*/ 2147483646 h 526"/>
              <a:gd name="T2" fmla="*/ 0 w 1"/>
              <a:gd name="T3" fmla="*/ 0 h 526"/>
              <a:gd name="T4" fmla="*/ 0 60000 65536"/>
              <a:gd name="T5" fmla="*/ 0 60000 65536"/>
            </a:gdLst>
            <a:ahLst/>
            <a:cxnLst>
              <a:cxn ang="T4">
                <a:pos x="T0" y="T1"/>
              </a:cxn>
              <a:cxn ang="T5">
                <a:pos x="T2" y="T3"/>
              </a:cxn>
            </a:cxnLst>
            <a:rect l="0" t="0" r="r" b="b"/>
            <a:pathLst>
              <a:path w="1" h="526">
                <a:moveTo>
                  <a:pt x="0" y="526"/>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6" name="任意多边形 741515"/>
          <p:cNvSpPr>
            <a:spLocks noChangeArrowheads="1"/>
          </p:cNvSpPr>
          <p:nvPr/>
        </p:nvSpPr>
        <p:spPr bwMode="auto">
          <a:xfrm>
            <a:off x="7397603" y="1925607"/>
            <a:ext cx="0" cy="798513"/>
          </a:xfrm>
          <a:custGeom>
            <a:avLst/>
            <a:gdLst>
              <a:gd name="T0" fmla="*/ 0 w 1"/>
              <a:gd name="T1" fmla="*/ 2147483646 h 635"/>
              <a:gd name="T2" fmla="*/ 0 w 1"/>
              <a:gd name="T3" fmla="*/ 0 h 635"/>
              <a:gd name="T4" fmla="*/ 0 60000 65536"/>
              <a:gd name="T5" fmla="*/ 0 60000 65536"/>
            </a:gdLst>
            <a:ahLst/>
            <a:cxnLst>
              <a:cxn ang="T4">
                <a:pos x="T0" y="T1"/>
              </a:cxn>
              <a:cxn ang="T5">
                <a:pos x="T2" y="T3"/>
              </a:cxn>
            </a:cxnLst>
            <a:rect l="0" t="0" r="r" b="b"/>
            <a:pathLst>
              <a:path w="1" h="635">
                <a:moveTo>
                  <a:pt x="0" y="635"/>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7" name="任意多边形 741516"/>
          <p:cNvSpPr>
            <a:spLocks noChangeArrowheads="1"/>
          </p:cNvSpPr>
          <p:nvPr/>
        </p:nvSpPr>
        <p:spPr bwMode="auto">
          <a:xfrm>
            <a:off x="7502379" y="1914495"/>
            <a:ext cx="1587" cy="814387"/>
          </a:xfrm>
          <a:custGeom>
            <a:avLst/>
            <a:gdLst>
              <a:gd name="T0" fmla="*/ 0 w 1"/>
              <a:gd name="T1" fmla="*/ 0 h 648"/>
              <a:gd name="T2" fmla="*/ 0 w 1"/>
              <a:gd name="T3" fmla="*/ 2147483646 h 648"/>
              <a:gd name="T4" fmla="*/ 0 60000 65536"/>
              <a:gd name="T5" fmla="*/ 0 60000 65536"/>
            </a:gdLst>
            <a:ahLst/>
            <a:cxnLst>
              <a:cxn ang="T4">
                <a:pos x="T0" y="T1"/>
              </a:cxn>
              <a:cxn ang="T5">
                <a:pos x="T2" y="T3"/>
              </a:cxn>
            </a:cxnLst>
            <a:rect l="0" t="0" r="r" b="b"/>
            <a:pathLst>
              <a:path w="1" h="648">
                <a:moveTo>
                  <a:pt x="0" y="0"/>
                </a:moveTo>
                <a:lnTo>
                  <a:pt x="0" y="648"/>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8" name="任意多边形 741517"/>
          <p:cNvSpPr>
            <a:spLocks noChangeArrowheads="1"/>
          </p:cNvSpPr>
          <p:nvPr/>
        </p:nvSpPr>
        <p:spPr bwMode="auto">
          <a:xfrm>
            <a:off x="6654654" y="2654270"/>
            <a:ext cx="1587" cy="71437"/>
          </a:xfrm>
          <a:custGeom>
            <a:avLst/>
            <a:gdLst>
              <a:gd name="T0" fmla="*/ 0 w 1"/>
              <a:gd name="T1" fmla="*/ 2147483646 h 57"/>
              <a:gd name="T2" fmla="*/ 0 w 1"/>
              <a:gd name="T3" fmla="*/ 0 h 57"/>
              <a:gd name="T4" fmla="*/ 0 60000 65536"/>
              <a:gd name="T5" fmla="*/ 0 60000 65536"/>
            </a:gdLst>
            <a:ahLst/>
            <a:cxnLst>
              <a:cxn ang="T4">
                <a:pos x="T0" y="T1"/>
              </a:cxn>
              <a:cxn ang="T5">
                <a:pos x="T2" y="T3"/>
              </a:cxn>
            </a:cxnLst>
            <a:rect l="0" t="0" r="r" b="b"/>
            <a:pathLst>
              <a:path w="1" h="57">
                <a:moveTo>
                  <a:pt x="0" y="5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19" name="任意多边形 741518"/>
          <p:cNvSpPr>
            <a:spLocks noChangeArrowheads="1"/>
          </p:cNvSpPr>
          <p:nvPr/>
        </p:nvSpPr>
        <p:spPr bwMode="auto">
          <a:xfrm>
            <a:off x="6865790" y="2449481"/>
            <a:ext cx="0" cy="273050"/>
          </a:xfrm>
          <a:custGeom>
            <a:avLst/>
            <a:gdLst>
              <a:gd name="T0" fmla="*/ 0 w 1"/>
              <a:gd name="T1" fmla="*/ 2147483646 h 218"/>
              <a:gd name="T2" fmla="*/ 0 w 1"/>
              <a:gd name="T3" fmla="*/ 0 h 218"/>
              <a:gd name="T4" fmla="*/ 0 60000 65536"/>
              <a:gd name="T5" fmla="*/ 0 60000 65536"/>
            </a:gdLst>
            <a:ahLst/>
            <a:cxnLst>
              <a:cxn ang="T4">
                <a:pos x="T0" y="T1"/>
              </a:cxn>
              <a:cxn ang="T5">
                <a:pos x="T2" y="T3"/>
              </a:cxn>
            </a:cxnLst>
            <a:rect l="0" t="0" r="r" b="b"/>
            <a:pathLst>
              <a:path w="1" h="218">
                <a:moveTo>
                  <a:pt x="0" y="218"/>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0" name="任意多边形 741519"/>
          <p:cNvSpPr>
            <a:spLocks noChangeArrowheads="1"/>
          </p:cNvSpPr>
          <p:nvPr/>
        </p:nvSpPr>
        <p:spPr bwMode="auto">
          <a:xfrm>
            <a:off x="7076929" y="2179607"/>
            <a:ext cx="1587" cy="544513"/>
          </a:xfrm>
          <a:custGeom>
            <a:avLst/>
            <a:gdLst>
              <a:gd name="T0" fmla="*/ 0 w 1"/>
              <a:gd name="T1" fmla="*/ 2147483646 h 433"/>
              <a:gd name="T2" fmla="*/ 0 w 1"/>
              <a:gd name="T3" fmla="*/ 0 h 433"/>
              <a:gd name="T4" fmla="*/ 0 60000 65536"/>
              <a:gd name="T5" fmla="*/ 0 60000 65536"/>
            </a:gdLst>
            <a:ahLst/>
            <a:cxnLst>
              <a:cxn ang="T4">
                <a:pos x="T0" y="T1"/>
              </a:cxn>
              <a:cxn ang="T5">
                <a:pos x="T2" y="T3"/>
              </a:cxn>
            </a:cxnLst>
            <a:rect l="0" t="0" r="r" b="b"/>
            <a:pathLst>
              <a:path w="1" h="433">
                <a:moveTo>
                  <a:pt x="0" y="43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1" name="任意多边形 741520"/>
          <p:cNvSpPr>
            <a:spLocks noChangeArrowheads="1"/>
          </p:cNvSpPr>
          <p:nvPr/>
        </p:nvSpPr>
        <p:spPr bwMode="auto">
          <a:xfrm>
            <a:off x="7291240" y="1979581"/>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2" name="任意多边形 741521"/>
          <p:cNvSpPr>
            <a:spLocks noChangeArrowheads="1"/>
          </p:cNvSpPr>
          <p:nvPr/>
        </p:nvSpPr>
        <p:spPr bwMode="auto">
          <a:xfrm>
            <a:off x="8358040" y="1998631"/>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3" name="任意多边形 741522"/>
          <p:cNvSpPr>
            <a:spLocks noChangeArrowheads="1"/>
          </p:cNvSpPr>
          <p:nvPr/>
        </p:nvSpPr>
        <p:spPr bwMode="auto">
          <a:xfrm>
            <a:off x="8467579" y="2089120"/>
            <a:ext cx="1587" cy="636587"/>
          </a:xfrm>
          <a:custGeom>
            <a:avLst/>
            <a:gdLst>
              <a:gd name="T0" fmla="*/ 0 w 1"/>
              <a:gd name="T1" fmla="*/ 0 h 401"/>
              <a:gd name="T2" fmla="*/ 2147483646 w 1"/>
              <a:gd name="T3" fmla="*/ 2147483646 h 401"/>
              <a:gd name="T4" fmla="*/ 0 60000 65536"/>
              <a:gd name="T5" fmla="*/ 0 60000 65536"/>
            </a:gdLst>
            <a:ahLst/>
            <a:cxnLst>
              <a:cxn ang="T4">
                <a:pos x="T0" y="T1"/>
              </a:cxn>
              <a:cxn ang="T5">
                <a:pos x="T2" y="T3"/>
              </a:cxn>
            </a:cxnLst>
            <a:rect l="0" t="0" r="r" b="b"/>
            <a:pathLst>
              <a:path w="1" h="401">
                <a:moveTo>
                  <a:pt x="0" y="0"/>
                </a:moveTo>
                <a:lnTo>
                  <a:pt x="1" y="40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4" name="任意多边形 741523"/>
          <p:cNvSpPr>
            <a:spLocks noChangeArrowheads="1"/>
          </p:cNvSpPr>
          <p:nvPr/>
        </p:nvSpPr>
        <p:spPr bwMode="auto">
          <a:xfrm>
            <a:off x="8586640" y="2182782"/>
            <a:ext cx="1588" cy="542925"/>
          </a:xfrm>
          <a:custGeom>
            <a:avLst/>
            <a:gdLst>
              <a:gd name="T0" fmla="*/ 0 w 1"/>
              <a:gd name="T1" fmla="*/ 0 h 342"/>
              <a:gd name="T2" fmla="*/ 0 w 1"/>
              <a:gd name="T3" fmla="*/ 2147483646 h 342"/>
              <a:gd name="T4" fmla="*/ 0 60000 65536"/>
              <a:gd name="T5" fmla="*/ 0 60000 65536"/>
            </a:gdLst>
            <a:ahLst/>
            <a:cxnLst>
              <a:cxn ang="T4">
                <a:pos x="T0" y="T1"/>
              </a:cxn>
              <a:cxn ang="T5">
                <a:pos x="T2" y="T3"/>
              </a:cxn>
            </a:cxnLst>
            <a:rect l="0" t="0" r="r" b="b"/>
            <a:pathLst>
              <a:path w="1" h="342">
                <a:moveTo>
                  <a:pt x="0" y="0"/>
                </a:moveTo>
                <a:lnTo>
                  <a:pt x="0" y="34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5" name="任意多边形 741524"/>
          <p:cNvSpPr>
            <a:spLocks noChangeArrowheads="1"/>
          </p:cNvSpPr>
          <p:nvPr/>
        </p:nvSpPr>
        <p:spPr bwMode="auto">
          <a:xfrm>
            <a:off x="8694590" y="2270094"/>
            <a:ext cx="1588" cy="455612"/>
          </a:xfrm>
          <a:custGeom>
            <a:avLst/>
            <a:gdLst>
              <a:gd name="T0" fmla="*/ 0 w 1"/>
              <a:gd name="T1" fmla="*/ 0 h 287"/>
              <a:gd name="T2" fmla="*/ 0 w 1"/>
              <a:gd name="T3" fmla="*/ 2147483646 h 287"/>
              <a:gd name="T4" fmla="*/ 0 60000 65536"/>
              <a:gd name="T5" fmla="*/ 0 60000 65536"/>
            </a:gdLst>
            <a:ahLst/>
            <a:cxnLst>
              <a:cxn ang="T4">
                <a:pos x="T0" y="T1"/>
              </a:cxn>
              <a:cxn ang="T5">
                <a:pos x="T2" y="T3"/>
              </a:cxn>
            </a:cxnLst>
            <a:rect l="0" t="0" r="r" b="b"/>
            <a:pathLst>
              <a:path w="1" h="287">
                <a:moveTo>
                  <a:pt x="0" y="0"/>
                </a:moveTo>
                <a:lnTo>
                  <a:pt x="0" y="28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6" name="任意多边形 741525"/>
          <p:cNvSpPr>
            <a:spLocks noChangeArrowheads="1"/>
          </p:cNvSpPr>
          <p:nvPr/>
        </p:nvSpPr>
        <p:spPr bwMode="auto">
          <a:xfrm>
            <a:off x="8805715" y="2352644"/>
            <a:ext cx="1588" cy="373062"/>
          </a:xfrm>
          <a:custGeom>
            <a:avLst/>
            <a:gdLst>
              <a:gd name="T0" fmla="*/ 0 w 1"/>
              <a:gd name="T1" fmla="*/ 0 h 235"/>
              <a:gd name="T2" fmla="*/ 0 w 1"/>
              <a:gd name="T3" fmla="*/ 2147483646 h 235"/>
              <a:gd name="T4" fmla="*/ 0 60000 65536"/>
              <a:gd name="T5" fmla="*/ 0 60000 65536"/>
            </a:gdLst>
            <a:ahLst/>
            <a:cxnLst>
              <a:cxn ang="T4">
                <a:pos x="T0" y="T1"/>
              </a:cxn>
              <a:cxn ang="T5">
                <a:pos x="T2" y="T3"/>
              </a:cxn>
            </a:cxnLst>
            <a:rect l="0" t="0" r="r" b="b"/>
            <a:pathLst>
              <a:path w="1" h="235">
                <a:moveTo>
                  <a:pt x="0" y="0"/>
                </a:moveTo>
                <a:lnTo>
                  <a:pt x="0" y="235"/>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7" name="任意多边形 741526"/>
          <p:cNvSpPr>
            <a:spLocks noChangeArrowheads="1"/>
          </p:cNvSpPr>
          <p:nvPr/>
        </p:nvSpPr>
        <p:spPr bwMode="auto">
          <a:xfrm>
            <a:off x="8916840" y="2454244"/>
            <a:ext cx="1588" cy="271462"/>
          </a:xfrm>
          <a:custGeom>
            <a:avLst/>
            <a:gdLst>
              <a:gd name="T0" fmla="*/ 0 w 1"/>
              <a:gd name="T1" fmla="*/ 0 h 171"/>
              <a:gd name="T2" fmla="*/ 0 w 1"/>
              <a:gd name="T3" fmla="*/ 2147483646 h 171"/>
              <a:gd name="T4" fmla="*/ 0 60000 65536"/>
              <a:gd name="T5" fmla="*/ 0 60000 65536"/>
            </a:gdLst>
            <a:ahLst/>
            <a:cxnLst>
              <a:cxn ang="T4">
                <a:pos x="T0" y="T1"/>
              </a:cxn>
              <a:cxn ang="T5">
                <a:pos x="T2" y="T3"/>
              </a:cxn>
            </a:cxnLst>
            <a:rect l="0" t="0" r="r" b="b"/>
            <a:pathLst>
              <a:path w="1" h="171">
                <a:moveTo>
                  <a:pt x="0" y="0"/>
                </a:moveTo>
                <a:lnTo>
                  <a:pt x="0" y="171"/>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8" name="任意多边形 741527"/>
          <p:cNvSpPr>
            <a:spLocks noChangeArrowheads="1"/>
          </p:cNvSpPr>
          <p:nvPr/>
        </p:nvSpPr>
        <p:spPr bwMode="auto">
          <a:xfrm>
            <a:off x="9029554" y="2539970"/>
            <a:ext cx="1587" cy="185737"/>
          </a:xfrm>
          <a:custGeom>
            <a:avLst/>
            <a:gdLst>
              <a:gd name="T0" fmla="*/ 0 w 1"/>
              <a:gd name="T1" fmla="*/ 0 h 117"/>
              <a:gd name="T2" fmla="*/ 2147483646 w 1"/>
              <a:gd name="T3" fmla="*/ 2147483646 h 117"/>
              <a:gd name="T4" fmla="*/ 0 60000 65536"/>
              <a:gd name="T5" fmla="*/ 0 60000 65536"/>
            </a:gdLst>
            <a:ahLst/>
            <a:cxnLst>
              <a:cxn ang="T4">
                <a:pos x="T0" y="T1"/>
              </a:cxn>
              <a:cxn ang="T5">
                <a:pos x="T2" y="T3"/>
              </a:cxn>
            </a:cxnLst>
            <a:rect l="0" t="0" r="r" b="b"/>
            <a:pathLst>
              <a:path w="1" h="117">
                <a:moveTo>
                  <a:pt x="0" y="0"/>
                </a:moveTo>
                <a:lnTo>
                  <a:pt x="1" y="117"/>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29" name="任意多边形 741528"/>
          <p:cNvSpPr>
            <a:spLocks noChangeArrowheads="1"/>
          </p:cNvSpPr>
          <p:nvPr/>
        </p:nvSpPr>
        <p:spPr bwMode="auto">
          <a:xfrm>
            <a:off x="9142265" y="2639982"/>
            <a:ext cx="1588" cy="98425"/>
          </a:xfrm>
          <a:custGeom>
            <a:avLst/>
            <a:gdLst>
              <a:gd name="T0" fmla="*/ 0 w 1"/>
              <a:gd name="T1" fmla="*/ 0 h 62"/>
              <a:gd name="T2" fmla="*/ 0 w 1"/>
              <a:gd name="T3" fmla="*/ 2147483646 h 62"/>
              <a:gd name="T4" fmla="*/ 0 60000 65536"/>
              <a:gd name="T5" fmla="*/ 0 60000 65536"/>
            </a:gdLst>
            <a:ahLst/>
            <a:cxnLst>
              <a:cxn ang="T4">
                <a:pos x="T0" y="T1"/>
              </a:cxn>
              <a:cxn ang="T5">
                <a:pos x="T2" y="T3"/>
              </a:cxn>
            </a:cxnLst>
            <a:rect l="0" t="0" r="r" b="b"/>
            <a:pathLst>
              <a:path w="1" h="62">
                <a:moveTo>
                  <a:pt x="0" y="0"/>
                </a:moveTo>
                <a:lnTo>
                  <a:pt x="0" y="62"/>
                </a:lnTo>
              </a:path>
            </a:pathLst>
          </a:custGeom>
          <a:noFill/>
          <a:ln w="3175">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30" name="任意多边形 741529"/>
          <p:cNvSpPr>
            <a:spLocks noChangeArrowheads="1"/>
          </p:cNvSpPr>
          <p:nvPr/>
        </p:nvSpPr>
        <p:spPr bwMode="auto">
          <a:xfrm>
            <a:off x="7607154" y="1900206"/>
            <a:ext cx="1587" cy="827088"/>
          </a:xfrm>
          <a:custGeom>
            <a:avLst/>
            <a:gdLst>
              <a:gd name="T0" fmla="*/ 2147483646 w 1"/>
              <a:gd name="T1" fmla="*/ 0 h 521"/>
              <a:gd name="T2" fmla="*/ 0 w 1"/>
              <a:gd name="T3" fmla="*/ 2147483646 h 521"/>
              <a:gd name="T4" fmla="*/ 0 60000 65536"/>
              <a:gd name="T5" fmla="*/ 0 60000 65536"/>
            </a:gdLst>
            <a:ahLst/>
            <a:cxnLst>
              <a:cxn ang="T4">
                <a:pos x="T0" y="T1"/>
              </a:cxn>
              <a:cxn ang="T5">
                <a:pos x="T2" y="T3"/>
              </a:cxn>
            </a:cxnLst>
            <a:rect l="0" t="0" r="r" b="b"/>
            <a:pathLst>
              <a:path w="1" h="521">
                <a:moveTo>
                  <a:pt x="1" y="0"/>
                </a:moveTo>
                <a:lnTo>
                  <a:pt x="0" y="521"/>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1531" name="组合 741530"/>
          <p:cNvGrpSpPr/>
          <p:nvPr/>
        </p:nvGrpSpPr>
        <p:grpSpPr bwMode="auto">
          <a:xfrm rot="10791080">
            <a:off x="8639879" y="5527801"/>
            <a:ext cx="46038" cy="823912"/>
            <a:chOff x="4404" y="2191"/>
            <a:chExt cx="27" cy="519"/>
          </a:xfrm>
        </p:grpSpPr>
        <p:sp>
          <p:nvSpPr>
            <p:cNvPr id="58498" name="任意多边形 741531"/>
            <p:cNvSpPr>
              <a:spLocks noChangeArrowheads="1"/>
            </p:cNvSpPr>
            <p:nvPr/>
          </p:nvSpPr>
          <p:spPr bwMode="auto">
            <a:xfrm rot="2716">
              <a:off x="4416" y="2191"/>
              <a:ext cx="1" cy="519"/>
            </a:xfrm>
            <a:custGeom>
              <a:avLst/>
              <a:gdLst>
                <a:gd name="T0" fmla="*/ 0 w 1"/>
                <a:gd name="T1" fmla="*/ 0 h 519"/>
                <a:gd name="T2" fmla="*/ 0 w 1"/>
                <a:gd name="T3" fmla="*/ 519 h 519"/>
                <a:gd name="T4" fmla="*/ 0 60000 65536"/>
                <a:gd name="T5" fmla="*/ 0 60000 65536"/>
              </a:gdLst>
              <a:ahLst/>
              <a:cxnLst>
                <a:cxn ang="T4">
                  <a:pos x="T0" y="T1"/>
                </a:cxn>
                <a:cxn ang="T5">
                  <a:pos x="T2" y="T3"/>
                </a:cxn>
              </a:cxnLst>
              <a:rect l="0" t="0" r="r" b="b"/>
              <a:pathLst>
                <a:path w="1" h="519">
                  <a:moveTo>
                    <a:pt x="0" y="0"/>
                  </a:moveTo>
                  <a:lnTo>
                    <a:pt x="0" y="519"/>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58499" name="任意多边形 741532"/>
            <p:cNvSpPr>
              <a:spLocks noChangeArrowheads="1"/>
            </p:cNvSpPr>
            <p:nvPr/>
          </p:nvSpPr>
          <p:spPr bwMode="auto">
            <a:xfrm rot="-19137">
              <a:off x="4404" y="2191"/>
              <a:ext cx="27" cy="1"/>
            </a:xfrm>
            <a:custGeom>
              <a:avLst/>
              <a:gdLst>
                <a:gd name="T0" fmla="*/ 0 w 27"/>
                <a:gd name="T1" fmla="*/ 0 h 1"/>
                <a:gd name="T2" fmla="*/ 27 w 27"/>
                <a:gd name="T3" fmla="*/ 0 h 1"/>
                <a:gd name="T4" fmla="*/ 0 60000 65536"/>
                <a:gd name="T5" fmla="*/ 0 60000 65536"/>
              </a:gdLst>
              <a:ahLst/>
              <a:cxnLst>
                <a:cxn ang="T4">
                  <a:pos x="T0" y="T1"/>
                </a:cxn>
                <a:cxn ang="T5">
                  <a:pos x="T2" y="T3"/>
                </a:cxn>
              </a:cxnLst>
              <a:rect l="0" t="0" r="r" b="b"/>
              <a:pathLst>
                <a:path w="27" h="1">
                  <a:moveTo>
                    <a:pt x="0" y="0"/>
                  </a:moveTo>
                  <a:lnTo>
                    <a:pt x="27" y="0"/>
                  </a:ln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sp>
        <p:nvSpPr>
          <p:cNvPr id="741534" name="任意多边形 741533"/>
          <p:cNvSpPr>
            <a:spLocks noChangeArrowheads="1"/>
          </p:cNvSpPr>
          <p:nvPr/>
        </p:nvSpPr>
        <p:spPr bwMode="auto">
          <a:xfrm rot="5400000">
            <a:off x="8654168" y="4702302"/>
            <a:ext cx="1660525" cy="1641475"/>
          </a:xfrm>
          <a:custGeom>
            <a:avLst/>
            <a:gdLst>
              <a:gd name="T0" fmla="*/ 2147483646 w 21600"/>
              <a:gd name="T1" fmla="*/ 0 h 19727"/>
              <a:gd name="T2" fmla="*/ 2147483646 w 21600"/>
              <a:gd name="T3" fmla="*/ 2147483646 h 19727"/>
              <a:gd name="T4" fmla="*/ 2147483646 w 21600"/>
              <a:gd name="T5" fmla="*/ 0 h 19727"/>
              <a:gd name="T6" fmla="*/ 2147483646 w 21600"/>
              <a:gd name="T7" fmla="*/ 2147483646 h 19727"/>
              <a:gd name="T8" fmla="*/ 0 w 21600"/>
              <a:gd name="T9" fmla="*/ 2147483646 h 197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19727" fill="none">
                <a:moveTo>
                  <a:pt x="8798" y="0"/>
                </a:moveTo>
                <a:cubicBezTo>
                  <a:pt x="16345" y="3367"/>
                  <a:pt x="21600" y="10934"/>
                  <a:pt x="21600" y="19727"/>
                </a:cubicBezTo>
              </a:path>
              <a:path w="21600" h="19727" stroke="0">
                <a:moveTo>
                  <a:pt x="8798" y="0"/>
                </a:moveTo>
                <a:cubicBezTo>
                  <a:pt x="16345" y="3367"/>
                  <a:pt x="21600" y="10934"/>
                  <a:pt x="21600" y="19727"/>
                </a:cubicBezTo>
                <a:lnTo>
                  <a:pt x="0" y="19727"/>
                </a:lnTo>
                <a:lnTo>
                  <a:pt x="8798" y="0"/>
                </a:lnTo>
                <a:close/>
              </a:path>
            </a:pathLst>
          </a:custGeom>
          <a:noFill/>
          <a:ln w="28575">
            <a:solidFill>
              <a:srgbClr val="FF99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35" name="任意多边形 741534"/>
          <p:cNvSpPr>
            <a:spLocks noChangeArrowheads="1"/>
          </p:cNvSpPr>
          <p:nvPr/>
        </p:nvSpPr>
        <p:spPr bwMode="auto">
          <a:xfrm>
            <a:off x="8665279" y="3856164"/>
            <a:ext cx="1754188" cy="1514475"/>
          </a:xfrm>
          <a:custGeom>
            <a:avLst/>
            <a:gdLst>
              <a:gd name="T0" fmla="*/ 0 w 1020"/>
              <a:gd name="T1" fmla="*/ 0 h 954"/>
              <a:gd name="T2" fmla="*/ 2147483646 w 1020"/>
              <a:gd name="T3" fmla="*/ 2147483646 h 954"/>
              <a:gd name="T4" fmla="*/ 2147483646 w 1020"/>
              <a:gd name="T5" fmla="*/ 2147483646 h 954"/>
              <a:gd name="T6" fmla="*/ 2147483646 w 1020"/>
              <a:gd name="T7" fmla="*/ 2147483646 h 954"/>
              <a:gd name="T8" fmla="*/ 2147483646 w 1020"/>
              <a:gd name="T9" fmla="*/ 2147483646 h 954"/>
              <a:gd name="T10" fmla="*/ 2147483646 w 1020"/>
              <a:gd name="T11" fmla="*/ 2147483646 h 954"/>
              <a:gd name="T12" fmla="*/ 2147483646 w 1020"/>
              <a:gd name="T13" fmla="*/ 2147483646 h 954"/>
              <a:gd name="T14" fmla="*/ 2147483646 w 1020"/>
              <a:gd name="T15" fmla="*/ 2147483646 h 954"/>
              <a:gd name="T16" fmla="*/ 2147483646 w 1020"/>
              <a:gd name="T17" fmla="*/ 2147483646 h 954"/>
              <a:gd name="T18" fmla="*/ 2147483646 w 1020"/>
              <a:gd name="T19" fmla="*/ 2147483646 h 954"/>
              <a:gd name="T20" fmla="*/ 2147483646 w 1020"/>
              <a:gd name="T21" fmla="*/ 2147483646 h 954"/>
              <a:gd name="T22" fmla="*/ 2147483646 w 1020"/>
              <a:gd name="T23" fmla="*/ 2147483646 h 954"/>
              <a:gd name="T24" fmla="*/ 2147483646 w 1020"/>
              <a:gd name="T25" fmla="*/ 2147483646 h 9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0" h="954">
                <a:moveTo>
                  <a:pt x="0" y="0"/>
                </a:moveTo>
                <a:cubicBezTo>
                  <a:pt x="16" y="1"/>
                  <a:pt x="63" y="3"/>
                  <a:pt x="95" y="6"/>
                </a:cubicBezTo>
                <a:cubicBezTo>
                  <a:pt x="127" y="9"/>
                  <a:pt x="158" y="14"/>
                  <a:pt x="192" y="20"/>
                </a:cubicBezTo>
                <a:cubicBezTo>
                  <a:pt x="226" y="26"/>
                  <a:pt x="262" y="34"/>
                  <a:pt x="299" y="41"/>
                </a:cubicBezTo>
                <a:cubicBezTo>
                  <a:pt x="336" y="48"/>
                  <a:pt x="372" y="56"/>
                  <a:pt x="414" y="65"/>
                </a:cubicBezTo>
                <a:cubicBezTo>
                  <a:pt x="456" y="74"/>
                  <a:pt x="503" y="81"/>
                  <a:pt x="549" y="96"/>
                </a:cubicBezTo>
                <a:cubicBezTo>
                  <a:pt x="595" y="111"/>
                  <a:pt x="644" y="132"/>
                  <a:pt x="689" y="156"/>
                </a:cubicBezTo>
                <a:cubicBezTo>
                  <a:pt x="734" y="180"/>
                  <a:pt x="783" y="209"/>
                  <a:pt x="822" y="243"/>
                </a:cubicBezTo>
                <a:cubicBezTo>
                  <a:pt x="861" y="277"/>
                  <a:pt x="895" y="311"/>
                  <a:pt x="924" y="359"/>
                </a:cubicBezTo>
                <a:cubicBezTo>
                  <a:pt x="953" y="407"/>
                  <a:pt x="982" y="477"/>
                  <a:pt x="998" y="530"/>
                </a:cubicBezTo>
                <a:cubicBezTo>
                  <a:pt x="1014" y="583"/>
                  <a:pt x="1018" y="631"/>
                  <a:pt x="1019" y="680"/>
                </a:cubicBezTo>
                <a:cubicBezTo>
                  <a:pt x="1020" y="729"/>
                  <a:pt x="1011" y="776"/>
                  <a:pt x="1001" y="822"/>
                </a:cubicBezTo>
                <a:cubicBezTo>
                  <a:pt x="991" y="868"/>
                  <a:pt x="966" y="926"/>
                  <a:pt x="956" y="954"/>
                </a:cubicBezTo>
              </a:path>
            </a:pathLst>
          </a:cu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36" name="任意多边形 741535"/>
          <p:cNvSpPr>
            <a:spLocks noChangeArrowheads="1"/>
          </p:cNvSpPr>
          <p:nvPr/>
        </p:nvSpPr>
        <p:spPr bwMode="auto">
          <a:xfrm>
            <a:off x="7611180" y="4694364"/>
            <a:ext cx="1057275" cy="1660525"/>
          </a:xfrm>
          <a:custGeom>
            <a:avLst/>
            <a:gdLst>
              <a:gd name="T0" fmla="*/ 2147483646 w 615"/>
              <a:gd name="T1" fmla="*/ 0 h 1046"/>
              <a:gd name="T2" fmla="*/ 2147483646 w 615"/>
              <a:gd name="T3" fmla="*/ 2147483646 h 1046"/>
              <a:gd name="T4" fmla="*/ 2147483646 w 615"/>
              <a:gd name="T5" fmla="*/ 2147483646 h 1046"/>
              <a:gd name="T6" fmla="*/ 2147483646 w 615"/>
              <a:gd name="T7" fmla="*/ 2147483646 h 1046"/>
              <a:gd name="T8" fmla="*/ 2147483646 w 615"/>
              <a:gd name="T9" fmla="*/ 2147483646 h 1046"/>
              <a:gd name="T10" fmla="*/ 2147483646 w 615"/>
              <a:gd name="T11" fmla="*/ 2147483646 h 1046"/>
              <a:gd name="T12" fmla="*/ 2147483646 w 615"/>
              <a:gd name="T13" fmla="*/ 2147483646 h 1046"/>
              <a:gd name="T14" fmla="*/ 2147483646 w 615"/>
              <a:gd name="T15" fmla="*/ 2147483646 h 1046"/>
              <a:gd name="T16" fmla="*/ 2147483646 w 615"/>
              <a:gd name="T17" fmla="*/ 2147483646 h 1046"/>
              <a:gd name="T18" fmla="*/ 2147483646 w 615"/>
              <a:gd name="T19" fmla="*/ 2147483646 h 10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5" h="1046">
                <a:moveTo>
                  <a:pt x="85" y="0"/>
                </a:moveTo>
                <a:cubicBezTo>
                  <a:pt x="76" y="17"/>
                  <a:pt x="46" y="68"/>
                  <a:pt x="33" y="104"/>
                </a:cubicBezTo>
                <a:cubicBezTo>
                  <a:pt x="20" y="140"/>
                  <a:pt x="12" y="180"/>
                  <a:pt x="7" y="219"/>
                </a:cubicBezTo>
                <a:cubicBezTo>
                  <a:pt x="2" y="258"/>
                  <a:pt x="0" y="297"/>
                  <a:pt x="1" y="339"/>
                </a:cubicBezTo>
                <a:cubicBezTo>
                  <a:pt x="2" y="381"/>
                  <a:pt x="3" y="425"/>
                  <a:pt x="15" y="471"/>
                </a:cubicBezTo>
                <a:cubicBezTo>
                  <a:pt x="27" y="517"/>
                  <a:pt x="50" y="568"/>
                  <a:pt x="76" y="614"/>
                </a:cubicBezTo>
                <a:cubicBezTo>
                  <a:pt x="102" y="660"/>
                  <a:pt x="134" y="706"/>
                  <a:pt x="169" y="749"/>
                </a:cubicBezTo>
                <a:cubicBezTo>
                  <a:pt x="204" y="792"/>
                  <a:pt x="241" y="833"/>
                  <a:pt x="286" y="870"/>
                </a:cubicBezTo>
                <a:cubicBezTo>
                  <a:pt x="331" y="907"/>
                  <a:pt x="387" y="943"/>
                  <a:pt x="442" y="972"/>
                </a:cubicBezTo>
                <a:cubicBezTo>
                  <a:pt x="497" y="1001"/>
                  <a:pt x="586" y="1034"/>
                  <a:pt x="615" y="1046"/>
                </a:cubicBezTo>
              </a:path>
            </a:pathLst>
          </a:custGeom>
          <a:noFill/>
          <a:ln w="28575">
            <a:solidFill>
              <a:srgbClr val="FF00FF"/>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37" name="任意多边形 741536"/>
          <p:cNvSpPr>
            <a:spLocks noChangeArrowheads="1"/>
          </p:cNvSpPr>
          <p:nvPr/>
        </p:nvSpPr>
        <p:spPr bwMode="auto">
          <a:xfrm flipH="1">
            <a:off x="7757229" y="3856163"/>
            <a:ext cx="908050" cy="838200"/>
          </a:xfrm>
          <a:custGeom>
            <a:avLst/>
            <a:gdLst>
              <a:gd name="T0" fmla="*/ 0 w 21600"/>
              <a:gd name="T1" fmla="*/ 0 h 21600"/>
              <a:gd name="T2" fmla="*/ 2147483646 w 21600"/>
              <a:gd name="T3" fmla="*/ 2147483646 h 21600"/>
              <a:gd name="T4" fmla="*/ 0 w 21600"/>
              <a:gd name="T5" fmla="*/ 0 h 21600"/>
              <a:gd name="T6" fmla="*/ 2147483646 w 21600"/>
              <a:gd name="T7" fmla="*/ 2147483646 h 21600"/>
              <a:gd name="T8" fmla="*/ 0 w 21600"/>
              <a:gd name="T9" fmla="*/ 214748364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1539" name="组合 741538"/>
          <p:cNvGrpSpPr/>
          <p:nvPr/>
        </p:nvGrpSpPr>
        <p:grpSpPr bwMode="auto">
          <a:xfrm>
            <a:off x="8479542" y="3206876"/>
            <a:ext cx="330200" cy="800100"/>
            <a:chOff x="3840" y="1560"/>
            <a:chExt cx="192" cy="504"/>
          </a:xfrm>
        </p:grpSpPr>
        <p:sp>
          <p:nvSpPr>
            <p:cNvPr id="58495" name="椭圆 741539"/>
            <p:cNvSpPr>
              <a:spLocks noChangeArrowheads="1"/>
            </p:cNvSpPr>
            <p:nvPr/>
          </p:nvSpPr>
          <p:spPr bwMode="auto">
            <a:xfrm>
              <a:off x="3840" y="1872"/>
              <a:ext cx="192" cy="192"/>
            </a:xfrm>
            <a:prstGeom prst="ellipse">
              <a:avLst/>
            </a:prstGeom>
            <a:solidFill>
              <a:srgbClr val="FFFF00"/>
            </a:solidFill>
            <a:ln w="19050">
              <a:solidFill>
                <a:schemeClr val="tx1"/>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58496" name="椭圆 741540"/>
            <p:cNvSpPr>
              <a:spLocks noChangeArrowheads="1"/>
            </p:cNvSpPr>
            <p:nvPr/>
          </p:nvSpPr>
          <p:spPr bwMode="auto">
            <a:xfrm>
              <a:off x="3903" y="1935"/>
              <a:ext cx="67" cy="67"/>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58497" name="直接连接符 741541"/>
            <p:cNvSpPr>
              <a:spLocks noChangeShapeType="1"/>
            </p:cNvSpPr>
            <p:nvPr/>
          </p:nvSpPr>
          <p:spPr bwMode="auto">
            <a:xfrm flipV="1">
              <a:off x="3936" y="1560"/>
              <a:ext cx="0" cy="38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p:sp>
        <p:nvSpPr>
          <p:cNvPr id="741543" name="椭圆 741542"/>
          <p:cNvSpPr>
            <a:spLocks noChangeArrowheads="1"/>
          </p:cNvSpPr>
          <p:nvPr/>
        </p:nvSpPr>
        <p:spPr bwMode="auto">
          <a:xfrm>
            <a:off x="8660517" y="371487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44" name="椭圆 741543"/>
          <p:cNvSpPr>
            <a:spLocks noChangeArrowheads="1"/>
          </p:cNvSpPr>
          <p:nvPr/>
        </p:nvSpPr>
        <p:spPr bwMode="auto">
          <a:xfrm>
            <a:off x="8828792" y="373392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45" name="椭圆 741544"/>
          <p:cNvSpPr>
            <a:spLocks noChangeArrowheads="1"/>
          </p:cNvSpPr>
          <p:nvPr/>
        </p:nvSpPr>
        <p:spPr bwMode="auto">
          <a:xfrm>
            <a:off x="9011354" y="376567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46" name="椭圆 741545"/>
          <p:cNvSpPr>
            <a:spLocks noChangeArrowheads="1"/>
          </p:cNvSpPr>
          <p:nvPr/>
        </p:nvSpPr>
        <p:spPr bwMode="auto">
          <a:xfrm>
            <a:off x="9212967" y="380377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47" name="椭圆 741546"/>
          <p:cNvSpPr>
            <a:spLocks noChangeArrowheads="1"/>
          </p:cNvSpPr>
          <p:nvPr/>
        </p:nvSpPr>
        <p:spPr bwMode="auto">
          <a:xfrm>
            <a:off x="9444742" y="385457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48" name="椭圆 741547"/>
          <p:cNvSpPr>
            <a:spLocks noChangeArrowheads="1"/>
          </p:cNvSpPr>
          <p:nvPr/>
        </p:nvSpPr>
        <p:spPr bwMode="auto">
          <a:xfrm>
            <a:off x="9687629" y="394982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49" name="椭圆 741548"/>
          <p:cNvSpPr>
            <a:spLocks noChangeArrowheads="1"/>
          </p:cNvSpPr>
          <p:nvPr/>
        </p:nvSpPr>
        <p:spPr bwMode="auto">
          <a:xfrm>
            <a:off x="9914642" y="408952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0" name="椭圆 741549"/>
          <p:cNvSpPr>
            <a:spLocks noChangeArrowheads="1"/>
          </p:cNvSpPr>
          <p:nvPr/>
        </p:nvSpPr>
        <p:spPr bwMode="auto">
          <a:xfrm>
            <a:off x="10087679" y="426732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1" name="椭圆 741550"/>
          <p:cNvSpPr>
            <a:spLocks noChangeArrowheads="1"/>
          </p:cNvSpPr>
          <p:nvPr/>
        </p:nvSpPr>
        <p:spPr bwMode="auto">
          <a:xfrm>
            <a:off x="10214679" y="454037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2" name="椭圆 741551"/>
          <p:cNvSpPr>
            <a:spLocks noChangeArrowheads="1"/>
          </p:cNvSpPr>
          <p:nvPr/>
        </p:nvSpPr>
        <p:spPr bwMode="auto">
          <a:xfrm>
            <a:off x="10249604" y="4778501"/>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3" name="椭圆 741552"/>
          <p:cNvSpPr>
            <a:spLocks noChangeArrowheads="1"/>
          </p:cNvSpPr>
          <p:nvPr/>
        </p:nvSpPr>
        <p:spPr bwMode="auto">
          <a:xfrm>
            <a:off x="10219442" y="5003926"/>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4" name="椭圆 741553"/>
          <p:cNvSpPr>
            <a:spLocks noChangeArrowheads="1"/>
          </p:cNvSpPr>
          <p:nvPr/>
        </p:nvSpPr>
        <p:spPr bwMode="auto">
          <a:xfrm>
            <a:off x="10141654" y="5216651"/>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5" name="椭圆 741554"/>
          <p:cNvSpPr>
            <a:spLocks noChangeArrowheads="1"/>
          </p:cNvSpPr>
          <p:nvPr/>
        </p:nvSpPr>
        <p:spPr bwMode="auto">
          <a:xfrm>
            <a:off x="8490654" y="6208838"/>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6" name="椭圆 741555"/>
          <p:cNvSpPr>
            <a:spLocks noChangeArrowheads="1"/>
          </p:cNvSpPr>
          <p:nvPr/>
        </p:nvSpPr>
        <p:spPr bwMode="auto">
          <a:xfrm>
            <a:off x="8193792" y="6088188"/>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7" name="椭圆 741556"/>
          <p:cNvSpPr>
            <a:spLocks noChangeArrowheads="1"/>
          </p:cNvSpPr>
          <p:nvPr/>
        </p:nvSpPr>
        <p:spPr bwMode="auto">
          <a:xfrm>
            <a:off x="7928679" y="5926263"/>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8" name="椭圆 741557"/>
          <p:cNvSpPr>
            <a:spLocks noChangeArrowheads="1"/>
          </p:cNvSpPr>
          <p:nvPr/>
        </p:nvSpPr>
        <p:spPr bwMode="auto">
          <a:xfrm>
            <a:off x="7727067" y="5735763"/>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59" name="椭圆 741558"/>
          <p:cNvSpPr>
            <a:spLocks noChangeArrowheads="1"/>
          </p:cNvSpPr>
          <p:nvPr/>
        </p:nvSpPr>
        <p:spPr bwMode="auto">
          <a:xfrm>
            <a:off x="7563554" y="5510338"/>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60" name="椭圆 741559"/>
          <p:cNvSpPr>
            <a:spLocks noChangeArrowheads="1"/>
          </p:cNvSpPr>
          <p:nvPr/>
        </p:nvSpPr>
        <p:spPr bwMode="auto">
          <a:xfrm>
            <a:off x="7460367" y="5297613"/>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61" name="椭圆 741560"/>
          <p:cNvSpPr>
            <a:spLocks noChangeArrowheads="1"/>
          </p:cNvSpPr>
          <p:nvPr/>
        </p:nvSpPr>
        <p:spPr bwMode="auto">
          <a:xfrm>
            <a:off x="7433379" y="5094413"/>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62" name="椭圆 741561"/>
          <p:cNvSpPr>
            <a:spLocks noChangeArrowheads="1"/>
          </p:cNvSpPr>
          <p:nvPr/>
        </p:nvSpPr>
        <p:spPr bwMode="auto">
          <a:xfrm>
            <a:off x="7447667" y="4894388"/>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63" name="椭圆 741562"/>
          <p:cNvSpPr>
            <a:spLocks noChangeArrowheads="1"/>
          </p:cNvSpPr>
          <p:nvPr/>
        </p:nvSpPr>
        <p:spPr bwMode="auto">
          <a:xfrm>
            <a:off x="7488942" y="4713413"/>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64" name="椭圆 741563"/>
          <p:cNvSpPr>
            <a:spLocks noChangeArrowheads="1"/>
          </p:cNvSpPr>
          <p:nvPr/>
        </p:nvSpPr>
        <p:spPr bwMode="auto">
          <a:xfrm>
            <a:off x="7582604" y="4548313"/>
            <a:ext cx="330200" cy="304800"/>
          </a:xfrm>
          <a:prstGeom prst="ellipse">
            <a:avLst/>
          </a:pr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741565" name="任意多边形 741564"/>
          <p:cNvSpPr>
            <a:spLocks noChangeArrowheads="1"/>
          </p:cNvSpPr>
          <p:nvPr/>
        </p:nvSpPr>
        <p:spPr bwMode="auto">
          <a:xfrm>
            <a:off x="7765168" y="4699127"/>
            <a:ext cx="885825" cy="1506537"/>
          </a:xfrm>
          <a:custGeom>
            <a:avLst/>
            <a:gdLst>
              <a:gd name="T0" fmla="*/ 2147483646 w 515"/>
              <a:gd name="T1" fmla="*/ 2147483646 h 949"/>
              <a:gd name="T2" fmla="*/ 2147483646 w 515"/>
              <a:gd name="T3" fmla="*/ 2147483646 h 949"/>
              <a:gd name="T4" fmla="*/ 2147483646 w 515"/>
              <a:gd name="T5" fmla="*/ 2147483646 h 949"/>
              <a:gd name="T6" fmla="*/ 2147483646 w 515"/>
              <a:gd name="T7" fmla="*/ 2147483646 h 949"/>
              <a:gd name="T8" fmla="*/ 2147483646 w 515"/>
              <a:gd name="T9" fmla="*/ 2147483646 h 949"/>
              <a:gd name="T10" fmla="*/ 2147483646 w 515"/>
              <a:gd name="T11" fmla="*/ 2147483646 h 949"/>
              <a:gd name="T12" fmla="*/ 2147483646 w 515"/>
              <a:gd name="T13" fmla="*/ 2147483646 h 949"/>
              <a:gd name="T14" fmla="*/ 2147483646 w 515"/>
              <a:gd name="T15" fmla="*/ 2147483646 h 949"/>
              <a:gd name="T16" fmla="*/ 2147483646 w 515"/>
              <a:gd name="T17" fmla="*/ 2147483646 h 949"/>
              <a:gd name="T18" fmla="*/ 2147483646 w 515"/>
              <a:gd name="T19" fmla="*/ 2147483646 h 949"/>
              <a:gd name="T20" fmla="*/ 2147483646 w 515"/>
              <a:gd name="T21" fmla="*/ 2147483646 h 949"/>
              <a:gd name="T22" fmla="*/ 2147483646 w 515"/>
              <a:gd name="T23" fmla="*/ 2147483646 h 949"/>
              <a:gd name="T24" fmla="*/ 2147483646 w 515"/>
              <a:gd name="T25" fmla="*/ 0 h 9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15" h="949">
                <a:moveTo>
                  <a:pt x="515" y="949"/>
                </a:moveTo>
                <a:cubicBezTo>
                  <a:pt x="506" y="946"/>
                  <a:pt x="487" y="941"/>
                  <a:pt x="466" y="930"/>
                </a:cubicBezTo>
                <a:cubicBezTo>
                  <a:pt x="445" y="919"/>
                  <a:pt x="422" y="907"/>
                  <a:pt x="386" y="883"/>
                </a:cubicBezTo>
                <a:cubicBezTo>
                  <a:pt x="350" y="859"/>
                  <a:pt x="287" y="819"/>
                  <a:pt x="248" y="787"/>
                </a:cubicBezTo>
                <a:cubicBezTo>
                  <a:pt x="209" y="755"/>
                  <a:pt x="185" y="727"/>
                  <a:pt x="154" y="688"/>
                </a:cubicBezTo>
                <a:cubicBezTo>
                  <a:pt x="123" y="649"/>
                  <a:pt x="86" y="597"/>
                  <a:pt x="63" y="556"/>
                </a:cubicBezTo>
                <a:cubicBezTo>
                  <a:pt x="40" y="515"/>
                  <a:pt x="23" y="478"/>
                  <a:pt x="13" y="441"/>
                </a:cubicBezTo>
                <a:cubicBezTo>
                  <a:pt x="3" y="404"/>
                  <a:pt x="2" y="365"/>
                  <a:pt x="1" y="331"/>
                </a:cubicBezTo>
                <a:cubicBezTo>
                  <a:pt x="0" y="297"/>
                  <a:pt x="4" y="271"/>
                  <a:pt x="9" y="238"/>
                </a:cubicBezTo>
                <a:cubicBezTo>
                  <a:pt x="14" y="205"/>
                  <a:pt x="20" y="166"/>
                  <a:pt x="31" y="135"/>
                </a:cubicBezTo>
                <a:cubicBezTo>
                  <a:pt x="42" y="104"/>
                  <a:pt x="68" y="68"/>
                  <a:pt x="76" y="51"/>
                </a:cubicBezTo>
                <a:lnTo>
                  <a:pt x="82" y="30"/>
                </a:lnTo>
                <a:lnTo>
                  <a:pt x="88" y="0"/>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66" name="任意多边形 741565"/>
          <p:cNvSpPr>
            <a:spLocks noChangeArrowheads="1"/>
          </p:cNvSpPr>
          <p:nvPr/>
        </p:nvSpPr>
        <p:spPr bwMode="auto">
          <a:xfrm>
            <a:off x="8662105" y="4011738"/>
            <a:ext cx="1584325" cy="1308100"/>
          </a:xfrm>
          <a:custGeom>
            <a:avLst/>
            <a:gdLst>
              <a:gd name="T0" fmla="*/ 0 w 922"/>
              <a:gd name="T1" fmla="*/ 0 h 824"/>
              <a:gd name="T2" fmla="*/ 2147483646 w 922"/>
              <a:gd name="T3" fmla="*/ 2147483646 h 824"/>
              <a:gd name="T4" fmla="*/ 2147483646 w 922"/>
              <a:gd name="T5" fmla="*/ 2147483646 h 824"/>
              <a:gd name="T6" fmla="*/ 2147483646 w 922"/>
              <a:gd name="T7" fmla="*/ 2147483646 h 824"/>
              <a:gd name="T8" fmla="*/ 2147483646 w 922"/>
              <a:gd name="T9" fmla="*/ 2147483646 h 824"/>
              <a:gd name="T10" fmla="*/ 2147483646 w 922"/>
              <a:gd name="T11" fmla="*/ 2147483646 h 824"/>
              <a:gd name="T12" fmla="*/ 2147483646 w 922"/>
              <a:gd name="T13" fmla="*/ 2147483646 h 824"/>
              <a:gd name="T14" fmla="*/ 2147483646 w 922"/>
              <a:gd name="T15" fmla="*/ 2147483646 h 824"/>
              <a:gd name="T16" fmla="*/ 2147483646 w 922"/>
              <a:gd name="T17" fmla="*/ 2147483646 h 824"/>
              <a:gd name="T18" fmla="*/ 2147483646 w 922"/>
              <a:gd name="T19" fmla="*/ 2147483646 h 824"/>
              <a:gd name="T20" fmla="*/ 2147483646 w 922"/>
              <a:gd name="T21" fmla="*/ 2147483646 h 824"/>
              <a:gd name="T22" fmla="*/ 2147483646 w 922"/>
              <a:gd name="T23" fmla="*/ 2147483646 h 824"/>
              <a:gd name="T24" fmla="*/ 2147483646 w 922"/>
              <a:gd name="T25" fmla="*/ 2147483646 h 8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22" h="824">
                <a:moveTo>
                  <a:pt x="0" y="0"/>
                </a:moveTo>
                <a:cubicBezTo>
                  <a:pt x="13" y="1"/>
                  <a:pt x="48" y="3"/>
                  <a:pt x="77" y="6"/>
                </a:cubicBezTo>
                <a:cubicBezTo>
                  <a:pt x="106" y="9"/>
                  <a:pt x="139" y="13"/>
                  <a:pt x="172" y="18"/>
                </a:cubicBezTo>
                <a:cubicBezTo>
                  <a:pt x="205" y="23"/>
                  <a:pt x="243" y="31"/>
                  <a:pt x="278" y="38"/>
                </a:cubicBezTo>
                <a:cubicBezTo>
                  <a:pt x="313" y="45"/>
                  <a:pt x="344" y="51"/>
                  <a:pt x="384" y="60"/>
                </a:cubicBezTo>
                <a:cubicBezTo>
                  <a:pt x="424" y="69"/>
                  <a:pt x="473" y="78"/>
                  <a:pt x="516" y="92"/>
                </a:cubicBezTo>
                <a:cubicBezTo>
                  <a:pt x="559" y="106"/>
                  <a:pt x="601" y="122"/>
                  <a:pt x="641" y="143"/>
                </a:cubicBezTo>
                <a:cubicBezTo>
                  <a:pt x="681" y="164"/>
                  <a:pt x="721" y="191"/>
                  <a:pt x="754" y="218"/>
                </a:cubicBezTo>
                <a:cubicBezTo>
                  <a:pt x="787" y="245"/>
                  <a:pt x="813" y="269"/>
                  <a:pt x="838" y="308"/>
                </a:cubicBezTo>
                <a:cubicBezTo>
                  <a:pt x="863" y="347"/>
                  <a:pt x="890" y="409"/>
                  <a:pt x="904" y="454"/>
                </a:cubicBezTo>
                <a:cubicBezTo>
                  <a:pt x="918" y="499"/>
                  <a:pt x="922" y="537"/>
                  <a:pt x="922" y="578"/>
                </a:cubicBezTo>
                <a:cubicBezTo>
                  <a:pt x="922" y="619"/>
                  <a:pt x="916" y="659"/>
                  <a:pt x="906" y="700"/>
                </a:cubicBezTo>
                <a:cubicBezTo>
                  <a:pt x="896" y="741"/>
                  <a:pt x="873" y="798"/>
                  <a:pt x="864" y="824"/>
                </a:cubicBez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67" name="任意多边形 741566"/>
          <p:cNvSpPr>
            <a:spLocks noChangeArrowheads="1"/>
          </p:cNvSpPr>
          <p:nvPr/>
        </p:nvSpPr>
        <p:spPr bwMode="auto">
          <a:xfrm>
            <a:off x="8662105" y="4716588"/>
            <a:ext cx="1482725" cy="1493838"/>
          </a:xfrm>
          <a:custGeom>
            <a:avLst/>
            <a:gdLst>
              <a:gd name="T0" fmla="*/ 2147483646 w 19813"/>
              <a:gd name="T1" fmla="*/ 2147483646 h 21600"/>
              <a:gd name="T2" fmla="*/ 0 w 19813"/>
              <a:gd name="T3" fmla="*/ 2147483646 h 21600"/>
              <a:gd name="T4" fmla="*/ 2147483646 w 19813"/>
              <a:gd name="T5" fmla="*/ 2147483646 h 21600"/>
              <a:gd name="T6" fmla="*/ 0 w 19813"/>
              <a:gd name="T7" fmla="*/ 2147483646 h 21600"/>
              <a:gd name="T8" fmla="*/ 0 w 19813"/>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3" h="21600" fill="none">
                <a:moveTo>
                  <a:pt x="19813" y="8602"/>
                </a:moveTo>
                <a:cubicBezTo>
                  <a:pt x="16490" y="16254"/>
                  <a:pt x="8869" y="21600"/>
                  <a:pt x="0" y="21600"/>
                </a:cubicBezTo>
              </a:path>
              <a:path w="19813" h="21600" stroke="0">
                <a:moveTo>
                  <a:pt x="19813" y="8602"/>
                </a:moveTo>
                <a:cubicBezTo>
                  <a:pt x="16490" y="16254"/>
                  <a:pt x="8869" y="21600"/>
                  <a:pt x="0" y="21600"/>
                </a:cubicBezTo>
                <a:lnTo>
                  <a:pt x="0" y="0"/>
                </a:lnTo>
                <a:lnTo>
                  <a:pt x="19813" y="8602"/>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41568" name="任意多边形 741567"/>
          <p:cNvSpPr>
            <a:spLocks noChangeArrowheads="1"/>
          </p:cNvSpPr>
          <p:nvPr/>
        </p:nvSpPr>
        <p:spPr bwMode="auto">
          <a:xfrm flipH="1">
            <a:off x="7912804" y="4014913"/>
            <a:ext cx="742950" cy="685800"/>
          </a:xfrm>
          <a:custGeom>
            <a:avLst/>
            <a:gdLst>
              <a:gd name="T0" fmla="*/ 0 w 21600"/>
              <a:gd name="T1" fmla="*/ 0 h 21600"/>
              <a:gd name="T2" fmla="*/ 2147483646 w 21600"/>
              <a:gd name="T3" fmla="*/ 2147483646 h 21600"/>
              <a:gd name="T4" fmla="*/ 0 w 21600"/>
              <a:gd name="T5" fmla="*/ 0 h 21600"/>
              <a:gd name="T6" fmla="*/ 2147483646 w 21600"/>
              <a:gd name="T7" fmla="*/ 2147483646 h 21600"/>
              <a:gd name="T8" fmla="*/ 0 w 21600"/>
              <a:gd name="T9" fmla="*/ 214748364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741569" name="组合 741568"/>
          <p:cNvGrpSpPr/>
          <p:nvPr/>
        </p:nvGrpSpPr>
        <p:grpSpPr bwMode="auto">
          <a:xfrm>
            <a:off x="9860667" y="5691313"/>
            <a:ext cx="1401763" cy="387351"/>
            <a:chOff x="5017" y="3664"/>
            <a:chExt cx="883" cy="244"/>
          </a:xfrm>
        </p:grpSpPr>
        <p:sp>
          <p:nvSpPr>
            <p:cNvPr id="58493" name="文本框 741569"/>
            <p:cNvSpPr txBox="1">
              <a:spLocks noChangeArrowheads="1"/>
            </p:cNvSpPr>
            <p:nvPr/>
          </p:nvSpPr>
          <p:spPr bwMode="auto">
            <a:xfrm>
              <a:off x="5017" y="3676"/>
              <a:ext cx="883"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r>
                <a:rPr lang="en-US" altLang="zh-CN" sz="1800" b="1" dirty="0">
                  <a:solidFill>
                    <a:srgbClr val="FF00FF"/>
                  </a:solidFill>
                  <a:latin typeface="Arial" panose="020B0604020202020204" pitchFamily="34" charset="0"/>
                </a:rPr>
                <a:t>pitch curve</a:t>
              </a:r>
              <a:endParaRPr lang="en-US" altLang="zh-CN" sz="1800" b="1" dirty="0">
                <a:solidFill>
                  <a:srgbClr val="FF00FF"/>
                </a:solidFill>
                <a:latin typeface="Arial" panose="020B0604020202020204" pitchFamily="34" charset="0"/>
              </a:endParaRPr>
            </a:p>
          </p:txBody>
        </p:sp>
        <p:sp>
          <p:nvSpPr>
            <p:cNvPr id="58494" name="直接连接符 741570"/>
            <p:cNvSpPr>
              <a:spLocks noChangeShapeType="1"/>
            </p:cNvSpPr>
            <p:nvPr/>
          </p:nvSpPr>
          <p:spPr bwMode="auto">
            <a:xfrm>
              <a:off x="5175" y="3664"/>
              <a:ext cx="273" cy="38"/>
            </a:xfrm>
            <a:prstGeom prst="line">
              <a:avLst/>
            </a:prstGeom>
            <a:noFill/>
            <a:ln w="12700">
              <a:solidFill>
                <a:srgbClr val="FF00FF"/>
              </a:solidFill>
              <a:round/>
            </a:ln>
            <a:extLst>
              <a:ext uri="{909E8E84-426E-40DD-AFC4-6F175D3DCCD1}">
                <a14:hiddenFill xmlns:a14="http://schemas.microsoft.com/office/drawing/2010/main">
                  <a:noFill/>
                </a14:hiddenFill>
              </a:ext>
            </a:extLst>
          </p:spPr>
          <p:txBody>
            <a:bodyPr/>
            <a:lstStyle/>
            <a:p>
              <a:endParaRPr lang="en-AU"/>
            </a:p>
          </p:txBody>
        </p:sp>
      </p:grpSp>
      <p:grpSp>
        <p:nvGrpSpPr>
          <p:cNvPr id="741572" name="组合 741571"/>
          <p:cNvGrpSpPr/>
          <p:nvPr/>
        </p:nvGrpSpPr>
        <p:grpSpPr bwMode="auto">
          <a:xfrm>
            <a:off x="9690805" y="5900863"/>
            <a:ext cx="1962151" cy="474663"/>
            <a:chOff x="4910" y="3796"/>
            <a:chExt cx="1236" cy="299"/>
          </a:xfrm>
        </p:grpSpPr>
        <p:sp>
          <p:nvSpPr>
            <p:cNvPr id="58491" name="文本框 741572"/>
            <p:cNvSpPr txBox="1">
              <a:spLocks noChangeArrowheads="1"/>
            </p:cNvSpPr>
            <p:nvPr/>
          </p:nvSpPr>
          <p:spPr bwMode="auto">
            <a:xfrm>
              <a:off x="5135" y="3863"/>
              <a:ext cx="101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r>
                <a:rPr lang="en-US" altLang="zh-CN" sz="1800" b="1" dirty="0">
                  <a:latin typeface="Arial" panose="020B0604020202020204" pitchFamily="34" charset="0"/>
                </a:rPr>
                <a:t>actual profile</a:t>
              </a:r>
              <a:endParaRPr lang="en-US" altLang="zh-CN" sz="1800" b="1" dirty="0">
                <a:latin typeface="Arial" panose="020B0604020202020204" pitchFamily="34" charset="0"/>
              </a:endParaRPr>
            </a:p>
          </p:txBody>
        </p:sp>
        <p:sp>
          <p:nvSpPr>
            <p:cNvPr id="58492" name="直接连接符 741573"/>
            <p:cNvSpPr>
              <a:spLocks noChangeShapeType="1"/>
            </p:cNvSpPr>
            <p:nvPr/>
          </p:nvSpPr>
          <p:spPr bwMode="auto">
            <a:xfrm>
              <a:off x="4910" y="3796"/>
              <a:ext cx="246" cy="17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en-AU"/>
            </a:p>
          </p:txBody>
        </p:sp>
      </p:grpSp>
      <mc:AlternateContent xmlns:mc="http://schemas.openxmlformats.org/markup-compatibility/2006">
        <mc:Choice xmlns:a14="http://schemas.microsoft.com/office/drawing/2010/main" Requires="a14">
          <p:sp>
            <p:nvSpPr>
              <p:cNvPr id="200" name="矩形 199"/>
              <p:cNvSpPr/>
              <p:nvPr/>
            </p:nvSpPr>
            <p:spPr>
              <a:xfrm>
                <a:off x="10098347" y="2375107"/>
                <a:ext cx="40440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smtClean="0">
                          <a:solidFill>
                            <a:schemeClr val="tx1"/>
                          </a:solidFill>
                          <a:latin typeface="Cambria Math" panose="02040503050406030204" pitchFamily="18" charset="0"/>
                        </a:rPr>
                        <m:t>𝜑</m:t>
                      </m:r>
                    </m:oMath>
                  </m:oMathPara>
                </a14:m>
                <a:endParaRPr lang="en-AU" dirty="0">
                  <a:solidFill>
                    <a:schemeClr val="tx1"/>
                  </a:solidFill>
                </a:endParaRPr>
              </a:p>
            </p:txBody>
          </p:sp>
        </mc:Choice>
        <mc:Fallback>
          <p:sp>
            <p:nvSpPr>
              <p:cNvPr id="200" name="矩形 199"/>
              <p:cNvSpPr>
                <a:spLocks noRot="1" noChangeAspect="1" noMove="1" noResize="1" noEditPoints="1" noAdjustHandles="1" noChangeArrowheads="1" noChangeShapeType="1" noTextEdit="1"/>
              </p:cNvSpPr>
              <p:nvPr/>
            </p:nvSpPr>
            <p:spPr>
              <a:xfrm>
                <a:off x="10098347" y="2375107"/>
                <a:ext cx="404406" cy="369332"/>
              </a:xfrm>
              <a:prstGeom prst="rect">
                <a:avLst/>
              </a:prstGeom>
              <a:blipFill rotWithShape="1">
                <a:blip r:embed="rId9"/>
                <a:stretch>
                  <a:fillRect l="-143" t="-56" r="121" b="164"/>
                </a:stretch>
              </a:blipFill>
            </p:spPr>
            <p:txBody>
              <a:bodyPr/>
              <a:lstStyle/>
              <a:p>
                <a:r>
                  <a:rPr lang="zh-CN" altLang="en-US">
                    <a:noFill/>
                  </a:rPr>
                  <a:t> </a:t>
                </a:r>
              </a:p>
            </p:txBody>
          </p:sp>
        </mc:Fallback>
      </mc:AlternateContent>
      <p:sp>
        <p:nvSpPr>
          <p:cNvPr id="202" name="矩形 201"/>
          <p:cNvSpPr/>
          <p:nvPr/>
        </p:nvSpPr>
        <p:spPr>
          <a:xfrm>
            <a:off x="330835" y="4667250"/>
            <a:ext cx="6186170" cy="381635"/>
          </a:xfrm>
          <a:prstGeom prst="rect">
            <a:avLst/>
          </a:prstGeom>
        </p:spPr>
        <p:txBody>
          <a:bodyPr wrap="square">
            <a:spAutoFit/>
          </a:bodyPr>
          <a:lstStyle/>
          <a:p>
            <a:pPr algn="just">
              <a:lnSpc>
                <a:spcPct val="105000"/>
              </a:lnSpc>
              <a:spcBef>
                <a:spcPct val="5000"/>
              </a:spcBef>
            </a:pPr>
            <a:r>
              <a:rPr lang="en-US" altLang="zh-CN" b="1" dirty="0">
                <a:solidFill>
                  <a:schemeClr val="accent6"/>
                </a:solidFill>
                <a:latin typeface="Times New Roman" panose="02020603050405020304" pitchFamily="18" charset="0"/>
                <a:ea typeface="楷体_GB2312" pitchFamily="49" charset="-122"/>
              </a:rPr>
              <a:t>1. Find the pitch curve position at 190° rotation.</a:t>
            </a:r>
            <a:endParaRPr lang="en-US" altLang="zh-CN" b="1" dirty="0">
              <a:solidFill>
                <a:schemeClr val="accent6"/>
              </a:solidFill>
              <a:latin typeface="Times New Roman" panose="02020603050405020304" pitchFamily="18" charset="0"/>
              <a:ea typeface="楷体_GB2312" pitchFamily="49" charset="-122"/>
            </a:endParaRPr>
          </a:p>
        </p:txBody>
      </p:sp>
      <p:sp>
        <p:nvSpPr>
          <p:cNvPr id="206" name="任意多边形 205"/>
          <p:cNvSpPr>
            <a:spLocks noChangeArrowheads="1"/>
          </p:cNvSpPr>
          <p:nvPr/>
        </p:nvSpPr>
        <p:spPr bwMode="auto">
          <a:xfrm rot="600000">
            <a:off x="8436498" y="5534176"/>
            <a:ext cx="1588" cy="730250"/>
          </a:xfrm>
          <a:custGeom>
            <a:avLst/>
            <a:gdLst>
              <a:gd name="T0" fmla="*/ 0 w 1"/>
              <a:gd name="T1" fmla="*/ 0 h 460"/>
              <a:gd name="T2" fmla="*/ 0 w 1"/>
              <a:gd name="T3" fmla="*/ 2147483646 h 460"/>
              <a:gd name="T4" fmla="*/ 0 60000 65536"/>
              <a:gd name="T5" fmla="*/ 0 60000 65536"/>
            </a:gdLst>
            <a:ahLst/>
            <a:cxnLst>
              <a:cxn ang="T4">
                <a:pos x="T0" y="T1"/>
              </a:cxn>
              <a:cxn ang="T5">
                <a:pos x="T2" y="T3"/>
              </a:cxn>
            </a:cxnLst>
            <a:rect l="0" t="0" r="r" b="b"/>
            <a:pathLst>
              <a:path w="1" h="460">
                <a:moveTo>
                  <a:pt x="0" y="0"/>
                </a:moveTo>
                <a:lnTo>
                  <a:pt x="0" y="460"/>
                </a:lnTo>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07" name="椭圆 206"/>
          <p:cNvSpPr>
            <a:spLocks noChangeArrowheads="1"/>
          </p:cNvSpPr>
          <p:nvPr/>
        </p:nvSpPr>
        <p:spPr bwMode="auto">
          <a:xfrm>
            <a:off x="8298625" y="6188346"/>
            <a:ext cx="130175" cy="120650"/>
          </a:xfrm>
          <a:prstGeom prst="ellipse">
            <a:avLst/>
          </a:prstGeom>
          <a:solidFill>
            <a:srgbClr val="FFFF99"/>
          </a:solidFill>
          <a:ln w="3175">
            <a:solidFill>
              <a:srgbClr val="FF0000"/>
            </a:solidFill>
            <a:round/>
          </a:ln>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sp>
        <p:nvSpPr>
          <p:cNvPr id="209" name="任意多边形 208"/>
          <p:cNvSpPr>
            <a:spLocks noChangeArrowheads="1"/>
          </p:cNvSpPr>
          <p:nvPr/>
        </p:nvSpPr>
        <p:spPr bwMode="auto">
          <a:xfrm>
            <a:off x="8346680" y="2013545"/>
            <a:ext cx="1588" cy="744538"/>
          </a:xfrm>
          <a:custGeom>
            <a:avLst/>
            <a:gdLst>
              <a:gd name="T0" fmla="*/ 0 w 1"/>
              <a:gd name="T1" fmla="*/ 2147483646 h 593"/>
              <a:gd name="T2" fmla="*/ 0 w 1"/>
              <a:gd name="T3" fmla="*/ 0 h 593"/>
              <a:gd name="T4" fmla="*/ 0 60000 65536"/>
              <a:gd name="T5" fmla="*/ 0 60000 65536"/>
            </a:gdLst>
            <a:ahLst/>
            <a:cxnLst>
              <a:cxn ang="T4">
                <a:pos x="T0" y="T1"/>
              </a:cxn>
              <a:cxn ang="T5">
                <a:pos x="T2" y="T3"/>
              </a:cxn>
            </a:cxnLst>
            <a:rect l="0" t="0" r="r" b="b"/>
            <a:pathLst>
              <a:path w="1" h="593">
                <a:moveTo>
                  <a:pt x="0" y="593"/>
                </a:moveTo>
                <a:lnTo>
                  <a:pt x="0" y="0"/>
                </a:lnTo>
              </a:path>
            </a:pathLst>
          </a:custGeom>
          <a:noFill/>
          <a:ln w="25400">
            <a:solidFill>
              <a:srgbClr val="FF0000"/>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10" name="矩形 209"/>
          <p:cNvSpPr/>
          <p:nvPr/>
        </p:nvSpPr>
        <p:spPr>
          <a:xfrm>
            <a:off x="335280" y="5313680"/>
            <a:ext cx="7531100" cy="381635"/>
          </a:xfrm>
          <a:prstGeom prst="rect">
            <a:avLst/>
          </a:prstGeom>
        </p:spPr>
        <p:txBody>
          <a:bodyPr wrap="square">
            <a:spAutoFit/>
          </a:bodyPr>
          <a:lstStyle/>
          <a:p>
            <a:pPr algn="just">
              <a:lnSpc>
                <a:spcPct val="105000"/>
              </a:lnSpc>
              <a:spcBef>
                <a:spcPct val="5000"/>
              </a:spcBef>
            </a:pPr>
            <a:r>
              <a:rPr lang="en-US" altLang="zh-CN" b="1" dirty="0">
                <a:solidFill>
                  <a:schemeClr val="accent6"/>
                </a:solidFill>
                <a:latin typeface="Times New Roman" panose="02020603050405020304" pitchFamily="18" charset="0"/>
                <a:ea typeface="楷体_GB2312" pitchFamily="49" charset="-122"/>
              </a:rPr>
              <a:t>2. If 190° can be drawn, can any angle be drawn similarly?</a:t>
            </a:r>
            <a:endParaRPr lang="en-US" altLang="zh-CN" b="1" dirty="0">
              <a:solidFill>
                <a:schemeClr val="accent6"/>
              </a:solidFill>
              <a:latin typeface="Times New Roman" panose="02020603050405020304" pitchFamily="18" charset="0"/>
              <a:ea typeface="楷体_GB2312" pitchFamily="49" charset="-122"/>
            </a:endParaRPr>
          </a:p>
        </p:txBody>
      </p:sp>
      <p:sp>
        <p:nvSpPr>
          <p:cNvPr id="211" name="矩形 210"/>
          <p:cNvSpPr/>
          <p:nvPr/>
        </p:nvSpPr>
        <p:spPr>
          <a:xfrm>
            <a:off x="2849772" y="5705783"/>
            <a:ext cx="885179" cy="369332"/>
          </a:xfrm>
          <a:prstGeom prst="rect">
            <a:avLst/>
          </a:prstGeom>
        </p:spPr>
        <p:txBody>
          <a:bodyPr wrap="square">
            <a:spAutoFit/>
          </a:bodyPr>
          <a:lstStyle/>
          <a:p>
            <a:r>
              <a:rPr lang="en-US" altLang="zh-CN" b="1" dirty="0">
                <a:solidFill>
                  <a:schemeClr val="accent6"/>
                </a:solidFill>
                <a:latin typeface="楷体" panose="02010609060101010101" pitchFamily="49" charset="-122"/>
                <a:ea typeface="楷体" panose="02010609060101010101" pitchFamily="49" charset="-122"/>
              </a:rPr>
              <a:t>Sure!</a:t>
            </a:r>
            <a:endParaRPr lang="en-AU" dirty="0"/>
          </a:p>
        </p:txBody>
      </p:sp>
      <p:sp>
        <p:nvSpPr>
          <p:cNvPr id="214" name="任意多边形 737453"/>
          <p:cNvSpPr>
            <a:spLocks noChangeArrowheads="1"/>
          </p:cNvSpPr>
          <p:nvPr/>
        </p:nvSpPr>
        <p:spPr bwMode="auto">
          <a:xfrm>
            <a:off x="8851247" y="3164614"/>
            <a:ext cx="1981200" cy="18288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175">
            <a:solidFill>
              <a:srgbClr val="FF33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215" name="文本框 737454"/>
          <p:cNvSpPr txBox="1">
            <a:spLocks noChangeArrowheads="1"/>
          </p:cNvSpPr>
          <p:nvPr/>
        </p:nvSpPr>
        <p:spPr bwMode="auto">
          <a:xfrm>
            <a:off x="10230138" y="3394625"/>
            <a:ext cx="418865" cy="36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zh-CN" sz="1800" b="1" dirty="0">
                <a:solidFill>
                  <a:srgbClr val="FF3300"/>
                </a:solidFill>
                <a:latin typeface="Times New Roman" panose="02020603050405020304" pitchFamily="18" charset="0"/>
              </a:rPr>
              <a:t>-</a:t>
            </a:r>
            <a:r>
              <a:rPr lang="zh-CN" altLang="zh-CN" sz="1800" b="1" dirty="0">
                <a:solidFill>
                  <a:srgbClr val="FF3300"/>
                </a:solidFill>
                <a:latin typeface="Times New Roman" panose="02020603050405020304" pitchFamily="18" charset="0"/>
                <a:sym typeface="Symbol" panose="05050102010706020507" pitchFamily="18" charset="2"/>
              </a:rPr>
              <a:t></a:t>
            </a:r>
            <a:endParaRPr lang="zh-CN" altLang="zh-CN" sz="1800" b="1" dirty="0">
              <a:solidFill>
                <a:srgbClr val="FF3300"/>
              </a:solidFill>
              <a:latin typeface="Times New Roman" panose="02020603050405020304" pitchFamily="18" charset="0"/>
            </a:endParaRPr>
          </a:p>
        </p:txBody>
      </p:sp>
      <p:sp>
        <p:nvSpPr>
          <p:cNvPr id="216" name="文本框 623696"/>
          <p:cNvSpPr txBox="1">
            <a:spLocks noChangeArrowheads="1"/>
          </p:cNvSpPr>
          <p:nvPr/>
        </p:nvSpPr>
        <p:spPr bwMode="auto">
          <a:xfrm>
            <a:off x="9256140" y="5418587"/>
            <a:ext cx="30581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 typeface="Arial" panose="020B0604020202020204" pitchFamily="34" charset="0"/>
              <a:buNone/>
            </a:pPr>
            <a:r>
              <a:rPr lang="zh-CN" altLang="en-US" sz="1400" dirty="0">
                <a:solidFill>
                  <a:srgbClr val="CC3399"/>
                </a:solidFill>
                <a:latin typeface="Times New Roman" panose="02020603050405020304" pitchFamily="18" charset="0"/>
                <a:sym typeface="Symbol" panose="05050102010706020507" pitchFamily="18" charset="2"/>
              </a:rPr>
              <a:t></a:t>
            </a:r>
            <a:endParaRPr lang="zh-CN" altLang="en-US" sz="1400" dirty="0">
              <a:solidFill>
                <a:srgbClr val="CC3399"/>
              </a:solidFill>
              <a:latin typeface="Times New Roman" panose="02020603050405020304" pitchFamily="18" charset="0"/>
            </a:endParaRPr>
          </a:p>
        </p:txBody>
      </p:sp>
      <p:sp>
        <p:nvSpPr>
          <p:cNvPr id="217" name="任意多边形 623695"/>
          <p:cNvSpPr>
            <a:spLocks noChangeArrowheads="1"/>
          </p:cNvSpPr>
          <p:nvPr/>
        </p:nvSpPr>
        <p:spPr bwMode="auto">
          <a:xfrm rot="2105939">
            <a:off x="8539087" y="5034101"/>
            <a:ext cx="1197491" cy="808038"/>
          </a:xfrm>
          <a:custGeom>
            <a:avLst/>
            <a:gdLst>
              <a:gd name="T0" fmla="*/ 0 w 21600"/>
              <a:gd name="T1" fmla="*/ 0 h 15809"/>
              <a:gd name="T2" fmla="*/ 0 w 21600"/>
              <a:gd name="T3" fmla="*/ 0 h 15809"/>
              <a:gd name="T4" fmla="*/ 0 w 21600"/>
              <a:gd name="T5" fmla="*/ 0 h 15809"/>
              <a:gd name="T6" fmla="*/ 0 w 21600"/>
              <a:gd name="T7" fmla="*/ 0 h 15809"/>
              <a:gd name="T8" fmla="*/ 0 w 21600"/>
              <a:gd name="T9" fmla="*/ 0 h 15809"/>
              <a:gd name="T10" fmla="*/ 0 w 21600"/>
              <a:gd name="T11" fmla="*/ 0 h 15809"/>
              <a:gd name="T12" fmla="*/ 0 w 21600"/>
              <a:gd name="T13" fmla="*/ 0 h 158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15809" fill="none">
                <a:moveTo>
                  <a:pt x="21489" y="0"/>
                </a:moveTo>
                <a:cubicBezTo>
                  <a:pt x="21562" y="716"/>
                  <a:pt x="21599" y="1443"/>
                  <a:pt x="21599" y="2180"/>
                </a:cubicBezTo>
                <a:cubicBezTo>
                  <a:pt x="21599" y="7348"/>
                  <a:pt x="19784" y="12092"/>
                  <a:pt x="16757" y="15810"/>
                </a:cubicBezTo>
              </a:path>
              <a:path w="21600" h="15809" stroke="0">
                <a:moveTo>
                  <a:pt x="21489" y="0"/>
                </a:moveTo>
                <a:cubicBezTo>
                  <a:pt x="21562" y="716"/>
                  <a:pt x="21599" y="1443"/>
                  <a:pt x="21599" y="2180"/>
                </a:cubicBezTo>
                <a:cubicBezTo>
                  <a:pt x="21599" y="7348"/>
                  <a:pt x="19784" y="12092"/>
                  <a:pt x="16757" y="15810"/>
                </a:cubicBezTo>
                <a:lnTo>
                  <a:pt x="0" y="2180"/>
                </a:lnTo>
                <a:lnTo>
                  <a:pt x="21489" y="0"/>
                </a:lnTo>
                <a:close/>
              </a:path>
            </a:pathLst>
          </a:custGeom>
          <a:noFill/>
          <a:ln w="12700">
            <a:solidFill>
              <a:srgbClr val="CC3399"/>
            </a:solidFill>
            <a:round/>
            <a:headEnd type="triangl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2" name="组合 1"/>
          <p:cNvGrpSpPr/>
          <p:nvPr/>
        </p:nvGrpSpPr>
        <p:grpSpPr>
          <a:xfrm>
            <a:off x="8154028" y="4812408"/>
            <a:ext cx="681551" cy="1651450"/>
            <a:chOff x="9083668" y="5147053"/>
            <a:chExt cx="681551" cy="1651450"/>
          </a:xfrm>
        </p:grpSpPr>
        <p:sp>
          <p:nvSpPr>
            <p:cNvPr id="205" name="直接连接符 204"/>
            <p:cNvSpPr>
              <a:spLocks noChangeShapeType="1"/>
            </p:cNvSpPr>
            <p:nvPr/>
          </p:nvSpPr>
          <p:spPr bwMode="auto">
            <a:xfrm rot="4742410">
              <a:off x="8598719" y="5632002"/>
              <a:ext cx="1651450" cy="681551"/>
            </a:xfrm>
            <a:prstGeom prst="line">
              <a:avLst/>
            </a:prstGeom>
            <a:noFill/>
            <a:ln w="19050">
              <a:solidFill>
                <a:srgbClr val="00B0F0"/>
              </a:solidFill>
              <a:prstDash val="dash"/>
              <a:round/>
            </a:ln>
            <a:extLst>
              <a:ext uri="{909E8E84-426E-40DD-AFC4-6F175D3DCCD1}">
                <a14:hiddenFill xmlns:a14="http://schemas.microsoft.com/office/drawing/2010/main">
                  <a:noFill/>
                </a14:hiddenFill>
              </a:ext>
            </a:extLst>
          </p:spPr>
          <p:txBody>
            <a:bodyPr/>
            <a:lstStyle/>
            <a:p>
              <a:endParaRPr lang="en-AU"/>
            </a:p>
          </p:txBody>
        </p:sp>
        <p:sp>
          <p:nvSpPr>
            <p:cNvPr id="212" name="椭圆 211"/>
            <p:cNvSpPr>
              <a:spLocks noChangeArrowheads="1"/>
            </p:cNvSpPr>
            <p:nvPr/>
          </p:nvSpPr>
          <p:spPr bwMode="auto">
            <a:xfrm>
              <a:off x="9382536" y="5783232"/>
              <a:ext cx="130175" cy="120650"/>
            </a:xfrm>
            <a:prstGeom prst="ellipse">
              <a:avLst/>
            </a:prstGeom>
            <a:solidFill>
              <a:schemeClr val="accent6"/>
            </a:solidFill>
            <a:ln w="3175">
              <a:solidFill>
                <a:srgbClr val="FF0000"/>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1800">
                <a:latin typeface="Arial" panose="020B0604020202020204" pitchFamily="34" charset="0"/>
              </a:endParaRPr>
            </a:p>
          </p:txBody>
        </p:sp>
      </p:grpSp>
      <p:pic>
        <p:nvPicPr>
          <p:cNvPr id="219" name="凸轮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330984" y="2301807"/>
            <a:ext cx="2811396" cy="2082937"/>
          </a:xfrm>
          <a:prstGeom prst="rect">
            <a:avLst/>
          </a:prstGeom>
        </p:spPr>
      </p:pic>
      <p:sp>
        <p:nvSpPr>
          <p:cNvPr id="220" name="矩形 219"/>
          <p:cNvSpPr/>
          <p:nvPr/>
        </p:nvSpPr>
        <p:spPr>
          <a:xfrm>
            <a:off x="234950" y="5993765"/>
            <a:ext cx="5582285" cy="381635"/>
          </a:xfrm>
          <a:prstGeom prst="rect">
            <a:avLst/>
          </a:prstGeom>
        </p:spPr>
        <p:txBody>
          <a:bodyPr wrap="square">
            <a:spAutoFit/>
          </a:bodyPr>
          <a:lstStyle/>
          <a:p>
            <a:pPr algn="just">
              <a:lnSpc>
                <a:spcPct val="105000"/>
              </a:lnSpc>
              <a:spcBef>
                <a:spcPct val="5000"/>
              </a:spcBef>
            </a:pPr>
            <a:r>
              <a:rPr lang="en-US" altLang="zh-CN" b="1" dirty="0">
                <a:solidFill>
                  <a:schemeClr val="accent6"/>
                </a:solidFill>
                <a:latin typeface="Times New Roman" panose="02020603050405020304" pitchFamily="18" charset="0"/>
                <a:ea typeface="楷体_GB2312" pitchFamily="49" charset="-122"/>
              </a:rPr>
              <a:t>3. How to draw the actual profile?</a:t>
            </a:r>
            <a:endParaRPr lang="en-US" altLang="zh-CN" b="1" dirty="0">
              <a:solidFill>
                <a:schemeClr val="accent6"/>
              </a:solidFill>
              <a:latin typeface="Times New Roman" panose="02020603050405020304" pitchFamily="18" charset="0"/>
              <a:ea typeface="楷体_GB2312" pitchFamily="49" charset="-122"/>
            </a:endParaRPr>
          </a:p>
        </p:txBody>
      </p:sp>
      <p:sp>
        <p:nvSpPr>
          <p:cNvPr id="221" name="矩形 220"/>
          <p:cNvSpPr/>
          <p:nvPr/>
        </p:nvSpPr>
        <p:spPr>
          <a:xfrm>
            <a:off x="2660015" y="6343650"/>
            <a:ext cx="3013710" cy="368300"/>
          </a:xfrm>
          <a:prstGeom prst="rect">
            <a:avLst/>
          </a:prstGeom>
        </p:spPr>
        <p:txBody>
          <a:bodyPr wrap="square">
            <a:spAutoFit/>
          </a:bodyPr>
          <a:lstStyle/>
          <a:p>
            <a:r>
              <a:rPr lang="zh-CN" altLang="en-US" b="1" dirty="0">
                <a:solidFill>
                  <a:schemeClr val="accent6"/>
                </a:solidFill>
                <a:latin typeface="楷体" panose="02010609060101010101" pitchFamily="49" charset="-122"/>
                <a:ea typeface="楷体" panose="02010609060101010101" pitchFamily="49" charset="-122"/>
              </a:rPr>
              <a:t>Draw the envelope!</a:t>
            </a:r>
            <a:endParaRPr lang="en-AU" dirty="0"/>
          </a:p>
        </p:txBody>
      </p:sp>
      <p:sp>
        <p:nvSpPr>
          <p:cNvPr id="18"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Tree>
  </p:cSld>
  <p:clrMapOvr>
    <a:masterClrMapping/>
  </p:clrMapOvr>
  <p:transition>
    <p:sndAc>
      <p:stSnd>
        <p:snd r:embed="rId1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3" presetClass="entr" presetSubtype="288"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p:cTn id="19" dur="500" fill="hold"/>
                                        <p:tgtEl>
                                          <p:spTgt spid="207"/>
                                        </p:tgtEl>
                                        <p:attrNameLst>
                                          <p:attrName>ppt_w</p:attrName>
                                        </p:attrNameLst>
                                      </p:cBhvr>
                                      <p:tavLst>
                                        <p:tav tm="0">
                                          <p:val>
                                            <p:strVal val="4/3*#ppt_w"/>
                                          </p:val>
                                        </p:tav>
                                        <p:tav tm="100000">
                                          <p:val>
                                            <p:strVal val="#ppt_w"/>
                                          </p:val>
                                        </p:tav>
                                      </p:tavLst>
                                    </p:anim>
                                    <p:anim calcmode="lin" valueType="num">
                                      <p:cBhvr>
                                        <p:cTn id="20" dur="500" fill="hold"/>
                                        <p:tgtEl>
                                          <p:spTgt spid="207"/>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14" name="TYPE.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7" restart="whenNotActive" fill="hold" evtFilter="cancelBubble" nodeType="interactiveSeq">
                <p:stCondLst>
                  <p:cond evt="onClick" delay="0">
                    <p:tgtEl>
                      <p:spTgt spid="219"/>
                    </p:tgtEl>
                  </p:cond>
                </p:stCondLst>
                <p:endSync evt="end" delay="0">
                  <p:rtn val="all"/>
                </p:endSync>
                <p:childTnLst>
                  <p:par>
                    <p:cTn id="38" fill="hold">
                      <p:stCondLst>
                        <p:cond delay="0"/>
                      </p:stCondLst>
                      <p:childTnLst>
                        <p:par>
                          <p:cTn id="39" fill="hold">
                            <p:stCondLst>
                              <p:cond delay="0"/>
                            </p:stCondLst>
                            <p:childTnLst>
                              <p:par>
                                <p:cTn id="40" presetID="2" presetClass="mediacall" presetSubtype="0" fill="hold" nodeType="clickEffect">
                                  <p:stCondLst>
                                    <p:cond delay="0"/>
                                  </p:stCondLst>
                                  <p:childTnLst>
                                    <p:cmd type="call" cmd="togglePause">
                                      <p:cBhvr>
                                        <p:cTn id="41" dur="1" fill="hold"/>
                                        <p:tgtEl>
                                          <p:spTgt spid="219"/>
                                        </p:tgtEl>
                                      </p:cBhvr>
                                    </p:cmd>
                                  </p:childTnLst>
                                </p:cTn>
                              </p:par>
                            </p:childTnLst>
                          </p:cTn>
                        </p:par>
                      </p:childTnLst>
                    </p:cTn>
                  </p:par>
                </p:childTnLst>
              </p:cTn>
              <p:nextCondLst>
                <p:cond evt="onClick" delay="0">
                  <p:tgtEl>
                    <p:spTgt spid="219"/>
                  </p:tgtEl>
                </p:cond>
              </p:nextCondLst>
            </p:seq>
            <p:video>
              <p:cMediaNode vol="80000">
                <p:cTn id="42" fill="hold" display="0">
                  <p:stCondLst>
                    <p:cond delay="indefinite"/>
                  </p:stCondLst>
                </p:cTn>
                <p:tgtEl>
                  <p:spTgt spid="219"/>
                </p:tgtEl>
              </p:cMediaNode>
            </p:video>
          </p:childTnLst>
        </p:cTn>
      </p:par>
    </p:tnLst>
    <p:bldLst>
      <p:bldP spid="206" grpId="0" bldLvl="0" animBg="1"/>
      <p:bldP spid="209" grpId="0" bldLvl="0" animBg="1"/>
      <p:bldP spid="210" grpId="0"/>
      <p:bldP spid="211" grpId="0"/>
      <p:bldP spid="220" grpId="0"/>
      <p:bldP spid="221"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1619" name="文本占位符 751618"/>
          <p:cNvSpPr>
            <a:spLocks noGrp="1" noRot="1" noChangeArrowheads="1"/>
          </p:cNvSpPr>
          <p:nvPr>
            <p:ph type="body" sz="half" idx="1"/>
          </p:nvPr>
        </p:nvSpPr>
        <p:spPr>
          <a:xfrm>
            <a:off x="829310" y="1416685"/>
            <a:ext cx="5186045" cy="1109980"/>
          </a:xfrm>
        </p:spPr>
        <p:txBody>
          <a:bodyPr vert="horz" wrap="square" lIns="0" tIns="0" rIns="0" bIns="0" numCol="1" anchor="t" anchorCtr="0" compatLnSpc="1"/>
          <a:lstStyle/>
          <a:p>
            <a:pPr marL="269875" indent="-269875" eaLnBrk="1" hangingPunct="1">
              <a:lnSpc>
                <a:spcPct val="110000"/>
              </a:lnSpc>
              <a:spcBef>
                <a:spcPct val="5000"/>
              </a:spcBef>
            </a:pPr>
            <a:r>
              <a:rPr lang="en-US" altLang="zh-CN" sz="2000" b="1" dirty="0">
                <a:latin typeface="Times New Roman" panose="02020603050405020304" pitchFamily="18" charset="0"/>
                <a:ea typeface="楷体_GB2312" pitchFamily="49" charset="-122"/>
                <a:sym typeface="Symbol" panose="05050102010706020507" pitchFamily="18" charset="2"/>
              </a:rPr>
              <a:t>Actual profile curvature radius</a:t>
            </a:r>
            <a:r>
              <a:rPr lang="zh-CN" altLang="en-US" sz="2000" b="1" dirty="0">
                <a:latin typeface="Times New Roman" panose="02020603050405020304" pitchFamily="18" charset="0"/>
                <a:ea typeface="楷体_GB2312" pitchFamily="49" charset="-122"/>
                <a:sym typeface="Symbol" panose="05050102010706020507" pitchFamily="18" charset="2"/>
              </a:rPr>
              <a:t>：</a:t>
            </a:r>
            <a:r>
              <a:rPr lang="en-US" altLang="zh-CN" sz="2000" b="1" baseline="-25000" dirty="0">
                <a:latin typeface="Times New Roman" panose="02020603050405020304" pitchFamily="18" charset="0"/>
                <a:ea typeface="楷体_GB2312" pitchFamily="49" charset="-122"/>
                <a:sym typeface="Symbol" panose="05050102010706020507" pitchFamily="18" charset="2"/>
              </a:rPr>
              <a:t>a</a:t>
            </a:r>
            <a:endParaRPr lang="en-US" altLang="zh-CN" sz="2000" b="1" baseline="-25000" dirty="0">
              <a:latin typeface="Times New Roman" panose="02020603050405020304" pitchFamily="18" charset="0"/>
              <a:ea typeface="楷体_GB2312" pitchFamily="49" charset="-122"/>
              <a:sym typeface="Symbol" panose="05050102010706020507" pitchFamily="18" charset="2"/>
            </a:endParaRPr>
          </a:p>
          <a:p>
            <a:pPr marL="269875" indent="-269875" eaLnBrk="1" hangingPunct="1">
              <a:lnSpc>
                <a:spcPct val="110000"/>
              </a:lnSpc>
              <a:spcBef>
                <a:spcPct val="5000"/>
              </a:spcBef>
            </a:pPr>
            <a:r>
              <a:rPr lang="en-US" altLang="zh-CN" sz="2000" b="1" dirty="0">
                <a:latin typeface="Times New Roman" panose="02020603050405020304" pitchFamily="18" charset="0"/>
                <a:ea typeface="楷体_GB2312" pitchFamily="49" charset="-122"/>
                <a:sym typeface="Symbol" panose="05050102010706020507" pitchFamily="18" charset="2"/>
              </a:rPr>
              <a:t>Pitch curve curvature radius</a:t>
            </a:r>
            <a:r>
              <a:rPr lang="zh-CN" altLang="en-US" sz="2000" b="1" dirty="0">
                <a:latin typeface="Times New Roman" panose="02020603050405020304" pitchFamily="18" charset="0"/>
                <a:ea typeface="楷体_GB2312" pitchFamily="49" charset="-122"/>
                <a:sym typeface="Symbol" panose="05050102010706020507" pitchFamily="18" charset="2"/>
              </a:rPr>
              <a:t>：</a:t>
            </a:r>
            <a:endParaRPr lang="en-US" altLang="zh-CN" sz="2000" b="1" baseline="-25000" dirty="0">
              <a:latin typeface="Times New Roman" panose="02020603050405020304" pitchFamily="18" charset="0"/>
              <a:ea typeface="楷体_GB2312" pitchFamily="49" charset="-122"/>
              <a:sym typeface="Symbol" panose="05050102010706020507" pitchFamily="18" charset="2"/>
            </a:endParaRPr>
          </a:p>
          <a:p>
            <a:pPr marL="269875" indent="-269875" eaLnBrk="1" hangingPunct="1">
              <a:lnSpc>
                <a:spcPct val="110000"/>
              </a:lnSpc>
              <a:spcBef>
                <a:spcPct val="5000"/>
              </a:spcBef>
            </a:pPr>
            <a:r>
              <a:rPr lang="zh-CN" altLang="en-US" sz="2000" b="1" dirty="0">
                <a:latin typeface="Times New Roman" panose="02020603050405020304" pitchFamily="18" charset="0"/>
                <a:ea typeface="楷体_GB2312" pitchFamily="49" charset="-122"/>
                <a:sym typeface="Symbol" panose="05050102010706020507" pitchFamily="18" charset="2"/>
              </a:rPr>
              <a:t>Roller Radius: r</a:t>
            </a:r>
            <a:r>
              <a:rPr lang="zh-CN" altLang="en-US" sz="2000" b="1" baseline="-25000" dirty="0">
                <a:latin typeface="Times New Roman" panose="02020603050405020304" pitchFamily="18" charset="0"/>
                <a:ea typeface="楷体_GB2312" pitchFamily="49" charset="-122"/>
                <a:sym typeface="Symbol" panose="05050102010706020507" pitchFamily="18" charset="2"/>
              </a:rPr>
              <a:t>r</a:t>
            </a:r>
            <a:endParaRPr lang="zh-CN" altLang="en-US" sz="2000" b="1" baseline="-25000" dirty="0">
              <a:latin typeface="Times New Roman" panose="02020603050405020304" pitchFamily="18" charset="0"/>
              <a:ea typeface="楷体_GB2312" pitchFamily="49" charset="-122"/>
              <a:sym typeface="Symbol" panose="05050102010706020507" pitchFamily="18" charset="2"/>
            </a:endParaRPr>
          </a:p>
        </p:txBody>
      </p:sp>
      <p:sp>
        <p:nvSpPr>
          <p:cNvPr id="75780" name="标题 751619"/>
          <p:cNvSpPr>
            <a:spLocks noGrp="1" noRot="1" noChangeArrowheads="1"/>
          </p:cNvSpPr>
          <p:nvPr>
            <p:ph type="title"/>
          </p:nvPr>
        </p:nvSpPr>
        <p:spPr>
          <a:xfrm>
            <a:off x="723964" y="1098552"/>
            <a:ext cx="8926512" cy="400050"/>
          </a:xfrm>
        </p:spPr>
        <p:txBody>
          <a:bodyPr wrap="square"/>
          <a:lstStyle/>
          <a:p>
            <a:pPr algn="l" eaLnBrk="1" hangingPunct="1"/>
            <a:r>
              <a:rPr lang="zh-CN" altLang="en-US" sz="3200" b="1" dirty="0">
                <a:solidFill>
                  <a:srgbClr val="FF0000"/>
                </a:solidFill>
                <a:latin typeface="隶书" panose="02010509060101010101" pitchFamily="49" charset="-122"/>
                <a:ea typeface="隶书" panose="02010509060101010101" pitchFamily="49" charset="-122"/>
              </a:rPr>
              <a:t>Roller Radius Selection</a:t>
            </a:r>
            <a:endParaRPr lang="zh-CN" altLang="en-US" sz="4800" dirty="0">
              <a:solidFill>
                <a:srgbClr val="FF00FF"/>
              </a:solidFill>
              <a:ea typeface="黑体" panose="02010609060101010101" pitchFamily="2" charset="-122"/>
            </a:endParaRPr>
          </a:p>
        </p:txBody>
      </p:sp>
      <p:sp>
        <p:nvSpPr>
          <p:cNvPr id="751621" name="文本占位符 751620"/>
          <p:cNvSpPr>
            <a:spLocks noGrp="1" noRot="1" noChangeArrowheads="1"/>
          </p:cNvSpPr>
          <p:nvPr>
            <p:ph type="body" sz="half" idx="2"/>
          </p:nvPr>
        </p:nvSpPr>
        <p:spPr>
          <a:xfrm>
            <a:off x="892810" y="4015105"/>
            <a:ext cx="4972050" cy="370840"/>
          </a:xfrm>
        </p:spPr>
        <p:txBody>
          <a:bodyPr wrap="square"/>
          <a:lstStyle/>
          <a:p>
            <a:pPr marL="269875" indent="-269875" eaLnBrk="1" hangingPunct="1">
              <a:lnSpc>
                <a:spcPct val="110000"/>
              </a:lnSpc>
              <a:spcBef>
                <a:spcPct val="5000"/>
              </a:spcBef>
              <a:buNone/>
            </a:pPr>
            <a:r>
              <a:rPr lang="zh-CN" altLang="zh-CN" sz="2000" b="1" dirty="0">
                <a:solidFill>
                  <a:srgbClr val="FF0000"/>
                </a:solidFill>
                <a:latin typeface="Times New Roman" panose="02020603050405020304" pitchFamily="18" charset="0"/>
                <a:ea typeface="楷体_GB2312" pitchFamily="49" charset="-122"/>
              </a:rPr>
              <a:t>2</a:t>
            </a:r>
            <a:r>
              <a:rPr lang="zh-CN" altLang="en-US" sz="2000" b="1" dirty="0">
                <a:solidFill>
                  <a:srgbClr val="FF0000"/>
                </a:solidFill>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ea typeface="楷体_GB2312" pitchFamily="49" charset="-122"/>
              </a:rPr>
              <a:t>outer convex cam profile</a:t>
            </a:r>
            <a:r>
              <a:rPr lang="zh-CN" altLang="en-US" sz="2000" b="1" dirty="0">
                <a:solidFill>
                  <a:srgbClr val="FF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000" b="1" baseline="-25000" dirty="0">
                <a:solidFill>
                  <a:srgbClr val="000000"/>
                </a:solidFill>
                <a:latin typeface="Times New Roman" panose="02020603050405020304" pitchFamily="18" charset="0"/>
                <a:ea typeface="楷体_GB2312" pitchFamily="49" charset="-122"/>
                <a:sym typeface="Symbol" panose="05050102010706020507" pitchFamily="18" charset="2"/>
              </a:rPr>
              <a:t>a</a:t>
            </a:r>
            <a:r>
              <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1" dirty="0" err="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sz="2000"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r</a:t>
            </a:r>
            <a:endParaRPr lang="zh-CN" altLang="en-US" sz="2000" b="1" dirty="0">
              <a:solidFill>
                <a:srgbClr val="000000"/>
              </a:solidFill>
              <a:latin typeface="Times New Roman" panose="02020603050405020304" pitchFamily="18" charset="0"/>
              <a:ea typeface="楷体_GB2312" pitchFamily="49" charset="-122"/>
            </a:endParaRPr>
          </a:p>
        </p:txBody>
      </p:sp>
      <p:sp>
        <p:nvSpPr>
          <p:cNvPr id="751622" name="文本框 751621"/>
          <p:cNvSpPr txBox="1">
            <a:spLocks noChangeArrowheads="1"/>
          </p:cNvSpPr>
          <p:nvPr/>
        </p:nvSpPr>
        <p:spPr bwMode="auto">
          <a:xfrm>
            <a:off x="7116826" y="6011292"/>
            <a:ext cx="158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r>
              <a:rPr lang="zh-CN" altLang="en-US" sz="2000" b="1" dirty="0">
                <a:solidFill>
                  <a:srgbClr val="000000"/>
                </a:solidFill>
                <a:latin typeface="Times New Roman" panose="02020603050405020304" pitchFamily="18" charset="0"/>
                <a:sym typeface="Symbol" panose="05050102010706020507" pitchFamily="18" charset="2"/>
              </a:rPr>
              <a:t></a:t>
            </a:r>
            <a:r>
              <a:rPr lang="en-US" altLang="zh-CN" sz="2000" b="1" baseline="-25000" dirty="0">
                <a:solidFill>
                  <a:srgbClr val="000000"/>
                </a:solidFill>
                <a:latin typeface="Times New Roman" panose="02020603050405020304" pitchFamily="18" charset="0"/>
                <a:sym typeface="Symbol" panose="05050102010706020507" pitchFamily="18" charset="2"/>
              </a:rPr>
              <a:t>a</a:t>
            </a:r>
            <a:r>
              <a:rPr lang="en-US" altLang="zh-CN" sz="2000" b="1" dirty="0">
                <a:solidFill>
                  <a:srgbClr val="000000"/>
                </a:solidFill>
                <a:latin typeface="Times New Roman" panose="02020603050405020304" pitchFamily="18" charset="0"/>
                <a:sym typeface="Symbol" panose="05050102010706020507" pitchFamily="18" charset="2"/>
              </a:rPr>
              <a:t>= -</a:t>
            </a:r>
            <a:r>
              <a:rPr lang="en-US" altLang="zh-CN" sz="2000" b="1" dirty="0" err="1">
                <a:solidFill>
                  <a:srgbClr val="000000"/>
                </a:solidFill>
                <a:latin typeface="Times New Roman" panose="02020603050405020304" pitchFamily="18" charset="0"/>
                <a:sym typeface="Symbol" panose="05050102010706020507" pitchFamily="18" charset="2"/>
              </a:rPr>
              <a:t>r</a:t>
            </a:r>
            <a:r>
              <a:rPr lang="en-US" altLang="zh-CN" sz="2000" b="1" baseline="-25000" dirty="0" err="1">
                <a:solidFill>
                  <a:srgbClr val="000000"/>
                </a:solidFill>
                <a:latin typeface="Times New Roman" panose="02020603050405020304" pitchFamily="18" charset="0"/>
                <a:sym typeface="Symbol" panose="05050102010706020507" pitchFamily="18" charset="2"/>
              </a:rPr>
              <a:t>r</a:t>
            </a:r>
            <a:r>
              <a:rPr lang="zh-CN" altLang="en-US" sz="2000" b="1" baseline="-25000" dirty="0">
                <a:solidFill>
                  <a:srgbClr val="000000"/>
                </a:solidFill>
                <a:latin typeface="Times New Roman" panose="02020603050405020304" pitchFamily="18" charset="0"/>
                <a:sym typeface="Symbol" panose="05050102010706020507" pitchFamily="18" charset="2"/>
              </a:rPr>
              <a:t>＝</a:t>
            </a:r>
            <a:r>
              <a:rPr lang="en-US" altLang="zh-CN" sz="2000" b="1" dirty="0">
                <a:solidFill>
                  <a:srgbClr val="000000"/>
                </a:solidFill>
                <a:latin typeface="Times New Roman" panose="02020603050405020304" pitchFamily="18" charset="0"/>
                <a:sym typeface="Symbol" panose="05050102010706020507" pitchFamily="18" charset="2"/>
              </a:rPr>
              <a:t>0</a:t>
            </a:r>
            <a:endParaRPr lang="en-US" altLang="zh-CN" sz="2000" b="1" dirty="0">
              <a:solidFill>
                <a:srgbClr val="000000"/>
              </a:solidFill>
              <a:latin typeface="Times New Roman" panose="02020603050405020304" pitchFamily="18" charset="0"/>
              <a:sym typeface="Symbol" panose="05050102010706020507" pitchFamily="18" charset="2"/>
            </a:endParaRPr>
          </a:p>
        </p:txBody>
      </p:sp>
      <p:sp>
        <p:nvSpPr>
          <p:cNvPr id="751680" name="任意多边形 751679"/>
          <p:cNvSpPr>
            <a:spLocks noChangeArrowheads="1"/>
          </p:cNvSpPr>
          <p:nvPr/>
        </p:nvSpPr>
        <p:spPr bwMode="auto">
          <a:xfrm>
            <a:off x="9985440" y="4293616"/>
            <a:ext cx="1811337" cy="1282700"/>
          </a:xfrm>
          <a:custGeom>
            <a:avLst/>
            <a:gdLst>
              <a:gd name="T0" fmla="*/ 0 w 1053"/>
              <a:gd name="T1" fmla="*/ 2147483646 h 808"/>
              <a:gd name="T2" fmla="*/ 2147483646 w 1053"/>
              <a:gd name="T3" fmla="*/ 2147483646 h 808"/>
              <a:gd name="T4" fmla="*/ 2147483646 w 1053"/>
              <a:gd name="T5" fmla="*/ 2147483646 h 808"/>
              <a:gd name="T6" fmla="*/ 2147483646 w 1053"/>
              <a:gd name="T7" fmla="*/ 2147483646 h 808"/>
              <a:gd name="T8" fmla="*/ 2147483646 w 1053"/>
              <a:gd name="T9" fmla="*/ 2147483646 h 808"/>
              <a:gd name="T10" fmla="*/ 2147483646 w 1053"/>
              <a:gd name="T11" fmla="*/ 2147483646 h 808"/>
              <a:gd name="T12" fmla="*/ 2147483646 w 1053"/>
              <a:gd name="T13" fmla="*/ 2147483646 h 808"/>
              <a:gd name="T14" fmla="*/ 2147483646 w 1053"/>
              <a:gd name="T15" fmla="*/ 2147483646 h 808"/>
              <a:gd name="T16" fmla="*/ 2147483646 w 1053"/>
              <a:gd name="T17" fmla="*/ 2147483646 h 808"/>
              <a:gd name="T18" fmla="*/ 2147483646 w 1053"/>
              <a:gd name="T19" fmla="*/ 2147483646 h 808"/>
              <a:gd name="T20" fmla="*/ 2147483646 w 1053"/>
              <a:gd name="T21" fmla="*/ 2147483646 h 808"/>
              <a:gd name="T22" fmla="*/ 2147483646 w 1053"/>
              <a:gd name="T23" fmla="*/ 2147483646 h 808"/>
              <a:gd name="T24" fmla="*/ 2147483646 w 1053"/>
              <a:gd name="T25" fmla="*/ 2147483646 h 808"/>
              <a:gd name="T26" fmla="*/ 2147483646 w 1053"/>
              <a:gd name="T27" fmla="*/ 2147483646 h 808"/>
              <a:gd name="T28" fmla="*/ 2147483646 w 1053"/>
              <a:gd name="T29" fmla="*/ 2147483646 h 808"/>
              <a:gd name="T30" fmla="*/ 2147483646 w 1053"/>
              <a:gd name="T31" fmla="*/ 2147483646 h 808"/>
              <a:gd name="T32" fmla="*/ 2147483646 w 1053"/>
              <a:gd name="T33" fmla="*/ 2147483646 h 808"/>
              <a:gd name="T34" fmla="*/ 2147483646 w 1053"/>
              <a:gd name="T35" fmla="*/ 2147483646 h 808"/>
              <a:gd name="T36" fmla="*/ 2147483646 w 1053"/>
              <a:gd name="T37" fmla="*/ 2147483646 h 808"/>
              <a:gd name="T38" fmla="*/ 2147483646 w 1053"/>
              <a:gd name="T39" fmla="*/ 2147483646 h 8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53"/>
              <a:gd name="T61" fmla="*/ 0 h 808"/>
              <a:gd name="T62" fmla="*/ 1053 w 1053"/>
              <a:gd name="T63" fmla="*/ 808 h 8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53" h="808">
                <a:moveTo>
                  <a:pt x="0" y="808"/>
                </a:moveTo>
                <a:cubicBezTo>
                  <a:pt x="3" y="771"/>
                  <a:pt x="11" y="647"/>
                  <a:pt x="18" y="586"/>
                </a:cubicBezTo>
                <a:cubicBezTo>
                  <a:pt x="25" y="525"/>
                  <a:pt x="32" y="490"/>
                  <a:pt x="41" y="442"/>
                </a:cubicBezTo>
                <a:cubicBezTo>
                  <a:pt x="50" y="394"/>
                  <a:pt x="62" y="344"/>
                  <a:pt x="75" y="300"/>
                </a:cubicBezTo>
                <a:cubicBezTo>
                  <a:pt x="88" y="256"/>
                  <a:pt x="106" y="211"/>
                  <a:pt x="119" y="178"/>
                </a:cubicBezTo>
                <a:cubicBezTo>
                  <a:pt x="132" y="145"/>
                  <a:pt x="142" y="123"/>
                  <a:pt x="152" y="103"/>
                </a:cubicBezTo>
                <a:cubicBezTo>
                  <a:pt x="162" y="83"/>
                  <a:pt x="168" y="71"/>
                  <a:pt x="177" y="57"/>
                </a:cubicBezTo>
                <a:cubicBezTo>
                  <a:pt x="186" y="43"/>
                  <a:pt x="196" y="30"/>
                  <a:pt x="204" y="21"/>
                </a:cubicBezTo>
                <a:cubicBezTo>
                  <a:pt x="212" y="12"/>
                  <a:pt x="218" y="6"/>
                  <a:pt x="225" y="3"/>
                </a:cubicBezTo>
                <a:cubicBezTo>
                  <a:pt x="232" y="0"/>
                  <a:pt x="239" y="0"/>
                  <a:pt x="248" y="1"/>
                </a:cubicBezTo>
                <a:cubicBezTo>
                  <a:pt x="257" y="2"/>
                  <a:pt x="266" y="5"/>
                  <a:pt x="279" y="10"/>
                </a:cubicBezTo>
                <a:cubicBezTo>
                  <a:pt x="292" y="15"/>
                  <a:pt x="310" y="25"/>
                  <a:pt x="326" y="33"/>
                </a:cubicBezTo>
                <a:cubicBezTo>
                  <a:pt x="342" y="41"/>
                  <a:pt x="356" y="46"/>
                  <a:pt x="375" y="57"/>
                </a:cubicBezTo>
                <a:cubicBezTo>
                  <a:pt x="394" y="68"/>
                  <a:pt x="415" y="80"/>
                  <a:pt x="443" y="97"/>
                </a:cubicBezTo>
                <a:cubicBezTo>
                  <a:pt x="471" y="114"/>
                  <a:pt x="507" y="133"/>
                  <a:pt x="542" y="159"/>
                </a:cubicBezTo>
                <a:cubicBezTo>
                  <a:pt x="577" y="185"/>
                  <a:pt x="616" y="218"/>
                  <a:pt x="653" y="252"/>
                </a:cubicBezTo>
                <a:cubicBezTo>
                  <a:pt x="690" y="286"/>
                  <a:pt x="726" y="321"/>
                  <a:pt x="764" y="363"/>
                </a:cubicBezTo>
                <a:cubicBezTo>
                  <a:pt x="802" y="405"/>
                  <a:pt x="846" y="456"/>
                  <a:pt x="881" y="501"/>
                </a:cubicBezTo>
                <a:cubicBezTo>
                  <a:pt x="916" y="546"/>
                  <a:pt x="946" y="592"/>
                  <a:pt x="975" y="636"/>
                </a:cubicBezTo>
                <a:cubicBezTo>
                  <a:pt x="1004" y="680"/>
                  <a:pt x="1037" y="738"/>
                  <a:pt x="1053" y="765"/>
                </a:cubicBezTo>
              </a:path>
            </a:pathLst>
          </a:cu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11" name="组合 751680"/>
          <p:cNvGrpSpPr/>
          <p:nvPr/>
        </p:nvGrpSpPr>
        <p:grpSpPr bwMode="auto">
          <a:xfrm>
            <a:off x="11528490" y="4866704"/>
            <a:ext cx="473075" cy="311150"/>
            <a:chOff x="4201" y="1478"/>
            <a:chExt cx="275" cy="196"/>
          </a:xfrm>
        </p:grpSpPr>
        <p:sp>
          <p:nvSpPr>
            <p:cNvPr id="75873" name="椭圆 751681"/>
            <p:cNvSpPr>
              <a:spLocks noChangeArrowheads="1"/>
            </p:cNvSpPr>
            <p:nvPr/>
          </p:nvSpPr>
          <p:spPr bwMode="auto">
            <a:xfrm>
              <a:off x="4201" y="1647"/>
              <a:ext cx="28" cy="27"/>
            </a:xfrm>
            <a:prstGeom prst="ellipse">
              <a:avLst/>
            </a:prstGeom>
            <a:solidFill>
              <a:srgbClr val="CC00CC"/>
            </a:solidFill>
            <a:ln w="3175">
              <a:solidFill>
                <a:srgbClr val="CC00CC"/>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74" name="任意多边形 751682"/>
            <p:cNvSpPr>
              <a:spLocks noChangeArrowheads="1"/>
            </p:cNvSpPr>
            <p:nvPr/>
          </p:nvSpPr>
          <p:spPr bwMode="auto">
            <a:xfrm>
              <a:off x="4216" y="1661"/>
              <a:ext cx="260" cy="1"/>
            </a:xfrm>
            <a:custGeom>
              <a:avLst/>
              <a:gdLst>
                <a:gd name="T0" fmla="*/ 0 w 260"/>
                <a:gd name="T1" fmla="*/ 0 h 1"/>
                <a:gd name="T2" fmla="*/ 260 w 260"/>
                <a:gd name="T3" fmla="*/ 0 h 1"/>
                <a:gd name="T4" fmla="*/ 0 60000 65536"/>
                <a:gd name="T5" fmla="*/ 0 60000 65536"/>
                <a:gd name="T6" fmla="*/ 0 w 260"/>
                <a:gd name="T7" fmla="*/ 0 h 1"/>
                <a:gd name="T8" fmla="*/ 260 w 260"/>
                <a:gd name="T9" fmla="*/ 1 h 1"/>
              </a:gdLst>
              <a:ahLst/>
              <a:cxnLst>
                <a:cxn ang="T4">
                  <a:pos x="T0" y="T1"/>
                </a:cxn>
                <a:cxn ang="T5">
                  <a:pos x="T2" y="T3"/>
                </a:cxn>
              </a:cxnLst>
              <a:rect l="T6" t="T7" r="T8" b="T9"/>
              <a:pathLst>
                <a:path w="260" h="1">
                  <a:moveTo>
                    <a:pt x="0" y="0"/>
                  </a:moveTo>
                  <a:lnTo>
                    <a:pt x="260" y="0"/>
                  </a:lnTo>
                </a:path>
              </a:pathLst>
            </a:custGeom>
            <a:noFill/>
            <a:ln w="3175">
              <a:solidFill>
                <a:srgbClr val="CC00CC"/>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75" name="文本框 751683"/>
            <p:cNvSpPr txBox="1">
              <a:spLocks noChangeArrowheads="1"/>
            </p:cNvSpPr>
            <p:nvPr/>
          </p:nvSpPr>
          <p:spPr bwMode="auto">
            <a:xfrm>
              <a:off x="4227" y="1478"/>
              <a:ext cx="16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en-US" altLang="zh-CN" sz="1400">
                  <a:solidFill>
                    <a:srgbClr val="CC00CC"/>
                  </a:solidFill>
                  <a:latin typeface="Times New Roman" panose="02020603050405020304" pitchFamily="18" charset="0"/>
                </a:rPr>
                <a:t>r</a:t>
              </a:r>
              <a:r>
                <a:rPr lang="en-US" altLang="zh-CN" sz="1400" baseline="-25000">
                  <a:solidFill>
                    <a:srgbClr val="CC00CC"/>
                  </a:solidFill>
                  <a:latin typeface="Times New Roman" panose="02020603050405020304" pitchFamily="18" charset="0"/>
                </a:rPr>
                <a:t>r</a:t>
              </a:r>
              <a:endParaRPr lang="en-US" altLang="zh-CN" sz="1400">
                <a:solidFill>
                  <a:srgbClr val="CC00CC"/>
                </a:solidFill>
                <a:latin typeface="Times New Roman" panose="02020603050405020304" pitchFamily="18" charset="0"/>
              </a:endParaRPr>
            </a:p>
          </p:txBody>
        </p:sp>
      </p:grpSp>
      <p:sp>
        <p:nvSpPr>
          <p:cNvPr id="751685" name="椭圆 751684"/>
          <p:cNvSpPr>
            <a:spLocks noChangeArrowheads="1"/>
          </p:cNvSpPr>
          <p:nvPr/>
        </p:nvSpPr>
        <p:spPr bwMode="auto">
          <a:xfrm>
            <a:off x="11095101" y="473811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grpSp>
        <p:nvGrpSpPr>
          <p:cNvPr id="12" name="组合 751685"/>
          <p:cNvGrpSpPr/>
          <p:nvPr/>
        </p:nvGrpSpPr>
        <p:grpSpPr bwMode="auto">
          <a:xfrm>
            <a:off x="10204515" y="3999929"/>
            <a:ext cx="282575" cy="406400"/>
            <a:chOff x="3583" y="2415"/>
            <a:chExt cx="163" cy="256"/>
          </a:xfrm>
        </p:grpSpPr>
        <p:grpSp>
          <p:nvGrpSpPr>
            <p:cNvPr id="75868" name="组合 751686"/>
            <p:cNvGrpSpPr/>
            <p:nvPr/>
          </p:nvGrpSpPr>
          <p:grpSpPr bwMode="auto">
            <a:xfrm>
              <a:off x="3683" y="2600"/>
              <a:ext cx="28" cy="71"/>
              <a:chOff x="3683" y="2600"/>
              <a:chExt cx="28" cy="71"/>
            </a:xfrm>
          </p:grpSpPr>
          <p:sp>
            <p:nvSpPr>
              <p:cNvPr id="75870" name="椭圆 751687"/>
              <p:cNvSpPr>
                <a:spLocks noChangeArrowheads="1"/>
              </p:cNvSpPr>
              <p:nvPr/>
            </p:nvSpPr>
            <p:spPr bwMode="auto">
              <a:xfrm>
                <a:off x="3683" y="2644"/>
                <a:ext cx="28" cy="27"/>
              </a:xfrm>
              <a:prstGeom prst="ellipse">
                <a:avLst/>
              </a:prstGeom>
              <a:solidFill>
                <a:srgbClr val="FF3300"/>
              </a:solidFill>
              <a:ln w="3175">
                <a:solidFill>
                  <a:srgbClr val="FF3300"/>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71" name="任意多边形 751688"/>
              <p:cNvSpPr>
                <a:spLocks noChangeArrowheads="1"/>
              </p:cNvSpPr>
              <p:nvPr/>
            </p:nvSpPr>
            <p:spPr bwMode="auto">
              <a:xfrm>
                <a:off x="3696" y="2601"/>
                <a:ext cx="1" cy="57"/>
              </a:xfrm>
              <a:custGeom>
                <a:avLst/>
                <a:gdLst>
                  <a:gd name="T0" fmla="*/ 0 w 1"/>
                  <a:gd name="T1" fmla="*/ 57 h 57"/>
                  <a:gd name="T2" fmla="*/ 0 w 1"/>
                  <a:gd name="T3" fmla="*/ 0 h 57"/>
                  <a:gd name="T4" fmla="*/ 0 60000 65536"/>
                  <a:gd name="T5" fmla="*/ 0 60000 65536"/>
                  <a:gd name="T6" fmla="*/ 0 w 1"/>
                  <a:gd name="T7" fmla="*/ 0 h 57"/>
                  <a:gd name="T8" fmla="*/ 1 w 1"/>
                  <a:gd name="T9" fmla="*/ 57 h 57"/>
                </a:gdLst>
                <a:ahLst/>
                <a:cxnLst>
                  <a:cxn ang="T4">
                    <a:pos x="T0" y="T1"/>
                  </a:cxn>
                  <a:cxn ang="T5">
                    <a:pos x="T2" y="T3"/>
                  </a:cxn>
                </a:cxnLst>
                <a:rect l="T6" t="T7" r="T8" b="T9"/>
                <a:pathLst>
                  <a:path w="1" h="57">
                    <a:moveTo>
                      <a:pt x="0" y="57"/>
                    </a:moveTo>
                    <a:lnTo>
                      <a:pt x="0" y="0"/>
                    </a:lnTo>
                  </a:path>
                </a:pathLst>
              </a:custGeom>
              <a:noFill/>
              <a:ln w="3175">
                <a:solidFill>
                  <a:srgbClr val="FF3300"/>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72" name="等腰三角形 751689"/>
              <p:cNvSpPr>
                <a:spLocks noChangeArrowheads="1"/>
              </p:cNvSpPr>
              <p:nvPr/>
            </p:nvSpPr>
            <p:spPr bwMode="auto">
              <a:xfrm>
                <a:off x="3686" y="2600"/>
                <a:ext cx="18" cy="36"/>
              </a:xfrm>
              <a:prstGeom prst="triangle">
                <a:avLst>
                  <a:gd name="adj" fmla="val 50000"/>
                </a:avLst>
              </a:prstGeom>
              <a:solidFill>
                <a:srgbClr val="FF3300"/>
              </a:solidFill>
              <a:ln w="3175">
                <a:solidFill>
                  <a:srgbClr val="FF3300"/>
                </a:solidFill>
                <a:miter lim="800000"/>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grpSp>
        <p:sp>
          <p:nvSpPr>
            <p:cNvPr id="75869" name="文本框 751690"/>
            <p:cNvSpPr txBox="1">
              <a:spLocks noChangeArrowheads="1"/>
            </p:cNvSpPr>
            <p:nvPr/>
          </p:nvSpPr>
          <p:spPr bwMode="auto">
            <a:xfrm>
              <a:off x="3583" y="2415"/>
              <a:ext cx="1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1400">
                  <a:solidFill>
                    <a:srgbClr val="FF3300"/>
                  </a:solidFill>
                  <a:latin typeface="Times New Roman" panose="02020603050405020304" pitchFamily="18" charset="0"/>
                  <a:sym typeface="Symbol" panose="05050102010706020507" pitchFamily="18" charset="2"/>
                </a:rPr>
                <a:t></a:t>
              </a:r>
              <a:endParaRPr lang="zh-CN" altLang="en-US" sz="1400">
                <a:solidFill>
                  <a:srgbClr val="FF3300"/>
                </a:solidFill>
                <a:latin typeface="Times New Roman" panose="02020603050405020304" pitchFamily="18" charset="0"/>
              </a:endParaRPr>
            </a:p>
          </p:txBody>
        </p:sp>
      </p:grpSp>
      <p:sp>
        <p:nvSpPr>
          <p:cNvPr id="751692" name="椭圆 751691"/>
          <p:cNvSpPr>
            <a:spLocks noChangeArrowheads="1"/>
          </p:cNvSpPr>
          <p:nvPr/>
        </p:nvSpPr>
        <p:spPr bwMode="auto">
          <a:xfrm>
            <a:off x="10942701" y="45634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3" name="椭圆 751692"/>
          <p:cNvSpPr>
            <a:spLocks noChangeArrowheads="1"/>
          </p:cNvSpPr>
          <p:nvPr/>
        </p:nvSpPr>
        <p:spPr bwMode="auto">
          <a:xfrm>
            <a:off x="10769664" y="43856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4" name="椭圆 751693"/>
          <p:cNvSpPr>
            <a:spLocks noChangeArrowheads="1"/>
          </p:cNvSpPr>
          <p:nvPr/>
        </p:nvSpPr>
        <p:spPr bwMode="auto">
          <a:xfrm>
            <a:off x="10593451" y="42221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5" name="椭圆 751694"/>
          <p:cNvSpPr>
            <a:spLocks noChangeArrowheads="1"/>
          </p:cNvSpPr>
          <p:nvPr/>
        </p:nvSpPr>
        <p:spPr bwMode="auto">
          <a:xfrm>
            <a:off x="10395014" y="408724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6" name="椭圆 751695"/>
          <p:cNvSpPr>
            <a:spLocks noChangeArrowheads="1"/>
          </p:cNvSpPr>
          <p:nvPr/>
        </p:nvSpPr>
        <p:spPr bwMode="auto">
          <a:xfrm>
            <a:off x="10177526" y="39618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7" name="椭圆 751696"/>
          <p:cNvSpPr>
            <a:spLocks noChangeArrowheads="1"/>
          </p:cNvSpPr>
          <p:nvPr/>
        </p:nvSpPr>
        <p:spPr bwMode="auto">
          <a:xfrm>
            <a:off x="9937814" y="38792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8" name="椭圆 751697"/>
          <p:cNvSpPr>
            <a:spLocks noChangeArrowheads="1"/>
          </p:cNvSpPr>
          <p:nvPr/>
        </p:nvSpPr>
        <p:spPr bwMode="auto">
          <a:xfrm>
            <a:off x="9779064" y="40570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99" name="椭圆 751698"/>
          <p:cNvSpPr>
            <a:spLocks noChangeArrowheads="1"/>
          </p:cNvSpPr>
          <p:nvPr/>
        </p:nvSpPr>
        <p:spPr bwMode="auto">
          <a:xfrm>
            <a:off x="9686989" y="42666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700" name="椭圆 751699"/>
          <p:cNvSpPr>
            <a:spLocks noChangeArrowheads="1"/>
          </p:cNvSpPr>
          <p:nvPr/>
        </p:nvSpPr>
        <p:spPr bwMode="auto">
          <a:xfrm>
            <a:off x="9620314" y="449046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701" name="椭圆 751700"/>
          <p:cNvSpPr>
            <a:spLocks noChangeArrowheads="1"/>
          </p:cNvSpPr>
          <p:nvPr/>
        </p:nvSpPr>
        <p:spPr bwMode="auto">
          <a:xfrm>
            <a:off x="9567926" y="47238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702" name="任意多边形 751701"/>
          <p:cNvSpPr>
            <a:spLocks noChangeArrowheads="1"/>
          </p:cNvSpPr>
          <p:nvPr/>
        </p:nvSpPr>
        <p:spPr bwMode="auto">
          <a:xfrm>
            <a:off x="10363265" y="4650805"/>
            <a:ext cx="280987" cy="185737"/>
          </a:xfrm>
          <a:custGeom>
            <a:avLst/>
            <a:gdLst>
              <a:gd name="T0" fmla="*/ 0 w 164"/>
              <a:gd name="T1" fmla="*/ 2147483646 h 117"/>
              <a:gd name="T2" fmla="*/ 2147483646 w 164"/>
              <a:gd name="T3" fmla="*/ 2147483646 h 117"/>
              <a:gd name="T4" fmla="*/ 2147483646 w 164"/>
              <a:gd name="T5" fmla="*/ 2147483646 h 117"/>
              <a:gd name="T6" fmla="*/ 2147483646 w 164"/>
              <a:gd name="T7" fmla="*/ 0 h 117"/>
              <a:gd name="T8" fmla="*/ 2147483646 w 164"/>
              <a:gd name="T9" fmla="*/ 2147483646 h 117"/>
              <a:gd name="T10" fmla="*/ 2147483646 w 164"/>
              <a:gd name="T11" fmla="*/ 2147483646 h 117"/>
              <a:gd name="T12" fmla="*/ 0 w 164"/>
              <a:gd name="T13" fmla="*/ 2147483646 h 117"/>
              <a:gd name="T14" fmla="*/ 0 60000 65536"/>
              <a:gd name="T15" fmla="*/ 0 60000 65536"/>
              <a:gd name="T16" fmla="*/ 0 60000 65536"/>
              <a:gd name="T17" fmla="*/ 0 60000 65536"/>
              <a:gd name="T18" fmla="*/ 0 60000 65536"/>
              <a:gd name="T19" fmla="*/ 0 60000 65536"/>
              <a:gd name="T20" fmla="*/ 0 60000 65536"/>
              <a:gd name="T21" fmla="*/ 0 w 164"/>
              <a:gd name="T22" fmla="*/ 0 h 117"/>
              <a:gd name="T23" fmla="*/ 164 w 164"/>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4" h="117">
                <a:moveTo>
                  <a:pt x="0" y="40"/>
                </a:moveTo>
                <a:lnTo>
                  <a:pt x="53" y="39"/>
                </a:lnTo>
                <a:lnTo>
                  <a:pt x="117" y="22"/>
                </a:lnTo>
                <a:lnTo>
                  <a:pt x="164" y="0"/>
                </a:lnTo>
                <a:lnTo>
                  <a:pt x="153" y="33"/>
                </a:lnTo>
                <a:lnTo>
                  <a:pt x="117" y="117"/>
                </a:lnTo>
                <a:lnTo>
                  <a:pt x="0" y="40"/>
                </a:lnTo>
                <a:close/>
              </a:path>
            </a:pathLst>
          </a:custGeom>
          <a:blipFill dpi="0" rotWithShape="0">
            <a:blip r:embed="rId1"/>
            <a:srcRect/>
            <a:tile tx="0" ty="0" sx="100000" sy="100000" flip="none" algn="tl"/>
          </a:blipFill>
          <a:ln w="3175">
            <a:solidFill>
              <a:schemeClr val="accent2"/>
            </a:solidFill>
            <a:round/>
          </a:ln>
        </p:spPr>
        <p:txBody>
          <a:bodyPr wrap="square"/>
          <a:lstStyle/>
          <a:p>
            <a:endParaRPr lang="en-AU"/>
          </a:p>
        </p:txBody>
      </p:sp>
      <p:sp>
        <p:nvSpPr>
          <p:cNvPr id="751703" name="任意多边形 751702"/>
          <p:cNvSpPr>
            <a:spLocks noChangeArrowheads="1"/>
          </p:cNvSpPr>
          <p:nvPr/>
        </p:nvSpPr>
        <p:spPr bwMode="auto">
          <a:xfrm>
            <a:off x="10366439" y="4642867"/>
            <a:ext cx="925512" cy="931863"/>
          </a:xfrm>
          <a:custGeom>
            <a:avLst/>
            <a:gdLst>
              <a:gd name="T0" fmla="*/ 2147483646 w 538"/>
              <a:gd name="T1" fmla="*/ 2147483646 h 587"/>
              <a:gd name="T2" fmla="*/ 2147483646 w 538"/>
              <a:gd name="T3" fmla="*/ 2147483646 h 587"/>
              <a:gd name="T4" fmla="*/ 2147483646 w 538"/>
              <a:gd name="T5" fmla="*/ 2147483646 h 587"/>
              <a:gd name="T6" fmla="*/ 2147483646 w 538"/>
              <a:gd name="T7" fmla="*/ 2147483646 h 587"/>
              <a:gd name="T8" fmla="*/ 2147483646 w 538"/>
              <a:gd name="T9" fmla="*/ 2147483646 h 587"/>
              <a:gd name="T10" fmla="*/ 2147483646 w 538"/>
              <a:gd name="T11" fmla="*/ 2147483646 h 587"/>
              <a:gd name="T12" fmla="*/ 2147483646 w 538"/>
              <a:gd name="T13" fmla="*/ 2147483646 h 587"/>
              <a:gd name="T14" fmla="*/ 0 w 538"/>
              <a:gd name="T15" fmla="*/ 2147483646 h 587"/>
              <a:gd name="T16" fmla="*/ 2147483646 w 538"/>
              <a:gd name="T17" fmla="*/ 2147483646 h 587"/>
              <a:gd name="T18" fmla="*/ 2147483646 w 538"/>
              <a:gd name="T19" fmla="*/ 2147483646 h 587"/>
              <a:gd name="T20" fmla="*/ 2147483646 w 538"/>
              <a:gd name="T21" fmla="*/ 2147483646 h 587"/>
              <a:gd name="T22" fmla="*/ 2147483646 w 538"/>
              <a:gd name="T23" fmla="*/ 2147483646 h 587"/>
              <a:gd name="T24" fmla="*/ 2147483646 w 538"/>
              <a:gd name="T25" fmla="*/ 0 h 587"/>
              <a:gd name="T26" fmla="*/ 2147483646 w 538"/>
              <a:gd name="T27" fmla="*/ 2147483646 h 587"/>
              <a:gd name="T28" fmla="*/ 2147483646 w 538"/>
              <a:gd name="T29" fmla="*/ 2147483646 h 587"/>
              <a:gd name="T30" fmla="*/ 2147483646 w 538"/>
              <a:gd name="T31" fmla="*/ 2147483646 h 587"/>
              <a:gd name="T32" fmla="*/ 2147483646 w 538"/>
              <a:gd name="T33" fmla="*/ 2147483646 h 5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38"/>
              <a:gd name="T52" fmla="*/ 0 h 587"/>
              <a:gd name="T53" fmla="*/ 538 w 538"/>
              <a:gd name="T54" fmla="*/ 587 h 5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38" h="587">
                <a:moveTo>
                  <a:pt x="538" y="587"/>
                </a:moveTo>
                <a:cubicBezTo>
                  <a:pt x="527" y="568"/>
                  <a:pt x="497" y="510"/>
                  <a:pt x="471" y="474"/>
                </a:cubicBezTo>
                <a:cubicBezTo>
                  <a:pt x="445" y="438"/>
                  <a:pt x="410" y="400"/>
                  <a:pt x="382" y="368"/>
                </a:cubicBezTo>
                <a:cubicBezTo>
                  <a:pt x="354" y="336"/>
                  <a:pt x="332" y="311"/>
                  <a:pt x="303" y="281"/>
                </a:cubicBezTo>
                <a:cubicBezTo>
                  <a:pt x="274" y="251"/>
                  <a:pt x="234" y="212"/>
                  <a:pt x="207" y="188"/>
                </a:cubicBezTo>
                <a:cubicBezTo>
                  <a:pt x="180" y="164"/>
                  <a:pt x="163" y="154"/>
                  <a:pt x="139" y="137"/>
                </a:cubicBezTo>
                <a:cubicBezTo>
                  <a:pt x="115" y="120"/>
                  <a:pt x="87" y="99"/>
                  <a:pt x="64" y="84"/>
                </a:cubicBezTo>
                <a:lnTo>
                  <a:pt x="0" y="47"/>
                </a:lnTo>
                <a:lnTo>
                  <a:pt x="37" y="42"/>
                </a:lnTo>
                <a:cubicBezTo>
                  <a:pt x="50" y="40"/>
                  <a:pt x="66" y="38"/>
                  <a:pt x="79" y="35"/>
                </a:cubicBezTo>
                <a:cubicBezTo>
                  <a:pt x="92" y="32"/>
                  <a:pt x="107" y="27"/>
                  <a:pt x="117" y="24"/>
                </a:cubicBezTo>
                <a:cubicBezTo>
                  <a:pt x="127" y="21"/>
                  <a:pt x="133" y="18"/>
                  <a:pt x="141" y="14"/>
                </a:cubicBezTo>
                <a:lnTo>
                  <a:pt x="165" y="0"/>
                </a:lnTo>
                <a:cubicBezTo>
                  <a:pt x="163" y="13"/>
                  <a:pt x="140" y="55"/>
                  <a:pt x="127" y="93"/>
                </a:cubicBezTo>
                <a:cubicBezTo>
                  <a:pt x="114" y="131"/>
                  <a:pt x="99" y="181"/>
                  <a:pt x="88" y="230"/>
                </a:cubicBezTo>
                <a:cubicBezTo>
                  <a:pt x="77" y="279"/>
                  <a:pt x="65" y="333"/>
                  <a:pt x="58" y="386"/>
                </a:cubicBezTo>
                <a:cubicBezTo>
                  <a:pt x="51" y="439"/>
                  <a:pt x="48" y="515"/>
                  <a:pt x="46" y="549"/>
                </a:cubicBez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51704" name="文本框 751703"/>
          <p:cNvSpPr txBox="1">
            <a:spLocks noChangeArrowheads="1"/>
          </p:cNvSpPr>
          <p:nvPr/>
        </p:nvSpPr>
        <p:spPr bwMode="auto">
          <a:xfrm>
            <a:off x="10174351" y="5938267"/>
            <a:ext cx="158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r>
              <a:rPr lang="zh-CN" altLang="en-US" sz="2000" b="1">
                <a:solidFill>
                  <a:srgbClr val="000000"/>
                </a:solidFill>
                <a:latin typeface="Times New Roman" panose="02020603050405020304" pitchFamily="18" charset="0"/>
                <a:sym typeface="Symbol" panose="05050102010706020507" pitchFamily="18" charset="2"/>
              </a:rPr>
              <a:t></a:t>
            </a:r>
            <a:r>
              <a:rPr lang="en-US" altLang="zh-CN" sz="2000" b="1" baseline="-25000">
                <a:solidFill>
                  <a:srgbClr val="000000"/>
                </a:solidFill>
                <a:latin typeface="Times New Roman" panose="02020603050405020304" pitchFamily="18" charset="0"/>
                <a:sym typeface="Symbol" panose="05050102010706020507" pitchFamily="18" charset="2"/>
              </a:rPr>
              <a:t>a</a:t>
            </a:r>
            <a:r>
              <a:rPr lang="en-US" altLang="zh-CN" sz="2000" b="1">
                <a:solidFill>
                  <a:srgbClr val="000000"/>
                </a:solidFill>
                <a:latin typeface="Times New Roman" panose="02020603050405020304" pitchFamily="18" charset="0"/>
                <a:sym typeface="Symbol" panose="05050102010706020507" pitchFamily="18" charset="2"/>
              </a:rPr>
              <a:t>= -r</a:t>
            </a:r>
            <a:r>
              <a:rPr lang="en-US" altLang="zh-CN" sz="2000" b="1" baseline="-25000">
                <a:solidFill>
                  <a:srgbClr val="000000"/>
                </a:solidFill>
                <a:latin typeface="Times New Roman" panose="02020603050405020304" pitchFamily="18" charset="0"/>
                <a:sym typeface="Symbol" panose="05050102010706020507" pitchFamily="18" charset="2"/>
              </a:rPr>
              <a:t>r</a:t>
            </a:r>
            <a:r>
              <a:rPr lang="en-US" altLang="zh-CN" sz="2000" b="1">
                <a:solidFill>
                  <a:srgbClr val="000000"/>
                </a:solidFill>
                <a:latin typeface="Times New Roman" panose="02020603050405020304" pitchFamily="18" charset="0"/>
                <a:sym typeface="Symbol" panose="05050102010706020507" pitchFamily="18" charset="2"/>
              </a:rPr>
              <a:t>&lt;0</a:t>
            </a:r>
            <a:endParaRPr lang="en-US" altLang="zh-CN" sz="2000" b="1">
              <a:solidFill>
                <a:srgbClr val="000000"/>
              </a:solidFill>
              <a:latin typeface="Times New Roman" panose="02020603050405020304" pitchFamily="18" charset="0"/>
              <a:sym typeface="Symbol" panose="05050102010706020507" pitchFamily="18" charset="2"/>
            </a:endParaRPr>
          </a:p>
        </p:txBody>
      </p:sp>
      <p:grpSp>
        <p:nvGrpSpPr>
          <p:cNvPr id="14" name="组合 751704"/>
          <p:cNvGrpSpPr/>
          <p:nvPr/>
        </p:nvGrpSpPr>
        <p:grpSpPr bwMode="auto">
          <a:xfrm>
            <a:off x="8664640" y="5023866"/>
            <a:ext cx="473075" cy="311150"/>
            <a:chOff x="4201" y="1478"/>
            <a:chExt cx="275" cy="196"/>
          </a:xfrm>
        </p:grpSpPr>
        <p:sp>
          <p:nvSpPr>
            <p:cNvPr id="75865" name="椭圆 751705"/>
            <p:cNvSpPr>
              <a:spLocks noChangeArrowheads="1"/>
            </p:cNvSpPr>
            <p:nvPr/>
          </p:nvSpPr>
          <p:spPr bwMode="auto">
            <a:xfrm>
              <a:off x="4201" y="1647"/>
              <a:ext cx="28" cy="27"/>
            </a:xfrm>
            <a:prstGeom prst="ellipse">
              <a:avLst/>
            </a:prstGeom>
            <a:solidFill>
              <a:srgbClr val="CC00CC"/>
            </a:solidFill>
            <a:ln w="3175">
              <a:solidFill>
                <a:srgbClr val="CC00CC"/>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66" name="任意多边形 751706"/>
            <p:cNvSpPr>
              <a:spLocks noChangeArrowheads="1"/>
            </p:cNvSpPr>
            <p:nvPr/>
          </p:nvSpPr>
          <p:spPr bwMode="auto">
            <a:xfrm>
              <a:off x="4216" y="1661"/>
              <a:ext cx="260" cy="1"/>
            </a:xfrm>
            <a:custGeom>
              <a:avLst/>
              <a:gdLst>
                <a:gd name="T0" fmla="*/ 0 w 260"/>
                <a:gd name="T1" fmla="*/ 0 h 1"/>
                <a:gd name="T2" fmla="*/ 260 w 260"/>
                <a:gd name="T3" fmla="*/ 0 h 1"/>
                <a:gd name="T4" fmla="*/ 0 60000 65536"/>
                <a:gd name="T5" fmla="*/ 0 60000 65536"/>
                <a:gd name="T6" fmla="*/ 0 w 260"/>
                <a:gd name="T7" fmla="*/ 0 h 1"/>
                <a:gd name="T8" fmla="*/ 260 w 260"/>
                <a:gd name="T9" fmla="*/ 1 h 1"/>
              </a:gdLst>
              <a:ahLst/>
              <a:cxnLst>
                <a:cxn ang="T4">
                  <a:pos x="T0" y="T1"/>
                </a:cxn>
                <a:cxn ang="T5">
                  <a:pos x="T2" y="T3"/>
                </a:cxn>
              </a:cxnLst>
              <a:rect l="T6" t="T7" r="T8" b="T9"/>
              <a:pathLst>
                <a:path w="260" h="1">
                  <a:moveTo>
                    <a:pt x="0" y="0"/>
                  </a:moveTo>
                  <a:lnTo>
                    <a:pt x="260" y="0"/>
                  </a:lnTo>
                </a:path>
              </a:pathLst>
            </a:custGeom>
            <a:noFill/>
            <a:ln w="3175">
              <a:solidFill>
                <a:srgbClr val="CC00CC"/>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67" name="文本框 751707"/>
            <p:cNvSpPr txBox="1">
              <a:spLocks noChangeArrowheads="1"/>
            </p:cNvSpPr>
            <p:nvPr/>
          </p:nvSpPr>
          <p:spPr bwMode="auto">
            <a:xfrm>
              <a:off x="4227" y="1478"/>
              <a:ext cx="16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en-US" altLang="zh-CN" sz="1400">
                  <a:solidFill>
                    <a:srgbClr val="CC00CC"/>
                  </a:solidFill>
                  <a:latin typeface="Times New Roman" panose="02020603050405020304" pitchFamily="18" charset="0"/>
                </a:rPr>
                <a:t>r</a:t>
              </a:r>
              <a:r>
                <a:rPr lang="en-US" altLang="zh-CN" sz="1400" baseline="-25000">
                  <a:solidFill>
                    <a:srgbClr val="CC00CC"/>
                  </a:solidFill>
                  <a:latin typeface="Times New Roman" panose="02020603050405020304" pitchFamily="18" charset="0"/>
                </a:rPr>
                <a:t>r</a:t>
              </a:r>
              <a:endParaRPr lang="en-US" altLang="zh-CN" sz="1400">
                <a:solidFill>
                  <a:srgbClr val="CC00CC"/>
                </a:solidFill>
                <a:latin typeface="Times New Roman" panose="02020603050405020304" pitchFamily="18" charset="0"/>
              </a:endParaRPr>
            </a:p>
          </p:txBody>
        </p:sp>
      </p:grpSp>
      <p:sp>
        <p:nvSpPr>
          <p:cNvPr id="751709" name="椭圆 751708"/>
          <p:cNvSpPr>
            <a:spLocks noChangeArrowheads="1"/>
          </p:cNvSpPr>
          <p:nvPr/>
        </p:nvSpPr>
        <p:spPr bwMode="auto">
          <a:xfrm>
            <a:off x="8231251" y="48952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0" name="任意多边形 751709"/>
          <p:cNvSpPr>
            <a:spLocks noChangeArrowheads="1"/>
          </p:cNvSpPr>
          <p:nvPr/>
        </p:nvSpPr>
        <p:spPr bwMode="auto">
          <a:xfrm>
            <a:off x="6565964" y="4358704"/>
            <a:ext cx="2341562" cy="1441450"/>
          </a:xfrm>
          <a:custGeom>
            <a:avLst/>
            <a:gdLst>
              <a:gd name="T0" fmla="*/ 0 w 1362"/>
              <a:gd name="T1" fmla="*/ 2147483646 h 908"/>
              <a:gd name="T2" fmla="*/ 2147483646 w 1362"/>
              <a:gd name="T3" fmla="*/ 2147483646 h 908"/>
              <a:gd name="T4" fmla="*/ 2147483646 w 1362"/>
              <a:gd name="T5" fmla="*/ 2147483646 h 908"/>
              <a:gd name="T6" fmla="*/ 2147483646 w 1362"/>
              <a:gd name="T7" fmla="*/ 2147483646 h 908"/>
              <a:gd name="T8" fmla="*/ 2147483646 w 1362"/>
              <a:gd name="T9" fmla="*/ 2147483646 h 908"/>
              <a:gd name="T10" fmla="*/ 2147483646 w 1362"/>
              <a:gd name="T11" fmla="*/ 2147483646 h 908"/>
              <a:gd name="T12" fmla="*/ 2147483646 w 1362"/>
              <a:gd name="T13" fmla="*/ 2147483646 h 908"/>
              <a:gd name="T14" fmla="*/ 2147483646 w 1362"/>
              <a:gd name="T15" fmla="*/ 2147483646 h 908"/>
              <a:gd name="T16" fmla="*/ 2147483646 w 1362"/>
              <a:gd name="T17" fmla="*/ 2147483646 h 908"/>
              <a:gd name="T18" fmla="*/ 2147483646 w 1362"/>
              <a:gd name="T19" fmla="*/ 2147483646 h 908"/>
              <a:gd name="T20" fmla="*/ 2147483646 w 1362"/>
              <a:gd name="T21" fmla="*/ 2147483646 h 908"/>
              <a:gd name="T22" fmla="*/ 2147483646 w 1362"/>
              <a:gd name="T23" fmla="*/ 2147483646 h 908"/>
              <a:gd name="T24" fmla="*/ 2147483646 w 1362"/>
              <a:gd name="T25" fmla="*/ 2147483646 h 908"/>
              <a:gd name="T26" fmla="*/ 2147483646 w 1362"/>
              <a:gd name="T27" fmla="*/ 2147483646 h 908"/>
              <a:gd name="T28" fmla="*/ 2147483646 w 1362"/>
              <a:gd name="T29" fmla="*/ 2147483646 h 9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62"/>
              <a:gd name="T46" fmla="*/ 0 h 908"/>
              <a:gd name="T47" fmla="*/ 1362 w 1362"/>
              <a:gd name="T48" fmla="*/ 908 h 9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62" h="908">
                <a:moveTo>
                  <a:pt x="0" y="899"/>
                </a:moveTo>
                <a:cubicBezTo>
                  <a:pt x="6" y="876"/>
                  <a:pt x="22" y="802"/>
                  <a:pt x="33" y="761"/>
                </a:cubicBezTo>
                <a:cubicBezTo>
                  <a:pt x="44" y="720"/>
                  <a:pt x="46" y="701"/>
                  <a:pt x="66" y="650"/>
                </a:cubicBezTo>
                <a:cubicBezTo>
                  <a:pt x="86" y="599"/>
                  <a:pt x="123" y="516"/>
                  <a:pt x="153" y="458"/>
                </a:cubicBezTo>
                <a:cubicBezTo>
                  <a:pt x="183" y="400"/>
                  <a:pt x="216" y="349"/>
                  <a:pt x="249" y="302"/>
                </a:cubicBezTo>
                <a:cubicBezTo>
                  <a:pt x="282" y="255"/>
                  <a:pt x="319" y="212"/>
                  <a:pt x="351" y="176"/>
                </a:cubicBezTo>
                <a:cubicBezTo>
                  <a:pt x="383" y="140"/>
                  <a:pt x="413" y="108"/>
                  <a:pt x="444" y="83"/>
                </a:cubicBezTo>
                <a:cubicBezTo>
                  <a:pt x="475" y="58"/>
                  <a:pt x="505" y="39"/>
                  <a:pt x="540" y="26"/>
                </a:cubicBezTo>
                <a:cubicBezTo>
                  <a:pt x="575" y="13"/>
                  <a:pt x="615" y="0"/>
                  <a:pt x="654" y="2"/>
                </a:cubicBezTo>
                <a:cubicBezTo>
                  <a:pt x="693" y="4"/>
                  <a:pt x="735" y="18"/>
                  <a:pt x="774" y="38"/>
                </a:cubicBezTo>
                <a:cubicBezTo>
                  <a:pt x="813" y="58"/>
                  <a:pt x="852" y="92"/>
                  <a:pt x="888" y="125"/>
                </a:cubicBezTo>
                <a:cubicBezTo>
                  <a:pt x="924" y="158"/>
                  <a:pt x="952" y="192"/>
                  <a:pt x="990" y="239"/>
                </a:cubicBezTo>
                <a:cubicBezTo>
                  <a:pt x="1028" y="286"/>
                  <a:pt x="1078" y="349"/>
                  <a:pt x="1119" y="410"/>
                </a:cubicBezTo>
                <a:cubicBezTo>
                  <a:pt x="1160" y="471"/>
                  <a:pt x="1196" y="522"/>
                  <a:pt x="1236" y="605"/>
                </a:cubicBezTo>
                <a:cubicBezTo>
                  <a:pt x="1276" y="688"/>
                  <a:pt x="1336" y="845"/>
                  <a:pt x="1362" y="908"/>
                </a:cubicBezTo>
              </a:path>
            </a:pathLst>
          </a:cu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751711" name="文本框 751710"/>
          <p:cNvSpPr txBox="1">
            <a:spLocks noChangeArrowheads="1"/>
          </p:cNvSpPr>
          <p:nvPr/>
        </p:nvSpPr>
        <p:spPr bwMode="auto">
          <a:xfrm>
            <a:off x="7116826" y="5766817"/>
            <a:ext cx="158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r>
              <a:rPr lang="zh-CN" altLang="en-US" sz="2000" b="1">
                <a:solidFill>
                  <a:srgbClr val="000000"/>
                </a:solidFill>
                <a:latin typeface="Times New Roman" panose="02020603050405020304" pitchFamily="18" charset="0"/>
                <a:sym typeface="Symbol" panose="05050102010706020507" pitchFamily="18" charset="2"/>
              </a:rPr>
              <a:t> </a:t>
            </a:r>
            <a:r>
              <a:rPr lang="zh-CN" altLang="zh-CN" sz="2000" b="1">
                <a:solidFill>
                  <a:srgbClr val="000000"/>
                </a:solidFill>
                <a:latin typeface="Times New Roman" panose="02020603050405020304" pitchFamily="18" charset="0"/>
                <a:sym typeface="Symbol" panose="05050102010706020507" pitchFamily="18" charset="2"/>
              </a:rPr>
              <a:t>= </a:t>
            </a:r>
            <a:r>
              <a:rPr lang="en-US" altLang="zh-CN" sz="2000" b="1">
                <a:solidFill>
                  <a:srgbClr val="000000"/>
                </a:solidFill>
                <a:latin typeface="Times New Roman" panose="02020603050405020304" pitchFamily="18" charset="0"/>
                <a:sym typeface="Symbol" panose="05050102010706020507" pitchFamily="18" charset="2"/>
              </a:rPr>
              <a:t>r</a:t>
            </a:r>
            <a:r>
              <a:rPr lang="en-US" altLang="zh-CN" sz="2000" b="1" baseline="-25000">
                <a:solidFill>
                  <a:srgbClr val="000000"/>
                </a:solidFill>
                <a:latin typeface="Times New Roman" panose="02020603050405020304" pitchFamily="18" charset="0"/>
                <a:sym typeface="Symbol" panose="05050102010706020507" pitchFamily="18" charset="2"/>
              </a:rPr>
              <a:t>r</a:t>
            </a:r>
            <a:endParaRPr lang="en-US" altLang="zh-CN" sz="2000" b="1" baseline="-25000">
              <a:solidFill>
                <a:srgbClr val="000000"/>
              </a:solidFill>
              <a:latin typeface="Times New Roman" panose="02020603050405020304" pitchFamily="18" charset="0"/>
              <a:sym typeface="Symbol" panose="05050102010706020507" pitchFamily="18" charset="2"/>
            </a:endParaRPr>
          </a:p>
        </p:txBody>
      </p:sp>
      <p:sp>
        <p:nvSpPr>
          <p:cNvPr id="751712" name="椭圆 751711"/>
          <p:cNvSpPr>
            <a:spLocks noChangeArrowheads="1"/>
          </p:cNvSpPr>
          <p:nvPr/>
        </p:nvSpPr>
        <p:spPr bwMode="auto">
          <a:xfrm>
            <a:off x="8107426" y="46904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3" name="椭圆 751712"/>
          <p:cNvSpPr>
            <a:spLocks noChangeArrowheads="1"/>
          </p:cNvSpPr>
          <p:nvPr/>
        </p:nvSpPr>
        <p:spPr bwMode="auto">
          <a:xfrm>
            <a:off x="7962964" y="44952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4" name="椭圆 751713"/>
          <p:cNvSpPr>
            <a:spLocks noChangeArrowheads="1"/>
          </p:cNvSpPr>
          <p:nvPr/>
        </p:nvSpPr>
        <p:spPr bwMode="auto">
          <a:xfrm>
            <a:off x="7810564" y="43174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5" name="椭圆 751714"/>
          <p:cNvSpPr>
            <a:spLocks noChangeArrowheads="1"/>
          </p:cNvSpPr>
          <p:nvPr/>
        </p:nvSpPr>
        <p:spPr bwMode="auto">
          <a:xfrm>
            <a:off x="7632764" y="41570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6" name="椭圆 751715"/>
          <p:cNvSpPr>
            <a:spLocks noChangeArrowheads="1"/>
          </p:cNvSpPr>
          <p:nvPr/>
        </p:nvSpPr>
        <p:spPr bwMode="auto">
          <a:xfrm>
            <a:off x="7447026" y="40046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7" name="椭圆 751716"/>
          <p:cNvSpPr>
            <a:spLocks noChangeArrowheads="1"/>
          </p:cNvSpPr>
          <p:nvPr/>
        </p:nvSpPr>
        <p:spPr bwMode="auto">
          <a:xfrm>
            <a:off x="7210489" y="395230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8" name="椭圆 751717"/>
          <p:cNvSpPr>
            <a:spLocks noChangeArrowheads="1"/>
          </p:cNvSpPr>
          <p:nvPr/>
        </p:nvSpPr>
        <p:spPr bwMode="auto">
          <a:xfrm>
            <a:off x="6967601" y="40189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19" name="椭圆 751718"/>
          <p:cNvSpPr>
            <a:spLocks noChangeArrowheads="1"/>
          </p:cNvSpPr>
          <p:nvPr/>
        </p:nvSpPr>
        <p:spPr bwMode="auto">
          <a:xfrm>
            <a:off x="6777101" y="41570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20" name="椭圆 751719"/>
          <p:cNvSpPr>
            <a:spLocks noChangeArrowheads="1"/>
          </p:cNvSpPr>
          <p:nvPr/>
        </p:nvSpPr>
        <p:spPr bwMode="auto">
          <a:xfrm>
            <a:off x="6612001" y="43237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21" name="椭圆 751720"/>
          <p:cNvSpPr>
            <a:spLocks noChangeArrowheads="1"/>
          </p:cNvSpPr>
          <p:nvPr/>
        </p:nvSpPr>
        <p:spPr bwMode="auto">
          <a:xfrm>
            <a:off x="6472301" y="450475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22" name="椭圆 751721"/>
          <p:cNvSpPr>
            <a:spLocks noChangeArrowheads="1"/>
          </p:cNvSpPr>
          <p:nvPr/>
        </p:nvSpPr>
        <p:spPr bwMode="auto">
          <a:xfrm>
            <a:off x="6353239" y="469525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23" name="椭圆 751722"/>
          <p:cNvSpPr>
            <a:spLocks noChangeArrowheads="1"/>
          </p:cNvSpPr>
          <p:nvPr/>
        </p:nvSpPr>
        <p:spPr bwMode="auto">
          <a:xfrm>
            <a:off x="6265926" y="49143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wrap="square" anchor="ct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endParaRPr lang="zh-CN" altLang="en-US" sz="2000">
              <a:latin typeface="Times New Roman" panose="02020603050405020304" pitchFamily="18" charset="0"/>
            </a:endParaRPr>
          </a:p>
        </p:txBody>
      </p:sp>
      <p:sp>
        <p:nvSpPr>
          <p:cNvPr id="751724" name="任意多边形 751723"/>
          <p:cNvSpPr>
            <a:spLocks noChangeArrowheads="1"/>
          </p:cNvSpPr>
          <p:nvPr/>
        </p:nvSpPr>
        <p:spPr bwMode="auto">
          <a:xfrm>
            <a:off x="7099364" y="4796855"/>
            <a:ext cx="1262062" cy="917575"/>
          </a:xfrm>
          <a:custGeom>
            <a:avLst/>
            <a:gdLst>
              <a:gd name="T0" fmla="*/ 2147483646 w 733"/>
              <a:gd name="T1" fmla="*/ 2147483646 h 578"/>
              <a:gd name="T2" fmla="*/ 2147483646 w 733"/>
              <a:gd name="T3" fmla="*/ 2147483646 h 578"/>
              <a:gd name="T4" fmla="*/ 2147483646 w 733"/>
              <a:gd name="T5" fmla="*/ 2147483646 h 578"/>
              <a:gd name="T6" fmla="*/ 2147483646 w 733"/>
              <a:gd name="T7" fmla="*/ 2147483646 h 578"/>
              <a:gd name="T8" fmla="*/ 2147483646 w 733"/>
              <a:gd name="T9" fmla="*/ 2147483646 h 578"/>
              <a:gd name="T10" fmla="*/ 2147483646 w 733"/>
              <a:gd name="T11" fmla="*/ 2147483646 h 578"/>
              <a:gd name="T12" fmla="*/ 2147483646 w 733"/>
              <a:gd name="T13" fmla="*/ 2147483646 h 578"/>
              <a:gd name="T14" fmla="*/ 2147483646 w 733"/>
              <a:gd name="T15" fmla="*/ 2147483646 h 578"/>
              <a:gd name="T16" fmla="*/ 2147483646 w 733"/>
              <a:gd name="T17" fmla="*/ 2147483646 h 578"/>
              <a:gd name="T18" fmla="*/ 2147483646 w 733"/>
              <a:gd name="T19" fmla="*/ 2147483646 h 578"/>
              <a:gd name="T20" fmla="*/ 2147483646 w 733"/>
              <a:gd name="T21" fmla="*/ 2147483646 h 578"/>
              <a:gd name="T22" fmla="*/ 2147483646 w 733"/>
              <a:gd name="T23" fmla="*/ 2147483646 h 578"/>
              <a:gd name="T24" fmla="*/ 0 w 733"/>
              <a:gd name="T25" fmla="*/ 2147483646 h 5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33"/>
              <a:gd name="T40" fmla="*/ 0 h 578"/>
              <a:gd name="T41" fmla="*/ 733 w 733"/>
              <a:gd name="T42" fmla="*/ 578 h 5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33" h="578">
                <a:moveTo>
                  <a:pt x="733" y="578"/>
                </a:moveTo>
                <a:cubicBezTo>
                  <a:pt x="724" y="554"/>
                  <a:pt x="698" y="478"/>
                  <a:pt x="678" y="436"/>
                </a:cubicBezTo>
                <a:cubicBezTo>
                  <a:pt x="658" y="394"/>
                  <a:pt x="635" y="359"/>
                  <a:pt x="613" y="325"/>
                </a:cubicBezTo>
                <a:cubicBezTo>
                  <a:pt x="591" y="291"/>
                  <a:pt x="572" y="261"/>
                  <a:pt x="549" y="230"/>
                </a:cubicBezTo>
                <a:cubicBezTo>
                  <a:pt x="526" y="199"/>
                  <a:pt x="499" y="166"/>
                  <a:pt x="472" y="136"/>
                </a:cubicBezTo>
                <a:cubicBezTo>
                  <a:pt x="445" y="106"/>
                  <a:pt x="410" y="72"/>
                  <a:pt x="387" y="50"/>
                </a:cubicBezTo>
                <a:lnTo>
                  <a:pt x="333" y="1"/>
                </a:lnTo>
                <a:cubicBezTo>
                  <a:pt x="314" y="0"/>
                  <a:pt x="294" y="22"/>
                  <a:pt x="271" y="43"/>
                </a:cubicBezTo>
                <a:lnTo>
                  <a:pt x="192" y="125"/>
                </a:lnTo>
                <a:cubicBezTo>
                  <a:pt x="168" y="155"/>
                  <a:pt x="144" y="189"/>
                  <a:pt x="124" y="221"/>
                </a:cubicBezTo>
                <a:cubicBezTo>
                  <a:pt x="104" y="253"/>
                  <a:pt x="85" y="281"/>
                  <a:pt x="69" y="317"/>
                </a:cubicBezTo>
                <a:cubicBezTo>
                  <a:pt x="53" y="353"/>
                  <a:pt x="38" y="400"/>
                  <a:pt x="27" y="436"/>
                </a:cubicBezTo>
                <a:cubicBezTo>
                  <a:pt x="16" y="472"/>
                  <a:pt x="6" y="515"/>
                  <a:pt x="0" y="535"/>
                </a:cubicBez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wrap="square"/>
          <a:lstStyle/>
          <a:p>
            <a:endParaRPr lang="en-AU"/>
          </a:p>
        </p:txBody>
      </p:sp>
      <p:grpSp>
        <p:nvGrpSpPr>
          <p:cNvPr id="15" name="组合 751724"/>
          <p:cNvGrpSpPr/>
          <p:nvPr/>
        </p:nvGrpSpPr>
        <p:grpSpPr bwMode="auto">
          <a:xfrm>
            <a:off x="7469251" y="4371405"/>
            <a:ext cx="323850" cy="447675"/>
            <a:chOff x="2653" y="2649"/>
            <a:chExt cx="188" cy="282"/>
          </a:xfrm>
        </p:grpSpPr>
        <p:sp>
          <p:nvSpPr>
            <p:cNvPr id="75862" name="椭圆 751725"/>
            <p:cNvSpPr>
              <a:spLocks noChangeArrowheads="1"/>
            </p:cNvSpPr>
            <p:nvPr/>
          </p:nvSpPr>
          <p:spPr bwMode="auto">
            <a:xfrm>
              <a:off x="2757" y="2904"/>
              <a:ext cx="28" cy="27"/>
            </a:xfrm>
            <a:prstGeom prst="ellipse">
              <a:avLst/>
            </a:prstGeom>
            <a:solidFill>
              <a:srgbClr val="FF3300"/>
            </a:solidFill>
            <a:ln w="3175">
              <a:solidFill>
                <a:srgbClr val="FF3300"/>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63" name="文本框 751726"/>
            <p:cNvSpPr txBox="1">
              <a:spLocks noChangeArrowheads="1"/>
            </p:cNvSpPr>
            <p:nvPr/>
          </p:nvSpPr>
          <p:spPr bwMode="auto">
            <a:xfrm rot="-2849373">
              <a:off x="2653" y="2649"/>
              <a:ext cx="177"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1400">
                  <a:solidFill>
                    <a:srgbClr val="FF3300"/>
                  </a:solidFill>
                  <a:latin typeface="Times New Roman" panose="02020603050405020304" pitchFamily="18" charset="0"/>
                  <a:sym typeface="Symbol" panose="05050102010706020507" pitchFamily="18" charset="2"/>
                </a:rPr>
                <a:t></a:t>
              </a:r>
              <a:endParaRPr lang="zh-CN" altLang="en-US" sz="1400">
                <a:solidFill>
                  <a:srgbClr val="FF3300"/>
                </a:solidFill>
                <a:latin typeface="Times New Roman" panose="02020603050405020304" pitchFamily="18" charset="0"/>
              </a:endParaRPr>
            </a:p>
          </p:txBody>
        </p:sp>
        <p:sp>
          <p:nvSpPr>
            <p:cNvPr id="75864" name="任意多边形 751727"/>
            <p:cNvSpPr>
              <a:spLocks noChangeArrowheads="1"/>
            </p:cNvSpPr>
            <p:nvPr/>
          </p:nvSpPr>
          <p:spPr bwMode="auto">
            <a:xfrm>
              <a:off x="2769" y="2658"/>
              <a:ext cx="72" cy="261"/>
            </a:xfrm>
            <a:custGeom>
              <a:avLst/>
              <a:gdLst>
                <a:gd name="T0" fmla="*/ 0 w 72"/>
                <a:gd name="T1" fmla="*/ 261 h 261"/>
                <a:gd name="T2" fmla="*/ 72 w 72"/>
                <a:gd name="T3" fmla="*/ 0 h 261"/>
                <a:gd name="T4" fmla="*/ 0 60000 65536"/>
                <a:gd name="T5" fmla="*/ 0 60000 65536"/>
                <a:gd name="T6" fmla="*/ 0 w 72"/>
                <a:gd name="T7" fmla="*/ 0 h 261"/>
                <a:gd name="T8" fmla="*/ 72 w 72"/>
                <a:gd name="T9" fmla="*/ 261 h 261"/>
              </a:gdLst>
              <a:ahLst/>
              <a:cxnLst>
                <a:cxn ang="T4">
                  <a:pos x="T0" y="T1"/>
                </a:cxn>
                <a:cxn ang="T5">
                  <a:pos x="T2" y="T3"/>
                </a:cxn>
              </a:cxnLst>
              <a:rect l="T6" t="T7" r="T8" b="T9"/>
              <a:pathLst>
                <a:path w="72" h="261">
                  <a:moveTo>
                    <a:pt x="0" y="261"/>
                  </a:moveTo>
                  <a:lnTo>
                    <a:pt x="72" y="0"/>
                  </a:lnTo>
                </a:path>
              </a:pathLst>
            </a:custGeom>
            <a:noFill/>
            <a:ln w="3175">
              <a:solidFill>
                <a:srgbClr val="FF3300"/>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grpSp>
      <p:grpSp>
        <p:nvGrpSpPr>
          <p:cNvPr id="21" name="组合 20"/>
          <p:cNvGrpSpPr/>
          <p:nvPr/>
        </p:nvGrpSpPr>
        <p:grpSpPr>
          <a:xfrm>
            <a:off x="9293289" y="1690116"/>
            <a:ext cx="2751137" cy="1997076"/>
            <a:chOff x="9293289" y="1690116"/>
            <a:chExt cx="2751137" cy="1997076"/>
          </a:xfrm>
        </p:grpSpPr>
        <p:grpSp>
          <p:nvGrpSpPr>
            <p:cNvPr id="2" name="组合 751622"/>
            <p:cNvGrpSpPr/>
            <p:nvPr/>
          </p:nvGrpSpPr>
          <p:grpSpPr bwMode="auto">
            <a:xfrm>
              <a:off x="10374377" y="2504504"/>
              <a:ext cx="430213" cy="304800"/>
              <a:chOff x="3506" y="1473"/>
              <a:chExt cx="250" cy="192"/>
            </a:xfrm>
          </p:grpSpPr>
          <p:sp>
            <p:nvSpPr>
              <p:cNvPr id="75897" name="任意多边形 751623"/>
              <p:cNvSpPr>
                <a:spLocks noChangeArrowheads="1"/>
              </p:cNvSpPr>
              <p:nvPr/>
            </p:nvSpPr>
            <p:spPr bwMode="auto">
              <a:xfrm>
                <a:off x="3645" y="1500"/>
                <a:ext cx="24" cy="84"/>
              </a:xfrm>
              <a:custGeom>
                <a:avLst/>
                <a:gdLst>
                  <a:gd name="T0" fmla="*/ 24 w 24"/>
                  <a:gd name="T1" fmla="*/ 84 h 84"/>
                  <a:gd name="T2" fmla="*/ 0 w 24"/>
                  <a:gd name="T3" fmla="*/ 0 h 84"/>
                  <a:gd name="T4" fmla="*/ 0 60000 65536"/>
                  <a:gd name="T5" fmla="*/ 0 60000 65536"/>
                  <a:gd name="T6" fmla="*/ 0 w 24"/>
                  <a:gd name="T7" fmla="*/ 0 h 84"/>
                  <a:gd name="T8" fmla="*/ 24 w 24"/>
                  <a:gd name="T9" fmla="*/ 84 h 84"/>
                </a:gdLst>
                <a:ahLst/>
                <a:cxnLst>
                  <a:cxn ang="T4">
                    <a:pos x="T0" y="T1"/>
                  </a:cxn>
                  <a:cxn ang="T5">
                    <a:pos x="T2" y="T3"/>
                  </a:cxn>
                </a:cxnLst>
                <a:rect l="T6" t="T7" r="T8" b="T9"/>
                <a:pathLst>
                  <a:path w="24" h="84">
                    <a:moveTo>
                      <a:pt x="24" y="84"/>
                    </a:moveTo>
                    <a:lnTo>
                      <a:pt x="0" y="0"/>
                    </a:lnTo>
                  </a:path>
                </a:pathLst>
              </a:custGeom>
              <a:noFill/>
              <a:ln w="3175">
                <a:solidFill>
                  <a:schemeClr val="accent2"/>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98" name="文本框 751624"/>
              <p:cNvSpPr txBox="1">
                <a:spLocks noChangeArrowheads="1"/>
              </p:cNvSpPr>
              <p:nvPr/>
            </p:nvSpPr>
            <p:spPr bwMode="auto">
              <a:xfrm>
                <a:off x="3506" y="1473"/>
                <a:ext cx="2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1400" dirty="0">
                    <a:solidFill>
                      <a:schemeClr val="accent2"/>
                    </a:solidFill>
                    <a:latin typeface="Times New Roman" panose="02020603050405020304" pitchFamily="18" charset="0"/>
                    <a:sym typeface="Symbol" panose="05050102010706020507" pitchFamily="18" charset="2"/>
                  </a:rPr>
                  <a:t></a:t>
                </a:r>
                <a:r>
                  <a:rPr lang="en-US" altLang="zh-CN" sz="1400" baseline="-25000" dirty="0">
                    <a:solidFill>
                      <a:schemeClr val="accent2"/>
                    </a:solidFill>
                    <a:latin typeface="Times New Roman" panose="02020603050405020304" pitchFamily="18" charset="0"/>
                    <a:sym typeface="Symbol" panose="05050102010706020507" pitchFamily="18" charset="2"/>
                  </a:rPr>
                  <a:t>a</a:t>
                </a:r>
                <a:endParaRPr lang="en-US" altLang="zh-CN" sz="1400" dirty="0">
                  <a:solidFill>
                    <a:schemeClr val="accent2"/>
                  </a:solidFill>
                  <a:latin typeface="Times New Roman" panose="02020603050405020304" pitchFamily="18" charset="0"/>
                </a:endParaRPr>
              </a:p>
            </p:txBody>
          </p:sp>
        </p:grpSp>
        <p:sp>
          <p:nvSpPr>
            <p:cNvPr id="751657" name="任意多边形 751656"/>
            <p:cNvSpPr>
              <a:spLocks noChangeArrowheads="1"/>
            </p:cNvSpPr>
            <p:nvPr/>
          </p:nvSpPr>
          <p:spPr bwMode="auto">
            <a:xfrm>
              <a:off x="9525065" y="2109217"/>
              <a:ext cx="2327275" cy="1262063"/>
            </a:xfrm>
            <a:custGeom>
              <a:avLst/>
              <a:gdLst>
                <a:gd name="T0" fmla="*/ 0 w 1353"/>
                <a:gd name="T1" fmla="*/ 2147483646 h 795"/>
                <a:gd name="T2" fmla="*/ 2147483646 w 1353"/>
                <a:gd name="T3" fmla="*/ 2147483646 h 795"/>
                <a:gd name="T4" fmla="*/ 2147483646 w 1353"/>
                <a:gd name="T5" fmla="*/ 2147483646 h 795"/>
                <a:gd name="T6" fmla="*/ 2147483646 w 1353"/>
                <a:gd name="T7" fmla="*/ 2147483646 h 795"/>
                <a:gd name="T8" fmla="*/ 2147483646 w 1353"/>
                <a:gd name="T9" fmla="*/ 0 h 795"/>
                <a:gd name="T10" fmla="*/ 2147483646 w 1353"/>
                <a:gd name="T11" fmla="*/ 2147483646 h 795"/>
                <a:gd name="T12" fmla="*/ 2147483646 w 1353"/>
                <a:gd name="T13" fmla="*/ 2147483646 h 795"/>
                <a:gd name="T14" fmla="*/ 2147483646 w 1353"/>
                <a:gd name="T15" fmla="*/ 2147483646 h 795"/>
                <a:gd name="T16" fmla="*/ 2147483646 w 1353"/>
                <a:gd name="T17" fmla="*/ 2147483646 h 7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53"/>
                <a:gd name="T28" fmla="*/ 0 h 795"/>
                <a:gd name="T29" fmla="*/ 1353 w 1353"/>
                <a:gd name="T30" fmla="*/ 795 h 7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53" h="795">
                  <a:moveTo>
                    <a:pt x="0" y="792"/>
                  </a:moveTo>
                  <a:cubicBezTo>
                    <a:pt x="17" y="744"/>
                    <a:pt x="56" y="600"/>
                    <a:pt x="102" y="504"/>
                  </a:cubicBezTo>
                  <a:cubicBezTo>
                    <a:pt x="148" y="408"/>
                    <a:pt x="217" y="290"/>
                    <a:pt x="279" y="213"/>
                  </a:cubicBezTo>
                  <a:cubicBezTo>
                    <a:pt x="341" y="136"/>
                    <a:pt x="413" y="80"/>
                    <a:pt x="474" y="45"/>
                  </a:cubicBezTo>
                  <a:cubicBezTo>
                    <a:pt x="535" y="10"/>
                    <a:pt x="586" y="0"/>
                    <a:pt x="648" y="0"/>
                  </a:cubicBezTo>
                  <a:cubicBezTo>
                    <a:pt x="710" y="0"/>
                    <a:pt x="783" y="11"/>
                    <a:pt x="849" y="48"/>
                  </a:cubicBezTo>
                  <a:cubicBezTo>
                    <a:pt x="915" y="85"/>
                    <a:pt x="980" y="150"/>
                    <a:pt x="1044" y="222"/>
                  </a:cubicBezTo>
                  <a:cubicBezTo>
                    <a:pt x="1108" y="294"/>
                    <a:pt x="1179" y="388"/>
                    <a:pt x="1230" y="483"/>
                  </a:cubicBezTo>
                  <a:cubicBezTo>
                    <a:pt x="1281" y="578"/>
                    <a:pt x="1327" y="730"/>
                    <a:pt x="1353" y="795"/>
                  </a:cubicBezTo>
                </a:path>
              </a:pathLst>
            </a:cu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1658" name="椭圆 751657"/>
            <p:cNvSpPr>
              <a:spLocks noChangeArrowheads="1"/>
            </p:cNvSpPr>
            <p:nvPr/>
          </p:nvSpPr>
          <p:spPr bwMode="auto">
            <a:xfrm>
              <a:off x="11136376" y="238544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grpSp>
          <p:nvGrpSpPr>
            <p:cNvPr id="8" name="组合 751658"/>
            <p:cNvGrpSpPr/>
            <p:nvPr/>
          </p:nvGrpSpPr>
          <p:grpSpPr bwMode="auto">
            <a:xfrm>
              <a:off x="11569765" y="2512441"/>
              <a:ext cx="473075" cy="311150"/>
              <a:chOff x="4201" y="1478"/>
              <a:chExt cx="275" cy="196"/>
            </a:xfrm>
          </p:grpSpPr>
          <p:sp>
            <p:nvSpPr>
              <p:cNvPr id="75880" name="椭圆 751659"/>
              <p:cNvSpPr>
                <a:spLocks noChangeArrowheads="1"/>
              </p:cNvSpPr>
              <p:nvPr/>
            </p:nvSpPr>
            <p:spPr bwMode="auto">
              <a:xfrm>
                <a:off x="4201" y="1647"/>
                <a:ext cx="28" cy="27"/>
              </a:xfrm>
              <a:prstGeom prst="ellipse">
                <a:avLst/>
              </a:prstGeom>
              <a:solidFill>
                <a:srgbClr val="CC00CC"/>
              </a:solidFill>
              <a:ln w="3175">
                <a:solidFill>
                  <a:srgbClr val="CC00CC"/>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81" name="任意多边形 751660"/>
              <p:cNvSpPr>
                <a:spLocks noChangeArrowheads="1"/>
              </p:cNvSpPr>
              <p:nvPr/>
            </p:nvSpPr>
            <p:spPr bwMode="auto">
              <a:xfrm>
                <a:off x="4216" y="1661"/>
                <a:ext cx="260" cy="1"/>
              </a:xfrm>
              <a:custGeom>
                <a:avLst/>
                <a:gdLst>
                  <a:gd name="T0" fmla="*/ 0 w 260"/>
                  <a:gd name="T1" fmla="*/ 0 h 1"/>
                  <a:gd name="T2" fmla="*/ 260 w 260"/>
                  <a:gd name="T3" fmla="*/ 0 h 1"/>
                  <a:gd name="T4" fmla="*/ 0 60000 65536"/>
                  <a:gd name="T5" fmla="*/ 0 60000 65536"/>
                  <a:gd name="T6" fmla="*/ 0 w 260"/>
                  <a:gd name="T7" fmla="*/ 0 h 1"/>
                  <a:gd name="T8" fmla="*/ 260 w 260"/>
                  <a:gd name="T9" fmla="*/ 1 h 1"/>
                </a:gdLst>
                <a:ahLst/>
                <a:cxnLst>
                  <a:cxn ang="T4">
                    <a:pos x="T0" y="T1"/>
                  </a:cxn>
                  <a:cxn ang="T5">
                    <a:pos x="T2" y="T3"/>
                  </a:cxn>
                </a:cxnLst>
                <a:rect l="T6" t="T7" r="T8" b="T9"/>
                <a:pathLst>
                  <a:path w="260" h="1">
                    <a:moveTo>
                      <a:pt x="0" y="0"/>
                    </a:moveTo>
                    <a:lnTo>
                      <a:pt x="260" y="0"/>
                    </a:lnTo>
                  </a:path>
                </a:pathLst>
              </a:custGeom>
              <a:noFill/>
              <a:ln w="3175">
                <a:solidFill>
                  <a:srgbClr val="CC00CC"/>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82" name="文本框 751661"/>
              <p:cNvSpPr txBox="1">
                <a:spLocks noChangeArrowheads="1"/>
              </p:cNvSpPr>
              <p:nvPr/>
            </p:nvSpPr>
            <p:spPr bwMode="auto">
              <a:xfrm>
                <a:off x="4227" y="1478"/>
                <a:ext cx="16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en-US" altLang="zh-CN" sz="1400">
                    <a:solidFill>
                      <a:srgbClr val="CC00CC"/>
                    </a:solidFill>
                    <a:latin typeface="Times New Roman" panose="02020603050405020304" pitchFamily="18" charset="0"/>
                  </a:rPr>
                  <a:t>r</a:t>
                </a:r>
                <a:r>
                  <a:rPr lang="en-US" altLang="zh-CN" sz="1400" baseline="-25000">
                    <a:solidFill>
                      <a:srgbClr val="CC00CC"/>
                    </a:solidFill>
                    <a:latin typeface="Times New Roman" panose="02020603050405020304" pitchFamily="18" charset="0"/>
                  </a:rPr>
                  <a:t>r</a:t>
                </a:r>
                <a:endParaRPr lang="en-US" altLang="zh-CN" sz="1400">
                  <a:solidFill>
                    <a:srgbClr val="CC00CC"/>
                  </a:solidFill>
                  <a:latin typeface="Times New Roman" panose="02020603050405020304" pitchFamily="18" charset="0"/>
                </a:endParaRPr>
              </a:p>
            </p:txBody>
          </p:sp>
        </p:grpSp>
        <p:sp>
          <p:nvSpPr>
            <p:cNvPr id="751663" name="椭圆 751662"/>
            <p:cNvSpPr>
              <a:spLocks noChangeArrowheads="1"/>
            </p:cNvSpPr>
            <p:nvPr/>
          </p:nvSpPr>
          <p:spPr bwMode="auto">
            <a:xfrm>
              <a:off x="10995089" y="21901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64" name="椭圆 751663"/>
            <p:cNvSpPr>
              <a:spLocks noChangeArrowheads="1"/>
            </p:cNvSpPr>
            <p:nvPr/>
          </p:nvSpPr>
          <p:spPr bwMode="auto">
            <a:xfrm>
              <a:off x="10828401" y="20187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65" name="椭圆 751664"/>
            <p:cNvSpPr>
              <a:spLocks noChangeArrowheads="1"/>
            </p:cNvSpPr>
            <p:nvPr/>
          </p:nvSpPr>
          <p:spPr bwMode="auto">
            <a:xfrm>
              <a:off x="10656951" y="18472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66" name="椭圆 751665"/>
            <p:cNvSpPr>
              <a:spLocks noChangeArrowheads="1"/>
            </p:cNvSpPr>
            <p:nvPr/>
          </p:nvSpPr>
          <p:spPr bwMode="auto">
            <a:xfrm>
              <a:off x="10437876" y="172821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67" name="椭圆 751666"/>
            <p:cNvSpPr>
              <a:spLocks noChangeArrowheads="1"/>
            </p:cNvSpPr>
            <p:nvPr/>
          </p:nvSpPr>
          <p:spPr bwMode="auto">
            <a:xfrm>
              <a:off x="10193401" y="169011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68" name="椭圆 751667"/>
            <p:cNvSpPr>
              <a:spLocks noChangeArrowheads="1"/>
            </p:cNvSpPr>
            <p:nvPr/>
          </p:nvSpPr>
          <p:spPr bwMode="auto">
            <a:xfrm>
              <a:off x="9944164" y="174250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69" name="椭圆 751668"/>
            <p:cNvSpPr>
              <a:spLocks noChangeArrowheads="1"/>
            </p:cNvSpPr>
            <p:nvPr/>
          </p:nvSpPr>
          <p:spPr bwMode="auto">
            <a:xfrm>
              <a:off x="9736201" y="18663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70" name="椭圆 751669"/>
            <p:cNvSpPr>
              <a:spLocks noChangeArrowheads="1"/>
            </p:cNvSpPr>
            <p:nvPr/>
          </p:nvSpPr>
          <p:spPr bwMode="auto">
            <a:xfrm>
              <a:off x="9564751" y="202825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71" name="椭圆 751670"/>
            <p:cNvSpPr>
              <a:spLocks noChangeArrowheads="1"/>
            </p:cNvSpPr>
            <p:nvPr/>
          </p:nvSpPr>
          <p:spPr bwMode="auto">
            <a:xfrm>
              <a:off x="9418701" y="22139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72" name="椭圆 751671"/>
            <p:cNvSpPr>
              <a:spLocks noChangeArrowheads="1"/>
            </p:cNvSpPr>
            <p:nvPr/>
          </p:nvSpPr>
          <p:spPr bwMode="auto">
            <a:xfrm>
              <a:off x="9293289" y="241401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73" name="任意多边形 751672"/>
            <p:cNvSpPr>
              <a:spLocks noChangeArrowheads="1"/>
            </p:cNvSpPr>
            <p:nvPr/>
          </p:nvSpPr>
          <p:spPr bwMode="auto">
            <a:xfrm>
              <a:off x="10041002" y="2526730"/>
              <a:ext cx="1300163" cy="763587"/>
            </a:xfrm>
            <a:custGeom>
              <a:avLst/>
              <a:gdLst>
                <a:gd name="T0" fmla="*/ 0 w 756"/>
                <a:gd name="T1" fmla="*/ 2147483646 h 481"/>
                <a:gd name="T2" fmla="*/ 2147483646 w 756"/>
                <a:gd name="T3" fmla="*/ 2147483646 h 481"/>
                <a:gd name="T4" fmla="*/ 2147483646 w 756"/>
                <a:gd name="T5" fmla="*/ 2147483646 h 481"/>
                <a:gd name="T6" fmla="*/ 2147483646 w 756"/>
                <a:gd name="T7" fmla="*/ 2147483646 h 481"/>
                <a:gd name="T8" fmla="*/ 2147483646 w 756"/>
                <a:gd name="T9" fmla="*/ 2147483646 h 481"/>
                <a:gd name="T10" fmla="*/ 2147483646 w 756"/>
                <a:gd name="T11" fmla="*/ 2147483646 h 481"/>
                <a:gd name="T12" fmla="*/ 2147483646 w 756"/>
                <a:gd name="T13" fmla="*/ 2147483646 h 481"/>
                <a:gd name="T14" fmla="*/ 2147483646 w 756"/>
                <a:gd name="T15" fmla="*/ 2147483646 h 481"/>
                <a:gd name="T16" fmla="*/ 2147483646 w 756"/>
                <a:gd name="T17" fmla="*/ 2147483646 h 481"/>
                <a:gd name="T18" fmla="*/ 2147483646 w 756"/>
                <a:gd name="T19" fmla="*/ 2147483646 h 481"/>
                <a:gd name="T20" fmla="*/ 2147483646 w 756"/>
                <a:gd name="T21" fmla="*/ 2147483646 h 481"/>
                <a:gd name="T22" fmla="*/ 2147483646 w 756"/>
                <a:gd name="T23" fmla="*/ 2147483646 h 4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6"/>
                <a:gd name="T37" fmla="*/ 0 h 481"/>
                <a:gd name="T38" fmla="*/ 756 w 756"/>
                <a:gd name="T39" fmla="*/ 481 h 4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6" h="481">
                  <a:moveTo>
                    <a:pt x="0" y="481"/>
                  </a:moveTo>
                  <a:cubicBezTo>
                    <a:pt x="9" y="457"/>
                    <a:pt x="36" y="381"/>
                    <a:pt x="57" y="334"/>
                  </a:cubicBezTo>
                  <a:cubicBezTo>
                    <a:pt x="78" y="287"/>
                    <a:pt x="107" y="237"/>
                    <a:pt x="129" y="202"/>
                  </a:cubicBezTo>
                  <a:cubicBezTo>
                    <a:pt x="151" y="167"/>
                    <a:pt x="169" y="148"/>
                    <a:pt x="189" y="124"/>
                  </a:cubicBezTo>
                  <a:cubicBezTo>
                    <a:pt x="209" y="100"/>
                    <a:pt x="234" y="72"/>
                    <a:pt x="252" y="55"/>
                  </a:cubicBezTo>
                  <a:cubicBezTo>
                    <a:pt x="270" y="38"/>
                    <a:pt x="282" y="31"/>
                    <a:pt x="300" y="22"/>
                  </a:cubicBezTo>
                  <a:cubicBezTo>
                    <a:pt x="318" y="13"/>
                    <a:pt x="341" y="0"/>
                    <a:pt x="363" y="1"/>
                  </a:cubicBezTo>
                  <a:cubicBezTo>
                    <a:pt x="385" y="2"/>
                    <a:pt x="409" y="13"/>
                    <a:pt x="435" y="31"/>
                  </a:cubicBezTo>
                  <a:cubicBezTo>
                    <a:pt x="461" y="49"/>
                    <a:pt x="493" y="82"/>
                    <a:pt x="519" y="109"/>
                  </a:cubicBezTo>
                  <a:cubicBezTo>
                    <a:pt x="545" y="136"/>
                    <a:pt x="568" y="158"/>
                    <a:pt x="594" y="193"/>
                  </a:cubicBezTo>
                  <a:cubicBezTo>
                    <a:pt x="620" y="228"/>
                    <a:pt x="651" y="274"/>
                    <a:pt x="678" y="322"/>
                  </a:cubicBezTo>
                  <a:cubicBezTo>
                    <a:pt x="705" y="370"/>
                    <a:pt x="740" y="448"/>
                    <a:pt x="756" y="481"/>
                  </a:cubicBez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grpSp>
          <p:nvGrpSpPr>
            <p:cNvPr id="9" name="组合 751673"/>
            <p:cNvGrpSpPr/>
            <p:nvPr/>
          </p:nvGrpSpPr>
          <p:grpSpPr bwMode="auto">
            <a:xfrm>
              <a:off x="10628377" y="2153667"/>
              <a:ext cx="506413" cy="550863"/>
              <a:chOff x="4697" y="1252"/>
              <a:chExt cx="294" cy="347"/>
            </a:xfrm>
          </p:grpSpPr>
          <p:sp>
            <p:nvSpPr>
              <p:cNvPr id="75876" name="椭圆 751674"/>
              <p:cNvSpPr>
                <a:spLocks noChangeArrowheads="1"/>
              </p:cNvSpPr>
              <p:nvPr/>
            </p:nvSpPr>
            <p:spPr bwMode="auto">
              <a:xfrm>
                <a:off x="4697" y="1572"/>
                <a:ext cx="28" cy="27"/>
              </a:xfrm>
              <a:prstGeom prst="ellipse">
                <a:avLst/>
              </a:prstGeom>
              <a:solidFill>
                <a:srgbClr val="FF3300"/>
              </a:solidFill>
              <a:ln w="3175">
                <a:solidFill>
                  <a:srgbClr val="FF3300"/>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grpSp>
            <p:nvGrpSpPr>
              <p:cNvPr id="75877" name="组合 751675"/>
              <p:cNvGrpSpPr/>
              <p:nvPr/>
            </p:nvGrpSpPr>
            <p:grpSpPr bwMode="auto">
              <a:xfrm>
                <a:off x="4712" y="1252"/>
                <a:ext cx="279" cy="332"/>
                <a:chOff x="3669" y="1252"/>
                <a:chExt cx="279" cy="332"/>
              </a:xfrm>
            </p:grpSpPr>
            <p:sp>
              <p:nvSpPr>
                <p:cNvPr id="75878" name="任意多边形 751676"/>
                <p:cNvSpPr>
                  <a:spLocks noChangeArrowheads="1"/>
                </p:cNvSpPr>
                <p:nvPr/>
              </p:nvSpPr>
              <p:spPr bwMode="auto">
                <a:xfrm>
                  <a:off x="3669" y="1335"/>
                  <a:ext cx="279" cy="249"/>
                </a:xfrm>
                <a:custGeom>
                  <a:avLst/>
                  <a:gdLst>
                    <a:gd name="T0" fmla="*/ 0 w 279"/>
                    <a:gd name="T1" fmla="*/ 249 h 249"/>
                    <a:gd name="T2" fmla="*/ 279 w 279"/>
                    <a:gd name="T3" fmla="*/ 0 h 249"/>
                    <a:gd name="T4" fmla="*/ 0 60000 65536"/>
                    <a:gd name="T5" fmla="*/ 0 60000 65536"/>
                    <a:gd name="T6" fmla="*/ 0 w 279"/>
                    <a:gd name="T7" fmla="*/ 0 h 249"/>
                    <a:gd name="T8" fmla="*/ 279 w 279"/>
                    <a:gd name="T9" fmla="*/ 249 h 249"/>
                  </a:gdLst>
                  <a:ahLst/>
                  <a:cxnLst>
                    <a:cxn ang="T4">
                      <a:pos x="T0" y="T1"/>
                    </a:cxn>
                    <a:cxn ang="T5">
                      <a:pos x="T2" y="T3"/>
                    </a:cxn>
                  </a:cxnLst>
                  <a:rect l="T6" t="T7" r="T8" b="T9"/>
                  <a:pathLst>
                    <a:path w="279" h="249">
                      <a:moveTo>
                        <a:pt x="0" y="249"/>
                      </a:moveTo>
                      <a:lnTo>
                        <a:pt x="279" y="0"/>
                      </a:lnTo>
                    </a:path>
                  </a:pathLst>
                </a:custGeom>
                <a:noFill/>
                <a:ln w="3175">
                  <a:solidFill>
                    <a:srgbClr val="FF3300"/>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79" name="文本框 751677"/>
                <p:cNvSpPr txBox="1">
                  <a:spLocks noChangeArrowheads="1"/>
                </p:cNvSpPr>
                <p:nvPr/>
              </p:nvSpPr>
              <p:spPr bwMode="auto">
                <a:xfrm rot="-2045823">
                  <a:off x="3729" y="1252"/>
                  <a:ext cx="1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1400">
                      <a:solidFill>
                        <a:srgbClr val="FF3300"/>
                      </a:solidFill>
                      <a:latin typeface="Times New Roman" panose="02020603050405020304" pitchFamily="18" charset="0"/>
                      <a:sym typeface="Symbol" panose="05050102010706020507" pitchFamily="18" charset="2"/>
                    </a:rPr>
                    <a:t></a:t>
                  </a:r>
                  <a:endParaRPr lang="zh-CN" altLang="en-US" sz="1400">
                    <a:solidFill>
                      <a:srgbClr val="FF3300"/>
                    </a:solidFill>
                    <a:latin typeface="Times New Roman" panose="02020603050405020304" pitchFamily="18" charset="0"/>
                  </a:endParaRPr>
                </a:p>
              </p:txBody>
            </p:sp>
          </p:grpSp>
        </p:grpSp>
        <p:sp>
          <p:nvSpPr>
            <p:cNvPr id="751679" name="文本框 751678"/>
            <p:cNvSpPr txBox="1">
              <a:spLocks noChangeArrowheads="1"/>
            </p:cNvSpPr>
            <p:nvPr/>
          </p:nvSpPr>
          <p:spPr bwMode="auto">
            <a:xfrm>
              <a:off x="10064814" y="2995042"/>
              <a:ext cx="158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r>
                <a:rPr lang="zh-CN" altLang="en-US" sz="2000" b="1">
                  <a:solidFill>
                    <a:srgbClr val="000000"/>
                  </a:solidFill>
                  <a:latin typeface="Times New Roman" panose="02020603050405020304" pitchFamily="18" charset="0"/>
                  <a:sym typeface="Symbol" panose="05050102010706020507" pitchFamily="18" charset="2"/>
                </a:rPr>
                <a:t></a:t>
              </a:r>
              <a:r>
                <a:rPr lang="zh-CN" altLang="zh-CN" sz="2000" b="1">
                  <a:solidFill>
                    <a:srgbClr val="000000"/>
                  </a:solidFill>
                  <a:latin typeface="Times New Roman" panose="02020603050405020304" pitchFamily="18" charset="0"/>
                  <a:sym typeface="Symbol" panose="05050102010706020507" pitchFamily="18" charset="2"/>
                </a:rPr>
                <a:t>&gt;</a:t>
              </a:r>
              <a:r>
                <a:rPr lang="en-US" altLang="zh-CN" sz="2000" b="1">
                  <a:solidFill>
                    <a:srgbClr val="000000"/>
                  </a:solidFill>
                  <a:latin typeface="Times New Roman" panose="02020603050405020304" pitchFamily="18" charset="0"/>
                  <a:sym typeface="Symbol" panose="05050102010706020507" pitchFamily="18" charset="2"/>
                </a:rPr>
                <a:t>r</a:t>
              </a:r>
              <a:r>
                <a:rPr lang="en-US" altLang="zh-CN" sz="2000" b="1" baseline="-25000">
                  <a:solidFill>
                    <a:srgbClr val="000000"/>
                  </a:solidFill>
                  <a:latin typeface="Times New Roman" panose="02020603050405020304" pitchFamily="18" charset="0"/>
                  <a:sym typeface="Symbol" panose="05050102010706020507" pitchFamily="18" charset="2"/>
                </a:rPr>
                <a:t>r</a:t>
              </a:r>
              <a:endParaRPr lang="en-US" altLang="zh-CN" sz="2000" b="1" baseline="-25000">
                <a:solidFill>
                  <a:srgbClr val="000000"/>
                </a:solidFill>
                <a:latin typeface="Times New Roman" panose="02020603050405020304" pitchFamily="18" charset="0"/>
                <a:sym typeface="Symbol" panose="05050102010706020507" pitchFamily="18" charset="2"/>
              </a:endParaRPr>
            </a:p>
          </p:txBody>
        </p:sp>
        <p:sp>
          <p:nvSpPr>
            <p:cNvPr id="751729" name="文本框 751728"/>
            <p:cNvSpPr txBox="1">
              <a:spLocks noChangeArrowheads="1"/>
            </p:cNvSpPr>
            <p:nvPr/>
          </p:nvSpPr>
          <p:spPr bwMode="auto">
            <a:xfrm>
              <a:off x="10063226" y="3290317"/>
              <a:ext cx="158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r>
                <a:rPr lang="zh-CN" altLang="en-US" sz="2000" b="1">
                  <a:solidFill>
                    <a:srgbClr val="000000"/>
                  </a:solidFill>
                  <a:latin typeface="Times New Roman" panose="02020603050405020304" pitchFamily="18" charset="0"/>
                  <a:sym typeface="Symbol" panose="05050102010706020507" pitchFamily="18" charset="2"/>
                </a:rPr>
                <a:t></a:t>
              </a:r>
              <a:r>
                <a:rPr lang="en-US" altLang="zh-CN" sz="2000" b="1" baseline="-25000">
                  <a:solidFill>
                    <a:srgbClr val="000000"/>
                  </a:solidFill>
                  <a:latin typeface="Times New Roman" panose="02020603050405020304" pitchFamily="18" charset="0"/>
                  <a:sym typeface="Symbol" panose="05050102010706020507" pitchFamily="18" charset="2"/>
                </a:rPr>
                <a:t>a</a:t>
              </a:r>
              <a:r>
                <a:rPr lang="en-US" altLang="zh-CN" sz="2000" b="1">
                  <a:solidFill>
                    <a:srgbClr val="000000"/>
                  </a:solidFill>
                  <a:latin typeface="Times New Roman" panose="02020603050405020304" pitchFamily="18" charset="0"/>
                  <a:sym typeface="Symbol" panose="05050102010706020507" pitchFamily="18" charset="2"/>
                </a:rPr>
                <a:t>= -r</a:t>
              </a:r>
              <a:r>
                <a:rPr lang="en-US" altLang="zh-CN" sz="2000" b="1" baseline="-25000">
                  <a:solidFill>
                    <a:srgbClr val="000000"/>
                  </a:solidFill>
                  <a:latin typeface="Times New Roman" panose="02020603050405020304" pitchFamily="18" charset="0"/>
                  <a:sym typeface="Symbol" panose="05050102010706020507" pitchFamily="18" charset="2"/>
                </a:rPr>
                <a:t>r</a:t>
              </a:r>
              <a:r>
                <a:rPr lang="en-US" altLang="zh-CN" sz="2000" b="1">
                  <a:solidFill>
                    <a:srgbClr val="000000"/>
                  </a:solidFill>
                  <a:latin typeface="Times New Roman" panose="02020603050405020304" pitchFamily="18" charset="0"/>
                  <a:sym typeface="Symbol" panose="05050102010706020507" pitchFamily="18" charset="2"/>
                </a:rPr>
                <a:t>&gt;0</a:t>
              </a:r>
              <a:endParaRPr lang="en-US" altLang="zh-CN" sz="2000" b="1">
                <a:solidFill>
                  <a:srgbClr val="000000"/>
                </a:solidFill>
                <a:latin typeface="Times New Roman" panose="02020603050405020304" pitchFamily="18" charset="0"/>
                <a:sym typeface="Symbol" panose="05050102010706020507" pitchFamily="18" charset="2"/>
              </a:endParaRPr>
            </a:p>
          </p:txBody>
        </p:sp>
      </p:grpSp>
      <p:sp>
        <p:nvSpPr>
          <p:cNvPr id="751730" name="文本框 751729"/>
          <p:cNvSpPr txBox="1">
            <a:spLocks noChangeArrowheads="1"/>
          </p:cNvSpPr>
          <p:nvPr/>
        </p:nvSpPr>
        <p:spPr bwMode="auto">
          <a:xfrm>
            <a:off x="10171176" y="5638230"/>
            <a:ext cx="158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gn="ctr" eaLnBrk="1" hangingPunct="1">
              <a:lnSpc>
                <a:spcPct val="100000"/>
              </a:lnSpc>
              <a:spcBef>
                <a:spcPct val="0"/>
              </a:spcBef>
              <a:buFontTx/>
              <a:buNone/>
            </a:pPr>
            <a:r>
              <a:rPr lang="zh-CN" altLang="en-US" sz="2000" b="1">
                <a:solidFill>
                  <a:srgbClr val="000000"/>
                </a:solidFill>
                <a:latin typeface="Times New Roman" panose="02020603050405020304" pitchFamily="18" charset="0"/>
                <a:sym typeface="Symbol" panose="05050102010706020507" pitchFamily="18" charset="2"/>
              </a:rPr>
              <a:t> </a:t>
            </a:r>
            <a:r>
              <a:rPr lang="zh-CN" altLang="zh-CN" sz="2000" b="1">
                <a:solidFill>
                  <a:srgbClr val="000000"/>
                </a:solidFill>
                <a:latin typeface="Times New Roman" panose="02020603050405020304" pitchFamily="18" charset="0"/>
                <a:sym typeface="Symbol" panose="05050102010706020507" pitchFamily="18" charset="2"/>
              </a:rPr>
              <a:t>&lt; </a:t>
            </a:r>
            <a:r>
              <a:rPr lang="en-US" altLang="zh-CN" sz="2000" b="1">
                <a:solidFill>
                  <a:srgbClr val="000000"/>
                </a:solidFill>
                <a:latin typeface="Times New Roman" panose="02020603050405020304" pitchFamily="18" charset="0"/>
                <a:sym typeface="Symbol" panose="05050102010706020507" pitchFamily="18" charset="2"/>
              </a:rPr>
              <a:t>r</a:t>
            </a:r>
            <a:r>
              <a:rPr lang="en-US" altLang="zh-CN" sz="2000" b="1" baseline="-25000">
                <a:solidFill>
                  <a:srgbClr val="000000"/>
                </a:solidFill>
                <a:latin typeface="Times New Roman" panose="02020603050405020304" pitchFamily="18" charset="0"/>
                <a:sym typeface="Symbol" panose="05050102010706020507" pitchFamily="18" charset="2"/>
              </a:rPr>
              <a:t>r</a:t>
            </a:r>
            <a:endParaRPr lang="en-US" altLang="zh-CN" sz="2000" b="1" baseline="-25000">
              <a:solidFill>
                <a:srgbClr val="000000"/>
              </a:solidFill>
              <a:latin typeface="Times New Roman" panose="02020603050405020304" pitchFamily="18" charset="0"/>
              <a:sym typeface="Symbol" panose="05050102010706020507" pitchFamily="18" charset="2"/>
            </a:endParaRPr>
          </a:p>
        </p:txBody>
      </p:sp>
      <p:grpSp>
        <p:nvGrpSpPr>
          <p:cNvPr id="16" name="组合 751730"/>
          <p:cNvGrpSpPr/>
          <p:nvPr/>
        </p:nvGrpSpPr>
        <p:grpSpPr bwMode="auto">
          <a:xfrm>
            <a:off x="6869176" y="4128516"/>
            <a:ext cx="1733550" cy="1600200"/>
            <a:chOff x="2304" y="2496"/>
            <a:chExt cx="1008" cy="1008"/>
          </a:xfrm>
        </p:grpSpPr>
        <p:sp>
          <p:nvSpPr>
            <p:cNvPr id="75860" name="椭圆 751731"/>
            <p:cNvSpPr>
              <a:spLocks noChangeArrowheads="1"/>
            </p:cNvSpPr>
            <p:nvPr/>
          </p:nvSpPr>
          <p:spPr bwMode="auto">
            <a:xfrm>
              <a:off x="2304" y="2496"/>
              <a:ext cx="1008" cy="1008"/>
            </a:xfrm>
            <a:prstGeom prst="ellipse">
              <a:avLst/>
            </a:prstGeom>
            <a:noFill/>
            <a:ln w="1524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61" name="直接连接符 751732"/>
            <p:cNvSpPr>
              <a:spLocks noChangeShapeType="1"/>
            </p:cNvSpPr>
            <p:nvPr/>
          </p:nvSpPr>
          <p:spPr bwMode="auto">
            <a:xfrm flipH="1">
              <a:off x="2442" y="2634"/>
              <a:ext cx="720" cy="720"/>
            </a:xfrm>
            <a:prstGeom prst="line">
              <a:avLst/>
            </a:prstGeom>
            <a:noFill/>
            <a:ln w="152400">
              <a:solidFill>
                <a:srgbClr val="FF3300"/>
              </a:solidFill>
              <a:round/>
            </a:ln>
            <a:extLst>
              <a:ext uri="{909E8E84-426E-40DD-AFC4-6F175D3DCCD1}">
                <a14:hiddenFill xmlns:a14="http://schemas.microsoft.com/office/drawing/2010/main">
                  <a:noFill/>
                </a14:hiddenFill>
              </a:ext>
            </a:extLst>
          </p:spPr>
          <p:txBody>
            <a:bodyPr/>
            <a:lstStyle/>
            <a:p>
              <a:endParaRPr lang="en-AU"/>
            </a:p>
          </p:txBody>
        </p:sp>
      </p:grpSp>
      <p:grpSp>
        <p:nvGrpSpPr>
          <p:cNvPr id="17" name="组合 751733"/>
          <p:cNvGrpSpPr/>
          <p:nvPr/>
        </p:nvGrpSpPr>
        <p:grpSpPr bwMode="auto">
          <a:xfrm>
            <a:off x="9650476" y="4052316"/>
            <a:ext cx="1733550" cy="1600200"/>
            <a:chOff x="2304" y="2496"/>
            <a:chExt cx="1008" cy="1008"/>
          </a:xfrm>
        </p:grpSpPr>
        <p:sp>
          <p:nvSpPr>
            <p:cNvPr id="75858" name="椭圆 751734"/>
            <p:cNvSpPr>
              <a:spLocks noChangeArrowheads="1"/>
            </p:cNvSpPr>
            <p:nvPr/>
          </p:nvSpPr>
          <p:spPr bwMode="auto">
            <a:xfrm>
              <a:off x="2304" y="2496"/>
              <a:ext cx="1008" cy="1008"/>
            </a:xfrm>
            <a:prstGeom prst="ellipse">
              <a:avLst/>
            </a:prstGeom>
            <a:noFill/>
            <a:ln w="1524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59" name="直接连接符 751735"/>
            <p:cNvSpPr>
              <a:spLocks noChangeShapeType="1"/>
            </p:cNvSpPr>
            <p:nvPr/>
          </p:nvSpPr>
          <p:spPr bwMode="auto">
            <a:xfrm flipH="1">
              <a:off x="2442" y="2634"/>
              <a:ext cx="720" cy="720"/>
            </a:xfrm>
            <a:prstGeom prst="line">
              <a:avLst/>
            </a:prstGeom>
            <a:noFill/>
            <a:ln w="152400">
              <a:solidFill>
                <a:srgbClr val="FF3300"/>
              </a:solidFill>
              <a:round/>
            </a:ln>
            <a:extLst>
              <a:ext uri="{909E8E84-426E-40DD-AFC4-6F175D3DCCD1}">
                <a14:hiddenFill xmlns:a14="http://schemas.microsoft.com/office/drawing/2010/main">
                  <a:noFill/>
                </a14:hiddenFill>
              </a:ext>
            </a:extLst>
          </p:spPr>
          <p:txBody>
            <a:bodyPr/>
            <a:lstStyle/>
            <a:p>
              <a:endParaRPr lang="en-AU"/>
            </a:p>
          </p:txBody>
        </p:sp>
      </p:grpSp>
      <p:grpSp>
        <p:nvGrpSpPr>
          <p:cNvPr id="20" name="组合 19"/>
          <p:cNvGrpSpPr/>
          <p:nvPr/>
        </p:nvGrpSpPr>
        <p:grpSpPr>
          <a:xfrm>
            <a:off x="763706" y="1547241"/>
            <a:ext cx="8854138" cy="1968501"/>
            <a:chOff x="763706" y="1547241"/>
            <a:chExt cx="8854138" cy="1968501"/>
          </a:xfrm>
        </p:grpSpPr>
        <p:sp>
          <p:nvSpPr>
            <p:cNvPr id="751626" name="椭圆 751625"/>
            <p:cNvSpPr>
              <a:spLocks noChangeArrowheads="1"/>
            </p:cNvSpPr>
            <p:nvPr/>
          </p:nvSpPr>
          <p:spPr bwMode="auto">
            <a:xfrm>
              <a:off x="6085650" y="168059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27" name="椭圆 751626"/>
            <p:cNvSpPr>
              <a:spLocks noChangeArrowheads="1"/>
            </p:cNvSpPr>
            <p:nvPr/>
          </p:nvSpPr>
          <p:spPr bwMode="auto">
            <a:xfrm>
              <a:off x="6287262" y="180441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28" name="椭圆 751627"/>
            <p:cNvSpPr>
              <a:spLocks noChangeArrowheads="1"/>
            </p:cNvSpPr>
            <p:nvPr/>
          </p:nvSpPr>
          <p:spPr bwMode="auto">
            <a:xfrm>
              <a:off x="6461887" y="19425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29" name="椭圆 751628"/>
            <p:cNvSpPr>
              <a:spLocks noChangeArrowheads="1"/>
            </p:cNvSpPr>
            <p:nvPr/>
          </p:nvSpPr>
          <p:spPr bwMode="auto">
            <a:xfrm>
              <a:off x="6612700" y="214731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0" name="椭圆 751629"/>
            <p:cNvSpPr>
              <a:spLocks noChangeArrowheads="1"/>
            </p:cNvSpPr>
            <p:nvPr/>
          </p:nvSpPr>
          <p:spPr bwMode="auto">
            <a:xfrm>
              <a:off x="6715887" y="235210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1" name="椭圆 751630"/>
            <p:cNvSpPr>
              <a:spLocks noChangeArrowheads="1"/>
            </p:cNvSpPr>
            <p:nvPr/>
          </p:nvSpPr>
          <p:spPr bwMode="auto">
            <a:xfrm>
              <a:off x="6890512" y="250926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2" name="椭圆 751631"/>
            <p:cNvSpPr>
              <a:spLocks noChangeArrowheads="1"/>
            </p:cNvSpPr>
            <p:nvPr/>
          </p:nvSpPr>
          <p:spPr bwMode="auto">
            <a:xfrm>
              <a:off x="7071487" y="234257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3" name="椭圆 751632"/>
            <p:cNvSpPr>
              <a:spLocks noChangeArrowheads="1"/>
            </p:cNvSpPr>
            <p:nvPr/>
          </p:nvSpPr>
          <p:spPr bwMode="auto">
            <a:xfrm>
              <a:off x="7163562" y="2133029"/>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4" name="椭圆 751633"/>
            <p:cNvSpPr>
              <a:spLocks noChangeArrowheads="1"/>
            </p:cNvSpPr>
            <p:nvPr/>
          </p:nvSpPr>
          <p:spPr bwMode="auto">
            <a:xfrm>
              <a:off x="7303262" y="1937766"/>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5" name="椭圆 751634"/>
            <p:cNvSpPr>
              <a:spLocks noChangeArrowheads="1"/>
            </p:cNvSpPr>
            <p:nvPr/>
          </p:nvSpPr>
          <p:spPr bwMode="auto">
            <a:xfrm>
              <a:off x="7473125" y="1775841"/>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1636" name="椭圆 751635"/>
            <p:cNvSpPr>
              <a:spLocks noChangeArrowheads="1"/>
            </p:cNvSpPr>
            <p:nvPr/>
          </p:nvSpPr>
          <p:spPr bwMode="auto">
            <a:xfrm>
              <a:off x="7679500" y="1647254"/>
              <a:ext cx="908050" cy="838200"/>
            </a:xfrm>
            <a:prstGeom prst="ellipse">
              <a:avLst/>
            </a:prstGeom>
            <a:noFill/>
            <a:ln w="3175">
              <a:solidFill>
                <a:srgbClr val="CC00CC"/>
              </a:solidFill>
              <a:rou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grpSp>
          <p:nvGrpSpPr>
            <p:cNvPr id="3" name="组合 751636"/>
            <p:cNvGrpSpPr/>
            <p:nvPr/>
          </p:nvGrpSpPr>
          <p:grpSpPr bwMode="auto">
            <a:xfrm>
              <a:off x="8112888" y="1771080"/>
              <a:ext cx="473075" cy="314325"/>
              <a:chOff x="2136" y="1011"/>
              <a:chExt cx="275" cy="198"/>
            </a:xfrm>
          </p:grpSpPr>
          <p:sp>
            <p:nvSpPr>
              <p:cNvPr id="75894" name="椭圆 751637"/>
              <p:cNvSpPr>
                <a:spLocks noChangeArrowheads="1"/>
              </p:cNvSpPr>
              <p:nvPr/>
            </p:nvSpPr>
            <p:spPr bwMode="auto">
              <a:xfrm>
                <a:off x="2136" y="1182"/>
                <a:ext cx="28" cy="27"/>
              </a:xfrm>
              <a:prstGeom prst="ellipse">
                <a:avLst/>
              </a:prstGeom>
              <a:solidFill>
                <a:srgbClr val="CC00CC"/>
              </a:solidFill>
              <a:ln w="3175">
                <a:solidFill>
                  <a:srgbClr val="CC00CC"/>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95" name="任意多边形 751638"/>
              <p:cNvSpPr>
                <a:spLocks noChangeArrowheads="1"/>
              </p:cNvSpPr>
              <p:nvPr/>
            </p:nvSpPr>
            <p:spPr bwMode="auto">
              <a:xfrm>
                <a:off x="2151" y="1196"/>
                <a:ext cx="260" cy="1"/>
              </a:xfrm>
              <a:custGeom>
                <a:avLst/>
                <a:gdLst>
                  <a:gd name="T0" fmla="*/ 0 w 260"/>
                  <a:gd name="T1" fmla="*/ 0 h 1"/>
                  <a:gd name="T2" fmla="*/ 260 w 260"/>
                  <a:gd name="T3" fmla="*/ 0 h 1"/>
                  <a:gd name="T4" fmla="*/ 0 60000 65536"/>
                  <a:gd name="T5" fmla="*/ 0 60000 65536"/>
                  <a:gd name="T6" fmla="*/ 0 w 260"/>
                  <a:gd name="T7" fmla="*/ 0 h 1"/>
                  <a:gd name="T8" fmla="*/ 260 w 260"/>
                  <a:gd name="T9" fmla="*/ 1 h 1"/>
                </a:gdLst>
                <a:ahLst/>
                <a:cxnLst>
                  <a:cxn ang="T4">
                    <a:pos x="T0" y="T1"/>
                  </a:cxn>
                  <a:cxn ang="T5">
                    <a:pos x="T2" y="T3"/>
                  </a:cxn>
                </a:cxnLst>
                <a:rect l="T6" t="T7" r="T8" b="T9"/>
                <a:pathLst>
                  <a:path w="260" h="1">
                    <a:moveTo>
                      <a:pt x="0" y="0"/>
                    </a:moveTo>
                    <a:lnTo>
                      <a:pt x="260" y="0"/>
                    </a:lnTo>
                  </a:path>
                </a:pathLst>
              </a:custGeom>
              <a:noFill/>
              <a:ln w="3175">
                <a:solidFill>
                  <a:srgbClr val="CC00CC"/>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96" name="文本框 751639"/>
              <p:cNvSpPr txBox="1">
                <a:spLocks noChangeArrowheads="1"/>
              </p:cNvSpPr>
              <p:nvPr/>
            </p:nvSpPr>
            <p:spPr bwMode="auto">
              <a:xfrm>
                <a:off x="2225" y="1011"/>
                <a:ext cx="16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en-US" altLang="zh-CN" sz="1400">
                    <a:solidFill>
                      <a:srgbClr val="CC00CC"/>
                    </a:solidFill>
                    <a:latin typeface="Times New Roman" panose="02020603050405020304" pitchFamily="18" charset="0"/>
                  </a:rPr>
                  <a:t>r</a:t>
                </a:r>
                <a:r>
                  <a:rPr lang="en-US" altLang="zh-CN" sz="1400" baseline="-25000">
                    <a:solidFill>
                      <a:srgbClr val="CC00CC"/>
                    </a:solidFill>
                    <a:latin typeface="Times New Roman" panose="02020603050405020304" pitchFamily="18" charset="0"/>
                  </a:rPr>
                  <a:t>r</a:t>
                </a:r>
                <a:endParaRPr lang="en-US" altLang="zh-CN" sz="1400">
                  <a:solidFill>
                    <a:srgbClr val="CC00CC"/>
                  </a:solidFill>
                  <a:latin typeface="Times New Roman" panose="02020603050405020304" pitchFamily="18" charset="0"/>
                </a:endParaRPr>
              </a:p>
            </p:txBody>
          </p:sp>
        </p:grpSp>
        <p:grpSp>
          <p:nvGrpSpPr>
            <p:cNvPr id="4" name="组合 751640"/>
            <p:cNvGrpSpPr/>
            <p:nvPr/>
          </p:nvGrpSpPr>
          <p:grpSpPr bwMode="auto">
            <a:xfrm>
              <a:off x="6323775" y="1547241"/>
              <a:ext cx="3294069" cy="1371600"/>
              <a:chOff x="1095" y="870"/>
              <a:chExt cx="1916" cy="864"/>
            </a:xfrm>
          </p:grpSpPr>
          <p:sp>
            <p:nvSpPr>
              <p:cNvPr id="75891" name="任意多边形 751641"/>
              <p:cNvSpPr>
                <a:spLocks noChangeArrowheads="1"/>
              </p:cNvSpPr>
              <p:nvPr/>
            </p:nvSpPr>
            <p:spPr bwMode="auto">
              <a:xfrm>
                <a:off x="1095" y="1116"/>
                <a:ext cx="1350" cy="618"/>
              </a:xfrm>
              <a:custGeom>
                <a:avLst/>
                <a:gdLst>
                  <a:gd name="T0" fmla="*/ 0 w 1350"/>
                  <a:gd name="T1" fmla="*/ 60 h 618"/>
                  <a:gd name="T2" fmla="*/ 132 w 1350"/>
                  <a:gd name="T3" fmla="*/ 111 h 618"/>
                  <a:gd name="T4" fmla="*/ 228 w 1350"/>
                  <a:gd name="T5" fmla="*/ 174 h 618"/>
                  <a:gd name="T6" fmla="*/ 333 w 1350"/>
                  <a:gd name="T7" fmla="*/ 261 h 618"/>
                  <a:gd name="T8" fmla="*/ 396 w 1350"/>
                  <a:gd name="T9" fmla="*/ 339 h 618"/>
                  <a:gd name="T10" fmla="*/ 450 w 1350"/>
                  <a:gd name="T11" fmla="*/ 435 h 618"/>
                  <a:gd name="T12" fmla="*/ 489 w 1350"/>
                  <a:gd name="T13" fmla="*/ 531 h 618"/>
                  <a:gd name="T14" fmla="*/ 527 w 1350"/>
                  <a:gd name="T15" fmla="*/ 596 h 618"/>
                  <a:gd name="T16" fmla="*/ 594 w 1350"/>
                  <a:gd name="T17" fmla="*/ 618 h 618"/>
                  <a:gd name="T18" fmla="*/ 662 w 1350"/>
                  <a:gd name="T19" fmla="*/ 594 h 618"/>
                  <a:gd name="T20" fmla="*/ 698 w 1350"/>
                  <a:gd name="T21" fmla="*/ 539 h 618"/>
                  <a:gd name="T22" fmla="*/ 756 w 1350"/>
                  <a:gd name="T23" fmla="*/ 378 h 618"/>
                  <a:gd name="T24" fmla="*/ 846 w 1350"/>
                  <a:gd name="T25" fmla="*/ 249 h 618"/>
                  <a:gd name="T26" fmla="*/ 963 w 1350"/>
                  <a:gd name="T27" fmla="*/ 141 h 618"/>
                  <a:gd name="T28" fmla="*/ 1110 w 1350"/>
                  <a:gd name="T29" fmla="*/ 54 h 618"/>
                  <a:gd name="T30" fmla="*/ 1242 w 1350"/>
                  <a:gd name="T31" fmla="*/ 12 h 618"/>
                  <a:gd name="T32" fmla="*/ 1350 w 1350"/>
                  <a:gd name="T33" fmla="*/ 0 h 6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50"/>
                  <a:gd name="T52" fmla="*/ 0 h 618"/>
                  <a:gd name="T53" fmla="*/ 1350 w 1350"/>
                  <a:gd name="T54" fmla="*/ 618 h 61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50" h="618">
                    <a:moveTo>
                      <a:pt x="0" y="60"/>
                    </a:moveTo>
                    <a:cubicBezTo>
                      <a:pt x="22" y="68"/>
                      <a:pt x="94" y="92"/>
                      <a:pt x="132" y="111"/>
                    </a:cubicBezTo>
                    <a:cubicBezTo>
                      <a:pt x="170" y="130"/>
                      <a:pt x="194" y="149"/>
                      <a:pt x="228" y="174"/>
                    </a:cubicBezTo>
                    <a:cubicBezTo>
                      <a:pt x="262" y="199"/>
                      <a:pt x="305" y="234"/>
                      <a:pt x="333" y="261"/>
                    </a:cubicBezTo>
                    <a:cubicBezTo>
                      <a:pt x="361" y="288"/>
                      <a:pt x="377" y="310"/>
                      <a:pt x="396" y="339"/>
                    </a:cubicBezTo>
                    <a:cubicBezTo>
                      <a:pt x="415" y="368"/>
                      <a:pt x="435" y="403"/>
                      <a:pt x="450" y="435"/>
                    </a:cubicBezTo>
                    <a:cubicBezTo>
                      <a:pt x="465" y="467"/>
                      <a:pt x="476" y="504"/>
                      <a:pt x="489" y="531"/>
                    </a:cubicBezTo>
                    <a:cubicBezTo>
                      <a:pt x="502" y="558"/>
                      <a:pt x="509" y="582"/>
                      <a:pt x="527" y="596"/>
                    </a:cubicBezTo>
                    <a:cubicBezTo>
                      <a:pt x="545" y="610"/>
                      <a:pt x="572" y="618"/>
                      <a:pt x="594" y="618"/>
                    </a:cubicBezTo>
                    <a:cubicBezTo>
                      <a:pt x="616" y="618"/>
                      <a:pt x="645" y="607"/>
                      <a:pt x="662" y="594"/>
                    </a:cubicBezTo>
                    <a:cubicBezTo>
                      <a:pt x="679" y="581"/>
                      <a:pt x="682" y="575"/>
                      <a:pt x="698" y="539"/>
                    </a:cubicBezTo>
                    <a:cubicBezTo>
                      <a:pt x="714" y="503"/>
                      <a:pt x="731" y="426"/>
                      <a:pt x="756" y="378"/>
                    </a:cubicBezTo>
                    <a:cubicBezTo>
                      <a:pt x="781" y="330"/>
                      <a:pt x="812" y="288"/>
                      <a:pt x="846" y="249"/>
                    </a:cubicBezTo>
                    <a:cubicBezTo>
                      <a:pt x="880" y="210"/>
                      <a:pt x="919" y="173"/>
                      <a:pt x="963" y="141"/>
                    </a:cubicBezTo>
                    <a:cubicBezTo>
                      <a:pt x="1007" y="109"/>
                      <a:pt x="1063" y="76"/>
                      <a:pt x="1110" y="54"/>
                    </a:cubicBezTo>
                    <a:cubicBezTo>
                      <a:pt x="1157" y="32"/>
                      <a:pt x="1202" y="21"/>
                      <a:pt x="1242" y="12"/>
                    </a:cubicBezTo>
                    <a:cubicBezTo>
                      <a:pt x="1282" y="3"/>
                      <a:pt x="1327" y="2"/>
                      <a:pt x="1350" y="0"/>
                    </a:cubicBezTo>
                  </a:path>
                </a:pathLst>
              </a:custGeom>
              <a:noFill/>
              <a:ln w="31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92" name="直接连接符 751642"/>
              <p:cNvSpPr>
                <a:spLocks noChangeShapeType="1"/>
              </p:cNvSpPr>
              <p:nvPr/>
            </p:nvSpPr>
            <p:spPr bwMode="auto">
              <a:xfrm flipV="1">
                <a:off x="2426" y="1022"/>
                <a:ext cx="96" cy="96"/>
              </a:xfrm>
              <a:prstGeom prst="line">
                <a:avLst/>
              </a:prstGeom>
              <a:noFill/>
              <a:ln w="3175">
                <a:solidFill>
                  <a:srgbClr val="FF3300"/>
                </a:solidFill>
                <a:round/>
              </a:ln>
              <a:extLst>
                <a:ext uri="{909E8E84-426E-40DD-AFC4-6F175D3DCCD1}">
                  <a14:hiddenFill xmlns:a14="http://schemas.microsoft.com/office/drawing/2010/main">
                    <a:noFill/>
                  </a14:hiddenFill>
                </a:ext>
              </a:extLst>
            </p:spPr>
            <p:txBody>
              <a:bodyPr/>
              <a:lstStyle/>
              <a:p>
                <a:endParaRPr lang="en-AU"/>
              </a:p>
            </p:txBody>
          </p:sp>
          <p:sp>
            <p:nvSpPr>
              <p:cNvPr id="75893" name="文本框 751643"/>
              <p:cNvSpPr txBox="1">
                <a:spLocks noChangeArrowheads="1"/>
              </p:cNvSpPr>
              <p:nvPr/>
            </p:nvSpPr>
            <p:spPr bwMode="auto">
              <a:xfrm>
                <a:off x="2468" y="870"/>
                <a:ext cx="543"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en-US" altLang="zh-CN" sz="1400">
                    <a:solidFill>
                      <a:srgbClr val="FF3300"/>
                    </a:solidFill>
                    <a:latin typeface="Times New Roman" panose="02020603050405020304" pitchFamily="18" charset="0"/>
                  </a:rPr>
                  <a:t>theoretical</a:t>
                </a:r>
                <a:endParaRPr lang="en-US" altLang="zh-CN" sz="1400">
                  <a:solidFill>
                    <a:srgbClr val="FF3300"/>
                  </a:solidFill>
                  <a:latin typeface="Times New Roman" panose="02020603050405020304" pitchFamily="18" charset="0"/>
                </a:endParaRPr>
              </a:p>
            </p:txBody>
          </p:sp>
        </p:grpSp>
        <p:grpSp>
          <p:nvGrpSpPr>
            <p:cNvPr id="5" name="组合 751644"/>
            <p:cNvGrpSpPr/>
            <p:nvPr/>
          </p:nvGrpSpPr>
          <p:grpSpPr bwMode="auto">
            <a:xfrm>
              <a:off x="6131688" y="2356867"/>
              <a:ext cx="3070640" cy="993775"/>
              <a:chOff x="984" y="1380"/>
              <a:chExt cx="1785" cy="626"/>
            </a:xfrm>
          </p:grpSpPr>
          <p:sp>
            <p:nvSpPr>
              <p:cNvPr id="75888" name="任意多边形 751645"/>
              <p:cNvSpPr>
                <a:spLocks noChangeArrowheads="1"/>
              </p:cNvSpPr>
              <p:nvPr/>
            </p:nvSpPr>
            <p:spPr bwMode="auto">
              <a:xfrm>
                <a:off x="984" y="1380"/>
                <a:ext cx="1440" cy="626"/>
              </a:xfrm>
              <a:custGeom>
                <a:avLst/>
                <a:gdLst>
                  <a:gd name="T0" fmla="*/ 0 w 1440"/>
                  <a:gd name="T1" fmla="*/ 24 h 626"/>
                  <a:gd name="T2" fmla="*/ 102 w 1440"/>
                  <a:gd name="T3" fmla="*/ 69 h 626"/>
                  <a:gd name="T4" fmla="*/ 195 w 1440"/>
                  <a:gd name="T5" fmla="*/ 132 h 626"/>
                  <a:gd name="T6" fmla="*/ 255 w 1440"/>
                  <a:gd name="T7" fmla="*/ 186 h 626"/>
                  <a:gd name="T8" fmla="*/ 309 w 1440"/>
                  <a:gd name="T9" fmla="*/ 261 h 626"/>
                  <a:gd name="T10" fmla="*/ 360 w 1440"/>
                  <a:gd name="T11" fmla="*/ 372 h 626"/>
                  <a:gd name="T12" fmla="*/ 405 w 1440"/>
                  <a:gd name="T13" fmla="*/ 459 h 626"/>
                  <a:gd name="T14" fmla="*/ 444 w 1440"/>
                  <a:gd name="T15" fmla="*/ 510 h 626"/>
                  <a:gd name="T16" fmla="*/ 504 w 1440"/>
                  <a:gd name="T17" fmla="*/ 561 h 626"/>
                  <a:gd name="T18" fmla="*/ 588 w 1440"/>
                  <a:gd name="T19" fmla="*/ 603 h 626"/>
                  <a:gd name="T20" fmla="*/ 675 w 1440"/>
                  <a:gd name="T21" fmla="*/ 624 h 626"/>
                  <a:gd name="T22" fmla="*/ 759 w 1440"/>
                  <a:gd name="T23" fmla="*/ 618 h 626"/>
                  <a:gd name="T24" fmla="*/ 858 w 1440"/>
                  <a:gd name="T25" fmla="*/ 591 h 626"/>
                  <a:gd name="T26" fmla="*/ 936 w 1440"/>
                  <a:gd name="T27" fmla="*/ 540 h 626"/>
                  <a:gd name="T28" fmla="*/ 1008 w 1440"/>
                  <a:gd name="T29" fmla="*/ 465 h 626"/>
                  <a:gd name="T30" fmla="*/ 1053 w 1440"/>
                  <a:gd name="T31" fmla="*/ 378 h 626"/>
                  <a:gd name="T32" fmla="*/ 1104 w 1440"/>
                  <a:gd name="T33" fmla="*/ 243 h 626"/>
                  <a:gd name="T34" fmla="*/ 1155 w 1440"/>
                  <a:gd name="T35" fmla="*/ 165 h 626"/>
                  <a:gd name="T36" fmla="*/ 1209 w 1440"/>
                  <a:gd name="T37" fmla="*/ 108 h 626"/>
                  <a:gd name="T38" fmla="*/ 1302 w 1440"/>
                  <a:gd name="T39" fmla="*/ 45 h 626"/>
                  <a:gd name="T40" fmla="*/ 1440 w 1440"/>
                  <a:gd name="T41" fmla="*/ 0 h 6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0"/>
                  <a:gd name="T64" fmla="*/ 0 h 626"/>
                  <a:gd name="T65" fmla="*/ 1440 w 1440"/>
                  <a:gd name="T66" fmla="*/ 626 h 6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0" h="626">
                    <a:moveTo>
                      <a:pt x="0" y="24"/>
                    </a:moveTo>
                    <a:cubicBezTo>
                      <a:pt x="17" y="31"/>
                      <a:pt x="70" y="51"/>
                      <a:pt x="102" y="69"/>
                    </a:cubicBezTo>
                    <a:cubicBezTo>
                      <a:pt x="134" y="87"/>
                      <a:pt x="170" y="112"/>
                      <a:pt x="195" y="132"/>
                    </a:cubicBezTo>
                    <a:cubicBezTo>
                      <a:pt x="220" y="152"/>
                      <a:pt x="236" y="165"/>
                      <a:pt x="255" y="186"/>
                    </a:cubicBezTo>
                    <a:cubicBezTo>
                      <a:pt x="274" y="207"/>
                      <a:pt x="292" y="230"/>
                      <a:pt x="309" y="261"/>
                    </a:cubicBezTo>
                    <a:cubicBezTo>
                      <a:pt x="326" y="292"/>
                      <a:pt x="344" y="339"/>
                      <a:pt x="360" y="372"/>
                    </a:cubicBezTo>
                    <a:cubicBezTo>
                      <a:pt x="376" y="405"/>
                      <a:pt x="391" y="436"/>
                      <a:pt x="405" y="459"/>
                    </a:cubicBezTo>
                    <a:cubicBezTo>
                      <a:pt x="419" y="482"/>
                      <a:pt x="428" y="493"/>
                      <a:pt x="444" y="510"/>
                    </a:cubicBezTo>
                    <a:cubicBezTo>
                      <a:pt x="460" y="527"/>
                      <a:pt x="480" y="546"/>
                      <a:pt x="504" y="561"/>
                    </a:cubicBezTo>
                    <a:cubicBezTo>
                      <a:pt x="528" y="576"/>
                      <a:pt x="559" y="592"/>
                      <a:pt x="588" y="603"/>
                    </a:cubicBezTo>
                    <a:cubicBezTo>
                      <a:pt x="617" y="614"/>
                      <a:pt x="647" y="622"/>
                      <a:pt x="675" y="624"/>
                    </a:cubicBezTo>
                    <a:cubicBezTo>
                      <a:pt x="703" y="626"/>
                      <a:pt x="729" y="623"/>
                      <a:pt x="759" y="618"/>
                    </a:cubicBezTo>
                    <a:cubicBezTo>
                      <a:pt x="789" y="613"/>
                      <a:pt x="828" y="604"/>
                      <a:pt x="858" y="591"/>
                    </a:cubicBezTo>
                    <a:cubicBezTo>
                      <a:pt x="888" y="578"/>
                      <a:pt x="911" y="561"/>
                      <a:pt x="936" y="540"/>
                    </a:cubicBezTo>
                    <a:cubicBezTo>
                      <a:pt x="961" y="519"/>
                      <a:pt x="989" y="492"/>
                      <a:pt x="1008" y="465"/>
                    </a:cubicBezTo>
                    <a:cubicBezTo>
                      <a:pt x="1027" y="438"/>
                      <a:pt x="1037" y="415"/>
                      <a:pt x="1053" y="378"/>
                    </a:cubicBezTo>
                    <a:cubicBezTo>
                      <a:pt x="1069" y="341"/>
                      <a:pt x="1087" y="278"/>
                      <a:pt x="1104" y="243"/>
                    </a:cubicBezTo>
                    <a:cubicBezTo>
                      <a:pt x="1121" y="208"/>
                      <a:pt x="1138" y="187"/>
                      <a:pt x="1155" y="165"/>
                    </a:cubicBezTo>
                    <a:cubicBezTo>
                      <a:pt x="1172" y="143"/>
                      <a:pt x="1185" y="128"/>
                      <a:pt x="1209" y="108"/>
                    </a:cubicBezTo>
                    <a:cubicBezTo>
                      <a:pt x="1233" y="88"/>
                      <a:pt x="1264" y="63"/>
                      <a:pt x="1302" y="45"/>
                    </a:cubicBezTo>
                    <a:cubicBezTo>
                      <a:pt x="1340" y="27"/>
                      <a:pt x="1411" y="9"/>
                      <a:pt x="1440" y="0"/>
                    </a:cubicBezTo>
                  </a:path>
                </a:pathLst>
              </a:custGeom>
              <a:noFill/>
              <a:ln w="19050">
                <a:solidFill>
                  <a:schemeClr val="accent2"/>
                </a:solidFill>
                <a:rou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89" name="直接连接符 751646"/>
              <p:cNvSpPr>
                <a:spLocks noChangeShapeType="1"/>
              </p:cNvSpPr>
              <p:nvPr/>
            </p:nvSpPr>
            <p:spPr bwMode="auto">
              <a:xfrm>
                <a:off x="2352" y="1401"/>
                <a:ext cx="96" cy="96"/>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AU"/>
              </a:p>
            </p:txBody>
          </p:sp>
          <p:sp>
            <p:nvSpPr>
              <p:cNvPr id="75890" name="文本框 751647"/>
              <p:cNvSpPr txBox="1">
                <a:spLocks noChangeArrowheads="1"/>
              </p:cNvSpPr>
              <p:nvPr/>
            </p:nvSpPr>
            <p:spPr bwMode="auto">
              <a:xfrm>
                <a:off x="2417" y="1422"/>
                <a:ext cx="35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en-US" altLang="zh-CN" sz="1400">
                    <a:solidFill>
                      <a:schemeClr val="accent2"/>
                    </a:solidFill>
                    <a:latin typeface="Times New Roman" panose="02020603050405020304" pitchFamily="18" charset="0"/>
                  </a:rPr>
                  <a:t>actual</a:t>
                </a:r>
                <a:endParaRPr lang="en-US" altLang="zh-CN" sz="1400">
                  <a:solidFill>
                    <a:schemeClr val="accent2"/>
                  </a:solidFill>
                  <a:latin typeface="Times New Roman" panose="02020603050405020304" pitchFamily="18" charset="0"/>
                </a:endParaRPr>
              </a:p>
            </p:txBody>
          </p:sp>
        </p:grpSp>
        <p:grpSp>
          <p:nvGrpSpPr>
            <p:cNvPr id="6" name="组合 751648"/>
            <p:cNvGrpSpPr/>
            <p:nvPr/>
          </p:nvGrpSpPr>
          <p:grpSpPr bwMode="auto">
            <a:xfrm>
              <a:off x="6964865" y="2752154"/>
              <a:ext cx="379673" cy="590550"/>
              <a:chOff x="1468" y="1629"/>
              <a:chExt cx="221" cy="372"/>
            </a:xfrm>
          </p:grpSpPr>
          <p:sp>
            <p:nvSpPr>
              <p:cNvPr id="75886" name="任意多边形 751649"/>
              <p:cNvSpPr>
                <a:spLocks noChangeArrowheads="1"/>
              </p:cNvSpPr>
              <p:nvPr/>
            </p:nvSpPr>
            <p:spPr bwMode="auto">
              <a:xfrm>
                <a:off x="1632" y="1629"/>
                <a:ext cx="57" cy="372"/>
              </a:xfrm>
              <a:custGeom>
                <a:avLst/>
                <a:gdLst>
                  <a:gd name="T0" fmla="*/ 57 w 57"/>
                  <a:gd name="T1" fmla="*/ 0 h 372"/>
                  <a:gd name="T2" fmla="*/ 0 w 57"/>
                  <a:gd name="T3" fmla="*/ 372 h 372"/>
                  <a:gd name="T4" fmla="*/ 0 60000 65536"/>
                  <a:gd name="T5" fmla="*/ 0 60000 65536"/>
                  <a:gd name="T6" fmla="*/ 0 w 57"/>
                  <a:gd name="T7" fmla="*/ 0 h 372"/>
                  <a:gd name="T8" fmla="*/ 57 w 57"/>
                  <a:gd name="T9" fmla="*/ 372 h 372"/>
                </a:gdLst>
                <a:ahLst/>
                <a:cxnLst>
                  <a:cxn ang="T4">
                    <a:pos x="T0" y="T1"/>
                  </a:cxn>
                  <a:cxn ang="T5">
                    <a:pos x="T2" y="T3"/>
                  </a:cxn>
                </a:cxnLst>
                <a:rect l="T6" t="T7" r="T8" b="T9"/>
                <a:pathLst>
                  <a:path w="57" h="372">
                    <a:moveTo>
                      <a:pt x="57" y="0"/>
                    </a:moveTo>
                    <a:lnTo>
                      <a:pt x="0" y="372"/>
                    </a:lnTo>
                  </a:path>
                </a:pathLst>
              </a:custGeom>
              <a:noFill/>
              <a:ln w="3175">
                <a:solidFill>
                  <a:schemeClr val="accent2"/>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87" name="文本框 751650"/>
              <p:cNvSpPr txBox="1">
                <a:spLocks noChangeArrowheads="1"/>
              </p:cNvSpPr>
              <p:nvPr/>
            </p:nvSpPr>
            <p:spPr bwMode="auto">
              <a:xfrm rot="16555655">
                <a:off x="1433" y="1686"/>
                <a:ext cx="25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1400">
                    <a:solidFill>
                      <a:schemeClr val="accent2"/>
                    </a:solidFill>
                    <a:latin typeface="Times New Roman" panose="02020603050405020304" pitchFamily="18" charset="0"/>
                    <a:sym typeface="Symbol" panose="05050102010706020507" pitchFamily="18" charset="2"/>
                  </a:rPr>
                  <a:t></a:t>
                </a:r>
                <a:r>
                  <a:rPr lang="en-US" altLang="zh-CN" sz="1400" baseline="-25000">
                    <a:solidFill>
                      <a:schemeClr val="accent2"/>
                    </a:solidFill>
                    <a:latin typeface="Times New Roman" panose="02020603050405020304" pitchFamily="18" charset="0"/>
                    <a:sym typeface="Symbol" panose="05050102010706020507" pitchFamily="18" charset="2"/>
                  </a:rPr>
                  <a:t>a</a:t>
                </a:r>
                <a:endParaRPr lang="en-US" altLang="zh-CN" sz="1400">
                  <a:solidFill>
                    <a:schemeClr val="accent2"/>
                  </a:solidFill>
                  <a:latin typeface="Times New Roman" panose="02020603050405020304" pitchFamily="18" charset="0"/>
                </a:endParaRPr>
              </a:p>
            </p:txBody>
          </p:sp>
        </p:grpSp>
        <p:grpSp>
          <p:nvGrpSpPr>
            <p:cNvPr id="7" name="组合 751651"/>
            <p:cNvGrpSpPr/>
            <p:nvPr/>
          </p:nvGrpSpPr>
          <p:grpSpPr bwMode="auto">
            <a:xfrm>
              <a:off x="7076251" y="2561655"/>
              <a:ext cx="287337" cy="331787"/>
              <a:chOff x="1533" y="1509"/>
              <a:chExt cx="168" cy="209"/>
            </a:xfrm>
          </p:grpSpPr>
          <p:sp>
            <p:nvSpPr>
              <p:cNvPr id="75883" name="椭圆 751652"/>
              <p:cNvSpPr>
                <a:spLocks noChangeArrowheads="1"/>
              </p:cNvSpPr>
              <p:nvPr/>
            </p:nvSpPr>
            <p:spPr bwMode="auto">
              <a:xfrm>
                <a:off x="1674" y="1617"/>
                <a:ext cx="27" cy="27"/>
              </a:xfrm>
              <a:prstGeom prst="ellipse">
                <a:avLst/>
              </a:prstGeom>
              <a:solidFill>
                <a:srgbClr val="FF3300"/>
              </a:solidFill>
              <a:ln w="3175">
                <a:solidFill>
                  <a:schemeClr val="tx1"/>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Tx/>
                  <a:buNone/>
                </a:pPr>
                <a:endParaRPr lang="zh-CN" altLang="en-US" sz="1800">
                  <a:latin typeface="Times New Roman" panose="02020603050405020304" pitchFamily="18" charset="0"/>
                </a:endParaRPr>
              </a:p>
            </p:txBody>
          </p:sp>
          <p:sp>
            <p:nvSpPr>
              <p:cNvPr id="75884" name="任意多边形 751653"/>
              <p:cNvSpPr>
                <a:spLocks noChangeArrowheads="1"/>
              </p:cNvSpPr>
              <p:nvPr/>
            </p:nvSpPr>
            <p:spPr bwMode="auto">
              <a:xfrm>
                <a:off x="1637" y="1631"/>
                <a:ext cx="51" cy="87"/>
              </a:xfrm>
              <a:custGeom>
                <a:avLst/>
                <a:gdLst>
                  <a:gd name="T0" fmla="*/ 51 w 51"/>
                  <a:gd name="T1" fmla="*/ 0 h 87"/>
                  <a:gd name="T2" fmla="*/ 0 w 51"/>
                  <a:gd name="T3" fmla="*/ 87 h 87"/>
                  <a:gd name="T4" fmla="*/ 0 60000 65536"/>
                  <a:gd name="T5" fmla="*/ 0 60000 65536"/>
                  <a:gd name="T6" fmla="*/ 0 w 51"/>
                  <a:gd name="T7" fmla="*/ 0 h 87"/>
                  <a:gd name="T8" fmla="*/ 51 w 51"/>
                  <a:gd name="T9" fmla="*/ 87 h 87"/>
                </a:gdLst>
                <a:ahLst/>
                <a:cxnLst>
                  <a:cxn ang="T4">
                    <a:pos x="T0" y="T1"/>
                  </a:cxn>
                  <a:cxn ang="T5">
                    <a:pos x="T2" y="T3"/>
                  </a:cxn>
                </a:cxnLst>
                <a:rect l="T6" t="T7" r="T8" b="T9"/>
                <a:pathLst>
                  <a:path w="51" h="87">
                    <a:moveTo>
                      <a:pt x="51" y="0"/>
                    </a:moveTo>
                    <a:lnTo>
                      <a:pt x="0" y="87"/>
                    </a:lnTo>
                  </a:path>
                </a:pathLst>
              </a:custGeom>
              <a:noFill/>
              <a:ln w="3175">
                <a:solidFill>
                  <a:srgbClr val="FF3300"/>
                </a:solidFill>
                <a:round/>
                <a:tailEnd type="triangle" w="sm" len="sm"/>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75885" name="文本框 751654"/>
              <p:cNvSpPr txBox="1">
                <a:spLocks noChangeArrowheads="1"/>
              </p:cNvSpPr>
              <p:nvPr/>
            </p:nvSpPr>
            <p:spPr bwMode="auto">
              <a:xfrm rot="-1398132">
                <a:off x="1533" y="1509"/>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1400">
                    <a:solidFill>
                      <a:srgbClr val="FF3300"/>
                    </a:solidFill>
                    <a:latin typeface="Times New Roman" panose="02020603050405020304" pitchFamily="18" charset="0"/>
                    <a:sym typeface="Symbol" panose="05050102010706020507" pitchFamily="18" charset="2"/>
                  </a:rPr>
                  <a:t></a:t>
                </a:r>
                <a:endParaRPr lang="zh-CN" altLang="en-US" sz="1400">
                  <a:solidFill>
                    <a:srgbClr val="FF3300"/>
                  </a:solidFill>
                  <a:latin typeface="Times New Roman" panose="02020603050405020304" pitchFamily="18" charset="0"/>
                </a:endParaRPr>
              </a:p>
            </p:txBody>
          </p:sp>
        </p:grpSp>
        <p:sp>
          <p:nvSpPr>
            <p:cNvPr id="751656" name="文本框 751655"/>
            <p:cNvSpPr txBox="1">
              <a:spLocks noChangeArrowheads="1"/>
            </p:cNvSpPr>
            <p:nvPr/>
          </p:nvSpPr>
          <p:spPr bwMode="auto">
            <a:xfrm>
              <a:off x="7889051" y="3118867"/>
              <a:ext cx="1220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eaLnBrk="1" hangingPunct="1">
                <a:lnSpc>
                  <a:spcPct val="100000"/>
                </a:lnSpc>
                <a:spcBef>
                  <a:spcPct val="0"/>
                </a:spcBef>
                <a:buFontTx/>
                <a:buNone/>
              </a:pPr>
              <a:r>
                <a:rPr lang="zh-CN" altLang="en-US" sz="2000" b="1">
                  <a:solidFill>
                    <a:srgbClr val="000000"/>
                  </a:solidFill>
                  <a:latin typeface="Times New Roman" panose="02020603050405020304" pitchFamily="18" charset="0"/>
                  <a:sym typeface="Symbol" panose="05050102010706020507" pitchFamily="18" charset="2"/>
                </a:rPr>
                <a:t></a:t>
              </a:r>
              <a:r>
                <a:rPr lang="en-US" altLang="zh-CN" sz="2000" b="1" baseline="-25000">
                  <a:solidFill>
                    <a:srgbClr val="000000"/>
                  </a:solidFill>
                  <a:latin typeface="Times New Roman" panose="02020603050405020304" pitchFamily="18" charset="0"/>
                  <a:sym typeface="Symbol" panose="05050102010706020507" pitchFamily="18" charset="2"/>
                </a:rPr>
                <a:t>a</a:t>
              </a:r>
              <a:r>
                <a:rPr lang="en-US" altLang="zh-CN" sz="2000" b="1">
                  <a:solidFill>
                    <a:srgbClr val="000000"/>
                  </a:solidFill>
                  <a:latin typeface="Times New Roman" panose="02020603050405020304" pitchFamily="18" charset="0"/>
                  <a:sym typeface="Symbol" panose="05050102010706020507" pitchFamily="18" charset="2"/>
                </a:rPr>
                <a:t>= +r</a:t>
              </a:r>
              <a:r>
                <a:rPr lang="en-US" altLang="zh-CN" sz="2000" b="1" baseline="-25000">
                  <a:solidFill>
                    <a:srgbClr val="000000"/>
                  </a:solidFill>
                  <a:latin typeface="Times New Roman" panose="02020603050405020304" pitchFamily="18" charset="0"/>
                  <a:sym typeface="Symbol" panose="05050102010706020507" pitchFamily="18" charset="2"/>
                </a:rPr>
                <a:t>r</a:t>
              </a:r>
              <a:endParaRPr lang="en-US" altLang="zh-CN" sz="2000" b="1">
                <a:solidFill>
                  <a:srgbClr val="000000"/>
                </a:solidFill>
                <a:latin typeface="Times New Roman" panose="02020603050405020304" pitchFamily="18" charset="0"/>
                <a:sym typeface="Symbol" panose="05050102010706020507" pitchFamily="18" charset="2"/>
              </a:endParaRPr>
            </a:p>
          </p:txBody>
        </p:sp>
        <p:sp>
          <p:nvSpPr>
            <p:cNvPr id="124" name="矩形 123"/>
            <p:cNvSpPr/>
            <p:nvPr/>
          </p:nvSpPr>
          <p:spPr>
            <a:xfrm>
              <a:off x="763706" y="2938526"/>
              <a:ext cx="6553835" cy="398780"/>
            </a:xfrm>
            <a:prstGeom prst="rect">
              <a:avLst/>
            </a:prstGeom>
          </p:spPr>
          <p:txBody>
            <a:bodyPr wrap="square">
              <a:spAutoFit/>
            </a:bodyPr>
            <a:lstStyle/>
            <a:p>
              <a:r>
                <a:rPr lang="en-US" altLang="zh-CN" sz="2000" b="1" dirty="0">
                  <a:solidFill>
                    <a:srgbClr val="FF0000"/>
                  </a:solidFill>
                  <a:latin typeface="微软雅黑" panose="020B0503020204020204" pitchFamily="34" charset="-122"/>
                  <a:ea typeface="微软雅黑" panose="020B0503020204020204" pitchFamily="34" charset="-122"/>
                </a:rPr>
                <a:t>Is there any restriction on roller radius</a:t>
              </a:r>
              <a:r>
                <a:rPr lang="en-US" altLang="zh-CN" sz="2000" b="1" dirty="0">
                  <a:solidFill>
                    <a:srgbClr val="FF0000"/>
                  </a:solidFill>
                  <a:latin typeface="楷体" panose="02010609060101010101" pitchFamily="49" charset="-122"/>
                  <a:ea typeface="楷体" panose="02010609060101010101" pitchFamily="49" charset="-122"/>
                </a:rPr>
                <a:t> </a:t>
              </a:r>
              <a:r>
                <a:rPr lang="en-US" altLang="zh-CN" sz="2000" b="1" dirty="0" err="1">
                  <a:solidFill>
                    <a:srgbClr val="FF0000"/>
                  </a:solidFill>
                  <a:latin typeface="Times New Roman" panose="02020603050405020304" pitchFamily="18" charset="0"/>
                  <a:ea typeface="楷体_GB2312" pitchFamily="49" charset="-122"/>
                  <a:sym typeface="Symbol" panose="05050102010706020507" pitchFamily="18" charset="2"/>
                </a:rPr>
                <a:t>r</a:t>
              </a:r>
              <a:r>
                <a:rPr lang="en-US" altLang="zh-CN" sz="2000" b="1" baseline="-25000" dirty="0" err="1">
                  <a:solidFill>
                    <a:srgbClr val="FF0000"/>
                  </a:solidFill>
                  <a:latin typeface="Times New Roman" panose="02020603050405020304" pitchFamily="18" charset="0"/>
                  <a:ea typeface="楷体_GB2312" pitchFamily="49" charset="-122"/>
                  <a:sym typeface="Symbol" panose="05050102010706020507" pitchFamily="18" charset="2"/>
                </a:rPr>
                <a:t>r </a:t>
              </a:r>
              <a:r>
                <a:rPr lang="zh-CN" altLang="en-US" sz="2000" b="1" dirty="0" err="1">
                  <a:solidFill>
                    <a:srgbClr val="FF0000"/>
                  </a:solidFill>
                  <a:latin typeface="Times New Roman" panose="02020603050405020304" pitchFamily="18" charset="0"/>
                  <a:ea typeface="楷体_GB2312" pitchFamily="49" charset="-122"/>
                  <a:sym typeface="Symbol" panose="05050102010706020507" pitchFamily="18" charset="2"/>
                </a:rPr>
                <a:t>？</a:t>
              </a:r>
              <a:endParaRPr lang="zh-CN" altLang="en-US" sz="2000" b="1" dirty="0" err="1">
                <a:solidFill>
                  <a:srgbClr val="FF0000"/>
                </a:solidFill>
                <a:latin typeface="Times New Roman" panose="02020603050405020304" pitchFamily="18" charset="0"/>
                <a:ea typeface="楷体_GB2312" pitchFamily="49" charset="-122"/>
                <a:sym typeface="Symbol" panose="05050102010706020507" pitchFamily="18" charset="2"/>
              </a:endParaRPr>
            </a:p>
          </p:txBody>
        </p:sp>
        <p:sp>
          <p:nvSpPr>
            <p:cNvPr id="18" name="矩形 17"/>
            <p:cNvSpPr/>
            <p:nvPr/>
          </p:nvSpPr>
          <p:spPr>
            <a:xfrm>
              <a:off x="3932697" y="2518634"/>
              <a:ext cx="1007007" cy="397032"/>
            </a:xfrm>
            <a:prstGeom prst="rect">
              <a:avLst/>
            </a:prstGeom>
          </p:spPr>
          <p:txBody>
            <a:bodyPr wrap="none">
              <a:spAutoFit/>
            </a:bodyPr>
            <a:lstStyle/>
            <a:p>
              <a:pPr marL="269875" indent="-269875">
                <a:lnSpc>
                  <a:spcPct val="110000"/>
                </a:lnSpc>
                <a:spcBef>
                  <a:spcPct val="5000"/>
                </a:spcBef>
              </a:pP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a</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dirty="0" err="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r</a:t>
              </a:r>
              <a:endParaRPr lang="en-US" altLang="zh-CN" b="1" dirty="0">
                <a:solidFill>
                  <a:srgbClr val="000000"/>
                </a:solidFill>
                <a:latin typeface="Times New Roman" panose="02020603050405020304" pitchFamily="18" charset="0"/>
                <a:ea typeface="楷体_GB2312" pitchFamily="49" charset="-122"/>
              </a:endParaRPr>
            </a:p>
          </p:txBody>
        </p:sp>
        <p:sp>
          <p:nvSpPr>
            <p:cNvPr id="19" name="矩形 18"/>
            <p:cNvSpPr/>
            <p:nvPr/>
          </p:nvSpPr>
          <p:spPr>
            <a:xfrm>
              <a:off x="855791" y="2485609"/>
              <a:ext cx="3164205" cy="429895"/>
            </a:xfrm>
            <a:prstGeom prst="rect">
              <a:avLst/>
            </a:prstGeom>
          </p:spPr>
          <p:txBody>
            <a:bodyPr wrap="none">
              <a:spAutoFit/>
            </a:bodyPr>
            <a:lstStyle/>
            <a:p>
              <a:pPr marL="269875" indent="-269875" algn="l">
                <a:lnSpc>
                  <a:spcPct val="110000"/>
                </a:lnSpc>
                <a:spcBef>
                  <a:spcPct val="5000"/>
                </a:spcBef>
              </a:pPr>
              <a:r>
                <a:rPr lang="zh-CN" altLang="zh-CN" sz="2000" b="1" dirty="0">
                  <a:solidFill>
                    <a:srgbClr val="FF0000"/>
                  </a:solidFill>
                  <a:latin typeface="Times New Roman" panose="02020603050405020304" pitchFamily="18" charset="0"/>
                  <a:ea typeface="楷体_GB2312" pitchFamily="49" charset="-122"/>
                </a:rPr>
                <a:t>1</a:t>
              </a:r>
              <a:r>
                <a:rPr lang="zh-CN" altLang="en-US" sz="2000" b="1" dirty="0">
                  <a:solidFill>
                    <a:srgbClr val="FF0000"/>
                  </a:solidFill>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ea typeface="楷体_GB2312" pitchFamily="49" charset="-122"/>
                </a:rPr>
                <a:t>inner concave cam profile</a:t>
              </a:r>
              <a:endParaRPr lang="en-US" altLang="zh-CN" sz="2000" b="1" dirty="0">
                <a:solidFill>
                  <a:srgbClr val="FF0000"/>
                </a:solidFill>
                <a:latin typeface="Times New Roman" panose="02020603050405020304" pitchFamily="18" charset="0"/>
                <a:ea typeface="楷体_GB2312" pitchFamily="49" charset="-122"/>
              </a:endParaRPr>
            </a:p>
          </p:txBody>
        </p:sp>
      </p:grpSp>
      <p:sp>
        <p:nvSpPr>
          <p:cNvPr id="22" name="矩形 21"/>
          <p:cNvSpPr/>
          <p:nvPr/>
        </p:nvSpPr>
        <p:spPr>
          <a:xfrm>
            <a:off x="806994" y="5376214"/>
            <a:ext cx="1629406" cy="397032"/>
          </a:xfrm>
          <a:prstGeom prst="rect">
            <a:avLst/>
          </a:prstGeom>
        </p:spPr>
        <p:txBody>
          <a:bodyPr wrap="square">
            <a:spAutoFit/>
          </a:bodyPr>
          <a:lstStyle/>
          <a:p>
            <a:pPr>
              <a:lnSpc>
                <a:spcPct val="110000"/>
              </a:lnSpc>
              <a:spcBef>
                <a:spcPct val="5000"/>
              </a:spcBef>
            </a:pPr>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zh-CN" b="1" dirty="0">
                <a:solidFill>
                  <a:srgbClr val="FF0000"/>
                </a:solidFill>
                <a:latin typeface="Times New Roman" panose="02020603050405020304" pitchFamily="18" charset="0"/>
                <a:ea typeface="楷体_GB2312" pitchFamily="49" charset="-122"/>
                <a:sym typeface="Symbol" panose="05050102010706020507" pitchFamily="18" charset="2"/>
              </a:rPr>
              <a:t>&lt;</a:t>
            </a:r>
            <a:r>
              <a:rPr lang="en-US" altLang="zh-CN" b="1" dirty="0" err="1">
                <a:solidFill>
                  <a:srgbClr val="FF0000"/>
                </a:solidFill>
                <a:latin typeface="Times New Roman" panose="02020603050405020304" pitchFamily="18" charset="0"/>
                <a:ea typeface="楷体_GB2312" pitchFamily="49" charset="-122"/>
                <a:sym typeface="Symbol" panose="05050102010706020507" pitchFamily="18" charset="2"/>
              </a:rPr>
              <a:t>r</a:t>
            </a:r>
            <a:r>
              <a:rPr lang="en-US" altLang="zh-CN" b="1" baseline="-25000" dirty="0" err="1">
                <a:solidFill>
                  <a:srgbClr val="FF0000"/>
                </a:solidFill>
                <a:latin typeface="Times New Roman" panose="02020603050405020304" pitchFamily="18" charset="0"/>
                <a:ea typeface="楷体_GB2312" pitchFamily="49" charset="-122"/>
                <a:sym typeface="Symbol" panose="05050102010706020507" pitchFamily="18" charset="2"/>
              </a:rPr>
              <a:t>r</a:t>
            </a:r>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b="1" baseline="-25000" dirty="0">
                <a:solidFill>
                  <a:srgbClr val="FF0000"/>
                </a:solidFill>
                <a:latin typeface="Times New Roman" panose="02020603050405020304" pitchFamily="18" charset="0"/>
                <a:ea typeface="楷体_GB2312" pitchFamily="49" charset="-122"/>
                <a:sym typeface="Symbol" panose="05050102010706020507" pitchFamily="18" charset="2"/>
              </a:rPr>
              <a:t>a</a:t>
            </a:r>
            <a:r>
              <a:rPr lang="en-US" altLang="zh-CN" b="1" dirty="0">
                <a:solidFill>
                  <a:srgbClr val="FF0000"/>
                </a:solidFill>
                <a:latin typeface="Times New Roman" panose="02020603050405020304" pitchFamily="18" charset="0"/>
                <a:ea typeface="楷体_GB2312" pitchFamily="49" charset="-122"/>
                <a:sym typeface="Symbol" panose="05050102010706020507" pitchFamily="18" charset="2"/>
              </a:rPr>
              <a:t>&lt;0</a:t>
            </a:r>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a:t>
            </a:r>
            <a:endPar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23" name="矩形 22"/>
          <p:cNvSpPr/>
          <p:nvPr/>
        </p:nvSpPr>
        <p:spPr>
          <a:xfrm>
            <a:off x="902970" y="4464050"/>
            <a:ext cx="4409440" cy="368300"/>
          </a:xfrm>
          <a:prstGeom prst="rect">
            <a:avLst/>
          </a:prstGeom>
        </p:spPr>
        <p:txBody>
          <a:bodyPr wrap="square">
            <a:spAutoFit/>
          </a:bodyPr>
          <a:lstStyle/>
          <a:p>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a:t>
            </a:r>
            <a:r>
              <a:rPr lang="zh-CN" altLang="zh-CN" b="1" dirty="0">
                <a:solidFill>
                  <a:srgbClr val="000000"/>
                </a:solidFill>
                <a:latin typeface="Times New Roman" panose="02020603050405020304" pitchFamily="18" charset="0"/>
                <a:ea typeface="楷体_GB2312" pitchFamily="49" charset="-122"/>
                <a:sym typeface="Symbol" panose="05050102010706020507" pitchFamily="18" charset="2"/>
              </a:rPr>
              <a:t>&gt;</a:t>
            </a:r>
            <a:r>
              <a:rPr lang="en-US" altLang="zh-CN" b="1" dirty="0" err="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r</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a</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&gt;0</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actual profile smooth</a:t>
            </a:r>
            <a:endPar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24" name="矩形 23"/>
          <p:cNvSpPr/>
          <p:nvPr/>
        </p:nvSpPr>
        <p:spPr>
          <a:xfrm>
            <a:off x="856285" y="4909566"/>
            <a:ext cx="1587294" cy="369332"/>
          </a:xfrm>
          <a:prstGeom prst="rect">
            <a:avLst/>
          </a:prstGeom>
        </p:spPr>
        <p:txBody>
          <a:bodyPr wrap="square">
            <a:spAutoFit/>
          </a:bodyPr>
          <a:lstStyle/>
          <a:p>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b="1" dirty="0">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b="1" dirty="0" err="1">
                <a:solidFill>
                  <a:srgbClr val="FF0000"/>
                </a:solidFill>
                <a:latin typeface="Times New Roman" panose="02020603050405020304" pitchFamily="18" charset="0"/>
                <a:ea typeface="楷体_GB2312" pitchFamily="49" charset="-122"/>
                <a:sym typeface="Symbol" panose="05050102010706020507" pitchFamily="18" charset="2"/>
              </a:rPr>
              <a:t>r</a:t>
            </a:r>
            <a:r>
              <a:rPr lang="en-US" altLang="zh-CN" b="1" baseline="-25000" dirty="0" err="1">
                <a:solidFill>
                  <a:srgbClr val="FF0000"/>
                </a:solidFill>
                <a:latin typeface="Times New Roman" panose="02020603050405020304" pitchFamily="18" charset="0"/>
                <a:ea typeface="楷体_GB2312" pitchFamily="49" charset="-122"/>
                <a:sym typeface="Symbol" panose="05050102010706020507" pitchFamily="18" charset="2"/>
              </a:rPr>
              <a:t>r</a:t>
            </a:r>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b="1" baseline="-25000" dirty="0">
                <a:solidFill>
                  <a:srgbClr val="FF0000"/>
                </a:solidFill>
                <a:latin typeface="Times New Roman" panose="02020603050405020304" pitchFamily="18" charset="0"/>
                <a:ea typeface="楷体_GB2312" pitchFamily="49" charset="-122"/>
                <a:sym typeface="Symbol" panose="05050102010706020507" pitchFamily="18" charset="2"/>
              </a:rPr>
              <a:t>a</a:t>
            </a:r>
            <a:r>
              <a:rPr lang="en-US" altLang="zh-CN" b="1" dirty="0">
                <a:solidFill>
                  <a:srgbClr val="FF0000"/>
                </a:solidFill>
                <a:latin typeface="Times New Roman" panose="02020603050405020304" pitchFamily="18" charset="0"/>
                <a:ea typeface="楷体_GB2312" pitchFamily="49" charset="-122"/>
                <a:sym typeface="Symbol" panose="05050102010706020507" pitchFamily="18" charset="2"/>
              </a:rPr>
              <a:t>=0 </a:t>
            </a:r>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a:t>
            </a:r>
            <a:endParaRPr lang="en-AU" dirty="0">
              <a:solidFill>
                <a:srgbClr val="FF0000"/>
              </a:solidFill>
            </a:endParaRPr>
          </a:p>
        </p:txBody>
      </p:sp>
      <p:sp>
        <p:nvSpPr>
          <p:cNvPr id="25" name="矩形 24"/>
          <p:cNvSpPr/>
          <p:nvPr/>
        </p:nvSpPr>
        <p:spPr>
          <a:xfrm>
            <a:off x="2258778" y="4856899"/>
            <a:ext cx="4136069" cy="645160"/>
          </a:xfrm>
          <a:prstGeom prst="rect">
            <a:avLst/>
          </a:prstGeom>
        </p:spPr>
        <p:txBody>
          <a:bodyPr wrap="square">
            <a:spAutoFit/>
          </a:bodyPr>
          <a:lstStyle/>
          <a:p>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Actual profile becomes </a:t>
            </a:r>
            <a:r>
              <a:rPr lang="zh-CN" altLang="en-US" b="1" dirty="0">
                <a:solidFill>
                  <a:srgbClr val="FF0000"/>
                </a:solidFill>
                <a:latin typeface="Times New Roman" panose="02020603050405020304" pitchFamily="18" charset="0"/>
                <a:ea typeface="楷体_GB2312" pitchFamily="49" charset="-122"/>
                <a:sym typeface="Symbol" panose="05050102010706020507" pitchFamily="18" charset="2"/>
              </a:rPr>
              <a:t>sharp</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 →wear</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easily</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 motion distortion</a:t>
            </a:r>
            <a:endParaRPr lang="en-AU" dirty="0"/>
          </a:p>
        </p:txBody>
      </p:sp>
      <p:sp>
        <p:nvSpPr>
          <p:cNvPr id="26" name="矩形 25"/>
          <p:cNvSpPr/>
          <p:nvPr/>
        </p:nvSpPr>
        <p:spPr>
          <a:xfrm>
            <a:off x="2150110" y="5407660"/>
            <a:ext cx="4590415" cy="700405"/>
          </a:xfrm>
          <a:prstGeom prst="rect">
            <a:avLst/>
          </a:prstGeom>
        </p:spPr>
        <p:txBody>
          <a:bodyPr wrap="square">
            <a:spAutoFit/>
          </a:bodyPr>
          <a:lstStyle/>
          <a:p>
            <a:pPr>
              <a:lnSpc>
                <a:spcPct val="110000"/>
              </a:lnSpc>
              <a:spcBef>
                <a:spcPct val="5000"/>
              </a:spcBef>
            </a:pP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The actual contour exhibits </a:t>
            </a:r>
            <a:r>
              <a:rPr lang="en-US" altLang="zh-CN" b="1" dirty="0">
                <a:solidFill>
                  <a:srgbClr val="FF0000"/>
                </a:solidFill>
                <a:latin typeface="Times New Roman" panose="02020603050405020304" pitchFamily="18" charset="0"/>
                <a:ea typeface="楷体_GB2312" pitchFamily="49" charset="-122"/>
                <a:sym typeface="Symbol" panose="05050102010706020507" pitchFamily="18" charset="2"/>
              </a:rPr>
              <a:t>intersection</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cutting, or motion distortion.</a:t>
            </a:r>
            <a:endPar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66" name="矩形 165"/>
          <p:cNvSpPr/>
          <p:nvPr/>
        </p:nvSpPr>
        <p:spPr>
          <a:xfrm>
            <a:off x="-38735" y="5938520"/>
            <a:ext cx="7299960" cy="398780"/>
          </a:xfrm>
          <a:prstGeom prst="rect">
            <a:avLst/>
          </a:prstGeom>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Is there a restriction on roller radius for convex profiles?</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27" name="矩形 26"/>
          <p:cNvSpPr/>
          <p:nvPr/>
        </p:nvSpPr>
        <p:spPr>
          <a:xfrm>
            <a:off x="546087" y="6337367"/>
            <a:ext cx="7086740" cy="368300"/>
          </a:xfrm>
          <a:prstGeom prst="rect">
            <a:avLst/>
          </a:prstGeom>
        </p:spPr>
        <p:txBody>
          <a:bodyPr wrap="square">
            <a:spAutoFit/>
          </a:bodyPr>
          <a:lstStyle/>
          <a:p>
            <a:pPr>
              <a:spcBef>
                <a:spcPct val="5000"/>
              </a:spcBef>
              <a:spcAft>
                <a:spcPts val="600"/>
              </a:spcAft>
            </a:pP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min</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&gt;</a:t>
            </a:r>
            <a:r>
              <a:rPr lang="en-US" altLang="zh-CN" b="1" dirty="0" err="1">
                <a:solidFill>
                  <a:srgbClr val="000000"/>
                </a:solidFill>
                <a:latin typeface="Times New Roman" panose="02020603050405020304" pitchFamily="18" charset="0"/>
                <a:ea typeface="楷体_GB2312" pitchFamily="49" charset="-122"/>
              </a:rPr>
              <a:t>r</a:t>
            </a:r>
            <a:r>
              <a:rPr lang="en-US" altLang="zh-CN" b="1" baseline="-25000" dirty="0" err="1">
                <a:solidFill>
                  <a:srgbClr val="000000"/>
                </a:solidFill>
                <a:latin typeface="Times New Roman" panose="02020603050405020304" pitchFamily="18" charset="0"/>
                <a:ea typeface="楷体_GB2312" pitchFamily="49" charset="-122"/>
              </a:rPr>
              <a:t>r</a:t>
            </a:r>
            <a:r>
              <a:rPr lang="en-US" altLang="zh-CN" b="1" baseline="-25000"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make sure </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amin</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min</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dirty="0" err="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baseline="-25000" dirty="0">
                <a:solidFill>
                  <a:srgbClr val="000000"/>
                </a:solidFill>
                <a:latin typeface="Times New Roman" panose="02020603050405020304" pitchFamily="18" charset="0"/>
                <a:ea typeface="楷体_GB2312" pitchFamily="49" charset="-122"/>
                <a:sym typeface="Symbol" panose="05050102010706020507" pitchFamily="18" charset="2"/>
              </a:rPr>
              <a:t>a</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=3~5 mm</a:t>
            </a:r>
            <a:endPar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34" name="灯片编号占位符 7"/>
          <p:cNvSpPr txBox="1"/>
          <p:nvPr/>
        </p:nvSpPr>
        <p:spPr>
          <a:xfrm>
            <a:off x="10768584" y="6446393"/>
            <a:ext cx="1423416"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24</a:t>
            </a:r>
            <a:endParaRPr lang="zh-CN" altLang="en-US" dirty="0"/>
          </a:p>
        </p:txBody>
      </p:sp>
      <p:sp>
        <p:nvSpPr>
          <p:cNvPr id="135" name="矩形 134"/>
          <p:cNvSpPr/>
          <p:nvPr/>
        </p:nvSpPr>
        <p:spPr>
          <a:xfrm>
            <a:off x="5645150" y="6367145"/>
            <a:ext cx="7011670" cy="368300"/>
          </a:xfrm>
          <a:prstGeom prst="rect">
            <a:avLst/>
          </a:prstGeom>
        </p:spPr>
        <p:txBody>
          <a:bodyPr wrap="square">
            <a:spAutoFit/>
          </a:bodyPr>
          <a:lstStyle/>
          <a:p>
            <a:r>
              <a:rPr lang="zh-CN" altLang="en-US" b="1" dirty="0">
                <a:solidFill>
                  <a:srgbClr val="000000"/>
                </a:solidFill>
                <a:latin typeface="Times New Roman" panose="02020603050405020304" pitchFamily="18" charset="0"/>
                <a:ea typeface="楷体_GB2312" pitchFamily="49" charset="-122"/>
              </a:rPr>
              <a:t>Reduce roller radius or increase base circle radius and redesign.</a:t>
            </a:r>
            <a:endParaRPr lang="en-AU" dirty="0"/>
          </a:p>
        </p:txBody>
      </p:sp>
      <p:sp>
        <p:nvSpPr>
          <p:cNvPr id="136" name="矩形 135"/>
          <p:cNvSpPr/>
          <p:nvPr/>
        </p:nvSpPr>
        <p:spPr>
          <a:xfrm>
            <a:off x="745735" y="3370327"/>
            <a:ext cx="5995552" cy="397032"/>
          </a:xfrm>
          <a:prstGeom prst="rect">
            <a:avLst/>
          </a:prstGeom>
        </p:spPr>
        <p:txBody>
          <a:bodyPr wrap="square">
            <a:spAutoFit/>
          </a:bodyPr>
          <a:lstStyle/>
          <a:p>
            <a:pPr marL="269875" indent="-269875">
              <a:lnSpc>
                <a:spcPct val="110000"/>
              </a:lnSpc>
              <a:spcBef>
                <a:spcPct val="5000"/>
              </a:spcBef>
            </a:pPr>
            <a:r>
              <a:rPr lang="zh-CN" altLang="en-US" b="1" dirty="0">
                <a:solidFill>
                  <a:srgbClr val="000000"/>
                </a:solidFill>
                <a:latin typeface="Times New Roman" panose="02020603050405020304" pitchFamily="18" charset="0"/>
                <a:ea typeface="楷体_GB2312" pitchFamily="49" charset="-122"/>
              </a:rPr>
              <a:t>No — for convex profiles, any roller radius can produce a valid actual profile.</a:t>
            </a:r>
            <a:endPar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0" name="TextBox 8"/>
          <p:cNvSpPr txBox="1"/>
          <p:nvPr/>
        </p:nvSpPr>
        <p:spPr>
          <a:xfrm>
            <a:off x="1007878" y="319709"/>
            <a:ext cx="9470935" cy="523220"/>
          </a:xfrm>
          <a:prstGeom prst="rect">
            <a:avLst/>
          </a:prstGeom>
          <a:noFill/>
        </p:spPr>
        <p:txBody>
          <a:bodyPr wrap="square" rtlCol="0">
            <a:spAutoFit/>
          </a:bodyPr>
          <a:lstStyle/>
          <a:p>
            <a:r>
              <a:rPr lang="en-US" altLang="zh-CN" sz="2800" spc="100" dirty="0">
                <a:solidFill>
                  <a:schemeClr val="accent2">
                    <a:lumMod val="75000"/>
                  </a:schemeClr>
                </a:solidFill>
                <a:ea typeface="微软雅黑" panose="020B0503020204020204" pitchFamily="34" charset="-122"/>
                <a:sym typeface="Arial" panose="020B0604020202020204" pitchFamily="34" charset="0"/>
              </a:rPr>
              <a:t>3-4 Graphical Design of Disk Cam Profiles</a:t>
            </a:r>
            <a:endParaRPr lang="en-US" altLang="zh-CN" sz="2800" dirty="0">
              <a:solidFill>
                <a:schemeClr val="accent2">
                  <a:lumMod val="75000"/>
                </a:schemeClr>
              </a:solidFill>
            </a:endParaRPr>
          </a:p>
        </p:txBody>
      </p:sp>
    </p:spTree>
  </p:cSld>
  <p:clrMapOvr>
    <a:masterClrMapping/>
  </p:clrMapOvr>
  <p:transition>
    <p:sndAc>
      <p:stSnd>
        <p:snd r:embed="rId2" name="CHIM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162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51710"/>
                                        </p:tgtEl>
                                        <p:attrNameLst>
                                          <p:attrName>style.visibility</p:attrName>
                                        </p:attrNameLst>
                                      </p:cBhvr>
                                      <p:to>
                                        <p:strVal val="visible"/>
                                      </p:to>
                                    </p:set>
                                    <p:animEffect transition="in" filter="wipe(left)">
                                      <p:cBhvr>
                                        <p:cTn id="23" dur="500"/>
                                        <p:tgtEl>
                                          <p:spTgt spid="751710"/>
                                        </p:tgtEl>
                                      </p:cBhvr>
                                    </p:animEffect>
                                  </p:childTnLst>
                                </p:cTn>
                              </p:par>
                              <p:par>
                                <p:cTn id="24" presetID="22" presetClass="entr" presetSubtype="4"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500"/>
                                        <p:tgtEl>
                                          <p:spTgt spid="15"/>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751709"/>
                                        </p:tgtEl>
                                        <p:attrNameLst>
                                          <p:attrName>style.visibility</p:attrName>
                                        </p:attrNameLst>
                                      </p:cBhvr>
                                      <p:to>
                                        <p:strVal val="visible"/>
                                      </p:to>
                                    </p:set>
                                    <p:animEffect transition="in" filter="dissolve">
                                      <p:cBhvr>
                                        <p:cTn id="29" dur="500"/>
                                        <p:tgtEl>
                                          <p:spTgt spid="751709"/>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1000"/>
                            </p:stCondLst>
                            <p:childTnLst>
                              <p:par>
                                <p:cTn id="35" presetID="23" presetClass="entr" presetSubtype="288" fill="hold" grpId="0" nodeType="afterEffect">
                                  <p:stCondLst>
                                    <p:cond delay="0"/>
                                  </p:stCondLst>
                                  <p:childTnLst>
                                    <p:set>
                                      <p:cBhvr>
                                        <p:cTn id="36" dur="1" fill="hold">
                                          <p:stCondLst>
                                            <p:cond delay="0"/>
                                          </p:stCondLst>
                                        </p:cTn>
                                        <p:tgtEl>
                                          <p:spTgt spid="751711"/>
                                        </p:tgtEl>
                                        <p:attrNameLst>
                                          <p:attrName>style.visibility</p:attrName>
                                        </p:attrNameLst>
                                      </p:cBhvr>
                                      <p:to>
                                        <p:strVal val="visible"/>
                                      </p:to>
                                    </p:set>
                                    <p:anim calcmode="lin" valueType="num">
                                      <p:cBhvr>
                                        <p:cTn id="37" dur="500" fill="hold"/>
                                        <p:tgtEl>
                                          <p:spTgt spid="751711"/>
                                        </p:tgtEl>
                                        <p:attrNameLst>
                                          <p:attrName>ppt_w</p:attrName>
                                        </p:attrNameLst>
                                      </p:cBhvr>
                                      <p:tavLst>
                                        <p:tav tm="0">
                                          <p:val>
                                            <p:strVal val="4/3*#ppt_w"/>
                                          </p:val>
                                        </p:tav>
                                        <p:tav tm="100000">
                                          <p:val>
                                            <p:strVal val="#ppt_w"/>
                                          </p:val>
                                        </p:tav>
                                      </p:tavLst>
                                    </p:anim>
                                    <p:anim calcmode="lin" valueType="num">
                                      <p:cBhvr>
                                        <p:cTn id="38" dur="500" fill="hold"/>
                                        <p:tgtEl>
                                          <p:spTgt spid="751711"/>
                                        </p:tgtEl>
                                        <p:attrNameLst>
                                          <p:attrName>ppt_h</p:attrName>
                                        </p:attrNameLst>
                                      </p:cBhvr>
                                      <p:tavLst>
                                        <p:tav tm="0">
                                          <p:val>
                                            <p:strVal val="4/3*#ppt_h"/>
                                          </p:val>
                                        </p:tav>
                                        <p:tav tm="100000">
                                          <p:val>
                                            <p:strVal val="#ppt_h"/>
                                          </p:val>
                                        </p:tav>
                                      </p:tavLst>
                                    </p:anim>
                                  </p:childTnLst>
                                </p:cTn>
                              </p:par>
                              <p:par>
                                <p:cTn id="39" presetID="9" presetClass="entr" presetSubtype="0" fill="hold" grpId="0" nodeType="withEffect">
                                  <p:stCondLst>
                                    <p:cond delay="0"/>
                                  </p:stCondLst>
                                  <p:childTnLst>
                                    <p:set>
                                      <p:cBhvr>
                                        <p:cTn id="40" dur="1" fill="hold">
                                          <p:stCondLst>
                                            <p:cond delay="0"/>
                                          </p:stCondLst>
                                        </p:cTn>
                                        <p:tgtEl>
                                          <p:spTgt spid="751712"/>
                                        </p:tgtEl>
                                        <p:attrNameLst>
                                          <p:attrName>style.visibility</p:attrName>
                                        </p:attrNameLst>
                                      </p:cBhvr>
                                      <p:to>
                                        <p:strVal val="visible"/>
                                      </p:to>
                                    </p:set>
                                    <p:animEffect transition="in" filter="dissolve">
                                      <p:cBhvr>
                                        <p:cTn id="41" dur="500"/>
                                        <p:tgtEl>
                                          <p:spTgt spid="751712"/>
                                        </p:tgtEl>
                                      </p:cBhvr>
                                    </p:animEffect>
                                  </p:childTnLst>
                                </p:cTn>
                              </p:par>
                            </p:childTnLst>
                          </p:cTn>
                        </p:par>
                        <p:par>
                          <p:cTn id="42" fill="hold">
                            <p:stCondLst>
                              <p:cond delay="1500"/>
                            </p:stCondLst>
                            <p:childTnLst>
                              <p:par>
                                <p:cTn id="43" presetID="9" presetClass="entr" presetSubtype="0" fill="hold" grpId="0" nodeType="afterEffect">
                                  <p:stCondLst>
                                    <p:cond delay="0"/>
                                  </p:stCondLst>
                                  <p:childTnLst>
                                    <p:set>
                                      <p:cBhvr>
                                        <p:cTn id="44" dur="1" fill="hold">
                                          <p:stCondLst>
                                            <p:cond delay="0"/>
                                          </p:stCondLst>
                                        </p:cTn>
                                        <p:tgtEl>
                                          <p:spTgt spid="751713"/>
                                        </p:tgtEl>
                                        <p:attrNameLst>
                                          <p:attrName>style.visibility</p:attrName>
                                        </p:attrNameLst>
                                      </p:cBhvr>
                                      <p:to>
                                        <p:strVal val="visible"/>
                                      </p:to>
                                    </p:set>
                                    <p:animEffect transition="in" filter="dissolve">
                                      <p:cBhvr>
                                        <p:cTn id="45" dur="500"/>
                                        <p:tgtEl>
                                          <p:spTgt spid="751713"/>
                                        </p:tgtEl>
                                      </p:cBhvr>
                                    </p:animEffect>
                                  </p:childTnLst>
                                </p:cTn>
                              </p:par>
                            </p:childTnLst>
                          </p:cTn>
                        </p:par>
                        <p:par>
                          <p:cTn id="46" fill="hold">
                            <p:stCondLst>
                              <p:cond delay="2000"/>
                            </p:stCondLst>
                            <p:childTnLst>
                              <p:par>
                                <p:cTn id="47" presetID="9" presetClass="entr" presetSubtype="0" fill="hold" grpId="0" nodeType="afterEffect">
                                  <p:stCondLst>
                                    <p:cond delay="0"/>
                                  </p:stCondLst>
                                  <p:childTnLst>
                                    <p:set>
                                      <p:cBhvr>
                                        <p:cTn id="48" dur="1" fill="hold">
                                          <p:stCondLst>
                                            <p:cond delay="0"/>
                                          </p:stCondLst>
                                        </p:cTn>
                                        <p:tgtEl>
                                          <p:spTgt spid="751714"/>
                                        </p:tgtEl>
                                        <p:attrNameLst>
                                          <p:attrName>style.visibility</p:attrName>
                                        </p:attrNameLst>
                                      </p:cBhvr>
                                      <p:to>
                                        <p:strVal val="visible"/>
                                      </p:to>
                                    </p:set>
                                    <p:animEffect transition="in" filter="dissolve">
                                      <p:cBhvr>
                                        <p:cTn id="49" dur="500"/>
                                        <p:tgtEl>
                                          <p:spTgt spid="751714"/>
                                        </p:tgtEl>
                                      </p:cBhvr>
                                    </p:animEffect>
                                  </p:childTnLst>
                                </p:cTn>
                              </p:par>
                            </p:childTnLst>
                          </p:cTn>
                        </p:par>
                        <p:par>
                          <p:cTn id="50" fill="hold">
                            <p:stCondLst>
                              <p:cond delay="2500"/>
                            </p:stCondLst>
                            <p:childTnLst>
                              <p:par>
                                <p:cTn id="51" presetID="9" presetClass="entr" presetSubtype="0" fill="hold" grpId="0" nodeType="afterEffect">
                                  <p:stCondLst>
                                    <p:cond delay="0"/>
                                  </p:stCondLst>
                                  <p:childTnLst>
                                    <p:set>
                                      <p:cBhvr>
                                        <p:cTn id="52" dur="1" fill="hold">
                                          <p:stCondLst>
                                            <p:cond delay="0"/>
                                          </p:stCondLst>
                                        </p:cTn>
                                        <p:tgtEl>
                                          <p:spTgt spid="751715"/>
                                        </p:tgtEl>
                                        <p:attrNameLst>
                                          <p:attrName>style.visibility</p:attrName>
                                        </p:attrNameLst>
                                      </p:cBhvr>
                                      <p:to>
                                        <p:strVal val="visible"/>
                                      </p:to>
                                    </p:set>
                                    <p:animEffect transition="in" filter="dissolve">
                                      <p:cBhvr>
                                        <p:cTn id="53" dur="500"/>
                                        <p:tgtEl>
                                          <p:spTgt spid="751715"/>
                                        </p:tgtEl>
                                      </p:cBhvr>
                                    </p:animEffect>
                                  </p:childTnLst>
                                </p:cTn>
                              </p:par>
                            </p:childTnLst>
                          </p:cTn>
                        </p:par>
                        <p:par>
                          <p:cTn id="54" fill="hold">
                            <p:stCondLst>
                              <p:cond delay="3000"/>
                            </p:stCondLst>
                            <p:childTnLst>
                              <p:par>
                                <p:cTn id="55" presetID="9" presetClass="entr" presetSubtype="0" fill="hold" grpId="0" nodeType="afterEffect">
                                  <p:stCondLst>
                                    <p:cond delay="0"/>
                                  </p:stCondLst>
                                  <p:childTnLst>
                                    <p:set>
                                      <p:cBhvr>
                                        <p:cTn id="56" dur="1" fill="hold">
                                          <p:stCondLst>
                                            <p:cond delay="0"/>
                                          </p:stCondLst>
                                        </p:cTn>
                                        <p:tgtEl>
                                          <p:spTgt spid="751716"/>
                                        </p:tgtEl>
                                        <p:attrNameLst>
                                          <p:attrName>style.visibility</p:attrName>
                                        </p:attrNameLst>
                                      </p:cBhvr>
                                      <p:to>
                                        <p:strVal val="visible"/>
                                      </p:to>
                                    </p:set>
                                    <p:animEffect transition="in" filter="dissolve">
                                      <p:cBhvr>
                                        <p:cTn id="57" dur="500"/>
                                        <p:tgtEl>
                                          <p:spTgt spid="751716"/>
                                        </p:tgtEl>
                                      </p:cBhvr>
                                    </p:animEffect>
                                  </p:childTnLst>
                                </p:cTn>
                              </p:par>
                            </p:childTnLst>
                          </p:cTn>
                        </p:par>
                        <p:par>
                          <p:cTn id="58" fill="hold">
                            <p:stCondLst>
                              <p:cond delay="3500"/>
                            </p:stCondLst>
                            <p:childTnLst>
                              <p:par>
                                <p:cTn id="59" presetID="9" presetClass="entr" presetSubtype="0" fill="hold" grpId="0" nodeType="afterEffect">
                                  <p:stCondLst>
                                    <p:cond delay="0"/>
                                  </p:stCondLst>
                                  <p:childTnLst>
                                    <p:set>
                                      <p:cBhvr>
                                        <p:cTn id="60" dur="1" fill="hold">
                                          <p:stCondLst>
                                            <p:cond delay="0"/>
                                          </p:stCondLst>
                                        </p:cTn>
                                        <p:tgtEl>
                                          <p:spTgt spid="751717"/>
                                        </p:tgtEl>
                                        <p:attrNameLst>
                                          <p:attrName>style.visibility</p:attrName>
                                        </p:attrNameLst>
                                      </p:cBhvr>
                                      <p:to>
                                        <p:strVal val="visible"/>
                                      </p:to>
                                    </p:set>
                                    <p:animEffect transition="in" filter="dissolve">
                                      <p:cBhvr>
                                        <p:cTn id="61" dur="500"/>
                                        <p:tgtEl>
                                          <p:spTgt spid="751717"/>
                                        </p:tgtEl>
                                      </p:cBhvr>
                                    </p:animEffect>
                                  </p:childTnLst>
                                </p:cTn>
                              </p:par>
                            </p:childTnLst>
                          </p:cTn>
                        </p:par>
                        <p:par>
                          <p:cTn id="62" fill="hold">
                            <p:stCondLst>
                              <p:cond delay="4000"/>
                            </p:stCondLst>
                            <p:childTnLst>
                              <p:par>
                                <p:cTn id="63" presetID="9" presetClass="entr" presetSubtype="0" fill="hold" grpId="0" nodeType="afterEffect">
                                  <p:stCondLst>
                                    <p:cond delay="0"/>
                                  </p:stCondLst>
                                  <p:childTnLst>
                                    <p:set>
                                      <p:cBhvr>
                                        <p:cTn id="64" dur="1" fill="hold">
                                          <p:stCondLst>
                                            <p:cond delay="0"/>
                                          </p:stCondLst>
                                        </p:cTn>
                                        <p:tgtEl>
                                          <p:spTgt spid="751718"/>
                                        </p:tgtEl>
                                        <p:attrNameLst>
                                          <p:attrName>style.visibility</p:attrName>
                                        </p:attrNameLst>
                                      </p:cBhvr>
                                      <p:to>
                                        <p:strVal val="visible"/>
                                      </p:to>
                                    </p:set>
                                    <p:animEffect transition="in" filter="dissolve">
                                      <p:cBhvr>
                                        <p:cTn id="65" dur="500"/>
                                        <p:tgtEl>
                                          <p:spTgt spid="751718"/>
                                        </p:tgtEl>
                                      </p:cBhvr>
                                    </p:animEffect>
                                  </p:childTnLst>
                                </p:cTn>
                              </p:par>
                            </p:childTnLst>
                          </p:cTn>
                        </p:par>
                        <p:par>
                          <p:cTn id="66" fill="hold">
                            <p:stCondLst>
                              <p:cond delay="4500"/>
                            </p:stCondLst>
                            <p:childTnLst>
                              <p:par>
                                <p:cTn id="67" presetID="9" presetClass="entr" presetSubtype="0" fill="hold" grpId="0" nodeType="afterEffect">
                                  <p:stCondLst>
                                    <p:cond delay="0"/>
                                  </p:stCondLst>
                                  <p:childTnLst>
                                    <p:set>
                                      <p:cBhvr>
                                        <p:cTn id="68" dur="1" fill="hold">
                                          <p:stCondLst>
                                            <p:cond delay="0"/>
                                          </p:stCondLst>
                                        </p:cTn>
                                        <p:tgtEl>
                                          <p:spTgt spid="751719"/>
                                        </p:tgtEl>
                                        <p:attrNameLst>
                                          <p:attrName>style.visibility</p:attrName>
                                        </p:attrNameLst>
                                      </p:cBhvr>
                                      <p:to>
                                        <p:strVal val="visible"/>
                                      </p:to>
                                    </p:set>
                                    <p:animEffect transition="in" filter="dissolve">
                                      <p:cBhvr>
                                        <p:cTn id="69" dur="500"/>
                                        <p:tgtEl>
                                          <p:spTgt spid="751719"/>
                                        </p:tgtEl>
                                      </p:cBhvr>
                                    </p:animEffect>
                                  </p:childTnLst>
                                </p:cTn>
                              </p:par>
                            </p:childTnLst>
                          </p:cTn>
                        </p:par>
                        <p:par>
                          <p:cTn id="70" fill="hold">
                            <p:stCondLst>
                              <p:cond delay="5000"/>
                            </p:stCondLst>
                            <p:childTnLst>
                              <p:par>
                                <p:cTn id="71" presetID="9" presetClass="entr" presetSubtype="0" fill="hold" grpId="0" nodeType="afterEffect">
                                  <p:stCondLst>
                                    <p:cond delay="0"/>
                                  </p:stCondLst>
                                  <p:childTnLst>
                                    <p:set>
                                      <p:cBhvr>
                                        <p:cTn id="72" dur="1" fill="hold">
                                          <p:stCondLst>
                                            <p:cond delay="0"/>
                                          </p:stCondLst>
                                        </p:cTn>
                                        <p:tgtEl>
                                          <p:spTgt spid="751720"/>
                                        </p:tgtEl>
                                        <p:attrNameLst>
                                          <p:attrName>style.visibility</p:attrName>
                                        </p:attrNameLst>
                                      </p:cBhvr>
                                      <p:to>
                                        <p:strVal val="visible"/>
                                      </p:to>
                                    </p:set>
                                    <p:animEffect transition="in" filter="dissolve">
                                      <p:cBhvr>
                                        <p:cTn id="73" dur="500"/>
                                        <p:tgtEl>
                                          <p:spTgt spid="751720"/>
                                        </p:tgtEl>
                                      </p:cBhvr>
                                    </p:animEffect>
                                  </p:childTnLst>
                                </p:cTn>
                              </p:par>
                            </p:childTnLst>
                          </p:cTn>
                        </p:par>
                        <p:par>
                          <p:cTn id="74" fill="hold">
                            <p:stCondLst>
                              <p:cond delay="5500"/>
                            </p:stCondLst>
                            <p:childTnLst>
                              <p:par>
                                <p:cTn id="75" presetID="9" presetClass="entr" presetSubtype="0" fill="hold" grpId="0" nodeType="afterEffect">
                                  <p:stCondLst>
                                    <p:cond delay="0"/>
                                  </p:stCondLst>
                                  <p:childTnLst>
                                    <p:set>
                                      <p:cBhvr>
                                        <p:cTn id="76" dur="1" fill="hold">
                                          <p:stCondLst>
                                            <p:cond delay="0"/>
                                          </p:stCondLst>
                                        </p:cTn>
                                        <p:tgtEl>
                                          <p:spTgt spid="751721"/>
                                        </p:tgtEl>
                                        <p:attrNameLst>
                                          <p:attrName>style.visibility</p:attrName>
                                        </p:attrNameLst>
                                      </p:cBhvr>
                                      <p:to>
                                        <p:strVal val="visible"/>
                                      </p:to>
                                    </p:set>
                                    <p:animEffect transition="in" filter="dissolve">
                                      <p:cBhvr>
                                        <p:cTn id="77" dur="500"/>
                                        <p:tgtEl>
                                          <p:spTgt spid="751721"/>
                                        </p:tgtEl>
                                      </p:cBhvr>
                                    </p:animEffect>
                                  </p:childTnLst>
                                </p:cTn>
                              </p:par>
                            </p:childTnLst>
                          </p:cTn>
                        </p:par>
                        <p:par>
                          <p:cTn id="78" fill="hold">
                            <p:stCondLst>
                              <p:cond delay="6000"/>
                            </p:stCondLst>
                            <p:childTnLst>
                              <p:par>
                                <p:cTn id="79" presetID="9" presetClass="entr" presetSubtype="0" fill="hold" grpId="0" nodeType="afterEffect">
                                  <p:stCondLst>
                                    <p:cond delay="0"/>
                                  </p:stCondLst>
                                  <p:childTnLst>
                                    <p:set>
                                      <p:cBhvr>
                                        <p:cTn id="80" dur="1" fill="hold">
                                          <p:stCondLst>
                                            <p:cond delay="0"/>
                                          </p:stCondLst>
                                        </p:cTn>
                                        <p:tgtEl>
                                          <p:spTgt spid="751722"/>
                                        </p:tgtEl>
                                        <p:attrNameLst>
                                          <p:attrName>style.visibility</p:attrName>
                                        </p:attrNameLst>
                                      </p:cBhvr>
                                      <p:to>
                                        <p:strVal val="visible"/>
                                      </p:to>
                                    </p:set>
                                    <p:animEffect transition="in" filter="dissolve">
                                      <p:cBhvr>
                                        <p:cTn id="81" dur="500"/>
                                        <p:tgtEl>
                                          <p:spTgt spid="751722"/>
                                        </p:tgtEl>
                                      </p:cBhvr>
                                    </p:animEffect>
                                  </p:childTnLst>
                                </p:cTn>
                              </p:par>
                            </p:childTnLst>
                          </p:cTn>
                        </p:par>
                        <p:par>
                          <p:cTn id="82" fill="hold">
                            <p:stCondLst>
                              <p:cond delay="6500"/>
                            </p:stCondLst>
                            <p:childTnLst>
                              <p:par>
                                <p:cTn id="83" presetID="9" presetClass="entr" presetSubtype="0" fill="hold" grpId="0" nodeType="afterEffect">
                                  <p:stCondLst>
                                    <p:cond delay="0"/>
                                  </p:stCondLst>
                                  <p:childTnLst>
                                    <p:set>
                                      <p:cBhvr>
                                        <p:cTn id="84" dur="1" fill="hold">
                                          <p:stCondLst>
                                            <p:cond delay="0"/>
                                          </p:stCondLst>
                                        </p:cTn>
                                        <p:tgtEl>
                                          <p:spTgt spid="751723"/>
                                        </p:tgtEl>
                                        <p:attrNameLst>
                                          <p:attrName>style.visibility</p:attrName>
                                        </p:attrNameLst>
                                      </p:cBhvr>
                                      <p:to>
                                        <p:strVal val="visible"/>
                                      </p:to>
                                    </p:set>
                                    <p:animEffect transition="in" filter="dissolve">
                                      <p:cBhvr>
                                        <p:cTn id="85" dur="500"/>
                                        <p:tgtEl>
                                          <p:spTgt spid="751723"/>
                                        </p:tgtEl>
                                      </p:cBhvr>
                                    </p:animEffect>
                                  </p:childTnLst>
                                </p:cTn>
                              </p:par>
                              <p:par>
                                <p:cTn id="86" presetID="22" presetClass="entr" presetSubtype="2" fill="hold" nodeType="withEffect">
                                  <p:stCondLst>
                                    <p:cond delay="0"/>
                                  </p:stCondLst>
                                  <p:childTnLst>
                                    <p:set>
                                      <p:cBhvr>
                                        <p:cTn id="87" dur="1" fill="hold">
                                          <p:stCondLst>
                                            <p:cond delay="0"/>
                                          </p:stCondLst>
                                        </p:cTn>
                                        <p:tgtEl>
                                          <p:spTgt spid="751724"/>
                                        </p:tgtEl>
                                        <p:attrNameLst>
                                          <p:attrName>style.visibility</p:attrName>
                                        </p:attrNameLst>
                                      </p:cBhvr>
                                      <p:to>
                                        <p:strVal val="visible"/>
                                      </p:to>
                                    </p:set>
                                    <p:animEffect transition="in" filter="wipe(right)">
                                      <p:cBhvr>
                                        <p:cTn id="88" dur="500"/>
                                        <p:tgtEl>
                                          <p:spTgt spid="751724"/>
                                        </p:tgtEl>
                                      </p:cBhvr>
                                    </p:animEffect>
                                  </p:childTnLst>
                                  <p:subTnLst>
                                    <p:audio>
                                      <p:cMediaNode>
                                        <p:cTn display="0" masterRel="sameClick">
                                          <p:stCondLst>
                                            <p:cond evt="begin" delay="0">
                                              <p:tn val="86"/>
                                            </p:cond>
                                          </p:stCondLst>
                                          <p:endCondLst>
                                            <p:cond evt="onStopAudio" delay="0">
                                              <p:tgtEl>
                                                <p:sldTgt/>
                                              </p:tgtEl>
                                            </p:cond>
                                          </p:endCondLst>
                                        </p:cTn>
                                        <p:tgtEl>
                                          <p:sndTgt r:embed="rId3" name="LASER.WAV"/>
                                        </p:tgtEl>
                                      </p:cMediaNode>
                                    </p:audio>
                                  </p:subTnLst>
                                </p:cTn>
                              </p:par>
                              <p:par>
                                <p:cTn id="89" presetID="22" presetClass="entr" presetSubtype="8" fill="hold" grpId="0" nodeType="withEffect">
                                  <p:stCondLst>
                                    <p:cond delay="0"/>
                                  </p:stCondLst>
                                  <p:childTnLst>
                                    <p:set>
                                      <p:cBhvr>
                                        <p:cTn id="90" dur="1" fill="hold">
                                          <p:stCondLst>
                                            <p:cond delay="0"/>
                                          </p:stCondLst>
                                        </p:cTn>
                                        <p:tgtEl>
                                          <p:spTgt spid="751622"/>
                                        </p:tgtEl>
                                        <p:attrNameLst>
                                          <p:attrName>style.visibility</p:attrName>
                                        </p:attrNameLst>
                                      </p:cBhvr>
                                      <p:to>
                                        <p:strVal val="visible"/>
                                      </p:to>
                                    </p:set>
                                    <p:animEffect transition="in" filter="wipe(left)">
                                      <p:cBhvr>
                                        <p:cTn id="91" dur="500"/>
                                        <p:tgtEl>
                                          <p:spTgt spid="751622"/>
                                        </p:tgtEl>
                                      </p:cBhvr>
                                    </p:animEffect>
                                  </p:childTnLst>
                                </p:cTn>
                              </p:par>
                            </p:childTnLst>
                          </p:cTn>
                        </p:par>
                      </p:childTnLst>
                    </p:cTn>
                  </p:par>
                  <p:par>
                    <p:cTn id="92" fill="hold">
                      <p:stCondLst>
                        <p:cond delay="indefinite"/>
                      </p:stCondLst>
                      <p:childTnLst>
                        <p:par>
                          <p:cTn id="93" fill="hold">
                            <p:stCondLst>
                              <p:cond delay="0"/>
                            </p:stCondLst>
                            <p:childTnLst>
                              <p:par>
                                <p:cTn id="94" presetID="23" presetClass="entr" presetSubtype="16" fill="hold" nodeType="clickEffect">
                                  <p:stCondLst>
                                    <p:cond delay="0"/>
                                  </p:stCondLst>
                                  <p:childTnLst>
                                    <p:set>
                                      <p:cBhvr>
                                        <p:cTn id="95" dur="1" fill="hold">
                                          <p:stCondLst>
                                            <p:cond delay="0"/>
                                          </p:stCondLst>
                                        </p:cTn>
                                        <p:tgtEl>
                                          <p:spTgt spid="16"/>
                                        </p:tgtEl>
                                        <p:attrNameLst>
                                          <p:attrName>style.visibility</p:attrName>
                                        </p:attrNameLst>
                                      </p:cBhvr>
                                      <p:to>
                                        <p:strVal val="visible"/>
                                      </p:to>
                                    </p:set>
                                    <p:anim calcmode="lin" valueType="num">
                                      <p:cBhvr>
                                        <p:cTn id="96" dur="500" fill="hold"/>
                                        <p:tgtEl>
                                          <p:spTgt spid="16"/>
                                        </p:tgtEl>
                                        <p:attrNameLst>
                                          <p:attrName>ppt_w</p:attrName>
                                        </p:attrNameLst>
                                      </p:cBhvr>
                                      <p:tavLst>
                                        <p:tav tm="0">
                                          <p:val>
                                            <p:fltVal val="0"/>
                                          </p:val>
                                        </p:tav>
                                        <p:tav tm="100000">
                                          <p:val>
                                            <p:strVal val="#ppt_w"/>
                                          </p:val>
                                        </p:tav>
                                      </p:tavLst>
                                    </p:anim>
                                    <p:anim calcmode="lin" valueType="num">
                                      <p:cBhvr>
                                        <p:cTn id="97" dur="500" fill="hold"/>
                                        <p:tgtEl>
                                          <p:spTgt spid="1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4"/>
                                            </p:cond>
                                          </p:stCondLst>
                                          <p:endCondLst>
                                            <p:cond evt="onStopAudio" delay="0">
                                              <p:tgtEl>
                                                <p:sldTgt/>
                                              </p:tgtEl>
                                            </p:cond>
                                          </p:endCondLst>
                                        </p:cTn>
                                        <p:tgtEl>
                                          <p:sndTgt r:embed="rId4" name="Ayako Too bad.wav"/>
                                        </p:tgtEl>
                                      </p:cMediaNode>
                                    </p:audio>
                                  </p:subTnLst>
                                </p:cTn>
                              </p:par>
                              <p:par>
                                <p:cTn id="98" presetID="1" presetClass="entr" presetSubtype="0" fill="hold" grpId="0" nodeType="withEffect">
                                  <p:stCondLst>
                                    <p:cond delay="0"/>
                                  </p:stCondLst>
                                  <p:childTnLst>
                                    <p:set>
                                      <p:cBhvr>
                                        <p:cTn id="99" dur="1" fill="hold">
                                          <p:stCondLst>
                                            <p:cond delay="0"/>
                                          </p:stCondLst>
                                        </p:cTn>
                                        <p:tgtEl>
                                          <p:spTgt spid="2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22"/>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751680"/>
                                        </p:tgtEl>
                                        <p:attrNameLst>
                                          <p:attrName>style.visibility</p:attrName>
                                        </p:attrNameLst>
                                      </p:cBhvr>
                                      <p:to>
                                        <p:strVal val="visible"/>
                                      </p:to>
                                    </p:set>
                                    <p:animEffect transition="in" filter="wipe(left)">
                                      <p:cBhvr>
                                        <p:cTn id="108" dur="500"/>
                                        <p:tgtEl>
                                          <p:spTgt spid="751680"/>
                                        </p:tgtEl>
                                      </p:cBhvr>
                                    </p:animEffect>
                                  </p:childTnLst>
                                </p:cTn>
                              </p:par>
                              <p:par>
                                <p:cTn id="109" presetID="23" presetClass="entr" presetSubtype="288" fill="hold" nodeType="withEffect">
                                  <p:stCondLst>
                                    <p:cond delay="0"/>
                                  </p:stCondLst>
                                  <p:childTnLst>
                                    <p:set>
                                      <p:cBhvr>
                                        <p:cTn id="110" dur="1" fill="hold">
                                          <p:stCondLst>
                                            <p:cond delay="0"/>
                                          </p:stCondLst>
                                        </p:cTn>
                                        <p:tgtEl>
                                          <p:spTgt spid="12"/>
                                        </p:tgtEl>
                                        <p:attrNameLst>
                                          <p:attrName>style.visibility</p:attrName>
                                        </p:attrNameLst>
                                      </p:cBhvr>
                                      <p:to>
                                        <p:strVal val="visible"/>
                                      </p:to>
                                    </p:set>
                                    <p:anim calcmode="lin" valueType="num">
                                      <p:cBhvr>
                                        <p:cTn id="111" dur="500" fill="hold"/>
                                        <p:tgtEl>
                                          <p:spTgt spid="12"/>
                                        </p:tgtEl>
                                        <p:attrNameLst>
                                          <p:attrName>ppt_w</p:attrName>
                                        </p:attrNameLst>
                                      </p:cBhvr>
                                      <p:tavLst>
                                        <p:tav tm="0">
                                          <p:val>
                                            <p:strVal val="4/3*#ppt_w"/>
                                          </p:val>
                                        </p:tav>
                                        <p:tav tm="100000">
                                          <p:val>
                                            <p:strVal val="#ppt_w"/>
                                          </p:val>
                                        </p:tav>
                                      </p:tavLst>
                                    </p:anim>
                                    <p:anim calcmode="lin" valueType="num">
                                      <p:cBhvr>
                                        <p:cTn id="112" dur="500" fill="hold"/>
                                        <p:tgtEl>
                                          <p:spTgt spid="12"/>
                                        </p:tgtEl>
                                        <p:attrNameLst>
                                          <p:attrName>ppt_h</p:attrName>
                                        </p:attrNameLst>
                                      </p:cBhvr>
                                      <p:tavLst>
                                        <p:tav tm="0">
                                          <p:val>
                                            <p:strVal val="4/3*#ppt_h"/>
                                          </p:val>
                                        </p:tav>
                                        <p:tav tm="100000">
                                          <p:val>
                                            <p:strVal val="#ppt_h"/>
                                          </p:val>
                                        </p:tav>
                                      </p:tavLst>
                                    </p:anim>
                                  </p:childTnLst>
                                </p:cTn>
                              </p:par>
                              <p:par>
                                <p:cTn id="113" presetID="9" presetClass="entr" presetSubtype="0" fill="hold" nodeType="withEffect">
                                  <p:stCondLst>
                                    <p:cond delay="0"/>
                                  </p:stCondLst>
                                  <p:childTnLst>
                                    <p:set>
                                      <p:cBhvr>
                                        <p:cTn id="114" dur="1" fill="hold">
                                          <p:stCondLst>
                                            <p:cond delay="0"/>
                                          </p:stCondLst>
                                        </p:cTn>
                                        <p:tgtEl>
                                          <p:spTgt spid="751685"/>
                                        </p:tgtEl>
                                        <p:attrNameLst>
                                          <p:attrName>style.visibility</p:attrName>
                                        </p:attrNameLst>
                                      </p:cBhvr>
                                      <p:to>
                                        <p:strVal val="visible"/>
                                      </p:to>
                                    </p:set>
                                    <p:animEffect transition="in" filter="dissolve">
                                      <p:cBhvr>
                                        <p:cTn id="115" dur="500"/>
                                        <p:tgtEl>
                                          <p:spTgt spid="751685"/>
                                        </p:tgtEl>
                                      </p:cBhvr>
                                    </p:animEffect>
                                  </p:childTnLst>
                                </p:cTn>
                              </p:par>
                            </p:childTnLst>
                          </p:cTn>
                        </p:par>
                        <p:par>
                          <p:cTn id="116" fill="hold">
                            <p:stCondLst>
                              <p:cond delay="500"/>
                            </p:stCondLst>
                            <p:childTnLst>
                              <p:par>
                                <p:cTn id="117" presetID="1" presetClass="entr" presetSubtype="0" fill="hold" nodeType="afterEffect">
                                  <p:stCondLst>
                                    <p:cond delay="0"/>
                                  </p:stCondLst>
                                  <p:childTnLst>
                                    <p:set>
                                      <p:cBhvr>
                                        <p:cTn id="118" dur="1" fill="hold">
                                          <p:stCondLst>
                                            <p:cond delay="499"/>
                                          </p:stCondLst>
                                        </p:cTn>
                                        <p:tgtEl>
                                          <p:spTgt spid="11"/>
                                        </p:tgtEl>
                                        <p:attrNameLst>
                                          <p:attrName>style.visibility</p:attrName>
                                        </p:attrNameLst>
                                      </p:cBhvr>
                                      <p:to>
                                        <p:strVal val="visible"/>
                                      </p:to>
                                    </p:set>
                                  </p:childTnLst>
                                </p:cTn>
                              </p:par>
                            </p:childTnLst>
                          </p:cTn>
                        </p:par>
                        <p:par>
                          <p:cTn id="119" fill="hold">
                            <p:stCondLst>
                              <p:cond delay="1000"/>
                            </p:stCondLst>
                            <p:childTnLst>
                              <p:par>
                                <p:cTn id="120" presetID="23" presetClass="entr" presetSubtype="288" fill="hold" grpId="0" nodeType="afterEffect">
                                  <p:stCondLst>
                                    <p:cond delay="0"/>
                                  </p:stCondLst>
                                  <p:childTnLst>
                                    <p:set>
                                      <p:cBhvr>
                                        <p:cTn id="121" dur="1" fill="hold">
                                          <p:stCondLst>
                                            <p:cond delay="0"/>
                                          </p:stCondLst>
                                        </p:cTn>
                                        <p:tgtEl>
                                          <p:spTgt spid="751730"/>
                                        </p:tgtEl>
                                        <p:attrNameLst>
                                          <p:attrName>style.visibility</p:attrName>
                                        </p:attrNameLst>
                                      </p:cBhvr>
                                      <p:to>
                                        <p:strVal val="visible"/>
                                      </p:to>
                                    </p:set>
                                    <p:anim calcmode="lin" valueType="num">
                                      <p:cBhvr>
                                        <p:cTn id="122" dur="500" fill="hold"/>
                                        <p:tgtEl>
                                          <p:spTgt spid="751730"/>
                                        </p:tgtEl>
                                        <p:attrNameLst>
                                          <p:attrName>ppt_w</p:attrName>
                                        </p:attrNameLst>
                                      </p:cBhvr>
                                      <p:tavLst>
                                        <p:tav tm="0">
                                          <p:val>
                                            <p:strVal val="4/3*#ppt_w"/>
                                          </p:val>
                                        </p:tav>
                                        <p:tav tm="100000">
                                          <p:val>
                                            <p:strVal val="#ppt_w"/>
                                          </p:val>
                                        </p:tav>
                                      </p:tavLst>
                                    </p:anim>
                                    <p:anim calcmode="lin" valueType="num">
                                      <p:cBhvr>
                                        <p:cTn id="123" dur="500" fill="hold"/>
                                        <p:tgtEl>
                                          <p:spTgt spid="751730"/>
                                        </p:tgtEl>
                                        <p:attrNameLst>
                                          <p:attrName>ppt_h</p:attrName>
                                        </p:attrNameLst>
                                      </p:cBhvr>
                                      <p:tavLst>
                                        <p:tav tm="0">
                                          <p:val>
                                            <p:strVal val="4/3*#ppt_h"/>
                                          </p:val>
                                        </p:tav>
                                        <p:tav tm="100000">
                                          <p:val>
                                            <p:strVal val="#ppt_h"/>
                                          </p:val>
                                        </p:tav>
                                      </p:tavLst>
                                    </p:anim>
                                  </p:childTnLst>
                                </p:cTn>
                              </p:par>
                              <p:par>
                                <p:cTn id="124" presetID="9" presetClass="entr" presetSubtype="0" fill="hold" nodeType="withEffect">
                                  <p:stCondLst>
                                    <p:cond delay="0"/>
                                  </p:stCondLst>
                                  <p:childTnLst>
                                    <p:set>
                                      <p:cBhvr>
                                        <p:cTn id="125" dur="1" fill="hold">
                                          <p:stCondLst>
                                            <p:cond delay="0"/>
                                          </p:stCondLst>
                                        </p:cTn>
                                        <p:tgtEl>
                                          <p:spTgt spid="751692"/>
                                        </p:tgtEl>
                                        <p:attrNameLst>
                                          <p:attrName>style.visibility</p:attrName>
                                        </p:attrNameLst>
                                      </p:cBhvr>
                                      <p:to>
                                        <p:strVal val="visible"/>
                                      </p:to>
                                    </p:set>
                                    <p:animEffect transition="in" filter="dissolve">
                                      <p:cBhvr>
                                        <p:cTn id="126" dur="500"/>
                                        <p:tgtEl>
                                          <p:spTgt spid="751692"/>
                                        </p:tgtEl>
                                      </p:cBhvr>
                                    </p:animEffect>
                                  </p:childTnLst>
                                </p:cTn>
                              </p:par>
                            </p:childTnLst>
                          </p:cTn>
                        </p:par>
                        <p:par>
                          <p:cTn id="127" fill="hold">
                            <p:stCondLst>
                              <p:cond delay="1500"/>
                            </p:stCondLst>
                            <p:childTnLst>
                              <p:par>
                                <p:cTn id="128" presetID="9" presetClass="entr" presetSubtype="0" fill="hold" nodeType="afterEffect">
                                  <p:stCondLst>
                                    <p:cond delay="0"/>
                                  </p:stCondLst>
                                  <p:childTnLst>
                                    <p:set>
                                      <p:cBhvr>
                                        <p:cTn id="129" dur="1" fill="hold">
                                          <p:stCondLst>
                                            <p:cond delay="0"/>
                                          </p:stCondLst>
                                        </p:cTn>
                                        <p:tgtEl>
                                          <p:spTgt spid="751693"/>
                                        </p:tgtEl>
                                        <p:attrNameLst>
                                          <p:attrName>style.visibility</p:attrName>
                                        </p:attrNameLst>
                                      </p:cBhvr>
                                      <p:to>
                                        <p:strVal val="visible"/>
                                      </p:to>
                                    </p:set>
                                    <p:animEffect transition="in" filter="dissolve">
                                      <p:cBhvr>
                                        <p:cTn id="130" dur="500"/>
                                        <p:tgtEl>
                                          <p:spTgt spid="751693"/>
                                        </p:tgtEl>
                                      </p:cBhvr>
                                    </p:animEffect>
                                  </p:childTnLst>
                                </p:cTn>
                              </p:par>
                            </p:childTnLst>
                          </p:cTn>
                        </p:par>
                        <p:par>
                          <p:cTn id="131" fill="hold">
                            <p:stCondLst>
                              <p:cond delay="2000"/>
                            </p:stCondLst>
                            <p:childTnLst>
                              <p:par>
                                <p:cTn id="132" presetID="9" presetClass="entr" presetSubtype="0" fill="hold" nodeType="afterEffect">
                                  <p:stCondLst>
                                    <p:cond delay="0"/>
                                  </p:stCondLst>
                                  <p:childTnLst>
                                    <p:set>
                                      <p:cBhvr>
                                        <p:cTn id="133" dur="1" fill="hold">
                                          <p:stCondLst>
                                            <p:cond delay="0"/>
                                          </p:stCondLst>
                                        </p:cTn>
                                        <p:tgtEl>
                                          <p:spTgt spid="751694"/>
                                        </p:tgtEl>
                                        <p:attrNameLst>
                                          <p:attrName>style.visibility</p:attrName>
                                        </p:attrNameLst>
                                      </p:cBhvr>
                                      <p:to>
                                        <p:strVal val="visible"/>
                                      </p:to>
                                    </p:set>
                                    <p:animEffect transition="in" filter="dissolve">
                                      <p:cBhvr>
                                        <p:cTn id="134" dur="500"/>
                                        <p:tgtEl>
                                          <p:spTgt spid="751694"/>
                                        </p:tgtEl>
                                      </p:cBhvr>
                                    </p:animEffect>
                                  </p:childTnLst>
                                </p:cTn>
                              </p:par>
                            </p:childTnLst>
                          </p:cTn>
                        </p:par>
                        <p:par>
                          <p:cTn id="135" fill="hold">
                            <p:stCondLst>
                              <p:cond delay="2500"/>
                            </p:stCondLst>
                            <p:childTnLst>
                              <p:par>
                                <p:cTn id="136" presetID="9" presetClass="entr" presetSubtype="0" fill="hold" nodeType="afterEffect">
                                  <p:stCondLst>
                                    <p:cond delay="0"/>
                                  </p:stCondLst>
                                  <p:childTnLst>
                                    <p:set>
                                      <p:cBhvr>
                                        <p:cTn id="137" dur="1" fill="hold">
                                          <p:stCondLst>
                                            <p:cond delay="0"/>
                                          </p:stCondLst>
                                        </p:cTn>
                                        <p:tgtEl>
                                          <p:spTgt spid="751695"/>
                                        </p:tgtEl>
                                        <p:attrNameLst>
                                          <p:attrName>style.visibility</p:attrName>
                                        </p:attrNameLst>
                                      </p:cBhvr>
                                      <p:to>
                                        <p:strVal val="visible"/>
                                      </p:to>
                                    </p:set>
                                    <p:animEffect transition="in" filter="dissolve">
                                      <p:cBhvr>
                                        <p:cTn id="138" dur="500"/>
                                        <p:tgtEl>
                                          <p:spTgt spid="751695"/>
                                        </p:tgtEl>
                                      </p:cBhvr>
                                    </p:animEffect>
                                  </p:childTnLst>
                                </p:cTn>
                              </p:par>
                            </p:childTnLst>
                          </p:cTn>
                        </p:par>
                        <p:par>
                          <p:cTn id="139" fill="hold">
                            <p:stCondLst>
                              <p:cond delay="3000"/>
                            </p:stCondLst>
                            <p:childTnLst>
                              <p:par>
                                <p:cTn id="140" presetID="9" presetClass="entr" presetSubtype="0" fill="hold" nodeType="afterEffect">
                                  <p:stCondLst>
                                    <p:cond delay="0"/>
                                  </p:stCondLst>
                                  <p:childTnLst>
                                    <p:set>
                                      <p:cBhvr>
                                        <p:cTn id="141" dur="1" fill="hold">
                                          <p:stCondLst>
                                            <p:cond delay="0"/>
                                          </p:stCondLst>
                                        </p:cTn>
                                        <p:tgtEl>
                                          <p:spTgt spid="751696"/>
                                        </p:tgtEl>
                                        <p:attrNameLst>
                                          <p:attrName>style.visibility</p:attrName>
                                        </p:attrNameLst>
                                      </p:cBhvr>
                                      <p:to>
                                        <p:strVal val="visible"/>
                                      </p:to>
                                    </p:set>
                                    <p:animEffect transition="in" filter="dissolve">
                                      <p:cBhvr>
                                        <p:cTn id="142" dur="500"/>
                                        <p:tgtEl>
                                          <p:spTgt spid="751696"/>
                                        </p:tgtEl>
                                      </p:cBhvr>
                                    </p:animEffect>
                                  </p:childTnLst>
                                </p:cTn>
                              </p:par>
                            </p:childTnLst>
                          </p:cTn>
                        </p:par>
                        <p:par>
                          <p:cTn id="143" fill="hold">
                            <p:stCondLst>
                              <p:cond delay="3500"/>
                            </p:stCondLst>
                            <p:childTnLst>
                              <p:par>
                                <p:cTn id="144" presetID="9" presetClass="entr" presetSubtype="0" fill="hold" nodeType="afterEffect">
                                  <p:stCondLst>
                                    <p:cond delay="0"/>
                                  </p:stCondLst>
                                  <p:childTnLst>
                                    <p:set>
                                      <p:cBhvr>
                                        <p:cTn id="145" dur="1" fill="hold">
                                          <p:stCondLst>
                                            <p:cond delay="0"/>
                                          </p:stCondLst>
                                        </p:cTn>
                                        <p:tgtEl>
                                          <p:spTgt spid="751697"/>
                                        </p:tgtEl>
                                        <p:attrNameLst>
                                          <p:attrName>style.visibility</p:attrName>
                                        </p:attrNameLst>
                                      </p:cBhvr>
                                      <p:to>
                                        <p:strVal val="visible"/>
                                      </p:to>
                                    </p:set>
                                    <p:animEffect transition="in" filter="dissolve">
                                      <p:cBhvr>
                                        <p:cTn id="146" dur="500"/>
                                        <p:tgtEl>
                                          <p:spTgt spid="751697"/>
                                        </p:tgtEl>
                                      </p:cBhvr>
                                    </p:animEffect>
                                  </p:childTnLst>
                                </p:cTn>
                              </p:par>
                            </p:childTnLst>
                          </p:cTn>
                        </p:par>
                        <p:par>
                          <p:cTn id="147" fill="hold">
                            <p:stCondLst>
                              <p:cond delay="4000"/>
                            </p:stCondLst>
                            <p:childTnLst>
                              <p:par>
                                <p:cTn id="148" presetID="9" presetClass="entr" presetSubtype="0" fill="hold" nodeType="afterEffect">
                                  <p:stCondLst>
                                    <p:cond delay="0"/>
                                  </p:stCondLst>
                                  <p:childTnLst>
                                    <p:set>
                                      <p:cBhvr>
                                        <p:cTn id="149" dur="1" fill="hold">
                                          <p:stCondLst>
                                            <p:cond delay="0"/>
                                          </p:stCondLst>
                                        </p:cTn>
                                        <p:tgtEl>
                                          <p:spTgt spid="751698"/>
                                        </p:tgtEl>
                                        <p:attrNameLst>
                                          <p:attrName>style.visibility</p:attrName>
                                        </p:attrNameLst>
                                      </p:cBhvr>
                                      <p:to>
                                        <p:strVal val="visible"/>
                                      </p:to>
                                    </p:set>
                                    <p:animEffect transition="in" filter="dissolve">
                                      <p:cBhvr>
                                        <p:cTn id="150" dur="500"/>
                                        <p:tgtEl>
                                          <p:spTgt spid="751698"/>
                                        </p:tgtEl>
                                      </p:cBhvr>
                                    </p:animEffect>
                                  </p:childTnLst>
                                </p:cTn>
                              </p:par>
                            </p:childTnLst>
                          </p:cTn>
                        </p:par>
                        <p:par>
                          <p:cTn id="151" fill="hold">
                            <p:stCondLst>
                              <p:cond delay="4500"/>
                            </p:stCondLst>
                            <p:childTnLst>
                              <p:par>
                                <p:cTn id="152" presetID="9" presetClass="entr" presetSubtype="0" fill="hold" nodeType="afterEffect">
                                  <p:stCondLst>
                                    <p:cond delay="0"/>
                                  </p:stCondLst>
                                  <p:childTnLst>
                                    <p:set>
                                      <p:cBhvr>
                                        <p:cTn id="153" dur="1" fill="hold">
                                          <p:stCondLst>
                                            <p:cond delay="0"/>
                                          </p:stCondLst>
                                        </p:cTn>
                                        <p:tgtEl>
                                          <p:spTgt spid="751699"/>
                                        </p:tgtEl>
                                        <p:attrNameLst>
                                          <p:attrName>style.visibility</p:attrName>
                                        </p:attrNameLst>
                                      </p:cBhvr>
                                      <p:to>
                                        <p:strVal val="visible"/>
                                      </p:to>
                                    </p:set>
                                    <p:animEffect transition="in" filter="dissolve">
                                      <p:cBhvr>
                                        <p:cTn id="154" dur="500"/>
                                        <p:tgtEl>
                                          <p:spTgt spid="751699"/>
                                        </p:tgtEl>
                                      </p:cBhvr>
                                    </p:animEffect>
                                  </p:childTnLst>
                                </p:cTn>
                              </p:par>
                            </p:childTnLst>
                          </p:cTn>
                        </p:par>
                        <p:par>
                          <p:cTn id="155" fill="hold">
                            <p:stCondLst>
                              <p:cond delay="5000"/>
                            </p:stCondLst>
                            <p:childTnLst>
                              <p:par>
                                <p:cTn id="156" presetID="9" presetClass="entr" presetSubtype="0" fill="hold" nodeType="afterEffect">
                                  <p:stCondLst>
                                    <p:cond delay="0"/>
                                  </p:stCondLst>
                                  <p:childTnLst>
                                    <p:set>
                                      <p:cBhvr>
                                        <p:cTn id="157" dur="1" fill="hold">
                                          <p:stCondLst>
                                            <p:cond delay="0"/>
                                          </p:stCondLst>
                                        </p:cTn>
                                        <p:tgtEl>
                                          <p:spTgt spid="751700"/>
                                        </p:tgtEl>
                                        <p:attrNameLst>
                                          <p:attrName>style.visibility</p:attrName>
                                        </p:attrNameLst>
                                      </p:cBhvr>
                                      <p:to>
                                        <p:strVal val="visible"/>
                                      </p:to>
                                    </p:set>
                                    <p:animEffect transition="in" filter="dissolve">
                                      <p:cBhvr>
                                        <p:cTn id="158" dur="500"/>
                                        <p:tgtEl>
                                          <p:spTgt spid="751700"/>
                                        </p:tgtEl>
                                      </p:cBhvr>
                                    </p:animEffect>
                                  </p:childTnLst>
                                </p:cTn>
                              </p:par>
                            </p:childTnLst>
                          </p:cTn>
                        </p:par>
                        <p:par>
                          <p:cTn id="159" fill="hold">
                            <p:stCondLst>
                              <p:cond delay="5500"/>
                            </p:stCondLst>
                            <p:childTnLst>
                              <p:par>
                                <p:cTn id="160" presetID="9" presetClass="entr" presetSubtype="0" fill="hold" nodeType="afterEffect">
                                  <p:stCondLst>
                                    <p:cond delay="0"/>
                                  </p:stCondLst>
                                  <p:childTnLst>
                                    <p:set>
                                      <p:cBhvr>
                                        <p:cTn id="161" dur="1" fill="hold">
                                          <p:stCondLst>
                                            <p:cond delay="0"/>
                                          </p:stCondLst>
                                        </p:cTn>
                                        <p:tgtEl>
                                          <p:spTgt spid="751701"/>
                                        </p:tgtEl>
                                        <p:attrNameLst>
                                          <p:attrName>style.visibility</p:attrName>
                                        </p:attrNameLst>
                                      </p:cBhvr>
                                      <p:to>
                                        <p:strVal val="visible"/>
                                      </p:to>
                                    </p:set>
                                    <p:animEffect transition="in" filter="dissolve">
                                      <p:cBhvr>
                                        <p:cTn id="162" dur="500"/>
                                        <p:tgtEl>
                                          <p:spTgt spid="751701"/>
                                        </p:tgtEl>
                                      </p:cBhvr>
                                    </p:animEffect>
                                  </p:childTnLst>
                                </p:cTn>
                              </p:par>
                              <p:par>
                                <p:cTn id="163" presetID="22" presetClass="entr" presetSubtype="2" fill="hold" nodeType="withEffect">
                                  <p:stCondLst>
                                    <p:cond delay="0"/>
                                  </p:stCondLst>
                                  <p:childTnLst>
                                    <p:set>
                                      <p:cBhvr>
                                        <p:cTn id="164" dur="1" fill="hold">
                                          <p:stCondLst>
                                            <p:cond delay="0"/>
                                          </p:stCondLst>
                                        </p:cTn>
                                        <p:tgtEl>
                                          <p:spTgt spid="751703"/>
                                        </p:tgtEl>
                                        <p:attrNameLst>
                                          <p:attrName>style.visibility</p:attrName>
                                        </p:attrNameLst>
                                      </p:cBhvr>
                                      <p:to>
                                        <p:strVal val="visible"/>
                                      </p:to>
                                    </p:set>
                                    <p:animEffect transition="in" filter="wipe(right)">
                                      <p:cBhvr>
                                        <p:cTn id="165" dur="500"/>
                                        <p:tgtEl>
                                          <p:spTgt spid="751703"/>
                                        </p:tgtEl>
                                      </p:cBhvr>
                                    </p:animEffect>
                                  </p:childTnLst>
                                  <p:subTnLst>
                                    <p:audio>
                                      <p:cMediaNode>
                                        <p:cTn display="0" masterRel="sameClick">
                                          <p:stCondLst>
                                            <p:cond evt="begin" delay="0">
                                              <p:tn val="163"/>
                                            </p:cond>
                                          </p:stCondLst>
                                          <p:endCondLst>
                                            <p:cond evt="onStopAudio" delay="0">
                                              <p:tgtEl>
                                                <p:sldTgt/>
                                              </p:tgtEl>
                                            </p:cond>
                                          </p:endCondLst>
                                        </p:cTn>
                                        <p:tgtEl>
                                          <p:sndTgt r:embed="rId3" name="LASER.WAV"/>
                                        </p:tgtEl>
                                      </p:cMediaNode>
                                    </p:audio>
                                  </p:subTnLst>
                                </p:cTn>
                              </p:par>
                              <p:par>
                                <p:cTn id="166" presetID="9" presetClass="entr" presetSubtype="0" fill="hold" nodeType="withEffect">
                                  <p:stCondLst>
                                    <p:cond delay="0"/>
                                  </p:stCondLst>
                                  <p:childTnLst>
                                    <p:set>
                                      <p:cBhvr>
                                        <p:cTn id="167" dur="1" fill="hold">
                                          <p:stCondLst>
                                            <p:cond delay="0"/>
                                          </p:stCondLst>
                                        </p:cTn>
                                        <p:tgtEl>
                                          <p:spTgt spid="751702"/>
                                        </p:tgtEl>
                                        <p:attrNameLst>
                                          <p:attrName>style.visibility</p:attrName>
                                        </p:attrNameLst>
                                      </p:cBhvr>
                                      <p:to>
                                        <p:strVal val="visible"/>
                                      </p:to>
                                    </p:set>
                                    <p:animEffect transition="in" filter="dissolve">
                                      <p:cBhvr>
                                        <p:cTn id="168" dur="500"/>
                                        <p:tgtEl>
                                          <p:spTgt spid="751702"/>
                                        </p:tgtEl>
                                      </p:cBhvr>
                                    </p:animEffect>
                                  </p:childTnLst>
                                  <p:subTnLst>
                                    <p:audio>
                                      <p:cMediaNode>
                                        <p:cTn display="0" masterRel="sameClick">
                                          <p:stCondLst>
                                            <p:cond evt="begin" delay="0">
                                              <p:tn val="166"/>
                                            </p:cond>
                                          </p:stCondLst>
                                          <p:endCondLst>
                                            <p:cond evt="onStopAudio" delay="0">
                                              <p:tgtEl>
                                                <p:sldTgt/>
                                              </p:tgtEl>
                                            </p:cond>
                                          </p:endCondLst>
                                        </p:cTn>
                                        <p:tgtEl>
                                          <p:sndTgt r:embed="rId5" name="RICOCHET.WAV"/>
                                        </p:tgtEl>
                                      </p:cMediaNode>
                                    </p:audio>
                                  </p:subTnLst>
                                </p:cTn>
                              </p:par>
                            </p:childTnLst>
                          </p:cTn>
                        </p:par>
                        <p:par>
                          <p:cTn id="169" fill="hold">
                            <p:stCondLst>
                              <p:cond delay="6000"/>
                            </p:stCondLst>
                            <p:childTnLst>
                              <p:par>
                                <p:cTn id="170" presetID="22" presetClass="entr" presetSubtype="8" fill="hold" grpId="0" nodeType="afterEffect">
                                  <p:stCondLst>
                                    <p:cond delay="0"/>
                                  </p:stCondLst>
                                  <p:childTnLst>
                                    <p:set>
                                      <p:cBhvr>
                                        <p:cTn id="171" dur="1" fill="hold">
                                          <p:stCondLst>
                                            <p:cond delay="0"/>
                                          </p:stCondLst>
                                        </p:cTn>
                                        <p:tgtEl>
                                          <p:spTgt spid="751704"/>
                                        </p:tgtEl>
                                        <p:attrNameLst>
                                          <p:attrName>style.visibility</p:attrName>
                                        </p:attrNameLst>
                                      </p:cBhvr>
                                      <p:to>
                                        <p:strVal val="visible"/>
                                      </p:to>
                                    </p:set>
                                    <p:animEffect transition="in" filter="wipe(left)">
                                      <p:cBhvr>
                                        <p:cTn id="172" dur="500"/>
                                        <p:tgtEl>
                                          <p:spTgt spid="751704"/>
                                        </p:tgtEl>
                                      </p:cBhvr>
                                    </p:animEffect>
                                  </p:childTnLst>
                                </p:cTn>
                              </p:par>
                            </p:childTnLst>
                          </p:cTn>
                        </p:par>
                      </p:childTnLst>
                    </p:cTn>
                  </p:par>
                  <p:par>
                    <p:cTn id="173" fill="hold">
                      <p:stCondLst>
                        <p:cond delay="indefinite"/>
                      </p:stCondLst>
                      <p:childTnLst>
                        <p:par>
                          <p:cTn id="174" fill="hold">
                            <p:stCondLst>
                              <p:cond delay="0"/>
                            </p:stCondLst>
                            <p:childTnLst>
                              <p:par>
                                <p:cTn id="175" presetID="23" presetClass="entr" presetSubtype="16" fill="hold" nodeType="clickEffect">
                                  <p:stCondLst>
                                    <p:cond delay="0"/>
                                  </p:stCondLst>
                                  <p:childTnLst>
                                    <p:set>
                                      <p:cBhvr>
                                        <p:cTn id="176" dur="1" fill="hold">
                                          <p:stCondLst>
                                            <p:cond delay="0"/>
                                          </p:stCondLst>
                                        </p:cTn>
                                        <p:tgtEl>
                                          <p:spTgt spid="17"/>
                                        </p:tgtEl>
                                        <p:attrNameLst>
                                          <p:attrName>style.visibility</p:attrName>
                                        </p:attrNameLst>
                                      </p:cBhvr>
                                      <p:to>
                                        <p:strVal val="visible"/>
                                      </p:to>
                                    </p:set>
                                    <p:anim calcmode="lin" valueType="num">
                                      <p:cBhvr>
                                        <p:cTn id="177" dur="500" fill="hold"/>
                                        <p:tgtEl>
                                          <p:spTgt spid="17"/>
                                        </p:tgtEl>
                                        <p:attrNameLst>
                                          <p:attrName>ppt_w</p:attrName>
                                        </p:attrNameLst>
                                      </p:cBhvr>
                                      <p:tavLst>
                                        <p:tav tm="0">
                                          <p:val>
                                            <p:fltVal val="0"/>
                                          </p:val>
                                        </p:tav>
                                        <p:tav tm="100000">
                                          <p:val>
                                            <p:strVal val="#ppt_w"/>
                                          </p:val>
                                        </p:tav>
                                      </p:tavLst>
                                    </p:anim>
                                    <p:anim calcmode="lin" valueType="num">
                                      <p:cBhvr>
                                        <p:cTn id="178" dur="500" fill="hold"/>
                                        <p:tgtEl>
                                          <p:spTgt spid="1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5"/>
                                            </p:cond>
                                          </p:stCondLst>
                                          <p:endCondLst>
                                            <p:cond evt="onStopAudio" delay="0">
                                              <p:tgtEl>
                                                <p:sldTgt/>
                                              </p:tgtEl>
                                            </p:cond>
                                          </p:endCondLst>
                                        </p:cTn>
                                        <p:tgtEl>
                                          <p:sndTgt r:embed="rId4" name="Ayako Too bad.wav"/>
                                        </p:tgtEl>
                                      </p:cMediaNode>
                                    </p:audio>
                                  </p:subTnLst>
                                </p:cTn>
                              </p:par>
                              <p:par>
                                <p:cTn id="179" presetID="1" presetClass="entr" presetSubtype="0" fill="hold" grpId="0" nodeType="withEffect">
                                  <p:stCondLst>
                                    <p:cond delay="0"/>
                                  </p:stCondLst>
                                  <p:childTnLst>
                                    <p:set>
                                      <p:cBhvr>
                                        <p:cTn id="180" dur="1" fill="hold">
                                          <p:stCondLst>
                                            <p:cond delay="0"/>
                                          </p:stCondLst>
                                        </p:cTn>
                                        <p:tgtEl>
                                          <p:spTgt spid="26"/>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66"/>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27"/>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21" grpId="0" uiExpand="1" build="p"/>
      <p:bldP spid="751622" grpId="0"/>
      <p:bldP spid="751704" grpId="0"/>
      <p:bldP spid="751709" grpId="0" animBg="1"/>
      <p:bldP spid="751711" grpId="0"/>
      <p:bldP spid="751712" grpId="0" animBg="1"/>
      <p:bldP spid="751713" grpId="0" animBg="1"/>
      <p:bldP spid="751714" grpId="0" animBg="1"/>
      <p:bldP spid="751715" grpId="0" animBg="1"/>
      <p:bldP spid="751716" grpId="0" animBg="1"/>
      <p:bldP spid="751717" grpId="0" animBg="1"/>
      <p:bldP spid="751718" grpId="0" animBg="1"/>
      <p:bldP spid="751719" grpId="0" animBg="1"/>
      <p:bldP spid="751720" grpId="0" animBg="1"/>
      <p:bldP spid="751721" grpId="0" animBg="1"/>
      <p:bldP spid="751722" grpId="0" animBg="1"/>
      <p:bldP spid="751723" grpId="0" animBg="1"/>
      <p:bldP spid="751730" grpId="0"/>
      <p:bldP spid="22" grpId="0"/>
      <p:bldP spid="23" grpId="0"/>
      <p:bldP spid="24" grpId="0"/>
      <p:bldP spid="25" grpId="0"/>
      <p:bldP spid="26" grpId="0"/>
      <p:bldP spid="166" grpId="0"/>
      <p:bldP spid="27" grpId="0"/>
      <p:bldP spid="135" grpId="0"/>
      <p:bldP spid="13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p:sp>
        <p:nvSpPr>
          <p:cNvPr id="21" name="矩形 20"/>
          <p:cNvSpPr>
            <a:spLocks noGrp="1"/>
          </p:cNvSpPr>
          <p:nvPr/>
        </p:nvSpPr>
        <p:spPr>
          <a:xfrm>
            <a:off x="675640" y="1118235"/>
            <a:ext cx="10759440"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1800" b="0" i="0">
                <a:solidFill>
                  <a:srgbClr val="5D6E7B"/>
                </a:solidFill>
                <a:latin typeface="微软雅黑" panose="020B0503020204020204" pitchFamily="34" charset="-122"/>
                <a:ea typeface="微软雅黑" panose="020B0503020204020204" pitchFamily="34" charset="-122"/>
                <a:cs typeface="DejaVu Sans"/>
              </a:rPr>
              <a:t>The figure shows a cam mechanism with oscillating roller follower. </a:t>
            </a:r>
            <a:r>
              <a:rPr sz="1800" b="0" i="0">
                <a:solidFill>
                  <a:srgbClr val="5D6E7B"/>
                </a:solidFill>
                <a:latin typeface="微软雅黑" panose="020B0503020204020204" pitchFamily="34" charset="-122"/>
                <a:ea typeface="微软雅黑" panose="020B0503020204020204" pitchFamily="34" charset="-122"/>
                <a:cs typeface="DejaVu Sans"/>
              </a:rPr>
              <a:t>Cam 1 is an eccentric circular disk of radius R, centered at G. Follower 2 oscillates about A and carries a roller at B.</a:t>
            </a:r>
            <a:endParaRPr sz="1800" b="0" i="0">
              <a:solidFill>
                <a:srgbClr val="5D6E7B"/>
              </a:solidFill>
              <a:latin typeface="微软雅黑" panose="020B0503020204020204" pitchFamily="34" charset="-122"/>
              <a:ea typeface="微软雅黑" panose="020B0503020204020204" pitchFamily="34" charset="-122"/>
              <a:cs typeface="DejaVu Sans"/>
            </a:endParaRPr>
          </a:p>
        </p:txBody>
      </p:sp>
      <p:sp>
        <p:nvSpPr>
          <p:cNvPr id="6" name="矩形 5"/>
          <p:cNvSpPr>
            <a:spLocks noGrp="1"/>
          </p:cNvSpPr>
          <p:nvPr/>
        </p:nvSpPr>
        <p:spPr>
          <a:xfrm>
            <a:off x="609600" y="2337435"/>
            <a:ext cx="923290" cy="304800"/>
          </a:xfrm>
          <a:prstGeom prst="rect">
            <a:avLst/>
          </a:prstGeom>
          <a:noFill/>
          <a:ln w="0">
            <a:noFill/>
          </a:ln>
        </p:spPr>
        <p:txBody>
          <a:bodyPr anchor="ctr">
            <a:noAutofit/>
          </a:bodyPr>
          <a:lstStyle/>
          <a:p>
            <a:pPr algn="l">
              <a:defRPr sz="1275" b="1" i="0">
                <a:solidFill>
                  <a:srgbClr val="167C80"/>
                </a:solidFill>
                <a:latin typeface="DejaVu Sans"/>
                <a:ea typeface="DejaVu Sans"/>
                <a:cs typeface="DejaVu Sans"/>
              </a:defRPr>
            </a:pPr>
            <a:r>
              <a:rPr sz="1800" b="1" i="0">
                <a:solidFill>
                  <a:srgbClr val="167C80"/>
                </a:solidFill>
                <a:latin typeface="微软雅黑" panose="020B0503020204020204" pitchFamily="34" charset="-122"/>
                <a:ea typeface="微软雅黑" panose="020B0503020204020204" pitchFamily="34" charset="-122"/>
                <a:cs typeface="DejaVu Sans"/>
              </a:rPr>
              <a:t>Given</a:t>
            </a:r>
            <a:endParaRPr sz="1800" b="1" i="0">
              <a:solidFill>
                <a:srgbClr val="167C80"/>
              </a:solidFill>
              <a:latin typeface="微软雅黑" panose="020B0503020204020204" pitchFamily="34" charset="-122"/>
              <a:ea typeface="微软雅黑" panose="020B0503020204020204" pitchFamily="34" charset="-122"/>
              <a:cs typeface="DejaVu Sans"/>
            </a:endParaRPr>
          </a:p>
        </p:txBody>
      </p:sp>
      <p:sp>
        <p:nvSpPr>
          <p:cNvPr id="7" name="矩形 6"/>
          <p:cNvSpPr>
            <a:spLocks noGrp="1"/>
          </p:cNvSpPr>
          <p:nvPr/>
        </p:nvSpPr>
        <p:spPr>
          <a:xfrm>
            <a:off x="1371600" y="2261235"/>
            <a:ext cx="5459095" cy="304800"/>
          </a:xfrm>
          <a:prstGeom prst="rect">
            <a:avLst/>
          </a:prstGeom>
          <a:noFill/>
          <a:ln w="0">
            <a:noFill/>
          </a:ln>
        </p:spPr>
        <p:txBody>
          <a:bodyPr anchor="ctr">
            <a:noAutofit/>
          </a:bodyPr>
          <a:lstStyle/>
          <a:p>
            <a:pPr algn="l">
              <a:defRPr sz="135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R = 25 mm     OG = 10 mm     OA = 50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8" name="矩形 7"/>
          <p:cNvSpPr>
            <a:spLocks noGrp="1"/>
          </p:cNvSpPr>
          <p:nvPr/>
        </p:nvSpPr>
        <p:spPr>
          <a:xfrm>
            <a:off x="1371600" y="2546985"/>
            <a:ext cx="5459095" cy="304800"/>
          </a:xfrm>
          <a:prstGeom prst="rect">
            <a:avLst/>
          </a:prstGeom>
          <a:noFill/>
          <a:ln w="0">
            <a:noFill/>
          </a:ln>
        </p:spPr>
        <p:txBody>
          <a:bodyPr anchor="ctr">
            <a:noAutofit/>
          </a:bodyPr>
          <a:lstStyle/>
          <a:p>
            <a:pPr algn="l">
              <a:defRPr sz="135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AB = 40 mm     roller radius r</a:t>
            </a:r>
            <a:r>
              <a:rPr sz="1800" b="1" i="0" baseline="-25000">
                <a:solidFill>
                  <a:srgbClr val="17324D"/>
                </a:solidFill>
                <a:latin typeface="微软雅黑" panose="020B0503020204020204" pitchFamily="34" charset="-122"/>
                <a:ea typeface="微软雅黑" panose="020B0503020204020204" pitchFamily="34" charset="-122"/>
                <a:cs typeface="DejaVu Sans"/>
              </a:rPr>
              <a:t>T</a:t>
            </a:r>
            <a:r>
              <a:rPr sz="1800" b="1" i="0">
                <a:solidFill>
                  <a:srgbClr val="17324D"/>
                </a:solidFill>
                <a:latin typeface="微软雅黑" panose="020B0503020204020204" pitchFamily="34" charset="-122"/>
                <a:ea typeface="微软雅黑" panose="020B0503020204020204" pitchFamily="34" charset="-122"/>
                <a:cs typeface="DejaVu Sans"/>
              </a:rPr>
              <a:t> = 5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9" name="椭圆 8"/>
          <p:cNvSpPr>
            <a:spLocks noGrp="1"/>
          </p:cNvSpPr>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1" name="矩形 10"/>
          <p:cNvSpPr>
            <a:spLocks noGrp="1"/>
          </p:cNvSpPr>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Choose a suitable scale. Draw the configuration when angle AOG equals 30°.</a:t>
            </a:r>
            <a:endPar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椭圆 11"/>
          <p:cNvSpPr>
            <a:spLocks noGrp="1"/>
          </p:cNvSpPr>
          <p:nvPr/>
        </p:nvSpPr>
        <p:spPr>
          <a:xfrm>
            <a:off x="676275" y="3737610"/>
            <a:ext cx="314325" cy="285750"/>
          </a:xfrm>
          <a:prstGeom prst="ellipse">
            <a:avLst/>
          </a:prstGeom>
          <a:solidFill>
            <a:srgbClr val="167C80"/>
          </a:solidFill>
          <a:ln w="0">
            <a:solidFill>
              <a:srgbClr val="167C80"/>
            </a:solidFill>
            <a:prstDash val="solid"/>
          </a:ln>
        </p:spPr>
      </p:sp>
      <p:sp>
        <p:nvSpPr>
          <p:cNvPr id="13" name="矩形 12"/>
          <p:cNvSpPr>
            <a:spLocks noGrp="1"/>
          </p:cNvSpPr>
          <p:nvPr/>
        </p:nvSpPr>
        <p:spPr>
          <a:xfrm>
            <a:off x="695325" y="37090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4" name="矩形 13"/>
          <p:cNvSpPr>
            <a:spLocks noGrp="1"/>
          </p:cNvSpPr>
          <p:nvPr/>
        </p:nvSpPr>
        <p:spPr>
          <a:xfrm>
            <a:off x="1104900" y="364236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Draw the cam base circle and label its radius r₀.</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5" name="椭圆 14"/>
          <p:cNvSpPr>
            <a:spLocks noGrp="1"/>
          </p:cNvSpPr>
          <p:nvPr/>
        </p:nvSpPr>
        <p:spPr>
          <a:xfrm>
            <a:off x="676275" y="4328160"/>
            <a:ext cx="314325" cy="285750"/>
          </a:xfrm>
          <a:prstGeom prst="ellipse">
            <a:avLst/>
          </a:prstGeom>
          <a:solidFill>
            <a:srgbClr val="167C80"/>
          </a:solidFill>
          <a:ln w="0">
            <a:solidFill>
              <a:srgbClr val="167C80"/>
            </a:solidFill>
            <a:prstDash val="solid"/>
          </a:ln>
        </p:spPr>
      </p:sp>
      <p:sp>
        <p:nvSpPr>
          <p:cNvPr id="16" name="矩形 15"/>
          <p:cNvSpPr>
            <a:spLocks noGrp="1"/>
          </p:cNvSpPr>
          <p:nvPr/>
        </p:nvSpPr>
        <p:spPr>
          <a:xfrm>
            <a:off x="695325" y="42995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3</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7" name="矩形 16"/>
          <p:cNvSpPr>
            <a:spLocks noGrp="1"/>
          </p:cNvSpPr>
          <p:nvPr/>
        </p:nvSpPr>
        <p:spPr>
          <a:xfrm>
            <a:off x="1104900" y="42329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rise angle Φ and the return angle Φ′.</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8" name="椭圆 17"/>
          <p:cNvSpPr>
            <a:spLocks noGrp="1"/>
          </p:cNvSpPr>
          <p:nvPr/>
        </p:nvSpPr>
        <p:spPr>
          <a:xfrm>
            <a:off x="676275" y="4918710"/>
            <a:ext cx="314325" cy="285750"/>
          </a:xfrm>
          <a:prstGeom prst="ellipse">
            <a:avLst/>
          </a:prstGeom>
          <a:solidFill>
            <a:srgbClr val="167C80"/>
          </a:solidFill>
          <a:ln w="0">
            <a:solidFill>
              <a:srgbClr val="167C80"/>
            </a:solidFill>
            <a:prstDash val="solid"/>
          </a:ln>
        </p:spPr>
      </p:sp>
      <p:sp>
        <p:nvSpPr>
          <p:cNvPr id="19" name="矩形 18"/>
          <p:cNvSpPr>
            <a:spLocks noGrp="1"/>
          </p:cNvSpPr>
          <p:nvPr/>
        </p:nvSpPr>
        <p:spPr>
          <a:xfrm>
            <a:off x="695325" y="48901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4</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20" name="矩形 19"/>
          <p:cNvSpPr>
            <a:spLocks noGrp="1"/>
          </p:cNvSpPr>
          <p:nvPr/>
        </p:nvSpPr>
        <p:spPr>
          <a:xfrm>
            <a:off x="1104900" y="482346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pressure angle α of follower 2 at the position shown.</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pic>
        <p:nvPicPr>
          <p:cNvPr id="22" name="图片 21"/>
          <p:cNvPicPr>
            <a:picLocks noChangeAspect="1"/>
          </p:cNvPicPr>
          <p:nvPr/>
        </p:nvPicPr>
        <p:blipFill>
          <a:blip r:embed="rId1"/>
          <a:stretch>
            <a:fillRect/>
          </a:stretch>
        </p:blipFill>
        <p:spPr>
          <a:xfrm>
            <a:off x="6972300" y="2434590"/>
            <a:ext cx="4616450" cy="3194050"/>
          </a:xfrm>
          <a:prstGeom prst="rect">
            <a:avLst/>
          </a:prstGeom>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p:sp>
        <p:nvSpPr>
          <p:cNvPr id="21" name="矩形 20"/>
          <p:cNvSpPr>
            <a:spLocks noGrp="1"/>
          </p:cNvSpPr>
          <p:nvPr/>
        </p:nvSpPr>
        <p:spPr>
          <a:xfrm>
            <a:off x="675640" y="1118235"/>
            <a:ext cx="10759440"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1800" b="0" i="0">
                <a:solidFill>
                  <a:srgbClr val="5D6E7B"/>
                </a:solidFill>
                <a:latin typeface="微软雅黑" panose="020B0503020204020204" pitchFamily="34" charset="-122"/>
                <a:ea typeface="微软雅黑" panose="020B0503020204020204" pitchFamily="34" charset="-122"/>
                <a:cs typeface="DejaVu Sans"/>
              </a:rPr>
              <a:t>The figure shows a cam mechanism with oscillating roller follower. </a:t>
            </a:r>
            <a:r>
              <a:rPr sz="1800" b="0" i="0">
                <a:solidFill>
                  <a:srgbClr val="5D6E7B"/>
                </a:solidFill>
                <a:latin typeface="微软雅黑" panose="020B0503020204020204" pitchFamily="34" charset="-122"/>
                <a:ea typeface="微软雅黑" panose="020B0503020204020204" pitchFamily="34" charset="-122"/>
                <a:cs typeface="DejaVu Sans"/>
              </a:rPr>
              <a:t>Cam 1 is an eccentric circular disk of radius R, centered at G. Follower 2 oscillates about A and carries a roller at B.</a:t>
            </a:r>
            <a:endParaRPr sz="1800" b="0" i="0">
              <a:solidFill>
                <a:srgbClr val="5D6E7B"/>
              </a:solidFill>
              <a:latin typeface="微软雅黑" panose="020B0503020204020204" pitchFamily="34" charset="-122"/>
              <a:ea typeface="微软雅黑" panose="020B0503020204020204" pitchFamily="34" charset="-122"/>
              <a:cs typeface="DejaVu Sans"/>
            </a:endParaRPr>
          </a:p>
        </p:txBody>
      </p:sp>
      <p:sp>
        <p:nvSpPr>
          <p:cNvPr id="6" name="矩形 5"/>
          <p:cNvSpPr>
            <a:spLocks noGrp="1"/>
          </p:cNvSpPr>
          <p:nvPr/>
        </p:nvSpPr>
        <p:spPr>
          <a:xfrm>
            <a:off x="609600" y="2337435"/>
            <a:ext cx="923290" cy="304800"/>
          </a:xfrm>
          <a:prstGeom prst="rect">
            <a:avLst/>
          </a:prstGeom>
          <a:noFill/>
          <a:ln w="0">
            <a:noFill/>
          </a:ln>
        </p:spPr>
        <p:txBody>
          <a:bodyPr anchor="ctr">
            <a:noAutofit/>
          </a:bodyPr>
          <a:lstStyle/>
          <a:p>
            <a:pPr algn="l">
              <a:defRPr sz="1275" b="1" i="0">
                <a:solidFill>
                  <a:srgbClr val="167C80"/>
                </a:solidFill>
                <a:latin typeface="DejaVu Sans"/>
                <a:ea typeface="DejaVu Sans"/>
                <a:cs typeface="DejaVu Sans"/>
              </a:defRPr>
            </a:pPr>
            <a:r>
              <a:rPr sz="1800" b="1" i="0">
                <a:solidFill>
                  <a:srgbClr val="167C80"/>
                </a:solidFill>
                <a:latin typeface="微软雅黑" panose="020B0503020204020204" pitchFamily="34" charset="-122"/>
                <a:ea typeface="微软雅黑" panose="020B0503020204020204" pitchFamily="34" charset="-122"/>
                <a:cs typeface="DejaVu Sans"/>
              </a:rPr>
              <a:t>Given</a:t>
            </a:r>
            <a:endParaRPr sz="1800" b="1" i="0">
              <a:solidFill>
                <a:srgbClr val="167C80"/>
              </a:solidFill>
              <a:latin typeface="微软雅黑" panose="020B0503020204020204" pitchFamily="34" charset="-122"/>
              <a:ea typeface="微软雅黑" panose="020B0503020204020204" pitchFamily="34" charset="-122"/>
              <a:cs typeface="DejaVu Sans"/>
            </a:endParaRPr>
          </a:p>
        </p:txBody>
      </p:sp>
      <p:sp>
        <p:nvSpPr>
          <p:cNvPr id="7" name="矩形 6"/>
          <p:cNvSpPr>
            <a:spLocks noGrp="1"/>
          </p:cNvSpPr>
          <p:nvPr/>
        </p:nvSpPr>
        <p:spPr>
          <a:xfrm>
            <a:off x="1371600" y="2261235"/>
            <a:ext cx="5459095" cy="304800"/>
          </a:xfrm>
          <a:prstGeom prst="rect">
            <a:avLst/>
          </a:prstGeom>
          <a:noFill/>
          <a:ln w="0">
            <a:noFill/>
          </a:ln>
        </p:spPr>
        <p:txBody>
          <a:bodyPr anchor="ctr">
            <a:noAutofit/>
          </a:bodyPr>
          <a:lstStyle/>
          <a:p>
            <a:pPr algn="l">
              <a:defRPr sz="135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R = 25 mm     OG = 10 mm     OA = 50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8" name="矩形 7"/>
          <p:cNvSpPr>
            <a:spLocks noGrp="1"/>
          </p:cNvSpPr>
          <p:nvPr/>
        </p:nvSpPr>
        <p:spPr>
          <a:xfrm>
            <a:off x="1371600" y="2546985"/>
            <a:ext cx="5459095" cy="304800"/>
          </a:xfrm>
          <a:prstGeom prst="rect">
            <a:avLst/>
          </a:prstGeom>
          <a:noFill/>
          <a:ln w="0">
            <a:noFill/>
          </a:ln>
        </p:spPr>
        <p:txBody>
          <a:bodyPr anchor="ctr">
            <a:noAutofit/>
          </a:bodyPr>
          <a:lstStyle/>
          <a:p>
            <a:pPr algn="l">
              <a:defRPr sz="135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AB = 40 mm     roller radius r</a:t>
            </a:r>
            <a:r>
              <a:rPr sz="1800" b="1" i="0" baseline="-25000">
                <a:solidFill>
                  <a:srgbClr val="17324D"/>
                </a:solidFill>
                <a:latin typeface="微软雅黑" panose="020B0503020204020204" pitchFamily="34" charset="-122"/>
                <a:ea typeface="微软雅黑" panose="020B0503020204020204" pitchFamily="34" charset="-122"/>
                <a:cs typeface="DejaVu Sans"/>
              </a:rPr>
              <a:t>T</a:t>
            </a:r>
            <a:r>
              <a:rPr sz="1800" b="1" i="0">
                <a:solidFill>
                  <a:srgbClr val="17324D"/>
                </a:solidFill>
                <a:latin typeface="微软雅黑" panose="020B0503020204020204" pitchFamily="34" charset="-122"/>
                <a:ea typeface="微软雅黑" panose="020B0503020204020204" pitchFamily="34" charset="-122"/>
                <a:cs typeface="DejaVu Sans"/>
              </a:rPr>
              <a:t> = 5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9" name="椭圆 8"/>
          <p:cNvSpPr>
            <a:spLocks noGrp="1"/>
          </p:cNvSpPr>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1" name="矩形 10"/>
          <p:cNvSpPr>
            <a:spLocks noGrp="1"/>
          </p:cNvSpPr>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Choose a suitable scale. Draw the configuration when angle AOG equals 30°.</a:t>
            </a:r>
            <a:endPar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椭圆 11"/>
          <p:cNvSpPr>
            <a:spLocks noGrp="1"/>
          </p:cNvSpPr>
          <p:nvPr/>
        </p:nvSpPr>
        <p:spPr>
          <a:xfrm>
            <a:off x="676275" y="3737610"/>
            <a:ext cx="314325" cy="285750"/>
          </a:xfrm>
          <a:prstGeom prst="ellipse">
            <a:avLst/>
          </a:prstGeom>
          <a:solidFill>
            <a:srgbClr val="167C80"/>
          </a:solidFill>
          <a:ln w="0">
            <a:solidFill>
              <a:srgbClr val="167C80"/>
            </a:solidFill>
            <a:prstDash val="solid"/>
          </a:ln>
        </p:spPr>
      </p:sp>
      <p:sp>
        <p:nvSpPr>
          <p:cNvPr id="13" name="矩形 12"/>
          <p:cNvSpPr>
            <a:spLocks noGrp="1"/>
          </p:cNvSpPr>
          <p:nvPr/>
        </p:nvSpPr>
        <p:spPr>
          <a:xfrm>
            <a:off x="695325" y="37090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4" name="矩形 13"/>
          <p:cNvSpPr>
            <a:spLocks noGrp="1"/>
          </p:cNvSpPr>
          <p:nvPr/>
        </p:nvSpPr>
        <p:spPr>
          <a:xfrm>
            <a:off x="1104900" y="364236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Draw the cam base circle and label its radius r₀.</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5" name="椭圆 14"/>
          <p:cNvSpPr>
            <a:spLocks noGrp="1"/>
          </p:cNvSpPr>
          <p:nvPr/>
        </p:nvSpPr>
        <p:spPr>
          <a:xfrm>
            <a:off x="676275" y="4328160"/>
            <a:ext cx="314325" cy="285750"/>
          </a:xfrm>
          <a:prstGeom prst="ellipse">
            <a:avLst/>
          </a:prstGeom>
          <a:solidFill>
            <a:srgbClr val="167C80"/>
          </a:solidFill>
          <a:ln w="0">
            <a:solidFill>
              <a:srgbClr val="167C80"/>
            </a:solidFill>
            <a:prstDash val="solid"/>
          </a:ln>
        </p:spPr>
      </p:sp>
      <p:sp>
        <p:nvSpPr>
          <p:cNvPr id="16" name="矩形 15"/>
          <p:cNvSpPr>
            <a:spLocks noGrp="1"/>
          </p:cNvSpPr>
          <p:nvPr/>
        </p:nvSpPr>
        <p:spPr>
          <a:xfrm>
            <a:off x="695325" y="42995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3</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7" name="矩形 16"/>
          <p:cNvSpPr>
            <a:spLocks noGrp="1"/>
          </p:cNvSpPr>
          <p:nvPr/>
        </p:nvSpPr>
        <p:spPr>
          <a:xfrm>
            <a:off x="1104900" y="42329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rise angle Φ and the return angle Φ′.</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8" name="椭圆 17"/>
          <p:cNvSpPr>
            <a:spLocks noGrp="1"/>
          </p:cNvSpPr>
          <p:nvPr/>
        </p:nvSpPr>
        <p:spPr>
          <a:xfrm>
            <a:off x="676275" y="4918710"/>
            <a:ext cx="314325" cy="285750"/>
          </a:xfrm>
          <a:prstGeom prst="ellipse">
            <a:avLst/>
          </a:prstGeom>
          <a:solidFill>
            <a:srgbClr val="167C80"/>
          </a:solidFill>
          <a:ln w="0">
            <a:solidFill>
              <a:srgbClr val="167C80"/>
            </a:solidFill>
            <a:prstDash val="solid"/>
          </a:ln>
        </p:spPr>
      </p:sp>
      <p:sp>
        <p:nvSpPr>
          <p:cNvPr id="19" name="矩形 18"/>
          <p:cNvSpPr>
            <a:spLocks noGrp="1"/>
          </p:cNvSpPr>
          <p:nvPr/>
        </p:nvSpPr>
        <p:spPr>
          <a:xfrm>
            <a:off x="695325" y="48901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4</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20" name="矩形 19"/>
          <p:cNvSpPr>
            <a:spLocks noGrp="1"/>
          </p:cNvSpPr>
          <p:nvPr/>
        </p:nvSpPr>
        <p:spPr>
          <a:xfrm>
            <a:off x="1104900" y="482346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pressure angle α of follower 2 at the position shown.</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pic>
        <p:nvPicPr>
          <p:cNvPr id="2" name="图片 1"/>
          <p:cNvPicPr>
            <a:picLocks noChangeAspect="1"/>
          </p:cNvPicPr>
          <p:nvPr/>
        </p:nvPicPr>
        <p:blipFill>
          <a:blip r:embed="rId1"/>
          <a:stretch>
            <a:fillRect/>
          </a:stretch>
        </p:blipFill>
        <p:spPr>
          <a:xfrm>
            <a:off x="6708140" y="2201545"/>
            <a:ext cx="5003800" cy="3605530"/>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p:sp>
        <p:nvSpPr>
          <p:cNvPr id="21" name="矩形 20"/>
          <p:cNvSpPr>
            <a:spLocks noGrp="1"/>
          </p:cNvSpPr>
          <p:nvPr/>
        </p:nvSpPr>
        <p:spPr>
          <a:xfrm>
            <a:off x="675640" y="1118235"/>
            <a:ext cx="10759440"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1800" b="0" i="0">
                <a:solidFill>
                  <a:srgbClr val="5D6E7B"/>
                </a:solidFill>
                <a:latin typeface="微软雅黑" panose="020B0503020204020204" pitchFamily="34" charset="-122"/>
                <a:ea typeface="微软雅黑" panose="020B0503020204020204" pitchFamily="34" charset="-122"/>
                <a:cs typeface="DejaVu Sans"/>
              </a:rPr>
              <a:t>The figure shows a cam mechanism with oscillating roller follower. </a:t>
            </a:r>
            <a:r>
              <a:rPr sz="1800" b="0" i="0">
                <a:solidFill>
                  <a:srgbClr val="5D6E7B"/>
                </a:solidFill>
                <a:latin typeface="微软雅黑" panose="020B0503020204020204" pitchFamily="34" charset="-122"/>
                <a:ea typeface="微软雅黑" panose="020B0503020204020204" pitchFamily="34" charset="-122"/>
                <a:cs typeface="DejaVu Sans"/>
              </a:rPr>
              <a:t>Cam 1 is an eccentric circular disk of radius R, centered at G. Follower 2 oscillates about A and carries a roller at B.</a:t>
            </a:r>
            <a:endParaRPr sz="1800" b="0" i="0">
              <a:solidFill>
                <a:srgbClr val="5D6E7B"/>
              </a:solidFill>
              <a:latin typeface="微软雅黑" panose="020B0503020204020204" pitchFamily="34" charset="-122"/>
              <a:ea typeface="微软雅黑" panose="020B0503020204020204" pitchFamily="34" charset="-122"/>
              <a:cs typeface="DejaVu Sans"/>
            </a:endParaRPr>
          </a:p>
        </p:txBody>
      </p:sp>
      <p:sp>
        <p:nvSpPr>
          <p:cNvPr id="6" name="矩形 5"/>
          <p:cNvSpPr>
            <a:spLocks noGrp="1"/>
          </p:cNvSpPr>
          <p:nvPr/>
        </p:nvSpPr>
        <p:spPr>
          <a:xfrm>
            <a:off x="609600" y="2337435"/>
            <a:ext cx="923290" cy="304800"/>
          </a:xfrm>
          <a:prstGeom prst="rect">
            <a:avLst/>
          </a:prstGeom>
          <a:noFill/>
          <a:ln w="0">
            <a:noFill/>
          </a:ln>
        </p:spPr>
        <p:txBody>
          <a:bodyPr anchor="ctr">
            <a:noAutofit/>
          </a:bodyPr>
          <a:lstStyle/>
          <a:p>
            <a:pPr algn="l">
              <a:defRPr sz="1275" b="1" i="0">
                <a:solidFill>
                  <a:srgbClr val="167C80"/>
                </a:solidFill>
                <a:latin typeface="DejaVu Sans"/>
                <a:ea typeface="DejaVu Sans"/>
                <a:cs typeface="DejaVu Sans"/>
              </a:defRPr>
            </a:pPr>
            <a:r>
              <a:rPr sz="1800" b="1" i="0">
                <a:solidFill>
                  <a:srgbClr val="167C80"/>
                </a:solidFill>
                <a:latin typeface="微软雅黑" panose="020B0503020204020204" pitchFamily="34" charset="-122"/>
                <a:ea typeface="微软雅黑" panose="020B0503020204020204" pitchFamily="34" charset="-122"/>
                <a:cs typeface="DejaVu Sans"/>
              </a:rPr>
              <a:t>Given</a:t>
            </a:r>
            <a:endParaRPr sz="1800" b="1" i="0">
              <a:solidFill>
                <a:srgbClr val="167C80"/>
              </a:solidFill>
              <a:latin typeface="微软雅黑" panose="020B0503020204020204" pitchFamily="34" charset="-122"/>
              <a:ea typeface="微软雅黑" panose="020B0503020204020204" pitchFamily="34" charset="-122"/>
              <a:cs typeface="DejaVu Sans"/>
            </a:endParaRPr>
          </a:p>
        </p:txBody>
      </p:sp>
      <p:sp>
        <p:nvSpPr>
          <p:cNvPr id="7" name="矩形 6"/>
          <p:cNvSpPr>
            <a:spLocks noGrp="1"/>
          </p:cNvSpPr>
          <p:nvPr/>
        </p:nvSpPr>
        <p:spPr>
          <a:xfrm>
            <a:off x="1371600" y="2261235"/>
            <a:ext cx="5459095" cy="304800"/>
          </a:xfrm>
          <a:prstGeom prst="rect">
            <a:avLst/>
          </a:prstGeom>
          <a:noFill/>
          <a:ln w="0">
            <a:noFill/>
          </a:ln>
        </p:spPr>
        <p:txBody>
          <a:bodyPr anchor="ctr">
            <a:noAutofit/>
          </a:bodyPr>
          <a:lstStyle/>
          <a:p>
            <a:pPr algn="l">
              <a:defRPr sz="135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R = 25 mm     OG = 10 mm     OA = 50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8" name="矩形 7"/>
          <p:cNvSpPr>
            <a:spLocks noGrp="1"/>
          </p:cNvSpPr>
          <p:nvPr/>
        </p:nvSpPr>
        <p:spPr>
          <a:xfrm>
            <a:off x="1371600" y="2546985"/>
            <a:ext cx="5459095" cy="304800"/>
          </a:xfrm>
          <a:prstGeom prst="rect">
            <a:avLst/>
          </a:prstGeom>
          <a:noFill/>
          <a:ln w="0">
            <a:noFill/>
          </a:ln>
        </p:spPr>
        <p:txBody>
          <a:bodyPr anchor="ctr">
            <a:noAutofit/>
          </a:bodyPr>
          <a:lstStyle/>
          <a:p>
            <a:pPr algn="l">
              <a:defRPr sz="1350" b="1" i="0">
                <a:solidFill>
                  <a:srgbClr val="17324D"/>
                </a:solidFill>
                <a:latin typeface="DejaVu Sans"/>
                <a:ea typeface="DejaVu Sans"/>
                <a:cs typeface="DejaVu Sans"/>
              </a:defRPr>
            </a:pPr>
            <a:r>
              <a:rPr sz="1800" b="1" i="0">
                <a:solidFill>
                  <a:srgbClr val="17324D"/>
                </a:solidFill>
                <a:latin typeface="微软雅黑" panose="020B0503020204020204" pitchFamily="34" charset="-122"/>
                <a:ea typeface="微软雅黑" panose="020B0503020204020204" pitchFamily="34" charset="-122"/>
                <a:cs typeface="DejaVu Sans"/>
              </a:rPr>
              <a:t>AB = 40 mm     roller radius r</a:t>
            </a:r>
            <a:r>
              <a:rPr sz="1800" b="1" i="0" baseline="-25000">
                <a:solidFill>
                  <a:srgbClr val="17324D"/>
                </a:solidFill>
                <a:latin typeface="微软雅黑" panose="020B0503020204020204" pitchFamily="34" charset="-122"/>
                <a:ea typeface="微软雅黑" panose="020B0503020204020204" pitchFamily="34" charset="-122"/>
                <a:cs typeface="DejaVu Sans"/>
              </a:rPr>
              <a:t>T</a:t>
            </a:r>
            <a:r>
              <a:rPr sz="1800" b="1" i="0">
                <a:solidFill>
                  <a:srgbClr val="17324D"/>
                </a:solidFill>
                <a:latin typeface="微软雅黑" panose="020B0503020204020204" pitchFamily="34" charset="-122"/>
                <a:ea typeface="微软雅黑" panose="020B0503020204020204" pitchFamily="34" charset="-122"/>
                <a:cs typeface="DejaVu Sans"/>
              </a:rPr>
              <a:t> = 5 mm</a:t>
            </a:r>
            <a:endParaRPr sz="1800" b="1" i="0">
              <a:solidFill>
                <a:srgbClr val="17324D"/>
              </a:solidFill>
              <a:latin typeface="微软雅黑" panose="020B0503020204020204" pitchFamily="34" charset="-122"/>
              <a:ea typeface="微软雅黑" panose="020B0503020204020204" pitchFamily="34" charset="-122"/>
              <a:cs typeface="DejaVu Sans"/>
            </a:endParaRPr>
          </a:p>
        </p:txBody>
      </p:sp>
      <p:sp>
        <p:nvSpPr>
          <p:cNvPr id="9" name="椭圆 8"/>
          <p:cNvSpPr>
            <a:spLocks noGrp="1"/>
          </p:cNvSpPr>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1" name="矩形 10"/>
          <p:cNvSpPr>
            <a:spLocks noGrp="1"/>
          </p:cNvSpPr>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Choose a suitable scale. Draw the configuration when angle AOG equals 30°.</a:t>
            </a:r>
            <a:endParaRPr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椭圆 11"/>
          <p:cNvSpPr>
            <a:spLocks noGrp="1"/>
          </p:cNvSpPr>
          <p:nvPr/>
        </p:nvSpPr>
        <p:spPr>
          <a:xfrm>
            <a:off x="676275" y="3737610"/>
            <a:ext cx="314325" cy="285750"/>
          </a:xfrm>
          <a:prstGeom prst="ellipse">
            <a:avLst/>
          </a:prstGeom>
          <a:solidFill>
            <a:srgbClr val="167C80"/>
          </a:solidFill>
          <a:ln w="0">
            <a:solidFill>
              <a:srgbClr val="167C80"/>
            </a:solidFill>
            <a:prstDash val="solid"/>
          </a:ln>
        </p:spPr>
      </p:sp>
      <p:sp>
        <p:nvSpPr>
          <p:cNvPr id="13" name="矩形 12"/>
          <p:cNvSpPr>
            <a:spLocks noGrp="1"/>
          </p:cNvSpPr>
          <p:nvPr/>
        </p:nvSpPr>
        <p:spPr>
          <a:xfrm>
            <a:off x="695325" y="37090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4" name="矩形 13"/>
          <p:cNvSpPr>
            <a:spLocks noGrp="1"/>
          </p:cNvSpPr>
          <p:nvPr/>
        </p:nvSpPr>
        <p:spPr>
          <a:xfrm>
            <a:off x="1104900" y="364236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Draw the cam base circle and label its radius r₀.</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5" name="椭圆 14"/>
          <p:cNvSpPr>
            <a:spLocks noGrp="1"/>
          </p:cNvSpPr>
          <p:nvPr/>
        </p:nvSpPr>
        <p:spPr>
          <a:xfrm>
            <a:off x="676275" y="4328160"/>
            <a:ext cx="314325" cy="285750"/>
          </a:xfrm>
          <a:prstGeom prst="ellipse">
            <a:avLst/>
          </a:prstGeom>
          <a:solidFill>
            <a:srgbClr val="167C80"/>
          </a:solidFill>
          <a:ln w="0">
            <a:solidFill>
              <a:srgbClr val="167C80"/>
            </a:solidFill>
            <a:prstDash val="solid"/>
          </a:ln>
        </p:spPr>
      </p:sp>
      <p:sp>
        <p:nvSpPr>
          <p:cNvPr id="16" name="矩形 15"/>
          <p:cNvSpPr>
            <a:spLocks noGrp="1"/>
          </p:cNvSpPr>
          <p:nvPr/>
        </p:nvSpPr>
        <p:spPr>
          <a:xfrm>
            <a:off x="695325" y="42995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3</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7" name="矩形 16"/>
          <p:cNvSpPr>
            <a:spLocks noGrp="1"/>
          </p:cNvSpPr>
          <p:nvPr/>
        </p:nvSpPr>
        <p:spPr>
          <a:xfrm>
            <a:off x="1104900" y="42329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rise angle Φ and the return angle Φ′.</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sp>
        <p:nvSpPr>
          <p:cNvPr id="18" name="椭圆 17"/>
          <p:cNvSpPr>
            <a:spLocks noGrp="1"/>
          </p:cNvSpPr>
          <p:nvPr/>
        </p:nvSpPr>
        <p:spPr>
          <a:xfrm>
            <a:off x="676275" y="4918710"/>
            <a:ext cx="314325" cy="285750"/>
          </a:xfrm>
          <a:prstGeom prst="ellipse">
            <a:avLst/>
          </a:prstGeom>
          <a:solidFill>
            <a:srgbClr val="167C80"/>
          </a:solidFill>
          <a:ln w="0">
            <a:solidFill>
              <a:srgbClr val="167C80"/>
            </a:solidFill>
            <a:prstDash val="solid"/>
          </a:ln>
        </p:spPr>
      </p:sp>
      <p:sp>
        <p:nvSpPr>
          <p:cNvPr id="19" name="矩形 18"/>
          <p:cNvSpPr>
            <a:spLocks noGrp="1"/>
          </p:cNvSpPr>
          <p:nvPr/>
        </p:nvSpPr>
        <p:spPr>
          <a:xfrm>
            <a:off x="695325" y="48901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4</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20" name="矩形 19"/>
          <p:cNvSpPr>
            <a:spLocks noGrp="1"/>
          </p:cNvSpPr>
          <p:nvPr/>
        </p:nvSpPr>
        <p:spPr>
          <a:xfrm>
            <a:off x="1104900" y="482346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sz="1800" b="0" i="0">
                <a:solidFill>
                  <a:srgbClr val="17324D"/>
                </a:solidFill>
                <a:latin typeface="微软雅黑" panose="020B0503020204020204" pitchFamily="34" charset="-122"/>
                <a:ea typeface="微软雅黑" panose="020B0503020204020204" pitchFamily="34" charset="-122"/>
                <a:cs typeface="DejaVu Sans"/>
              </a:rPr>
              <a:t>Indicate the pressure angle α of follower 2 at the position shown.</a:t>
            </a:r>
            <a:endParaRPr sz="1800" b="0" i="0">
              <a:solidFill>
                <a:srgbClr val="17324D"/>
              </a:solidFill>
              <a:latin typeface="微软雅黑" panose="020B0503020204020204" pitchFamily="34" charset="-122"/>
              <a:ea typeface="微软雅黑" panose="020B0503020204020204" pitchFamily="34" charset="-122"/>
              <a:cs typeface="DejaVu Sans"/>
            </a:endParaRPr>
          </a:p>
        </p:txBody>
      </p:sp>
      <p:pic>
        <p:nvPicPr>
          <p:cNvPr id="3" name="图片 2"/>
          <p:cNvPicPr>
            <a:picLocks noChangeAspect="1"/>
          </p:cNvPicPr>
          <p:nvPr/>
        </p:nvPicPr>
        <p:blipFill>
          <a:blip r:embed="rId1"/>
          <a:stretch>
            <a:fillRect/>
          </a:stretch>
        </p:blipFill>
        <p:spPr>
          <a:xfrm>
            <a:off x="6830695" y="1861185"/>
            <a:ext cx="4670425" cy="446595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mc:AlternateContent xmlns:mc="http://schemas.openxmlformats.org/markup-compatibility/2006">
        <mc:Choice xmlns:a14="http://schemas.microsoft.com/office/drawing/2010/main" Requires="a14">
          <p:sp>
            <p:nvSpPr>
              <p:cNvPr id="21" name="矩形 20"/>
              <p:cNvSpPr>
                <a:spLocks noGrp="1"/>
              </p:cNvSpPr>
              <p:nvPr/>
            </p:nvSpPr>
            <p:spPr>
              <a:xfrm>
                <a:off x="578485" y="1502410"/>
                <a:ext cx="10759440"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In the concentric plate cam mechanism with knife-edge translating follower shown in Figure a , the cam is an eccentric circular disk. O is the geometric center of the cam, and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e>
                      <m: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m:t>
                        </m:r>
                      </m:sub>
                    </m:sSub>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is the rotation center of the cam.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Straight line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𝐴𝐶</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𝐵𝐷</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e>
                      <m: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𝑂𝐴</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2</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and the disk radius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𝑅</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60</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p:txBody>
          </p:sp>
        </mc:Choice>
        <mc:Fallback>
          <p:sp>
            <p:nvSpPr>
              <p:cNvPr id="21" name="矩形 20"/>
              <p:cNvSpPr>
                <a:spLocks noRot="1" noChangeAspect="1" noMove="1" noResize="1" noEditPoints="1" noAdjustHandles="1" noChangeArrowheads="1" noChangeShapeType="1" noTextEdit="1"/>
              </p:cNvSpPr>
              <p:nvPr/>
            </p:nvSpPr>
            <p:spPr>
              <a:xfrm>
                <a:off x="578485" y="1502410"/>
                <a:ext cx="10759440" cy="742950"/>
              </a:xfrm>
              <a:prstGeom prst="rect">
                <a:avLst/>
              </a:prstGeom>
              <a:blipFill rotWithShape="1">
                <a:blip r:embed="rId1"/>
                <a:stretch>
                  <a:fillRect t="-36325" b="-30684"/>
                </a:stretch>
              </a:blipFill>
              <a:ln w="0">
                <a:noFill/>
              </a:ln>
            </p:spPr>
            <p:txBody>
              <a:bodyPr/>
              <a:lstStyle/>
              <a:p>
                <a:r>
                  <a:rPr lang="zh-CN" altLang="en-US">
                    <a:noFill/>
                  </a:rPr>
                  <a:t> </a:t>
                </a:r>
              </a:p>
            </p:txBody>
          </p:sp>
        </mc:Fallback>
      </mc:AlternateContent>
      <p:sp>
        <p:nvSpPr>
          <p:cNvPr id="9" name="椭圆 8"/>
          <p:cNvSpPr>
            <a:spLocks noGrp="1"/>
          </p:cNvSpPr>
          <p:nvPr>
            <p:custDataLst>
              <p:tags r:id="rId2"/>
            </p:custDataLst>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custDataLst>
              <p:tags r:id="rId3"/>
            </p:custDataLst>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1" name="矩形 10"/>
              <p:cNvSpPr>
                <a:spLocks noGrp="1"/>
              </p:cNvSpPr>
              <p:nvPr>
                <p:custDataLst>
                  <p:tags r:id="rId4"/>
                </p:custDataLst>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Find the cam base circle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the follower stroke h, the pressure angle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𝐶</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when the knife edge of the follower contacts the cam profile at point C, the pressure angle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and follower displacement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ℎ</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at contact point D.</a:t>
                </a:r>
                <a:endPar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1" name="矩形 10"/>
              <p:cNvSpPr>
                <a:spLocks noRot="1" noChangeAspect="1" noMove="1" noResize="1" noEditPoints="1" noAdjustHandles="1" noChangeArrowheads="1" noChangeShapeType="1" noTextEdit="1"/>
              </p:cNvSpPr>
              <p:nvPr>
                <p:custDataLst>
                  <p:tags r:id="rId5"/>
                </p:custDataLst>
              </p:nvPr>
            </p:nvSpPr>
            <p:spPr>
              <a:xfrm>
                <a:off x="1104900" y="3051810"/>
                <a:ext cx="5753100" cy="476250"/>
              </a:xfrm>
              <a:prstGeom prst="rect">
                <a:avLst/>
              </a:prstGeom>
              <a:blipFill rotWithShape="1">
                <a:blip r:embed="rId6"/>
                <a:stretch>
                  <a:fillRect t="-99867" b="-92133"/>
                </a:stretch>
              </a:blipFill>
              <a:ln w="0">
                <a:noFill/>
              </a:ln>
            </p:spPr>
            <p:txBody>
              <a:bodyPr/>
              <a:lstStyle/>
              <a:p>
                <a:r>
                  <a:rPr lang="zh-CN" altLang="en-US">
                    <a:noFill/>
                  </a:rPr>
                  <a:t> </a:t>
                </a:r>
              </a:p>
            </p:txBody>
          </p:sp>
        </mc:Fallback>
      </mc:AlternateContent>
      <p:sp>
        <p:nvSpPr>
          <p:cNvPr id="12" name="椭圆 11"/>
          <p:cNvSpPr>
            <a:spLocks noGrp="1"/>
          </p:cNvSpPr>
          <p:nvPr>
            <p:custDataLst>
              <p:tags r:id="rId7"/>
            </p:custDataLst>
          </p:nvPr>
        </p:nvSpPr>
        <p:spPr>
          <a:xfrm>
            <a:off x="747395" y="4595495"/>
            <a:ext cx="314325" cy="285750"/>
          </a:xfrm>
          <a:prstGeom prst="ellipse">
            <a:avLst/>
          </a:prstGeom>
          <a:solidFill>
            <a:srgbClr val="167C80"/>
          </a:solidFill>
          <a:ln w="0">
            <a:solidFill>
              <a:srgbClr val="167C80"/>
            </a:solidFill>
            <a:prstDash val="solid"/>
          </a:ln>
        </p:spPr>
      </p:sp>
      <p:sp>
        <p:nvSpPr>
          <p:cNvPr id="13" name="矩形 12"/>
          <p:cNvSpPr>
            <a:spLocks noGrp="1"/>
          </p:cNvSpPr>
          <p:nvPr>
            <p:custDataLst>
              <p:tags r:id="rId8"/>
            </p:custDataLst>
          </p:nvPr>
        </p:nvSpPr>
        <p:spPr>
          <a:xfrm>
            <a:off x="766445" y="4566920"/>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4" name="矩形 13"/>
              <p:cNvSpPr>
                <a:spLocks noGrp="1"/>
              </p:cNvSpPr>
              <p:nvPr>
                <p:custDataLst>
                  <p:tags r:id="rId9"/>
                </p:custDataLst>
              </p:nvPr>
            </p:nvSpPr>
            <p:spPr>
              <a:xfrm>
                <a:off x="1169670" y="4531360"/>
                <a:ext cx="5753100" cy="124587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DejaVu Sans"/>
                  </a:rPr>
                  <a:t>If the knife-edge follower in Figure a is replaced by a roller follower (Figure b) with roller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r</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calculate the above parameters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h,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𝐶</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and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ℎ</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of the cam mechanism. Analyze and compare the changes of these parameters when the knife-edge follower is changed to a roller follower.</a:t>
                </a:r>
                <a:endParaRPr lang="en-US" altLang="zh-CN" sz="1800" b="0" i="0">
                  <a:solidFill>
                    <a:srgbClr val="17324D"/>
                  </a:solidFill>
                  <a:latin typeface="微软雅黑" panose="020B0503020204020204" pitchFamily="34" charset="-122"/>
                  <a:ea typeface="微软雅黑" panose="020B0503020204020204" pitchFamily="34" charset="-122"/>
                  <a:cs typeface="DejaVu Sans"/>
                </a:endParaRPr>
              </a:p>
            </p:txBody>
          </p:sp>
        </mc:Choice>
        <mc:Fallback>
          <p:sp>
            <p:nvSpPr>
              <p:cNvPr id="14" name="矩形 13"/>
              <p:cNvSpPr>
                <a:spLocks noRot="1" noChangeAspect="1" noMove="1" noResize="1" noEditPoints="1" noAdjustHandles="1" noChangeArrowheads="1" noChangeShapeType="1" noTextEdit="1"/>
              </p:cNvSpPr>
              <p:nvPr>
                <p:custDataLst>
                  <p:tags r:id="rId10"/>
                </p:custDataLst>
              </p:nvPr>
            </p:nvSpPr>
            <p:spPr>
              <a:xfrm>
                <a:off x="1169670" y="4531360"/>
                <a:ext cx="5753100" cy="1245870"/>
              </a:xfrm>
              <a:prstGeom prst="rect">
                <a:avLst/>
              </a:prstGeom>
              <a:blipFill rotWithShape="1">
                <a:blip r:embed="rId11"/>
                <a:stretch>
                  <a:fillRect t="-29307" b="-26351"/>
                </a:stretch>
              </a:blipFill>
              <a:ln w="0">
                <a:noFill/>
              </a:ln>
            </p:spPr>
            <p:txBody>
              <a:bodyPr/>
              <a:lstStyle/>
              <a:p>
                <a:r>
                  <a:rPr lang="zh-CN" altLang="en-US">
                    <a:noFill/>
                  </a:rPr>
                  <a:t> </a:t>
                </a:r>
              </a:p>
            </p:txBody>
          </p:sp>
        </mc:Fallback>
      </mc:AlternateContent>
      <p:pic>
        <p:nvPicPr>
          <p:cNvPr id="3" name="图片 2"/>
          <p:cNvPicPr>
            <a:picLocks noChangeAspect="1"/>
          </p:cNvPicPr>
          <p:nvPr/>
        </p:nvPicPr>
        <p:blipFill>
          <a:blip r:embed="rId12"/>
          <a:stretch>
            <a:fillRect/>
          </a:stretch>
        </p:blipFill>
        <p:spPr>
          <a:xfrm>
            <a:off x="6575425" y="2516505"/>
            <a:ext cx="5353050" cy="339090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mc:AlternateContent xmlns:mc="http://schemas.openxmlformats.org/markup-compatibility/2006">
        <mc:Choice xmlns:a14="http://schemas.microsoft.com/office/drawing/2010/main" Requires="a14">
          <p:sp>
            <p:nvSpPr>
              <p:cNvPr id="21" name="矩形 20"/>
              <p:cNvSpPr>
                <a:spLocks noGrp="1"/>
              </p:cNvSpPr>
              <p:nvPr/>
            </p:nvSpPr>
            <p:spPr>
              <a:xfrm>
                <a:off x="578485" y="1502410"/>
                <a:ext cx="10759440"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In the concentric plate cam mechanism with knife-edge translating follower shown in Figure a , the cam is an eccentric circular disk. O is the geometric center of the cam, and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e>
                      <m: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m:t>
                        </m:r>
                      </m:sub>
                    </m:sSub>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is the rotation center of the cam.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Straight line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𝐴𝐶</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𝐵𝐷</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e>
                      <m: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𝑂𝐴</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2</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and the disk radius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𝑅</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60</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p:txBody>
          </p:sp>
        </mc:Choice>
        <mc:Fallback>
          <p:sp>
            <p:nvSpPr>
              <p:cNvPr id="21" name="矩形 20"/>
              <p:cNvSpPr>
                <a:spLocks noRot="1" noChangeAspect="1" noMove="1" noResize="1" noEditPoints="1" noAdjustHandles="1" noChangeArrowheads="1" noChangeShapeType="1" noTextEdit="1"/>
              </p:cNvSpPr>
              <p:nvPr/>
            </p:nvSpPr>
            <p:spPr>
              <a:xfrm>
                <a:off x="578485" y="1502410"/>
                <a:ext cx="10759440" cy="742950"/>
              </a:xfrm>
              <a:prstGeom prst="rect">
                <a:avLst/>
              </a:prstGeom>
              <a:blipFill rotWithShape="1">
                <a:blip r:embed="rId1"/>
                <a:stretch>
                  <a:fillRect t="-36325" b="-30684"/>
                </a:stretch>
              </a:blipFill>
              <a:ln w="0">
                <a:noFill/>
              </a:ln>
            </p:spPr>
            <p:txBody>
              <a:bodyPr/>
              <a:lstStyle/>
              <a:p>
                <a:r>
                  <a:rPr lang="zh-CN" altLang="en-US">
                    <a:noFill/>
                  </a:rPr>
                  <a:t> </a:t>
                </a:r>
              </a:p>
            </p:txBody>
          </p:sp>
        </mc:Fallback>
      </mc:AlternateContent>
      <p:sp>
        <p:nvSpPr>
          <p:cNvPr id="9" name="椭圆 8"/>
          <p:cNvSpPr>
            <a:spLocks noGrp="1"/>
          </p:cNvSpPr>
          <p:nvPr>
            <p:custDataLst>
              <p:tags r:id="rId2"/>
            </p:custDataLst>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custDataLst>
              <p:tags r:id="rId3"/>
            </p:custDataLst>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1" name="矩形 10"/>
              <p:cNvSpPr>
                <a:spLocks noGrp="1"/>
              </p:cNvSpPr>
              <p:nvPr>
                <p:custDataLst>
                  <p:tags r:id="rId4"/>
                </p:custDataLst>
              </p:nvPr>
            </p:nvSpPr>
            <p:spPr>
              <a:xfrm>
                <a:off x="1104900" y="3051810"/>
                <a:ext cx="7771765"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Find the cam base circle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the follower stroke h, the pressure angle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𝐶</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when the knife edge of the follower contacts the cam profile at point C, the pressure angle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and follower displacement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ℎ</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rPr>
                  <a:t> at contact point D.</a:t>
                </a:r>
                <a:endParaRPr lang="en-US" altLang="zh-CN" sz="1800" b="0" i="0">
                  <a:solidFill>
                    <a:srgbClr val="17324D"/>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1" name="矩形 10"/>
              <p:cNvSpPr>
                <a:spLocks noRot="1" noChangeAspect="1" noMove="1" noResize="1" noEditPoints="1" noAdjustHandles="1" noChangeArrowheads="1" noChangeShapeType="1" noTextEdit="1"/>
              </p:cNvSpPr>
              <p:nvPr>
                <p:custDataLst>
                  <p:tags r:id="rId5"/>
                </p:custDataLst>
              </p:nvPr>
            </p:nvSpPr>
            <p:spPr>
              <a:xfrm>
                <a:off x="1104900" y="3051810"/>
                <a:ext cx="7771765" cy="476250"/>
              </a:xfrm>
              <a:prstGeom prst="rect">
                <a:avLst/>
              </a:prstGeom>
              <a:blipFill rotWithShape="1">
                <a:blip r:embed="rId6"/>
                <a:stretch>
                  <a:fillRect t="-71067" b="-63333"/>
                </a:stretch>
              </a:blipFill>
              <a:ln w="0">
                <a:noFill/>
              </a:ln>
            </p:spPr>
            <p:txBody>
              <a:bodyPr/>
              <a:lstStyle/>
              <a:p>
                <a:r>
                  <a:rPr lang="zh-CN" altLang="en-US">
                    <a:noFill/>
                  </a:rPr>
                  <a:t> </a:t>
                </a:r>
              </a:p>
            </p:txBody>
          </p:sp>
        </mc:Fallback>
      </mc:AlternateContent>
      <p:pic>
        <p:nvPicPr>
          <p:cNvPr id="3" name="图片 2"/>
          <p:cNvPicPr>
            <a:picLocks noChangeAspect="1"/>
          </p:cNvPicPr>
          <p:nvPr/>
        </p:nvPicPr>
        <p:blipFill>
          <a:blip r:embed="rId7"/>
          <a:srcRect r="52313"/>
          <a:stretch>
            <a:fillRect/>
          </a:stretch>
        </p:blipFill>
        <p:spPr>
          <a:xfrm>
            <a:off x="8702675" y="2245360"/>
            <a:ext cx="3298825" cy="438277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1457325" y="3965575"/>
                <a:ext cx="7211695" cy="2058035"/>
              </a:xfrm>
              <a:prstGeom prst="rect">
                <a:avLst/>
              </a:prstGeom>
            </p:spPr>
            <p:txBody>
              <a:bodyPr wrap="square">
                <a:spAutoFit/>
              </a:bodyPr>
              <a:p>
                <a:r>
                  <a:rPr lang="en-US" altLang="zh-CN" sz="1600"/>
                  <a:t>Solution: (1) The base circle is centered at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cs typeface="Cambria Math" panose="02040503050406030204" pitchFamily="18" charset="0"/>
                          </a:rPr>
                          <m:t>1</m:t>
                        </m:r>
                      </m:sub>
                    </m:sSub>
                  </m:oMath>
                </a14:m>
                <a:r>
                  <a:rPr lang="en-US" altLang="zh-CN" sz="1600"/>
                  <a:t>, with radius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𝑟</m:t>
                        </m:r>
                      </m:e>
                      <m:sub>
                        <m:r>
                          <a:rPr lang="en-US" altLang="zh-CN" sz="1600" i="1">
                            <a:latin typeface="Cambria Math" panose="02040503050406030204" pitchFamily="18" charset="0"/>
                            <a:cs typeface="Cambria Math" panose="02040503050406030204" pitchFamily="18" charset="0"/>
                          </a:rPr>
                          <m:t>0</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𝐴</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30</m:t>
                    </m:r>
                    <m:r>
                      <a:rPr lang="en-US" altLang="zh-CN" sz="1600" i="1">
                        <a:latin typeface="Cambria Math" panose="02040503050406030204" pitchFamily="18"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oMath>
                </a14:m>
                <a:r>
                  <a:rPr lang="en-US" altLang="zh-CN" sz="1600"/>
                  <a:t>.</a:t>
                </a:r>
                <a:endParaRPr lang="en-US" altLang="zh-CN" sz="1600"/>
              </a:p>
              <a:p>
                <a:r>
                  <a:rPr lang="en-US" altLang="zh-CN" sz="1600"/>
                  <a:t>As can be seen from the figure, the stroke </a:t>
                </a:r>
                <a14:m>
                  <m:oMath xmlns:m="http://schemas.openxmlformats.org/officeDocument/2006/math">
                    <m:r>
                      <a:rPr lang="en-US" altLang="zh-CN" sz="1600" i="1">
                        <a:latin typeface="Cambria Math" panose="02040503050406030204" pitchFamily="18" charset="0"/>
                        <a:cs typeface="Cambria Math" panose="02040503050406030204" pitchFamily="18" charset="0"/>
                      </a:rPr>
                      <m:t>ℎ</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𝐶</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𝐴</m:t>
                    </m:r>
                  </m:oMath>
                </a14:m>
                <a:r>
                  <a:rPr lang="en-US" altLang="zh-CN" sz="1600"/>
                  <a:t>; hence </a:t>
                </a:r>
                <a14:m>
                  <m:oMath xmlns:m="http://schemas.openxmlformats.org/officeDocument/2006/math">
                    <m:r>
                      <a:rPr lang="en-US" altLang="zh-CN" sz="1600" i="1">
                        <a:latin typeface="Cambria Math" panose="02040503050406030204" pitchFamily="18" charset="0"/>
                        <a:cs typeface="Cambria Math" panose="02040503050406030204" pitchFamily="18" charset="0"/>
                      </a:rPr>
                      <m:t>ℎ</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60</m:t>
                    </m:r>
                    <m:r>
                      <a:rPr lang="en-US" altLang="zh-CN" sz="1600" i="1">
                        <a:latin typeface="Cambria Math" panose="02040503050406030204" pitchFamily="18"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oMath>
                </a14:m>
                <a:r>
                  <a:rPr lang="en-US" altLang="zh-CN" sz="1600"/>
                  <a:t>.</a:t>
                </a:r>
                <a:endParaRPr lang="en-US" altLang="zh-CN" sz="1600"/>
              </a:p>
              <a:p>
                <a:r>
                  <a:rPr lang="en-US" altLang="zh-CN" sz="1600"/>
                  <a:t>The pressure angle at point C is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𝛼</m:t>
                        </m:r>
                      </m:e>
                      <m:sub>
                        <m:r>
                          <a:rPr lang="en-US" altLang="zh-CN" sz="1600" i="1">
                            <a:latin typeface="Cambria Math" panose="02040503050406030204" pitchFamily="18" charset="0"/>
                            <a:cs typeface="Cambria Math" panose="02040503050406030204" pitchFamily="18" charset="0"/>
                          </a:rPr>
                          <m:t>𝐶</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t>.</a:t>
                </a:r>
                <a:endParaRPr lang="en-US" altLang="zh-CN" sz="1600"/>
              </a:p>
              <a:p>
                <a:r>
                  <a:rPr lang="en-US" altLang="zh-CN" sz="1600"/>
                  <a:t>The follower displacement at point D is: </a:t>
                </a:r>
                <a:endParaRPr lang="en-US" altLang="zh-CN" sz="1600"/>
              </a:p>
              <a:p>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ℎ</m:t>
                          </m:r>
                        </m:e>
                        <m:sub>
                          <m:r>
                            <a:rPr lang="en-US" altLang="zh-CN" sz="1600" i="1">
                              <a:latin typeface="Cambria Math" panose="02040503050406030204" pitchFamily="18" charset="0"/>
                              <a:cs typeface="Cambria Math" panose="02040503050406030204" pitchFamily="18" charset="0"/>
                            </a:rPr>
                            <m:t>𝐷</m:t>
                          </m:r>
                        </m:sub>
                      </m:sSub>
                      <m:r>
                        <a:rPr lang="en-US" altLang="zh-CN" sz="1600" i="1">
                          <a:latin typeface="Cambria Math" panose="02040503050406030204" pitchFamily="18" charset="0"/>
                          <a:ea typeface="MS Mincho"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ea typeface="MS Mincho"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ea typeface="MS Mincho"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ea typeface="MS Mincho"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𝐴</m:t>
                      </m:r>
                      <m:r>
                        <a:rPr lang="en-US" altLang="zh-CN" sz="1600" i="1">
                          <a:latin typeface="Cambria Math" panose="02040503050406030204" pitchFamily="18" charset="0"/>
                          <a:ea typeface="MS Mincho" charset="0"/>
                          <a:cs typeface="Cambria Math" panose="02040503050406030204" pitchFamily="18" charset="0"/>
                        </a:rPr>
                        <m:t>=</m:t>
                      </m:r>
                      <m:d>
                        <m:dPr>
                          <m:ctrlPr>
                            <a:rPr lang="en-US" altLang="zh-CN" sz="1600" i="1">
                              <a:latin typeface="Cambria Math" panose="02040503050406030204" pitchFamily="18" charset="0"/>
                              <a:cs typeface="Cambria Math" panose="02040503050406030204" pitchFamily="18" charset="0"/>
                            </a:rPr>
                          </m:ctrlPr>
                        </m:dPr>
                        <m:e>
                          <m:rad>
                            <m:radPr>
                              <m:degHide m:val="on"/>
                              <m:ctrlPr>
                                <a:rPr lang="en-US" altLang="zh-CN" sz="1600" i="1">
                                  <a:latin typeface="Cambria Math" panose="02040503050406030204" pitchFamily="18" charset="0"/>
                                  <a:cs typeface="Cambria Math" panose="02040503050406030204" pitchFamily="18" charset="0"/>
                                </a:rPr>
                              </m:ctrlPr>
                            </m:radPr>
                            <m:deg/>
                            <m:e>
                              <m:r>
                                <a:rPr lang="en-US" altLang="zh-CN" sz="1600" i="1">
                                  <a:latin typeface="Cambria Math" panose="02040503050406030204" pitchFamily="18" charset="0"/>
                                  <a:ea typeface="MS Mincho" charset="0"/>
                                  <a:cs typeface="Cambria Math" panose="02040503050406030204" pitchFamily="18" charset="0"/>
                                </a:rPr>
                                <m:t>3</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ea typeface="MS Mincho" charset="0"/>
                                      <a:cs typeface="Cambria Math" panose="02040503050406030204" pitchFamily="18" charset="0"/>
                                    </a:rPr>
                                    <m:t>0</m:t>
                                  </m:r>
                                </m:e>
                                <m:sup>
                                  <m:r>
                                    <a:rPr lang="en-US" altLang="zh-CN" sz="1600" i="1">
                                      <a:latin typeface="Cambria Math" panose="02040503050406030204" pitchFamily="18" charset="0"/>
                                      <a:ea typeface="MS Mincho" charset="0"/>
                                      <a:cs typeface="Cambria Math" panose="02040503050406030204" pitchFamily="18" charset="0"/>
                                    </a:rPr>
                                    <m:t>2</m:t>
                                  </m:r>
                                </m:sup>
                              </m:sSup>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6</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ea typeface="MS Mincho" charset="0"/>
                                      <a:cs typeface="Cambria Math" panose="02040503050406030204" pitchFamily="18" charset="0"/>
                                    </a:rPr>
                                    <m:t>0</m:t>
                                  </m:r>
                                </m:e>
                                <m:sup>
                                  <m:r>
                                    <a:rPr lang="en-US" altLang="zh-CN" sz="1600" i="1">
                                      <a:latin typeface="Cambria Math" panose="02040503050406030204" pitchFamily="18" charset="0"/>
                                      <a:ea typeface="MS Mincho" charset="0"/>
                                      <a:cs typeface="Cambria Math" panose="02040503050406030204" pitchFamily="18" charset="0"/>
                                    </a:rPr>
                                    <m:t>2</m:t>
                                  </m:r>
                                </m:sup>
                              </m:sSup>
                            </m:e>
                          </m:rad>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30</m:t>
                          </m:r>
                        </m:e>
                      </m:d>
                      <m:r>
                        <a:rPr lang="en-US" altLang="zh-CN" sz="1600" i="1">
                          <a:latin typeface="Cambria Math" panose="02040503050406030204" pitchFamily="18" charset="0"/>
                          <a:ea typeface="MS Mincho"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37</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1</m:t>
                      </m:r>
                      <m:r>
                        <a:rPr lang="en-US" altLang="zh-CN" sz="1600" i="1">
                          <a:latin typeface="Cambria Math" panose="02040503050406030204" pitchFamily="18" charset="0"/>
                          <a:ea typeface="MS Mincho"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oMath>
                  </m:oMathPara>
                </a14:m>
                <a:endParaRPr lang="en-US" altLang="zh-CN" sz="1600"/>
              </a:p>
              <a:p>
                <a:r>
                  <a:rPr lang="en-US" altLang="zh-CN" sz="1600"/>
                  <a:t>The pressure angle at point D is:</a:t>
                </a:r>
                <a:endParaRPr lang="en-US" altLang="zh-CN" sz="1600"/>
              </a:p>
              <a:p>
                <a:r>
                  <a:rPr lang="en-US" altLang="zh-CN" sz="1600"/>
                  <a:t>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ea typeface="MS Mincho" charset="0"/>
                            <a:cs typeface="Cambria Math" panose="02040503050406030204" pitchFamily="18" charset="0"/>
                          </a:rPr>
                          <m:t>𝛼</m:t>
                        </m:r>
                      </m:e>
                      <m:sub>
                        <m:r>
                          <a:rPr lang="en-US" altLang="zh-CN" sz="1600" i="1">
                            <a:latin typeface="Cambria Math" panose="02040503050406030204" pitchFamily="18" charset="0"/>
                            <a:cs typeface="Cambria Math" panose="02040503050406030204" pitchFamily="18" charset="0"/>
                          </a:rPr>
                          <m:t>𝐷</m:t>
                        </m:r>
                      </m:sub>
                    </m:sSub>
                    <m:r>
                      <a:rPr lang="en-US" altLang="zh-CN" sz="1600" i="1">
                        <a:latin typeface="Cambria Math" panose="02040503050406030204" pitchFamily="18" charset="0"/>
                        <a:ea typeface="MS Mincho" charset="0"/>
                        <a:cs typeface="Cambria Math" panose="02040503050406030204" pitchFamily="18" charset="0"/>
                      </a:rPr>
                      <m:t>=</m:t>
                    </m:r>
                    <m:func>
                      <m:funcPr>
                        <m:ctrlPr>
                          <a:rPr lang="en-US" altLang="zh-CN" sz="1600" i="1">
                            <a:latin typeface="Cambria Math" panose="02040503050406030204" pitchFamily="18" charset="0"/>
                            <a:cs typeface="Cambria Math" panose="02040503050406030204" pitchFamily="18" charset="0"/>
                          </a:rPr>
                        </m:ctrlPr>
                      </m:funcPr>
                      <m:fName>
                        <m:r>
                          <m:rPr>
                            <m:sty m:val="p"/>
                          </m:rPr>
                          <a:rPr lang="en-US" altLang="zh-CN" sz="1600" i="1">
                            <a:latin typeface="Cambria Math" panose="02040503050406030204" pitchFamily="18" charset="0"/>
                            <a:cs typeface="Cambria Math" panose="02040503050406030204" pitchFamily="18" charset="0"/>
                          </a:rPr>
                          <m:t>arctan</m:t>
                        </m:r>
                      </m:fName>
                      <m:e>
                        <m:d>
                          <m:dPr>
                            <m:ctrlPr>
                              <a:rPr lang="en-US" altLang="zh-CN" sz="1600" i="1">
                                <a:latin typeface="Cambria Math" panose="02040503050406030204" pitchFamily="18" charset="0"/>
                                <a:cs typeface="Cambria Math" panose="02040503050406030204" pitchFamily="18" charset="0"/>
                              </a:rPr>
                            </m:ctrlPr>
                          </m:dPr>
                          <m:e>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𝑂</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ea typeface="MS Mincho" charset="0"/>
                                        <a:cs typeface="Cambria Math" panose="02040503050406030204" pitchFamily="18" charset="0"/>
                                      </a:rPr>
                                      <m:t>1</m:t>
                                    </m:r>
                                  </m:sub>
                                </m:sSub>
                              </m:num>
                              <m:den>
                                <m:r>
                                  <a:rPr lang="en-US" altLang="zh-CN" sz="1600" i="1">
                                    <a:latin typeface="Cambria Math" panose="02040503050406030204" pitchFamily="18" charset="0"/>
                                    <a:cs typeface="Cambria Math" panose="02040503050406030204" pitchFamily="18" charset="0"/>
                                  </a:rPr>
                                  <m:t>𝑂𝐷</m:t>
                                </m:r>
                              </m:den>
                            </m:f>
                          </m:e>
                        </m:d>
                      </m:e>
                    </m:func>
                    <m:r>
                      <a:rPr lang="en-US" altLang="zh-CN" sz="1600" i="1">
                        <a:latin typeface="Cambria Math" panose="02040503050406030204" pitchFamily="18" charset="0"/>
                        <a:ea typeface="MS Mincho" charset="0"/>
                        <a:cs typeface="Cambria Math" panose="02040503050406030204" pitchFamily="18" charset="0"/>
                      </a:rPr>
                      <m:t>=</m:t>
                    </m:r>
                    <m:func>
                      <m:funcPr>
                        <m:ctrlPr>
                          <a:rPr lang="en-US" altLang="zh-CN" sz="1600" i="1">
                            <a:latin typeface="Cambria Math" panose="02040503050406030204" pitchFamily="18" charset="0"/>
                            <a:cs typeface="Cambria Math" panose="02040503050406030204" pitchFamily="18" charset="0"/>
                          </a:rPr>
                        </m:ctrlPr>
                      </m:funcPr>
                      <m:fName>
                        <m:r>
                          <m:rPr>
                            <m:sty m:val="p"/>
                          </m:rPr>
                          <a:rPr lang="en-US" altLang="zh-CN" sz="1600" i="1">
                            <a:latin typeface="Cambria Math" panose="02040503050406030204" pitchFamily="18" charset="0"/>
                            <a:cs typeface="Cambria Math" panose="02040503050406030204" pitchFamily="18" charset="0"/>
                          </a:rPr>
                          <m:t>arctan</m:t>
                        </m:r>
                      </m:fName>
                      <m:e>
                        <m:r>
                          <a:rPr lang="en-US" altLang="zh-CN" sz="1600" i="1">
                            <a:latin typeface="Cambria Math" panose="02040503050406030204" pitchFamily="18" charset="0"/>
                            <a:ea typeface="MS Mincho" charset="0"/>
                            <a:cs typeface="Cambria Math" panose="02040503050406030204" pitchFamily="18" charset="0"/>
                          </a:rPr>
                          <m:t>(</m:t>
                        </m:r>
                      </m:e>
                    </m:func>
                    <m:r>
                      <a:rPr lang="en-US" altLang="zh-CN" sz="1600" i="1">
                        <a:latin typeface="Cambria Math" panose="02040503050406030204" pitchFamily="18" charset="0"/>
                        <a:ea typeface="MS Mincho" charset="0"/>
                        <a:cs typeface="Cambria Math" panose="02040503050406030204" pitchFamily="18" charset="0"/>
                      </a:rPr>
                      <m:t>0</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5</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26</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5</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ea typeface="MS Mincho" charset="0"/>
                            <a:cs typeface="Cambria Math" panose="02040503050406030204" pitchFamily="18" charset="0"/>
                          </a:rPr>
                          <m:t>7</m:t>
                        </m:r>
                      </m:e>
                      <m:sup>
                        <m:r>
                          <a:rPr lang="en-US" altLang="zh-CN" sz="1600" i="1">
                            <a:latin typeface="Cambria Math" panose="02040503050406030204" pitchFamily="18" charset="0"/>
                            <a:ea typeface="MS Mincho" charset="0"/>
                            <a:cs typeface="Cambria Math" panose="02040503050406030204" pitchFamily="18" charset="0"/>
                          </a:rPr>
                          <m:t>∘</m:t>
                        </m:r>
                      </m:sup>
                    </m:sSup>
                  </m:oMath>
                </a14:m>
                <a:endParaRPr lang="en-US" altLang="zh-CN" sz="1600">
                  <a:latin typeface="Cambria Math" panose="02040503050406030204" pitchFamily="18" charset="0"/>
                  <a:cs typeface="Cambria Math" panose="020405030504060302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457325" y="3965575"/>
                <a:ext cx="7211695" cy="205803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mc:AlternateContent xmlns:mc="http://schemas.openxmlformats.org/markup-compatibility/2006">
        <mc:Choice xmlns:a14="http://schemas.microsoft.com/office/drawing/2010/main" Requires="a14">
          <p:sp>
            <p:nvSpPr>
              <p:cNvPr id="21" name="矩形 20"/>
              <p:cNvSpPr>
                <a:spLocks noGrp="1"/>
              </p:cNvSpPr>
              <p:nvPr/>
            </p:nvSpPr>
            <p:spPr>
              <a:xfrm>
                <a:off x="578485" y="1502410"/>
                <a:ext cx="10759440"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In the concentric plate cam mechanism with knife-edge translating follower shown in Figure a , the cam is an eccentric circular disk. O is the geometric center of the cam, and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e>
                      <m: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m:t>
                        </m:r>
                      </m:sub>
                    </m:sSub>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is the rotation center of the cam.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Straight line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𝐴𝐶</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𝐵𝐷</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e>
                      <m: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𝑂𝐴</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2</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and the disk radius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𝑅</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60</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p:txBody>
          </p:sp>
        </mc:Choice>
        <mc:Fallback>
          <p:sp>
            <p:nvSpPr>
              <p:cNvPr id="21" name="矩形 20"/>
              <p:cNvSpPr>
                <a:spLocks noRot="1" noChangeAspect="1" noMove="1" noResize="1" noEditPoints="1" noAdjustHandles="1" noChangeArrowheads="1" noChangeShapeType="1" noTextEdit="1"/>
              </p:cNvSpPr>
              <p:nvPr/>
            </p:nvSpPr>
            <p:spPr>
              <a:xfrm>
                <a:off x="578485" y="1502410"/>
                <a:ext cx="10759440" cy="742950"/>
              </a:xfrm>
              <a:prstGeom prst="rect">
                <a:avLst/>
              </a:prstGeom>
              <a:blipFill rotWithShape="1">
                <a:blip r:embed="rId1"/>
                <a:stretch>
                  <a:fillRect t="-36325" b="-30684"/>
                </a:stretch>
              </a:blipFill>
              <a:ln w="0">
                <a:noFill/>
              </a:ln>
            </p:spPr>
            <p:txBody>
              <a:bodyPr/>
              <a:lstStyle/>
              <a:p>
                <a:r>
                  <a:rPr lang="zh-CN" altLang="en-US">
                    <a:noFill/>
                  </a:rPr>
                  <a:t> </a:t>
                </a:r>
              </a:p>
            </p:txBody>
          </p:sp>
        </mc:Fallback>
      </mc:AlternateContent>
      <p:sp>
        <p:nvSpPr>
          <p:cNvPr id="12" name="椭圆 11"/>
          <p:cNvSpPr>
            <a:spLocks noGrp="1"/>
          </p:cNvSpPr>
          <p:nvPr>
            <p:custDataLst>
              <p:tags r:id="rId2"/>
            </p:custDataLst>
          </p:nvPr>
        </p:nvSpPr>
        <p:spPr>
          <a:xfrm>
            <a:off x="840105" y="3052445"/>
            <a:ext cx="314325" cy="285750"/>
          </a:xfrm>
          <a:prstGeom prst="ellipse">
            <a:avLst/>
          </a:prstGeom>
          <a:solidFill>
            <a:srgbClr val="167C80"/>
          </a:solidFill>
          <a:ln w="0">
            <a:solidFill>
              <a:srgbClr val="167C80"/>
            </a:solidFill>
            <a:prstDash val="solid"/>
          </a:ln>
        </p:spPr>
      </p:sp>
      <p:sp>
        <p:nvSpPr>
          <p:cNvPr id="13" name="矩形 12"/>
          <p:cNvSpPr>
            <a:spLocks noGrp="1"/>
          </p:cNvSpPr>
          <p:nvPr>
            <p:custDataLst>
              <p:tags r:id="rId3"/>
            </p:custDataLst>
          </p:nvPr>
        </p:nvSpPr>
        <p:spPr>
          <a:xfrm>
            <a:off x="859155" y="3023870"/>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4" name="矩形 13"/>
              <p:cNvSpPr>
                <a:spLocks noGrp="1"/>
              </p:cNvSpPr>
              <p:nvPr>
                <p:custDataLst>
                  <p:tags r:id="rId4"/>
                </p:custDataLst>
              </p:nvPr>
            </p:nvSpPr>
            <p:spPr>
              <a:xfrm>
                <a:off x="1234440" y="2663825"/>
                <a:ext cx="7444105" cy="124587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DejaVu Sans"/>
                  </a:rPr>
                  <a:t>If the knife-edge follower in Figure a is replaced by a roller follower (Figure b) with roller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r</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calculate the above parameters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h,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𝐶</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𝛼</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and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ℎ</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𝐷</m:t>
                        </m:r>
                      </m:sub>
                    </m:sSub>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of the cam mechanism. Analyze and compare the changes of these parameters when the knife-edge follower is changed to a roller follower.</a:t>
                </a:r>
                <a:endParaRPr lang="en-US" altLang="zh-CN" sz="1800" b="0" i="0">
                  <a:solidFill>
                    <a:srgbClr val="17324D"/>
                  </a:solidFill>
                  <a:latin typeface="微软雅黑" panose="020B0503020204020204" pitchFamily="34" charset="-122"/>
                  <a:ea typeface="微软雅黑" panose="020B0503020204020204" pitchFamily="34" charset="-122"/>
                  <a:cs typeface="DejaVu Sans"/>
                </a:endParaRPr>
              </a:p>
            </p:txBody>
          </p:sp>
        </mc:Choice>
        <mc:Fallback>
          <p:sp>
            <p:nvSpPr>
              <p:cNvPr id="14" name="矩形 13"/>
              <p:cNvSpPr>
                <a:spLocks noRot="1" noChangeAspect="1" noMove="1" noResize="1" noEditPoints="1" noAdjustHandles="1" noChangeArrowheads="1" noChangeShapeType="1" noTextEdit="1"/>
              </p:cNvSpPr>
              <p:nvPr>
                <p:custDataLst>
                  <p:tags r:id="rId5"/>
                </p:custDataLst>
              </p:nvPr>
            </p:nvSpPr>
            <p:spPr>
              <a:xfrm>
                <a:off x="1234440" y="2663825"/>
                <a:ext cx="7444105" cy="1245870"/>
              </a:xfrm>
              <a:prstGeom prst="rect">
                <a:avLst/>
              </a:prstGeom>
              <a:blipFill rotWithShape="1">
                <a:blip r:embed="rId6"/>
                <a:stretch>
                  <a:fillRect t="-7288" b="-4332"/>
                </a:stretch>
              </a:blipFill>
              <a:ln w="0">
                <a:noFill/>
              </a:ln>
            </p:spPr>
            <p:txBody>
              <a:bodyPr/>
              <a:lstStyle/>
              <a:p>
                <a:r>
                  <a:rPr lang="zh-CN" altLang="en-US">
                    <a:noFill/>
                  </a:rPr>
                  <a:t> </a:t>
                </a:r>
              </a:p>
            </p:txBody>
          </p:sp>
        </mc:Fallback>
      </mc:AlternateContent>
      <p:pic>
        <p:nvPicPr>
          <p:cNvPr id="3" name="图片 2"/>
          <p:cNvPicPr>
            <a:picLocks noChangeAspect="1"/>
          </p:cNvPicPr>
          <p:nvPr/>
        </p:nvPicPr>
        <p:blipFill>
          <a:blip r:embed="rId7"/>
          <a:srcRect l="50202"/>
          <a:stretch>
            <a:fillRect/>
          </a:stretch>
        </p:blipFill>
        <p:spPr>
          <a:xfrm>
            <a:off x="9262745" y="2516505"/>
            <a:ext cx="2665730" cy="3390900"/>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1498600" y="4179570"/>
                <a:ext cx="6854825" cy="2117725"/>
              </a:xfrm>
              <a:prstGeom prst="rect">
                <a:avLst/>
              </a:prstGeom>
            </p:spPr>
            <p:txBody>
              <a:bodyPr wrap="square">
                <a:spAutoFit/>
              </a:bodyPr>
              <a:p>
                <a:r>
                  <a:rPr lang="en-US" altLang="zh-CN" sz="1600"/>
                  <a:t>After replacing the knife-edge follower with a roller follower, the base circle radius increases to:</a:t>
                </a:r>
                <a:endParaRPr lang="en-US" altLang="zh-CN" sz="1600"/>
              </a:p>
              <a:p>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𝑟</m:t>
                          </m:r>
                        </m:e>
                        <m:sub>
                          <m:r>
                            <a:rPr lang="en-US" altLang="zh-CN" sz="1600" i="1">
                              <a:latin typeface="Cambria Math" panose="02040503050406030204" pitchFamily="18" charset="0"/>
                              <a:cs typeface="Cambria Math" panose="02040503050406030204" pitchFamily="18" charset="0"/>
                            </a:rPr>
                            <m:t>0</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𝑂</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𝐴</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𝑟</m:t>
                          </m:r>
                        </m:e>
                        <m:sub>
                          <m:r>
                            <m:rPr>
                              <m:sty m:val="p"/>
                            </m:rPr>
                            <a:rPr lang="en-US" altLang="zh-CN" sz="1600" i="1">
                              <a:latin typeface="Cambria Math" panose="02040503050406030204" pitchFamily="18" charset="0"/>
                              <a:cs typeface="Cambria Math" panose="02040503050406030204" pitchFamily="18" charset="0"/>
                            </a:rPr>
                            <m:t>r</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40</m:t>
                      </m:r>
                      <m:r>
                        <a:rPr lang="en-US" altLang="zh-CN" sz="1600" i="1">
                          <a:latin typeface="Cambria Math" panose="02040503050406030204" pitchFamily="18"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oMath>
                  </m:oMathPara>
                </a14:m>
                <a:endParaRPr lang="en-US" altLang="zh-CN" sz="1600"/>
              </a:p>
              <a:p>
                <a:r>
                  <a:rPr lang="en-US" altLang="zh-CN" sz="1600"/>
                  <a:t>The stroke h and the pressure angle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𝛼</m:t>
                        </m:r>
                      </m:e>
                      <m:sub>
                        <m:r>
                          <a:rPr lang="en-US" altLang="zh-CN" sz="1600" i="1">
                            <a:latin typeface="Cambria Math" panose="02040503050406030204" pitchFamily="18" charset="0"/>
                            <a:cs typeface="Cambria Math" panose="02040503050406030204" pitchFamily="18" charset="0"/>
                          </a:rPr>
                          <m:t>𝐶</m:t>
                        </m:r>
                      </m:sub>
                    </m:sSub>
                  </m:oMath>
                </a14:m>
                <a:r>
                  <a:rPr lang="en-US" altLang="zh-CN" sz="1600"/>
                  <a:t> at point C remain unchanged.</a:t>
                </a:r>
                <a:endParaRPr lang="en-US" altLang="zh-CN" sz="1600"/>
              </a:p>
              <a:p>
                <a:r>
                  <a:rPr lang="en-US" altLang="zh-CN" sz="1600"/>
                  <a:t>Both the displacement and pressure angle at point D decrease: </a:t>
                </a:r>
                <a:endParaRPr lang="en-US" altLang="zh-CN" sz="1600"/>
              </a:p>
              <a:p>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ℎ</m:t>
                          </m:r>
                        </m:e>
                        <m:sub>
                          <m:r>
                            <a:rPr lang="en-US" altLang="zh-CN" sz="1600" i="1">
                              <a:latin typeface="Cambria Math" panose="02040503050406030204" pitchFamily="18" charset="0"/>
                              <a:cs typeface="Cambria Math" panose="02040503050406030204" pitchFamily="18" charset="0"/>
                            </a:rPr>
                            <m:t>𝐷</m:t>
                          </m:r>
                        </m:sub>
                      </m:sSub>
                      <m:r>
                        <a:rPr lang="en-US" altLang="zh-CN" sz="1600" i="1">
                          <a:latin typeface="Cambria Math" panose="02040503050406030204" pitchFamily="18" charset="0"/>
                          <a:ea typeface="MS Mincho" charset="0"/>
                          <a:cs typeface="Cambria Math" panose="02040503050406030204" pitchFamily="18" charset="0"/>
                        </a:rPr>
                        <m:t>=</m:t>
                      </m:r>
                      <m:rad>
                        <m:radPr>
                          <m:degHide m:val="on"/>
                          <m:ctrlPr>
                            <a:rPr lang="en-US" altLang="zh-CN" sz="1600" i="1">
                              <a:latin typeface="Cambria Math" panose="02040503050406030204" pitchFamily="18" charset="0"/>
                              <a:cs typeface="Cambria Math" panose="02040503050406030204" pitchFamily="18" charset="0"/>
                            </a:rPr>
                          </m:ctrlPr>
                        </m:radPr>
                        <m:deg/>
                        <m:e>
                          <m:r>
                            <a:rPr lang="en-US" altLang="zh-CN" sz="1600" i="1">
                              <a:latin typeface="Cambria Math" panose="02040503050406030204" pitchFamily="18" charset="0"/>
                              <a:ea typeface="MS Mincho" charset="0"/>
                              <a:cs typeface="Cambria Math" panose="02040503050406030204" pitchFamily="18" charset="0"/>
                            </a:rPr>
                            <m:t>3</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ea typeface="MS Mincho" charset="0"/>
                                  <a:cs typeface="Cambria Math" panose="02040503050406030204" pitchFamily="18" charset="0"/>
                                </a:rPr>
                                <m:t>0</m:t>
                              </m:r>
                            </m:e>
                            <m:sup>
                              <m:r>
                                <a:rPr lang="en-US" altLang="zh-CN" sz="1600" i="1">
                                  <a:latin typeface="Cambria Math" panose="02040503050406030204" pitchFamily="18" charset="0"/>
                                  <a:ea typeface="MS Mincho" charset="0"/>
                                  <a:cs typeface="Cambria Math" panose="02040503050406030204" pitchFamily="18" charset="0"/>
                                </a:rPr>
                                <m:t>2</m:t>
                              </m:r>
                            </m:sup>
                          </m:sSup>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60</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10</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ea typeface="MS Mincho" charset="0"/>
                                  <a:cs typeface="Cambria Math" panose="02040503050406030204" pitchFamily="18" charset="0"/>
                                </a:rPr>
                                <m:t>)</m:t>
                              </m:r>
                            </m:e>
                            <m:sup>
                              <m:r>
                                <a:rPr lang="en-US" altLang="zh-CN" sz="1600" i="1">
                                  <a:latin typeface="Cambria Math" panose="02040503050406030204" pitchFamily="18" charset="0"/>
                                  <a:ea typeface="MS Mincho" charset="0"/>
                                  <a:cs typeface="Cambria Math" panose="02040503050406030204" pitchFamily="18" charset="0"/>
                                </a:rPr>
                                <m:t>2</m:t>
                              </m:r>
                            </m:sup>
                          </m:sSup>
                        </m:e>
                      </m:rad>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40</m:t>
                      </m:r>
                      <m:r>
                        <a:rPr lang="en-US" altLang="zh-CN" sz="1600" i="1">
                          <a:latin typeface="Cambria Math" panose="02040503050406030204" pitchFamily="18" charset="0"/>
                          <a:ea typeface="MS Mincho"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36</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16</m:t>
                      </m:r>
                      <m:r>
                        <a:rPr lang="en-US" altLang="zh-CN" sz="1600" i="1">
                          <a:latin typeface="Cambria Math" panose="02040503050406030204" pitchFamily="18" charset="0"/>
                          <a:ea typeface="MS Mincho" charset="0"/>
                          <a:cs typeface="Cambria Math" panose="02040503050406030204" pitchFamily="18" charset="0"/>
                        </a:rPr>
                        <m:t> </m:t>
                      </m:r>
                      <m:r>
                        <m:rPr>
                          <m:sty m:val="p"/>
                        </m:rPr>
                        <a:rPr lang="en-US" altLang="zh-CN" sz="1600" i="1">
                          <a:latin typeface="Cambria Math" panose="02040503050406030204" pitchFamily="18" charset="0"/>
                          <a:cs typeface="Cambria Math" panose="02040503050406030204" pitchFamily="18" charset="0"/>
                        </a:rPr>
                        <m:t>mm</m:t>
                      </m:r>
                    </m:oMath>
                  </m:oMathPara>
                </a14:m>
                <a:endParaRPr lang="en-US" altLang="zh-CN" sz="1600"/>
              </a:p>
              <a:p>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ea typeface="MS Mincho" charset="0"/>
                              <a:cs typeface="Cambria Math" panose="02040503050406030204" pitchFamily="18" charset="0"/>
                            </a:rPr>
                            <m:t>𝛼</m:t>
                          </m:r>
                        </m:e>
                        <m:sub>
                          <m:r>
                            <a:rPr lang="en-US" altLang="zh-CN" sz="1600" i="1">
                              <a:latin typeface="Cambria Math" panose="02040503050406030204" pitchFamily="18" charset="0"/>
                              <a:cs typeface="Cambria Math" panose="02040503050406030204" pitchFamily="18" charset="0"/>
                            </a:rPr>
                            <m:t>𝐷</m:t>
                          </m:r>
                        </m:sub>
                      </m:sSub>
                      <m:r>
                        <a:rPr lang="en-US" altLang="zh-CN" sz="1600" i="1">
                          <a:latin typeface="Cambria Math" panose="02040503050406030204" pitchFamily="18" charset="0"/>
                          <a:ea typeface="MS Mincho" charset="0"/>
                          <a:cs typeface="Cambria Math" panose="02040503050406030204" pitchFamily="18" charset="0"/>
                        </a:rPr>
                        <m:t>=</m:t>
                      </m:r>
                      <m:func>
                        <m:funcPr>
                          <m:ctrlPr>
                            <a:rPr lang="en-US" altLang="zh-CN" sz="1600" i="1">
                              <a:latin typeface="Cambria Math" panose="02040503050406030204" pitchFamily="18" charset="0"/>
                              <a:cs typeface="Cambria Math" panose="02040503050406030204" pitchFamily="18" charset="0"/>
                            </a:rPr>
                          </m:ctrlPr>
                        </m:funcPr>
                        <m:fName>
                          <m:r>
                            <m:rPr>
                              <m:sty m:val="p"/>
                            </m:rPr>
                            <a:rPr lang="en-US" altLang="zh-CN" sz="1600" i="1">
                              <a:latin typeface="Cambria Math" panose="02040503050406030204" pitchFamily="18" charset="0"/>
                              <a:cs typeface="Cambria Math" panose="02040503050406030204" pitchFamily="18" charset="0"/>
                            </a:rPr>
                            <m:t>arctan</m:t>
                          </m:r>
                        </m:fName>
                        <m:e>
                          <m:d>
                            <m:dPr>
                              <m:begChr m:val="["/>
                              <m:endChr m:val="]"/>
                              <m:ctrlPr>
                                <a:rPr lang="en-US" altLang="zh-CN" sz="1600" i="1">
                                  <a:latin typeface="Cambria Math" panose="02040503050406030204" pitchFamily="18" charset="0"/>
                                  <a:cs typeface="Cambria Math" panose="02040503050406030204" pitchFamily="18" charset="0"/>
                                </a:rPr>
                              </m:ctrlPr>
                            </m:dPr>
                            <m:e>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ea typeface="MS Mincho" charset="0"/>
                                      <a:cs typeface="Cambria Math" panose="02040503050406030204" pitchFamily="18" charset="0"/>
                                    </a:rPr>
                                    <m:t>30</m:t>
                                  </m:r>
                                </m:num>
                                <m:den>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60</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10</m:t>
                                  </m:r>
                                  <m:r>
                                    <a:rPr lang="en-US" altLang="zh-CN" sz="1600" i="1">
                                      <a:latin typeface="Cambria Math" panose="02040503050406030204" pitchFamily="18" charset="0"/>
                                      <a:ea typeface="MS Mincho" charset="0"/>
                                      <a:cs typeface="Cambria Math" panose="02040503050406030204" pitchFamily="18" charset="0"/>
                                    </a:rPr>
                                    <m:t>)</m:t>
                                  </m:r>
                                </m:den>
                              </m:f>
                            </m:e>
                          </m:d>
                        </m:e>
                      </m:func>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23</m:t>
                      </m:r>
                      <m:r>
                        <a:rPr lang="en-US" altLang="zh-CN" sz="1600" i="1">
                          <a:latin typeface="Cambria Math" panose="02040503050406030204" pitchFamily="18" charset="0"/>
                          <a:ea typeface="MS Mincho"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ea typeface="MS Mincho" charset="0"/>
                              <a:cs typeface="Cambria Math" panose="02040503050406030204" pitchFamily="18" charset="0"/>
                            </a:rPr>
                            <m:t>2</m:t>
                          </m:r>
                        </m:e>
                        <m:sup>
                          <m:r>
                            <a:rPr lang="en-US" altLang="zh-CN" sz="1600" i="1">
                              <a:latin typeface="Cambria Math" panose="02040503050406030204" pitchFamily="18" charset="0"/>
                              <a:ea typeface="MS Mincho" charset="0"/>
                              <a:cs typeface="Cambria Math" panose="02040503050406030204" pitchFamily="18" charset="0"/>
                            </a:rPr>
                            <m:t>∘</m:t>
                          </m:r>
                        </m:sup>
                      </m:sSup>
                    </m:oMath>
                  </m:oMathPara>
                </a14:m>
                <a:endParaRPr lang="en-US" altLang="zh-CN" sz="1600">
                  <a:latin typeface="Cambria Math" panose="02040503050406030204" pitchFamily="18" charset="0"/>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1498600" y="4179570"/>
                <a:ext cx="6854825" cy="211772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1007745" y="319405"/>
            <a:ext cx="96208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a:ea typeface="黑体" panose="02010609060101010101" pitchFamily="2" charset="-122"/>
                <a:cs typeface="+mn-cs"/>
              </a:rPr>
              <a:t>3-5 Pressure Angle, Base Circle Radius, and Offset Selection</a:t>
            </a:r>
            <a:endParaRPr kumimoji="0" lang="zh-CN" altLang="en-US" sz="2800" b="0" i="0" u="none" strike="noStrike" kern="1200" cap="none" spc="0" normalizeH="0" baseline="0" noProof="0" dirty="0">
              <a:ln>
                <a:noFill/>
              </a:ln>
              <a:solidFill>
                <a:srgbClr val="3D7AB7">
                  <a:lumMod val="75000"/>
                </a:srgbClr>
              </a:solidFill>
              <a:effectLst/>
              <a:uLnTx/>
              <a:uFillTx/>
              <a:latin typeface="Times New Roman" panose="02020603050405020304"/>
              <a:ea typeface="黑体" panose="02010609060101010101" pitchFamily="2" charset="-122"/>
              <a:cs typeface="+mn-cs"/>
            </a:endParaRPr>
          </a:p>
        </p:txBody>
      </p:sp>
      <p:sp>
        <p:nvSpPr>
          <p:cNvPr id="8" name="灯片编号占位符 7"/>
          <p:cNvSpPr>
            <a:spLocks noGrp="1"/>
          </p:cNvSpPr>
          <p:nvPr>
            <p:ph type="sldNum" sz="quarter" idx="12"/>
          </p:nvPr>
        </p:nvSpPr>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fld id="{F54A3870-DF25-464D-B6EA-3BA6EAAA2BCA}" type="slidenum">
              <a:rPr kumimoji="0" lang="zh-CN" altLang="en-US" sz="1800" b="0" i="0" u="none" strike="noStrike" kern="1200" cap="none" spc="0" normalizeH="0" baseline="0" noProof="0" smtClean="0">
                <a:ln>
                  <a:noFill/>
                </a:ln>
                <a:solidFill>
                  <a:srgbClr val="000000"/>
                </a:solidFill>
                <a:effectLst/>
                <a:uLnTx/>
                <a:uFillTx/>
                <a:latin typeface="Times New Roman" panose="02020603050405020304"/>
                <a:ea typeface="黑体" panose="02010609060101010101" pitchFamily="2" charset="-122"/>
                <a:cs typeface="+mn-cs"/>
              </a:rPr>
            </a:fld>
            <a:endParaRPr kumimoji="0" lang="zh-CN" alt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56" name="Text Box 6"/>
          <p:cNvSpPr txBox="1">
            <a:spLocks noChangeArrowheads="1"/>
          </p:cNvSpPr>
          <p:nvPr/>
        </p:nvSpPr>
        <p:spPr bwMode="auto">
          <a:xfrm>
            <a:off x="98632" y="5614555"/>
            <a:ext cx="9071971"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Pressure Angle</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The acute angle </a:t>
            </a:r>
            <a:r>
              <a:rPr kumimoji="0" lang="en-US" altLang="zh-CN" sz="16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α</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between the direction of the force acting on the point of force application on the driven member and the absolute velocity direction of that point.</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9" name="Text Box 6"/>
          <p:cNvSpPr txBox="1">
            <a:spLocks noChangeArrowheads="1"/>
          </p:cNvSpPr>
          <p:nvPr/>
        </p:nvSpPr>
        <p:spPr bwMode="auto">
          <a:xfrm>
            <a:off x="122423" y="6227893"/>
            <a:ext cx="9071971"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Self-closure</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When pressure angle exceeds a certain value, harmful friction F</a:t>
            </a:r>
            <a:r>
              <a:rPr kumimoji="0" lang="zh-CN" altLang="en-US" sz="1600" b="0" i="0" u="none" strike="noStrike" kern="1200" cap="none" spc="0" normalizeH="0" baseline="-2500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2</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exceeds useful force F</a:t>
            </a:r>
            <a:r>
              <a:rPr kumimoji="0" lang="zh-CN" altLang="en-US" sz="1600" b="0" i="0" u="none" strike="noStrike" kern="1200" cap="none" spc="0" normalizeH="0" baseline="-2500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r>
              <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 the follower cannot move regardless of driving force.</a:t>
            </a:r>
            <a:endPar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1"/>
          <a:stretch>
            <a:fillRect/>
          </a:stretch>
        </p:blipFill>
        <p:spPr>
          <a:xfrm>
            <a:off x="9170590" y="2206228"/>
            <a:ext cx="2747553" cy="3855028"/>
          </a:xfrm>
          <a:prstGeom prst="rect">
            <a:avLst/>
          </a:prstGeom>
        </p:spPr>
      </p:pic>
      <p:grpSp>
        <p:nvGrpSpPr>
          <p:cNvPr id="10" name="组合 9"/>
          <p:cNvGrpSpPr/>
          <p:nvPr/>
        </p:nvGrpSpPr>
        <p:grpSpPr>
          <a:xfrm>
            <a:off x="10042440" y="1780969"/>
            <a:ext cx="2127014" cy="1155904"/>
            <a:chOff x="8694188" y="1661235"/>
            <a:chExt cx="2127014" cy="1155904"/>
          </a:xfrm>
        </p:grpSpPr>
        <p:sp>
          <p:nvSpPr>
            <p:cNvPr id="2" name="椭圆 1"/>
            <p:cNvSpPr/>
            <p:nvPr/>
          </p:nvSpPr>
          <p:spPr bwMode="auto">
            <a:xfrm>
              <a:off x="8694188" y="2297788"/>
              <a:ext cx="897073" cy="519351"/>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AU" sz="18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cxnSp>
          <p:nvCxnSpPr>
            <p:cNvPr id="6" name="直接箭头连接符 5"/>
            <p:cNvCxnSpPr/>
            <p:nvPr/>
          </p:nvCxnSpPr>
          <p:spPr bwMode="auto">
            <a:xfrm flipV="1">
              <a:off x="9508082" y="2030902"/>
              <a:ext cx="616226" cy="369598"/>
            </a:xfrm>
            <a:prstGeom prst="straightConnector1">
              <a:avLst/>
            </a:prstGeom>
            <a:solidFill>
              <a:schemeClr val="accent1"/>
            </a:solidFill>
            <a:ln w="952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矩形 6"/>
            <p:cNvSpPr/>
            <p:nvPr/>
          </p:nvSpPr>
          <p:spPr>
            <a:xfrm>
              <a:off x="9508657" y="1661235"/>
              <a:ext cx="1312545" cy="36830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u="none" strike="noStrike" kern="1200" cap="none" spc="0" normalizeH="0" baseline="0" noProof="0" smtClean="0">
                  <a:ln>
                    <a:noFill/>
                  </a:ln>
                  <a:solidFill>
                    <a:srgbClr val="FF0000"/>
                  </a:solidFill>
                  <a:effectLst/>
                  <a:uLnTx/>
                  <a:uFillTx/>
                  <a:latin typeface="Cambria Math" panose="02040503050406030204" pitchFamily="18" charset="0"/>
                  <a:cs typeface="+mn-cs"/>
                </a:rPr>
                <a:t>self-closure</a:t>
              </a: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a:ea typeface="黑体" panose="02010609060101010101" pitchFamily="2" charset="-122"/>
                <a:cs typeface="+mn-cs"/>
              </a:endParaRPr>
            </a:p>
          </p:txBody>
        </p:sp>
      </p:grpSp>
      <p:pic>
        <p:nvPicPr>
          <p:cNvPr id="5" name="图片 4"/>
          <p:cNvPicPr>
            <a:picLocks noChangeAspect="1"/>
          </p:cNvPicPr>
          <p:nvPr/>
        </p:nvPicPr>
        <p:blipFill>
          <a:blip r:embed="rId2"/>
          <a:stretch>
            <a:fillRect/>
          </a:stretch>
        </p:blipFill>
        <p:spPr>
          <a:xfrm>
            <a:off x="351997" y="2262918"/>
            <a:ext cx="7130487" cy="3351970"/>
          </a:xfrm>
          <a:prstGeom prst="rect">
            <a:avLst/>
          </a:prstGeom>
        </p:spPr>
      </p:pic>
      <p:sp>
        <p:nvSpPr>
          <p:cNvPr id="14" name="文本框 13"/>
          <p:cNvSpPr txBox="1"/>
          <p:nvPr/>
        </p:nvSpPr>
        <p:spPr>
          <a:xfrm>
            <a:off x="404032" y="4030456"/>
            <a:ext cx="3393471" cy="646331"/>
          </a:xfrm>
          <a:prstGeom prst="rect">
            <a:avLst/>
          </a:prstGeom>
          <a:noFill/>
        </p:spPr>
        <p:txBody>
          <a:bodyPr wrap="square">
            <a:spAutoFit/>
          </a:bodyPr>
          <a:lstStyle/>
          <a:p>
            <a:r>
              <a:rPr lang="zh-CN" altLang="en-US" dirty="0">
                <a:solidFill>
                  <a:srgbClr val="000000"/>
                </a:solidFill>
                <a:latin typeface="黑体" panose="02010609060101010101" pitchFamily="2" charset="-122"/>
                <a:ea typeface="黑体" panose="02010609060101010101" pitchFamily="2" charset="-122"/>
              </a:rPr>
              <a:t>How to select base circle radius and offset?</a:t>
            </a:r>
            <a:endParaRPr lang="en-US" altLang="zh-CN" dirty="0">
              <a:solidFill>
                <a:srgbClr val="000000"/>
              </a:solidFill>
              <a:latin typeface="黑体" panose="02010609060101010101" pitchFamily="2" charset="-122"/>
              <a:ea typeface="黑体" panose="02010609060101010101" pitchFamily="2" charset="-122"/>
            </a:endParaRPr>
          </a:p>
          <a:p>
            <a:r>
              <a:rPr lang="zh-CN" altLang="en-US" dirty="0">
                <a:solidFill>
                  <a:srgbClr val="000000"/>
                </a:solidFill>
                <a:latin typeface="黑体" panose="02010609060101010101" pitchFamily="2" charset="-122"/>
                <a:ea typeface="黑体" panose="02010609060101010101" pitchFamily="2" charset="-122"/>
              </a:rPr>
              <a:t>What do they affect?</a:t>
            </a:r>
            <a:endParaRPr lang="en-US" altLang="zh-CN" dirty="0">
              <a:solidFill>
                <a:srgbClr val="000000"/>
              </a:solidFill>
              <a:latin typeface="黑体" panose="02010609060101010101" pitchFamily="2" charset="-122"/>
              <a:ea typeface="黑体" panose="02010609060101010101" pitchFamily="2" charset="-122"/>
            </a:endParaRPr>
          </a:p>
        </p:txBody>
      </p:sp>
      <p:pic>
        <p:nvPicPr>
          <p:cNvPr id="11" name="图片 10"/>
          <p:cNvPicPr>
            <a:picLocks noChangeAspect="1"/>
          </p:cNvPicPr>
          <p:nvPr/>
        </p:nvPicPr>
        <p:blipFill>
          <a:blip r:embed="rId3"/>
          <a:stretch>
            <a:fillRect/>
          </a:stretch>
        </p:blipFill>
        <p:spPr>
          <a:xfrm>
            <a:off x="122555" y="877570"/>
            <a:ext cx="8570595" cy="28321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dissolve">
                                      <p:cBhvr>
                                        <p:cTn id="7" dur="500"/>
                                        <p:tgtEl>
                                          <p:spTgt spid="59"/>
                                        </p:tgtEl>
                                      </p:cBhvr>
                                    </p:animEffect>
                                  </p:childTnLst>
                                </p:cTn>
                              </p:par>
                              <p:par>
                                <p:cTn id="8" presetID="1"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fld id="{F54A3870-DF25-464D-B6EA-3BA6EAAA2BCA}" type="slidenum">
              <a:rPr kumimoji="0" lang="zh-CN" altLang="en-US" sz="18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fld>
            <a:endParaRPr kumimoji="0" lang="zh-CN" altLang="en-US" sz="18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5" name="Text Box 82"/>
          <p:cNvSpPr txBox="1">
            <a:spLocks noChangeArrowheads="1"/>
          </p:cNvSpPr>
          <p:nvPr/>
        </p:nvSpPr>
        <p:spPr bwMode="auto">
          <a:xfrm>
            <a:off x="571500" y="1089025"/>
            <a:ext cx="63017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en-US" sz="2800" b="0" i="0" u="none" strike="noStrike" kern="1200" cap="none" spc="0" normalizeH="0" baseline="0" noProof="0" dirty="0">
                <a:ln>
                  <a:noFill/>
                </a:ln>
                <a:solidFill>
                  <a:srgbClr val="000000">
                    <a:lumMod val="95000"/>
                    <a:lumOff val="5000"/>
                  </a:srgbClr>
                </a:solidFill>
                <a:effectLst/>
                <a:uLnTx/>
                <a:uFillTx/>
                <a:latin typeface="微软雅黑" panose="020B0503020204020204" pitchFamily="34" charset="-122"/>
                <a:ea typeface="微软雅黑" panose="020B0503020204020204" pitchFamily="34" charset="-122"/>
                <a:cs typeface="+mn-cs"/>
              </a:rPr>
              <a:t>Pressure Angle Calculation:</a:t>
            </a:r>
            <a:endParaRPr kumimoji="0" lang="zh-CN" altLang="en-US" sz="2800" b="0" i="0" u="none" strike="noStrike" kern="1200" cap="none" spc="0" normalizeH="0" baseline="0" noProof="0" dirty="0">
              <a:ln>
                <a:noFill/>
              </a:ln>
              <a:solidFill>
                <a:srgbClr val="000000">
                  <a:lumMod val="95000"/>
                  <a:lumOff val="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2" name="组合 1"/>
          <p:cNvGrpSpPr/>
          <p:nvPr/>
        </p:nvGrpSpPr>
        <p:grpSpPr>
          <a:xfrm>
            <a:off x="8370990" y="1487812"/>
            <a:ext cx="3250120" cy="3398837"/>
            <a:chOff x="5233988" y="2293938"/>
            <a:chExt cx="3250120" cy="3398837"/>
          </a:xfrm>
        </p:grpSpPr>
        <p:grpSp>
          <p:nvGrpSpPr>
            <p:cNvPr id="6" name="Group 17"/>
            <p:cNvGrpSpPr/>
            <p:nvPr/>
          </p:nvGrpSpPr>
          <p:grpSpPr bwMode="auto">
            <a:xfrm>
              <a:off x="6448425" y="4719638"/>
              <a:ext cx="457200" cy="322262"/>
              <a:chOff x="994" y="1728"/>
              <a:chExt cx="288" cy="203"/>
            </a:xfrm>
          </p:grpSpPr>
          <p:sp>
            <p:nvSpPr>
              <p:cNvPr id="7" name="AutoShape 18"/>
              <p:cNvSpPr>
                <a:spLocks noChangeArrowheads="1"/>
              </p:cNvSpPr>
              <p:nvPr/>
            </p:nvSpPr>
            <p:spPr bwMode="auto">
              <a:xfrm>
                <a:off x="1063" y="1755"/>
                <a:ext cx="144" cy="96"/>
              </a:xfrm>
              <a:prstGeom prst="triangle">
                <a:avLst>
                  <a:gd name="adj" fmla="val 50000"/>
                </a:avLst>
              </a:prstGeom>
              <a:solidFill>
                <a:srgbClr val="FFFFCC"/>
              </a:solidFill>
              <a:ln w="25400">
                <a:solidFill>
                  <a:schemeClr val="tx1"/>
                </a:solidFill>
                <a:miter lim="800000"/>
              </a:ln>
            </p:spPr>
            <p:txBody>
              <a:bodyPr wrap="none" anchor="ctr">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p:sp>
            <p:nvSpPr>
              <p:cNvPr id="9" name="Oval 19"/>
              <p:cNvSpPr>
                <a:spLocks noChangeArrowheads="1"/>
              </p:cNvSpPr>
              <p:nvPr/>
            </p:nvSpPr>
            <p:spPr bwMode="auto">
              <a:xfrm>
                <a:off x="1104" y="1728"/>
                <a:ext cx="68" cy="68"/>
              </a:xfrm>
              <a:prstGeom prst="ellipse">
                <a:avLst/>
              </a:prstGeom>
              <a:solidFill>
                <a:srgbClr val="FFFFCC"/>
              </a:solidFill>
              <a:ln w="25400">
                <a:solidFill>
                  <a:schemeClr val="tx1"/>
                </a:solidFill>
                <a:round/>
              </a:ln>
            </p:spPr>
            <p:txBody>
              <a:bodyPr wrap="none" anchor="ctr">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p:sp>
            <p:nvSpPr>
              <p:cNvPr id="10" name="Line 20"/>
              <p:cNvSpPr>
                <a:spLocks noChangeShapeType="1"/>
              </p:cNvSpPr>
              <p:nvPr/>
            </p:nvSpPr>
            <p:spPr bwMode="auto">
              <a:xfrm>
                <a:off x="994" y="1851"/>
                <a:ext cx="288"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1" name="Line 21"/>
              <p:cNvSpPr>
                <a:spLocks noChangeShapeType="1"/>
              </p:cNvSpPr>
              <p:nvPr/>
            </p:nvSpPr>
            <p:spPr bwMode="auto">
              <a:xfrm rot="2700000">
                <a:off x="1006" y="1886"/>
                <a:ext cx="91"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2" name="Line 22"/>
              <p:cNvSpPr>
                <a:spLocks noChangeShapeType="1"/>
              </p:cNvSpPr>
              <p:nvPr/>
            </p:nvSpPr>
            <p:spPr bwMode="auto">
              <a:xfrm rot="2700000">
                <a:off x="1073" y="1881"/>
                <a:ext cx="91"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3" name="Line 23"/>
              <p:cNvSpPr>
                <a:spLocks noChangeShapeType="1"/>
              </p:cNvSpPr>
              <p:nvPr/>
            </p:nvSpPr>
            <p:spPr bwMode="auto">
              <a:xfrm rot="2700000">
                <a:off x="1146" y="1886"/>
                <a:ext cx="91"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4" name="Line 24"/>
              <p:cNvSpPr>
                <a:spLocks noChangeShapeType="1"/>
              </p:cNvSpPr>
              <p:nvPr/>
            </p:nvSpPr>
            <p:spPr bwMode="auto">
              <a:xfrm rot="2700000">
                <a:off x="1213" y="1881"/>
                <a:ext cx="91"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sp>
          <p:nvSpPr>
            <p:cNvPr id="15" name="Oval 5"/>
            <p:cNvSpPr>
              <a:spLocks noChangeArrowheads="1"/>
            </p:cNvSpPr>
            <p:nvPr/>
          </p:nvSpPr>
          <p:spPr bwMode="auto">
            <a:xfrm>
              <a:off x="5959475" y="4049713"/>
              <a:ext cx="1439863" cy="1439862"/>
            </a:xfrm>
            <a:prstGeom prst="ellipse">
              <a:avLst/>
            </a:prstGeom>
            <a:noFill/>
            <a:ln w="952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p:sp>
          <p:nvSpPr>
            <p:cNvPr id="17" name="Line 8"/>
            <p:cNvSpPr>
              <a:spLocks noChangeShapeType="1"/>
            </p:cNvSpPr>
            <p:nvPr/>
          </p:nvSpPr>
          <p:spPr bwMode="auto">
            <a:xfrm>
              <a:off x="5233988" y="4778375"/>
              <a:ext cx="3250120" cy="0"/>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8" name="Line 9"/>
            <p:cNvSpPr>
              <a:spLocks noChangeShapeType="1"/>
            </p:cNvSpPr>
            <p:nvPr/>
          </p:nvSpPr>
          <p:spPr bwMode="auto">
            <a:xfrm>
              <a:off x="6319986" y="2569363"/>
              <a:ext cx="1528615" cy="2451281"/>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9" name="Line 12"/>
            <p:cNvSpPr>
              <a:spLocks noChangeShapeType="1"/>
            </p:cNvSpPr>
            <p:nvPr/>
          </p:nvSpPr>
          <p:spPr bwMode="auto">
            <a:xfrm>
              <a:off x="7046913" y="2849563"/>
              <a:ext cx="0" cy="2286000"/>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20" name="Oval 13"/>
            <p:cNvSpPr>
              <a:spLocks noChangeAspect="1" noChangeArrowheads="1"/>
            </p:cNvSpPr>
            <p:nvPr/>
          </p:nvSpPr>
          <p:spPr bwMode="auto">
            <a:xfrm>
              <a:off x="6323013" y="4413250"/>
              <a:ext cx="719137" cy="719138"/>
            </a:xfrm>
            <a:prstGeom prst="ellipse">
              <a:avLst/>
            </a:prstGeom>
            <a:noFill/>
            <a:ln w="15875">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p:sp>
          <p:nvSpPr>
            <p:cNvPr id="21" name="Line 14"/>
            <p:cNvSpPr>
              <a:spLocks noChangeShapeType="1"/>
            </p:cNvSpPr>
            <p:nvPr/>
          </p:nvSpPr>
          <p:spPr bwMode="auto">
            <a:xfrm>
              <a:off x="7046913" y="2293938"/>
              <a:ext cx="17396" cy="14334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nvGrpSpPr>
            <p:cNvPr id="22" name="Group 37"/>
            <p:cNvGrpSpPr/>
            <p:nvPr/>
          </p:nvGrpSpPr>
          <p:grpSpPr bwMode="auto">
            <a:xfrm>
              <a:off x="6927850" y="2416175"/>
              <a:ext cx="244475" cy="390525"/>
              <a:chOff x="930" y="2194"/>
              <a:chExt cx="154" cy="246"/>
            </a:xfrm>
          </p:grpSpPr>
          <p:sp>
            <p:nvSpPr>
              <p:cNvPr id="23" name="Line 38"/>
              <p:cNvSpPr>
                <a:spLocks noChangeShapeType="1"/>
              </p:cNvSpPr>
              <p:nvPr/>
            </p:nvSpPr>
            <p:spPr bwMode="auto">
              <a:xfrm>
                <a:off x="960" y="2208"/>
                <a:ext cx="0" cy="215"/>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24" name="Line 39"/>
              <p:cNvSpPr>
                <a:spLocks noChangeShapeType="1"/>
              </p:cNvSpPr>
              <p:nvPr/>
            </p:nvSpPr>
            <p:spPr bwMode="auto">
              <a:xfrm rot="2700000">
                <a:off x="898" y="2228"/>
                <a:ext cx="6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25" name="Line 40"/>
              <p:cNvSpPr>
                <a:spLocks noChangeShapeType="1"/>
              </p:cNvSpPr>
              <p:nvPr/>
            </p:nvSpPr>
            <p:spPr bwMode="auto">
              <a:xfrm rot="2700000">
                <a:off x="896" y="2296"/>
                <a:ext cx="6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26" name="Line 41"/>
              <p:cNvSpPr>
                <a:spLocks noChangeShapeType="1"/>
              </p:cNvSpPr>
              <p:nvPr/>
            </p:nvSpPr>
            <p:spPr bwMode="auto">
              <a:xfrm rot="2700000">
                <a:off x="896" y="2366"/>
                <a:ext cx="6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nvGrpSpPr>
              <p:cNvPr id="27" name="Group 42"/>
              <p:cNvGrpSpPr/>
              <p:nvPr/>
            </p:nvGrpSpPr>
            <p:grpSpPr bwMode="auto">
              <a:xfrm>
                <a:off x="1056" y="2213"/>
                <a:ext cx="28" cy="227"/>
                <a:chOff x="1063" y="2269"/>
                <a:chExt cx="28" cy="227"/>
              </a:xfrm>
            </p:grpSpPr>
            <p:sp>
              <p:nvSpPr>
                <p:cNvPr id="28" name="Line 43"/>
                <p:cNvSpPr>
                  <a:spLocks noChangeShapeType="1"/>
                </p:cNvSpPr>
                <p:nvPr/>
              </p:nvSpPr>
              <p:spPr bwMode="auto">
                <a:xfrm>
                  <a:off x="1063" y="2269"/>
                  <a:ext cx="0" cy="215"/>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29" name="Line 44"/>
                <p:cNvSpPr>
                  <a:spLocks noChangeShapeType="1"/>
                </p:cNvSpPr>
                <p:nvPr/>
              </p:nvSpPr>
              <p:spPr bwMode="auto">
                <a:xfrm rot="2700000">
                  <a:off x="1057" y="2324"/>
                  <a:ext cx="6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30" name="Line 45"/>
                <p:cNvSpPr>
                  <a:spLocks noChangeShapeType="1"/>
                </p:cNvSpPr>
                <p:nvPr/>
              </p:nvSpPr>
              <p:spPr bwMode="auto">
                <a:xfrm rot="2700000">
                  <a:off x="1055" y="2392"/>
                  <a:ext cx="6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31" name="Line 46"/>
                <p:cNvSpPr>
                  <a:spLocks noChangeShapeType="1"/>
                </p:cNvSpPr>
                <p:nvPr/>
              </p:nvSpPr>
              <p:spPr bwMode="auto">
                <a:xfrm rot="2700000">
                  <a:off x="1055" y="2462"/>
                  <a:ext cx="6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grpSp>
        <p:sp>
          <p:nvSpPr>
            <p:cNvPr id="42" name="Line 65"/>
            <p:cNvSpPr>
              <a:spLocks noChangeShapeType="1"/>
            </p:cNvSpPr>
            <p:nvPr/>
          </p:nvSpPr>
          <p:spPr bwMode="auto">
            <a:xfrm>
              <a:off x="7051675" y="3576639"/>
              <a:ext cx="0" cy="169778"/>
            </a:xfrm>
            <a:prstGeom prst="line">
              <a:avLst/>
            </a:prstGeom>
            <a:noFill/>
            <a:ln w="19050">
              <a:solidFill>
                <a:srgbClr val="FF00FF"/>
              </a:solidFill>
              <a:prstDash val="sysDot"/>
              <a:round/>
              <a:headEnd type="none" w="sm" len="lg"/>
              <a:tailEnd type="stealth" w="sm" len="lg"/>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50" name="Arc 75"/>
            <p:cNvSpPr/>
            <p:nvPr/>
          </p:nvSpPr>
          <p:spPr bwMode="auto">
            <a:xfrm rot="10413972">
              <a:off x="5915025" y="5159375"/>
              <a:ext cx="609600" cy="533400"/>
            </a:xfrm>
            <a:custGeom>
              <a:avLst/>
              <a:gdLst>
                <a:gd name="T0" fmla="*/ 0 w 21600"/>
                <a:gd name="T1" fmla="*/ 0 h 21600"/>
                <a:gd name="T2" fmla="*/ 5588 w 21600"/>
                <a:gd name="T3" fmla="*/ 3037 h 21600"/>
                <a:gd name="T4" fmla="*/ 0 w 21600"/>
                <a:gd name="T5" fmla="*/ 303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type="stealth" w="sm" len="lg"/>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2" name="Object 80"/>
            <p:cNvGraphicFramePr>
              <a:graphicFrameLocks noChangeAspect="1"/>
            </p:cNvGraphicFramePr>
            <p:nvPr/>
          </p:nvGraphicFramePr>
          <p:xfrm>
            <a:off x="6731347" y="4504816"/>
            <a:ext cx="295275" cy="317500"/>
          </p:xfrm>
          <a:graphic>
            <a:graphicData uri="http://schemas.openxmlformats.org/presentationml/2006/ole">
              <mc:AlternateContent xmlns:mc="http://schemas.openxmlformats.org/markup-compatibility/2006">
                <mc:Choice xmlns:v="urn:schemas-microsoft-com:vml" Requires="v">
                  <p:oleObj spid="_x0000_s236570" name="Equation" r:id="rId1" imgW="98425" imgH="109855" progId="Equation.3">
                    <p:embed/>
                  </p:oleObj>
                </mc:Choice>
                <mc:Fallback>
                  <p:oleObj name="Equation" r:id="rId1" imgW="98425" imgH="109855" progId="Equation.3">
                    <p:embed/>
                    <p:pic>
                      <p:nvPicPr>
                        <p:cNvPr id="0" name="Object 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347" y="4504816"/>
                          <a:ext cx="2952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 name="Line 95"/>
            <p:cNvSpPr>
              <a:spLocks noChangeShapeType="1"/>
            </p:cNvSpPr>
            <p:nvPr/>
          </p:nvSpPr>
          <p:spPr bwMode="auto">
            <a:xfrm flipH="1">
              <a:off x="6108700" y="4808538"/>
              <a:ext cx="533400" cy="381000"/>
            </a:xfrm>
            <a:prstGeom prst="line">
              <a:avLst/>
            </a:prstGeom>
            <a:noFill/>
            <a:ln w="19050">
              <a:solidFill>
                <a:srgbClr val="FF0000"/>
              </a:solidFill>
              <a:round/>
              <a:headEnd type="none" w="sm" len="sm"/>
              <a:tailEnd type="stealth" w="sm" len="lg"/>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63" name="Line 97"/>
            <p:cNvSpPr>
              <a:spLocks noChangeShapeType="1"/>
            </p:cNvSpPr>
            <p:nvPr/>
          </p:nvSpPr>
          <p:spPr bwMode="auto">
            <a:xfrm>
              <a:off x="6684963" y="4503738"/>
              <a:ext cx="381000" cy="0"/>
            </a:xfrm>
            <a:prstGeom prst="line">
              <a:avLst/>
            </a:prstGeom>
            <a:noFill/>
            <a:ln w="19050">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65" name="Line 99"/>
            <p:cNvSpPr>
              <a:spLocks noChangeShapeType="1"/>
            </p:cNvSpPr>
            <p:nvPr/>
          </p:nvSpPr>
          <p:spPr bwMode="auto">
            <a:xfrm>
              <a:off x="7058025" y="3731062"/>
              <a:ext cx="990600" cy="0"/>
            </a:xfrm>
            <a:prstGeom prst="line">
              <a:avLst/>
            </a:prstGeom>
            <a:noFill/>
            <a:ln w="158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66" name="Line 100"/>
            <p:cNvSpPr>
              <a:spLocks noChangeShapeType="1"/>
            </p:cNvSpPr>
            <p:nvPr/>
          </p:nvSpPr>
          <p:spPr bwMode="auto">
            <a:xfrm>
              <a:off x="7043738" y="4156075"/>
              <a:ext cx="990600" cy="0"/>
            </a:xfrm>
            <a:prstGeom prst="line">
              <a:avLst/>
            </a:prstGeom>
            <a:noFill/>
            <a:ln w="158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67" name="Line 101"/>
            <p:cNvSpPr>
              <a:spLocks noChangeShapeType="1"/>
            </p:cNvSpPr>
            <p:nvPr/>
          </p:nvSpPr>
          <p:spPr bwMode="auto">
            <a:xfrm>
              <a:off x="7848601" y="3706537"/>
              <a:ext cx="0" cy="475434"/>
            </a:xfrm>
            <a:prstGeom prst="line">
              <a:avLst/>
            </a:prstGeom>
            <a:noFill/>
            <a:ln w="15875">
              <a:solidFill>
                <a:srgbClr val="FF0000"/>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99" name="Line 60"/>
            <p:cNvSpPr>
              <a:spLocks noChangeShapeType="1"/>
            </p:cNvSpPr>
            <p:nvPr/>
          </p:nvSpPr>
          <p:spPr bwMode="auto">
            <a:xfrm>
              <a:off x="7217011" y="3117692"/>
              <a:ext cx="0" cy="280609"/>
            </a:xfrm>
            <a:prstGeom prst="line">
              <a:avLst/>
            </a:prstGeom>
            <a:noFill/>
            <a:ln w="19050">
              <a:solidFill>
                <a:srgbClr val="FF0000"/>
              </a:solidFill>
              <a:round/>
              <a:headEnd type="stealth" w="sm" len="lg"/>
              <a:tailEnd type="none" w="sm" len="lg"/>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grpSp>
        <p:nvGrpSpPr>
          <p:cNvPr id="16" name="组合 15"/>
          <p:cNvGrpSpPr/>
          <p:nvPr/>
        </p:nvGrpSpPr>
        <p:grpSpPr>
          <a:xfrm>
            <a:off x="1212056" y="4865691"/>
            <a:ext cx="10979732" cy="1797977"/>
            <a:chOff x="1212056" y="4973895"/>
            <a:chExt cx="10979732" cy="1797977"/>
          </a:xfrm>
        </p:grpSpPr>
        <p:graphicFrame>
          <p:nvGraphicFramePr>
            <p:cNvPr id="78" name="Object 2"/>
            <p:cNvGraphicFramePr>
              <a:graphicFrameLocks noChangeAspect="1"/>
            </p:cNvGraphicFramePr>
            <p:nvPr/>
          </p:nvGraphicFramePr>
          <p:xfrm>
            <a:off x="1212056" y="5459010"/>
            <a:ext cx="3813175" cy="1312862"/>
          </p:xfrm>
          <a:graphic>
            <a:graphicData uri="http://schemas.openxmlformats.org/presentationml/2006/ole">
              <mc:AlternateContent xmlns:mc="http://schemas.openxmlformats.org/markup-compatibility/2006">
                <mc:Choice xmlns:v="urn:schemas-microsoft-com:vml" Requires="v">
                  <p:oleObj spid="_x0000_s236571" name="Equation" r:id="rId3" imgW="34442400" imgH="11887200" progId="Equation.DSMT4">
                    <p:embed/>
                  </p:oleObj>
                </mc:Choice>
                <mc:Fallback>
                  <p:oleObj name="Equation" r:id="rId3" imgW="34442400" imgH="11887200" progId="Equation.DSMT4">
                    <p:embed/>
                    <p:pic>
                      <p:nvPicPr>
                        <p:cNvPr id="0" name="Object 2"/>
                        <p:cNvPicPr>
                          <a:picLocks noChangeAspect="1" noChangeArrowheads="1"/>
                        </p:cNvPicPr>
                        <p:nvPr/>
                      </p:nvPicPr>
                      <p:blipFill>
                        <a:blip r:embed="rId4"/>
                        <a:srcRect/>
                        <a:stretch>
                          <a:fillRect/>
                        </a:stretch>
                      </p:blipFill>
                      <p:spPr bwMode="auto">
                        <a:xfrm>
                          <a:off x="1212056" y="5459010"/>
                          <a:ext cx="3813175" cy="131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 name="Object 6"/>
            <p:cNvGraphicFramePr>
              <a:graphicFrameLocks noChangeAspect="1"/>
            </p:cNvGraphicFramePr>
            <p:nvPr/>
          </p:nvGraphicFramePr>
          <p:xfrm>
            <a:off x="7169255" y="4973895"/>
            <a:ext cx="1752600" cy="582612"/>
          </p:xfrm>
          <a:graphic>
            <a:graphicData uri="http://schemas.openxmlformats.org/presentationml/2006/ole">
              <mc:AlternateContent xmlns:mc="http://schemas.openxmlformats.org/markup-compatibility/2006">
                <mc:Choice xmlns:v="urn:schemas-microsoft-com:vml" Requires="v">
                  <p:oleObj spid="_x0000_s236572" name="Equation" r:id="rId5" imgW="370205" imgH="121285" progId="Equation.3">
                    <p:embed/>
                  </p:oleObj>
                </mc:Choice>
                <mc:Fallback>
                  <p:oleObj name="Equation" r:id="rId5" imgW="370205" imgH="12128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9255" y="4973895"/>
                          <a:ext cx="1752600"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 name="Text Box 8"/>
            <p:cNvSpPr txBox="1">
              <a:spLocks noChangeArrowheads="1"/>
            </p:cNvSpPr>
            <p:nvPr/>
          </p:nvSpPr>
          <p:spPr bwMode="auto">
            <a:xfrm>
              <a:off x="8951700" y="5140582"/>
              <a:ext cx="324008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—Cam motion law</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1" name="Object 7"/>
            <p:cNvGraphicFramePr>
              <a:graphicFrameLocks noChangeAspect="1"/>
            </p:cNvGraphicFramePr>
            <p:nvPr/>
          </p:nvGraphicFramePr>
          <p:xfrm>
            <a:off x="7256558" y="5539045"/>
            <a:ext cx="1050789" cy="675715"/>
          </p:xfrm>
          <a:graphic>
            <a:graphicData uri="http://schemas.openxmlformats.org/presentationml/2006/ole">
              <mc:AlternateContent xmlns:mc="http://schemas.openxmlformats.org/markup-compatibility/2006">
                <mc:Choice xmlns:v="urn:schemas-microsoft-com:vml" Requires="v">
                  <p:oleObj spid="_x0000_s236573" name="Equation" r:id="rId7" imgW="213995" imgH="139065" progId="Equation.3">
                    <p:embed/>
                  </p:oleObj>
                </mc:Choice>
                <mc:Fallback>
                  <p:oleObj name="Equation" r:id="rId7" imgW="213995" imgH="139065"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6558" y="5539045"/>
                          <a:ext cx="1050789" cy="675715"/>
                        </a:xfrm>
                        <a:prstGeom prst="rect">
                          <a:avLst/>
                        </a:prstGeom>
                        <a:noFill/>
                        <a:ln>
                          <a:noFill/>
                        </a:ln>
                        <a:effectLst/>
                      </p:spPr>
                    </p:pic>
                  </p:oleObj>
                </mc:Fallback>
              </mc:AlternateContent>
            </a:graphicData>
          </a:graphic>
        </p:graphicFrame>
        <p:sp>
          <p:nvSpPr>
            <p:cNvPr id="82" name="Text Box 10"/>
            <p:cNvSpPr txBox="1">
              <a:spLocks noChangeArrowheads="1"/>
            </p:cNvSpPr>
            <p:nvPr/>
          </p:nvSpPr>
          <p:spPr bwMode="auto">
            <a:xfrm>
              <a:off x="8388191" y="5605720"/>
              <a:ext cx="37763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—Cam basic dimensions</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87" name="Line 9"/>
          <p:cNvSpPr>
            <a:spLocks noChangeShapeType="1"/>
          </p:cNvSpPr>
          <p:nvPr/>
        </p:nvSpPr>
        <p:spPr bwMode="auto">
          <a:xfrm>
            <a:off x="9668275" y="2090270"/>
            <a:ext cx="495349" cy="818071"/>
          </a:xfrm>
          <a:prstGeom prst="line">
            <a:avLst/>
          </a:prstGeom>
          <a:noFill/>
          <a:ln w="12700">
            <a:solidFill>
              <a:schemeClr val="tx1"/>
            </a:solidFill>
            <a:prstDash val="solid"/>
            <a:round/>
            <a:headEnd type="triangle" w="med" len="lg"/>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nvGrpSpPr>
          <p:cNvPr id="35" name="组合 34"/>
          <p:cNvGrpSpPr/>
          <p:nvPr/>
        </p:nvGrpSpPr>
        <p:grpSpPr>
          <a:xfrm rot="18913892">
            <a:off x="8931822" y="2809489"/>
            <a:ext cx="2692005" cy="1440000"/>
            <a:chOff x="8350362" y="4537324"/>
            <a:chExt cx="2692005" cy="1440000"/>
          </a:xfrm>
        </p:grpSpPr>
        <p:sp>
          <p:nvSpPr>
            <p:cNvPr id="33" name="弧形 32"/>
            <p:cNvSpPr/>
            <p:nvPr/>
          </p:nvSpPr>
          <p:spPr bwMode="auto">
            <a:xfrm rot="16984332">
              <a:off x="8350362" y="4537324"/>
              <a:ext cx="1440000" cy="1440000"/>
            </a:xfrm>
            <a:prstGeom prst="arc">
              <a:avLst>
                <a:gd name="adj1" fmla="val 8803023"/>
                <a:gd name="adj2" fmla="val 21422345"/>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AU"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8" name="弧形 87"/>
            <p:cNvSpPr/>
            <p:nvPr/>
          </p:nvSpPr>
          <p:spPr bwMode="auto">
            <a:xfrm rot="5766148">
              <a:off x="10294543" y="4894598"/>
              <a:ext cx="764320" cy="731329"/>
            </a:xfrm>
            <a:prstGeom prst="arc">
              <a:avLst>
                <a:gd name="adj1" fmla="val 10375414"/>
                <a:gd name="adj2" fmla="val 19819349"/>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AU"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9" name="Line 14"/>
            <p:cNvSpPr>
              <a:spLocks noChangeShapeType="1"/>
            </p:cNvSpPr>
            <p:nvPr/>
          </p:nvSpPr>
          <p:spPr bwMode="auto">
            <a:xfrm>
              <a:off x="9201276" y="4554564"/>
              <a:ext cx="1482725" cy="325161"/>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90" name="Line 14"/>
            <p:cNvSpPr>
              <a:spLocks noChangeShapeType="1"/>
            </p:cNvSpPr>
            <p:nvPr/>
          </p:nvSpPr>
          <p:spPr bwMode="auto">
            <a:xfrm flipV="1">
              <a:off x="9334852" y="5595555"/>
              <a:ext cx="1482725" cy="325161"/>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mc:AlternateContent xmlns:mc="http://schemas.openxmlformats.org/markup-compatibility/2006">
        <mc:Choice xmlns:a14="http://schemas.microsoft.com/office/drawing/2010/main" Requires="a14">
          <p:sp>
            <p:nvSpPr>
              <p:cNvPr id="91" name="文本框 90"/>
              <p:cNvSpPr txBox="1"/>
              <p:nvPr/>
            </p:nvSpPr>
            <p:spPr>
              <a:xfrm>
                <a:off x="9867723" y="2177358"/>
                <a:ext cx="225766"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𝛼</m:t>
                      </m:r>
                    </m:oMath>
                  </m:oMathPara>
                </a14:m>
                <a:endParaRPr kumimoji="0" lang="en-US" sz="2000" b="0" i="1"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91" name="文本框 90"/>
              <p:cNvSpPr txBox="1">
                <a:spLocks noRot="1" noChangeAspect="1" noMove="1" noResize="1" noEditPoints="1" noAdjustHandles="1" noChangeArrowheads="1" noChangeShapeType="1" noTextEdit="1"/>
              </p:cNvSpPr>
              <p:nvPr/>
            </p:nvSpPr>
            <p:spPr>
              <a:xfrm>
                <a:off x="9867723" y="2177358"/>
                <a:ext cx="225766" cy="307777"/>
              </a:xfrm>
              <a:prstGeom prst="rect">
                <a:avLst/>
              </a:prstGeom>
              <a:blipFill rotWithShape="1">
                <a:blip r:embed="rId9"/>
                <a:stretch>
                  <a:fillRect l="-203" t="-188" r="-40429" b="123"/>
                </a:stretch>
              </a:blipFill>
            </p:spPr>
            <p:txBody>
              <a:bodyPr/>
              <a:lstStyle/>
              <a:p>
                <a:r>
                  <a:rPr lang="zh-CN" altLang="en-US">
                    <a:noFill/>
                  </a:rPr>
                  <a:t> </a:t>
                </a:r>
              </a:p>
            </p:txBody>
          </p:sp>
        </mc:Fallback>
      </mc:AlternateContent>
      <p:sp>
        <p:nvSpPr>
          <p:cNvPr id="92" name="弧形 91"/>
          <p:cNvSpPr/>
          <p:nvPr/>
        </p:nvSpPr>
        <p:spPr bwMode="auto">
          <a:xfrm rot="13116003">
            <a:off x="9814738" y="2435146"/>
            <a:ext cx="378541" cy="656630"/>
          </a:xfrm>
          <a:prstGeom prst="arc">
            <a:avLst>
              <a:gd name="adj1" fmla="val 1798600"/>
              <a:gd name="adj2" fmla="val 5035587"/>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AU"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36" name="矩形 35"/>
              <p:cNvSpPr/>
              <p:nvPr/>
            </p:nvSpPr>
            <p:spPr>
              <a:xfrm>
                <a:off x="8638651" y="2980617"/>
                <a:ext cx="3706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oMath>
                  </m:oMathPara>
                </a14:m>
                <a:endParaRPr kumimoji="0" lang="en-US" sz="1800" b="0" i="1"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36" name="矩形 35"/>
              <p:cNvSpPr>
                <a:spLocks noRot="1" noChangeAspect="1" noMove="1" noResize="1" noEditPoints="1" noAdjustHandles="1" noChangeArrowheads="1" noChangeShapeType="1" noTextEdit="1"/>
              </p:cNvSpPr>
              <p:nvPr/>
            </p:nvSpPr>
            <p:spPr>
              <a:xfrm>
                <a:off x="8638651" y="2980617"/>
                <a:ext cx="370614" cy="369332"/>
              </a:xfrm>
              <a:prstGeom prst="rect">
                <a:avLst/>
              </a:prstGeom>
              <a:blipFill rotWithShape="1">
                <a:blip r:embed="rId10"/>
                <a:stretch>
                  <a:fillRect l="-30" t="-152" r="140" b="88"/>
                </a:stretch>
              </a:blipFill>
            </p:spPr>
            <p:txBody>
              <a:bodyPr/>
              <a:lstStyle/>
              <a:p>
                <a:r>
                  <a:rPr lang="zh-CN" altLang="en-US">
                    <a:noFill/>
                  </a:rPr>
                  <a:t> </a:t>
                </a:r>
              </a:p>
            </p:txBody>
          </p:sp>
        </mc:Fallback>
      </mc:AlternateContent>
      <p:sp>
        <p:nvSpPr>
          <p:cNvPr id="93" name="Line 71"/>
          <p:cNvSpPr>
            <a:spLocks noChangeShapeType="1"/>
          </p:cNvSpPr>
          <p:nvPr/>
        </p:nvSpPr>
        <p:spPr bwMode="auto">
          <a:xfrm>
            <a:off x="8901562" y="3271554"/>
            <a:ext cx="424616" cy="341410"/>
          </a:xfrm>
          <a:prstGeom prst="line">
            <a:avLst/>
          </a:prstGeom>
          <a:noFill/>
          <a:ln w="1016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95" name="Line 71"/>
          <p:cNvSpPr>
            <a:spLocks noChangeShapeType="1"/>
          </p:cNvSpPr>
          <p:nvPr/>
        </p:nvSpPr>
        <p:spPr bwMode="auto">
          <a:xfrm flipV="1">
            <a:off x="10179151" y="1433232"/>
            <a:ext cx="416981" cy="109328"/>
          </a:xfrm>
          <a:prstGeom prst="line">
            <a:avLst/>
          </a:prstGeom>
          <a:noFill/>
          <a:ln w="1016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mc:AlternateContent xmlns:mc="http://schemas.openxmlformats.org/markup-compatibility/2006">
        <mc:Choice xmlns:a14="http://schemas.microsoft.com/office/drawing/2010/main" Requires="a14">
          <p:sp>
            <p:nvSpPr>
              <p:cNvPr id="41" name="矩形 40"/>
              <p:cNvSpPr/>
              <p:nvPr/>
            </p:nvSpPr>
            <p:spPr>
              <a:xfrm>
                <a:off x="10491358" y="1261604"/>
                <a:ext cx="3706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2</m:t>
                      </m:r>
                    </m:oMath>
                  </m:oMathPara>
                </a14:m>
                <a:endParaRPr kumimoji="0" lang="en-US" sz="1800" b="0" i="1"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41" name="矩形 40"/>
              <p:cNvSpPr>
                <a:spLocks noRot="1" noChangeAspect="1" noMove="1" noResize="1" noEditPoints="1" noAdjustHandles="1" noChangeArrowheads="1" noChangeShapeType="1" noTextEdit="1"/>
              </p:cNvSpPr>
              <p:nvPr/>
            </p:nvSpPr>
            <p:spPr>
              <a:xfrm>
                <a:off x="10491358" y="1261604"/>
                <a:ext cx="370614" cy="369332"/>
              </a:xfrm>
              <a:prstGeom prst="rect">
                <a:avLst/>
              </a:prstGeom>
              <a:blipFill rotWithShape="1">
                <a:blip r:embed="rId11"/>
                <a:stretch>
                  <a:fillRect l="-141" t="-134" r="80"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矩形 42"/>
              <p:cNvSpPr/>
              <p:nvPr/>
            </p:nvSpPr>
            <p:spPr>
              <a:xfrm>
                <a:off x="9746306" y="4135247"/>
                <a:ext cx="3706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3</m:t>
                      </m:r>
                    </m:oMath>
                  </m:oMathPara>
                </a14:m>
                <a:endParaRPr kumimoji="0" lang="en-US" sz="1800" b="0" i="1"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43" name="矩形 42"/>
              <p:cNvSpPr>
                <a:spLocks noRot="1" noChangeAspect="1" noMove="1" noResize="1" noEditPoints="1" noAdjustHandles="1" noChangeArrowheads="1" noChangeShapeType="1" noTextEdit="1"/>
              </p:cNvSpPr>
              <p:nvPr/>
            </p:nvSpPr>
            <p:spPr>
              <a:xfrm>
                <a:off x="9746306" y="4135247"/>
                <a:ext cx="370614" cy="369332"/>
              </a:xfrm>
              <a:prstGeom prst="rect">
                <a:avLst/>
              </a:prstGeom>
              <a:blipFill rotWithShape="1">
                <a:blip r:embed="rId12"/>
                <a:stretch>
                  <a:fillRect l="-88" t="-34" r="27" b="142"/>
                </a:stretch>
              </a:blipFill>
            </p:spPr>
            <p:txBody>
              <a:bodyPr/>
              <a:lstStyle/>
              <a:p>
                <a:r>
                  <a:rPr lang="zh-CN" altLang="en-US">
                    <a:noFill/>
                  </a:rPr>
                  <a:t> </a:t>
                </a:r>
              </a:p>
            </p:txBody>
          </p:sp>
        </mc:Fallback>
      </mc:AlternateContent>
      <p:sp>
        <p:nvSpPr>
          <p:cNvPr id="96" name="Line 12"/>
          <p:cNvSpPr>
            <a:spLocks noChangeShapeType="1"/>
          </p:cNvSpPr>
          <p:nvPr/>
        </p:nvSpPr>
        <p:spPr bwMode="auto">
          <a:xfrm>
            <a:off x="9806273" y="3349949"/>
            <a:ext cx="0" cy="1271049"/>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mc:AlternateContent xmlns:mc="http://schemas.openxmlformats.org/markup-compatibility/2006">
        <mc:Choice xmlns:a14="http://schemas.microsoft.com/office/drawing/2010/main" Requires="a14">
          <p:sp>
            <p:nvSpPr>
              <p:cNvPr id="44" name="矩形 43"/>
              <p:cNvSpPr/>
              <p:nvPr/>
            </p:nvSpPr>
            <p:spPr>
              <a:xfrm>
                <a:off x="10692276" y="2871444"/>
                <a:ext cx="37266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𝑠</m:t>
                      </m:r>
                    </m:oMath>
                  </m:oMathPara>
                </a14:m>
                <a:endParaRPr kumimoji="0" lang="en-US" sz="2000" b="0" i="1"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44" name="矩形 43"/>
              <p:cNvSpPr>
                <a:spLocks noRot="1" noChangeAspect="1" noMove="1" noResize="1" noEditPoints="1" noAdjustHandles="1" noChangeArrowheads="1" noChangeShapeType="1" noTextEdit="1"/>
              </p:cNvSpPr>
              <p:nvPr/>
            </p:nvSpPr>
            <p:spPr>
              <a:xfrm>
                <a:off x="10692276" y="2871444"/>
                <a:ext cx="372666" cy="400110"/>
              </a:xfrm>
              <a:prstGeom prst="rect">
                <a:avLst/>
              </a:prstGeom>
              <a:blipFill rotWithShape="1">
                <a:blip r:embed="rId13"/>
                <a:stretch>
                  <a:fillRect l="-39" t="-152" r="-152"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3" name="矩形 52"/>
              <p:cNvSpPr/>
              <p:nvPr/>
            </p:nvSpPr>
            <p:spPr>
              <a:xfrm>
                <a:off x="9767609" y="3281059"/>
                <a:ext cx="38106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𝑒</m:t>
                      </m:r>
                    </m:oMath>
                  </m:oMathPara>
                </a14:m>
                <a:endParaRPr kumimoji="0" lang="en-US" sz="2000" b="0" i="1"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53" name="矩形 52"/>
              <p:cNvSpPr>
                <a:spLocks noRot="1" noChangeAspect="1" noMove="1" noResize="1" noEditPoints="1" noAdjustHandles="1" noChangeArrowheads="1" noChangeShapeType="1" noTextEdit="1"/>
              </p:cNvSpPr>
              <p:nvPr/>
            </p:nvSpPr>
            <p:spPr>
              <a:xfrm>
                <a:off x="9767609" y="3281059"/>
                <a:ext cx="381066" cy="400110"/>
              </a:xfrm>
              <a:prstGeom prst="rect">
                <a:avLst/>
              </a:prstGeom>
              <a:blipFill rotWithShape="1">
                <a:blip r:embed="rId14"/>
                <a:stretch>
                  <a:fillRect l="-10" t="-3" r="-306"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矩形 53"/>
              <p:cNvSpPr/>
              <p:nvPr/>
            </p:nvSpPr>
            <p:spPr>
              <a:xfrm>
                <a:off x="9070824" y="3855157"/>
                <a:ext cx="462113"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𝑟</m:t>
                          </m:r>
                        </m:e>
                        <m:sub>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0</m:t>
                          </m:r>
                        </m:sub>
                      </m:sSub>
                    </m:oMath>
                  </m:oMathPara>
                </a14:m>
                <a:endParaRPr kumimoji="0" lang="en-AU" sz="2000" b="0"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54" name="矩形 53"/>
              <p:cNvSpPr>
                <a:spLocks noRot="1" noChangeAspect="1" noMove="1" noResize="1" noEditPoints="1" noAdjustHandles="1" noChangeArrowheads="1" noChangeShapeType="1" noTextEdit="1"/>
              </p:cNvSpPr>
              <p:nvPr/>
            </p:nvSpPr>
            <p:spPr>
              <a:xfrm>
                <a:off x="9070824" y="3855157"/>
                <a:ext cx="462113" cy="400110"/>
              </a:xfrm>
              <a:prstGeom prst="rect">
                <a:avLst/>
              </a:prstGeom>
              <a:blipFill rotWithShape="1">
                <a:blip r:embed="rId15"/>
                <a:stretch>
                  <a:fillRect l="-105" t="-18" r="-3367"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矩形 54"/>
              <p:cNvSpPr/>
              <p:nvPr/>
            </p:nvSpPr>
            <p:spPr>
              <a:xfrm>
                <a:off x="9160329" y="2005366"/>
                <a:ext cx="60054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𝐹</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12</m:t>
                          </m:r>
                        </m:sub>
                      </m:sSub>
                    </m:oMath>
                  </m:oMathPara>
                </a14:m>
                <a:endParaRPr kumimoji="0" lang="en-AU"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55" name="矩形 54"/>
              <p:cNvSpPr>
                <a:spLocks noRot="1" noChangeAspect="1" noMove="1" noResize="1" noEditPoints="1" noAdjustHandles="1" noChangeArrowheads="1" noChangeShapeType="1" noTextEdit="1"/>
              </p:cNvSpPr>
              <p:nvPr/>
            </p:nvSpPr>
            <p:spPr>
              <a:xfrm>
                <a:off x="9160329" y="2005366"/>
                <a:ext cx="600549" cy="400110"/>
              </a:xfrm>
              <a:prstGeom prst="rect">
                <a:avLst/>
              </a:prstGeom>
              <a:blipFill rotWithShape="1">
                <a:blip r:embed="rId16"/>
                <a:stretch>
                  <a:fillRect l="-76" t="-9" r="-2806"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8" name="矩形 97"/>
              <p:cNvSpPr/>
              <p:nvPr/>
            </p:nvSpPr>
            <p:spPr>
              <a:xfrm>
                <a:off x="8750647" y="4580619"/>
                <a:ext cx="548420"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𝜔</m:t>
                          </m:r>
                        </m:e>
                        <m:sub>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1</m:t>
                          </m:r>
                        </m:sub>
                      </m:sSub>
                    </m:oMath>
                  </m:oMathPara>
                </a14:m>
                <a:endParaRPr kumimoji="0" lang="en-AU" sz="2000" b="0"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98" name="矩形 97"/>
              <p:cNvSpPr>
                <a:spLocks noRot="1" noChangeAspect="1" noMove="1" noResize="1" noEditPoints="1" noAdjustHandles="1" noChangeArrowheads="1" noChangeShapeType="1" noTextEdit="1"/>
              </p:cNvSpPr>
              <p:nvPr/>
            </p:nvSpPr>
            <p:spPr>
              <a:xfrm>
                <a:off x="8750647" y="4580619"/>
                <a:ext cx="548420" cy="400110"/>
              </a:xfrm>
              <a:prstGeom prst="rect">
                <a:avLst/>
              </a:prstGeom>
              <a:blipFill rotWithShape="1">
                <a:blip r:embed="rId17"/>
                <a:stretch>
                  <a:fillRect l="-63" t="-91" r="-787" b="1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矩形 55"/>
              <p:cNvSpPr/>
              <p:nvPr/>
            </p:nvSpPr>
            <p:spPr>
              <a:xfrm>
                <a:off x="10305039" y="2187844"/>
                <a:ext cx="50539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𝑣</m:t>
                          </m:r>
                        </m:e>
                        <m:sub>
                          <m:r>
                            <a:rPr kumimoji="0" lang="en-US" sz="20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2</m:t>
                          </m:r>
                        </m:sub>
                      </m:sSub>
                    </m:oMath>
                  </m:oMathPara>
                </a14:m>
                <a:endParaRPr kumimoji="0" lang="en-AU"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56" name="矩形 55"/>
              <p:cNvSpPr>
                <a:spLocks noRot="1" noChangeAspect="1" noMove="1" noResize="1" noEditPoints="1" noAdjustHandles="1" noChangeArrowheads="1" noChangeShapeType="1" noTextEdit="1"/>
              </p:cNvSpPr>
              <p:nvPr/>
            </p:nvSpPr>
            <p:spPr>
              <a:xfrm>
                <a:off x="10305039" y="2187844"/>
                <a:ext cx="505395" cy="400110"/>
              </a:xfrm>
              <a:prstGeom prst="rect">
                <a:avLst/>
              </a:prstGeom>
              <a:blipFill rotWithShape="1">
                <a:blip r:embed="rId18"/>
                <a:stretch>
                  <a:fillRect l="-51" t="-67" r="-590" b="82"/>
                </a:stretch>
              </a:blipFill>
            </p:spPr>
            <p:txBody>
              <a:bodyPr/>
              <a:lstStyle/>
              <a:p>
                <a:r>
                  <a:rPr lang="zh-CN" altLang="en-US">
                    <a:noFill/>
                  </a:rPr>
                  <a:t> </a:t>
                </a:r>
              </a:p>
            </p:txBody>
          </p:sp>
        </mc:Fallback>
      </mc:AlternateContent>
      <p:sp>
        <p:nvSpPr>
          <p:cNvPr id="100" name="Line 12"/>
          <p:cNvSpPr>
            <a:spLocks noChangeShapeType="1"/>
          </p:cNvSpPr>
          <p:nvPr/>
        </p:nvSpPr>
        <p:spPr bwMode="auto">
          <a:xfrm>
            <a:off x="9673850" y="2090270"/>
            <a:ext cx="0" cy="830970"/>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01" name="Line 12"/>
          <p:cNvSpPr>
            <a:spLocks noChangeShapeType="1"/>
          </p:cNvSpPr>
          <p:nvPr/>
        </p:nvSpPr>
        <p:spPr bwMode="auto">
          <a:xfrm flipH="1">
            <a:off x="9677276" y="2112748"/>
            <a:ext cx="511401" cy="0"/>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02" name="Line 12"/>
          <p:cNvSpPr>
            <a:spLocks noChangeShapeType="1"/>
          </p:cNvSpPr>
          <p:nvPr/>
        </p:nvSpPr>
        <p:spPr bwMode="auto">
          <a:xfrm>
            <a:off x="9669346" y="2915298"/>
            <a:ext cx="490334" cy="0"/>
          </a:xfrm>
          <a:prstGeom prst="line">
            <a:avLst/>
          </a:prstGeom>
          <a:noFill/>
          <a:ln w="12700">
            <a:solidFill>
              <a:schemeClr val="tx1"/>
            </a:solidFill>
            <a:prstDash val="solid"/>
            <a:round/>
            <a:headEnd type="triangle" w="med" len="lg"/>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03" name="Line 12"/>
          <p:cNvSpPr>
            <a:spLocks noChangeShapeType="1"/>
          </p:cNvSpPr>
          <p:nvPr/>
        </p:nvSpPr>
        <p:spPr bwMode="auto">
          <a:xfrm>
            <a:off x="10191083" y="2089938"/>
            <a:ext cx="6143" cy="792436"/>
          </a:xfrm>
          <a:prstGeom prst="line">
            <a:avLst/>
          </a:prstGeom>
          <a:noFill/>
          <a:ln w="12700">
            <a:solidFill>
              <a:schemeClr val="tx1"/>
            </a:solidFill>
            <a:prstDash val="solid"/>
            <a:round/>
            <a:headEnd type="triangle" w="med" len="lg"/>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mc:AlternateContent xmlns:mc="http://schemas.openxmlformats.org/markup-compatibility/2006">
        <mc:Choice xmlns:a14="http://schemas.microsoft.com/office/drawing/2010/main" Requires="a14">
          <p:sp>
            <p:nvSpPr>
              <p:cNvPr id="57" name="矩形 56"/>
              <p:cNvSpPr/>
              <p:nvPr/>
            </p:nvSpPr>
            <p:spPr>
              <a:xfrm>
                <a:off x="9597959" y="2566770"/>
                <a:ext cx="46019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𝐹</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oMath>
                  </m:oMathPara>
                </a14:m>
                <a:endParaRPr kumimoji="0" lang="en-AU"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57" name="矩形 56"/>
              <p:cNvSpPr>
                <a:spLocks noRot="1" noChangeAspect="1" noMove="1" noResize="1" noEditPoints="1" noAdjustHandles="1" noChangeArrowheads="1" noChangeShapeType="1" noTextEdit="1"/>
              </p:cNvSpPr>
              <p:nvPr/>
            </p:nvSpPr>
            <p:spPr>
              <a:xfrm>
                <a:off x="9597959" y="2566770"/>
                <a:ext cx="460190" cy="369332"/>
              </a:xfrm>
              <a:prstGeom prst="rect">
                <a:avLst/>
              </a:prstGeom>
              <a:blipFill rotWithShape="1">
                <a:blip r:embed="rId19"/>
                <a:stretch>
                  <a:fillRect l="-124" t="-27" r="-1434" b="1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4" name="矩形 103"/>
              <p:cNvSpPr/>
              <p:nvPr/>
            </p:nvSpPr>
            <p:spPr>
              <a:xfrm>
                <a:off x="10151076" y="1967438"/>
                <a:ext cx="465512"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𝐹</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2</m:t>
                          </m:r>
                        </m:sub>
                      </m:sSub>
                    </m:oMath>
                  </m:oMathPara>
                </a14:m>
                <a:endParaRPr kumimoji="0" lang="en-AU"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04" name="矩形 103"/>
              <p:cNvSpPr>
                <a:spLocks noRot="1" noChangeAspect="1" noMove="1" noResize="1" noEditPoints="1" noAdjustHandles="1" noChangeArrowheads="1" noChangeShapeType="1" noTextEdit="1"/>
              </p:cNvSpPr>
              <p:nvPr/>
            </p:nvSpPr>
            <p:spPr>
              <a:xfrm>
                <a:off x="10151076" y="1967438"/>
                <a:ext cx="465512" cy="369332"/>
              </a:xfrm>
              <a:prstGeom prst="rect">
                <a:avLst/>
              </a:prstGeom>
              <a:blipFill rotWithShape="1">
                <a:blip r:embed="rId20"/>
                <a:stretch>
                  <a:fillRect l="-129" t="-56" r="-814" b="1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267844" y="2021208"/>
                <a:ext cx="8201024" cy="78867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a:latin typeface="微软雅黑" panose="020B0503020204020204" pitchFamily="34" charset="-122"/>
                    <a:ea typeface="微软雅黑" panose="020B0503020204020204" pitchFamily="34" charset="-122"/>
                  </a:rPr>
                  <a:t>Solve for the follower's velocity using the instantaneous center of velocity method</a:t>
                </a:r>
                <a:r>
                  <a:rPr lang="en-US">
                    <a:latin typeface="微软雅黑" panose="020B0503020204020204" pitchFamily="34" charset="-122"/>
                    <a:ea typeface="微软雅黑" panose="020B0503020204020204" pitchFamily="34" charset="-122"/>
                  </a:rPr>
                  <a:t> </a:t>
                </a:r>
                <a14:m>
                  <m:oMath xmlns:m="http://schemas.openxmlformats.org/officeDocument/2006/math">
                    <m:sSub>
                      <m:sSubPr>
                        <m:ctrlP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𝑣</m:t>
                        </m:r>
                      </m:e>
                      <m:sub>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2</m:t>
                        </m:r>
                      </m:sub>
                    </m:sSub>
                  </m:oMath>
                </a14:m>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m:t> </m:t>
                    </m:r>
                    <m: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m:t>𝐮𝐬𝐞</m:t>
                    </m:r>
                    <m: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m:t> </m:t>
                    </m:r>
                    <m:sSub>
                      <m:sSubPr>
                        <m:ctrlP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𝜔</m:t>
                        </m:r>
                      </m:e>
                      <m:sub>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1</m:t>
                        </m:r>
                      </m:sub>
                    </m:sSub>
                  </m:oMath>
                </a14:m>
                <a:r>
                  <a:rPr kumimoji="0" lang="zh-CN" altLang="en-US" sz="2000" b="0"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𝛼</m:t>
                    </m:r>
                  </m:oMath>
                </a14:m>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𝑠</m:t>
                    </m:r>
                  </m:oMath>
                </a14:m>
                <a:r>
                  <a:rPr kumimoji="0" lang="zh-CN" altLang="en-US" sz="2000" b="0"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sSub>
                      <m:sSubPr>
                        <m:ctrlP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𝑟</m:t>
                        </m:r>
                      </m:e>
                      <m:sub>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0</m:t>
                        </m:r>
                      </m:sub>
                    </m:sSub>
                    <m:r>
                      <m:rPr>
                        <m:nor/>
                      </m:rPr>
                      <a:rPr kumimoji="0" lang="zh-CN" altLang="en-US" sz="2000" b="0" i="0" u="none" strike="noStrike" kern="1200" cap="none" spc="0" normalizeH="0" baseline="0" noProof="0" dirty="0">
                        <a:ln>
                          <a:noFill/>
                        </a:ln>
                        <a:solidFill>
                          <a:srgbClr val="FF0000"/>
                        </a:solidFill>
                        <a:effectLst/>
                        <a:uLnTx/>
                        <a:uFillTx/>
                        <a:latin typeface="Cambria Math" panose="02040503050406030204" pitchFamily="18" charset="0"/>
                        <a:ea typeface="MS Mincho" charset="0"/>
                        <a:cs typeface="Cambria Math" panose="02040503050406030204" pitchFamily="18" charset="0"/>
                      </a:rPr>
                      <m:t>，</m:t>
                    </m:r>
                    <m:r>
                      <a:rPr kumimoji="0" lang="en-US" sz="20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𝑒</m:t>
                    </m:r>
                  </m:oMath>
                </a14:m>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3" name="矩形 2"/>
              <p:cNvSpPr>
                <a:spLocks noRot="1" noChangeAspect="1" noMove="1" noResize="1" noEditPoints="1" noAdjustHandles="1" noChangeArrowheads="1" noChangeShapeType="1" noTextEdit="1"/>
              </p:cNvSpPr>
              <p:nvPr/>
            </p:nvSpPr>
            <p:spPr>
              <a:xfrm>
                <a:off x="267844" y="2021208"/>
                <a:ext cx="8201024" cy="788670"/>
              </a:xfrm>
              <a:prstGeom prst="rect">
                <a:avLst/>
              </a:prstGeom>
              <a:blipFill rotWithShape="1">
                <a:blip r:embed="rId21"/>
                <a:stretch>
                  <a:fillRect l="-6" r="6"/>
                </a:stretch>
              </a:blipFill>
            </p:spPr>
            <p:txBody>
              <a:bodyPr/>
              <a:lstStyle/>
              <a:p>
                <a:r>
                  <a:rPr lang="zh-CN" altLang="en-US">
                    <a:noFill/>
                  </a:rPr>
                  <a:t> </a:t>
                </a:r>
              </a:p>
            </p:txBody>
          </p:sp>
        </mc:Fallback>
      </mc:AlternateContent>
      <p:graphicFrame>
        <p:nvGraphicFramePr>
          <p:cNvPr id="85" name="Object 2"/>
          <p:cNvGraphicFramePr>
            <a:graphicFrameLocks noChangeAspect="1"/>
          </p:cNvGraphicFramePr>
          <p:nvPr/>
        </p:nvGraphicFramePr>
        <p:xfrm>
          <a:off x="1343025" y="3375660"/>
          <a:ext cx="5215255" cy="554990"/>
        </p:xfrm>
        <a:graphic>
          <a:graphicData uri="http://schemas.openxmlformats.org/presentationml/2006/ole">
            <mc:AlternateContent xmlns:mc="http://schemas.openxmlformats.org/markup-compatibility/2006">
              <mc:Choice xmlns:v="urn:schemas-microsoft-com:vml" Requires="v">
                <p:oleObj spid="_x0000_s236574" name="公式" r:id="rId22" imgW="50596800" imgH="6705600" progId="Equation.3">
                  <p:embed/>
                </p:oleObj>
              </mc:Choice>
              <mc:Fallback>
                <p:oleObj name="公式" r:id="rId22" imgW="50596800" imgH="6705600" progId="Equation.3">
                  <p:embed/>
                  <p:pic>
                    <p:nvPicPr>
                      <p:cNvPr id="0" name="Object 2"/>
                      <p:cNvPicPr>
                        <a:picLocks noChangeAspect="1" noChangeArrowheads="1"/>
                      </p:cNvPicPr>
                      <p:nvPr/>
                    </p:nvPicPr>
                    <p:blipFill>
                      <a:blip r:embed="rId23"/>
                      <a:srcRect/>
                      <a:stretch>
                        <a:fillRect/>
                      </a:stretch>
                    </p:blipFill>
                    <p:spPr bwMode="auto">
                      <a:xfrm>
                        <a:off x="1343025" y="3375660"/>
                        <a:ext cx="5215255" cy="554990"/>
                      </a:xfrm>
                      <a:prstGeom prst="rect">
                        <a:avLst/>
                      </a:prstGeom>
                      <a:noFill/>
                      <a:ln>
                        <a:noFill/>
                      </a:ln>
                      <a:effectLst/>
                    </p:spPr>
                  </p:pic>
                </p:oleObj>
              </mc:Fallback>
            </mc:AlternateContent>
          </a:graphicData>
        </a:graphic>
      </p:graphicFrame>
      <p:graphicFrame>
        <p:nvGraphicFramePr>
          <p:cNvPr id="97" name="Object 2"/>
          <p:cNvGraphicFramePr>
            <a:graphicFrameLocks noChangeAspect="1"/>
          </p:cNvGraphicFramePr>
          <p:nvPr/>
        </p:nvGraphicFramePr>
        <p:xfrm>
          <a:off x="1167765" y="4130040"/>
          <a:ext cx="3776345" cy="1105535"/>
        </p:xfrm>
        <a:graphic>
          <a:graphicData uri="http://schemas.openxmlformats.org/presentationml/2006/ole">
            <mc:AlternateContent xmlns:mc="http://schemas.openxmlformats.org/markup-compatibility/2006">
              <mc:Choice xmlns:v="urn:schemas-microsoft-com:vml" Requires="v">
                <p:oleObj spid="_x0000_s236575" name="Equation" r:id="rId24" imgW="37490400" imgH="10972800" progId="Equation.DSMT4">
                  <p:embed/>
                </p:oleObj>
              </mc:Choice>
              <mc:Fallback>
                <p:oleObj name="Equation" r:id="rId24" imgW="37490400" imgH="10972800" progId="Equation.DSMT4">
                  <p:embed/>
                  <p:pic>
                    <p:nvPicPr>
                      <p:cNvPr id="0" name="Object 2"/>
                      <p:cNvPicPr>
                        <a:picLocks noChangeAspect="1" noChangeArrowheads="1"/>
                      </p:cNvPicPr>
                      <p:nvPr/>
                    </p:nvPicPr>
                    <p:blipFill>
                      <a:blip r:embed="rId25"/>
                      <a:srcRect/>
                      <a:stretch>
                        <a:fillRect/>
                      </a:stretch>
                    </p:blipFill>
                    <p:spPr bwMode="auto">
                      <a:xfrm>
                        <a:off x="1167765" y="4130040"/>
                        <a:ext cx="3776345" cy="1105535"/>
                      </a:xfrm>
                      <a:prstGeom prst="rect">
                        <a:avLst/>
                      </a:prstGeom>
                      <a:noFill/>
                      <a:ln>
                        <a:noFill/>
                      </a:ln>
                      <a:effectLst/>
                    </p:spPr>
                  </p:pic>
                </p:oleObj>
              </mc:Fallback>
            </mc:AlternateContent>
          </a:graphicData>
        </a:graphic>
      </p:graphicFrame>
      <p:sp>
        <p:nvSpPr>
          <p:cNvPr id="32" name="矩形 31"/>
          <p:cNvSpPr/>
          <p:nvPr/>
        </p:nvSpPr>
        <p:spPr>
          <a:xfrm>
            <a:off x="338455" y="1553845"/>
            <a:ext cx="1870075" cy="4603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Rise</a:t>
            </a:r>
            <a:endPar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83" name="矩形 82"/>
              <p:cNvSpPr/>
              <p:nvPr/>
            </p:nvSpPr>
            <p:spPr>
              <a:xfrm>
                <a:off x="9582302" y="1379285"/>
                <a:ext cx="3706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3</m:t>
                      </m:r>
                    </m:oMath>
                  </m:oMathPara>
                </a14:m>
                <a:endParaRPr kumimoji="0" lang="en-US" sz="1800" b="0" i="1"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83" name="矩形 82"/>
              <p:cNvSpPr>
                <a:spLocks noRot="1" noChangeAspect="1" noMove="1" noResize="1" noEditPoints="1" noAdjustHandles="1" noChangeArrowheads="1" noChangeShapeType="1" noTextEdit="1"/>
              </p:cNvSpPr>
              <p:nvPr/>
            </p:nvSpPr>
            <p:spPr>
              <a:xfrm>
                <a:off x="9582302" y="1379285"/>
                <a:ext cx="370614" cy="369332"/>
              </a:xfrm>
              <a:prstGeom prst="rect">
                <a:avLst/>
              </a:prstGeom>
              <a:blipFill rotWithShape="1">
                <a:blip r:embed="rId12"/>
                <a:stretch>
                  <a:fillRect l="-41" t="-18" r="151" b="125"/>
                </a:stretch>
              </a:blipFill>
            </p:spPr>
            <p:txBody>
              <a:bodyPr/>
              <a:lstStyle/>
              <a:p>
                <a:r>
                  <a:rPr lang="zh-CN" altLang="en-US">
                    <a:noFill/>
                  </a:rPr>
                  <a:t> </a:t>
                </a:r>
              </a:p>
            </p:txBody>
          </p:sp>
        </mc:Fallback>
      </mc:AlternateContent>
      <p:grpSp>
        <p:nvGrpSpPr>
          <p:cNvPr id="38" name="组合 37"/>
          <p:cNvGrpSpPr/>
          <p:nvPr/>
        </p:nvGrpSpPr>
        <p:grpSpPr>
          <a:xfrm>
            <a:off x="10768218" y="3910073"/>
            <a:ext cx="660431" cy="382840"/>
            <a:chOff x="10768218" y="3558383"/>
            <a:chExt cx="660431" cy="382840"/>
          </a:xfrm>
        </p:grpSpPr>
        <p:sp>
          <p:nvSpPr>
            <p:cNvPr id="86" name="Oval 57"/>
            <p:cNvSpPr>
              <a:spLocks noChangeAspect="1" noChangeArrowheads="1"/>
            </p:cNvSpPr>
            <p:nvPr/>
          </p:nvSpPr>
          <p:spPr bwMode="auto">
            <a:xfrm>
              <a:off x="10768218" y="3558383"/>
              <a:ext cx="107950" cy="107950"/>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107" name="矩形 106"/>
                <p:cNvSpPr/>
                <p:nvPr/>
              </p:nvSpPr>
              <p:spPr>
                <a:xfrm>
                  <a:off x="10868624" y="3571891"/>
                  <a:ext cx="56002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1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𝑃</m:t>
                            </m:r>
                          </m:e>
                          <m:sub>
                            <m:r>
                              <a:rPr kumimoji="0" lang="en-US" sz="18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1</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2</m:t>
                            </m:r>
                          </m:sub>
                        </m:sSub>
                      </m:oMath>
                    </m:oMathPara>
                  </a14:m>
                  <a:endParaRPr kumimoji="0" lang="en-AU"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07" name="矩形 106"/>
                <p:cNvSpPr>
                  <a:spLocks noRot="1" noChangeAspect="1" noMove="1" noResize="1" noEditPoints="1" noAdjustHandles="1" noChangeArrowheads="1" noChangeShapeType="1" noTextEdit="1"/>
                </p:cNvSpPr>
                <p:nvPr/>
              </p:nvSpPr>
              <p:spPr>
                <a:xfrm>
                  <a:off x="10868624" y="3571891"/>
                  <a:ext cx="560025" cy="369332"/>
                </a:xfrm>
                <a:prstGeom prst="rect">
                  <a:avLst/>
                </a:prstGeom>
                <a:blipFill rotWithShape="1">
                  <a:blip r:embed="rId26"/>
                </a:blipFill>
              </p:spPr>
              <p:txBody>
                <a:bodyPr/>
                <a:lstStyle/>
                <a:p>
                  <a:r>
                    <a:rPr lang="zh-CN" altLang="en-US">
                      <a:noFill/>
                    </a:rPr>
                    <a:t> </a:t>
                  </a:r>
                </a:p>
              </p:txBody>
            </p:sp>
          </mc:Fallback>
        </mc:AlternateContent>
      </p:grpSp>
      <p:grpSp>
        <p:nvGrpSpPr>
          <p:cNvPr id="39" name="组合 38"/>
          <p:cNvGrpSpPr/>
          <p:nvPr/>
        </p:nvGrpSpPr>
        <p:grpSpPr>
          <a:xfrm>
            <a:off x="9312221" y="3630243"/>
            <a:ext cx="560025" cy="387780"/>
            <a:chOff x="9312221" y="3278553"/>
            <a:chExt cx="560025" cy="387780"/>
          </a:xfrm>
        </p:grpSpPr>
        <mc:AlternateContent xmlns:mc="http://schemas.openxmlformats.org/markup-compatibility/2006">
          <mc:Choice xmlns:a14="http://schemas.microsoft.com/office/drawing/2010/main" Requires="a14">
            <p:sp>
              <p:nvSpPr>
                <p:cNvPr id="34" name="矩形 33"/>
                <p:cNvSpPr/>
                <p:nvPr/>
              </p:nvSpPr>
              <p:spPr>
                <a:xfrm>
                  <a:off x="9312221" y="3278553"/>
                  <a:ext cx="56002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𝑃</m:t>
                            </m:r>
                          </m:e>
                          <m:sub>
                            <m:r>
                              <a:rPr kumimoji="0" lang="en-US" sz="18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1</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3</m:t>
                            </m:r>
                          </m:sub>
                        </m:sSub>
                      </m:oMath>
                    </m:oMathPara>
                  </a14:m>
                  <a:endParaRPr kumimoji="0" lang="en-AU"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34" name="矩形 33"/>
                <p:cNvSpPr>
                  <a:spLocks noRot="1" noChangeAspect="1" noMove="1" noResize="1" noEditPoints="1" noAdjustHandles="1" noChangeArrowheads="1" noChangeShapeType="1" noTextEdit="1"/>
                </p:cNvSpPr>
                <p:nvPr/>
              </p:nvSpPr>
              <p:spPr>
                <a:xfrm>
                  <a:off x="9312221" y="3278553"/>
                  <a:ext cx="560025" cy="369332"/>
                </a:xfrm>
                <a:prstGeom prst="rect">
                  <a:avLst/>
                </a:prstGeom>
                <a:blipFill rotWithShape="1">
                  <a:blip r:embed="rId27"/>
                </a:blipFill>
              </p:spPr>
              <p:txBody>
                <a:bodyPr/>
                <a:lstStyle/>
                <a:p>
                  <a:r>
                    <a:rPr lang="zh-CN" altLang="en-US">
                      <a:noFill/>
                    </a:rPr>
                    <a:t> </a:t>
                  </a:r>
                </a:p>
              </p:txBody>
            </p:sp>
          </mc:Fallback>
        </mc:AlternateContent>
        <p:sp>
          <p:nvSpPr>
            <p:cNvPr id="108" name="Oval 57"/>
            <p:cNvSpPr>
              <a:spLocks noChangeAspect="1" noChangeArrowheads="1"/>
            </p:cNvSpPr>
            <p:nvPr/>
          </p:nvSpPr>
          <p:spPr bwMode="auto">
            <a:xfrm>
              <a:off x="9760035" y="3558383"/>
              <a:ext cx="107950" cy="107950"/>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000" b="1" i="0" u="none" strike="noStrike" kern="1200" cap="none" spc="0" normalizeH="0" baseline="0" noProof="0">
                <a:ln>
                  <a:noFill/>
                </a:ln>
                <a:solidFill>
                  <a:srgbClr val="CC0000"/>
                </a:solidFill>
                <a:effectLst/>
                <a:uLnTx/>
                <a:uFillTx/>
                <a:latin typeface="微软雅黑" panose="020B0503020204020204" pitchFamily="34" charset="-122"/>
                <a:ea typeface="微软雅黑" panose="020B0503020204020204" pitchFamily="34" charset="-122"/>
                <a:cs typeface="+mn-cs"/>
              </a:endParaRPr>
            </a:p>
          </p:txBody>
        </p:sp>
      </p:grpSp>
      <p:grpSp>
        <p:nvGrpSpPr>
          <p:cNvPr id="45" name="组合 44"/>
          <p:cNvGrpSpPr/>
          <p:nvPr/>
        </p:nvGrpSpPr>
        <p:grpSpPr>
          <a:xfrm>
            <a:off x="10471976" y="1478343"/>
            <a:ext cx="1869693" cy="634354"/>
            <a:chOff x="10448047" y="1196669"/>
            <a:chExt cx="1869693" cy="634354"/>
          </a:xfrm>
        </p:grpSpPr>
        <p:grpSp>
          <p:nvGrpSpPr>
            <p:cNvPr id="109" name="组合 5272"/>
            <p:cNvGrpSpPr/>
            <p:nvPr/>
          </p:nvGrpSpPr>
          <p:grpSpPr bwMode="auto">
            <a:xfrm>
              <a:off x="10511614" y="1196669"/>
              <a:ext cx="1455737" cy="381002"/>
              <a:chOff x="2400" y="1845"/>
              <a:chExt cx="917" cy="240"/>
            </a:xfrm>
          </p:grpSpPr>
          <p:sp>
            <p:nvSpPr>
              <p:cNvPr id="110" name="文本框 5273"/>
              <p:cNvSpPr txBox="1">
                <a:spLocks noChangeArrowheads="1"/>
              </p:cNvSpPr>
              <p:nvPr/>
            </p:nvSpPr>
            <p:spPr bwMode="auto">
              <a:xfrm>
                <a:off x="2400" y="1845"/>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cs typeface="+mn-cs"/>
                  </a:rPr>
                  <a:t>P</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cs typeface="+mn-cs"/>
                  </a:rPr>
                  <a:t>23</a:t>
                </a:r>
                <a:endPar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cs typeface="+mn-cs"/>
                </a:endParaRPr>
              </a:p>
            </p:txBody>
          </p:sp>
          <p:grpSp>
            <p:nvGrpSpPr>
              <p:cNvPr id="111" name="组合 5274"/>
              <p:cNvGrpSpPr/>
              <p:nvPr/>
            </p:nvGrpSpPr>
            <p:grpSpPr bwMode="auto">
              <a:xfrm>
                <a:off x="2721" y="1852"/>
                <a:ext cx="596" cy="233"/>
                <a:chOff x="2721" y="1852"/>
                <a:chExt cx="596" cy="233"/>
              </a:xfrm>
            </p:grpSpPr>
            <p:sp>
              <p:nvSpPr>
                <p:cNvPr id="112" name="直接连接符 5275"/>
                <p:cNvSpPr>
                  <a:spLocks noChangeShapeType="1"/>
                </p:cNvSpPr>
                <p:nvPr/>
              </p:nvSpPr>
              <p:spPr bwMode="auto">
                <a:xfrm rot="5400000" flipV="1">
                  <a:off x="2865" y="1833"/>
                  <a:ext cx="0" cy="288"/>
                </a:xfrm>
                <a:prstGeom prst="line">
                  <a:avLst/>
                </a:prstGeom>
                <a:noFill/>
                <a:ln w="28575">
                  <a:solidFill>
                    <a:srgbClr val="FF0000"/>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13" name="文本框 5276"/>
                <p:cNvSpPr txBox="1">
                  <a:spLocks noChangeArrowheads="1"/>
                </p:cNvSpPr>
                <p:nvPr/>
              </p:nvSpPr>
              <p:spPr bwMode="auto">
                <a:xfrm>
                  <a:off x="2981" y="1852"/>
                  <a:ext cx="3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cs typeface="+mn-cs"/>
                  </a:endParaRPr>
                </a:p>
              </p:txBody>
            </p:sp>
          </p:grpSp>
        </p:grpSp>
        <p:sp>
          <p:nvSpPr>
            <p:cNvPr id="40" name="矩形 39"/>
            <p:cNvSpPr/>
            <p:nvPr/>
          </p:nvSpPr>
          <p:spPr>
            <a:xfrm>
              <a:off x="10448047" y="1462723"/>
              <a:ext cx="1869693" cy="3683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4" name="Line 9"/>
          <p:cNvSpPr>
            <a:spLocks noChangeShapeType="1"/>
          </p:cNvSpPr>
          <p:nvPr/>
        </p:nvSpPr>
        <p:spPr bwMode="auto">
          <a:xfrm>
            <a:off x="9422395" y="1704719"/>
            <a:ext cx="1528615" cy="2451281"/>
          </a:xfrm>
          <a:prstGeom prst="line">
            <a:avLst/>
          </a:prstGeom>
          <a:noFill/>
          <a:ln w="12700">
            <a:solidFill>
              <a:srgbClr val="FF0000"/>
            </a:solidFill>
            <a:prstDash val="lgDashDot"/>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15" name="Line 8"/>
          <p:cNvSpPr>
            <a:spLocks noChangeShapeType="1"/>
          </p:cNvSpPr>
          <p:nvPr/>
        </p:nvSpPr>
        <p:spPr bwMode="auto">
          <a:xfrm>
            <a:off x="8393179" y="3969298"/>
            <a:ext cx="3250120" cy="0"/>
          </a:xfrm>
          <a:prstGeom prst="line">
            <a:avLst/>
          </a:prstGeom>
          <a:noFill/>
          <a:ln w="12700">
            <a:solidFill>
              <a:srgbClr val="FF0000"/>
            </a:solidFill>
            <a:prstDash val="lgDashDot"/>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nvGrpSpPr>
          <p:cNvPr id="47" name="组合 46"/>
          <p:cNvGrpSpPr/>
          <p:nvPr/>
        </p:nvGrpSpPr>
        <p:grpSpPr>
          <a:xfrm>
            <a:off x="7785407" y="854757"/>
            <a:ext cx="1768717" cy="1799493"/>
            <a:chOff x="6153224" y="491101"/>
            <a:chExt cx="1768717" cy="1799493"/>
          </a:xfrm>
        </p:grpSpPr>
        <p:sp>
          <p:nvSpPr>
            <p:cNvPr id="135" name="直接连接符 9291"/>
            <p:cNvSpPr>
              <a:spLocks noChangeShapeType="1"/>
            </p:cNvSpPr>
            <p:nvPr/>
          </p:nvSpPr>
          <p:spPr bwMode="auto">
            <a:xfrm>
              <a:off x="6598404" y="903917"/>
              <a:ext cx="21201" cy="9775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grpSp>
          <p:nvGrpSpPr>
            <p:cNvPr id="46" name="组合 45"/>
            <p:cNvGrpSpPr/>
            <p:nvPr/>
          </p:nvGrpSpPr>
          <p:grpSpPr>
            <a:xfrm>
              <a:off x="6153224" y="491101"/>
              <a:ext cx="1768717" cy="1799493"/>
              <a:chOff x="6153224" y="491101"/>
              <a:chExt cx="1768717" cy="1799493"/>
            </a:xfrm>
          </p:grpSpPr>
          <p:sp>
            <p:nvSpPr>
              <p:cNvPr id="123" name="直接连接符 9291"/>
              <p:cNvSpPr>
                <a:spLocks noChangeShapeType="1"/>
              </p:cNvSpPr>
              <p:nvPr/>
            </p:nvSpPr>
            <p:spPr bwMode="auto">
              <a:xfrm flipH="1">
                <a:off x="6619605" y="961171"/>
                <a:ext cx="1025525" cy="95290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p:sp>
            <p:nvSpPr>
              <p:cNvPr id="125" name="矩形 124"/>
              <p:cNvSpPr/>
              <p:nvPr/>
            </p:nvSpPr>
            <p:spPr>
              <a:xfrm>
                <a:off x="7150632" y="1294451"/>
                <a:ext cx="479619" cy="369332"/>
              </a:xfrm>
              <a:prstGeom prst="rect">
                <a:avLst/>
              </a:prstGeom>
            </p:spPr>
            <p:txBody>
              <a:bodyPr wrap="none">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a:t>
                </a:r>
                <a:r>
                  <a:rPr kumimoji="0" lang="en-US" altLang="zh-CN" sz="1800" b="1" i="1" u="none" strike="noStrike" kern="1200" cap="none" spc="0" normalizeH="0" baseline="-2500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12</a:t>
                </a:r>
                <a:endPar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26" name="矩形 125"/>
              <p:cNvSpPr/>
              <p:nvPr/>
            </p:nvSpPr>
            <p:spPr>
              <a:xfrm>
                <a:off x="6153224" y="1062736"/>
                <a:ext cx="479619" cy="369332"/>
              </a:xfrm>
              <a:prstGeom prst="rect">
                <a:avLst/>
              </a:prstGeom>
            </p:spPr>
            <p:txBody>
              <a:bodyPr wrap="none">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a:t>
                </a:r>
                <a:r>
                  <a:rPr kumimoji="0" lang="en-US" altLang="zh-CN" sz="1800" b="1" i="1" u="none" strike="noStrike" kern="1200" cap="none" spc="0" normalizeH="0" baseline="-2500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13</a:t>
                </a:r>
                <a:endPar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27" name="矩形 126"/>
              <p:cNvSpPr/>
              <p:nvPr/>
            </p:nvSpPr>
            <p:spPr>
              <a:xfrm>
                <a:off x="6970882" y="516022"/>
                <a:ext cx="479619" cy="369332"/>
              </a:xfrm>
              <a:prstGeom prst="rect">
                <a:avLst/>
              </a:prstGeom>
            </p:spPr>
            <p:txBody>
              <a:bodyPr wrap="none">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a:t>
                </a:r>
                <a:r>
                  <a:rPr kumimoji="0" lang="en-US" altLang="zh-CN" sz="1800" b="1" i="1" u="none" strike="noStrike" kern="1200" cap="none" spc="0" normalizeH="0" baseline="-2500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23</a:t>
                </a:r>
                <a:endParaRPr kumimoji="0" lang="en-US" altLang="zh-CN" sz="1800" b="1"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36" name="直接连接符 9291"/>
              <p:cNvSpPr>
                <a:spLocks noChangeShapeType="1"/>
              </p:cNvSpPr>
              <p:nvPr/>
            </p:nvSpPr>
            <p:spPr bwMode="auto">
              <a:xfrm flipV="1">
                <a:off x="6586879" y="878169"/>
                <a:ext cx="1045015" cy="2672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mc:AlternateContent xmlns:mc="http://schemas.openxmlformats.org/markup-compatibility/2006">
            <mc:Choice xmlns:a14="http://schemas.microsoft.com/office/drawing/2010/main" Requires="a14">
              <p:sp>
                <p:nvSpPr>
                  <p:cNvPr id="137" name="矩形 136"/>
                  <p:cNvSpPr/>
                  <p:nvPr/>
                </p:nvSpPr>
                <p:spPr>
                  <a:xfrm>
                    <a:off x="6404838" y="1921262"/>
                    <a:ext cx="3706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oMath>
                      </m:oMathPara>
                    </a14:m>
                    <a:endParaRPr kumimoji="0" lang="en-US" sz="1800" b="0" i="1"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p:sp>
                <p:nvSpPr>
                  <p:cNvPr id="137" name="矩形 136"/>
                  <p:cNvSpPr>
                    <a:spLocks noRot="1" noChangeAspect="1" noMove="1" noResize="1" noEditPoints="1" noAdjustHandles="1" noChangeArrowheads="1" noChangeShapeType="1" noTextEdit="1"/>
                  </p:cNvSpPr>
                  <p:nvPr/>
                </p:nvSpPr>
                <p:spPr>
                  <a:xfrm>
                    <a:off x="6404838" y="1921262"/>
                    <a:ext cx="370614" cy="369332"/>
                  </a:xfrm>
                  <a:prstGeom prst="rect">
                    <a:avLst/>
                  </a:prstGeom>
                  <a:blipFill rotWithShape="1">
                    <a:blip r:embed="rId10"/>
                  </a:blipFill>
                </p:spPr>
                <p:txBody>
                  <a:bodyPr/>
                  <a:lstStyle/>
                  <a:p>
                    <a:r>
                      <a:rPr lang="zh-CN" altLang="en-US">
                        <a:noFill/>
                      </a:rPr>
                      <a:t> </a:t>
                    </a:r>
                  </a:p>
                </p:txBody>
              </p:sp>
            </mc:Fallback>
          </mc:AlternateContent>
          <p:sp>
            <p:nvSpPr>
              <p:cNvPr id="138" name="矩形 137"/>
              <p:cNvSpPr/>
              <p:nvPr/>
            </p:nvSpPr>
            <p:spPr>
              <a:xfrm>
                <a:off x="6404838" y="491101"/>
                <a:ext cx="300082"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endPar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9" name="矩形 138"/>
              <p:cNvSpPr/>
              <p:nvPr/>
            </p:nvSpPr>
            <p:spPr>
              <a:xfrm>
                <a:off x="7621859" y="626816"/>
                <a:ext cx="300082"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endPar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grpSp>
      <p:pic>
        <p:nvPicPr>
          <p:cNvPr id="105" name="图片 104"/>
          <p:cNvPicPr>
            <a:picLocks noChangeAspect="1"/>
          </p:cNvPicPr>
          <p:nvPr/>
        </p:nvPicPr>
        <p:blipFill>
          <a:blip r:embed="rId28"/>
          <a:stretch>
            <a:fillRect/>
          </a:stretch>
        </p:blipFill>
        <p:spPr>
          <a:xfrm>
            <a:off x="7223391" y="6007237"/>
            <a:ext cx="2544218" cy="810499"/>
          </a:xfrm>
          <a:prstGeom prst="rect">
            <a:avLst/>
          </a:prstGeom>
        </p:spPr>
      </p:pic>
      <p:sp>
        <p:nvSpPr>
          <p:cNvPr id="106" name="Line 100"/>
          <p:cNvSpPr>
            <a:spLocks noChangeShapeType="1"/>
          </p:cNvSpPr>
          <p:nvPr/>
        </p:nvSpPr>
        <p:spPr bwMode="auto">
          <a:xfrm flipV="1">
            <a:off x="9833699" y="3363880"/>
            <a:ext cx="337166" cy="605418"/>
          </a:xfrm>
          <a:prstGeom prst="line">
            <a:avLst/>
          </a:prstGeom>
          <a:noFill/>
          <a:ln w="158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squar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Times New Roman" panose="02020603050405020304"/>
              <a:ea typeface="黑体" panose="02010609060101010101" pitchFamily="2" charset="-122"/>
              <a:cs typeface="+mn-cs"/>
            </a:endParaRPr>
          </a:p>
        </p:txBody>
      </p:sp>
      <mc:AlternateContent xmlns:mc="http://schemas.openxmlformats.org/markup-compatibility/2006">
        <mc:Choice xmlns:a14="http://schemas.microsoft.com/office/drawing/2010/main" Requires="a14">
          <p:sp>
            <p:nvSpPr>
              <p:cNvPr id="116" name="文本框 115"/>
              <p:cNvSpPr txBox="1"/>
              <p:nvPr/>
            </p:nvSpPr>
            <p:spPr>
              <a:xfrm>
                <a:off x="-1620805" y="2908344"/>
                <a:ext cx="61695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𝑣</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2</m:t>
                          </m:r>
                        </m:sub>
                      </m:s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𝑃</m:t>
                          </m:r>
                        </m:e>
                        <m: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12</m:t>
                          </m:r>
                        </m:sub>
                      </m:sSub>
                      <m:sSub>
                        <m:sSub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𝑃</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1</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3</m:t>
                          </m:r>
                        </m:sub>
                      </m:sSub>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𝜔</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ea typeface="MS Mincho" charset="0"/>
                              <a:cs typeface="Cambria Math" panose="02040503050406030204" pitchFamily="18" charset="0"/>
                            </a:rPr>
                            <m:t>1</m:t>
                          </m:r>
                        </m:sub>
                      </m:sSub>
                    </m:oMath>
                  </m:oMathPara>
                </a14:m>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16" name="文本框 115"/>
              <p:cNvSpPr txBox="1">
                <a:spLocks noRot="1" noChangeAspect="1" noMove="1" noResize="1" noEditPoints="1" noAdjustHandles="1" noChangeArrowheads="1" noChangeShapeType="1" noTextEdit="1"/>
              </p:cNvSpPr>
              <p:nvPr/>
            </p:nvSpPr>
            <p:spPr>
              <a:xfrm>
                <a:off x="-1620805" y="2908344"/>
                <a:ext cx="6169572" cy="369332"/>
              </a:xfrm>
              <a:prstGeom prst="rect">
                <a:avLst/>
              </a:prstGeom>
              <a:blipFill rotWithShape="1">
                <a:blip r:embed="rId29"/>
                <a:stretch>
                  <a:fillRect l="5" t="-12" r="4" b="119"/>
                </a:stretch>
              </a:blipFill>
            </p:spPr>
            <p:txBody>
              <a:bodyPr/>
              <a:lstStyle/>
              <a:p>
                <a:r>
                  <a:rPr lang="zh-CN" altLang="en-US">
                    <a:noFill/>
                  </a:rPr>
                  <a:t> </a:t>
                </a:r>
              </a:p>
            </p:txBody>
          </p:sp>
        </mc:Fallback>
      </mc:AlternateContent>
      <p:sp>
        <p:nvSpPr>
          <p:cNvPr id="4" name="TextBox 8"/>
          <p:cNvSpPr txBox="1"/>
          <p:nvPr/>
        </p:nvSpPr>
        <p:spPr>
          <a:xfrm>
            <a:off x="1007745" y="319405"/>
            <a:ext cx="96208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3-5 Pressure Angle, Base Circle Radius, and Offset Selection</a:t>
            </a:r>
            <a:endPar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5" grpId="0" animBg="1"/>
      <p:bldP spid="106" grpId="0" animBg="1"/>
      <p:bldP spid="11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dirty="0"/>
          </a:p>
        </p:txBody>
      </p:sp>
      <p:grpSp>
        <p:nvGrpSpPr>
          <p:cNvPr id="19" name="Group 39"/>
          <p:cNvGrpSpPr/>
          <p:nvPr/>
        </p:nvGrpSpPr>
        <p:grpSpPr bwMode="auto">
          <a:xfrm>
            <a:off x="5418734" y="1803675"/>
            <a:ext cx="6762750" cy="5057775"/>
            <a:chOff x="960" y="432"/>
            <a:chExt cx="4260" cy="3186"/>
          </a:xfrm>
        </p:grpSpPr>
        <p:sp>
          <p:nvSpPr>
            <p:cNvPr id="20" name="Line 12"/>
            <p:cNvSpPr>
              <a:spLocks noChangeShapeType="1"/>
            </p:cNvSpPr>
            <p:nvPr/>
          </p:nvSpPr>
          <p:spPr bwMode="auto">
            <a:xfrm rot="-3726725">
              <a:off x="2255" y="1098"/>
              <a:ext cx="1" cy="2400"/>
            </a:xfrm>
            <a:prstGeom prst="line">
              <a:avLst/>
            </a:prstGeom>
            <a:noFill/>
            <a:ln w="1270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1" name="Line 19"/>
            <p:cNvSpPr>
              <a:spLocks noChangeShapeType="1"/>
            </p:cNvSpPr>
            <p:nvPr/>
          </p:nvSpPr>
          <p:spPr bwMode="auto">
            <a:xfrm>
              <a:off x="2928" y="1781"/>
              <a:ext cx="0" cy="1056"/>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22" name="Group 7"/>
            <p:cNvGrpSpPr/>
            <p:nvPr/>
          </p:nvGrpSpPr>
          <p:grpSpPr bwMode="auto">
            <a:xfrm>
              <a:off x="960" y="432"/>
              <a:ext cx="3648" cy="2836"/>
              <a:chOff x="864" y="92"/>
              <a:chExt cx="3648" cy="2836"/>
            </a:xfrm>
          </p:grpSpPr>
          <p:sp>
            <p:nvSpPr>
              <p:cNvPr id="49" name="Line 2"/>
              <p:cNvSpPr>
                <a:spLocks noChangeShapeType="1"/>
              </p:cNvSpPr>
              <p:nvPr/>
            </p:nvSpPr>
            <p:spPr bwMode="auto">
              <a:xfrm>
                <a:off x="864" y="1776"/>
                <a:ext cx="3648" cy="0"/>
              </a:xfrm>
              <a:prstGeom prst="line">
                <a:avLst/>
              </a:prstGeom>
              <a:noFill/>
              <a:ln w="19050" cap="sq">
                <a:solidFill>
                  <a:schemeClr val="tx1"/>
                </a:solidFill>
                <a:round/>
                <a:headEnd type="none" w="sm" len="sm"/>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50" name="Line 3"/>
              <p:cNvSpPr>
                <a:spLocks noChangeShapeType="1"/>
              </p:cNvSpPr>
              <p:nvPr/>
            </p:nvSpPr>
            <p:spPr bwMode="auto">
              <a:xfrm>
                <a:off x="2592" y="92"/>
                <a:ext cx="0" cy="2836"/>
              </a:xfrm>
              <a:prstGeom prst="line">
                <a:avLst/>
              </a:prstGeom>
              <a:noFill/>
              <a:ln w="19050">
                <a:solidFill>
                  <a:schemeClr val="tx2"/>
                </a:solidFill>
                <a:round/>
                <a:headEnd type="stealth" w="sm" len="lg"/>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51" name="Group 6"/>
              <p:cNvGrpSpPr/>
              <p:nvPr/>
            </p:nvGrpSpPr>
            <p:grpSpPr bwMode="auto">
              <a:xfrm>
                <a:off x="1200" y="784"/>
                <a:ext cx="2256" cy="985"/>
                <a:chOff x="1200" y="784"/>
                <a:chExt cx="2256" cy="985"/>
              </a:xfrm>
            </p:grpSpPr>
            <p:sp>
              <p:nvSpPr>
                <p:cNvPr id="52" name="Arc 4"/>
                <p:cNvSpPr/>
                <p:nvPr/>
              </p:nvSpPr>
              <p:spPr bwMode="auto">
                <a:xfrm flipH="1">
                  <a:off x="1200" y="809"/>
                  <a:ext cx="1381" cy="960"/>
                </a:xfrm>
                <a:custGeom>
                  <a:avLst/>
                  <a:gdLst>
                    <a:gd name="T0" fmla="*/ 0 w 23389"/>
                    <a:gd name="T1" fmla="*/ 0 h 43200"/>
                    <a:gd name="T2" fmla="*/ 0 w 23389"/>
                    <a:gd name="T3" fmla="*/ 0 h 43200"/>
                    <a:gd name="T4" fmla="*/ 0 w 23389"/>
                    <a:gd name="T5" fmla="*/ 0 h 43200"/>
                    <a:gd name="T6" fmla="*/ 0 60000 65536"/>
                    <a:gd name="T7" fmla="*/ 0 60000 65536"/>
                    <a:gd name="T8" fmla="*/ 0 60000 65536"/>
                    <a:gd name="T9" fmla="*/ 0 w 23389"/>
                    <a:gd name="T10" fmla="*/ 0 h 43200"/>
                    <a:gd name="T11" fmla="*/ 23389 w 23389"/>
                    <a:gd name="T12" fmla="*/ 43200 h 43200"/>
                  </a:gdLst>
                  <a:ahLst/>
                  <a:cxnLst>
                    <a:cxn ang="T6">
                      <a:pos x="T0" y="T1"/>
                    </a:cxn>
                    <a:cxn ang="T7">
                      <a:pos x="T2" y="T3"/>
                    </a:cxn>
                    <a:cxn ang="T8">
                      <a:pos x="T4" y="T5"/>
                    </a:cxn>
                  </a:cxnLst>
                  <a:rect l="T9" t="T10" r="T11" b="T12"/>
                  <a:pathLst>
                    <a:path w="23389" h="43200" fill="none" extrusionOk="0">
                      <a:moveTo>
                        <a:pt x="0" y="74"/>
                      </a:moveTo>
                      <a:cubicBezTo>
                        <a:pt x="595" y="24"/>
                        <a:pt x="1191" y="-1"/>
                        <a:pt x="1789" y="0"/>
                      </a:cubicBezTo>
                      <a:cubicBezTo>
                        <a:pt x="13718" y="0"/>
                        <a:pt x="23389" y="9670"/>
                        <a:pt x="23389" y="21600"/>
                      </a:cubicBezTo>
                      <a:cubicBezTo>
                        <a:pt x="23389" y="33529"/>
                        <a:pt x="13718" y="43200"/>
                        <a:pt x="1789" y="43200"/>
                      </a:cubicBezTo>
                      <a:cubicBezTo>
                        <a:pt x="1197" y="43200"/>
                        <a:pt x="606" y="43175"/>
                        <a:pt x="16" y="43127"/>
                      </a:cubicBezTo>
                    </a:path>
                    <a:path w="23389" h="43200" stroke="0" extrusionOk="0">
                      <a:moveTo>
                        <a:pt x="0" y="74"/>
                      </a:moveTo>
                      <a:cubicBezTo>
                        <a:pt x="595" y="24"/>
                        <a:pt x="1191" y="-1"/>
                        <a:pt x="1789" y="0"/>
                      </a:cubicBezTo>
                      <a:cubicBezTo>
                        <a:pt x="13718" y="0"/>
                        <a:pt x="23389" y="9670"/>
                        <a:pt x="23389" y="21600"/>
                      </a:cubicBezTo>
                      <a:cubicBezTo>
                        <a:pt x="23389" y="33529"/>
                        <a:pt x="13718" y="43200"/>
                        <a:pt x="1789" y="43200"/>
                      </a:cubicBezTo>
                      <a:cubicBezTo>
                        <a:pt x="1197" y="43200"/>
                        <a:pt x="606" y="43175"/>
                        <a:pt x="16" y="43127"/>
                      </a:cubicBezTo>
                      <a:lnTo>
                        <a:pt x="1789" y="21600"/>
                      </a:lnTo>
                      <a:close/>
                    </a:path>
                  </a:pathLst>
                </a:custGeom>
                <a:noFill/>
                <a:ln w="190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53" name="Arc 5"/>
                <p:cNvSpPr/>
                <p:nvPr/>
              </p:nvSpPr>
              <p:spPr bwMode="auto">
                <a:xfrm rot="10630807" flipH="1">
                  <a:off x="2544" y="784"/>
                  <a:ext cx="912" cy="968"/>
                </a:xfrm>
                <a:custGeom>
                  <a:avLst/>
                  <a:gdLst>
                    <a:gd name="T0" fmla="*/ 0 w 24633"/>
                    <a:gd name="T1" fmla="*/ 0 h 43200"/>
                    <a:gd name="T2" fmla="*/ 0 w 24633"/>
                    <a:gd name="T3" fmla="*/ 0 h 43200"/>
                    <a:gd name="T4" fmla="*/ 0 w 24633"/>
                    <a:gd name="T5" fmla="*/ 0 h 43200"/>
                    <a:gd name="T6" fmla="*/ 0 60000 65536"/>
                    <a:gd name="T7" fmla="*/ 0 60000 65536"/>
                    <a:gd name="T8" fmla="*/ 0 60000 65536"/>
                    <a:gd name="T9" fmla="*/ 0 w 24633"/>
                    <a:gd name="T10" fmla="*/ 0 h 43200"/>
                    <a:gd name="T11" fmla="*/ 24633 w 24633"/>
                    <a:gd name="T12" fmla="*/ 43200 h 43200"/>
                  </a:gdLst>
                  <a:ahLst/>
                  <a:cxnLst>
                    <a:cxn ang="T6">
                      <a:pos x="T0" y="T1"/>
                    </a:cxn>
                    <a:cxn ang="T7">
                      <a:pos x="T2" y="T3"/>
                    </a:cxn>
                    <a:cxn ang="T8">
                      <a:pos x="T4" y="T5"/>
                    </a:cxn>
                  </a:cxnLst>
                  <a:rect l="T9" t="T10" r="T11" b="T12"/>
                  <a:pathLst>
                    <a:path w="24633" h="43200" fill="none" extrusionOk="0">
                      <a:moveTo>
                        <a:pt x="0" y="214"/>
                      </a:moveTo>
                      <a:cubicBezTo>
                        <a:pt x="1004" y="71"/>
                        <a:pt x="2018" y="-1"/>
                        <a:pt x="3033" y="0"/>
                      </a:cubicBezTo>
                      <a:cubicBezTo>
                        <a:pt x="14962" y="0"/>
                        <a:pt x="24633" y="9670"/>
                        <a:pt x="24633" y="21600"/>
                      </a:cubicBezTo>
                      <a:cubicBezTo>
                        <a:pt x="24633" y="33529"/>
                        <a:pt x="14962" y="43200"/>
                        <a:pt x="3033" y="43200"/>
                      </a:cubicBezTo>
                      <a:cubicBezTo>
                        <a:pt x="2441" y="43200"/>
                        <a:pt x="1850" y="43175"/>
                        <a:pt x="1260" y="43127"/>
                      </a:cubicBezTo>
                    </a:path>
                    <a:path w="24633" h="43200" stroke="0" extrusionOk="0">
                      <a:moveTo>
                        <a:pt x="0" y="214"/>
                      </a:moveTo>
                      <a:cubicBezTo>
                        <a:pt x="1004" y="71"/>
                        <a:pt x="2018" y="-1"/>
                        <a:pt x="3033" y="0"/>
                      </a:cubicBezTo>
                      <a:cubicBezTo>
                        <a:pt x="14962" y="0"/>
                        <a:pt x="24633" y="9670"/>
                        <a:pt x="24633" y="21600"/>
                      </a:cubicBezTo>
                      <a:cubicBezTo>
                        <a:pt x="24633" y="33529"/>
                        <a:pt x="14962" y="43200"/>
                        <a:pt x="3033" y="43200"/>
                      </a:cubicBezTo>
                      <a:cubicBezTo>
                        <a:pt x="2441" y="43200"/>
                        <a:pt x="1850" y="43175"/>
                        <a:pt x="1260" y="43127"/>
                      </a:cubicBezTo>
                      <a:lnTo>
                        <a:pt x="3033" y="21600"/>
                      </a:lnTo>
                      <a:close/>
                    </a:path>
                  </a:pathLst>
                </a:custGeom>
                <a:noFill/>
                <a:ln w="190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pSp>
        </p:grpSp>
        <p:graphicFrame>
          <p:nvGraphicFramePr>
            <p:cNvPr id="23" name="Object 8"/>
            <p:cNvGraphicFramePr>
              <a:graphicFrameLocks noChangeAspect="1"/>
            </p:cNvGraphicFramePr>
            <p:nvPr/>
          </p:nvGraphicFramePr>
          <p:xfrm>
            <a:off x="4656" y="1968"/>
            <a:ext cx="564" cy="273"/>
          </p:xfrm>
          <a:graphic>
            <a:graphicData uri="http://schemas.openxmlformats.org/presentationml/2006/ole">
              <mc:AlternateContent xmlns:mc="http://schemas.openxmlformats.org/markup-compatibility/2006">
                <mc:Choice xmlns:v="urn:schemas-microsoft-com:vml" Requires="v">
                  <p:oleObj spid="_x0000_s241756" name="Equation" r:id="rId1" imgW="419100" imgH="203200" progId="Equation.3">
                    <p:embed/>
                  </p:oleObj>
                </mc:Choice>
                <mc:Fallback>
                  <p:oleObj name="Equation" r:id="rId1" imgW="419100" imgH="2032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6" y="1968"/>
                          <a:ext cx="564"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9"/>
            <p:cNvGraphicFramePr>
              <a:graphicFrameLocks noChangeAspect="1"/>
            </p:cNvGraphicFramePr>
            <p:nvPr/>
          </p:nvGraphicFramePr>
          <p:xfrm>
            <a:off x="2400" y="432"/>
            <a:ext cx="193" cy="236"/>
          </p:xfrm>
          <a:graphic>
            <a:graphicData uri="http://schemas.openxmlformats.org/presentationml/2006/ole">
              <mc:AlternateContent xmlns:mc="http://schemas.openxmlformats.org/markup-compatibility/2006">
                <mc:Choice xmlns:v="urn:schemas-microsoft-com:vml" Requires="v">
                  <p:oleObj spid="_x0000_s241757" name="Equation" r:id="rId3" imgW="114300" imgH="139700" progId="Equation.3">
                    <p:embed/>
                  </p:oleObj>
                </mc:Choice>
                <mc:Fallback>
                  <p:oleObj name="Equation" r:id="rId3" imgW="114300" imgH="1397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 y="432"/>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Oval 10"/>
            <p:cNvSpPr>
              <a:spLocks noChangeArrowheads="1"/>
            </p:cNvSpPr>
            <p:nvPr/>
          </p:nvSpPr>
          <p:spPr bwMode="auto">
            <a:xfrm>
              <a:off x="2907" y="2633"/>
              <a:ext cx="45" cy="45"/>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26" name="Line 11"/>
            <p:cNvSpPr>
              <a:spLocks noChangeShapeType="1"/>
            </p:cNvSpPr>
            <p:nvPr/>
          </p:nvSpPr>
          <p:spPr bwMode="auto">
            <a:xfrm rot="1978484">
              <a:off x="3082" y="1218"/>
              <a:ext cx="1" cy="2400"/>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7" name="Line 13"/>
            <p:cNvSpPr>
              <a:spLocks noChangeShapeType="1"/>
            </p:cNvSpPr>
            <p:nvPr/>
          </p:nvSpPr>
          <p:spPr bwMode="auto">
            <a:xfrm>
              <a:off x="2688" y="2112"/>
              <a:ext cx="240" cy="528"/>
            </a:xfrm>
            <a:prstGeom prst="line">
              <a:avLst/>
            </a:prstGeom>
            <a:noFill/>
            <a:ln w="12700">
              <a:solidFill>
                <a:srgbClr val="0000FF"/>
              </a:solidFill>
              <a:round/>
              <a:headEnd type="stealth" w="sm" len="lg"/>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8" name="Line 14"/>
            <p:cNvSpPr>
              <a:spLocks noChangeShapeType="1"/>
            </p:cNvSpPr>
            <p:nvPr/>
          </p:nvSpPr>
          <p:spPr bwMode="auto">
            <a:xfrm flipH="1">
              <a:off x="2688" y="1776"/>
              <a:ext cx="814" cy="0"/>
            </a:xfrm>
            <a:prstGeom prst="line">
              <a:avLst/>
            </a:prstGeom>
            <a:noFill/>
            <a:ln w="190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29" name="Object 15"/>
            <p:cNvGraphicFramePr>
              <a:graphicFrameLocks noChangeAspect="1"/>
            </p:cNvGraphicFramePr>
            <p:nvPr/>
          </p:nvGraphicFramePr>
          <p:xfrm>
            <a:off x="2880" y="1536"/>
            <a:ext cx="432" cy="209"/>
          </p:xfrm>
          <a:graphic>
            <a:graphicData uri="http://schemas.openxmlformats.org/presentationml/2006/ole">
              <mc:AlternateContent xmlns:mc="http://schemas.openxmlformats.org/markup-compatibility/2006">
                <mc:Choice xmlns:v="urn:schemas-microsoft-com:vml" Requires="v">
                  <p:oleObj spid="_x0000_s241758" name="Equation" r:id="rId5" imgW="254635" imgH="121285" progId="Equation.3">
                    <p:embed/>
                  </p:oleObj>
                </mc:Choice>
                <mc:Fallback>
                  <p:oleObj name="Equation" r:id="rId5" imgW="254635" imgH="121285"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0" y="1536"/>
                          <a:ext cx="43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16"/>
            <p:cNvSpPr>
              <a:spLocks noChangeShapeType="1"/>
            </p:cNvSpPr>
            <p:nvPr/>
          </p:nvSpPr>
          <p:spPr bwMode="auto">
            <a:xfrm>
              <a:off x="3504" y="1776"/>
              <a:ext cx="528" cy="0"/>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1" name="Line 17"/>
            <p:cNvSpPr>
              <a:spLocks noChangeShapeType="1"/>
            </p:cNvSpPr>
            <p:nvPr/>
          </p:nvSpPr>
          <p:spPr bwMode="auto">
            <a:xfrm>
              <a:off x="3840" y="1776"/>
              <a:ext cx="0" cy="336"/>
            </a:xfrm>
            <a:prstGeom prst="line">
              <a:avLst/>
            </a:prstGeom>
            <a:noFill/>
            <a:ln w="19050">
              <a:solidFill>
                <a:srgbClr val="0000FF"/>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32" name="Object 18"/>
            <p:cNvGraphicFramePr>
              <a:graphicFrameLocks noChangeAspect="1"/>
            </p:cNvGraphicFramePr>
            <p:nvPr/>
          </p:nvGraphicFramePr>
          <p:xfrm>
            <a:off x="3888" y="1824"/>
            <a:ext cx="193" cy="236"/>
          </p:xfrm>
          <a:graphic>
            <a:graphicData uri="http://schemas.openxmlformats.org/presentationml/2006/ole">
              <mc:AlternateContent xmlns:mc="http://schemas.openxmlformats.org/markup-compatibility/2006">
                <mc:Choice xmlns:v="urn:schemas-microsoft-com:vml" Requires="v">
                  <p:oleObj spid="_x0000_s241759" name="Equation" r:id="rId7" imgW="69215" imgH="86995" progId="Equation.3">
                    <p:embed/>
                  </p:oleObj>
                </mc:Choice>
                <mc:Fallback>
                  <p:oleObj name="Equation" r:id="rId7" imgW="69215" imgH="86995"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8" y="1824"/>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Line 20"/>
            <p:cNvSpPr>
              <a:spLocks noChangeShapeType="1"/>
            </p:cNvSpPr>
            <p:nvPr/>
          </p:nvSpPr>
          <p:spPr bwMode="auto">
            <a:xfrm>
              <a:off x="2688" y="2784"/>
              <a:ext cx="240" cy="0"/>
            </a:xfrm>
            <a:prstGeom prst="line">
              <a:avLst/>
            </a:prstGeom>
            <a:noFill/>
            <a:ln w="15875" cap="sq">
              <a:solidFill>
                <a:srgbClr val="0000FF"/>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34" name="Object 21"/>
            <p:cNvGraphicFramePr>
              <a:graphicFrameLocks noChangeAspect="1"/>
            </p:cNvGraphicFramePr>
            <p:nvPr/>
          </p:nvGraphicFramePr>
          <p:xfrm>
            <a:off x="2737" y="2614"/>
            <a:ext cx="171" cy="188"/>
          </p:xfrm>
          <a:graphic>
            <a:graphicData uri="http://schemas.openxmlformats.org/presentationml/2006/ole">
              <mc:AlternateContent xmlns:mc="http://schemas.openxmlformats.org/markup-compatibility/2006">
                <mc:Choice xmlns:v="urn:schemas-microsoft-com:vml" Requires="v">
                  <p:oleObj spid="_x0000_s241760" name="Equation" r:id="rId9" imgW="74930" imgH="86995" progId="Equation.3">
                    <p:embed/>
                  </p:oleObj>
                </mc:Choice>
                <mc:Fallback>
                  <p:oleObj name="Equation" r:id="rId9" imgW="74930" imgH="86995"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7" y="2614"/>
                          <a:ext cx="171"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22"/>
            <p:cNvGraphicFramePr>
              <a:graphicFrameLocks noChangeAspect="1"/>
            </p:cNvGraphicFramePr>
            <p:nvPr/>
          </p:nvGraphicFramePr>
          <p:xfrm>
            <a:off x="2688" y="2256"/>
            <a:ext cx="161" cy="264"/>
          </p:xfrm>
          <a:graphic>
            <a:graphicData uri="http://schemas.openxmlformats.org/presentationml/2006/ole">
              <mc:AlternateContent xmlns:mc="http://schemas.openxmlformats.org/markup-compatibility/2006">
                <mc:Choice xmlns:v="urn:schemas-microsoft-com:vml" Requires="v">
                  <p:oleObj spid="_x0000_s241761" name="Equation" r:id="rId11" imgW="86995" imgH="139065" progId="Equation.3">
                    <p:embed/>
                  </p:oleObj>
                </mc:Choice>
                <mc:Fallback>
                  <p:oleObj name="Equation" r:id="rId11" imgW="86995" imgH="139065"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8" y="2256"/>
                          <a:ext cx="161"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Arc 23"/>
            <p:cNvSpPr/>
            <p:nvPr/>
          </p:nvSpPr>
          <p:spPr bwMode="auto">
            <a:xfrm rot="10775233" flipH="1" flipV="1">
              <a:off x="2928" y="2208"/>
              <a:ext cx="205" cy="29"/>
            </a:xfrm>
            <a:custGeom>
              <a:avLst/>
              <a:gdLst>
                <a:gd name="T0" fmla="*/ 0 w 21531"/>
                <a:gd name="T1" fmla="*/ 0 h 21600"/>
                <a:gd name="T2" fmla="*/ 0 w 21531"/>
                <a:gd name="T3" fmla="*/ 0 h 21600"/>
                <a:gd name="T4" fmla="*/ 0 w 21531"/>
                <a:gd name="T5" fmla="*/ 0 h 21600"/>
                <a:gd name="T6" fmla="*/ 0 60000 65536"/>
                <a:gd name="T7" fmla="*/ 0 60000 65536"/>
                <a:gd name="T8" fmla="*/ 0 60000 65536"/>
                <a:gd name="T9" fmla="*/ 0 w 21531"/>
                <a:gd name="T10" fmla="*/ 0 h 21600"/>
                <a:gd name="T11" fmla="*/ 21531 w 21531"/>
                <a:gd name="T12" fmla="*/ 21600 h 21600"/>
              </a:gdLst>
              <a:ahLst/>
              <a:cxnLst>
                <a:cxn ang="T6">
                  <a:pos x="T0" y="T1"/>
                </a:cxn>
                <a:cxn ang="T7">
                  <a:pos x="T2" y="T3"/>
                </a:cxn>
                <a:cxn ang="T8">
                  <a:pos x="T4" y="T5"/>
                </a:cxn>
              </a:cxnLst>
              <a:rect l="T9" t="T10" r="T11" b="T12"/>
              <a:pathLst>
                <a:path w="21531" h="21600" fill="none" extrusionOk="0">
                  <a:moveTo>
                    <a:pt x="-1" y="0"/>
                  </a:moveTo>
                  <a:cubicBezTo>
                    <a:pt x="11261" y="0"/>
                    <a:pt x="20632" y="8651"/>
                    <a:pt x="21531" y="19876"/>
                  </a:cubicBezTo>
                </a:path>
                <a:path w="21531" h="21600" stroke="0" extrusionOk="0">
                  <a:moveTo>
                    <a:pt x="-1" y="0"/>
                  </a:moveTo>
                  <a:cubicBezTo>
                    <a:pt x="11261" y="0"/>
                    <a:pt x="20632" y="8651"/>
                    <a:pt x="21531" y="19876"/>
                  </a:cubicBezTo>
                  <a:lnTo>
                    <a:pt x="0" y="21600"/>
                  </a:lnTo>
                  <a:close/>
                </a:path>
              </a:pathLst>
            </a:custGeom>
            <a:noFill/>
            <a:ln w="15875" cap="sq">
              <a:solidFill>
                <a:srgbClr val="00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aphicFrame>
          <p:nvGraphicFramePr>
            <p:cNvPr id="37" name="Object 24"/>
            <p:cNvGraphicFramePr>
              <a:graphicFrameLocks noChangeAspect="1"/>
            </p:cNvGraphicFramePr>
            <p:nvPr/>
          </p:nvGraphicFramePr>
          <p:xfrm>
            <a:off x="2956" y="2040"/>
            <a:ext cx="188" cy="188"/>
          </p:xfrm>
          <a:graphic>
            <a:graphicData uri="http://schemas.openxmlformats.org/presentationml/2006/ole">
              <mc:AlternateContent xmlns:mc="http://schemas.openxmlformats.org/markup-compatibility/2006">
                <mc:Choice xmlns:v="urn:schemas-microsoft-com:vml" Requires="v">
                  <p:oleObj spid="_x0000_s241762" name="Equation" r:id="rId13" imgW="86995" imgH="86995" progId="Equation.3">
                    <p:embed/>
                  </p:oleObj>
                </mc:Choice>
                <mc:Fallback>
                  <p:oleObj name="Equation" r:id="rId13" imgW="86995" imgH="86995"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6" y="2040"/>
                          <a:ext cx="188"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Line 26"/>
            <p:cNvSpPr>
              <a:spLocks noChangeShapeType="1"/>
            </p:cNvSpPr>
            <p:nvPr/>
          </p:nvSpPr>
          <p:spPr bwMode="auto">
            <a:xfrm flipH="1">
              <a:off x="1536" y="1920"/>
              <a:ext cx="1154" cy="0"/>
            </a:xfrm>
            <a:prstGeom prst="line">
              <a:avLst/>
            </a:prstGeom>
            <a:noFill/>
            <a:ln w="19050">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39" name="Object 27"/>
            <p:cNvGraphicFramePr>
              <a:graphicFrameLocks noChangeAspect="1"/>
            </p:cNvGraphicFramePr>
            <p:nvPr/>
          </p:nvGraphicFramePr>
          <p:xfrm>
            <a:off x="1868" y="1680"/>
            <a:ext cx="537" cy="209"/>
          </p:xfrm>
          <a:graphic>
            <a:graphicData uri="http://schemas.openxmlformats.org/presentationml/2006/ole">
              <mc:AlternateContent xmlns:mc="http://schemas.openxmlformats.org/markup-compatibility/2006">
                <mc:Choice xmlns:v="urn:schemas-microsoft-com:vml" Requires="v">
                  <p:oleObj spid="_x0000_s241763" name="Equation" r:id="rId15" imgW="12496800" imgH="4876800" progId="Equation.DSMT4">
                    <p:embed/>
                  </p:oleObj>
                </mc:Choice>
                <mc:Fallback>
                  <p:oleObj name="Equation" r:id="rId15" imgW="12496800" imgH="4876800" progId="Equation.DSMT4">
                    <p:embed/>
                    <p:pic>
                      <p:nvPicPr>
                        <p:cNvPr id="0" name="Object 27"/>
                        <p:cNvPicPr>
                          <a:picLocks noChangeAspect="1" noChangeArrowheads="1"/>
                        </p:cNvPicPr>
                        <p:nvPr/>
                      </p:nvPicPr>
                      <p:blipFill>
                        <a:blip r:embed="rId16"/>
                        <a:srcRect/>
                        <a:stretch>
                          <a:fillRect/>
                        </a:stretch>
                      </p:blipFill>
                      <p:spPr bwMode="auto">
                        <a:xfrm>
                          <a:off x="1868" y="1680"/>
                          <a:ext cx="537"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Line 28"/>
            <p:cNvSpPr>
              <a:spLocks noChangeShapeType="1"/>
            </p:cNvSpPr>
            <p:nvPr/>
          </p:nvSpPr>
          <p:spPr bwMode="auto">
            <a:xfrm>
              <a:off x="1056" y="1913"/>
              <a:ext cx="528" cy="0"/>
            </a:xfrm>
            <a:prstGeom prst="line">
              <a:avLst/>
            </a:prstGeom>
            <a:noFill/>
            <a:ln w="1270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41" name="Object 30"/>
            <p:cNvGraphicFramePr>
              <a:graphicFrameLocks noChangeAspect="1"/>
            </p:cNvGraphicFramePr>
            <p:nvPr/>
          </p:nvGraphicFramePr>
          <p:xfrm>
            <a:off x="1056" y="1920"/>
            <a:ext cx="193" cy="236"/>
          </p:xfrm>
          <a:graphic>
            <a:graphicData uri="http://schemas.openxmlformats.org/presentationml/2006/ole">
              <mc:AlternateContent xmlns:mc="http://schemas.openxmlformats.org/markup-compatibility/2006">
                <mc:Choice xmlns:v="urn:schemas-microsoft-com:vml" Requires="v">
                  <p:oleObj spid="_x0000_s241764" name="Equation" r:id="rId17" imgW="69215" imgH="86995" progId="Equation.3">
                    <p:embed/>
                  </p:oleObj>
                </mc:Choice>
                <mc:Fallback>
                  <p:oleObj name="Equation" r:id="rId17" imgW="69215" imgH="86995" progId="Equation.3">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56" y="1920"/>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Line 31"/>
            <p:cNvSpPr>
              <a:spLocks noChangeShapeType="1"/>
            </p:cNvSpPr>
            <p:nvPr/>
          </p:nvSpPr>
          <p:spPr bwMode="auto">
            <a:xfrm>
              <a:off x="1152" y="1671"/>
              <a:ext cx="0" cy="240"/>
            </a:xfrm>
            <a:prstGeom prst="line">
              <a:avLst/>
            </a:prstGeom>
            <a:noFill/>
            <a:ln w="15875" cap="sq">
              <a:solidFill>
                <a:srgbClr val="FF00FF"/>
              </a:solidFill>
              <a:round/>
              <a:headEnd type="none" w="sm" len="sm"/>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43" name="Line 32"/>
            <p:cNvSpPr>
              <a:spLocks noChangeShapeType="1"/>
            </p:cNvSpPr>
            <p:nvPr/>
          </p:nvSpPr>
          <p:spPr bwMode="auto">
            <a:xfrm>
              <a:off x="1152" y="2111"/>
              <a:ext cx="0" cy="240"/>
            </a:xfrm>
            <a:prstGeom prst="line">
              <a:avLst/>
            </a:prstGeom>
            <a:noFill/>
            <a:ln w="15875" cap="sq">
              <a:solidFill>
                <a:srgbClr val="FF00FF"/>
              </a:solidFill>
              <a:round/>
              <a:headEnd type="stealth" w="sm" len="lg"/>
              <a:tailEnd type="none" w="sm" len="lg"/>
            </a:ln>
            <a:extLst>
              <a:ext uri="{909E8E84-426E-40DD-AFC4-6F175D3DCCD1}">
                <a14:hiddenFill xmlns:a14="http://schemas.microsoft.com/office/drawing/2010/main">
                  <a:noFill/>
                </a14:hiddenFill>
              </a:ext>
            </a:extLst>
          </p:spPr>
          <p:txBody>
            <a:bodyPr wrap="none"/>
            <a:lstStyle/>
            <a:p>
              <a:endParaRPr lang="en-US"/>
            </a:p>
          </p:txBody>
        </p:sp>
        <p:sp>
          <p:nvSpPr>
            <p:cNvPr id="44" name="Arc 33"/>
            <p:cNvSpPr/>
            <p:nvPr/>
          </p:nvSpPr>
          <p:spPr bwMode="auto">
            <a:xfrm rot="7502756" flipH="1" flipV="1">
              <a:off x="2530" y="2246"/>
              <a:ext cx="163" cy="100"/>
            </a:xfrm>
            <a:custGeom>
              <a:avLst/>
              <a:gdLst>
                <a:gd name="T0" fmla="*/ 0 w 21531"/>
                <a:gd name="T1" fmla="*/ 0 h 21600"/>
                <a:gd name="T2" fmla="*/ 0 w 21531"/>
                <a:gd name="T3" fmla="*/ 0 h 21600"/>
                <a:gd name="T4" fmla="*/ 0 w 21531"/>
                <a:gd name="T5" fmla="*/ 0 h 21600"/>
                <a:gd name="T6" fmla="*/ 0 60000 65536"/>
                <a:gd name="T7" fmla="*/ 0 60000 65536"/>
                <a:gd name="T8" fmla="*/ 0 60000 65536"/>
                <a:gd name="T9" fmla="*/ 0 w 21531"/>
                <a:gd name="T10" fmla="*/ 0 h 21600"/>
                <a:gd name="T11" fmla="*/ 21531 w 21531"/>
                <a:gd name="T12" fmla="*/ 21600 h 21600"/>
              </a:gdLst>
              <a:ahLst/>
              <a:cxnLst>
                <a:cxn ang="T6">
                  <a:pos x="T0" y="T1"/>
                </a:cxn>
                <a:cxn ang="T7">
                  <a:pos x="T2" y="T3"/>
                </a:cxn>
                <a:cxn ang="T8">
                  <a:pos x="T4" y="T5"/>
                </a:cxn>
              </a:cxnLst>
              <a:rect l="T9" t="T10" r="T11" b="T12"/>
              <a:pathLst>
                <a:path w="21531" h="21600" fill="none" extrusionOk="0">
                  <a:moveTo>
                    <a:pt x="-1" y="0"/>
                  </a:moveTo>
                  <a:cubicBezTo>
                    <a:pt x="11261" y="0"/>
                    <a:pt x="20632" y="8651"/>
                    <a:pt x="21531" y="19876"/>
                  </a:cubicBezTo>
                </a:path>
                <a:path w="21531" h="21600" stroke="0" extrusionOk="0">
                  <a:moveTo>
                    <a:pt x="-1" y="0"/>
                  </a:moveTo>
                  <a:cubicBezTo>
                    <a:pt x="11261" y="0"/>
                    <a:pt x="20632" y="8651"/>
                    <a:pt x="21531" y="19876"/>
                  </a:cubicBezTo>
                  <a:lnTo>
                    <a:pt x="0" y="21600"/>
                  </a:lnTo>
                  <a:close/>
                </a:path>
              </a:pathLst>
            </a:custGeom>
            <a:noFill/>
            <a:ln w="15875" cap="sq">
              <a:solidFill>
                <a:srgbClr val="FF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aphicFrame>
          <p:nvGraphicFramePr>
            <p:cNvPr id="45" name="Object 34"/>
            <p:cNvGraphicFramePr>
              <a:graphicFrameLocks noChangeAspect="1"/>
            </p:cNvGraphicFramePr>
            <p:nvPr/>
          </p:nvGraphicFramePr>
          <p:xfrm>
            <a:off x="2452" y="2090"/>
            <a:ext cx="188" cy="188"/>
          </p:xfrm>
          <a:graphic>
            <a:graphicData uri="http://schemas.openxmlformats.org/presentationml/2006/ole">
              <mc:AlternateContent xmlns:mc="http://schemas.openxmlformats.org/markup-compatibility/2006">
                <mc:Choice xmlns:v="urn:schemas-microsoft-com:vml" Requires="v">
                  <p:oleObj spid="_x0000_s241765" name="Equation" r:id="rId19" imgW="86995" imgH="86995" progId="Equation.3">
                    <p:embed/>
                  </p:oleObj>
                </mc:Choice>
                <mc:Fallback>
                  <p:oleObj name="Equation" r:id="rId19" imgW="86995" imgH="86995" progId="Equation.3">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52" y="2090"/>
                          <a:ext cx="188"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36"/>
            <p:cNvGraphicFramePr>
              <a:graphicFrameLocks noChangeAspect="1"/>
            </p:cNvGraphicFramePr>
            <p:nvPr/>
          </p:nvGraphicFramePr>
          <p:xfrm>
            <a:off x="2928" y="2688"/>
            <a:ext cx="186" cy="200"/>
          </p:xfrm>
          <a:graphic>
            <a:graphicData uri="http://schemas.openxmlformats.org/presentationml/2006/ole">
              <mc:AlternateContent xmlns:mc="http://schemas.openxmlformats.org/markup-compatibility/2006">
                <mc:Choice xmlns:v="urn:schemas-microsoft-com:vml" Requires="v">
                  <p:oleObj spid="_x0000_s241766" name="Equation" r:id="rId21" imgW="98425" imgH="109855" progId="Equation.3">
                    <p:embed/>
                  </p:oleObj>
                </mc:Choice>
                <mc:Fallback>
                  <p:oleObj name="Equation" r:id="rId21" imgW="98425" imgH="109855" progId="Equation.3">
                    <p:embed/>
                    <p:pic>
                      <p:nvPicPr>
                        <p:cNvPr id="0" name="Object 3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28" y="2688"/>
                          <a:ext cx="186"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Line 37"/>
            <p:cNvSpPr>
              <a:spLocks noChangeShapeType="1"/>
            </p:cNvSpPr>
            <p:nvPr/>
          </p:nvSpPr>
          <p:spPr bwMode="auto">
            <a:xfrm rot="1080015" flipH="1">
              <a:off x="3121" y="1391"/>
              <a:ext cx="183" cy="1332"/>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8" name="Line 38"/>
            <p:cNvSpPr>
              <a:spLocks noChangeShapeType="1"/>
            </p:cNvSpPr>
            <p:nvPr/>
          </p:nvSpPr>
          <p:spPr bwMode="auto">
            <a:xfrm rot="-3034018">
              <a:off x="2108" y="1081"/>
              <a:ext cx="82" cy="1955"/>
            </a:xfrm>
            <a:prstGeom prst="line">
              <a:avLst/>
            </a:prstGeom>
            <a:noFill/>
            <a:ln w="12700">
              <a:solidFill>
                <a:srgbClr val="FF00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54" name="Text Box 40"/>
          <p:cNvSpPr txBox="1">
            <a:spLocks noChangeArrowheads="1"/>
          </p:cNvSpPr>
          <p:nvPr/>
        </p:nvSpPr>
        <p:spPr bwMode="auto">
          <a:xfrm>
            <a:off x="9022760" y="1697720"/>
            <a:ext cx="1001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zh-CN" altLang="en-US" sz="2800" dirty="0">
                <a:solidFill>
                  <a:srgbClr val="0000FF"/>
                </a:solidFill>
              </a:rPr>
              <a:t>Rise</a:t>
            </a:r>
            <a:endParaRPr lang="zh-CN" altLang="en-US" sz="2800" dirty="0">
              <a:solidFill>
                <a:srgbClr val="0000FF"/>
              </a:solidFill>
            </a:endParaRPr>
          </a:p>
        </p:txBody>
      </p:sp>
      <p:sp>
        <p:nvSpPr>
          <p:cNvPr id="55" name="Text Box 41"/>
          <p:cNvSpPr txBox="1">
            <a:spLocks noChangeArrowheads="1"/>
          </p:cNvSpPr>
          <p:nvPr/>
        </p:nvSpPr>
        <p:spPr bwMode="auto">
          <a:xfrm>
            <a:off x="6127750" y="1722120"/>
            <a:ext cx="147955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800" dirty="0">
                <a:solidFill>
                  <a:srgbClr val="FF00FF"/>
                </a:solidFill>
              </a:rPr>
              <a:t>Return</a:t>
            </a:r>
            <a:endParaRPr lang="zh-CN" altLang="en-US" sz="2800" dirty="0">
              <a:solidFill>
                <a:srgbClr val="FF00FF"/>
              </a:solidFill>
            </a:endParaRPr>
          </a:p>
        </p:txBody>
      </p:sp>
      <mc:AlternateContent xmlns:mc="http://schemas.openxmlformats.org/markup-compatibility/2006">
        <mc:Choice xmlns:a14="http://schemas.microsoft.com/office/drawing/2010/main" Requires="a14">
          <p:sp>
            <p:nvSpPr>
              <p:cNvPr id="56" name="Text Box 82"/>
              <p:cNvSpPr txBox="1">
                <a:spLocks noChangeArrowheads="1"/>
              </p:cNvSpPr>
              <p:nvPr/>
            </p:nvSpPr>
            <p:spPr bwMode="auto">
              <a:xfrm>
                <a:off x="166717" y="1099446"/>
                <a:ext cx="1179933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Given </a:t>
                </a:r>
                <a14:m>
                  <m:oMath xmlns:m="http://schemas.openxmlformats.org/officeDocument/2006/math">
                    <m:r>
                      <a:rPr lang="en-US" altLang="zh-CN" sz="2000"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𝑠</m:t>
                    </m:r>
                    <m:r>
                      <a:rPr lang="zh-CN" altLang="en-US" sz="2000" i="1">
                        <a:solidFill>
                          <a:srgbClr val="FF0000"/>
                        </a:solidFill>
                        <a:latin typeface="Cambria Math" panose="02040503050406030204" pitchFamily="18" charset="0"/>
                        <a:ea typeface="MS Mincho" charset="0"/>
                        <a:cs typeface="Cambria Math" panose="02040503050406030204" pitchFamily="18" charset="0"/>
                      </a:rPr>
                      <m:t>（</m:t>
                    </m:r>
                    <m:r>
                      <a:rPr lang="en-US" sz="2000" i="1">
                        <a:solidFill>
                          <a:srgbClr val="FF0000"/>
                        </a:solidFill>
                        <a:latin typeface="Cambria Math" panose="02040503050406030204" pitchFamily="18" charset="0"/>
                        <a:ea typeface="MS Mincho" charset="0"/>
                        <a:cs typeface="Cambria Math" panose="02040503050406030204" pitchFamily="18" charset="0"/>
                      </a:rPr>
                      <m:t>𝜑</m:t>
                    </m:r>
                    <m:r>
                      <a:rPr lang="zh-CN" altLang="en-US" sz="2000" i="1">
                        <a:solidFill>
                          <a:srgbClr val="FF0000"/>
                        </a:solidFill>
                        <a:latin typeface="Cambria Math" panose="02040503050406030204" pitchFamily="18" charset="0"/>
                        <a:ea typeface="MS Mincho" charset="0"/>
                        <a:cs typeface="Cambria Math" panose="02040503050406030204" pitchFamily="18" charset="0"/>
                      </a:rPr>
                      <m:t>）</m:t>
                    </m:r>
                  </m:oMath>
                </a14:m>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sSub>
                      <m:sSubPr>
                        <m:ctrlP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𝑜</m:t>
                        </m:r>
                      </m:sub>
                    </m:sSub>
                    <m:r>
                      <a:rPr lang="en-US" sz="2000" b="0" i="1">
                        <a:solidFill>
                          <a:srgbClr val="FF0000"/>
                        </a:solidFill>
                        <a:latin typeface="Cambria Math" panose="02040503050406030204" pitchFamily="18" charset="0"/>
                        <a:ea typeface="MS Mincho" charset="0"/>
                        <a:cs typeface="Cambria Math" panose="02040503050406030204" pitchFamily="18" charset="0"/>
                      </a:rPr>
                      <m:t> </m:t>
                    </m:r>
                    <m:r>
                      <a:rPr lang="zh-CN" altLang="en-US" sz="2000" b="0" i="1">
                        <a:solidFill>
                          <a:srgbClr val="FF0000"/>
                        </a:solidFill>
                        <a:latin typeface="Cambria Math" panose="02040503050406030204" pitchFamily="18" charset="0"/>
                        <a:ea typeface="MS Mincho" charset="0"/>
                        <a:cs typeface="Cambria Math" panose="02040503050406030204" pitchFamily="18" charset="0"/>
                      </a:rPr>
                      <m:t>、</m:t>
                    </m:r>
                    <m: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𝑒</m:t>
                    </m:r>
                  </m:oMath>
                </a14:m>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how to find the maximum pressure angle </a:t>
                </a:r>
                <a14:m>
                  <m:oMath xmlns:m="http://schemas.openxmlformats.org/officeDocument/2006/math">
                    <m:sSub>
                      <m:sSubPr>
                        <m:ctrlP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sz="2000" b="0" i="1">
                            <a:solidFill>
                              <a:srgbClr val="FF0000"/>
                            </a:solidFill>
                            <a:latin typeface="Cambria Math" panose="02040503050406030204" pitchFamily="18" charset="0"/>
                            <a:ea typeface="MS Mincho" charset="0"/>
                            <a:cs typeface="Cambria Math" panose="02040503050406030204" pitchFamily="18" charset="0"/>
                          </a:rPr>
                          <m:t>𝛼</m:t>
                        </m:r>
                      </m:e>
                      <m:sub>
                        <m:r>
                          <m:rPr>
                            <m:sty m:val="p"/>
                          </m:rPr>
                          <a:rPr lang="en-US" altLang="zh-CN" sz="2000" b="0"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max</m:t>
                        </m:r>
                      </m:sub>
                    </m:sSub>
                    <m:r>
                      <a:rPr lang="en-US" sz="2000" b="0" i="1" smtClean="0">
                        <a:solidFill>
                          <a:srgbClr val="FF0000"/>
                        </a:solidFill>
                        <a:latin typeface="Cambria Math" panose="02040503050406030204" pitchFamily="18" charset="0"/>
                        <a:ea typeface="MS Mincho" charset="0"/>
                        <a:cs typeface="Cambria Math" panose="02040503050406030204" pitchFamily="18" charset="0"/>
                      </a:rPr>
                      <m:t> </m:t>
                    </m:r>
                  </m:oMath>
                </a14:m>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graphical method</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AU"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56" name="Text Box 82"/>
              <p:cNvSpPr txBox="1">
                <a:spLocks noRot="1" noChangeAspect="1" noMove="1" noResize="1" noEditPoints="1" noAdjustHandles="1" noChangeArrowheads="1" noChangeShapeType="1" noTextEdit="1"/>
              </p:cNvSpPr>
              <p:nvPr/>
            </p:nvSpPr>
            <p:spPr bwMode="auto">
              <a:xfrm>
                <a:off x="166717" y="1099446"/>
                <a:ext cx="11799331" cy="398780"/>
              </a:xfrm>
              <a:prstGeom prst="rect">
                <a:avLst/>
              </a:prstGeom>
              <a:blipFill rotWithShape="1">
                <a:blip r:embed="rId23"/>
                <a:stretch>
                  <a:fillRect l="-3" t="-65" r="1" b="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57" name="任意多边形 56"/>
          <p:cNvSpPr>
            <a:spLocks noChangeArrowheads="1"/>
          </p:cNvSpPr>
          <p:nvPr/>
        </p:nvSpPr>
        <p:spPr bwMode="auto">
          <a:xfrm>
            <a:off x="641884" y="2885266"/>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01" name="任意多边形 100"/>
          <p:cNvSpPr>
            <a:spLocks noChangeArrowheads="1"/>
          </p:cNvSpPr>
          <p:nvPr/>
        </p:nvSpPr>
        <p:spPr bwMode="auto">
          <a:xfrm>
            <a:off x="641884" y="2885266"/>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mc:AlternateContent xmlns:mc="http://schemas.openxmlformats.org/markup-compatibility/2006">
        <mc:Choice xmlns:a14="http://schemas.microsoft.com/office/drawing/2010/main" Requires="a14">
          <p:sp>
            <p:nvSpPr>
              <p:cNvPr id="10" name="矩形 9"/>
              <p:cNvSpPr/>
              <p:nvPr/>
            </p:nvSpPr>
            <p:spPr>
              <a:xfrm>
                <a:off x="1886222" y="4611462"/>
                <a:ext cx="4523105" cy="368300"/>
              </a:xfrm>
              <a:prstGeom prst="rect">
                <a:avLst/>
              </a:prstGeom>
            </p:spPr>
            <p:txBody>
              <a:bodyPr wrap="none">
                <a:spAutoFit/>
              </a:bodyPr>
              <a:lstStyle/>
              <a:p>
                <a:pPr algn="l"/>
                <a:r>
                  <a:rPr>
                    <a:solidFill>
                      <a:srgbClr val="FF0000"/>
                    </a:solidFill>
                  </a:rPr>
                  <a:t>What is the geometric meaning of </a:t>
                </a:r>
                <a:r>
                  <a:rPr lang="en-US">
                    <a:solidFill>
                      <a:srgbClr val="FF0000"/>
                    </a:solidFill>
                  </a:rPr>
                  <a:t>the</a:t>
                </a:r>
                <a:r>
                  <a:rPr>
                    <a:solidFill>
                      <a:srgbClr val="FF0000"/>
                    </a:solidFill>
                  </a:rPr>
                  <a:t> angle</a:t>
                </a:r>
                <a14:m>
                  <m:oMath xmlns:m="http://schemas.openxmlformats.org/officeDocument/2006/math">
                    <m:r>
                      <a:rPr lang="en-US" altLang="zh-CN" smtClean="0">
                        <a:solidFill>
                          <a:srgbClr val="FF0000"/>
                        </a:solidFill>
                        <a:latin typeface="Cambria Math" panose="02040503050406030204" pitchFamily="18" charset="0"/>
                        <a:ea typeface="黑体" panose="02010609060101010101" pitchFamily="2" charset="-122"/>
                      </a:rPr>
                      <m:t> </m:t>
                    </m:r>
                    <m:r>
                      <a:rPr lang="zh-CN" altLang="en-US" smtClean="0">
                        <a:solidFill>
                          <a:srgbClr val="FF0000"/>
                        </a:solidFill>
                        <a:latin typeface="Cambria Math" panose="02040503050406030204" pitchFamily="18" charset="0"/>
                        <a:ea typeface="黑体" panose="02010609060101010101" pitchFamily="2" charset="-122"/>
                      </a:rPr>
                      <m:t>𝛼</m:t>
                    </m:r>
                  </m:oMath>
                </a14:m>
                <a:r>
                  <a:rPr lang="en-US" altLang="en-AU" dirty="0">
                    <a:solidFill>
                      <a:srgbClr val="FF0000"/>
                    </a:solidFill>
                  </a:rPr>
                  <a:t> ?</a:t>
                </a:r>
                <a:endParaRPr lang="en-US" altLang="en-AU" dirty="0">
                  <a:solidFill>
                    <a:srgbClr val="FF0000"/>
                  </a:solidFill>
                </a:endParaRPr>
              </a:p>
            </p:txBody>
          </p:sp>
        </mc:Choice>
        <mc:Fallback>
          <p:sp>
            <p:nvSpPr>
              <p:cNvPr id="10" name="矩形 9"/>
              <p:cNvSpPr>
                <a:spLocks noRot="1" noChangeAspect="1" noMove="1" noResize="1" noEditPoints="1" noAdjustHandles="1" noChangeArrowheads="1" noChangeShapeType="1" noTextEdit="1"/>
              </p:cNvSpPr>
              <p:nvPr/>
            </p:nvSpPr>
            <p:spPr>
              <a:xfrm>
                <a:off x="1886222" y="4611462"/>
                <a:ext cx="4523105" cy="368300"/>
              </a:xfrm>
              <a:prstGeom prst="rect">
                <a:avLst/>
              </a:prstGeom>
              <a:blipFill rotWithShape="1">
                <a:blip r:embed="rId24"/>
                <a:stretch>
                  <a:fillRect l="-6" t="-25" r="6" b="25"/>
                </a:stretch>
              </a:blipFill>
            </p:spPr>
            <p:txBody>
              <a:bodyPr/>
              <a:lstStyle/>
              <a:p>
                <a:r>
                  <a:rPr lang="zh-CN" altLang="en-US">
                    <a:noFill/>
                  </a:rPr>
                  <a:t> </a:t>
                </a:r>
              </a:p>
            </p:txBody>
          </p:sp>
        </mc:Fallback>
      </mc:AlternateContent>
      <p:sp>
        <p:nvSpPr>
          <p:cNvPr id="127" name="Line 38"/>
          <p:cNvSpPr>
            <a:spLocks noChangeShapeType="1"/>
          </p:cNvSpPr>
          <p:nvPr/>
        </p:nvSpPr>
        <p:spPr bwMode="auto">
          <a:xfrm rot="18565982">
            <a:off x="6697357" y="2134807"/>
            <a:ext cx="2174067" cy="2609959"/>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mc:AlternateContent xmlns:mc="http://schemas.openxmlformats.org/markup-compatibility/2006">
        <mc:Choice xmlns:a14="http://schemas.microsoft.com/office/drawing/2010/main" Requires="a14">
          <p:sp>
            <p:nvSpPr>
              <p:cNvPr id="13" name="矩形 12"/>
              <p:cNvSpPr/>
              <p:nvPr/>
            </p:nvSpPr>
            <p:spPr>
              <a:xfrm>
                <a:off x="7360985" y="3130796"/>
                <a:ext cx="789768"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ea typeface="Cambria Math" panose="02040503050406030204" pitchFamily="18" charset="0"/>
                        </a:rPr>
                        <m:t>𝑠</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𝑎</m:t>
                      </m:r>
                    </m:oMath>
                  </m:oMathPara>
                </a14:m>
                <a:endParaRPr lang="en-AU" dirty="0"/>
              </a:p>
            </p:txBody>
          </p:sp>
        </mc:Choice>
        <mc:Fallback>
          <p:sp>
            <p:nvSpPr>
              <p:cNvPr id="13" name="矩形 12"/>
              <p:cNvSpPr>
                <a:spLocks noRot="1" noChangeAspect="1" noMove="1" noResize="1" noEditPoints="1" noAdjustHandles="1" noChangeArrowheads="1" noChangeShapeType="1" noTextEdit="1"/>
              </p:cNvSpPr>
              <p:nvPr/>
            </p:nvSpPr>
            <p:spPr>
              <a:xfrm>
                <a:off x="7360985" y="3130796"/>
                <a:ext cx="789768" cy="369332"/>
              </a:xfrm>
              <a:prstGeom prst="rect">
                <a:avLst/>
              </a:prstGeom>
              <a:blipFill rotWithShape="1">
                <a:blip r:embed="rId25"/>
                <a:stretch>
                  <a:fillRect l="-8" t="-67" r="67" b="2"/>
                </a:stretch>
              </a:blipFill>
            </p:spPr>
            <p:txBody>
              <a:bodyPr/>
              <a:lstStyle/>
              <a:p>
                <a:r>
                  <a:rPr lang="zh-CN" altLang="en-US">
                    <a:noFill/>
                  </a:rPr>
                  <a:t> </a:t>
                </a:r>
              </a:p>
            </p:txBody>
          </p:sp>
        </mc:Fallback>
      </mc:AlternateContent>
      <p:sp>
        <p:nvSpPr>
          <p:cNvPr id="128" name="Oval 58"/>
          <p:cNvSpPr>
            <a:spLocks noChangeAspect="1" noChangeArrowheads="1"/>
          </p:cNvSpPr>
          <p:nvPr/>
        </p:nvSpPr>
        <p:spPr bwMode="auto">
          <a:xfrm>
            <a:off x="9429269" y="3352779"/>
            <a:ext cx="107950" cy="107950"/>
          </a:xfrm>
          <a:prstGeom prst="ellipse">
            <a:avLst/>
          </a:prstGeom>
          <a:solidFill>
            <a:schemeClr val="tx1"/>
          </a:solidFill>
          <a:ln>
            <a:noFill/>
          </a:ln>
        </p:spPr>
        <p:txBody>
          <a:bodyPr wrap="squar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129" name="Oval 58"/>
          <p:cNvSpPr>
            <a:spLocks noChangeAspect="1" noChangeArrowheads="1"/>
          </p:cNvSpPr>
          <p:nvPr/>
        </p:nvSpPr>
        <p:spPr bwMode="auto">
          <a:xfrm>
            <a:off x="6016417" y="3394345"/>
            <a:ext cx="107950" cy="107950"/>
          </a:xfrm>
          <a:prstGeom prst="ellipse">
            <a:avLst/>
          </a:prstGeom>
          <a:solidFill>
            <a:schemeClr val="tx1"/>
          </a:solidFill>
          <a:ln>
            <a:noFill/>
          </a:ln>
        </p:spPr>
        <p:txBody>
          <a:bodyPr wrap="squar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16" name="矩形 15"/>
          <p:cNvSpPr/>
          <p:nvPr/>
        </p:nvSpPr>
        <p:spPr>
          <a:xfrm>
            <a:off x="5697948" y="2920177"/>
            <a:ext cx="800219" cy="369332"/>
          </a:xfrm>
          <a:prstGeom prst="rect">
            <a:avLst/>
          </a:prstGeom>
        </p:spPr>
        <p:txBody>
          <a:bodyPr wrap="square">
            <a:spAutoFit/>
          </a:bodyPr>
          <a:lstStyle/>
          <a:p>
            <a:r>
              <a:rPr lang="zh-CN" altLang="en-US" dirty="0">
                <a:solidFill>
                  <a:srgbClr val="FF0000"/>
                </a:solidFill>
              </a:rPr>
              <a:t>Curve C</a:t>
            </a:r>
            <a:endParaRPr lang="en-AU" dirty="0"/>
          </a:p>
        </p:txBody>
      </p:sp>
      <p:sp>
        <p:nvSpPr>
          <p:cNvPr id="135" name="矩形 134"/>
          <p:cNvSpPr/>
          <p:nvPr/>
        </p:nvSpPr>
        <p:spPr>
          <a:xfrm>
            <a:off x="9412601" y="3070454"/>
            <a:ext cx="351378" cy="369332"/>
          </a:xfrm>
          <a:prstGeom prst="rect">
            <a:avLst/>
          </a:prstGeom>
        </p:spPr>
        <p:txBody>
          <a:bodyPr wrap="square">
            <a:spAutoFit/>
          </a:bodyPr>
          <a:lstStyle/>
          <a:p>
            <a:r>
              <a:rPr lang="en-US" altLang="zh-CN" i="1" dirty="0"/>
              <a:t>Q</a:t>
            </a:r>
            <a:endParaRPr lang="en-AU" i="1" dirty="0"/>
          </a:p>
        </p:txBody>
      </p:sp>
      <mc:AlternateContent xmlns:mc="http://schemas.openxmlformats.org/markup-compatibility/2006">
        <mc:Choice xmlns:a14="http://schemas.microsoft.com/office/drawing/2010/main" Requires="a14">
          <p:sp>
            <p:nvSpPr>
              <p:cNvPr id="2" name="文本框 1"/>
              <p:cNvSpPr txBox="1"/>
              <p:nvPr/>
            </p:nvSpPr>
            <p:spPr>
              <a:xfrm>
                <a:off x="430046" y="4577578"/>
                <a:ext cx="1427033" cy="521681"/>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tan</m:t>
                      </m:r>
                      <m:r>
                        <a:rPr lang="zh-CN" altLang="en-US" i="1" smtClean="0">
                          <a:latin typeface="Cambria Math" panose="02040503050406030204" pitchFamily="18" charset="0"/>
                        </a:rPr>
                        <m:t>𝛼</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num>
                        <m:den>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oMath>
                  </m:oMathPara>
                </a14:m>
                <a:endParaRPr lang="zh-CN" altLang="en-US" dirty="0"/>
              </a:p>
            </p:txBody>
          </p:sp>
        </mc:Choice>
        <mc:Fallback>
          <p:sp>
            <p:nvSpPr>
              <p:cNvPr id="2" name="文本框 1"/>
              <p:cNvSpPr txBox="1">
                <a:spLocks noRot="1" noChangeAspect="1" noMove="1" noResize="1" noEditPoints="1" noAdjustHandles="1" noChangeArrowheads="1" noChangeShapeType="1" noTextEdit="1"/>
              </p:cNvSpPr>
              <p:nvPr/>
            </p:nvSpPr>
            <p:spPr>
              <a:xfrm>
                <a:off x="430046" y="4577578"/>
                <a:ext cx="1427033" cy="521681"/>
              </a:xfrm>
              <a:prstGeom prst="rect">
                <a:avLst/>
              </a:prstGeom>
              <a:blipFill rotWithShape="1">
                <a:blip r:embed="rId26"/>
                <a:stretch>
                  <a:fillRect l="-11" t="-95" r="24"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文本框 65"/>
              <p:cNvSpPr txBox="1"/>
              <p:nvPr/>
            </p:nvSpPr>
            <p:spPr>
              <a:xfrm>
                <a:off x="1182938" y="6010811"/>
                <a:ext cx="984589" cy="66511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solidFill>
                            <a:srgbClr val="FF0000"/>
                          </a:solidFill>
                          <a:latin typeface="Cambria Math" panose="02040503050406030204" pitchFamily="18" charset="0"/>
                          <a:ea typeface="Cambria Math" panose="02040503050406030204" pitchFamily="18" charset="0"/>
                        </a:rPr>
                        <m:t>𝑥</m:t>
                      </m:r>
                      <m:r>
                        <a:rPr lang="en-US" altLang="zh-CN" i="1">
                          <a:solidFill>
                            <a:srgbClr val="FF0000"/>
                          </a:solidFill>
                          <a:latin typeface="Cambria Math" panose="02040503050406030204" pitchFamily="18" charset="0"/>
                          <a:ea typeface="Cambria Math" panose="02040503050406030204" pitchFamily="18" charset="0"/>
                        </a:rPr>
                        <m:t>=</m:t>
                      </m:r>
                      <m:f>
                        <m:fPr>
                          <m:ctrlPr>
                            <a:rPr lang="en-US" altLang="zh-CN" i="1">
                              <a:solidFill>
                                <a:srgbClr val="FF0000"/>
                              </a:solidFill>
                              <a:latin typeface="Cambria Math" panose="02040503050406030204" pitchFamily="18" charset="0"/>
                              <a:ea typeface="Cambria Math" panose="02040503050406030204" pitchFamily="18" charset="0"/>
                            </a:rPr>
                          </m:ctrlPr>
                        </m:fPr>
                        <m:num>
                          <m:r>
                            <a:rPr lang="en-US" altLang="zh-CN" i="1">
                              <a:solidFill>
                                <a:srgbClr val="FF0000"/>
                              </a:solidFill>
                              <a:latin typeface="Cambria Math" panose="02040503050406030204" pitchFamily="18" charset="0"/>
                              <a:ea typeface="Cambria Math" panose="02040503050406030204" pitchFamily="18" charset="0"/>
                            </a:rPr>
                            <m:t>𝑑𝑠</m:t>
                          </m:r>
                        </m:num>
                        <m:den>
                          <m:r>
                            <a:rPr lang="en-US" altLang="zh-CN" i="1">
                              <a:solidFill>
                                <a:srgbClr val="FF0000"/>
                              </a:solidFill>
                              <a:latin typeface="Cambria Math" panose="02040503050406030204" pitchFamily="18" charset="0"/>
                              <a:ea typeface="Cambria Math" panose="02040503050406030204" pitchFamily="18" charset="0"/>
                            </a:rPr>
                            <m:t>𝑑</m:t>
                          </m:r>
                          <m:r>
                            <a:rPr lang="en-US" altLang="zh-CN" i="1">
                              <a:solidFill>
                                <a:srgbClr val="FF0000"/>
                              </a:solidFill>
                              <a:latin typeface="Cambria Math" panose="02040503050406030204" pitchFamily="18" charset="0"/>
                              <a:ea typeface="Cambria Math" panose="02040503050406030204" pitchFamily="18" charset="0"/>
                            </a:rPr>
                            <m:t>𝜑</m:t>
                          </m:r>
                        </m:den>
                      </m:f>
                    </m:oMath>
                  </m:oMathPara>
                </a14:m>
                <a:endParaRPr lang="zh-CN" altLang="en-US" i="1" dirty="0">
                  <a:solidFill>
                    <a:srgbClr val="FF0000"/>
                  </a:solidFill>
                  <a:latin typeface="Cambria Math" panose="02040503050406030204" pitchFamily="18" charset="0"/>
                  <a:ea typeface="Cambria Math" panose="02040503050406030204" pitchFamily="18" charset="0"/>
                </a:endParaRPr>
              </a:p>
            </p:txBody>
          </p:sp>
        </mc:Choice>
        <mc:Fallback>
          <p:sp>
            <p:nvSpPr>
              <p:cNvPr id="66" name="文本框 65"/>
              <p:cNvSpPr txBox="1">
                <a:spLocks noRot="1" noChangeAspect="1" noMove="1" noResize="1" noEditPoints="1" noAdjustHandles="1" noChangeArrowheads="1" noChangeShapeType="1" noTextEdit="1"/>
              </p:cNvSpPr>
              <p:nvPr/>
            </p:nvSpPr>
            <p:spPr>
              <a:xfrm>
                <a:off x="1182938" y="6010811"/>
                <a:ext cx="984589" cy="665118"/>
              </a:xfrm>
              <a:prstGeom prst="rect">
                <a:avLst/>
              </a:prstGeom>
              <a:blipFill rotWithShape="1">
                <a:blip r:embed="rId27"/>
                <a:stretch>
                  <a:fillRect l="-58" t="-81" r="28"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8" name="文本框 67"/>
              <p:cNvSpPr txBox="1"/>
              <p:nvPr/>
            </p:nvSpPr>
            <p:spPr>
              <a:xfrm>
                <a:off x="2197437" y="6163304"/>
                <a:ext cx="798513" cy="369332"/>
              </a:xfrm>
              <a:prstGeom prst="rect">
                <a:avLst/>
              </a:prstGeom>
              <a:noFill/>
            </p:spPr>
            <p:txBody>
              <a:bodyPr wrap="square">
                <a:spAutoFit/>
              </a:bodyPr>
              <a:lstStyle/>
              <a:p>
                <a14:m>
                  <m:oMath xmlns:m="http://schemas.openxmlformats.org/officeDocument/2006/math">
                    <m:r>
                      <a:rPr lang="en-US" altLang="zh-CN" b="0" i="1" smtClean="0">
                        <a:solidFill>
                          <a:srgbClr val="FF0000"/>
                        </a:solidFill>
                        <a:latin typeface="Cambria Math" panose="02040503050406030204" pitchFamily="18" charset="0"/>
                      </a:rPr>
                      <m:t>𝑦</m:t>
                    </m:r>
                  </m:oMath>
                </a14:m>
                <a:r>
                  <a:rPr lang="en-US" altLang="zh-CN" dirty="0">
                    <a:solidFill>
                      <a:srgbClr val="FF0000"/>
                    </a:solidFill>
                  </a:rPr>
                  <a:t>=</a:t>
                </a:r>
                <a:r>
                  <a:rPr lang="en-US" altLang="zh-CN" dirty="0">
                    <a:solidFill>
                      <a:srgbClr val="FF0000"/>
                    </a:solidFill>
                    <a:ea typeface="Cambria Math" panose="02040503050406030204" pitchFamily="18" charset="0"/>
                  </a:rPr>
                  <a:t> </a:t>
                </a:r>
                <a14:m>
                  <m:oMath xmlns:m="http://schemas.openxmlformats.org/officeDocument/2006/math">
                    <m:r>
                      <a:rPr lang="en-US" altLang="zh-CN" i="1">
                        <a:solidFill>
                          <a:srgbClr val="FF0000"/>
                        </a:solidFill>
                        <a:latin typeface="Cambria Math" panose="02040503050406030204" pitchFamily="18" charset="0"/>
                        <a:ea typeface="Cambria Math" panose="02040503050406030204" pitchFamily="18" charset="0"/>
                      </a:rPr>
                      <m:t>𝑠</m:t>
                    </m:r>
                  </m:oMath>
                </a14:m>
                <a:endParaRPr lang="zh-CN" altLang="en-US" dirty="0">
                  <a:solidFill>
                    <a:srgbClr val="FF0000"/>
                  </a:solidFill>
                </a:endParaRPr>
              </a:p>
            </p:txBody>
          </p:sp>
        </mc:Choice>
        <mc:Fallback>
          <p:sp>
            <p:nvSpPr>
              <p:cNvPr id="68" name="文本框 67"/>
              <p:cNvSpPr txBox="1">
                <a:spLocks noRot="1" noChangeAspect="1" noMove="1" noResize="1" noEditPoints="1" noAdjustHandles="1" noChangeArrowheads="1" noChangeShapeType="1" noTextEdit="1"/>
              </p:cNvSpPr>
              <p:nvPr/>
            </p:nvSpPr>
            <p:spPr>
              <a:xfrm>
                <a:off x="2197437" y="6163304"/>
                <a:ext cx="798513" cy="369332"/>
              </a:xfrm>
              <a:prstGeom prst="rect">
                <a:avLst/>
              </a:prstGeom>
              <a:blipFill rotWithShape="1">
                <a:blip r:embed="rId28"/>
                <a:stretch>
                  <a:fillRect l="-42" t="-170" r="3" b="1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文本框 68"/>
              <p:cNvSpPr txBox="1"/>
              <p:nvPr/>
            </p:nvSpPr>
            <p:spPr>
              <a:xfrm>
                <a:off x="361514" y="5073448"/>
                <a:ext cx="5730871" cy="583565"/>
              </a:xfrm>
              <a:prstGeom prst="rect">
                <a:avLst/>
              </a:prstGeom>
              <a:noFill/>
            </p:spPr>
            <p:txBody>
              <a:bodyPr wrap="square">
                <a:spAutoFit/>
              </a:bodyPr>
              <a:lstStyle/>
              <a:p>
                <a14:m>
                  <m:oMath xmlns:m="http://schemas.openxmlformats.org/officeDocument/2006/math">
                    <m:r>
                      <a:rPr lang="zh-CN" altLang="en-US" sz="1600">
                        <a:solidFill>
                          <a:srgbClr val="FF0000"/>
                        </a:solidFill>
                        <a:latin typeface="Cambria Math" panose="02040503050406030204" pitchFamily="18" charset="0"/>
                        <a:ea typeface="MS Mincho" charset="0"/>
                        <a:cs typeface="Cambria Math" panose="02040503050406030204" pitchFamily="18" charset="0"/>
                      </a:rPr>
                      <m:t>𝛼</m:t>
                    </m:r>
                  </m:oMath>
                </a14:m>
                <a:r>
                  <a:rPr 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is </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the angle between the vector pointing from the fixed point (a, b) to the point (x, y) and the y-axis</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69" name="文本框 68"/>
              <p:cNvSpPr txBox="1">
                <a:spLocks noRot="1" noChangeAspect="1" noMove="1" noResize="1" noEditPoints="1" noAdjustHandles="1" noChangeArrowheads="1" noChangeShapeType="1" noTextEdit="1"/>
              </p:cNvSpPr>
              <p:nvPr/>
            </p:nvSpPr>
            <p:spPr>
              <a:xfrm>
                <a:off x="361514" y="5073448"/>
                <a:ext cx="5730871" cy="583565"/>
              </a:xfrm>
              <a:prstGeom prst="rect">
                <a:avLst/>
              </a:prstGeom>
              <a:blipFill rotWithShape="1">
                <a:blip r:embed="rId29"/>
                <a:stretch>
                  <a:fillRect l="-3" t="-74" r="3" b="74"/>
                </a:stretch>
              </a:blipFill>
            </p:spPr>
            <p:txBody>
              <a:bodyPr/>
              <a:lstStyle/>
              <a:p>
                <a:r>
                  <a:rPr lang="zh-CN" altLang="en-US">
                    <a:noFill/>
                  </a:rPr>
                  <a:t> </a:t>
                </a:r>
              </a:p>
            </p:txBody>
          </p:sp>
        </mc:Fallback>
      </mc:AlternateContent>
      <p:pic>
        <p:nvPicPr>
          <p:cNvPr id="70" name="图片 69"/>
          <p:cNvPicPr>
            <a:picLocks noChangeAspect="1"/>
          </p:cNvPicPr>
          <p:nvPr/>
        </p:nvPicPr>
        <p:blipFill>
          <a:blip r:embed="rId30"/>
          <a:stretch>
            <a:fillRect/>
          </a:stretch>
        </p:blipFill>
        <p:spPr>
          <a:xfrm>
            <a:off x="385313" y="1675780"/>
            <a:ext cx="3564428" cy="1135503"/>
          </a:xfrm>
          <a:prstGeom prst="rect">
            <a:avLst/>
          </a:prstGeom>
        </p:spPr>
      </p:pic>
      <mc:AlternateContent xmlns:mc="http://schemas.openxmlformats.org/markup-compatibility/2006">
        <mc:Choice xmlns:a14="http://schemas.microsoft.com/office/drawing/2010/main" Requires="a14">
          <p:sp>
            <p:nvSpPr>
              <p:cNvPr id="71" name="文本框 70"/>
              <p:cNvSpPr txBox="1"/>
              <p:nvPr/>
            </p:nvSpPr>
            <p:spPr>
              <a:xfrm>
                <a:off x="338188" y="5565816"/>
                <a:ext cx="2439340" cy="656013"/>
              </a:xfrm>
              <a:prstGeom prst="rect">
                <a:avLst/>
              </a:prstGeom>
              <a:noFill/>
            </p:spPr>
            <p:txBody>
              <a:bodyPr wrap="square">
                <a:spAutoFit/>
              </a:bodyPr>
              <a:lstStyle/>
              <a:p>
                <a14:m>
                  <m:oMath xmlns:m="http://schemas.openxmlformats.org/officeDocument/2006/math">
                    <m:r>
                      <m:rPr>
                        <m:sty m:val="p"/>
                      </m:rPr>
                      <a:rPr lang="en-US" altLang="zh-CN" b="0" i="0" smtClean="0">
                        <a:solidFill>
                          <a:srgbClr val="FF0000"/>
                        </a:solidFill>
                        <a:latin typeface="Cambria Math" panose="02040503050406030204" pitchFamily="18" charset="0"/>
                      </a:rPr>
                      <m:t>a</m:t>
                    </m:r>
                    <m:r>
                      <a:rPr lang="en-US" altLang="zh-CN" b="0" i="0" smtClean="0">
                        <a:solidFill>
                          <a:srgbClr val="FF0000"/>
                        </a:solidFill>
                        <a:latin typeface="Cambria Math" panose="02040503050406030204" pitchFamily="18" charset="0"/>
                      </a:rPr>
                      <m:t>=</m:t>
                    </m:r>
                    <m:r>
                      <m:rPr>
                        <m:sty m:val="p"/>
                      </m:rPr>
                      <a:rPr lang="en-US" altLang="zh-CN" b="0" i="0" smtClean="0">
                        <a:solidFill>
                          <a:srgbClr val="FF0000"/>
                        </a:solidFill>
                        <a:latin typeface="Cambria Math" panose="02040503050406030204" pitchFamily="18" charset="0"/>
                      </a:rPr>
                      <m:t>e</m:t>
                    </m:r>
                  </m:oMath>
                </a14:m>
                <a:r>
                  <a:rPr lang="en-US" altLang="zh-CN" dirty="0">
                    <a:solidFill>
                      <a:srgbClr val="FF0000"/>
                    </a:solidFill>
                  </a:rPr>
                  <a:t>, b=</a:t>
                </a:r>
                <a:r>
                  <a:rPr lang="en-US" altLang="zh-CN" dirty="0">
                    <a:solidFill>
                      <a:srgbClr val="FF0000"/>
                    </a:solidFill>
                    <a:ea typeface="Cambria Math" panose="02040503050406030204" pitchFamily="18" charset="0"/>
                  </a:rPr>
                  <a:t> </a:t>
                </a:r>
                <a14:m>
                  <m:oMath xmlns:m="http://schemas.openxmlformats.org/officeDocument/2006/math">
                    <m:r>
                      <a:rPr lang="en-US" altLang="zh-CN" b="0" i="0" smtClean="0">
                        <a:solidFill>
                          <a:srgbClr val="FF0000"/>
                        </a:solidFill>
                        <a:latin typeface="Cambria Math" panose="02040503050406030204" pitchFamily="18" charset="0"/>
                        <a:ea typeface="Cambria Math" panose="02040503050406030204" pitchFamily="18" charset="0"/>
                      </a:rPr>
                      <m:t>−</m:t>
                    </m:r>
                    <m:rad>
                      <m:radPr>
                        <m:degHide m:val="on"/>
                        <m:ctrlPr>
                          <a:rPr lang="en-US" altLang="zh-CN" b="0" i="1" smtClean="0">
                            <a:solidFill>
                              <a:srgbClr val="FF0000"/>
                            </a:solidFill>
                            <a:latin typeface="Cambria Math" panose="02040503050406030204" pitchFamily="18" charset="0"/>
                            <a:ea typeface="Cambria Math" panose="02040503050406030204" pitchFamily="18" charset="0"/>
                          </a:rPr>
                        </m:ctrlPr>
                      </m:radPr>
                      <m:deg/>
                      <m:e>
                        <m:sSubSup>
                          <m:sSubSupPr>
                            <m:ctrlPr>
                              <a:rPr lang="en-US" altLang="zh-CN" i="1">
                                <a:solidFill>
                                  <a:srgbClr val="FF0000"/>
                                </a:solidFill>
                                <a:latin typeface="Cambria Math" panose="02040503050406030204" pitchFamily="18" charset="0"/>
                                <a:ea typeface="Cambria Math" panose="02040503050406030204" pitchFamily="18" charset="0"/>
                              </a:rPr>
                            </m:ctrlPr>
                          </m:sSubSupPr>
                          <m:e>
                            <m:r>
                              <a:rPr lang="en-US" altLang="zh-CN" i="1">
                                <a:solidFill>
                                  <a:srgbClr val="FF0000"/>
                                </a:solidFill>
                                <a:latin typeface="Cambria Math" panose="02040503050406030204" pitchFamily="18" charset="0"/>
                                <a:ea typeface="Cambria Math" panose="02040503050406030204" pitchFamily="18" charset="0"/>
                              </a:rPr>
                              <m:t>𝑟</m:t>
                            </m:r>
                          </m:e>
                          <m:sub>
                            <m:r>
                              <a:rPr lang="en-US" altLang="zh-CN" i="1">
                                <a:solidFill>
                                  <a:srgbClr val="FF0000"/>
                                </a:solidFill>
                                <a:latin typeface="Cambria Math" panose="02040503050406030204" pitchFamily="18" charset="0"/>
                                <a:ea typeface="Cambria Math" panose="02040503050406030204" pitchFamily="18" charset="0"/>
                              </a:rPr>
                              <m:t>0</m:t>
                            </m:r>
                          </m:sub>
                          <m:sup>
                            <m:r>
                              <a:rPr lang="en-US" altLang="zh-CN" i="1">
                                <a:solidFill>
                                  <a:srgbClr val="FF0000"/>
                                </a:solidFill>
                                <a:latin typeface="Cambria Math" panose="02040503050406030204" pitchFamily="18" charset="0"/>
                                <a:ea typeface="Cambria Math" panose="02040503050406030204" pitchFamily="18" charset="0"/>
                              </a:rPr>
                              <m:t>2</m:t>
                            </m:r>
                          </m:sup>
                        </m:sSubSup>
                        <m:r>
                          <a:rPr lang="en-US" altLang="zh-CN" b="0" i="1" smtClean="0">
                            <a:solidFill>
                              <a:srgbClr val="FF0000"/>
                            </a:solidFill>
                            <a:latin typeface="Cambria Math" panose="02040503050406030204" pitchFamily="18" charset="0"/>
                            <a:ea typeface="Cambria Math" panose="02040503050406030204" pitchFamily="18" charset="0"/>
                          </a:rPr>
                          <m:t>−</m:t>
                        </m:r>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𝑒</m:t>
                            </m:r>
                          </m:e>
                          <m:sup>
                            <m:r>
                              <a:rPr lang="en-US" altLang="zh-CN" b="0" i="1" smtClean="0">
                                <a:solidFill>
                                  <a:srgbClr val="FF0000"/>
                                </a:solidFill>
                                <a:latin typeface="Cambria Math" panose="02040503050406030204" pitchFamily="18" charset="0"/>
                                <a:ea typeface="Cambria Math" panose="02040503050406030204" pitchFamily="18" charset="0"/>
                              </a:rPr>
                              <m:t>2</m:t>
                            </m:r>
                          </m:sup>
                        </m:sSup>
                      </m:e>
                    </m:rad>
                  </m:oMath>
                </a14:m>
                <a:endParaRPr lang="zh-CN" altLang="en-US" dirty="0">
                  <a:solidFill>
                    <a:srgbClr val="FF0000"/>
                  </a:solidFill>
                </a:endParaRPr>
              </a:p>
            </p:txBody>
          </p:sp>
        </mc:Choice>
        <mc:Fallback>
          <p:sp>
            <p:nvSpPr>
              <p:cNvPr id="71" name="文本框 70"/>
              <p:cNvSpPr txBox="1">
                <a:spLocks noRot="1" noChangeAspect="1" noMove="1" noResize="1" noEditPoints="1" noAdjustHandles="1" noChangeArrowheads="1" noChangeShapeType="1" noTextEdit="1"/>
              </p:cNvSpPr>
              <p:nvPr/>
            </p:nvSpPr>
            <p:spPr>
              <a:xfrm>
                <a:off x="338188" y="5565816"/>
                <a:ext cx="2439340" cy="656013"/>
              </a:xfrm>
              <a:prstGeom prst="rect">
                <a:avLst/>
              </a:prstGeom>
              <a:blipFill rotWithShape="1">
                <a:blip r:embed="rId31"/>
                <a:stretch>
                  <a:fillRect l="-15" t="-6" r="2"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3" name="文本框 72"/>
              <p:cNvSpPr txBox="1"/>
              <p:nvPr/>
            </p:nvSpPr>
            <p:spPr>
              <a:xfrm>
                <a:off x="4278378" y="5638012"/>
                <a:ext cx="801500" cy="525016"/>
              </a:xfrm>
              <a:prstGeom prst="rect">
                <a:avLst/>
              </a:prstGeom>
              <a:noFill/>
            </p:spPr>
            <p:txBody>
              <a:bodyPr wrap="square">
                <a:spAutoFit/>
              </a:bodyPr>
              <a:lstStyle/>
              <a:p>
                <a14:m>
                  <m:oMath xmlns:m="http://schemas.openxmlformats.org/officeDocument/2006/math">
                    <m:f>
                      <m:fPr>
                        <m:ctrlPr>
                          <a:rPr lang="en-US" altLang="zh-CN" i="1" smtClean="0">
                            <a:solidFill>
                              <a:srgbClr val="FF0000"/>
                            </a:solidFill>
                            <a:latin typeface="Cambria Math" panose="02040503050406030204" pitchFamily="18" charset="0"/>
                            <a:ea typeface="Cambria Math" panose="02040503050406030204" pitchFamily="18" charset="0"/>
                          </a:rPr>
                        </m:ctrlPr>
                      </m:fPr>
                      <m:num>
                        <m:r>
                          <a:rPr lang="en-US" altLang="zh-CN" i="1">
                            <a:solidFill>
                              <a:srgbClr val="FF0000"/>
                            </a:solidFill>
                            <a:latin typeface="Cambria Math" panose="02040503050406030204" pitchFamily="18" charset="0"/>
                            <a:ea typeface="Cambria Math" panose="02040503050406030204" pitchFamily="18" charset="0"/>
                          </a:rPr>
                          <m:t>𝑑𝑠</m:t>
                        </m:r>
                      </m:num>
                      <m:den>
                        <m:r>
                          <a:rPr lang="en-US" altLang="zh-CN" i="1">
                            <a:solidFill>
                              <a:srgbClr val="FF0000"/>
                            </a:solidFill>
                            <a:latin typeface="Cambria Math" panose="02040503050406030204" pitchFamily="18" charset="0"/>
                            <a:ea typeface="Cambria Math" panose="02040503050406030204" pitchFamily="18" charset="0"/>
                          </a:rPr>
                          <m:t>𝑑</m:t>
                        </m:r>
                        <m:r>
                          <a:rPr lang="en-US" altLang="zh-CN" i="1">
                            <a:solidFill>
                              <a:srgbClr val="FF0000"/>
                            </a:solidFill>
                            <a:latin typeface="Cambria Math" panose="02040503050406030204" pitchFamily="18" charset="0"/>
                            <a:ea typeface="Cambria Math" panose="02040503050406030204" pitchFamily="18" charset="0"/>
                          </a:rPr>
                          <m:t>𝜑</m:t>
                        </m:r>
                      </m:den>
                    </m:f>
                  </m:oMath>
                </a14:m>
                <a:r>
                  <a:rPr lang="en-US" altLang="zh-CN" dirty="0">
                    <a:solidFill>
                      <a:srgbClr val="FF0000"/>
                    </a:solidFill>
                  </a:rPr>
                  <a:t>&gt;0</a:t>
                </a:r>
                <a:endParaRPr lang="zh-CN" altLang="en-US" dirty="0">
                  <a:solidFill>
                    <a:srgbClr val="FF0000"/>
                  </a:solidFill>
                </a:endParaRPr>
              </a:p>
            </p:txBody>
          </p:sp>
        </mc:Choice>
        <mc:Fallback>
          <p:sp>
            <p:nvSpPr>
              <p:cNvPr id="73" name="文本框 72"/>
              <p:cNvSpPr txBox="1">
                <a:spLocks noRot="1" noChangeAspect="1" noMove="1" noResize="1" noEditPoints="1" noAdjustHandles="1" noChangeArrowheads="1" noChangeShapeType="1" noTextEdit="1"/>
              </p:cNvSpPr>
              <p:nvPr/>
            </p:nvSpPr>
            <p:spPr>
              <a:xfrm>
                <a:off x="4278378" y="5638012"/>
                <a:ext cx="801500" cy="525016"/>
              </a:xfrm>
              <a:prstGeom prst="rect">
                <a:avLst/>
              </a:prstGeom>
              <a:blipFill rotWithShape="1">
                <a:blip r:embed="rId32"/>
                <a:stretch>
                  <a:fillRect l="-48" t="-92" r="64" b="67"/>
                </a:stretch>
              </a:blipFill>
            </p:spPr>
            <p:txBody>
              <a:bodyPr/>
              <a:lstStyle/>
              <a:p>
                <a:r>
                  <a:rPr lang="zh-CN" altLang="en-US">
                    <a:noFill/>
                  </a:rPr>
                  <a:t> </a:t>
                </a:r>
              </a:p>
            </p:txBody>
          </p:sp>
        </mc:Fallback>
      </mc:AlternateContent>
      <p:graphicFrame>
        <p:nvGraphicFramePr>
          <p:cNvPr id="15" name="对象 14"/>
          <p:cNvGraphicFramePr>
            <a:graphicFrameLocks noChangeAspect="1"/>
          </p:cNvGraphicFramePr>
          <p:nvPr/>
        </p:nvGraphicFramePr>
        <p:xfrm>
          <a:off x="1335749" y="3796767"/>
          <a:ext cx="3064432" cy="708650"/>
        </p:xfrm>
        <a:graphic>
          <a:graphicData uri="http://schemas.openxmlformats.org/presentationml/2006/ole">
            <mc:AlternateContent xmlns:mc="http://schemas.openxmlformats.org/markup-compatibility/2006">
              <mc:Choice xmlns:v="urn:schemas-microsoft-com:vml" Requires="v">
                <p:oleObj spid="_x0000_s241767" name="Equation" r:id="rId33" imgW="48768000" imgH="11277600" progId="Equation.DSMT4">
                  <p:embed/>
                </p:oleObj>
              </mc:Choice>
              <mc:Fallback>
                <p:oleObj name="Equation" r:id="rId33" imgW="48768000" imgH="11277600" progId="Equation.DSMT4">
                  <p:embed/>
                  <p:pic>
                    <p:nvPicPr>
                      <p:cNvPr id="0" name="对象 14"/>
                      <p:cNvPicPr/>
                      <p:nvPr/>
                    </p:nvPicPr>
                    <p:blipFill>
                      <a:blip r:embed="rId34"/>
                      <a:stretch>
                        <a:fillRect/>
                      </a:stretch>
                    </p:blipFill>
                    <p:spPr>
                      <a:xfrm>
                        <a:off x="1335749" y="3796767"/>
                        <a:ext cx="3064432" cy="708650"/>
                      </a:xfrm>
                      <a:prstGeom prst="rect">
                        <a:avLst/>
                      </a:prstGeom>
                    </p:spPr>
                  </p:pic>
                </p:oleObj>
              </mc:Fallback>
            </mc:AlternateContent>
          </a:graphicData>
        </a:graphic>
      </p:graphicFrame>
      <p:sp>
        <p:nvSpPr>
          <p:cNvPr id="75" name="Text Box 41"/>
          <p:cNvSpPr txBox="1">
            <a:spLocks noChangeArrowheads="1"/>
          </p:cNvSpPr>
          <p:nvPr/>
        </p:nvSpPr>
        <p:spPr bwMode="auto">
          <a:xfrm>
            <a:off x="167640" y="3784600"/>
            <a:ext cx="13487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800" dirty="0">
                <a:solidFill>
                  <a:srgbClr val="FF00FF"/>
                </a:solidFill>
              </a:rPr>
              <a:t>Return</a:t>
            </a:r>
            <a:endParaRPr lang="zh-CN" altLang="en-US" sz="2800" dirty="0">
              <a:solidFill>
                <a:srgbClr val="FF00FF"/>
              </a:solidFill>
            </a:endParaRPr>
          </a:p>
        </p:txBody>
      </p:sp>
      <p:graphicFrame>
        <p:nvGraphicFramePr>
          <p:cNvPr id="58" name="对象 57"/>
          <p:cNvGraphicFramePr>
            <a:graphicFrameLocks noChangeAspect="1"/>
          </p:cNvGraphicFramePr>
          <p:nvPr/>
        </p:nvGraphicFramePr>
        <p:xfrm>
          <a:off x="1320845" y="3048976"/>
          <a:ext cx="2992797" cy="728510"/>
        </p:xfrm>
        <a:graphic>
          <a:graphicData uri="http://schemas.openxmlformats.org/presentationml/2006/ole">
            <mc:AlternateContent xmlns:mc="http://schemas.openxmlformats.org/markup-compatibility/2006">
              <mc:Choice xmlns:v="urn:schemas-microsoft-com:vml" Requires="v">
                <p:oleObj spid="_x0000_s241768" name="Equation" r:id="rId35" imgW="46329600" imgH="11277600" progId="Equation.DSMT4">
                  <p:embed/>
                </p:oleObj>
              </mc:Choice>
              <mc:Fallback>
                <p:oleObj name="Equation" r:id="rId35" imgW="46329600" imgH="11277600" progId="Equation.DSMT4">
                  <p:embed/>
                  <p:pic>
                    <p:nvPicPr>
                      <p:cNvPr id="0" name="对象 57"/>
                      <p:cNvPicPr/>
                      <p:nvPr/>
                    </p:nvPicPr>
                    <p:blipFill>
                      <a:blip r:embed="rId36"/>
                      <a:stretch>
                        <a:fillRect/>
                      </a:stretch>
                    </p:blipFill>
                    <p:spPr>
                      <a:xfrm>
                        <a:off x="1320845" y="3048976"/>
                        <a:ext cx="2992797" cy="728510"/>
                      </a:xfrm>
                      <a:prstGeom prst="rect">
                        <a:avLst/>
                      </a:prstGeom>
                    </p:spPr>
                  </p:pic>
                </p:oleObj>
              </mc:Fallback>
            </mc:AlternateContent>
          </a:graphicData>
        </a:graphic>
      </p:graphicFrame>
      <p:sp>
        <p:nvSpPr>
          <p:cNvPr id="77" name="Text Box 40"/>
          <p:cNvSpPr txBox="1">
            <a:spLocks noChangeArrowheads="1"/>
          </p:cNvSpPr>
          <p:nvPr/>
        </p:nvSpPr>
        <p:spPr bwMode="auto">
          <a:xfrm>
            <a:off x="309319" y="3078374"/>
            <a:ext cx="1001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zh-CN" altLang="en-US" sz="2800" dirty="0">
                <a:solidFill>
                  <a:srgbClr val="0000FF"/>
                </a:solidFill>
              </a:rPr>
              <a:t>Rise</a:t>
            </a:r>
            <a:endParaRPr lang="zh-CN" altLang="en-US" sz="2800" dirty="0">
              <a:solidFill>
                <a:srgbClr val="0000FF"/>
              </a:solidFill>
            </a:endParaRPr>
          </a:p>
        </p:txBody>
      </p:sp>
      <p:graphicFrame>
        <p:nvGraphicFramePr>
          <p:cNvPr id="59" name="对象 58"/>
          <p:cNvGraphicFramePr>
            <a:graphicFrameLocks noChangeAspect="1"/>
          </p:cNvGraphicFramePr>
          <p:nvPr/>
        </p:nvGraphicFramePr>
        <p:xfrm>
          <a:off x="8372345" y="2158825"/>
          <a:ext cx="2992437" cy="728663"/>
        </p:xfrm>
        <a:graphic>
          <a:graphicData uri="http://schemas.openxmlformats.org/presentationml/2006/ole">
            <mc:AlternateContent xmlns:mc="http://schemas.openxmlformats.org/markup-compatibility/2006">
              <mc:Choice xmlns:v="urn:schemas-microsoft-com:vml" Requires="v">
                <p:oleObj spid="_x0000_s241769" name="Equation" r:id="rId37" imgW="2993390" imgH="730250" progId="Equation.DSMT4">
                  <p:embed/>
                </p:oleObj>
              </mc:Choice>
              <mc:Fallback>
                <p:oleObj name="Equation" r:id="rId37" imgW="2993390" imgH="730250" progId="Equation.DSMT4">
                  <p:embed/>
                  <p:pic>
                    <p:nvPicPr>
                      <p:cNvPr id="0" name="对象 58"/>
                      <p:cNvPicPr/>
                      <p:nvPr/>
                    </p:nvPicPr>
                    <p:blipFill>
                      <a:blip r:embed="rId38"/>
                      <a:stretch>
                        <a:fillRect/>
                      </a:stretch>
                    </p:blipFill>
                    <p:spPr>
                      <a:xfrm>
                        <a:off x="8372345" y="2158825"/>
                        <a:ext cx="2992437" cy="728663"/>
                      </a:xfrm>
                      <a:prstGeom prst="rect">
                        <a:avLst/>
                      </a:prstGeom>
                    </p:spPr>
                  </p:pic>
                </p:oleObj>
              </mc:Fallback>
            </mc:AlternateContent>
          </a:graphicData>
        </a:graphic>
      </p:graphicFrame>
      <p:graphicFrame>
        <p:nvGraphicFramePr>
          <p:cNvPr id="60" name="对象 59"/>
          <p:cNvGraphicFramePr>
            <a:graphicFrameLocks noChangeAspect="1"/>
          </p:cNvGraphicFramePr>
          <p:nvPr/>
        </p:nvGraphicFramePr>
        <p:xfrm>
          <a:off x="4658139" y="2178325"/>
          <a:ext cx="3065463" cy="708025"/>
        </p:xfrm>
        <a:graphic>
          <a:graphicData uri="http://schemas.openxmlformats.org/presentationml/2006/ole">
            <mc:AlternateContent xmlns:mc="http://schemas.openxmlformats.org/markup-compatibility/2006">
              <mc:Choice xmlns:v="urn:schemas-microsoft-com:vml" Requires="v">
                <p:oleObj spid="_x0000_s241770" name="Equation" r:id="rId39" imgW="3066415" imgH="709930" progId="Equation.DSMT4">
                  <p:embed/>
                </p:oleObj>
              </mc:Choice>
              <mc:Fallback>
                <p:oleObj name="Equation" r:id="rId39" imgW="3066415" imgH="709930" progId="Equation.DSMT4">
                  <p:embed/>
                  <p:pic>
                    <p:nvPicPr>
                      <p:cNvPr id="0" name="对象 59"/>
                      <p:cNvPicPr/>
                      <p:nvPr/>
                    </p:nvPicPr>
                    <p:blipFill>
                      <a:blip r:embed="rId40"/>
                      <a:stretch>
                        <a:fillRect/>
                      </a:stretch>
                    </p:blipFill>
                    <p:spPr>
                      <a:xfrm>
                        <a:off x="4658139" y="2178325"/>
                        <a:ext cx="3065463" cy="708025"/>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81" name="文本框 80"/>
              <p:cNvSpPr txBox="1"/>
              <p:nvPr/>
            </p:nvSpPr>
            <p:spPr>
              <a:xfrm>
                <a:off x="5357542" y="5498631"/>
                <a:ext cx="773690" cy="66511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f>
                        <m:fPr>
                          <m:ctrlPr>
                            <a:rPr lang="en-US" altLang="zh-CN" i="1" smtClean="0">
                              <a:solidFill>
                                <a:srgbClr val="FF0000"/>
                              </a:solidFill>
                              <a:latin typeface="Cambria Math" panose="02040503050406030204" pitchFamily="18" charset="0"/>
                              <a:ea typeface="Cambria Math" panose="02040503050406030204" pitchFamily="18" charset="0"/>
                            </a:rPr>
                          </m:ctrlPr>
                        </m:fPr>
                        <m:num>
                          <m:r>
                            <a:rPr lang="en-US" altLang="zh-CN" i="1">
                              <a:solidFill>
                                <a:srgbClr val="FF0000"/>
                              </a:solidFill>
                              <a:latin typeface="Cambria Math" panose="02040503050406030204" pitchFamily="18" charset="0"/>
                              <a:ea typeface="Cambria Math" panose="02040503050406030204" pitchFamily="18" charset="0"/>
                            </a:rPr>
                            <m:t>𝑑𝑠</m:t>
                          </m:r>
                        </m:num>
                        <m:den>
                          <m:r>
                            <a:rPr lang="en-US" altLang="zh-CN" i="1">
                              <a:solidFill>
                                <a:srgbClr val="FF0000"/>
                              </a:solidFill>
                              <a:latin typeface="Cambria Math" panose="02040503050406030204" pitchFamily="18" charset="0"/>
                              <a:ea typeface="Cambria Math" panose="02040503050406030204" pitchFamily="18" charset="0"/>
                            </a:rPr>
                            <m:t>𝑑</m:t>
                          </m:r>
                          <m:r>
                            <a:rPr lang="en-US" altLang="zh-CN" i="1">
                              <a:solidFill>
                                <a:srgbClr val="FF0000"/>
                              </a:solidFill>
                              <a:latin typeface="Cambria Math" panose="02040503050406030204" pitchFamily="18" charset="0"/>
                              <a:ea typeface="Cambria Math" panose="02040503050406030204" pitchFamily="18" charset="0"/>
                            </a:rPr>
                            <m:t>𝜑</m:t>
                          </m:r>
                        </m:den>
                      </m:f>
                    </m:oMath>
                  </m:oMathPara>
                </a14:m>
                <a:endParaRPr lang="zh-CN" altLang="en-US" dirty="0"/>
              </a:p>
            </p:txBody>
          </p:sp>
        </mc:Choice>
        <mc:Fallback>
          <p:sp>
            <p:nvSpPr>
              <p:cNvPr id="81" name="文本框 80"/>
              <p:cNvSpPr txBox="1">
                <a:spLocks noRot="1" noChangeAspect="1" noMove="1" noResize="1" noEditPoints="1" noAdjustHandles="1" noChangeArrowheads="1" noChangeShapeType="1" noTextEdit="1"/>
              </p:cNvSpPr>
              <p:nvPr/>
            </p:nvSpPr>
            <p:spPr>
              <a:xfrm>
                <a:off x="5357542" y="5498631"/>
                <a:ext cx="773690" cy="665118"/>
              </a:xfrm>
              <a:prstGeom prst="rect">
                <a:avLst/>
              </a:prstGeom>
              <a:blipFill rotWithShape="1">
                <a:blip r:embed="rId41"/>
                <a:stretch>
                  <a:fillRect l="-6" t="-25" r="40"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3" name="文本框 82"/>
              <p:cNvSpPr txBox="1"/>
              <p:nvPr/>
            </p:nvSpPr>
            <p:spPr>
              <a:xfrm>
                <a:off x="385464" y="6025598"/>
                <a:ext cx="977970" cy="66511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f>
                        <m:fPr>
                          <m:ctrlPr>
                            <a:rPr lang="en-US" altLang="zh-CN" i="1" smtClean="0">
                              <a:solidFill>
                                <a:srgbClr val="FF0000"/>
                              </a:solidFill>
                              <a:latin typeface="Cambria Math" panose="02040503050406030204" pitchFamily="18" charset="0"/>
                              <a:ea typeface="Cambria Math" panose="02040503050406030204" pitchFamily="18" charset="0"/>
                            </a:rPr>
                          </m:ctrlPr>
                        </m:fPr>
                        <m:num>
                          <m:r>
                            <a:rPr lang="en-US" altLang="zh-CN" i="1">
                              <a:solidFill>
                                <a:srgbClr val="FF0000"/>
                              </a:solidFill>
                              <a:latin typeface="Cambria Math" panose="02040503050406030204" pitchFamily="18" charset="0"/>
                              <a:ea typeface="Cambria Math" panose="02040503050406030204" pitchFamily="18" charset="0"/>
                            </a:rPr>
                            <m:t>𝑑𝑠</m:t>
                          </m:r>
                        </m:num>
                        <m:den>
                          <m:r>
                            <a:rPr lang="en-US" altLang="zh-CN" i="1">
                              <a:solidFill>
                                <a:srgbClr val="FF0000"/>
                              </a:solidFill>
                              <a:latin typeface="Cambria Math" panose="02040503050406030204" pitchFamily="18" charset="0"/>
                              <a:ea typeface="Cambria Math" panose="02040503050406030204" pitchFamily="18" charset="0"/>
                            </a:rPr>
                            <m:t>𝑑</m:t>
                          </m:r>
                          <m:r>
                            <a:rPr lang="en-US" altLang="zh-CN" i="1">
                              <a:solidFill>
                                <a:srgbClr val="FF0000"/>
                              </a:solidFill>
                              <a:latin typeface="Cambria Math" panose="02040503050406030204" pitchFamily="18" charset="0"/>
                              <a:ea typeface="Cambria Math" panose="02040503050406030204" pitchFamily="18" charset="0"/>
                            </a:rPr>
                            <m:t>𝜑</m:t>
                          </m:r>
                        </m:den>
                      </m:f>
                      <m:r>
                        <a:rPr lang="en-US" altLang="zh-CN" b="0" i="0" smtClean="0">
                          <a:solidFill>
                            <a:srgbClr val="FF0000"/>
                          </a:solidFill>
                          <a:latin typeface="Cambria Math" panose="02040503050406030204" pitchFamily="18" charset="0"/>
                          <a:ea typeface="Cambria Math" panose="02040503050406030204" pitchFamily="18" charset="0"/>
                        </a:rPr>
                        <m:t>&gt;</m:t>
                      </m:r>
                      <m:r>
                        <a:rPr lang="en-US" altLang="zh-CN" b="0" i="0" smtClean="0">
                          <a:solidFill>
                            <a:srgbClr val="FF0000"/>
                          </a:solidFill>
                          <a:latin typeface="Cambria Math" panose="02040503050406030204" pitchFamily="18" charset="0"/>
                          <a:ea typeface="Cambria Math" panose="02040503050406030204" pitchFamily="18" charset="0"/>
                        </a:rPr>
                        <m:t>0</m:t>
                      </m:r>
                    </m:oMath>
                  </m:oMathPara>
                </a14:m>
                <a:endParaRPr lang="zh-CN" altLang="en-US" dirty="0"/>
              </a:p>
            </p:txBody>
          </p:sp>
        </mc:Choice>
        <mc:Fallback>
          <p:sp>
            <p:nvSpPr>
              <p:cNvPr id="83" name="文本框 82"/>
              <p:cNvSpPr txBox="1">
                <a:spLocks noRot="1" noChangeAspect="1" noMove="1" noResize="1" noEditPoints="1" noAdjustHandles="1" noChangeArrowheads="1" noChangeShapeType="1" noTextEdit="1"/>
              </p:cNvSpPr>
              <p:nvPr/>
            </p:nvSpPr>
            <p:spPr>
              <a:xfrm>
                <a:off x="385464" y="6025598"/>
                <a:ext cx="977970" cy="665118"/>
              </a:xfrm>
              <a:prstGeom prst="rect">
                <a:avLst/>
              </a:prstGeom>
              <a:blipFill rotWithShape="1">
                <a:blip r:embed="rId42"/>
                <a:stretch>
                  <a:fillRect l="-2" t="-12" r="9" b="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文本框 84"/>
              <p:cNvSpPr txBox="1"/>
              <p:nvPr/>
            </p:nvSpPr>
            <p:spPr>
              <a:xfrm>
                <a:off x="3397047" y="6116002"/>
                <a:ext cx="1196070" cy="66511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f>
                        <m:fPr>
                          <m:ctrlPr>
                            <a:rPr lang="en-US" altLang="zh-CN" i="1" smtClean="0">
                              <a:solidFill>
                                <a:srgbClr val="FF0000"/>
                              </a:solidFill>
                              <a:latin typeface="Cambria Math" panose="02040503050406030204" pitchFamily="18" charset="0"/>
                              <a:ea typeface="Cambria Math" panose="02040503050406030204" pitchFamily="18" charset="0"/>
                            </a:rPr>
                          </m:ctrlPr>
                        </m:fPr>
                        <m:num>
                          <m:r>
                            <a:rPr lang="en-US" altLang="zh-CN" i="1">
                              <a:solidFill>
                                <a:srgbClr val="FF0000"/>
                              </a:solidFill>
                              <a:latin typeface="Cambria Math" panose="02040503050406030204" pitchFamily="18" charset="0"/>
                              <a:ea typeface="Cambria Math" panose="02040503050406030204" pitchFamily="18" charset="0"/>
                            </a:rPr>
                            <m:t>𝑑𝑠</m:t>
                          </m:r>
                        </m:num>
                        <m:den>
                          <m:r>
                            <a:rPr lang="en-US" altLang="zh-CN" i="1">
                              <a:solidFill>
                                <a:srgbClr val="FF0000"/>
                              </a:solidFill>
                              <a:latin typeface="Cambria Math" panose="02040503050406030204" pitchFamily="18" charset="0"/>
                              <a:ea typeface="Cambria Math" panose="02040503050406030204" pitchFamily="18" charset="0"/>
                            </a:rPr>
                            <m:t>𝑑</m:t>
                          </m:r>
                          <m:r>
                            <a:rPr lang="en-US" altLang="zh-CN" i="1">
                              <a:solidFill>
                                <a:srgbClr val="FF0000"/>
                              </a:solidFill>
                              <a:latin typeface="Cambria Math" panose="02040503050406030204" pitchFamily="18" charset="0"/>
                              <a:ea typeface="Cambria Math" panose="02040503050406030204" pitchFamily="18" charset="0"/>
                            </a:rPr>
                            <m:t>𝜑</m:t>
                          </m:r>
                        </m:den>
                      </m:f>
                      <m:r>
                        <a:rPr lang="en-US" altLang="zh-CN" b="0" i="0" smtClean="0">
                          <a:solidFill>
                            <a:srgbClr val="FF0000"/>
                          </a:solidFill>
                          <a:latin typeface="Cambria Math" panose="02040503050406030204" pitchFamily="18" charset="0"/>
                          <a:ea typeface="Cambria Math" panose="02040503050406030204" pitchFamily="18" charset="0"/>
                        </a:rPr>
                        <m:t>&lt;</m:t>
                      </m:r>
                      <m:r>
                        <a:rPr lang="en-US" altLang="zh-CN" b="0" i="0" smtClean="0">
                          <a:solidFill>
                            <a:srgbClr val="FF0000"/>
                          </a:solidFill>
                          <a:latin typeface="Cambria Math" panose="02040503050406030204" pitchFamily="18" charset="0"/>
                          <a:ea typeface="Cambria Math" panose="02040503050406030204" pitchFamily="18" charset="0"/>
                        </a:rPr>
                        <m:t>0</m:t>
                      </m:r>
                    </m:oMath>
                  </m:oMathPara>
                </a14:m>
                <a:endParaRPr lang="zh-CN" altLang="en-US" dirty="0"/>
              </a:p>
            </p:txBody>
          </p:sp>
        </mc:Choice>
        <mc:Fallback>
          <p:sp>
            <p:nvSpPr>
              <p:cNvPr id="85" name="文本框 84"/>
              <p:cNvSpPr txBox="1">
                <a:spLocks noRot="1" noChangeAspect="1" noMove="1" noResize="1" noEditPoints="1" noAdjustHandles="1" noChangeArrowheads="1" noChangeShapeType="1" noTextEdit="1"/>
              </p:cNvSpPr>
              <p:nvPr/>
            </p:nvSpPr>
            <p:spPr>
              <a:xfrm>
                <a:off x="3397047" y="6116002"/>
                <a:ext cx="1196070" cy="665118"/>
              </a:xfrm>
              <a:prstGeom prst="rect">
                <a:avLst/>
              </a:prstGeom>
              <a:blipFill rotWithShape="1">
                <a:blip r:embed="rId43"/>
                <a:stretch>
                  <a:fillRect l="-36" t="-48" r="14" b="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文本框 85"/>
              <p:cNvSpPr txBox="1"/>
              <p:nvPr/>
            </p:nvSpPr>
            <p:spPr>
              <a:xfrm>
                <a:off x="4463766" y="6061798"/>
                <a:ext cx="984589" cy="66511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solidFill>
                            <a:srgbClr val="FF0000"/>
                          </a:solidFill>
                          <a:latin typeface="Cambria Math" panose="02040503050406030204" pitchFamily="18" charset="0"/>
                          <a:ea typeface="Cambria Math" panose="02040503050406030204" pitchFamily="18" charset="0"/>
                        </a:rPr>
                        <m:t>𝑥</m:t>
                      </m:r>
                      <m:r>
                        <a:rPr lang="en-US" altLang="zh-CN" i="1">
                          <a:solidFill>
                            <a:srgbClr val="FF0000"/>
                          </a:solidFill>
                          <a:latin typeface="Cambria Math" panose="02040503050406030204" pitchFamily="18" charset="0"/>
                          <a:ea typeface="Cambria Math" panose="02040503050406030204" pitchFamily="18" charset="0"/>
                        </a:rPr>
                        <m:t>=</m:t>
                      </m:r>
                      <m:f>
                        <m:fPr>
                          <m:ctrlPr>
                            <a:rPr lang="en-US" altLang="zh-CN" i="1">
                              <a:solidFill>
                                <a:srgbClr val="FF0000"/>
                              </a:solidFill>
                              <a:latin typeface="Cambria Math" panose="02040503050406030204" pitchFamily="18" charset="0"/>
                              <a:ea typeface="Cambria Math" panose="02040503050406030204" pitchFamily="18" charset="0"/>
                            </a:rPr>
                          </m:ctrlPr>
                        </m:fPr>
                        <m:num>
                          <m:r>
                            <a:rPr lang="en-US" altLang="zh-CN" i="1">
                              <a:solidFill>
                                <a:srgbClr val="FF0000"/>
                              </a:solidFill>
                              <a:latin typeface="Cambria Math" panose="02040503050406030204" pitchFamily="18" charset="0"/>
                              <a:ea typeface="Cambria Math" panose="02040503050406030204" pitchFamily="18" charset="0"/>
                            </a:rPr>
                            <m:t>𝑑𝑠</m:t>
                          </m:r>
                        </m:num>
                        <m:den>
                          <m:r>
                            <a:rPr lang="en-US" altLang="zh-CN" i="1">
                              <a:solidFill>
                                <a:srgbClr val="FF0000"/>
                              </a:solidFill>
                              <a:latin typeface="Cambria Math" panose="02040503050406030204" pitchFamily="18" charset="0"/>
                              <a:ea typeface="Cambria Math" panose="02040503050406030204" pitchFamily="18" charset="0"/>
                            </a:rPr>
                            <m:t>𝑑</m:t>
                          </m:r>
                          <m:r>
                            <a:rPr lang="en-US" altLang="zh-CN" i="1">
                              <a:solidFill>
                                <a:srgbClr val="FF0000"/>
                              </a:solidFill>
                              <a:latin typeface="Cambria Math" panose="02040503050406030204" pitchFamily="18" charset="0"/>
                              <a:ea typeface="Cambria Math" panose="02040503050406030204" pitchFamily="18" charset="0"/>
                            </a:rPr>
                            <m:t>𝜑</m:t>
                          </m:r>
                        </m:den>
                      </m:f>
                    </m:oMath>
                  </m:oMathPara>
                </a14:m>
                <a:endParaRPr lang="zh-CN" altLang="en-US" i="1" dirty="0">
                  <a:solidFill>
                    <a:srgbClr val="FF0000"/>
                  </a:solidFill>
                  <a:latin typeface="Cambria Math" panose="02040503050406030204" pitchFamily="18" charset="0"/>
                  <a:ea typeface="Cambria Math" panose="02040503050406030204" pitchFamily="18" charset="0"/>
                </a:endParaRPr>
              </a:p>
            </p:txBody>
          </p:sp>
        </mc:Choice>
        <mc:Fallback>
          <p:sp>
            <p:nvSpPr>
              <p:cNvPr id="86" name="文本框 85"/>
              <p:cNvSpPr txBox="1">
                <a:spLocks noRot="1" noChangeAspect="1" noMove="1" noResize="1" noEditPoints="1" noAdjustHandles="1" noChangeArrowheads="1" noChangeShapeType="1" noTextEdit="1"/>
              </p:cNvSpPr>
              <p:nvPr/>
            </p:nvSpPr>
            <p:spPr>
              <a:xfrm>
                <a:off x="4463766" y="6061798"/>
                <a:ext cx="984589" cy="665118"/>
              </a:xfrm>
              <a:prstGeom prst="rect">
                <a:avLst/>
              </a:prstGeom>
              <a:blipFill rotWithShape="1">
                <a:blip r:embed="rId27"/>
                <a:stretch>
                  <a:fillRect l="-36" t="-13" r="6" b="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文本框 86"/>
              <p:cNvSpPr txBox="1"/>
              <p:nvPr/>
            </p:nvSpPr>
            <p:spPr>
              <a:xfrm>
                <a:off x="5478265" y="6214291"/>
                <a:ext cx="798513" cy="369332"/>
              </a:xfrm>
              <a:prstGeom prst="rect">
                <a:avLst/>
              </a:prstGeom>
              <a:noFill/>
            </p:spPr>
            <p:txBody>
              <a:bodyPr wrap="square">
                <a:spAutoFit/>
              </a:bodyPr>
              <a:lstStyle/>
              <a:p>
                <a14:m>
                  <m:oMath xmlns:m="http://schemas.openxmlformats.org/officeDocument/2006/math">
                    <m:r>
                      <a:rPr lang="en-US" altLang="zh-CN" b="0" i="1" smtClean="0">
                        <a:solidFill>
                          <a:srgbClr val="FF0000"/>
                        </a:solidFill>
                        <a:latin typeface="Cambria Math" panose="02040503050406030204" pitchFamily="18" charset="0"/>
                      </a:rPr>
                      <m:t>𝑦</m:t>
                    </m:r>
                  </m:oMath>
                </a14:m>
                <a:r>
                  <a:rPr lang="en-US" altLang="zh-CN" dirty="0">
                    <a:solidFill>
                      <a:srgbClr val="FF0000"/>
                    </a:solidFill>
                  </a:rPr>
                  <a:t>=</a:t>
                </a:r>
                <a:r>
                  <a:rPr lang="en-US" altLang="zh-CN" dirty="0">
                    <a:solidFill>
                      <a:srgbClr val="FF0000"/>
                    </a:solidFill>
                    <a:ea typeface="Cambria Math" panose="02040503050406030204" pitchFamily="18" charset="0"/>
                  </a:rPr>
                  <a:t> </a:t>
                </a:r>
                <a14:m>
                  <m:oMath xmlns:m="http://schemas.openxmlformats.org/officeDocument/2006/math">
                    <m:r>
                      <a:rPr lang="en-US" altLang="zh-CN" i="1">
                        <a:solidFill>
                          <a:srgbClr val="FF0000"/>
                        </a:solidFill>
                        <a:latin typeface="Cambria Math" panose="02040503050406030204" pitchFamily="18" charset="0"/>
                        <a:ea typeface="Cambria Math" panose="02040503050406030204" pitchFamily="18" charset="0"/>
                      </a:rPr>
                      <m:t>𝑠</m:t>
                    </m:r>
                  </m:oMath>
                </a14:m>
                <a:endParaRPr lang="zh-CN" altLang="en-US" dirty="0">
                  <a:solidFill>
                    <a:srgbClr val="FF0000"/>
                  </a:solidFill>
                </a:endParaRPr>
              </a:p>
            </p:txBody>
          </p:sp>
        </mc:Choice>
        <mc:Fallback>
          <p:sp>
            <p:nvSpPr>
              <p:cNvPr id="87" name="文本框 86"/>
              <p:cNvSpPr txBox="1">
                <a:spLocks noRot="1" noChangeAspect="1" noMove="1" noResize="1" noEditPoints="1" noAdjustHandles="1" noChangeArrowheads="1" noChangeShapeType="1" noTextEdit="1"/>
              </p:cNvSpPr>
              <p:nvPr/>
            </p:nvSpPr>
            <p:spPr>
              <a:xfrm>
                <a:off x="5478265" y="6214291"/>
                <a:ext cx="798513" cy="369332"/>
              </a:xfrm>
              <a:prstGeom prst="rect">
                <a:avLst/>
              </a:prstGeom>
              <a:blipFill rotWithShape="1">
                <a:blip r:embed="rId28"/>
                <a:stretch>
                  <a:fillRect l="-15" t="-49" r="55" b="156"/>
                </a:stretch>
              </a:blipFill>
            </p:spPr>
            <p:txBody>
              <a:bodyPr/>
              <a:lstStyle/>
              <a:p>
                <a:r>
                  <a:rPr lang="zh-CN" altLang="en-US">
                    <a:noFill/>
                  </a:rPr>
                  <a:t> </a:t>
                </a:r>
              </a:p>
            </p:txBody>
          </p:sp>
        </mc:Fallback>
      </mc:AlternateContent>
      <p:pic>
        <p:nvPicPr>
          <p:cNvPr id="72" name="图片 71"/>
          <p:cNvPicPr>
            <a:picLocks noChangeAspect="1"/>
          </p:cNvPicPr>
          <p:nvPr/>
        </p:nvPicPr>
        <p:blipFill>
          <a:blip r:embed="rId44"/>
          <a:stretch>
            <a:fillRect/>
          </a:stretch>
        </p:blipFill>
        <p:spPr>
          <a:xfrm>
            <a:off x="9294179" y="4695965"/>
            <a:ext cx="1599791" cy="1894725"/>
          </a:xfrm>
          <a:prstGeom prst="rect">
            <a:avLst/>
          </a:prstGeom>
        </p:spPr>
      </p:pic>
      <p:pic>
        <p:nvPicPr>
          <p:cNvPr id="74" name="图片 73"/>
          <p:cNvPicPr>
            <a:picLocks noChangeAspect="1"/>
          </p:cNvPicPr>
          <p:nvPr/>
        </p:nvPicPr>
        <p:blipFill>
          <a:blip r:embed="rId45"/>
          <a:stretch>
            <a:fillRect/>
          </a:stretch>
        </p:blipFill>
        <p:spPr>
          <a:xfrm>
            <a:off x="6130865" y="4908576"/>
            <a:ext cx="1537647" cy="1678860"/>
          </a:xfrm>
          <a:prstGeom prst="rect">
            <a:avLst/>
          </a:prstGeom>
        </p:spPr>
      </p:pic>
      <p:sp>
        <p:nvSpPr>
          <p:cNvPr id="4" name="TextBox 8"/>
          <p:cNvSpPr txBox="1"/>
          <p:nvPr/>
        </p:nvSpPr>
        <p:spPr>
          <a:xfrm>
            <a:off x="1007745" y="319405"/>
            <a:ext cx="96208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3-5 Pressure Angle, Base Circle Radius, and Offset Selection</a:t>
            </a:r>
            <a:endPar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dirty="0"/>
          </a:p>
        </p:txBody>
      </p:sp>
      <p:grpSp>
        <p:nvGrpSpPr>
          <p:cNvPr id="19" name="Group 39"/>
          <p:cNvGrpSpPr/>
          <p:nvPr/>
        </p:nvGrpSpPr>
        <p:grpSpPr bwMode="auto">
          <a:xfrm>
            <a:off x="5418734" y="1803675"/>
            <a:ext cx="6762750" cy="5057775"/>
            <a:chOff x="960" y="432"/>
            <a:chExt cx="4260" cy="3186"/>
          </a:xfrm>
        </p:grpSpPr>
        <p:sp>
          <p:nvSpPr>
            <p:cNvPr id="20" name="Line 12"/>
            <p:cNvSpPr>
              <a:spLocks noChangeShapeType="1"/>
            </p:cNvSpPr>
            <p:nvPr/>
          </p:nvSpPr>
          <p:spPr bwMode="auto">
            <a:xfrm rot="-3726725">
              <a:off x="2255" y="1098"/>
              <a:ext cx="1" cy="2400"/>
            </a:xfrm>
            <a:prstGeom prst="line">
              <a:avLst/>
            </a:prstGeom>
            <a:noFill/>
            <a:ln w="1270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1" name="Line 19"/>
            <p:cNvSpPr>
              <a:spLocks noChangeShapeType="1"/>
            </p:cNvSpPr>
            <p:nvPr/>
          </p:nvSpPr>
          <p:spPr bwMode="auto">
            <a:xfrm>
              <a:off x="2928" y="1781"/>
              <a:ext cx="0" cy="1056"/>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22" name="Group 7"/>
            <p:cNvGrpSpPr/>
            <p:nvPr/>
          </p:nvGrpSpPr>
          <p:grpSpPr bwMode="auto">
            <a:xfrm>
              <a:off x="960" y="432"/>
              <a:ext cx="3648" cy="2836"/>
              <a:chOff x="864" y="92"/>
              <a:chExt cx="3648" cy="2836"/>
            </a:xfrm>
          </p:grpSpPr>
          <p:sp>
            <p:nvSpPr>
              <p:cNvPr id="49" name="Line 2"/>
              <p:cNvSpPr>
                <a:spLocks noChangeShapeType="1"/>
              </p:cNvSpPr>
              <p:nvPr/>
            </p:nvSpPr>
            <p:spPr bwMode="auto">
              <a:xfrm>
                <a:off x="864" y="1776"/>
                <a:ext cx="3648" cy="0"/>
              </a:xfrm>
              <a:prstGeom prst="line">
                <a:avLst/>
              </a:prstGeom>
              <a:noFill/>
              <a:ln w="19050" cap="sq">
                <a:solidFill>
                  <a:schemeClr val="tx1"/>
                </a:solidFill>
                <a:round/>
                <a:headEnd type="none" w="sm" len="sm"/>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50" name="Line 3"/>
              <p:cNvSpPr>
                <a:spLocks noChangeShapeType="1"/>
              </p:cNvSpPr>
              <p:nvPr/>
            </p:nvSpPr>
            <p:spPr bwMode="auto">
              <a:xfrm>
                <a:off x="2592" y="92"/>
                <a:ext cx="0" cy="2836"/>
              </a:xfrm>
              <a:prstGeom prst="line">
                <a:avLst/>
              </a:prstGeom>
              <a:noFill/>
              <a:ln w="19050">
                <a:solidFill>
                  <a:schemeClr val="tx2"/>
                </a:solidFill>
                <a:round/>
                <a:headEnd type="stealth" w="sm" len="lg"/>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51" name="Group 6"/>
              <p:cNvGrpSpPr/>
              <p:nvPr/>
            </p:nvGrpSpPr>
            <p:grpSpPr bwMode="auto">
              <a:xfrm>
                <a:off x="1200" y="784"/>
                <a:ext cx="2256" cy="985"/>
                <a:chOff x="1200" y="784"/>
                <a:chExt cx="2256" cy="985"/>
              </a:xfrm>
            </p:grpSpPr>
            <p:sp>
              <p:nvSpPr>
                <p:cNvPr id="52" name="Arc 4"/>
                <p:cNvSpPr/>
                <p:nvPr/>
              </p:nvSpPr>
              <p:spPr bwMode="auto">
                <a:xfrm flipH="1">
                  <a:off x="1200" y="809"/>
                  <a:ext cx="1381" cy="960"/>
                </a:xfrm>
                <a:custGeom>
                  <a:avLst/>
                  <a:gdLst>
                    <a:gd name="T0" fmla="*/ 0 w 23389"/>
                    <a:gd name="T1" fmla="*/ 0 h 43200"/>
                    <a:gd name="T2" fmla="*/ 0 w 23389"/>
                    <a:gd name="T3" fmla="*/ 0 h 43200"/>
                    <a:gd name="T4" fmla="*/ 0 w 23389"/>
                    <a:gd name="T5" fmla="*/ 0 h 43200"/>
                    <a:gd name="T6" fmla="*/ 0 60000 65536"/>
                    <a:gd name="T7" fmla="*/ 0 60000 65536"/>
                    <a:gd name="T8" fmla="*/ 0 60000 65536"/>
                    <a:gd name="T9" fmla="*/ 0 w 23389"/>
                    <a:gd name="T10" fmla="*/ 0 h 43200"/>
                    <a:gd name="T11" fmla="*/ 23389 w 23389"/>
                    <a:gd name="T12" fmla="*/ 43200 h 43200"/>
                  </a:gdLst>
                  <a:ahLst/>
                  <a:cxnLst>
                    <a:cxn ang="T6">
                      <a:pos x="T0" y="T1"/>
                    </a:cxn>
                    <a:cxn ang="T7">
                      <a:pos x="T2" y="T3"/>
                    </a:cxn>
                    <a:cxn ang="T8">
                      <a:pos x="T4" y="T5"/>
                    </a:cxn>
                  </a:cxnLst>
                  <a:rect l="T9" t="T10" r="T11" b="T12"/>
                  <a:pathLst>
                    <a:path w="23389" h="43200" fill="none" extrusionOk="0">
                      <a:moveTo>
                        <a:pt x="0" y="74"/>
                      </a:moveTo>
                      <a:cubicBezTo>
                        <a:pt x="595" y="24"/>
                        <a:pt x="1191" y="-1"/>
                        <a:pt x="1789" y="0"/>
                      </a:cubicBezTo>
                      <a:cubicBezTo>
                        <a:pt x="13718" y="0"/>
                        <a:pt x="23389" y="9670"/>
                        <a:pt x="23389" y="21600"/>
                      </a:cubicBezTo>
                      <a:cubicBezTo>
                        <a:pt x="23389" y="33529"/>
                        <a:pt x="13718" y="43200"/>
                        <a:pt x="1789" y="43200"/>
                      </a:cubicBezTo>
                      <a:cubicBezTo>
                        <a:pt x="1197" y="43200"/>
                        <a:pt x="606" y="43175"/>
                        <a:pt x="16" y="43127"/>
                      </a:cubicBezTo>
                    </a:path>
                    <a:path w="23389" h="43200" stroke="0" extrusionOk="0">
                      <a:moveTo>
                        <a:pt x="0" y="74"/>
                      </a:moveTo>
                      <a:cubicBezTo>
                        <a:pt x="595" y="24"/>
                        <a:pt x="1191" y="-1"/>
                        <a:pt x="1789" y="0"/>
                      </a:cubicBezTo>
                      <a:cubicBezTo>
                        <a:pt x="13718" y="0"/>
                        <a:pt x="23389" y="9670"/>
                        <a:pt x="23389" y="21600"/>
                      </a:cubicBezTo>
                      <a:cubicBezTo>
                        <a:pt x="23389" y="33529"/>
                        <a:pt x="13718" y="43200"/>
                        <a:pt x="1789" y="43200"/>
                      </a:cubicBezTo>
                      <a:cubicBezTo>
                        <a:pt x="1197" y="43200"/>
                        <a:pt x="606" y="43175"/>
                        <a:pt x="16" y="43127"/>
                      </a:cubicBezTo>
                      <a:lnTo>
                        <a:pt x="1789" y="21600"/>
                      </a:lnTo>
                      <a:close/>
                    </a:path>
                  </a:pathLst>
                </a:custGeom>
                <a:noFill/>
                <a:ln w="190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53" name="Arc 5"/>
                <p:cNvSpPr/>
                <p:nvPr/>
              </p:nvSpPr>
              <p:spPr bwMode="auto">
                <a:xfrm rot="10630807" flipH="1">
                  <a:off x="2544" y="784"/>
                  <a:ext cx="912" cy="968"/>
                </a:xfrm>
                <a:custGeom>
                  <a:avLst/>
                  <a:gdLst>
                    <a:gd name="T0" fmla="*/ 0 w 24633"/>
                    <a:gd name="T1" fmla="*/ 0 h 43200"/>
                    <a:gd name="T2" fmla="*/ 0 w 24633"/>
                    <a:gd name="T3" fmla="*/ 0 h 43200"/>
                    <a:gd name="T4" fmla="*/ 0 w 24633"/>
                    <a:gd name="T5" fmla="*/ 0 h 43200"/>
                    <a:gd name="T6" fmla="*/ 0 60000 65536"/>
                    <a:gd name="T7" fmla="*/ 0 60000 65536"/>
                    <a:gd name="T8" fmla="*/ 0 60000 65536"/>
                    <a:gd name="T9" fmla="*/ 0 w 24633"/>
                    <a:gd name="T10" fmla="*/ 0 h 43200"/>
                    <a:gd name="T11" fmla="*/ 24633 w 24633"/>
                    <a:gd name="T12" fmla="*/ 43200 h 43200"/>
                  </a:gdLst>
                  <a:ahLst/>
                  <a:cxnLst>
                    <a:cxn ang="T6">
                      <a:pos x="T0" y="T1"/>
                    </a:cxn>
                    <a:cxn ang="T7">
                      <a:pos x="T2" y="T3"/>
                    </a:cxn>
                    <a:cxn ang="T8">
                      <a:pos x="T4" y="T5"/>
                    </a:cxn>
                  </a:cxnLst>
                  <a:rect l="T9" t="T10" r="T11" b="T12"/>
                  <a:pathLst>
                    <a:path w="24633" h="43200" fill="none" extrusionOk="0">
                      <a:moveTo>
                        <a:pt x="0" y="214"/>
                      </a:moveTo>
                      <a:cubicBezTo>
                        <a:pt x="1004" y="71"/>
                        <a:pt x="2018" y="-1"/>
                        <a:pt x="3033" y="0"/>
                      </a:cubicBezTo>
                      <a:cubicBezTo>
                        <a:pt x="14962" y="0"/>
                        <a:pt x="24633" y="9670"/>
                        <a:pt x="24633" y="21600"/>
                      </a:cubicBezTo>
                      <a:cubicBezTo>
                        <a:pt x="24633" y="33529"/>
                        <a:pt x="14962" y="43200"/>
                        <a:pt x="3033" y="43200"/>
                      </a:cubicBezTo>
                      <a:cubicBezTo>
                        <a:pt x="2441" y="43200"/>
                        <a:pt x="1850" y="43175"/>
                        <a:pt x="1260" y="43127"/>
                      </a:cubicBezTo>
                    </a:path>
                    <a:path w="24633" h="43200" stroke="0" extrusionOk="0">
                      <a:moveTo>
                        <a:pt x="0" y="214"/>
                      </a:moveTo>
                      <a:cubicBezTo>
                        <a:pt x="1004" y="71"/>
                        <a:pt x="2018" y="-1"/>
                        <a:pt x="3033" y="0"/>
                      </a:cubicBezTo>
                      <a:cubicBezTo>
                        <a:pt x="14962" y="0"/>
                        <a:pt x="24633" y="9670"/>
                        <a:pt x="24633" y="21600"/>
                      </a:cubicBezTo>
                      <a:cubicBezTo>
                        <a:pt x="24633" y="33529"/>
                        <a:pt x="14962" y="43200"/>
                        <a:pt x="3033" y="43200"/>
                      </a:cubicBezTo>
                      <a:cubicBezTo>
                        <a:pt x="2441" y="43200"/>
                        <a:pt x="1850" y="43175"/>
                        <a:pt x="1260" y="43127"/>
                      </a:cubicBezTo>
                      <a:lnTo>
                        <a:pt x="3033" y="21600"/>
                      </a:lnTo>
                      <a:close/>
                    </a:path>
                  </a:pathLst>
                </a:custGeom>
                <a:noFill/>
                <a:ln w="190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pSp>
        </p:grpSp>
        <p:graphicFrame>
          <p:nvGraphicFramePr>
            <p:cNvPr id="23" name="Object 8"/>
            <p:cNvGraphicFramePr>
              <a:graphicFrameLocks noChangeAspect="1"/>
            </p:cNvGraphicFramePr>
            <p:nvPr/>
          </p:nvGraphicFramePr>
          <p:xfrm>
            <a:off x="4656" y="1968"/>
            <a:ext cx="564" cy="273"/>
          </p:xfrm>
          <a:graphic>
            <a:graphicData uri="http://schemas.openxmlformats.org/presentationml/2006/ole">
              <mc:AlternateContent xmlns:mc="http://schemas.openxmlformats.org/markup-compatibility/2006">
                <mc:Choice xmlns:v="urn:schemas-microsoft-com:vml" Requires="v">
                  <p:oleObj spid="_x0000_s243789" name="Equation" r:id="rId1" imgW="419100" imgH="203200" progId="Equation.3">
                    <p:embed/>
                  </p:oleObj>
                </mc:Choice>
                <mc:Fallback>
                  <p:oleObj name="Equation" r:id="rId1" imgW="419100" imgH="2032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6" y="1968"/>
                          <a:ext cx="564"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9"/>
            <p:cNvGraphicFramePr>
              <a:graphicFrameLocks noChangeAspect="1"/>
            </p:cNvGraphicFramePr>
            <p:nvPr/>
          </p:nvGraphicFramePr>
          <p:xfrm>
            <a:off x="2400" y="432"/>
            <a:ext cx="193" cy="236"/>
          </p:xfrm>
          <a:graphic>
            <a:graphicData uri="http://schemas.openxmlformats.org/presentationml/2006/ole">
              <mc:AlternateContent xmlns:mc="http://schemas.openxmlformats.org/markup-compatibility/2006">
                <mc:Choice xmlns:v="urn:schemas-microsoft-com:vml" Requires="v">
                  <p:oleObj spid="_x0000_s243790" name="Equation" r:id="rId3" imgW="114300" imgH="139700" progId="Equation.3">
                    <p:embed/>
                  </p:oleObj>
                </mc:Choice>
                <mc:Fallback>
                  <p:oleObj name="Equation" r:id="rId3" imgW="114300" imgH="1397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 y="432"/>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Oval 10"/>
            <p:cNvSpPr>
              <a:spLocks noChangeArrowheads="1"/>
            </p:cNvSpPr>
            <p:nvPr/>
          </p:nvSpPr>
          <p:spPr bwMode="auto">
            <a:xfrm>
              <a:off x="2907" y="2633"/>
              <a:ext cx="45" cy="45"/>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26" name="Line 11"/>
            <p:cNvSpPr>
              <a:spLocks noChangeShapeType="1"/>
            </p:cNvSpPr>
            <p:nvPr/>
          </p:nvSpPr>
          <p:spPr bwMode="auto">
            <a:xfrm rot="1978484">
              <a:off x="3082" y="1218"/>
              <a:ext cx="1" cy="2400"/>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7" name="Line 13"/>
            <p:cNvSpPr>
              <a:spLocks noChangeShapeType="1"/>
            </p:cNvSpPr>
            <p:nvPr/>
          </p:nvSpPr>
          <p:spPr bwMode="auto">
            <a:xfrm>
              <a:off x="2688" y="2112"/>
              <a:ext cx="240" cy="528"/>
            </a:xfrm>
            <a:prstGeom prst="line">
              <a:avLst/>
            </a:prstGeom>
            <a:noFill/>
            <a:ln w="12700">
              <a:solidFill>
                <a:srgbClr val="0000FF"/>
              </a:solidFill>
              <a:round/>
              <a:headEnd type="stealth" w="sm" len="lg"/>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8" name="Line 14"/>
            <p:cNvSpPr>
              <a:spLocks noChangeShapeType="1"/>
            </p:cNvSpPr>
            <p:nvPr/>
          </p:nvSpPr>
          <p:spPr bwMode="auto">
            <a:xfrm flipH="1">
              <a:off x="2688" y="1776"/>
              <a:ext cx="814" cy="0"/>
            </a:xfrm>
            <a:prstGeom prst="line">
              <a:avLst/>
            </a:prstGeom>
            <a:noFill/>
            <a:ln w="190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29" name="Object 15"/>
            <p:cNvGraphicFramePr>
              <a:graphicFrameLocks noChangeAspect="1"/>
            </p:cNvGraphicFramePr>
            <p:nvPr/>
          </p:nvGraphicFramePr>
          <p:xfrm>
            <a:off x="2880" y="1536"/>
            <a:ext cx="432" cy="209"/>
          </p:xfrm>
          <a:graphic>
            <a:graphicData uri="http://schemas.openxmlformats.org/presentationml/2006/ole">
              <mc:AlternateContent xmlns:mc="http://schemas.openxmlformats.org/markup-compatibility/2006">
                <mc:Choice xmlns:v="urn:schemas-microsoft-com:vml" Requires="v">
                  <p:oleObj spid="_x0000_s243791" name="Equation" r:id="rId5" imgW="254635" imgH="121285" progId="Equation.3">
                    <p:embed/>
                  </p:oleObj>
                </mc:Choice>
                <mc:Fallback>
                  <p:oleObj name="Equation" r:id="rId5" imgW="254635" imgH="121285"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0" y="1536"/>
                          <a:ext cx="43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16"/>
            <p:cNvSpPr>
              <a:spLocks noChangeShapeType="1"/>
            </p:cNvSpPr>
            <p:nvPr/>
          </p:nvSpPr>
          <p:spPr bwMode="auto">
            <a:xfrm>
              <a:off x="3504" y="1776"/>
              <a:ext cx="528" cy="0"/>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1" name="Line 17"/>
            <p:cNvSpPr>
              <a:spLocks noChangeShapeType="1"/>
            </p:cNvSpPr>
            <p:nvPr/>
          </p:nvSpPr>
          <p:spPr bwMode="auto">
            <a:xfrm>
              <a:off x="3840" y="1776"/>
              <a:ext cx="0" cy="336"/>
            </a:xfrm>
            <a:prstGeom prst="line">
              <a:avLst/>
            </a:prstGeom>
            <a:noFill/>
            <a:ln w="19050">
              <a:solidFill>
                <a:srgbClr val="0000FF"/>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32" name="Object 18"/>
            <p:cNvGraphicFramePr>
              <a:graphicFrameLocks noChangeAspect="1"/>
            </p:cNvGraphicFramePr>
            <p:nvPr/>
          </p:nvGraphicFramePr>
          <p:xfrm>
            <a:off x="3888" y="1824"/>
            <a:ext cx="193" cy="236"/>
          </p:xfrm>
          <a:graphic>
            <a:graphicData uri="http://schemas.openxmlformats.org/presentationml/2006/ole">
              <mc:AlternateContent xmlns:mc="http://schemas.openxmlformats.org/markup-compatibility/2006">
                <mc:Choice xmlns:v="urn:schemas-microsoft-com:vml" Requires="v">
                  <p:oleObj spid="_x0000_s243792" name="Equation" r:id="rId7" imgW="69215" imgH="86995" progId="Equation.3">
                    <p:embed/>
                  </p:oleObj>
                </mc:Choice>
                <mc:Fallback>
                  <p:oleObj name="Equation" r:id="rId7" imgW="69215" imgH="86995"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8" y="1824"/>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Line 20"/>
            <p:cNvSpPr>
              <a:spLocks noChangeShapeType="1"/>
            </p:cNvSpPr>
            <p:nvPr/>
          </p:nvSpPr>
          <p:spPr bwMode="auto">
            <a:xfrm>
              <a:off x="2688" y="2784"/>
              <a:ext cx="240" cy="0"/>
            </a:xfrm>
            <a:prstGeom prst="line">
              <a:avLst/>
            </a:prstGeom>
            <a:noFill/>
            <a:ln w="15875" cap="sq">
              <a:solidFill>
                <a:srgbClr val="0000FF"/>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aphicFrame>
          <p:nvGraphicFramePr>
            <p:cNvPr id="34" name="Object 21"/>
            <p:cNvGraphicFramePr>
              <a:graphicFrameLocks noChangeAspect="1"/>
            </p:cNvGraphicFramePr>
            <p:nvPr/>
          </p:nvGraphicFramePr>
          <p:xfrm>
            <a:off x="2737" y="2614"/>
            <a:ext cx="171" cy="188"/>
          </p:xfrm>
          <a:graphic>
            <a:graphicData uri="http://schemas.openxmlformats.org/presentationml/2006/ole">
              <mc:AlternateContent xmlns:mc="http://schemas.openxmlformats.org/markup-compatibility/2006">
                <mc:Choice xmlns:v="urn:schemas-microsoft-com:vml" Requires="v">
                  <p:oleObj spid="_x0000_s243793" name="Equation" r:id="rId9" imgW="74930" imgH="86995" progId="Equation.3">
                    <p:embed/>
                  </p:oleObj>
                </mc:Choice>
                <mc:Fallback>
                  <p:oleObj name="Equation" r:id="rId9" imgW="74930" imgH="86995"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7" y="2614"/>
                          <a:ext cx="171"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22"/>
            <p:cNvGraphicFramePr>
              <a:graphicFrameLocks noChangeAspect="1"/>
            </p:cNvGraphicFramePr>
            <p:nvPr/>
          </p:nvGraphicFramePr>
          <p:xfrm>
            <a:off x="2688" y="2256"/>
            <a:ext cx="161" cy="264"/>
          </p:xfrm>
          <a:graphic>
            <a:graphicData uri="http://schemas.openxmlformats.org/presentationml/2006/ole">
              <mc:AlternateContent xmlns:mc="http://schemas.openxmlformats.org/markup-compatibility/2006">
                <mc:Choice xmlns:v="urn:schemas-microsoft-com:vml" Requires="v">
                  <p:oleObj spid="_x0000_s243794" name="Equation" r:id="rId11" imgW="86995" imgH="139065" progId="Equation.3">
                    <p:embed/>
                  </p:oleObj>
                </mc:Choice>
                <mc:Fallback>
                  <p:oleObj name="Equation" r:id="rId11" imgW="86995" imgH="139065"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8" y="2256"/>
                          <a:ext cx="161"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Arc 23"/>
            <p:cNvSpPr/>
            <p:nvPr/>
          </p:nvSpPr>
          <p:spPr bwMode="auto">
            <a:xfrm rot="10775233" flipH="1" flipV="1">
              <a:off x="2928" y="2208"/>
              <a:ext cx="205" cy="29"/>
            </a:xfrm>
            <a:custGeom>
              <a:avLst/>
              <a:gdLst>
                <a:gd name="T0" fmla="*/ 0 w 21531"/>
                <a:gd name="T1" fmla="*/ 0 h 21600"/>
                <a:gd name="T2" fmla="*/ 0 w 21531"/>
                <a:gd name="T3" fmla="*/ 0 h 21600"/>
                <a:gd name="T4" fmla="*/ 0 w 21531"/>
                <a:gd name="T5" fmla="*/ 0 h 21600"/>
                <a:gd name="T6" fmla="*/ 0 60000 65536"/>
                <a:gd name="T7" fmla="*/ 0 60000 65536"/>
                <a:gd name="T8" fmla="*/ 0 60000 65536"/>
                <a:gd name="T9" fmla="*/ 0 w 21531"/>
                <a:gd name="T10" fmla="*/ 0 h 21600"/>
                <a:gd name="T11" fmla="*/ 21531 w 21531"/>
                <a:gd name="T12" fmla="*/ 21600 h 21600"/>
              </a:gdLst>
              <a:ahLst/>
              <a:cxnLst>
                <a:cxn ang="T6">
                  <a:pos x="T0" y="T1"/>
                </a:cxn>
                <a:cxn ang="T7">
                  <a:pos x="T2" y="T3"/>
                </a:cxn>
                <a:cxn ang="T8">
                  <a:pos x="T4" y="T5"/>
                </a:cxn>
              </a:cxnLst>
              <a:rect l="T9" t="T10" r="T11" b="T12"/>
              <a:pathLst>
                <a:path w="21531" h="21600" fill="none" extrusionOk="0">
                  <a:moveTo>
                    <a:pt x="-1" y="0"/>
                  </a:moveTo>
                  <a:cubicBezTo>
                    <a:pt x="11261" y="0"/>
                    <a:pt x="20632" y="8651"/>
                    <a:pt x="21531" y="19876"/>
                  </a:cubicBezTo>
                </a:path>
                <a:path w="21531" h="21600" stroke="0" extrusionOk="0">
                  <a:moveTo>
                    <a:pt x="-1" y="0"/>
                  </a:moveTo>
                  <a:cubicBezTo>
                    <a:pt x="11261" y="0"/>
                    <a:pt x="20632" y="8651"/>
                    <a:pt x="21531" y="19876"/>
                  </a:cubicBezTo>
                  <a:lnTo>
                    <a:pt x="0" y="21600"/>
                  </a:lnTo>
                  <a:close/>
                </a:path>
              </a:pathLst>
            </a:custGeom>
            <a:noFill/>
            <a:ln w="15875" cap="sq">
              <a:solidFill>
                <a:srgbClr val="00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aphicFrame>
          <p:nvGraphicFramePr>
            <p:cNvPr id="37" name="Object 24"/>
            <p:cNvGraphicFramePr>
              <a:graphicFrameLocks noChangeAspect="1"/>
            </p:cNvGraphicFramePr>
            <p:nvPr/>
          </p:nvGraphicFramePr>
          <p:xfrm>
            <a:off x="2956" y="2040"/>
            <a:ext cx="188" cy="188"/>
          </p:xfrm>
          <a:graphic>
            <a:graphicData uri="http://schemas.openxmlformats.org/presentationml/2006/ole">
              <mc:AlternateContent xmlns:mc="http://schemas.openxmlformats.org/markup-compatibility/2006">
                <mc:Choice xmlns:v="urn:schemas-microsoft-com:vml" Requires="v">
                  <p:oleObj spid="_x0000_s243795" name="Equation" r:id="rId13" imgW="86995" imgH="86995" progId="Equation.3">
                    <p:embed/>
                  </p:oleObj>
                </mc:Choice>
                <mc:Fallback>
                  <p:oleObj name="Equation" r:id="rId13" imgW="86995" imgH="86995"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6" y="2040"/>
                          <a:ext cx="188"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Line 26"/>
            <p:cNvSpPr>
              <a:spLocks noChangeShapeType="1"/>
            </p:cNvSpPr>
            <p:nvPr/>
          </p:nvSpPr>
          <p:spPr bwMode="auto">
            <a:xfrm flipH="1">
              <a:off x="1536" y="1920"/>
              <a:ext cx="1154" cy="0"/>
            </a:xfrm>
            <a:prstGeom prst="line">
              <a:avLst/>
            </a:prstGeom>
            <a:noFill/>
            <a:ln w="19050">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39" name="Object 27"/>
            <p:cNvGraphicFramePr>
              <a:graphicFrameLocks noChangeAspect="1"/>
            </p:cNvGraphicFramePr>
            <p:nvPr/>
          </p:nvGraphicFramePr>
          <p:xfrm>
            <a:off x="1868" y="1680"/>
            <a:ext cx="537" cy="209"/>
          </p:xfrm>
          <a:graphic>
            <a:graphicData uri="http://schemas.openxmlformats.org/presentationml/2006/ole">
              <mc:AlternateContent xmlns:mc="http://schemas.openxmlformats.org/markup-compatibility/2006">
                <mc:Choice xmlns:v="urn:schemas-microsoft-com:vml" Requires="v">
                  <p:oleObj spid="_x0000_s243796" name="Equation" r:id="rId15" imgW="12496800" imgH="4876800" progId="Equation.DSMT4">
                    <p:embed/>
                  </p:oleObj>
                </mc:Choice>
                <mc:Fallback>
                  <p:oleObj name="Equation" r:id="rId15" imgW="12496800" imgH="4876800" progId="Equation.DSMT4">
                    <p:embed/>
                    <p:pic>
                      <p:nvPicPr>
                        <p:cNvPr id="0" name="Object 27"/>
                        <p:cNvPicPr>
                          <a:picLocks noChangeAspect="1" noChangeArrowheads="1"/>
                        </p:cNvPicPr>
                        <p:nvPr/>
                      </p:nvPicPr>
                      <p:blipFill>
                        <a:blip r:embed="rId16"/>
                        <a:srcRect/>
                        <a:stretch>
                          <a:fillRect/>
                        </a:stretch>
                      </p:blipFill>
                      <p:spPr bwMode="auto">
                        <a:xfrm>
                          <a:off x="1868" y="1680"/>
                          <a:ext cx="537"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Line 28"/>
            <p:cNvSpPr>
              <a:spLocks noChangeShapeType="1"/>
            </p:cNvSpPr>
            <p:nvPr/>
          </p:nvSpPr>
          <p:spPr bwMode="auto">
            <a:xfrm>
              <a:off x="1056" y="1913"/>
              <a:ext cx="528" cy="0"/>
            </a:xfrm>
            <a:prstGeom prst="line">
              <a:avLst/>
            </a:prstGeom>
            <a:noFill/>
            <a:ln w="1270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aphicFrame>
          <p:nvGraphicFramePr>
            <p:cNvPr id="41" name="Object 30"/>
            <p:cNvGraphicFramePr>
              <a:graphicFrameLocks noChangeAspect="1"/>
            </p:cNvGraphicFramePr>
            <p:nvPr/>
          </p:nvGraphicFramePr>
          <p:xfrm>
            <a:off x="1056" y="1920"/>
            <a:ext cx="193" cy="236"/>
          </p:xfrm>
          <a:graphic>
            <a:graphicData uri="http://schemas.openxmlformats.org/presentationml/2006/ole">
              <mc:AlternateContent xmlns:mc="http://schemas.openxmlformats.org/markup-compatibility/2006">
                <mc:Choice xmlns:v="urn:schemas-microsoft-com:vml" Requires="v">
                  <p:oleObj spid="_x0000_s243797" name="Equation" r:id="rId17" imgW="69215" imgH="86995" progId="Equation.3">
                    <p:embed/>
                  </p:oleObj>
                </mc:Choice>
                <mc:Fallback>
                  <p:oleObj name="Equation" r:id="rId17" imgW="69215" imgH="86995" progId="Equation.3">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56" y="1920"/>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Line 31"/>
            <p:cNvSpPr>
              <a:spLocks noChangeShapeType="1"/>
            </p:cNvSpPr>
            <p:nvPr/>
          </p:nvSpPr>
          <p:spPr bwMode="auto">
            <a:xfrm>
              <a:off x="1152" y="1671"/>
              <a:ext cx="0" cy="240"/>
            </a:xfrm>
            <a:prstGeom prst="line">
              <a:avLst/>
            </a:prstGeom>
            <a:noFill/>
            <a:ln w="15875" cap="sq">
              <a:solidFill>
                <a:srgbClr val="FF00FF"/>
              </a:solidFill>
              <a:round/>
              <a:headEnd type="none" w="sm" len="sm"/>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43" name="Line 32"/>
            <p:cNvSpPr>
              <a:spLocks noChangeShapeType="1"/>
            </p:cNvSpPr>
            <p:nvPr/>
          </p:nvSpPr>
          <p:spPr bwMode="auto">
            <a:xfrm>
              <a:off x="1152" y="2111"/>
              <a:ext cx="0" cy="240"/>
            </a:xfrm>
            <a:prstGeom prst="line">
              <a:avLst/>
            </a:prstGeom>
            <a:noFill/>
            <a:ln w="15875" cap="sq">
              <a:solidFill>
                <a:srgbClr val="FF00FF"/>
              </a:solidFill>
              <a:round/>
              <a:headEnd type="stealth" w="sm" len="lg"/>
              <a:tailEnd type="none" w="sm" len="lg"/>
            </a:ln>
            <a:extLst>
              <a:ext uri="{909E8E84-426E-40DD-AFC4-6F175D3DCCD1}">
                <a14:hiddenFill xmlns:a14="http://schemas.microsoft.com/office/drawing/2010/main">
                  <a:noFill/>
                </a14:hiddenFill>
              </a:ext>
            </a:extLst>
          </p:spPr>
          <p:txBody>
            <a:bodyPr wrap="none"/>
            <a:lstStyle/>
            <a:p>
              <a:endParaRPr lang="en-US"/>
            </a:p>
          </p:txBody>
        </p:sp>
        <p:sp>
          <p:nvSpPr>
            <p:cNvPr id="44" name="Arc 33"/>
            <p:cNvSpPr/>
            <p:nvPr/>
          </p:nvSpPr>
          <p:spPr bwMode="auto">
            <a:xfrm rot="7502756" flipH="1" flipV="1">
              <a:off x="2530" y="2246"/>
              <a:ext cx="163" cy="100"/>
            </a:xfrm>
            <a:custGeom>
              <a:avLst/>
              <a:gdLst>
                <a:gd name="T0" fmla="*/ 0 w 21531"/>
                <a:gd name="T1" fmla="*/ 0 h 21600"/>
                <a:gd name="T2" fmla="*/ 0 w 21531"/>
                <a:gd name="T3" fmla="*/ 0 h 21600"/>
                <a:gd name="T4" fmla="*/ 0 w 21531"/>
                <a:gd name="T5" fmla="*/ 0 h 21600"/>
                <a:gd name="T6" fmla="*/ 0 60000 65536"/>
                <a:gd name="T7" fmla="*/ 0 60000 65536"/>
                <a:gd name="T8" fmla="*/ 0 60000 65536"/>
                <a:gd name="T9" fmla="*/ 0 w 21531"/>
                <a:gd name="T10" fmla="*/ 0 h 21600"/>
                <a:gd name="T11" fmla="*/ 21531 w 21531"/>
                <a:gd name="T12" fmla="*/ 21600 h 21600"/>
              </a:gdLst>
              <a:ahLst/>
              <a:cxnLst>
                <a:cxn ang="T6">
                  <a:pos x="T0" y="T1"/>
                </a:cxn>
                <a:cxn ang="T7">
                  <a:pos x="T2" y="T3"/>
                </a:cxn>
                <a:cxn ang="T8">
                  <a:pos x="T4" y="T5"/>
                </a:cxn>
              </a:cxnLst>
              <a:rect l="T9" t="T10" r="T11" b="T12"/>
              <a:pathLst>
                <a:path w="21531" h="21600" fill="none" extrusionOk="0">
                  <a:moveTo>
                    <a:pt x="-1" y="0"/>
                  </a:moveTo>
                  <a:cubicBezTo>
                    <a:pt x="11261" y="0"/>
                    <a:pt x="20632" y="8651"/>
                    <a:pt x="21531" y="19876"/>
                  </a:cubicBezTo>
                </a:path>
                <a:path w="21531" h="21600" stroke="0" extrusionOk="0">
                  <a:moveTo>
                    <a:pt x="-1" y="0"/>
                  </a:moveTo>
                  <a:cubicBezTo>
                    <a:pt x="11261" y="0"/>
                    <a:pt x="20632" y="8651"/>
                    <a:pt x="21531" y="19876"/>
                  </a:cubicBezTo>
                  <a:lnTo>
                    <a:pt x="0" y="21600"/>
                  </a:lnTo>
                  <a:close/>
                </a:path>
              </a:pathLst>
            </a:custGeom>
            <a:noFill/>
            <a:ln w="15875" cap="sq">
              <a:solidFill>
                <a:srgbClr val="FF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aphicFrame>
          <p:nvGraphicFramePr>
            <p:cNvPr id="45" name="Object 34"/>
            <p:cNvGraphicFramePr>
              <a:graphicFrameLocks noChangeAspect="1"/>
            </p:cNvGraphicFramePr>
            <p:nvPr/>
          </p:nvGraphicFramePr>
          <p:xfrm>
            <a:off x="2452" y="2090"/>
            <a:ext cx="188" cy="188"/>
          </p:xfrm>
          <a:graphic>
            <a:graphicData uri="http://schemas.openxmlformats.org/presentationml/2006/ole">
              <mc:AlternateContent xmlns:mc="http://schemas.openxmlformats.org/markup-compatibility/2006">
                <mc:Choice xmlns:v="urn:schemas-microsoft-com:vml" Requires="v">
                  <p:oleObj spid="_x0000_s243798" name="Equation" r:id="rId19" imgW="86995" imgH="86995" progId="Equation.3">
                    <p:embed/>
                  </p:oleObj>
                </mc:Choice>
                <mc:Fallback>
                  <p:oleObj name="Equation" r:id="rId19" imgW="86995" imgH="86995" progId="Equation.3">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52" y="2090"/>
                          <a:ext cx="188"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36"/>
            <p:cNvGraphicFramePr>
              <a:graphicFrameLocks noChangeAspect="1"/>
            </p:cNvGraphicFramePr>
            <p:nvPr/>
          </p:nvGraphicFramePr>
          <p:xfrm>
            <a:off x="2928" y="2688"/>
            <a:ext cx="186" cy="200"/>
          </p:xfrm>
          <a:graphic>
            <a:graphicData uri="http://schemas.openxmlformats.org/presentationml/2006/ole">
              <mc:AlternateContent xmlns:mc="http://schemas.openxmlformats.org/markup-compatibility/2006">
                <mc:Choice xmlns:v="urn:schemas-microsoft-com:vml" Requires="v">
                  <p:oleObj spid="_x0000_s243799" name="Equation" r:id="rId21" imgW="98425" imgH="109855" progId="Equation.3">
                    <p:embed/>
                  </p:oleObj>
                </mc:Choice>
                <mc:Fallback>
                  <p:oleObj name="Equation" r:id="rId21" imgW="98425" imgH="109855" progId="Equation.3">
                    <p:embed/>
                    <p:pic>
                      <p:nvPicPr>
                        <p:cNvPr id="0" name="Object 3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28" y="2688"/>
                          <a:ext cx="186"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Line 37"/>
            <p:cNvSpPr>
              <a:spLocks noChangeShapeType="1"/>
            </p:cNvSpPr>
            <p:nvPr/>
          </p:nvSpPr>
          <p:spPr bwMode="auto">
            <a:xfrm rot="1080015" flipH="1">
              <a:off x="3121" y="1391"/>
              <a:ext cx="183" cy="1332"/>
            </a:xfrm>
            <a:prstGeom prst="line">
              <a:avLst/>
            </a:prstGeom>
            <a:noFill/>
            <a:ln w="12700">
              <a:solidFill>
                <a:srgbClr val="0000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8" name="Line 38"/>
            <p:cNvSpPr>
              <a:spLocks noChangeShapeType="1"/>
            </p:cNvSpPr>
            <p:nvPr/>
          </p:nvSpPr>
          <p:spPr bwMode="auto">
            <a:xfrm rot="-3034018">
              <a:off x="2108" y="1081"/>
              <a:ext cx="82" cy="1955"/>
            </a:xfrm>
            <a:prstGeom prst="line">
              <a:avLst/>
            </a:prstGeom>
            <a:noFill/>
            <a:ln w="12700">
              <a:solidFill>
                <a:srgbClr val="FF00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54" name="Text Box 40"/>
          <p:cNvSpPr txBox="1">
            <a:spLocks noChangeArrowheads="1"/>
          </p:cNvSpPr>
          <p:nvPr/>
        </p:nvSpPr>
        <p:spPr bwMode="auto">
          <a:xfrm>
            <a:off x="9022760" y="1697720"/>
            <a:ext cx="1001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zh-CN" altLang="en-US" sz="2800" dirty="0">
                <a:solidFill>
                  <a:srgbClr val="0000FF"/>
                </a:solidFill>
              </a:rPr>
              <a:t>Rise</a:t>
            </a:r>
            <a:endParaRPr lang="zh-CN" altLang="en-US" sz="2800" dirty="0">
              <a:solidFill>
                <a:srgbClr val="0000FF"/>
              </a:solidFill>
            </a:endParaRPr>
          </a:p>
        </p:txBody>
      </p:sp>
      <p:sp>
        <p:nvSpPr>
          <p:cNvPr id="55" name="Text Box 41"/>
          <p:cNvSpPr txBox="1">
            <a:spLocks noChangeArrowheads="1"/>
          </p:cNvSpPr>
          <p:nvPr/>
        </p:nvSpPr>
        <p:spPr bwMode="auto">
          <a:xfrm>
            <a:off x="5325110" y="1722120"/>
            <a:ext cx="17170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800" dirty="0">
                <a:solidFill>
                  <a:srgbClr val="FF00FF"/>
                </a:solidFill>
              </a:rPr>
              <a:t>Return</a:t>
            </a:r>
            <a:endParaRPr lang="zh-CN" altLang="en-US" sz="2800" dirty="0">
              <a:solidFill>
                <a:srgbClr val="FF00FF"/>
              </a:solidFill>
            </a:endParaRPr>
          </a:p>
        </p:txBody>
      </p:sp>
      <p:sp>
        <p:nvSpPr>
          <p:cNvPr id="57" name="任意多边形 56"/>
          <p:cNvSpPr>
            <a:spLocks noChangeArrowheads="1"/>
          </p:cNvSpPr>
          <p:nvPr/>
        </p:nvSpPr>
        <p:spPr bwMode="auto">
          <a:xfrm>
            <a:off x="641884" y="2885266"/>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rgbClr val="FF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01" name="任意多边形 100"/>
          <p:cNvSpPr>
            <a:spLocks noChangeArrowheads="1"/>
          </p:cNvSpPr>
          <p:nvPr/>
        </p:nvSpPr>
        <p:spPr bwMode="auto">
          <a:xfrm>
            <a:off x="641884" y="2885266"/>
            <a:ext cx="1588" cy="22225"/>
          </a:xfrm>
          <a:custGeom>
            <a:avLst/>
            <a:gdLst>
              <a:gd name="T0" fmla="*/ 0 w 1"/>
              <a:gd name="T1" fmla="*/ 2147483646 h 17"/>
              <a:gd name="T2" fmla="*/ 0 w 1"/>
              <a:gd name="T3" fmla="*/ 0 h 17"/>
              <a:gd name="T4" fmla="*/ 0 60000 65536"/>
              <a:gd name="T5" fmla="*/ 0 60000 65536"/>
            </a:gdLst>
            <a:ahLst/>
            <a:cxnLst>
              <a:cxn ang="T4">
                <a:pos x="T0" y="T1"/>
              </a:cxn>
              <a:cxn ang="T5">
                <a:pos x="T2" y="T3"/>
              </a:cxn>
            </a:cxnLst>
            <a:rect l="0" t="0" r="r" b="b"/>
            <a:pathLst>
              <a:path w="1" h="17">
                <a:moveTo>
                  <a:pt x="0" y="17"/>
                </a:moveTo>
                <a:lnTo>
                  <a:pt x="0" y="0"/>
                </a:lnTo>
              </a:path>
            </a:pathLst>
          </a:custGeom>
          <a:noFill/>
          <a:ln w="3175">
            <a:solidFill>
              <a:schemeClr val="accent2"/>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square"/>
          <a:lstStyle/>
          <a:p>
            <a:endParaRPr lang="en-AU"/>
          </a:p>
        </p:txBody>
      </p:sp>
      <p:sp>
        <p:nvSpPr>
          <p:cNvPr id="127" name="Line 38"/>
          <p:cNvSpPr>
            <a:spLocks noChangeShapeType="1"/>
          </p:cNvSpPr>
          <p:nvPr/>
        </p:nvSpPr>
        <p:spPr bwMode="auto">
          <a:xfrm rot="18565982">
            <a:off x="6697357" y="2134807"/>
            <a:ext cx="2174067" cy="2609959"/>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square"/>
          <a:lstStyle/>
          <a:p>
            <a:endParaRPr lang="en-US"/>
          </a:p>
        </p:txBody>
      </p:sp>
      <mc:AlternateContent xmlns:mc="http://schemas.openxmlformats.org/markup-compatibility/2006">
        <mc:Choice xmlns:a14="http://schemas.microsoft.com/office/drawing/2010/main" Requires="a14">
          <p:sp>
            <p:nvSpPr>
              <p:cNvPr id="13" name="矩形 12"/>
              <p:cNvSpPr/>
              <p:nvPr/>
            </p:nvSpPr>
            <p:spPr>
              <a:xfrm>
                <a:off x="7360985" y="3130796"/>
                <a:ext cx="789768"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ea typeface="Cambria Math" panose="02040503050406030204" pitchFamily="18" charset="0"/>
                        </a:rPr>
                        <m:t>𝑠</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𝑎</m:t>
                      </m:r>
                    </m:oMath>
                  </m:oMathPara>
                </a14:m>
                <a:endParaRPr lang="en-AU" dirty="0"/>
              </a:p>
            </p:txBody>
          </p:sp>
        </mc:Choice>
        <mc:Fallback>
          <p:sp>
            <p:nvSpPr>
              <p:cNvPr id="13" name="矩形 12"/>
              <p:cNvSpPr>
                <a:spLocks noRot="1" noChangeAspect="1" noMove="1" noResize="1" noEditPoints="1" noAdjustHandles="1" noChangeArrowheads="1" noChangeShapeType="1" noTextEdit="1"/>
              </p:cNvSpPr>
              <p:nvPr/>
            </p:nvSpPr>
            <p:spPr>
              <a:xfrm>
                <a:off x="7360985" y="3130796"/>
                <a:ext cx="789768" cy="369332"/>
              </a:xfrm>
              <a:prstGeom prst="rect">
                <a:avLst/>
              </a:prstGeom>
              <a:blipFill rotWithShape="1">
                <a:blip r:embed="rId23"/>
                <a:stretch>
                  <a:fillRect l="-8" t="-67" r="67" b="2"/>
                </a:stretch>
              </a:blipFill>
            </p:spPr>
            <p:txBody>
              <a:bodyPr/>
              <a:lstStyle/>
              <a:p>
                <a:r>
                  <a:rPr lang="zh-CN" altLang="en-US">
                    <a:noFill/>
                  </a:rPr>
                  <a:t> </a:t>
                </a:r>
              </a:p>
            </p:txBody>
          </p:sp>
        </mc:Fallback>
      </mc:AlternateContent>
      <p:sp>
        <p:nvSpPr>
          <p:cNvPr id="128" name="Oval 58"/>
          <p:cNvSpPr>
            <a:spLocks noChangeAspect="1" noChangeArrowheads="1"/>
          </p:cNvSpPr>
          <p:nvPr/>
        </p:nvSpPr>
        <p:spPr bwMode="auto">
          <a:xfrm>
            <a:off x="9429269" y="3352779"/>
            <a:ext cx="107950" cy="107950"/>
          </a:xfrm>
          <a:prstGeom prst="ellipse">
            <a:avLst/>
          </a:prstGeom>
          <a:solidFill>
            <a:schemeClr val="tx1"/>
          </a:solidFill>
          <a:ln>
            <a:noFill/>
          </a:ln>
        </p:spPr>
        <p:txBody>
          <a:bodyPr wrap="squar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129" name="Oval 58"/>
          <p:cNvSpPr>
            <a:spLocks noChangeAspect="1" noChangeArrowheads="1"/>
          </p:cNvSpPr>
          <p:nvPr/>
        </p:nvSpPr>
        <p:spPr bwMode="auto">
          <a:xfrm>
            <a:off x="6016417" y="3394345"/>
            <a:ext cx="107950" cy="107950"/>
          </a:xfrm>
          <a:prstGeom prst="ellipse">
            <a:avLst/>
          </a:prstGeom>
          <a:solidFill>
            <a:schemeClr val="tx1"/>
          </a:solidFill>
          <a:ln>
            <a:noFill/>
          </a:ln>
        </p:spPr>
        <p:txBody>
          <a:bodyPr wrap="squar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16" name="矩形 15"/>
          <p:cNvSpPr/>
          <p:nvPr/>
        </p:nvSpPr>
        <p:spPr>
          <a:xfrm>
            <a:off x="5697948" y="2920177"/>
            <a:ext cx="800219" cy="369332"/>
          </a:xfrm>
          <a:prstGeom prst="rect">
            <a:avLst/>
          </a:prstGeom>
        </p:spPr>
        <p:txBody>
          <a:bodyPr wrap="square">
            <a:spAutoFit/>
          </a:bodyPr>
          <a:lstStyle/>
          <a:p>
            <a:r>
              <a:rPr lang="zh-CN" altLang="en-US" dirty="0">
                <a:solidFill>
                  <a:srgbClr val="FF0000"/>
                </a:solidFill>
              </a:rPr>
              <a:t>Curve C</a:t>
            </a:r>
            <a:endParaRPr lang="en-AU" dirty="0"/>
          </a:p>
        </p:txBody>
      </p:sp>
      <p:sp>
        <p:nvSpPr>
          <p:cNvPr id="135" name="矩形 134"/>
          <p:cNvSpPr/>
          <p:nvPr/>
        </p:nvSpPr>
        <p:spPr>
          <a:xfrm>
            <a:off x="9412601" y="3070454"/>
            <a:ext cx="351378" cy="369332"/>
          </a:xfrm>
          <a:prstGeom prst="rect">
            <a:avLst/>
          </a:prstGeom>
        </p:spPr>
        <p:txBody>
          <a:bodyPr wrap="square">
            <a:spAutoFit/>
          </a:bodyPr>
          <a:lstStyle/>
          <a:p>
            <a:r>
              <a:rPr lang="en-US" altLang="zh-CN" i="1" dirty="0"/>
              <a:t>Q</a:t>
            </a:r>
            <a:endParaRPr lang="en-AU" i="1" dirty="0"/>
          </a:p>
        </p:txBody>
      </p:sp>
      <p:pic>
        <p:nvPicPr>
          <p:cNvPr id="70" name="图片 69"/>
          <p:cNvPicPr>
            <a:picLocks noChangeAspect="1"/>
          </p:cNvPicPr>
          <p:nvPr/>
        </p:nvPicPr>
        <p:blipFill>
          <a:blip r:embed="rId24"/>
          <a:stretch>
            <a:fillRect/>
          </a:stretch>
        </p:blipFill>
        <p:spPr>
          <a:xfrm>
            <a:off x="385313" y="1675780"/>
            <a:ext cx="3564428" cy="1135503"/>
          </a:xfrm>
          <a:prstGeom prst="rect">
            <a:avLst/>
          </a:prstGeom>
        </p:spPr>
      </p:pic>
      <p:graphicFrame>
        <p:nvGraphicFramePr>
          <p:cNvPr id="15" name="对象 14"/>
          <p:cNvGraphicFramePr>
            <a:graphicFrameLocks noChangeAspect="1"/>
          </p:cNvGraphicFramePr>
          <p:nvPr/>
        </p:nvGraphicFramePr>
        <p:xfrm>
          <a:off x="1335749" y="3796767"/>
          <a:ext cx="3064432" cy="708650"/>
        </p:xfrm>
        <a:graphic>
          <a:graphicData uri="http://schemas.openxmlformats.org/presentationml/2006/ole">
            <mc:AlternateContent xmlns:mc="http://schemas.openxmlformats.org/markup-compatibility/2006">
              <mc:Choice xmlns:v="urn:schemas-microsoft-com:vml" Requires="v">
                <p:oleObj spid="_x0000_s243800" name="Equation" r:id="rId25" imgW="48768000" imgH="11277600" progId="Equation.DSMT4">
                  <p:embed/>
                </p:oleObj>
              </mc:Choice>
              <mc:Fallback>
                <p:oleObj name="Equation" r:id="rId25" imgW="48768000" imgH="11277600" progId="Equation.DSMT4">
                  <p:embed/>
                  <p:pic>
                    <p:nvPicPr>
                      <p:cNvPr id="0" name="对象 14"/>
                      <p:cNvPicPr/>
                      <p:nvPr/>
                    </p:nvPicPr>
                    <p:blipFill>
                      <a:blip r:embed="rId26"/>
                      <a:stretch>
                        <a:fillRect/>
                      </a:stretch>
                    </p:blipFill>
                    <p:spPr>
                      <a:xfrm>
                        <a:off x="1335749" y="3796767"/>
                        <a:ext cx="3064432" cy="708650"/>
                      </a:xfrm>
                      <a:prstGeom prst="rect">
                        <a:avLst/>
                      </a:prstGeom>
                    </p:spPr>
                  </p:pic>
                </p:oleObj>
              </mc:Fallback>
            </mc:AlternateContent>
          </a:graphicData>
        </a:graphic>
      </p:graphicFrame>
      <p:sp>
        <p:nvSpPr>
          <p:cNvPr id="75" name="Text Box 41"/>
          <p:cNvSpPr txBox="1">
            <a:spLocks noChangeArrowheads="1"/>
          </p:cNvSpPr>
          <p:nvPr/>
        </p:nvSpPr>
        <p:spPr bwMode="auto">
          <a:xfrm>
            <a:off x="53975" y="3791585"/>
            <a:ext cx="14230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800" dirty="0">
                <a:solidFill>
                  <a:srgbClr val="FF00FF"/>
                </a:solidFill>
              </a:rPr>
              <a:t>Return</a:t>
            </a:r>
            <a:endParaRPr lang="zh-CN" altLang="en-US" sz="2800" dirty="0">
              <a:solidFill>
                <a:srgbClr val="FF00FF"/>
              </a:solidFill>
            </a:endParaRPr>
          </a:p>
        </p:txBody>
      </p:sp>
      <p:graphicFrame>
        <p:nvGraphicFramePr>
          <p:cNvPr id="58" name="对象 57"/>
          <p:cNvGraphicFramePr>
            <a:graphicFrameLocks noChangeAspect="1"/>
          </p:cNvGraphicFramePr>
          <p:nvPr/>
        </p:nvGraphicFramePr>
        <p:xfrm>
          <a:off x="1320845" y="3048976"/>
          <a:ext cx="2992797" cy="728510"/>
        </p:xfrm>
        <a:graphic>
          <a:graphicData uri="http://schemas.openxmlformats.org/presentationml/2006/ole">
            <mc:AlternateContent xmlns:mc="http://schemas.openxmlformats.org/markup-compatibility/2006">
              <mc:Choice xmlns:v="urn:schemas-microsoft-com:vml" Requires="v">
                <p:oleObj spid="_x0000_s243801" name="Equation" r:id="rId27" imgW="46329600" imgH="11277600" progId="Equation.DSMT4">
                  <p:embed/>
                </p:oleObj>
              </mc:Choice>
              <mc:Fallback>
                <p:oleObj name="Equation" r:id="rId27" imgW="46329600" imgH="11277600" progId="Equation.DSMT4">
                  <p:embed/>
                  <p:pic>
                    <p:nvPicPr>
                      <p:cNvPr id="0" name="对象 57"/>
                      <p:cNvPicPr/>
                      <p:nvPr/>
                    </p:nvPicPr>
                    <p:blipFill>
                      <a:blip r:embed="rId28"/>
                      <a:stretch>
                        <a:fillRect/>
                      </a:stretch>
                    </p:blipFill>
                    <p:spPr>
                      <a:xfrm>
                        <a:off x="1320845" y="3048976"/>
                        <a:ext cx="2992797" cy="728510"/>
                      </a:xfrm>
                      <a:prstGeom prst="rect">
                        <a:avLst/>
                      </a:prstGeom>
                    </p:spPr>
                  </p:pic>
                </p:oleObj>
              </mc:Fallback>
            </mc:AlternateContent>
          </a:graphicData>
        </a:graphic>
      </p:graphicFrame>
      <p:sp>
        <p:nvSpPr>
          <p:cNvPr id="77" name="Text Box 40"/>
          <p:cNvSpPr txBox="1">
            <a:spLocks noChangeArrowheads="1"/>
          </p:cNvSpPr>
          <p:nvPr/>
        </p:nvSpPr>
        <p:spPr bwMode="auto">
          <a:xfrm>
            <a:off x="309319" y="3078374"/>
            <a:ext cx="1001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zh-CN" altLang="en-US" sz="2800" dirty="0">
                <a:solidFill>
                  <a:srgbClr val="0000FF"/>
                </a:solidFill>
              </a:rPr>
              <a:t>Rise</a:t>
            </a:r>
            <a:endParaRPr lang="zh-CN" altLang="en-US" sz="2800" dirty="0">
              <a:solidFill>
                <a:srgbClr val="0000FF"/>
              </a:solidFill>
            </a:endParaRPr>
          </a:p>
        </p:txBody>
      </p:sp>
      <p:graphicFrame>
        <p:nvGraphicFramePr>
          <p:cNvPr id="59" name="对象 58"/>
          <p:cNvGraphicFramePr>
            <a:graphicFrameLocks noChangeAspect="1"/>
          </p:cNvGraphicFramePr>
          <p:nvPr/>
        </p:nvGraphicFramePr>
        <p:xfrm>
          <a:off x="8372345" y="2158825"/>
          <a:ext cx="2992437" cy="728663"/>
        </p:xfrm>
        <a:graphic>
          <a:graphicData uri="http://schemas.openxmlformats.org/presentationml/2006/ole">
            <mc:AlternateContent xmlns:mc="http://schemas.openxmlformats.org/markup-compatibility/2006">
              <mc:Choice xmlns:v="urn:schemas-microsoft-com:vml" Requires="v">
                <p:oleObj spid="_x0000_s243802" name="Equation" r:id="rId29" imgW="2993390" imgH="730250" progId="Equation.DSMT4">
                  <p:embed/>
                </p:oleObj>
              </mc:Choice>
              <mc:Fallback>
                <p:oleObj name="Equation" r:id="rId29" imgW="2993390" imgH="730250" progId="Equation.DSMT4">
                  <p:embed/>
                  <p:pic>
                    <p:nvPicPr>
                      <p:cNvPr id="0" name="对象 58"/>
                      <p:cNvPicPr/>
                      <p:nvPr/>
                    </p:nvPicPr>
                    <p:blipFill>
                      <a:blip r:embed="rId30"/>
                      <a:stretch>
                        <a:fillRect/>
                      </a:stretch>
                    </p:blipFill>
                    <p:spPr>
                      <a:xfrm>
                        <a:off x="8372345" y="2158825"/>
                        <a:ext cx="2992437" cy="728663"/>
                      </a:xfrm>
                      <a:prstGeom prst="rect">
                        <a:avLst/>
                      </a:prstGeom>
                    </p:spPr>
                  </p:pic>
                </p:oleObj>
              </mc:Fallback>
            </mc:AlternateContent>
          </a:graphicData>
        </a:graphic>
      </p:graphicFrame>
      <p:graphicFrame>
        <p:nvGraphicFramePr>
          <p:cNvPr id="60" name="对象 59"/>
          <p:cNvGraphicFramePr>
            <a:graphicFrameLocks noChangeAspect="1"/>
          </p:cNvGraphicFramePr>
          <p:nvPr/>
        </p:nvGraphicFramePr>
        <p:xfrm>
          <a:off x="4658139" y="2178325"/>
          <a:ext cx="3065463" cy="708025"/>
        </p:xfrm>
        <a:graphic>
          <a:graphicData uri="http://schemas.openxmlformats.org/presentationml/2006/ole">
            <mc:AlternateContent xmlns:mc="http://schemas.openxmlformats.org/markup-compatibility/2006">
              <mc:Choice xmlns:v="urn:schemas-microsoft-com:vml" Requires="v">
                <p:oleObj spid="_x0000_s243803" name="Equation" r:id="rId31" imgW="3066415" imgH="709930" progId="Equation.DSMT4">
                  <p:embed/>
                </p:oleObj>
              </mc:Choice>
              <mc:Fallback>
                <p:oleObj name="Equation" r:id="rId31" imgW="3066415" imgH="709930" progId="Equation.DSMT4">
                  <p:embed/>
                  <p:pic>
                    <p:nvPicPr>
                      <p:cNvPr id="0" name="对象 59"/>
                      <p:cNvPicPr/>
                      <p:nvPr/>
                    </p:nvPicPr>
                    <p:blipFill>
                      <a:blip r:embed="rId32"/>
                      <a:stretch>
                        <a:fillRect/>
                      </a:stretch>
                    </p:blipFill>
                    <p:spPr>
                      <a:xfrm>
                        <a:off x="4658139" y="2178325"/>
                        <a:ext cx="3065463" cy="708025"/>
                      </a:xfrm>
                      <a:prstGeom prst="rect">
                        <a:avLst/>
                      </a:prstGeom>
                    </p:spPr>
                  </p:pic>
                </p:oleObj>
              </mc:Fallback>
            </mc:AlternateContent>
          </a:graphicData>
        </a:graphic>
      </p:graphicFrame>
      <p:pic>
        <p:nvPicPr>
          <p:cNvPr id="72" name="图片 71"/>
          <p:cNvPicPr>
            <a:picLocks noChangeAspect="1"/>
          </p:cNvPicPr>
          <p:nvPr/>
        </p:nvPicPr>
        <p:blipFill>
          <a:blip r:embed="rId33"/>
          <a:stretch>
            <a:fillRect/>
          </a:stretch>
        </p:blipFill>
        <p:spPr>
          <a:xfrm>
            <a:off x="9294179" y="4695965"/>
            <a:ext cx="1599791" cy="1894725"/>
          </a:xfrm>
          <a:prstGeom prst="rect">
            <a:avLst/>
          </a:prstGeom>
        </p:spPr>
      </p:pic>
      <p:pic>
        <p:nvPicPr>
          <p:cNvPr id="74" name="图片 73"/>
          <p:cNvPicPr>
            <a:picLocks noChangeAspect="1"/>
          </p:cNvPicPr>
          <p:nvPr/>
        </p:nvPicPr>
        <p:blipFill>
          <a:blip r:embed="rId34"/>
          <a:stretch>
            <a:fillRect/>
          </a:stretch>
        </p:blipFill>
        <p:spPr>
          <a:xfrm>
            <a:off x="6130865" y="4908576"/>
            <a:ext cx="1537647" cy="1678860"/>
          </a:xfrm>
          <a:prstGeom prst="rect">
            <a:avLst/>
          </a:prstGeom>
        </p:spPr>
      </p:pic>
      <p:sp>
        <p:nvSpPr>
          <p:cNvPr id="76" name="矩形 75"/>
          <p:cNvSpPr/>
          <p:nvPr/>
        </p:nvSpPr>
        <p:spPr>
          <a:xfrm>
            <a:off x="188595" y="4313555"/>
            <a:ext cx="4530090" cy="3987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1. How to reduce pressure angle?</a:t>
            </a:r>
            <a:endParaRPr kumimoji="0" lang="en-AU" sz="20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endParaRPr>
          </a:p>
        </p:txBody>
      </p:sp>
      <p:sp>
        <p:nvSpPr>
          <p:cNvPr id="78" name="矩形 77"/>
          <p:cNvSpPr/>
          <p:nvPr/>
        </p:nvSpPr>
        <p:spPr>
          <a:xfrm>
            <a:off x="139700" y="4723130"/>
            <a:ext cx="4958080" cy="9220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rPr>
              <a:t>1</a:t>
            </a:r>
            <a:r>
              <a:rPr kumimoji="0" lang="zh-CN" altLang="en-US"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rPr>
              <a:t>、</a:t>
            </a:r>
            <a:r>
              <a:rPr kumimoji="0" lang="en-US"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rPr>
              <a:t>increase base radius </a:t>
            </a:r>
            <a:r>
              <a:rPr kumimoji="0" lang="en-US"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r</a:t>
            </a:r>
            <a:r>
              <a:rPr kumimoji="0" lang="en-US" altLang="zh-CN" b="1" i="0" u="none" strike="noStrike" kern="1200" cap="none" spc="0" normalizeH="0" baseline="-2500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0</a:t>
            </a:r>
            <a:r>
              <a:rPr kumimoji="0" lang="zh-CN"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 </a:t>
            </a:r>
            <a:r>
              <a:rPr kumimoji="0" lang="zh-CN" altLang="en-US"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 </a:t>
            </a:r>
            <a:r>
              <a:rPr kumimoji="0" lang="zh-CN"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 </a:t>
            </a:r>
            <a:r>
              <a:rPr kumimoji="0" lang="en-US"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Force transmission performance</a:t>
            </a:r>
            <a:r>
              <a:rPr kumimoji="0" lang="zh-CN" altLang="en-US"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 </a:t>
            </a:r>
            <a:r>
              <a:rPr kumimoji="0" lang="zh-CN"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 </a:t>
            </a:r>
            <a:r>
              <a:rPr kumimoji="0" lang="en-US"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Increased size (non-compact structure)</a:t>
            </a:r>
            <a:r>
              <a:rPr kumimoji="0" lang="zh-CN" altLang="zh-CN" b="1" i="0" u="none" strike="noStrike" kern="1200" cap="none" spc="0" normalizeH="0" baseline="-25000" noProof="0" dirty="0">
                <a:ln>
                  <a:noFill/>
                </a:ln>
                <a:solidFill>
                  <a:srgbClr val="201E84"/>
                </a:solidFill>
                <a:effectLst/>
                <a:uLnTx/>
                <a:uFillTx/>
                <a:latin typeface="微软雅黑" panose="020B0503020204020204" pitchFamily="34" charset="-122"/>
                <a:ea typeface="微软雅黑" panose="020B0503020204020204" pitchFamily="34" charset="-122"/>
                <a:sym typeface="Symbol" panose="05050102010706020507" pitchFamily="18" charset="2"/>
              </a:rPr>
              <a:t> </a:t>
            </a:r>
            <a:endParaRPr kumimoji="0" lang="en-AU"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endParaRPr>
          </a:p>
        </p:txBody>
      </p:sp>
      <p:sp>
        <p:nvSpPr>
          <p:cNvPr id="79" name="矩形 78"/>
          <p:cNvSpPr/>
          <p:nvPr/>
        </p:nvSpPr>
        <p:spPr>
          <a:xfrm>
            <a:off x="176602" y="5645376"/>
            <a:ext cx="5521175"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rPr>
              <a:t>2. Proper offset e reduces rise α, increases return α.</a:t>
            </a:r>
            <a:endParaRPr kumimoji="0" lang="en-AU" b="1" i="0" u="none" strike="noStrike" kern="1200" cap="none" spc="0" normalizeH="0" baseline="0" noProof="0" dirty="0">
              <a:ln>
                <a:noFill/>
              </a:ln>
              <a:solidFill>
                <a:srgbClr val="201E84"/>
              </a:solidFill>
              <a:effectLst/>
              <a:uLnTx/>
              <a:uFillTx/>
              <a:latin typeface="微软雅黑" panose="020B0503020204020204" pitchFamily="34" charset="-122"/>
              <a:ea typeface="微软雅黑" panose="020B0503020204020204" pitchFamily="34" charset="-122"/>
            </a:endParaRPr>
          </a:p>
        </p:txBody>
      </p:sp>
      <p:sp>
        <p:nvSpPr>
          <p:cNvPr id="80" name="矩形 79"/>
          <p:cNvSpPr/>
          <p:nvPr/>
        </p:nvSpPr>
        <p:spPr>
          <a:xfrm>
            <a:off x="146799" y="6248857"/>
            <a:ext cx="4315605"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2. Why can return α be larger?</a:t>
            </a:r>
            <a:endParaRPr kumimoji="0" lang="en-AU" sz="20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endParaRPr>
          </a:p>
        </p:txBody>
      </p:sp>
      <p:sp>
        <p:nvSpPr>
          <p:cNvPr id="4" name="TextBox 8"/>
          <p:cNvSpPr txBox="1"/>
          <p:nvPr/>
        </p:nvSpPr>
        <p:spPr>
          <a:xfrm>
            <a:off x="1007745" y="319405"/>
            <a:ext cx="96208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3-5 Pressure Angle, Base Circle Radius, and Offset Selection</a:t>
            </a:r>
            <a:endPar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Text Box 82"/>
              <p:cNvSpPr txBox="1">
                <a:spLocks noChangeArrowheads="1"/>
              </p:cNvSpPr>
              <p:nvPr/>
            </p:nvSpPr>
            <p:spPr bwMode="auto">
              <a:xfrm>
                <a:off x="166717" y="1099446"/>
                <a:ext cx="1179933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Given </a:t>
                </a:r>
                <a14:m>
                  <m:oMath xmlns:m="http://schemas.openxmlformats.org/officeDocument/2006/math">
                    <m:r>
                      <a:rPr lang="en-US" altLang="zh-CN" sz="2000"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𝑠</m:t>
                    </m:r>
                    <m:r>
                      <a:rPr lang="zh-CN" altLang="en-US" sz="2000" i="1">
                        <a:solidFill>
                          <a:srgbClr val="FF0000"/>
                        </a:solidFill>
                        <a:latin typeface="Cambria Math" panose="02040503050406030204" pitchFamily="18" charset="0"/>
                        <a:ea typeface="MS Mincho" charset="0"/>
                        <a:cs typeface="Cambria Math" panose="02040503050406030204" pitchFamily="18" charset="0"/>
                      </a:rPr>
                      <m:t>（</m:t>
                    </m:r>
                    <m:r>
                      <a:rPr lang="en-US" sz="2000" i="1">
                        <a:solidFill>
                          <a:srgbClr val="FF0000"/>
                        </a:solidFill>
                        <a:latin typeface="Cambria Math" panose="02040503050406030204" pitchFamily="18" charset="0"/>
                        <a:ea typeface="MS Mincho" charset="0"/>
                        <a:cs typeface="Cambria Math" panose="02040503050406030204" pitchFamily="18" charset="0"/>
                      </a:rPr>
                      <m:t>𝜑</m:t>
                    </m:r>
                    <m:r>
                      <a:rPr lang="zh-CN" altLang="en-US" sz="2000" i="1">
                        <a:solidFill>
                          <a:srgbClr val="FF0000"/>
                        </a:solidFill>
                        <a:latin typeface="Cambria Math" panose="02040503050406030204" pitchFamily="18" charset="0"/>
                        <a:ea typeface="MS Mincho" charset="0"/>
                        <a:cs typeface="Cambria Math" panose="02040503050406030204" pitchFamily="18" charset="0"/>
                      </a:rPr>
                      <m:t>）</m:t>
                    </m:r>
                  </m:oMath>
                </a14:m>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sSub>
                      <m:sSubPr>
                        <m:ctrlP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𝑜</m:t>
                        </m:r>
                      </m:sub>
                    </m:sSub>
                    <m:r>
                      <a:rPr lang="en-US" sz="2000" b="0" i="1">
                        <a:solidFill>
                          <a:srgbClr val="FF0000"/>
                        </a:solidFill>
                        <a:latin typeface="Cambria Math" panose="02040503050406030204" pitchFamily="18" charset="0"/>
                        <a:ea typeface="MS Mincho" charset="0"/>
                        <a:cs typeface="Cambria Math" panose="02040503050406030204" pitchFamily="18" charset="0"/>
                      </a:rPr>
                      <m:t> </m:t>
                    </m:r>
                    <m:r>
                      <a:rPr lang="zh-CN" altLang="en-US" sz="2000" b="0" i="1">
                        <a:solidFill>
                          <a:srgbClr val="FF0000"/>
                        </a:solidFill>
                        <a:latin typeface="Cambria Math" panose="02040503050406030204" pitchFamily="18" charset="0"/>
                        <a:ea typeface="MS Mincho" charset="0"/>
                        <a:cs typeface="Cambria Math" panose="02040503050406030204" pitchFamily="18" charset="0"/>
                      </a:rPr>
                      <m:t>、</m:t>
                    </m:r>
                    <m: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t>𝑒</m:t>
                    </m:r>
                  </m:oMath>
                </a14:m>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how to find the maximum pressure angle </a:t>
                </a:r>
                <a14:m>
                  <m:oMath xmlns:m="http://schemas.openxmlformats.org/officeDocument/2006/math">
                    <m:sSub>
                      <m:sSubPr>
                        <m:ctrlPr>
                          <a:rPr lang="en-US" sz="2000" b="0" i="1" smtClean="0">
                            <a:solidFill>
                              <a:srgbClr val="FF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sz="2000" b="0" i="1">
                            <a:solidFill>
                              <a:srgbClr val="FF0000"/>
                            </a:solidFill>
                            <a:latin typeface="Cambria Math" panose="02040503050406030204" pitchFamily="18" charset="0"/>
                            <a:ea typeface="MS Mincho" charset="0"/>
                            <a:cs typeface="Cambria Math" panose="02040503050406030204" pitchFamily="18" charset="0"/>
                          </a:rPr>
                          <m:t>𝛼</m:t>
                        </m:r>
                      </m:e>
                      <m:sub>
                        <m:r>
                          <m:rPr>
                            <m:sty m:val="p"/>
                          </m:rPr>
                          <a:rPr lang="en-US" altLang="zh-CN" sz="2000" b="0" i="1">
                            <a:solidFill>
                              <a:srgbClr val="FF0000"/>
                            </a:solidFill>
                            <a:latin typeface="Cambria Math" panose="02040503050406030204" pitchFamily="18" charset="0"/>
                            <a:ea typeface="微软雅黑" panose="020B0503020204020204" pitchFamily="34" charset="-122"/>
                            <a:cs typeface="Cambria Math" panose="02040503050406030204" pitchFamily="18" charset="0"/>
                          </a:rPr>
                          <m:t>max</m:t>
                        </m:r>
                      </m:sub>
                    </m:sSub>
                    <m:r>
                      <a:rPr lang="en-US" sz="2000" b="0" i="1" smtClean="0">
                        <a:solidFill>
                          <a:srgbClr val="FF0000"/>
                        </a:solidFill>
                        <a:latin typeface="Cambria Math" panose="02040503050406030204" pitchFamily="18" charset="0"/>
                        <a:ea typeface="MS Mincho" charset="0"/>
                        <a:cs typeface="Cambria Math" panose="02040503050406030204" pitchFamily="18" charset="0"/>
                      </a:rPr>
                      <m:t> </m:t>
                    </m:r>
                  </m:oMath>
                </a14:m>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graphical method</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AU"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2" name="Text Box 82"/>
              <p:cNvSpPr txBox="1">
                <a:spLocks noRot="1" noChangeAspect="1" noMove="1" noResize="1" noEditPoints="1" noAdjustHandles="1" noChangeArrowheads="1" noChangeShapeType="1" noTextEdit="1"/>
              </p:cNvSpPr>
              <p:nvPr/>
            </p:nvSpPr>
            <p:spPr bwMode="auto">
              <a:xfrm>
                <a:off x="166717" y="1099446"/>
                <a:ext cx="11799331" cy="398780"/>
              </a:xfrm>
              <a:prstGeom prst="rect">
                <a:avLst/>
              </a:prstGeom>
              <a:blipFill rotWithShape="1">
                <a:blip r:embed="rId35"/>
                <a:stretch>
                  <a:fillRect l="-3" t="-65" r="1" b="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zh-CN" altLang="en-US">
                    <a:noFill/>
                  </a:rPr>
                  <a:t> </a:t>
                </a:r>
              </a:p>
            </p:txBody>
          </p:sp>
        </mc:Fallback>
      </mc:AlternateContent>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image-1 (2)"/>
          <p:cNvPicPr>
            <a:picLocks noChangeAspect="1"/>
          </p:cNvPicPr>
          <p:nvPr/>
        </p:nvPicPr>
        <p:blipFill>
          <a:blip r:embed="rId1"/>
          <a:srcRect b="70787"/>
          <a:stretch>
            <a:fillRect/>
          </a:stretch>
        </p:blipFill>
        <p:spPr>
          <a:xfrm>
            <a:off x="5713730" y="992505"/>
            <a:ext cx="5892800" cy="1721485"/>
          </a:xfrm>
          <a:prstGeom prst="rect">
            <a:avLst/>
          </a:prstGeom>
        </p:spPr>
      </p:pic>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dirty="0"/>
          </a:p>
        </p:txBody>
      </p:sp>
      <p:sp>
        <p:nvSpPr>
          <p:cNvPr id="56" name="Text Box 51"/>
          <p:cNvSpPr txBox="1">
            <a:spLocks noChangeArrowheads="1"/>
          </p:cNvSpPr>
          <p:nvPr/>
        </p:nvSpPr>
        <p:spPr bwMode="auto">
          <a:xfrm>
            <a:off x="3171639" y="1073759"/>
            <a:ext cx="1746247"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dirty="0">
                <a:solidFill>
                  <a:srgbClr val="0000FF"/>
                </a:solidFill>
              </a:rPr>
              <a:t>Allowable pressure angle (rise):</a:t>
            </a:r>
            <a:endParaRPr lang="zh-CN" altLang="en-US" sz="2000" dirty="0">
              <a:solidFill>
                <a:srgbClr val="0000FF"/>
              </a:solidFill>
            </a:endParaRPr>
          </a:p>
        </p:txBody>
      </p:sp>
      <p:graphicFrame>
        <p:nvGraphicFramePr>
          <p:cNvPr id="57" name="Object 52"/>
          <p:cNvGraphicFramePr>
            <a:graphicFrameLocks noChangeAspect="1"/>
          </p:cNvGraphicFramePr>
          <p:nvPr/>
        </p:nvGraphicFramePr>
        <p:xfrm>
          <a:off x="4976495" y="1740535"/>
          <a:ext cx="350520" cy="309245"/>
        </p:xfrm>
        <a:graphic>
          <a:graphicData uri="http://schemas.openxmlformats.org/presentationml/2006/ole">
            <mc:AlternateContent xmlns:mc="http://schemas.openxmlformats.org/markup-compatibility/2006">
              <mc:Choice xmlns:v="urn:schemas-microsoft-com:vml" Requires="v">
                <p:oleObj spid="_x0000_s242722" name="Equation" r:id="rId2" imgW="133350" imgH="115570" progId="Equation.3">
                  <p:embed/>
                </p:oleObj>
              </mc:Choice>
              <mc:Fallback>
                <p:oleObj name="Equation" r:id="rId2" imgW="133350" imgH="115570" progId="Equation.3">
                  <p:embed/>
                  <p:pic>
                    <p:nvPicPr>
                      <p:cNvPr id="0" name="Object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6495" y="1740535"/>
                        <a:ext cx="350520" cy="309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 name="Text Box 53"/>
          <p:cNvSpPr txBox="1">
            <a:spLocks noChangeArrowheads="1"/>
          </p:cNvSpPr>
          <p:nvPr/>
        </p:nvSpPr>
        <p:spPr bwMode="auto">
          <a:xfrm>
            <a:off x="183515" y="1068070"/>
            <a:ext cx="205994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1800" dirty="0">
                <a:solidFill>
                  <a:srgbClr val="FF00FF"/>
                </a:solidFill>
              </a:rPr>
              <a:t>Allowable pressure angle (return):</a:t>
            </a:r>
            <a:endParaRPr lang="zh-CN" altLang="en-US" sz="1800" dirty="0">
              <a:solidFill>
                <a:srgbClr val="FF00FF"/>
              </a:solidFill>
            </a:endParaRPr>
          </a:p>
        </p:txBody>
      </p:sp>
      <p:graphicFrame>
        <p:nvGraphicFramePr>
          <p:cNvPr id="59" name="Object 54"/>
          <p:cNvGraphicFramePr>
            <a:graphicFrameLocks noChangeAspect="1"/>
          </p:cNvGraphicFramePr>
          <p:nvPr/>
        </p:nvGraphicFramePr>
        <p:xfrm>
          <a:off x="1396365" y="1640205"/>
          <a:ext cx="363220" cy="320675"/>
        </p:xfrm>
        <a:graphic>
          <a:graphicData uri="http://schemas.openxmlformats.org/presentationml/2006/ole">
            <mc:AlternateContent xmlns:mc="http://schemas.openxmlformats.org/markup-compatibility/2006">
              <mc:Choice xmlns:v="urn:schemas-microsoft-com:vml" Requires="v">
                <p:oleObj spid="_x0000_s242723" name="Equation" r:id="rId4" imgW="133350" imgH="115570" progId="Equation.3">
                  <p:embed/>
                </p:oleObj>
              </mc:Choice>
              <mc:Fallback>
                <p:oleObj name="Equation" r:id="rId4" imgW="133350" imgH="115570" progId="Equation.3">
                  <p:embed/>
                  <p:pic>
                    <p:nvPicPr>
                      <p:cNvPr id="0" name="Object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6365" y="1640205"/>
                        <a:ext cx="363220" cy="320675"/>
                      </a:xfrm>
                      <a:prstGeom prst="rect">
                        <a:avLst/>
                      </a:prstGeom>
                      <a:noFill/>
                      <a:ln>
                        <a:noFill/>
                      </a:ln>
                      <a:effectLst/>
                    </p:spPr>
                  </p:pic>
                </p:oleObj>
              </mc:Fallback>
            </mc:AlternateContent>
          </a:graphicData>
        </a:graphic>
      </p:graphicFrame>
      <p:grpSp>
        <p:nvGrpSpPr>
          <p:cNvPr id="60" name="Group 68"/>
          <p:cNvGrpSpPr/>
          <p:nvPr/>
        </p:nvGrpSpPr>
        <p:grpSpPr bwMode="auto">
          <a:xfrm>
            <a:off x="183527" y="1265482"/>
            <a:ext cx="5099050" cy="5057775"/>
            <a:chOff x="1056" y="1056"/>
            <a:chExt cx="3212" cy="3186"/>
          </a:xfrm>
        </p:grpSpPr>
        <p:sp>
          <p:nvSpPr>
            <p:cNvPr id="61" name="AutoShape 57"/>
            <p:cNvSpPr>
              <a:spLocks noChangeArrowheads="1"/>
            </p:cNvSpPr>
            <p:nvPr/>
          </p:nvSpPr>
          <p:spPr bwMode="auto">
            <a:xfrm rot="20748713">
              <a:off x="2393" y="3262"/>
              <a:ext cx="1447" cy="672"/>
            </a:xfrm>
            <a:prstGeom prst="triangle">
              <a:avLst>
                <a:gd name="adj" fmla="val 50000"/>
              </a:avLst>
            </a:prstGeom>
            <a:solidFill>
              <a:schemeClr val="bg2">
                <a:alpha val="50195"/>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62" name="Line 17"/>
            <p:cNvSpPr>
              <a:spLocks noChangeShapeType="1"/>
            </p:cNvSpPr>
            <p:nvPr/>
          </p:nvSpPr>
          <p:spPr bwMode="auto">
            <a:xfrm rot="-3726725">
              <a:off x="2541" y="1607"/>
              <a:ext cx="1" cy="2831"/>
            </a:xfrm>
            <a:prstGeom prst="line">
              <a:avLst/>
            </a:prstGeom>
            <a:noFill/>
            <a:ln w="1270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63" name="Group 19"/>
            <p:cNvGrpSpPr/>
            <p:nvPr/>
          </p:nvGrpSpPr>
          <p:grpSpPr bwMode="auto">
            <a:xfrm>
              <a:off x="1056" y="1056"/>
              <a:ext cx="3081" cy="2836"/>
              <a:chOff x="864" y="92"/>
              <a:chExt cx="3081" cy="2836"/>
            </a:xfrm>
          </p:grpSpPr>
          <p:sp>
            <p:nvSpPr>
              <p:cNvPr id="83" name="Line 20"/>
              <p:cNvSpPr>
                <a:spLocks noChangeShapeType="1"/>
              </p:cNvSpPr>
              <p:nvPr/>
            </p:nvSpPr>
            <p:spPr bwMode="auto">
              <a:xfrm>
                <a:off x="864" y="1776"/>
                <a:ext cx="3081" cy="0"/>
              </a:xfrm>
              <a:prstGeom prst="line">
                <a:avLst/>
              </a:prstGeom>
              <a:noFill/>
              <a:ln w="19050" cap="sq">
                <a:solidFill>
                  <a:schemeClr val="tx1"/>
                </a:solidFill>
                <a:round/>
                <a:headEnd type="none" w="sm" len="sm"/>
                <a:tailEnd type="stealth" w="sm" len="lg"/>
              </a:ln>
              <a:extLst>
                <a:ext uri="{909E8E84-426E-40DD-AFC4-6F175D3DCCD1}">
                  <a14:hiddenFill xmlns:a14="http://schemas.microsoft.com/office/drawing/2010/main">
                    <a:noFill/>
                  </a14:hiddenFill>
                </a:ext>
              </a:extLst>
            </p:spPr>
            <p:txBody>
              <a:bodyPr wrap="none"/>
              <a:lstStyle/>
              <a:p>
                <a:endParaRPr lang="en-US"/>
              </a:p>
            </p:txBody>
          </p:sp>
          <p:sp>
            <p:nvSpPr>
              <p:cNvPr id="84" name="Line 21"/>
              <p:cNvSpPr>
                <a:spLocks noChangeShapeType="1"/>
              </p:cNvSpPr>
              <p:nvPr/>
            </p:nvSpPr>
            <p:spPr bwMode="auto">
              <a:xfrm>
                <a:off x="2592" y="92"/>
                <a:ext cx="0" cy="2836"/>
              </a:xfrm>
              <a:prstGeom prst="line">
                <a:avLst/>
              </a:prstGeom>
              <a:noFill/>
              <a:ln w="19050">
                <a:solidFill>
                  <a:schemeClr val="tx2"/>
                </a:solidFill>
                <a:round/>
                <a:headEnd type="stealth" w="sm" len="lg"/>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85" name="Group 22"/>
              <p:cNvGrpSpPr/>
              <p:nvPr/>
            </p:nvGrpSpPr>
            <p:grpSpPr bwMode="auto">
              <a:xfrm>
                <a:off x="1200" y="784"/>
                <a:ext cx="2256" cy="985"/>
                <a:chOff x="1200" y="784"/>
                <a:chExt cx="2256" cy="985"/>
              </a:xfrm>
            </p:grpSpPr>
            <p:sp>
              <p:nvSpPr>
                <p:cNvPr id="86" name="Arc 23"/>
                <p:cNvSpPr/>
                <p:nvPr/>
              </p:nvSpPr>
              <p:spPr bwMode="auto">
                <a:xfrm flipH="1">
                  <a:off x="1200" y="809"/>
                  <a:ext cx="1381" cy="960"/>
                </a:xfrm>
                <a:custGeom>
                  <a:avLst/>
                  <a:gdLst>
                    <a:gd name="T0" fmla="*/ 0 w 23389"/>
                    <a:gd name="T1" fmla="*/ 0 h 43200"/>
                    <a:gd name="T2" fmla="*/ 0 w 23389"/>
                    <a:gd name="T3" fmla="*/ 0 h 43200"/>
                    <a:gd name="T4" fmla="*/ 0 w 23389"/>
                    <a:gd name="T5" fmla="*/ 0 h 43200"/>
                    <a:gd name="T6" fmla="*/ 0 60000 65536"/>
                    <a:gd name="T7" fmla="*/ 0 60000 65536"/>
                    <a:gd name="T8" fmla="*/ 0 60000 65536"/>
                    <a:gd name="T9" fmla="*/ 0 w 23389"/>
                    <a:gd name="T10" fmla="*/ 0 h 43200"/>
                    <a:gd name="T11" fmla="*/ 23389 w 23389"/>
                    <a:gd name="T12" fmla="*/ 43200 h 43200"/>
                  </a:gdLst>
                  <a:ahLst/>
                  <a:cxnLst>
                    <a:cxn ang="T6">
                      <a:pos x="T0" y="T1"/>
                    </a:cxn>
                    <a:cxn ang="T7">
                      <a:pos x="T2" y="T3"/>
                    </a:cxn>
                    <a:cxn ang="T8">
                      <a:pos x="T4" y="T5"/>
                    </a:cxn>
                  </a:cxnLst>
                  <a:rect l="T9" t="T10" r="T11" b="T12"/>
                  <a:pathLst>
                    <a:path w="23389" h="43200" fill="none" extrusionOk="0">
                      <a:moveTo>
                        <a:pt x="0" y="74"/>
                      </a:moveTo>
                      <a:cubicBezTo>
                        <a:pt x="595" y="24"/>
                        <a:pt x="1191" y="-1"/>
                        <a:pt x="1789" y="0"/>
                      </a:cubicBezTo>
                      <a:cubicBezTo>
                        <a:pt x="13718" y="0"/>
                        <a:pt x="23389" y="9670"/>
                        <a:pt x="23389" y="21600"/>
                      </a:cubicBezTo>
                      <a:cubicBezTo>
                        <a:pt x="23389" y="33529"/>
                        <a:pt x="13718" y="43200"/>
                        <a:pt x="1789" y="43200"/>
                      </a:cubicBezTo>
                      <a:cubicBezTo>
                        <a:pt x="1197" y="43200"/>
                        <a:pt x="606" y="43175"/>
                        <a:pt x="16" y="43127"/>
                      </a:cubicBezTo>
                    </a:path>
                    <a:path w="23389" h="43200" stroke="0" extrusionOk="0">
                      <a:moveTo>
                        <a:pt x="0" y="74"/>
                      </a:moveTo>
                      <a:cubicBezTo>
                        <a:pt x="595" y="24"/>
                        <a:pt x="1191" y="-1"/>
                        <a:pt x="1789" y="0"/>
                      </a:cubicBezTo>
                      <a:cubicBezTo>
                        <a:pt x="13718" y="0"/>
                        <a:pt x="23389" y="9670"/>
                        <a:pt x="23389" y="21600"/>
                      </a:cubicBezTo>
                      <a:cubicBezTo>
                        <a:pt x="23389" y="33529"/>
                        <a:pt x="13718" y="43200"/>
                        <a:pt x="1789" y="43200"/>
                      </a:cubicBezTo>
                      <a:cubicBezTo>
                        <a:pt x="1197" y="43200"/>
                        <a:pt x="606" y="43175"/>
                        <a:pt x="16" y="43127"/>
                      </a:cubicBezTo>
                      <a:lnTo>
                        <a:pt x="1789" y="21600"/>
                      </a:lnTo>
                      <a:close/>
                    </a:path>
                  </a:pathLst>
                </a:custGeom>
                <a:noFill/>
                <a:ln w="190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87" name="Arc 24"/>
                <p:cNvSpPr/>
                <p:nvPr/>
              </p:nvSpPr>
              <p:spPr bwMode="auto">
                <a:xfrm rot="10630807" flipH="1">
                  <a:off x="2544" y="784"/>
                  <a:ext cx="912" cy="968"/>
                </a:xfrm>
                <a:custGeom>
                  <a:avLst/>
                  <a:gdLst>
                    <a:gd name="T0" fmla="*/ 0 w 24633"/>
                    <a:gd name="T1" fmla="*/ 0 h 43200"/>
                    <a:gd name="T2" fmla="*/ 0 w 24633"/>
                    <a:gd name="T3" fmla="*/ 0 h 43200"/>
                    <a:gd name="T4" fmla="*/ 0 w 24633"/>
                    <a:gd name="T5" fmla="*/ 0 h 43200"/>
                    <a:gd name="T6" fmla="*/ 0 60000 65536"/>
                    <a:gd name="T7" fmla="*/ 0 60000 65536"/>
                    <a:gd name="T8" fmla="*/ 0 60000 65536"/>
                    <a:gd name="T9" fmla="*/ 0 w 24633"/>
                    <a:gd name="T10" fmla="*/ 0 h 43200"/>
                    <a:gd name="T11" fmla="*/ 24633 w 24633"/>
                    <a:gd name="T12" fmla="*/ 43200 h 43200"/>
                  </a:gdLst>
                  <a:ahLst/>
                  <a:cxnLst>
                    <a:cxn ang="T6">
                      <a:pos x="T0" y="T1"/>
                    </a:cxn>
                    <a:cxn ang="T7">
                      <a:pos x="T2" y="T3"/>
                    </a:cxn>
                    <a:cxn ang="T8">
                      <a:pos x="T4" y="T5"/>
                    </a:cxn>
                  </a:cxnLst>
                  <a:rect l="T9" t="T10" r="T11" b="T12"/>
                  <a:pathLst>
                    <a:path w="24633" h="43200" fill="none" extrusionOk="0">
                      <a:moveTo>
                        <a:pt x="0" y="214"/>
                      </a:moveTo>
                      <a:cubicBezTo>
                        <a:pt x="1004" y="71"/>
                        <a:pt x="2018" y="-1"/>
                        <a:pt x="3033" y="0"/>
                      </a:cubicBezTo>
                      <a:cubicBezTo>
                        <a:pt x="14962" y="0"/>
                        <a:pt x="24633" y="9670"/>
                        <a:pt x="24633" y="21600"/>
                      </a:cubicBezTo>
                      <a:cubicBezTo>
                        <a:pt x="24633" y="33529"/>
                        <a:pt x="14962" y="43200"/>
                        <a:pt x="3033" y="43200"/>
                      </a:cubicBezTo>
                      <a:cubicBezTo>
                        <a:pt x="2441" y="43200"/>
                        <a:pt x="1850" y="43175"/>
                        <a:pt x="1260" y="43127"/>
                      </a:cubicBezTo>
                    </a:path>
                    <a:path w="24633" h="43200" stroke="0" extrusionOk="0">
                      <a:moveTo>
                        <a:pt x="0" y="214"/>
                      </a:moveTo>
                      <a:cubicBezTo>
                        <a:pt x="1004" y="71"/>
                        <a:pt x="2018" y="-1"/>
                        <a:pt x="3033" y="0"/>
                      </a:cubicBezTo>
                      <a:cubicBezTo>
                        <a:pt x="14962" y="0"/>
                        <a:pt x="24633" y="9670"/>
                        <a:pt x="24633" y="21600"/>
                      </a:cubicBezTo>
                      <a:cubicBezTo>
                        <a:pt x="24633" y="33529"/>
                        <a:pt x="14962" y="43200"/>
                        <a:pt x="3033" y="43200"/>
                      </a:cubicBezTo>
                      <a:cubicBezTo>
                        <a:pt x="2441" y="43200"/>
                        <a:pt x="1850" y="43175"/>
                        <a:pt x="1260" y="43127"/>
                      </a:cubicBezTo>
                      <a:lnTo>
                        <a:pt x="3033" y="21600"/>
                      </a:lnTo>
                      <a:close/>
                    </a:path>
                  </a:pathLst>
                </a:custGeom>
                <a:noFill/>
                <a:ln w="190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pSp>
        </p:grpSp>
        <p:graphicFrame>
          <p:nvGraphicFramePr>
            <p:cNvPr id="64" name="Object 25"/>
            <p:cNvGraphicFramePr>
              <a:graphicFrameLocks noChangeAspect="1"/>
            </p:cNvGraphicFramePr>
            <p:nvPr/>
          </p:nvGraphicFramePr>
          <p:xfrm>
            <a:off x="3704" y="2452"/>
            <a:ext cx="564" cy="273"/>
          </p:xfrm>
          <a:graphic>
            <a:graphicData uri="http://schemas.openxmlformats.org/presentationml/2006/ole">
              <mc:AlternateContent xmlns:mc="http://schemas.openxmlformats.org/markup-compatibility/2006">
                <mc:Choice xmlns:v="urn:schemas-microsoft-com:vml" Requires="v">
                  <p:oleObj spid="_x0000_s242724" name="Equation" r:id="rId6" imgW="419100" imgH="203200" progId="Equation.3">
                    <p:embed/>
                  </p:oleObj>
                </mc:Choice>
                <mc:Fallback>
                  <p:oleObj name="Equation" r:id="rId6" imgW="419100" imgH="203200" progId="Equation.3">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4" y="2452"/>
                          <a:ext cx="564"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 name="Object 26"/>
            <p:cNvGraphicFramePr>
              <a:graphicFrameLocks noChangeAspect="1"/>
            </p:cNvGraphicFramePr>
            <p:nvPr/>
          </p:nvGraphicFramePr>
          <p:xfrm>
            <a:off x="2496" y="1056"/>
            <a:ext cx="193" cy="236"/>
          </p:xfrm>
          <a:graphic>
            <a:graphicData uri="http://schemas.openxmlformats.org/presentationml/2006/ole">
              <mc:AlternateContent xmlns:mc="http://schemas.openxmlformats.org/markup-compatibility/2006">
                <mc:Choice xmlns:v="urn:schemas-microsoft-com:vml" Requires="v">
                  <p:oleObj spid="_x0000_s242725" name="Equation" r:id="rId8" imgW="114300" imgH="139700" progId="Equation.3">
                    <p:embed/>
                  </p:oleObj>
                </mc:Choice>
                <mc:Fallback>
                  <p:oleObj name="Equation" r:id="rId8" imgW="114300" imgH="139700" progId="Equation.3">
                    <p:embed/>
                    <p:pic>
                      <p:nvPicPr>
                        <p:cNvPr id="0"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6" y="1056"/>
                          <a:ext cx="19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 name="Line 28"/>
            <p:cNvSpPr>
              <a:spLocks noChangeShapeType="1"/>
            </p:cNvSpPr>
            <p:nvPr/>
          </p:nvSpPr>
          <p:spPr bwMode="auto">
            <a:xfrm rot="1978484">
              <a:off x="3178" y="1842"/>
              <a:ext cx="1" cy="2400"/>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7" name="Arc 38"/>
            <p:cNvSpPr/>
            <p:nvPr/>
          </p:nvSpPr>
          <p:spPr bwMode="auto">
            <a:xfrm rot="10469785" flipH="1" flipV="1">
              <a:off x="2808" y="2958"/>
              <a:ext cx="344" cy="303"/>
            </a:xfrm>
            <a:custGeom>
              <a:avLst/>
              <a:gdLst>
                <a:gd name="T0" fmla="*/ 0 w 19075"/>
                <a:gd name="T1" fmla="*/ 0 h 21600"/>
                <a:gd name="T2" fmla="*/ 0 w 19075"/>
                <a:gd name="T3" fmla="*/ 0 h 21600"/>
                <a:gd name="T4" fmla="*/ 0 w 19075"/>
                <a:gd name="T5" fmla="*/ 0 h 21600"/>
                <a:gd name="T6" fmla="*/ 0 60000 65536"/>
                <a:gd name="T7" fmla="*/ 0 60000 65536"/>
                <a:gd name="T8" fmla="*/ 0 60000 65536"/>
                <a:gd name="T9" fmla="*/ 0 w 19075"/>
                <a:gd name="T10" fmla="*/ 0 h 21600"/>
                <a:gd name="T11" fmla="*/ 19075 w 19075"/>
                <a:gd name="T12" fmla="*/ 21600 h 21600"/>
              </a:gdLst>
              <a:ahLst/>
              <a:cxnLst>
                <a:cxn ang="T6">
                  <a:pos x="T0" y="T1"/>
                </a:cxn>
                <a:cxn ang="T7">
                  <a:pos x="T2" y="T3"/>
                </a:cxn>
                <a:cxn ang="T8">
                  <a:pos x="T4" y="T5"/>
                </a:cxn>
              </a:cxnLst>
              <a:rect l="T9" t="T10" r="T11" b="T12"/>
              <a:pathLst>
                <a:path w="19075" h="21600" fill="none" extrusionOk="0">
                  <a:moveTo>
                    <a:pt x="-1" y="0"/>
                  </a:moveTo>
                  <a:cubicBezTo>
                    <a:pt x="7989" y="0"/>
                    <a:pt x="15326" y="4410"/>
                    <a:pt x="19075" y="11465"/>
                  </a:cubicBezTo>
                </a:path>
                <a:path w="19075" h="21600" stroke="0" extrusionOk="0">
                  <a:moveTo>
                    <a:pt x="-1" y="0"/>
                  </a:moveTo>
                  <a:cubicBezTo>
                    <a:pt x="7989" y="0"/>
                    <a:pt x="15326" y="4410"/>
                    <a:pt x="19075" y="11465"/>
                  </a:cubicBezTo>
                  <a:lnTo>
                    <a:pt x="0" y="21600"/>
                  </a:lnTo>
                  <a:close/>
                </a:path>
              </a:pathLst>
            </a:custGeom>
            <a:noFill/>
            <a:ln w="15875" cap="sq">
              <a:solidFill>
                <a:srgbClr val="00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68" name="Arc 46"/>
            <p:cNvSpPr/>
            <p:nvPr/>
          </p:nvSpPr>
          <p:spPr bwMode="auto">
            <a:xfrm rot="7365353" flipH="1" flipV="1">
              <a:off x="2592" y="2841"/>
              <a:ext cx="240" cy="286"/>
            </a:xfrm>
            <a:custGeom>
              <a:avLst/>
              <a:gdLst>
                <a:gd name="T0" fmla="*/ 0 w 19141"/>
                <a:gd name="T1" fmla="*/ 0 h 21600"/>
                <a:gd name="T2" fmla="*/ 0 w 19141"/>
                <a:gd name="T3" fmla="*/ 0 h 21600"/>
                <a:gd name="T4" fmla="*/ 0 w 19141"/>
                <a:gd name="T5" fmla="*/ 0 h 21600"/>
                <a:gd name="T6" fmla="*/ 0 60000 65536"/>
                <a:gd name="T7" fmla="*/ 0 60000 65536"/>
                <a:gd name="T8" fmla="*/ 0 60000 65536"/>
                <a:gd name="T9" fmla="*/ 0 w 19141"/>
                <a:gd name="T10" fmla="*/ 0 h 21600"/>
                <a:gd name="T11" fmla="*/ 19141 w 19141"/>
                <a:gd name="T12" fmla="*/ 21600 h 21600"/>
              </a:gdLst>
              <a:ahLst/>
              <a:cxnLst>
                <a:cxn ang="T6">
                  <a:pos x="T0" y="T1"/>
                </a:cxn>
                <a:cxn ang="T7">
                  <a:pos x="T2" y="T3"/>
                </a:cxn>
                <a:cxn ang="T8">
                  <a:pos x="T4" y="T5"/>
                </a:cxn>
              </a:cxnLst>
              <a:rect l="T9" t="T10" r="T11" b="T12"/>
              <a:pathLst>
                <a:path w="19141" h="21600" fill="none" extrusionOk="0">
                  <a:moveTo>
                    <a:pt x="-1" y="0"/>
                  </a:moveTo>
                  <a:cubicBezTo>
                    <a:pt x="8040" y="0"/>
                    <a:pt x="15415" y="4465"/>
                    <a:pt x="19141" y="11590"/>
                  </a:cubicBezTo>
                </a:path>
                <a:path w="19141" h="21600" stroke="0" extrusionOk="0">
                  <a:moveTo>
                    <a:pt x="-1" y="0"/>
                  </a:moveTo>
                  <a:cubicBezTo>
                    <a:pt x="8040" y="0"/>
                    <a:pt x="15415" y="4465"/>
                    <a:pt x="19141" y="11590"/>
                  </a:cubicBezTo>
                  <a:lnTo>
                    <a:pt x="0" y="21600"/>
                  </a:lnTo>
                  <a:close/>
                </a:path>
              </a:pathLst>
            </a:custGeom>
            <a:noFill/>
            <a:ln w="15875" cap="sq">
              <a:solidFill>
                <a:srgbClr val="FF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aphicFrame>
          <p:nvGraphicFramePr>
            <p:cNvPr id="69" name="Object 55"/>
            <p:cNvGraphicFramePr>
              <a:graphicFrameLocks noChangeAspect="1"/>
            </p:cNvGraphicFramePr>
            <p:nvPr/>
          </p:nvGraphicFramePr>
          <p:xfrm>
            <a:off x="2910" y="2759"/>
            <a:ext cx="221" cy="195"/>
          </p:xfrm>
          <a:graphic>
            <a:graphicData uri="http://schemas.openxmlformats.org/presentationml/2006/ole">
              <mc:AlternateContent xmlns:mc="http://schemas.openxmlformats.org/markup-compatibility/2006">
                <mc:Choice xmlns:v="urn:schemas-microsoft-com:vml" Requires="v">
                  <p:oleObj spid="_x0000_s242726" name="Equation" r:id="rId10" imgW="133350" imgH="115570" progId="Equation.3">
                    <p:embed/>
                  </p:oleObj>
                </mc:Choice>
                <mc:Fallback>
                  <p:oleObj name="Equation" r:id="rId10" imgW="133350" imgH="115570" progId="Equation.3">
                    <p:embed/>
                    <p:pic>
                      <p:nvPicPr>
                        <p:cNvPr id="0" name="Object 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0" y="2759"/>
                          <a:ext cx="221" cy="195"/>
                        </a:xfrm>
                        <a:prstGeom prst="rect">
                          <a:avLst/>
                        </a:prstGeom>
                        <a:noFill/>
                        <a:ln>
                          <a:noFill/>
                        </a:ln>
                        <a:effectLst/>
                      </p:spPr>
                    </p:pic>
                  </p:oleObj>
                </mc:Fallback>
              </mc:AlternateContent>
            </a:graphicData>
          </a:graphic>
        </p:graphicFrame>
        <p:graphicFrame>
          <p:nvGraphicFramePr>
            <p:cNvPr id="70" name="Object 56"/>
            <p:cNvGraphicFramePr>
              <a:graphicFrameLocks noChangeAspect="1"/>
            </p:cNvGraphicFramePr>
            <p:nvPr/>
          </p:nvGraphicFramePr>
          <p:xfrm>
            <a:off x="2370" y="2801"/>
            <a:ext cx="197" cy="174"/>
          </p:xfrm>
          <a:graphic>
            <a:graphicData uri="http://schemas.openxmlformats.org/presentationml/2006/ole">
              <mc:AlternateContent xmlns:mc="http://schemas.openxmlformats.org/markup-compatibility/2006">
                <mc:Choice xmlns:v="urn:schemas-microsoft-com:vml" Requires="v">
                  <p:oleObj spid="_x0000_s242727" name="Equation" r:id="rId12" imgW="133350" imgH="115570" progId="Equation.3">
                    <p:embed/>
                  </p:oleObj>
                </mc:Choice>
                <mc:Fallback>
                  <p:oleObj name="Equation" r:id="rId12" imgW="133350" imgH="115570" progId="Equation.3">
                    <p:embed/>
                    <p:pic>
                      <p:nvPicPr>
                        <p:cNvPr id="0" name="Object 5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70" y="2801"/>
                          <a:ext cx="197" cy="174"/>
                        </a:xfrm>
                        <a:prstGeom prst="rect">
                          <a:avLst/>
                        </a:prstGeom>
                        <a:noFill/>
                        <a:ln>
                          <a:noFill/>
                        </a:ln>
                        <a:effectLst/>
                      </p:spPr>
                    </p:pic>
                  </p:oleObj>
                </mc:Fallback>
              </mc:AlternateContent>
            </a:graphicData>
          </a:graphic>
        </p:graphicFrame>
        <p:sp>
          <p:nvSpPr>
            <p:cNvPr id="72" name="Oval 60"/>
            <p:cNvSpPr>
              <a:spLocks noChangeAspect="1" noChangeArrowheads="1"/>
            </p:cNvSpPr>
            <p:nvPr/>
          </p:nvSpPr>
          <p:spPr bwMode="auto">
            <a:xfrm>
              <a:off x="2749" y="3634"/>
              <a:ext cx="68" cy="68"/>
            </a:xfrm>
            <a:prstGeom prst="ellipse">
              <a:avLst/>
            </a:prstGeom>
            <a:solidFill>
              <a:srgbClr val="00B05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sp>
          <p:nvSpPr>
            <p:cNvPr id="81" name="Oval 27"/>
            <p:cNvSpPr>
              <a:spLocks noChangeAspect="1" noChangeArrowheads="1"/>
            </p:cNvSpPr>
            <p:nvPr/>
          </p:nvSpPr>
          <p:spPr bwMode="auto">
            <a:xfrm>
              <a:off x="2996" y="3242"/>
              <a:ext cx="68" cy="68"/>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solidFill>
                  <a:srgbClr val="00B0F0"/>
                </a:solidFill>
              </a:endParaRPr>
            </a:p>
          </p:txBody>
        </p:sp>
        <p:sp>
          <p:nvSpPr>
            <p:cNvPr id="82" name="Oval 58"/>
            <p:cNvSpPr>
              <a:spLocks noChangeAspect="1" noChangeArrowheads="1"/>
            </p:cNvSpPr>
            <p:nvPr/>
          </p:nvSpPr>
          <p:spPr bwMode="auto">
            <a:xfrm>
              <a:off x="2747" y="3106"/>
              <a:ext cx="68" cy="68"/>
            </a:xfrm>
            <a:prstGeom prst="ellipse">
              <a:avLst/>
            </a:prstGeom>
            <a:solidFill>
              <a:srgbClr val="00B050"/>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p:grpSp>
      <p:sp>
        <p:nvSpPr>
          <p:cNvPr id="88" name="Text Box 69"/>
          <p:cNvSpPr txBox="1">
            <a:spLocks noChangeArrowheads="1"/>
          </p:cNvSpPr>
          <p:nvPr/>
        </p:nvSpPr>
        <p:spPr bwMode="auto">
          <a:xfrm>
            <a:off x="3545059" y="1944666"/>
            <a:ext cx="98266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zh-CN" altLang="en-US" sz="2000" dirty="0">
                <a:solidFill>
                  <a:srgbClr val="0000FF"/>
                </a:solidFill>
              </a:rPr>
              <a:t>Rise</a:t>
            </a:r>
            <a:endParaRPr lang="zh-CN" altLang="en-US" sz="2000" dirty="0">
              <a:solidFill>
                <a:srgbClr val="0000FF"/>
              </a:solidFill>
            </a:endParaRPr>
          </a:p>
        </p:txBody>
      </p:sp>
      <p:sp>
        <p:nvSpPr>
          <p:cNvPr id="89" name="Text Box 70"/>
          <p:cNvSpPr txBox="1">
            <a:spLocks noChangeArrowheads="1"/>
          </p:cNvSpPr>
          <p:nvPr/>
        </p:nvSpPr>
        <p:spPr bwMode="auto">
          <a:xfrm>
            <a:off x="1487805" y="1944370"/>
            <a:ext cx="13804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zh-CN" altLang="en-US" sz="2000">
                <a:solidFill>
                  <a:srgbClr val="FF00FF"/>
                </a:solidFill>
              </a:rPr>
              <a:t>Return</a:t>
            </a:r>
            <a:endParaRPr lang="zh-CN" altLang="en-US" sz="2000">
              <a:solidFill>
                <a:srgbClr val="FF00FF"/>
              </a:solidFill>
            </a:endParaRPr>
          </a:p>
        </p:txBody>
      </p:sp>
      <p:grpSp>
        <p:nvGrpSpPr>
          <p:cNvPr id="5" name="组合 4"/>
          <p:cNvGrpSpPr/>
          <p:nvPr/>
        </p:nvGrpSpPr>
        <p:grpSpPr>
          <a:xfrm>
            <a:off x="2900372" y="3895435"/>
            <a:ext cx="487719" cy="1272974"/>
            <a:chOff x="3103219" y="2774166"/>
            <a:chExt cx="473416" cy="1272974"/>
          </a:xfrm>
        </p:grpSpPr>
        <p:grpSp>
          <p:nvGrpSpPr>
            <p:cNvPr id="2" name="组合 1"/>
            <p:cNvGrpSpPr/>
            <p:nvPr/>
          </p:nvGrpSpPr>
          <p:grpSpPr>
            <a:xfrm>
              <a:off x="3136531" y="2774166"/>
              <a:ext cx="440104" cy="1228492"/>
              <a:chOff x="3136531" y="2774166"/>
              <a:chExt cx="440104" cy="1228492"/>
            </a:xfrm>
          </p:grpSpPr>
          <p:graphicFrame>
            <p:nvGraphicFramePr>
              <p:cNvPr id="38" name="Object 22"/>
              <p:cNvGraphicFramePr>
                <a:graphicFrameLocks noChangeAspect="1"/>
              </p:cNvGraphicFramePr>
              <p:nvPr/>
            </p:nvGraphicFramePr>
            <p:xfrm>
              <a:off x="3321047" y="3199840"/>
              <a:ext cx="255588" cy="419100"/>
            </p:xfrm>
            <a:graphic>
              <a:graphicData uri="http://schemas.openxmlformats.org/presentationml/2006/ole">
                <mc:AlternateContent xmlns:mc="http://schemas.openxmlformats.org/markup-compatibility/2006">
                  <mc:Choice xmlns:v="urn:schemas-microsoft-com:vml" Requires="v">
                    <p:oleObj spid="_x0000_s242728" name="Equation" r:id="rId14" imgW="86995" imgH="139065" progId="Equation.3">
                      <p:embed/>
                    </p:oleObj>
                  </mc:Choice>
                  <mc:Fallback>
                    <p:oleObj name="Equation" r:id="rId14" imgW="86995" imgH="139065"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21047" y="3199840"/>
                            <a:ext cx="2555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Line 13"/>
              <p:cNvSpPr>
                <a:spLocks noChangeShapeType="1"/>
              </p:cNvSpPr>
              <p:nvPr/>
            </p:nvSpPr>
            <p:spPr bwMode="auto">
              <a:xfrm>
                <a:off x="3136531" y="2774166"/>
                <a:ext cx="340773" cy="1228492"/>
              </a:xfrm>
              <a:prstGeom prst="line">
                <a:avLst/>
              </a:prstGeom>
              <a:noFill/>
              <a:ln w="12700">
                <a:solidFill>
                  <a:srgbClr val="0000FF"/>
                </a:solidFill>
                <a:round/>
                <a:headEnd type="stealth" w="sm" len="lg"/>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3" name="组合 2"/>
            <p:cNvGrpSpPr/>
            <p:nvPr/>
          </p:nvGrpSpPr>
          <p:grpSpPr>
            <a:xfrm>
              <a:off x="3103219" y="3748690"/>
              <a:ext cx="381000" cy="298450"/>
              <a:chOff x="3103219" y="3748690"/>
              <a:chExt cx="381000" cy="298450"/>
            </a:xfrm>
          </p:grpSpPr>
          <p:graphicFrame>
            <p:nvGraphicFramePr>
              <p:cNvPr id="37" name="Object 21"/>
              <p:cNvGraphicFramePr>
                <a:graphicFrameLocks noChangeAspect="1"/>
              </p:cNvGraphicFramePr>
              <p:nvPr/>
            </p:nvGraphicFramePr>
            <p:xfrm>
              <a:off x="3132604" y="3748690"/>
              <a:ext cx="271206" cy="298450"/>
            </p:xfrm>
            <a:graphic>
              <a:graphicData uri="http://schemas.openxmlformats.org/presentationml/2006/ole">
                <mc:AlternateContent xmlns:mc="http://schemas.openxmlformats.org/markup-compatibility/2006">
                  <mc:Choice xmlns:v="urn:schemas-microsoft-com:vml" Requires="v">
                    <p:oleObj spid="_x0000_s242729" name="公式" r:id="rId16" imgW="74930" imgH="86995" progId="Equation.3">
                      <p:embed/>
                    </p:oleObj>
                  </mc:Choice>
                  <mc:Fallback>
                    <p:oleObj name="公式" r:id="rId16" imgW="74930" imgH="86995"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32604" y="3748690"/>
                            <a:ext cx="271206"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 name="Line 20"/>
              <p:cNvSpPr>
                <a:spLocks noChangeShapeType="1"/>
              </p:cNvSpPr>
              <p:nvPr/>
            </p:nvSpPr>
            <p:spPr bwMode="auto">
              <a:xfrm>
                <a:off x="3103219" y="4017093"/>
                <a:ext cx="381000" cy="0"/>
              </a:xfrm>
              <a:prstGeom prst="line">
                <a:avLst/>
              </a:prstGeom>
              <a:noFill/>
              <a:ln w="15875" cap="sq">
                <a:solidFill>
                  <a:srgbClr val="0000FF"/>
                </a:solidFill>
                <a:round/>
                <a:headEnd type="stealth" w="sm" len="lg"/>
                <a:tailEnd type="stealth" w="sm" len="lg"/>
              </a:ln>
              <a:extLst>
                <a:ext uri="{909E8E84-426E-40DD-AFC4-6F175D3DCCD1}">
                  <a14:hiddenFill xmlns:a14="http://schemas.microsoft.com/office/drawing/2010/main">
                    <a:noFill/>
                  </a14:hiddenFill>
                </a:ext>
              </a:extLst>
            </p:spPr>
            <p:txBody>
              <a:bodyPr wrap="none"/>
              <a:lstStyle/>
              <a:p>
                <a:endParaRPr lang="en-US"/>
              </a:p>
            </p:txBody>
          </p:sp>
        </p:grpSp>
      </p:grpSp>
      <p:sp>
        <p:nvSpPr>
          <p:cNvPr id="6" name="矩形 5"/>
          <p:cNvSpPr/>
          <p:nvPr/>
        </p:nvSpPr>
        <p:spPr>
          <a:xfrm>
            <a:off x="3293848" y="4872768"/>
            <a:ext cx="407484" cy="461665"/>
          </a:xfrm>
          <a:prstGeom prst="rect">
            <a:avLst/>
          </a:prstGeom>
        </p:spPr>
        <p:txBody>
          <a:bodyPr wrap="square">
            <a:spAutoFit/>
          </a:bodyPr>
          <a:lstStyle/>
          <a:p>
            <a:r>
              <a:rPr lang="en-US" sz="2400" i="1" dirty="0">
                <a:solidFill>
                  <a:schemeClr val="accent6"/>
                </a:solidFill>
              </a:rPr>
              <a:t>O</a:t>
            </a:r>
            <a:endParaRPr lang="en-AU" sz="2400" i="1" dirty="0">
              <a:solidFill>
                <a:schemeClr val="accent6"/>
              </a:solidFill>
            </a:endParaRPr>
          </a:p>
        </p:txBody>
      </p:sp>
      <p:sp>
        <p:nvSpPr>
          <p:cNvPr id="53" name="Oval 27"/>
          <p:cNvSpPr>
            <a:spLocks noChangeAspect="1" noChangeArrowheads="1"/>
          </p:cNvSpPr>
          <p:nvPr/>
        </p:nvSpPr>
        <p:spPr bwMode="auto">
          <a:xfrm>
            <a:off x="3204212" y="5070392"/>
            <a:ext cx="107950" cy="107950"/>
          </a:xfrm>
          <a:prstGeom prst="ellipse">
            <a:avLst/>
          </a:prstGeom>
          <a:solidFill>
            <a:schemeClr val="accent6"/>
          </a:solidFill>
          <a:ln>
            <a:noFill/>
          </a:ln>
        </p:spPr>
        <p:txBody>
          <a:bodyPr wrap="squar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solidFill>
                <a:srgbClr val="00B0F0"/>
              </a:solidFill>
            </a:endParaRPr>
          </a:p>
        </p:txBody>
      </p:sp>
      <p:grpSp>
        <p:nvGrpSpPr>
          <p:cNvPr id="11" name="组合 10"/>
          <p:cNvGrpSpPr/>
          <p:nvPr/>
        </p:nvGrpSpPr>
        <p:grpSpPr>
          <a:xfrm>
            <a:off x="214007" y="2075499"/>
            <a:ext cx="3894563" cy="4377752"/>
            <a:chOff x="214007" y="2075499"/>
            <a:chExt cx="3894563" cy="4377752"/>
          </a:xfrm>
        </p:grpSpPr>
        <p:sp>
          <p:nvSpPr>
            <p:cNvPr id="46" name="Line 28"/>
            <p:cNvSpPr>
              <a:spLocks noChangeShapeType="1"/>
            </p:cNvSpPr>
            <p:nvPr/>
          </p:nvSpPr>
          <p:spPr bwMode="auto">
            <a:xfrm rot="1978484">
              <a:off x="3556425" y="2075499"/>
              <a:ext cx="329024" cy="4377752"/>
            </a:xfrm>
            <a:prstGeom prst="line">
              <a:avLst/>
            </a:prstGeom>
            <a:noFill/>
            <a:ln w="127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7" name="Line 28"/>
            <p:cNvSpPr>
              <a:spLocks noChangeShapeType="1"/>
            </p:cNvSpPr>
            <p:nvPr/>
          </p:nvSpPr>
          <p:spPr bwMode="auto">
            <a:xfrm rot="1978484" flipH="1" flipV="1">
              <a:off x="214007" y="4325498"/>
              <a:ext cx="3894563" cy="101258"/>
            </a:xfrm>
            <a:prstGeom prst="line">
              <a:avLst/>
            </a:prstGeom>
            <a:noFill/>
            <a:ln w="1270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6" name="组合 15"/>
          <p:cNvGrpSpPr/>
          <p:nvPr/>
        </p:nvGrpSpPr>
        <p:grpSpPr>
          <a:xfrm>
            <a:off x="2054721" y="4552412"/>
            <a:ext cx="990021" cy="369332"/>
            <a:chOff x="2054721" y="4552412"/>
            <a:chExt cx="990021" cy="369332"/>
          </a:xfrm>
        </p:grpSpPr>
        <p:sp>
          <p:nvSpPr>
            <p:cNvPr id="52" name="Arc 46"/>
            <p:cNvSpPr/>
            <p:nvPr/>
          </p:nvSpPr>
          <p:spPr bwMode="auto">
            <a:xfrm rot="5708321" flipH="1" flipV="1">
              <a:off x="2816635" y="4644741"/>
              <a:ext cx="204110" cy="252104"/>
            </a:xfrm>
            <a:custGeom>
              <a:avLst/>
              <a:gdLst>
                <a:gd name="T0" fmla="*/ 0 w 19141"/>
                <a:gd name="T1" fmla="*/ 0 h 21600"/>
                <a:gd name="T2" fmla="*/ 0 w 19141"/>
                <a:gd name="T3" fmla="*/ 0 h 21600"/>
                <a:gd name="T4" fmla="*/ 0 w 19141"/>
                <a:gd name="T5" fmla="*/ 0 h 21600"/>
                <a:gd name="T6" fmla="*/ 0 60000 65536"/>
                <a:gd name="T7" fmla="*/ 0 60000 65536"/>
                <a:gd name="T8" fmla="*/ 0 60000 65536"/>
                <a:gd name="T9" fmla="*/ 0 w 19141"/>
                <a:gd name="T10" fmla="*/ 0 h 21600"/>
                <a:gd name="T11" fmla="*/ 19141 w 19141"/>
                <a:gd name="T12" fmla="*/ 21600 h 21600"/>
              </a:gdLst>
              <a:ahLst/>
              <a:cxnLst>
                <a:cxn ang="T6">
                  <a:pos x="T0" y="T1"/>
                </a:cxn>
                <a:cxn ang="T7">
                  <a:pos x="T2" y="T3"/>
                </a:cxn>
                <a:cxn ang="T8">
                  <a:pos x="T4" y="T5"/>
                </a:cxn>
              </a:cxnLst>
              <a:rect l="T9" t="T10" r="T11" b="T12"/>
              <a:pathLst>
                <a:path w="19141" h="21600" fill="none" extrusionOk="0">
                  <a:moveTo>
                    <a:pt x="-1" y="0"/>
                  </a:moveTo>
                  <a:cubicBezTo>
                    <a:pt x="8040" y="0"/>
                    <a:pt x="15415" y="4465"/>
                    <a:pt x="19141" y="11590"/>
                  </a:cubicBezTo>
                </a:path>
                <a:path w="19141" h="21600" stroke="0" extrusionOk="0">
                  <a:moveTo>
                    <a:pt x="-1" y="0"/>
                  </a:moveTo>
                  <a:cubicBezTo>
                    <a:pt x="8040" y="0"/>
                    <a:pt x="15415" y="4465"/>
                    <a:pt x="19141" y="11590"/>
                  </a:cubicBezTo>
                  <a:lnTo>
                    <a:pt x="0" y="21600"/>
                  </a:lnTo>
                  <a:close/>
                </a:path>
              </a:pathLst>
            </a:custGeom>
            <a:noFill/>
            <a:ln w="15875" cap="sq">
              <a:solidFill>
                <a:srgbClr val="FF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mc:AlternateContent xmlns:mc="http://schemas.openxmlformats.org/markup-compatibility/2006">
          <mc:Choice xmlns:a14="http://schemas.microsoft.com/office/drawing/2010/main" Requires="a14">
            <p:sp>
              <p:nvSpPr>
                <p:cNvPr id="12" name="矩形 11"/>
                <p:cNvSpPr/>
                <p:nvPr/>
              </p:nvSpPr>
              <p:spPr>
                <a:xfrm>
                  <a:off x="2054721" y="4552412"/>
                  <a:ext cx="73122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FF00FF"/>
                                </a:solidFill>
                                <a:latin typeface="Cambria Math" panose="02040503050406030204" pitchFamily="18" charset="0"/>
                                <a:ea typeface="Cambria Math" panose="02040503050406030204" pitchFamily="18" charset="0"/>
                              </a:rPr>
                            </m:ctrlPr>
                          </m:sSubPr>
                          <m:e>
                            <m:r>
                              <a:rPr lang="en-US" i="1">
                                <a:solidFill>
                                  <a:srgbClr val="FF00FF"/>
                                </a:solidFill>
                                <a:latin typeface="Cambria Math" panose="02040503050406030204" pitchFamily="18" charset="0"/>
                                <a:ea typeface="Cambria Math" panose="02040503050406030204" pitchFamily="18" charset="0"/>
                              </a:rPr>
                              <m:t>𝛼</m:t>
                            </m:r>
                          </m:e>
                          <m:sub>
                            <m:r>
                              <m:rPr>
                                <m:sty m:val="p"/>
                              </m:rPr>
                              <a:rPr lang="en-US" altLang="zh-CN" i="1">
                                <a:solidFill>
                                  <a:srgbClr val="FF00FF"/>
                                </a:solidFill>
                                <a:latin typeface="Cambria Math" panose="02040503050406030204" pitchFamily="18" charset="0"/>
                                <a:ea typeface="Cambria Math" panose="02040503050406030204" pitchFamily="18" charset="0"/>
                              </a:rPr>
                              <m:t>max</m:t>
                            </m:r>
                          </m:sub>
                        </m:sSub>
                      </m:oMath>
                    </m:oMathPara>
                  </a14:m>
                  <a:endParaRPr lang="en-AU" dirty="0"/>
                </a:p>
              </p:txBody>
            </p:sp>
          </mc:Choice>
          <mc:Fallback>
            <p:sp>
              <p:nvSpPr>
                <p:cNvPr id="12" name="矩形 11"/>
                <p:cNvSpPr>
                  <a:spLocks noRot="1" noChangeAspect="1" noMove="1" noResize="1" noEditPoints="1" noAdjustHandles="1" noChangeArrowheads="1" noChangeShapeType="1" noTextEdit="1"/>
                </p:cNvSpPr>
                <p:nvPr/>
              </p:nvSpPr>
              <p:spPr>
                <a:xfrm>
                  <a:off x="2054721" y="4552412"/>
                  <a:ext cx="731226" cy="369332"/>
                </a:xfrm>
                <a:prstGeom prst="rect">
                  <a:avLst/>
                </a:prstGeom>
                <a:blipFill rotWithShape="1">
                  <a:blip r:embed="rId18"/>
                </a:blipFill>
              </p:spPr>
              <p:txBody>
                <a:bodyPr/>
                <a:lstStyle/>
                <a:p>
                  <a:r>
                    <a:rPr lang="zh-CN" altLang="en-US">
                      <a:noFill/>
                    </a:rPr>
                    <a:t> </a:t>
                  </a:r>
                </a:p>
              </p:txBody>
            </p:sp>
          </mc:Fallback>
        </mc:AlternateContent>
      </p:grpSp>
      <p:grpSp>
        <p:nvGrpSpPr>
          <p:cNvPr id="15" name="组合 14"/>
          <p:cNvGrpSpPr/>
          <p:nvPr/>
        </p:nvGrpSpPr>
        <p:grpSpPr>
          <a:xfrm>
            <a:off x="2900546" y="5231852"/>
            <a:ext cx="844637" cy="466744"/>
            <a:chOff x="2900546" y="5231852"/>
            <a:chExt cx="844637" cy="466744"/>
          </a:xfrm>
        </p:grpSpPr>
        <p:sp>
          <p:nvSpPr>
            <p:cNvPr id="54" name="Arc 38"/>
            <p:cNvSpPr/>
            <p:nvPr/>
          </p:nvSpPr>
          <p:spPr bwMode="auto">
            <a:xfrm rot="10469785" flipH="1" flipV="1">
              <a:off x="2900546" y="5231852"/>
              <a:ext cx="219366" cy="301711"/>
            </a:xfrm>
            <a:custGeom>
              <a:avLst/>
              <a:gdLst>
                <a:gd name="T0" fmla="*/ 0 w 19075"/>
                <a:gd name="T1" fmla="*/ 0 h 21600"/>
                <a:gd name="T2" fmla="*/ 0 w 19075"/>
                <a:gd name="T3" fmla="*/ 0 h 21600"/>
                <a:gd name="T4" fmla="*/ 0 w 19075"/>
                <a:gd name="T5" fmla="*/ 0 h 21600"/>
                <a:gd name="T6" fmla="*/ 0 60000 65536"/>
                <a:gd name="T7" fmla="*/ 0 60000 65536"/>
                <a:gd name="T8" fmla="*/ 0 60000 65536"/>
                <a:gd name="T9" fmla="*/ 0 w 19075"/>
                <a:gd name="T10" fmla="*/ 0 h 21600"/>
                <a:gd name="T11" fmla="*/ 19075 w 19075"/>
                <a:gd name="T12" fmla="*/ 21600 h 21600"/>
              </a:gdLst>
              <a:ahLst/>
              <a:cxnLst>
                <a:cxn ang="T6">
                  <a:pos x="T0" y="T1"/>
                </a:cxn>
                <a:cxn ang="T7">
                  <a:pos x="T2" y="T3"/>
                </a:cxn>
                <a:cxn ang="T8">
                  <a:pos x="T4" y="T5"/>
                </a:cxn>
              </a:cxnLst>
              <a:rect l="T9" t="T10" r="T11" b="T12"/>
              <a:pathLst>
                <a:path w="19075" h="21600" fill="none" extrusionOk="0">
                  <a:moveTo>
                    <a:pt x="-1" y="0"/>
                  </a:moveTo>
                  <a:cubicBezTo>
                    <a:pt x="7989" y="0"/>
                    <a:pt x="15326" y="4410"/>
                    <a:pt x="19075" y="11465"/>
                  </a:cubicBezTo>
                </a:path>
                <a:path w="19075" h="21600" stroke="0" extrusionOk="0">
                  <a:moveTo>
                    <a:pt x="-1" y="0"/>
                  </a:moveTo>
                  <a:cubicBezTo>
                    <a:pt x="7989" y="0"/>
                    <a:pt x="15326" y="4410"/>
                    <a:pt x="19075" y="11465"/>
                  </a:cubicBezTo>
                  <a:lnTo>
                    <a:pt x="0" y="21600"/>
                  </a:lnTo>
                  <a:close/>
                </a:path>
              </a:pathLst>
            </a:custGeom>
            <a:noFill/>
            <a:ln w="15875" cap="sq">
              <a:solidFill>
                <a:srgbClr val="0000FF"/>
              </a:solidFill>
              <a:round/>
              <a:headEnd type="stealth" w="sm" len="lg"/>
              <a:tailEnd type="stealth"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endParaRPr lang="zh-CN" altLang="en-US"/>
            </a:p>
          </p:txBody>
        </p:sp>
        <mc:AlternateContent xmlns:mc="http://schemas.openxmlformats.org/markup-compatibility/2006">
          <mc:Choice xmlns:a14="http://schemas.microsoft.com/office/drawing/2010/main" Requires="a14">
            <p:sp>
              <p:nvSpPr>
                <p:cNvPr id="13" name="矩形 12"/>
                <p:cNvSpPr/>
                <p:nvPr/>
              </p:nvSpPr>
              <p:spPr>
                <a:xfrm>
                  <a:off x="3013957" y="5329264"/>
                  <a:ext cx="73122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ea typeface="Cambria Math" panose="02040503050406030204" pitchFamily="18" charset="0"/>
                              </a:rPr>
                            </m:ctrlPr>
                          </m:sSubPr>
                          <m:e>
                            <m:r>
                              <a:rPr lang="en-US" i="1">
                                <a:solidFill>
                                  <a:srgbClr val="0070C0"/>
                                </a:solidFill>
                                <a:latin typeface="Cambria Math" panose="02040503050406030204" pitchFamily="18" charset="0"/>
                                <a:ea typeface="Cambria Math" panose="02040503050406030204" pitchFamily="18" charset="0"/>
                              </a:rPr>
                              <m:t>𝛼</m:t>
                            </m:r>
                          </m:e>
                          <m:sub>
                            <m:r>
                              <m:rPr>
                                <m:sty m:val="p"/>
                              </m:rPr>
                              <a:rPr lang="en-US" altLang="zh-CN" i="1">
                                <a:solidFill>
                                  <a:srgbClr val="0070C0"/>
                                </a:solidFill>
                                <a:latin typeface="Cambria Math" panose="02040503050406030204" pitchFamily="18" charset="0"/>
                                <a:ea typeface="Cambria Math" panose="02040503050406030204" pitchFamily="18" charset="0"/>
                              </a:rPr>
                              <m:t>max</m:t>
                            </m:r>
                          </m:sub>
                        </m:sSub>
                      </m:oMath>
                    </m:oMathPara>
                  </a14:m>
                  <a:endParaRPr lang="en-AU" dirty="0"/>
                </a:p>
              </p:txBody>
            </p:sp>
          </mc:Choice>
          <mc:Fallback>
            <p:sp>
              <p:nvSpPr>
                <p:cNvPr id="13" name="矩形 12"/>
                <p:cNvSpPr>
                  <a:spLocks noRot="1" noChangeAspect="1" noMove="1" noResize="1" noEditPoints="1" noAdjustHandles="1" noChangeArrowheads="1" noChangeShapeType="1" noTextEdit="1"/>
                </p:cNvSpPr>
                <p:nvPr/>
              </p:nvSpPr>
              <p:spPr>
                <a:xfrm>
                  <a:off x="3013957" y="5329264"/>
                  <a:ext cx="731226" cy="369332"/>
                </a:xfrm>
                <a:prstGeom prst="rect">
                  <a:avLst/>
                </a:prstGeom>
                <a:blipFill rotWithShape="1">
                  <a:blip r:embed="rId19"/>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4" name="矩形 13"/>
              <p:cNvSpPr/>
              <p:nvPr/>
            </p:nvSpPr>
            <p:spPr>
              <a:xfrm>
                <a:off x="3669840" y="5824271"/>
                <a:ext cx="1058495" cy="369332"/>
              </a:xfrm>
              <a:prstGeom prst="rect">
                <a:avLst/>
              </a:prstGeom>
            </p:spPr>
            <p:txBody>
              <a:bodyPr wrap="none">
                <a:spAutoFit/>
              </a:bodyPr>
              <a:lstStyle/>
              <a:p>
                <a14:m>
                  <m:oMath xmlns:m="http://schemas.openxmlformats.org/officeDocument/2006/math">
                    <m:sSub>
                      <m:sSubPr>
                        <m:ctrlPr>
                          <a:rPr lang="en-US" b="1" i="1">
                            <a:solidFill>
                              <a:srgbClr val="0000FF"/>
                            </a:solidFill>
                            <a:latin typeface="Cambria Math" panose="02040503050406030204" pitchFamily="18" charset="0"/>
                            <a:ea typeface="隶书" panose="02010509060101010101" pitchFamily="49" charset="-122"/>
                          </a:rPr>
                        </m:ctrlPr>
                      </m:sSubPr>
                      <m:e>
                        <m:r>
                          <a:rPr lang="en-US" b="1">
                            <a:solidFill>
                              <a:srgbClr val="0000FF"/>
                            </a:solidFill>
                            <a:latin typeface="Cambria Math" panose="02040503050406030204" pitchFamily="18" charset="0"/>
                            <a:ea typeface="隶书" panose="02010509060101010101" pitchFamily="49" charset="-122"/>
                          </a:rPr>
                          <m:t>𝛼</m:t>
                        </m:r>
                      </m:e>
                      <m:sub>
                        <m:r>
                          <m:rPr>
                            <m:sty m:val="p"/>
                          </m:rPr>
                          <a:rPr lang="en-US" altLang="zh-CN" b="1">
                            <a:solidFill>
                              <a:srgbClr val="0000FF"/>
                            </a:solidFill>
                            <a:latin typeface="Cambria Math" panose="02040503050406030204" pitchFamily="18" charset="0"/>
                            <a:ea typeface="隶书" panose="02010509060101010101" pitchFamily="49" charset="-122"/>
                          </a:rPr>
                          <m:t>max</m:t>
                        </m:r>
                      </m:sub>
                    </m:sSub>
                  </m:oMath>
                </a14:m>
                <a:r>
                  <a:rPr lang="en-AU" b="1" dirty="0">
                    <a:solidFill>
                      <a:srgbClr val="0000FF"/>
                    </a:solidFill>
                    <a:latin typeface="隶书" panose="02010509060101010101" pitchFamily="49" charset="-122"/>
                    <a:ea typeface="隶书" panose="02010509060101010101" pitchFamily="49" charset="-122"/>
                  </a:rPr>
                  <a:t>&lt;</a:t>
                </a:r>
                <a14:m>
                  <m:oMath xmlns:m="http://schemas.openxmlformats.org/officeDocument/2006/math">
                    <m:d>
                      <m:dPr>
                        <m:begChr m:val="["/>
                        <m:endChr m:val="]"/>
                        <m:ctrlPr>
                          <a:rPr lang="en-US" b="1" i="1">
                            <a:solidFill>
                              <a:srgbClr val="0000FF"/>
                            </a:solidFill>
                            <a:latin typeface="Cambria Math" panose="02040503050406030204" pitchFamily="18" charset="0"/>
                            <a:ea typeface="隶书" panose="02010509060101010101" pitchFamily="49" charset="-122"/>
                          </a:rPr>
                        </m:ctrlPr>
                      </m:dPr>
                      <m:e>
                        <m:r>
                          <a:rPr lang="en-US" b="1">
                            <a:solidFill>
                              <a:srgbClr val="0000FF"/>
                            </a:solidFill>
                            <a:latin typeface="Cambria Math" panose="02040503050406030204" pitchFamily="18" charset="0"/>
                            <a:ea typeface="隶书" panose="02010509060101010101" pitchFamily="49" charset="-122"/>
                          </a:rPr>
                          <m:t>𝛼</m:t>
                        </m:r>
                      </m:e>
                    </m:d>
                  </m:oMath>
                </a14:m>
                <a:endParaRPr lang="en-AU" b="1" dirty="0">
                  <a:solidFill>
                    <a:srgbClr val="0000FF"/>
                  </a:solidFill>
                  <a:latin typeface="隶书" panose="02010509060101010101" pitchFamily="49" charset="-122"/>
                  <a:ea typeface="隶书" panose="02010509060101010101" pitchFamily="49" charset="-122"/>
                </a:endParaRPr>
              </a:p>
            </p:txBody>
          </p:sp>
        </mc:Choice>
        <mc:Fallback>
          <p:sp>
            <p:nvSpPr>
              <p:cNvPr id="14" name="矩形 13"/>
              <p:cNvSpPr>
                <a:spLocks noRot="1" noChangeAspect="1" noMove="1" noResize="1" noEditPoints="1" noAdjustHandles="1" noChangeArrowheads="1" noChangeShapeType="1" noTextEdit="1"/>
              </p:cNvSpPr>
              <p:nvPr/>
            </p:nvSpPr>
            <p:spPr>
              <a:xfrm>
                <a:off x="3669840" y="5824271"/>
                <a:ext cx="1058495" cy="369332"/>
              </a:xfrm>
              <a:prstGeom prst="rect">
                <a:avLst/>
              </a:prstGeom>
              <a:blipFill rotWithShape="1">
                <a:blip r:embed="rId20"/>
                <a:stretch>
                  <a:fillRect l="-17" t="-14" r="-3828" b="1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矩形 54"/>
              <p:cNvSpPr/>
              <p:nvPr/>
            </p:nvSpPr>
            <p:spPr>
              <a:xfrm>
                <a:off x="3654291" y="6168908"/>
                <a:ext cx="1263595" cy="369332"/>
              </a:xfrm>
              <a:prstGeom prst="rect">
                <a:avLst/>
              </a:prstGeom>
            </p:spPr>
            <p:txBody>
              <a:bodyPr wrap="square">
                <a:spAutoFit/>
              </a:bodyPr>
              <a:lstStyle/>
              <a:p>
                <a14:m>
                  <m:oMath xmlns:m="http://schemas.openxmlformats.org/officeDocument/2006/math">
                    <m:sSub>
                      <m:sSubPr>
                        <m:ctrlPr>
                          <a:rPr lang="en-US" i="1" smtClean="0">
                            <a:solidFill>
                              <a:srgbClr val="FF00FF"/>
                            </a:solidFill>
                            <a:latin typeface="Cambria Math" panose="02040503050406030204" pitchFamily="18" charset="0"/>
                            <a:ea typeface="Cambria Math" panose="02040503050406030204" pitchFamily="18" charset="0"/>
                          </a:rPr>
                        </m:ctrlPr>
                      </m:sSubPr>
                      <m:e>
                        <m:r>
                          <a:rPr lang="en-US" i="1">
                            <a:solidFill>
                              <a:srgbClr val="FF00FF"/>
                            </a:solidFill>
                            <a:latin typeface="Cambria Math" panose="02040503050406030204" pitchFamily="18" charset="0"/>
                            <a:ea typeface="Cambria Math" panose="02040503050406030204" pitchFamily="18" charset="0"/>
                          </a:rPr>
                          <m:t>𝛼</m:t>
                        </m:r>
                      </m:e>
                      <m:sub>
                        <m:r>
                          <m:rPr>
                            <m:sty m:val="p"/>
                          </m:rPr>
                          <a:rPr lang="en-US" altLang="zh-CN" i="1">
                            <a:solidFill>
                              <a:srgbClr val="FF00FF"/>
                            </a:solidFill>
                            <a:latin typeface="Cambria Math" panose="02040503050406030204" pitchFamily="18" charset="0"/>
                            <a:ea typeface="Cambria Math" panose="02040503050406030204" pitchFamily="18" charset="0"/>
                          </a:rPr>
                          <m:t>max</m:t>
                        </m:r>
                      </m:sub>
                    </m:sSub>
                  </m:oMath>
                </a14:m>
                <a:r>
                  <a:rPr lang="en-AU" dirty="0">
                    <a:solidFill>
                      <a:srgbClr val="FF00FF"/>
                    </a:solidFill>
                  </a:rPr>
                  <a:t>&lt;</a:t>
                </a:r>
                <a14:m>
                  <m:oMath xmlns:m="http://schemas.openxmlformats.org/officeDocument/2006/math">
                    <m:d>
                      <m:dPr>
                        <m:begChr m:val="["/>
                        <m:endChr m:val="]"/>
                        <m:ctrlPr>
                          <a:rPr lang="en-US" i="1" smtClean="0">
                            <a:solidFill>
                              <a:srgbClr val="FF00FF"/>
                            </a:solidFill>
                            <a:latin typeface="Cambria Math" panose="02040503050406030204" pitchFamily="18" charset="0"/>
                            <a:ea typeface="Cambria Math" panose="02040503050406030204" pitchFamily="18" charset="0"/>
                          </a:rPr>
                        </m:ctrlPr>
                      </m:dPr>
                      <m:e>
                        <m:r>
                          <a:rPr lang="en-US" i="1">
                            <a:solidFill>
                              <a:srgbClr val="FF00FF"/>
                            </a:solidFill>
                            <a:latin typeface="Cambria Math" panose="02040503050406030204" pitchFamily="18" charset="0"/>
                            <a:ea typeface="Cambria Math" panose="02040503050406030204" pitchFamily="18" charset="0"/>
                          </a:rPr>
                          <m:t>𝛼</m:t>
                        </m:r>
                      </m:e>
                    </m:d>
                  </m:oMath>
                </a14:m>
                <a:endParaRPr lang="en-AU" dirty="0">
                  <a:solidFill>
                    <a:srgbClr val="0070C0"/>
                  </a:solidFill>
                </a:endParaRPr>
              </a:p>
            </p:txBody>
          </p:sp>
        </mc:Choice>
        <mc:Fallback>
          <p:sp>
            <p:nvSpPr>
              <p:cNvPr id="55" name="矩形 54"/>
              <p:cNvSpPr>
                <a:spLocks noRot="1" noChangeAspect="1" noMove="1" noResize="1" noEditPoints="1" noAdjustHandles="1" noChangeArrowheads="1" noChangeShapeType="1" noTextEdit="1"/>
              </p:cNvSpPr>
              <p:nvPr/>
            </p:nvSpPr>
            <p:spPr>
              <a:xfrm>
                <a:off x="3654291" y="6168908"/>
                <a:ext cx="1263595" cy="369332"/>
              </a:xfrm>
              <a:prstGeom prst="rect">
                <a:avLst/>
              </a:prstGeom>
              <a:blipFill rotWithShape="1">
                <a:blip r:embed="rId21"/>
                <a:stretch>
                  <a:fillRect l="-40" t="-140" r="35" b="76"/>
                </a:stretch>
              </a:blipFill>
            </p:spPr>
            <p:txBody>
              <a:bodyPr/>
              <a:lstStyle/>
              <a:p>
                <a:r>
                  <a:rPr lang="zh-CN" altLang="en-US">
                    <a:noFill/>
                  </a:rPr>
                  <a:t> </a:t>
                </a:r>
              </a:p>
            </p:txBody>
          </p:sp>
        </mc:Fallback>
      </mc:AlternateContent>
      <p:sp>
        <p:nvSpPr>
          <p:cNvPr id="75" name="矩形 74"/>
          <p:cNvSpPr/>
          <p:nvPr/>
        </p:nvSpPr>
        <p:spPr>
          <a:xfrm>
            <a:off x="819566" y="2714254"/>
            <a:ext cx="800219" cy="369332"/>
          </a:xfrm>
          <a:prstGeom prst="rect">
            <a:avLst/>
          </a:prstGeom>
        </p:spPr>
        <p:txBody>
          <a:bodyPr wrap="square">
            <a:spAutoFit/>
          </a:bodyPr>
          <a:lstStyle/>
          <a:p>
            <a:r>
              <a:rPr lang="zh-CN" altLang="en-US" dirty="0">
                <a:solidFill>
                  <a:srgbClr val="FF0000"/>
                </a:solidFill>
              </a:rPr>
              <a:t>Curve C</a:t>
            </a:r>
            <a:endParaRPr lang="en-AU" dirty="0"/>
          </a:p>
        </p:txBody>
      </p:sp>
      <mc:AlternateContent xmlns:mc="http://schemas.openxmlformats.org/markup-compatibility/2006">
        <mc:Choice xmlns:a14="http://schemas.microsoft.com/office/drawing/2010/main" Requires="a14">
          <p:sp>
            <p:nvSpPr>
              <p:cNvPr id="18" name="矩形 17"/>
              <p:cNvSpPr/>
              <p:nvPr/>
            </p:nvSpPr>
            <p:spPr>
              <a:xfrm>
                <a:off x="3836500" y="4710685"/>
                <a:ext cx="416524"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FF00FF"/>
                              </a:solidFill>
                              <a:latin typeface="Cambria Math" panose="02040503050406030204" pitchFamily="18" charset="0"/>
                              <a:ea typeface="Cambria Math" panose="02040503050406030204" pitchFamily="18" charset="0"/>
                            </a:rPr>
                          </m:ctrlPr>
                        </m:sSubPr>
                        <m:e>
                          <m:r>
                            <a:rPr lang="en-US" altLang="zh-CN" i="1" smtClean="0">
                              <a:solidFill>
                                <a:srgbClr val="FF00FF"/>
                              </a:solidFill>
                              <a:latin typeface="Cambria Math" panose="02040503050406030204" pitchFamily="18" charset="0"/>
                              <a:ea typeface="Cambria Math" panose="02040503050406030204" pitchFamily="18" charset="0"/>
                            </a:rPr>
                            <m:t>𝑙</m:t>
                          </m:r>
                        </m:e>
                        <m:sub>
                          <m:r>
                            <a:rPr lang="en-US" b="0" i="1" smtClean="0">
                              <a:solidFill>
                                <a:srgbClr val="FF00FF"/>
                              </a:solidFill>
                              <a:latin typeface="Cambria Math" panose="02040503050406030204" pitchFamily="18" charset="0"/>
                              <a:ea typeface="Cambria Math" panose="02040503050406030204" pitchFamily="18" charset="0"/>
                            </a:rPr>
                            <m:t>1</m:t>
                          </m:r>
                        </m:sub>
                      </m:sSub>
                    </m:oMath>
                  </m:oMathPara>
                </a14:m>
                <a:endParaRPr lang="en-AU" i="1" dirty="0"/>
              </a:p>
            </p:txBody>
          </p:sp>
        </mc:Choice>
        <mc:Fallback>
          <p:sp>
            <p:nvSpPr>
              <p:cNvPr id="18" name="矩形 17"/>
              <p:cNvSpPr>
                <a:spLocks noRot="1" noChangeAspect="1" noMove="1" noResize="1" noEditPoints="1" noAdjustHandles="1" noChangeArrowheads="1" noChangeShapeType="1" noTextEdit="1"/>
              </p:cNvSpPr>
              <p:nvPr/>
            </p:nvSpPr>
            <p:spPr>
              <a:xfrm>
                <a:off x="3836500" y="4710685"/>
                <a:ext cx="416524" cy="369332"/>
              </a:xfrm>
              <a:prstGeom prst="rect">
                <a:avLst/>
              </a:prstGeom>
              <a:blipFill rotWithShape="1">
                <a:blip r:embed="rId22"/>
                <a:stretch>
                  <a:fillRect l="-112" t="-69" r="103"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4389932" y="2781334"/>
                <a:ext cx="476349"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b="1" i="1">
                              <a:solidFill>
                                <a:srgbClr val="0000FF"/>
                              </a:solidFill>
                              <a:latin typeface="Cambria Math" panose="02040503050406030204" pitchFamily="18" charset="0"/>
                              <a:ea typeface="隶书" panose="02010509060101010101" pitchFamily="49" charset="-122"/>
                            </a:rPr>
                          </m:ctrlPr>
                        </m:sSubPr>
                        <m:e>
                          <m:r>
                            <a:rPr lang="en-US" altLang="zh-CN" b="1">
                              <a:solidFill>
                                <a:srgbClr val="0000FF"/>
                              </a:solidFill>
                              <a:latin typeface="Cambria Math" panose="02040503050406030204" pitchFamily="18" charset="0"/>
                              <a:ea typeface="隶书" panose="02010509060101010101" pitchFamily="49" charset="-122"/>
                            </a:rPr>
                            <m:t>𝑙</m:t>
                          </m:r>
                        </m:e>
                        <m:sub>
                          <m:r>
                            <a:rPr lang="en-US" altLang="zh-CN" b="1">
                              <a:solidFill>
                                <a:srgbClr val="0000FF"/>
                              </a:solidFill>
                              <a:latin typeface="Cambria Math" panose="02040503050406030204" pitchFamily="18" charset="0"/>
                              <a:ea typeface="隶书" panose="02010509060101010101" pitchFamily="49" charset="-122"/>
                            </a:rPr>
                            <m:t>2</m:t>
                          </m:r>
                        </m:sub>
                      </m:sSub>
                    </m:oMath>
                  </m:oMathPara>
                </a14:m>
                <a:endParaRPr lang="en-AU" b="1" dirty="0">
                  <a:solidFill>
                    <a:srgbClr val="0000FF"/>
                  </a:solidFill>
                  <a:latin typeface="隶书" panose="02010509060101010101" pitchFamily="49" charset="-122"/>
                  <a:ea typeface="隶书" panose="02010509060101010101" pitchFamily="49" charset="-122"/>
                </a:endParaRPr>
              </a:p>
            </p:txBody>
          </p:sp>
        </mc:Choice>
        <mc:Fallback>
          <p:sp>
            <p:nvSpPr>
              <p:cNvPr id="19" name="矩形 18"/>
              <p:cNvSpPr>
                <a:spLocks noRot="1" noChangeAspect="1" noMove="1" noResize="1" noEditPoints="1" noAdjustHandles="1" noChangeArrowheads="1" noChangeShapeType="1" noTextEdit="1"/>
              </p:cNvSpPr>
              <p:nvPr/>
            </p:nvSpPr>
            <p:spPr>
              <a:xfrm>
                <a:off x="4389932" y="2781334"/>
                <a:ext cx="476349" cy="369332"/>
              </a:xfrm>
              <a:prstGeom prst="rect">
                <a:avLst/>
              </a:prstGeom>
              <a:blipFill rotWithShape="1">
                <a:blip r:embed="rId23"/>
                <a:stretch>
                  <a:fillRect l="-37" t="-9" r="58" b="117"/>
                </a:stretch>
              </a:blipFill>
            </p:spPr>
            <p:txBody>
              <a:bodyPr/>
              <a:lstStyle/>
              <a:p>
                <a:r>
                  <a:rPr lang="zh-CN" altLang="en-US">
                    <a:noFill/>
                  </a:rPr>
                  <a:t> </a:t>
                </a:r>
              </a:p>
            </p:txBody>
          </p:sp>
        </mc:Fallback>
      </mc:AlternateContent>
      <p:sp>
        <p:nvSpPr>
          <p:cNvPr id="4" name="TextBox 8"/>
          <p:cNvSpPr txBox="1"/>
          <p:nvPr/>
        </p:nvSpPr>
        <p:spPr>
          <a:xfrm>
            <a:off x="1007745" y="319405"/>
            <a:ext cx="96208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3-5 Pressure Angle, Base Circle Radius, and Offset Selection</a:t>
            </a:r>
            <a:endParaRPr kumimoji="0" lang="en-US" altLang="zh-CN" sz="2800" b="0" i="0" u="none" strike="noStrike" kern="1200" cap="none" spc="0" normalizeH="0" baseline="0" noProof="0" dirty="0">
              <a:ln>
                <a:noFill/>
              </a:ln>
              <a:solidFill>
                <a:srgbClr val="3D7AB7">
                  <a:lumMod val="75000"/>
                </a:srgb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0" name="图片 19" descr="image-1 (1)"/>
          <p:cNvPicPr>
            <a:picLocks noChangeAspect="1"/>
          </p:cNvPicPr>
          <p:nvPr/>
        </p:nvPicPr>
        <p:blipFill>
          <a:blip r:embed="rId24"/>
          <a:srcRect t="73157"/>
          <a:stretch>
            <a:fillRect/>
          </a:stretch>
        </p:blipFill>
        <p:spPr>
          <a:xfrm>
            <a:off x="6062345" y="5645150"/>
            <a:ext cx="4518660" cy="1212850"/>
          </a:xfrm>
          <a:prstGeom prst="rect">
            <a:avLst/>
          </a:prstGeom>
        </p:spPr>
      </p:pic>
      <mc:AlternateContent xmlns:mc="http://schemas.openxmlformats.org/markup-compatibility/2006">
        <mc:Choice xmlns:a14="http://schemas.microsoft.com/office/drawing/2010/main" Requires="a14">
          <p:sp>
            <p:nvSpPr>
              <p:cNvPr id="21" name="文本框 20"/>
              <p:cNvSpPr txBox="1"/>
              <p:nvPr/>
            </p:nvSpPr>
            <p:spPr>
              <a:xfrm>
                <a:off x="5793740" y="4035425"/>
                <a:ext cx="5732780" cy="1814830"/>
              </a:xfrm>
              <a:prstGeom prst="rect">
                <a:avLst/>
              </a:prstGeom>
              <a:noFill/>
            </p:spPr>
            <p:txBody>
              <a:bodyPr wrap="square" rtlCol="0" anchor="t">
                <a:spAutoFit/>
              </a:bodyPr>
              <a:p>
                <a:r>
                  <a:rPr lang="en-US" altLang="zh-CN" sz="1600"/>
                  <a:t>The gray area in the figure represents all O points that satisfy the condition where the maximum pressure angle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𝛼</m:t>
                        </m:r>
                      </m:e>
                      <m:sub>
                        <m:r>
                          <a:rPr lang="en-US" altLang="zh-CN" sz="1600" i="1">
                            <a:latin typeface="Cambria Math" panose="02040503050406030204" pitchFamily="18" charset="0"/>
                            <a:cs typeface="Cambria Math" panose="02040503050406030204" pitchFamily="18" charset="0"/>
                          </a:rPr>
                          <m:t>𝑚𝑎𝑥</m:t>
                        </m:r>
                      </m:sub>
                    </m:sSub>
                  </m:oMath>
                </a14:m>
                <a:r>
                  <a:rPr lang="en-US" altLang="zh-CN" sz="1600"/>
                  <a:t> of the cam mechanism is less than or equal to the allowable pressure angle [α]. The distance from the O point to the vertical axis represents the offset e, and the distance from the O point to the origin represents the base circle radius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𝑟</m:t>
                        </m:r>
                      </m:e>
                      <m:sub>
                        <m:r>
                          <a:rPr lang="en-US" altLang="zh-CN" sz="1600" i="1">
                            <a:latin typeface="Cambria Math" panose="02040503050406030204" pitchFamily="18" charset="0"/>
                            <a:cs typeface="Cambria Math" panose="02040503050406030204" pitchFamily="18" charset="0"/>
                          </a:rPr>
                          <m:t>𝑜</m:t>
                        </m:r>
                      </m:sub>
                    </m:sSub>
                  </m:oMath>
                </a14:m>
                <a:r>
                  <a:rPr lang="en-US" altLang="zh-CN" sz="1600"/>
                  <a:t>.</a:t>
                </a:r>
                <a:endParaRPr lang="en-US" altLang="zh-CN" sz="1600"/>
              </a:p>
              <a:p>
                <a:endParaRPr lang="en-US" altLang="zh-CN" sz="1600"/>
              </a:p>
            </p:txBody>
          </p:sp>
        </mc:Choice>
        <mc:Fallback>
          <p:sp>
            <p:nvSpPr>
              <p:cNvPr id="21" name="文本框 20"/>
              <p:cNvSpPr txBox="1">
                <a:spLocks noRot="1" noChangeAspect="1" noMove="1" noResize="1" noEditPoints="1" noAdjustHandles="1" noChangeArrowheads="1" noChangeShapeType="1" noTextEdit="1"/>
              </p:cNvSpPr>
              <p:nvPr/>
            </p:nvSpPr>
            <p:spPr>
              <a:xfrm>
                <a:off x="5793740" y="4035425"/>
                <a:ext cx="5732780" cy="1814830"/>
              </a:xfrm>
              <a:prstGeom prst="rect">
                <a:avLst/>
              </a:prstGeom>
              <a:blipFill rotWithShape="1">
                <a:blip r:embed="rId25"/>
                <a:stretch>
                  <a:fillRect/>
                </a:stretch>
              </a:blipFill>
            </p:spPr>
            <p:txBody>
              <a:bodyPr/>
              <a:lstStyle/>
              <a:p>
                <a:r>
                  <a:rPr lang="zh-CN" altLang="en-US">
                    <a:noFill/>
                  </a:rPr>
                  <a:t> </a:t>
                </a:r>
              </a:p>
            </p:txBody>
          </p:sp>
        </mc:Fallback>
      </mc:AlternateContent>
      <p:sp>
        <p:nvSpPr>
          <p:cNvPr id="23" name="文本框 22"/>
          <p:cNvSpPr txBox="1"/>
          <p:nvPr/>
        </p:nvSpPr>
        <p:spPr>
          <a:xfrm>
            <a:off x="5586730" y="2819400"/>
            <a:ext cx="6096000" cy="1076325"/>
          </a:xfrm>
          <a:prstGeom prst="rect">
            <a:avLst/>
          </a:prstGeom>
          <a:noFill/>
        </p:spPr>
        <p:txBody>
          <a:bodyPr wrap="square" rtlCol="0" anchor="t">
            <a:spAutoFit/>
          </a:bodyPr>
          <a:p>
            <a:r>
              <a:rPr lang="en-US" altLang="zh-CN" sz="1600"/>
              <a:t>Draw two tangent lines to curve C,  </a:t>
            </a:r>
            <a:endParaRPr lang="en-US" altLang="zh-CN" sz="1600"/>
          </a:p>
          <a:p>
            <a:r>
              <a:rPr lang="en-US" altLang="zh-CN" sz="1600"/>
              <a:t>such that the angles between these tangent lines and the ordinate are equal to the allowable pressure angles for the return stroke and the working stroke, respectively.</a:t>
            </a:r>
            <a:endParaRPr lang="en-US" altLang="zh-CN" sz="1600"/>
          </a:p>
        </p:txBody>
      </p:sp>
      <p:pic>
        <p:nvPicPr>
          <p:cNvPr id="24" name="图片 23"/>
          <p:cNvPicPr>
            <a:picLocks noChangeAspect="1"/>
          </p:cNvPicPr>
          <p:nvPr/>
        </p:nvPicPr>
        <p:blipFill>
          <a:blip r:embed="rId26"/>
          <a:stretch>
            <a:fillRect/>
          </a:stretch>
        </p:blipFill>
        <p:spPr>
          <a:xfrm>
            <a:off x="8583295" y="2876550"/>
            <a:ext cx="558800" cy="241300"/>
          </a:xfrm>
          <a:prstGeom prst="rect">
            <a:avLst/>
          </a:prstGeom>
        </p:spPr>
      </p:pic>
      <p:pic>
        <p:nvPicPr>
          <p:cNvPr id="25" name="图片 24"/>
          <p:cNvPicPr>
            <a:picLocks noChangeAspect="1"/>
          </p:cNvPicPr>
          <p:nvPr/>
        </p:nvPicPr>
        <p:blipFill>
          <a:blip r:embed="rId27"/>
          <a:stretch>
            <a:fillRect/>
          </a:stretch>
        </p:blipFill>
        <p:spPr>
          <a:xfrm>
            <a:off x="8126730" y="3622675"/>
            <a:ext cx="965200" cy="2730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F54A3870-DF25-464D-B6EA-3BA6EAAA2BCA}"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1109980" y="1274445"/>
            <a:ext cx="6263005" cy="959485"/>
          </a:xfrm>
          <a:prstGeom prst="rect">
            <a:avLst/>
          </a:prstGeom>
        </p:spPr>
      </p:pic>
      <p:pic>
        <p:nvPicPr>
          <p:cNvPr id="4" name="图片 3"/>
          <p:cNvPicPr>
            <a:picLocks noChangeAspect="1"/>
          </p:cNvPicPr>
          <p:nvPr/>
        </p:nvPicPr>
        <p:blipFill>
          <a:blip r:embed="rId2"/>
          <a:stretch>
            <a:fillRect/>
          </a:stretch>
        </p:blipFill>
        <p:spPr>
          <a:xfrm>
            <a:off x="1160780" y="2575560"/>
            <a:ext cx="5702935" cy="853440"/>
          </a:xfrm>
          <a:prstGeom prst="rect">
            <a:avLst/>
          </a:prstGeom>
        </p:spPr>
      </p:pic>
      <p:pic>
        <p:nvPicPr>
          <p:cNvPr id="5" name="图片 4"/>
          <p:cNvPicPr>
            <a:picLocks noChangeAspect="1"/>
          </p:cNvPicPr>
          <p:nvPr/>
        </p:nvPicPr>
        <p:blipFill>
          <a:blip r:embed="rId3"/>
          <a:srcRect l="4813"/>
          <a:stretch>
            <a:fillRect/>
          </a:stretch>
        </p:blipFill>
        <p:spPr>
          <a:xfrm>
            <a:off x="1160780" y="3673475"/>
            <a:ext cx="6395720" cy="1067435"/>
          </a:xfrm>
          <a:prstGeom prst="rect">
            <a:avLst/>
          </a:prstGeom>
        </p:spPr>
      </p:pic>
      <p:sp>
        <p:nvSpPr>
          <p:cNvPr id="6" name="标题 1"/>
          <p:cNvSpPr>
            <a:spLocks noGrp="1"/>
          </p:cNvSpPr>
          <p:nvPr/>
        </p:nvSpPr>
        <p:spPr>
          <a:xfrm>
            <a:off x="766233" y="304801"/>
            <a:ext cx="10668000" cy="676275"/>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r>
              <a:rPr lang="zh-CN" altLang="en-US" dirty="0"/>
              <a:t>Practice Problem</a:t>
            </a:r>
            <a:endParaRPr lang="zh-CN" altLang="en-US" dirty="0"/>
          </a:p>
        </p:txBody>
      </p:sp>
      <p:pic>
        <p:nvPicPr>
          <p:cNvPr id="7" name="图片 6"/>
          <p:cNvPicPr>
            <a:picLocks noChangeAspect="1"/>
          </p:cNvPicPr>
          <p:nvPr/>
        </p:nvPicPr>
        <p:blipFill>
          <a:blip r:embed="rId4"/>
          <a:stretch>
            <a:fillRect/>
          </a:stretch>
        </p:blipFill>
        <p:spPr>
          <a:xfrm>
            <a:off x="1160780" y="4950460"/>
            <a:ext cx="8335010" cy="1145540"/>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mc:AlternateContent xmlns:mc="http://schemas.openxmlformats.org/markup-compatibility/2006">
        <mc:Choice xmlns:a14="http://schemas.microsoft.com/office/drawing/2010/main" Requires="a14">
          <p:sp>
            <p:nvSpPr>
              <p:cNvPr id="21" name="矩形 20"/>
              <p:cNvSpPr>
                <a:spLocks noGrp="1"/>
              </p:cNvSpPr>
              <p:nvPr/>
            </p:nvSpPr>
            <p:spPr>
              <a:xfrm>
                <a:off x="647065" y="1729740"/>
                <a:ext cx="6607175"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Given that the stroke of the translating follower is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ℎ</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30</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15</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e>
                      <m:sub>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s</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3</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12</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e>
                      <m:sub>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s</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6</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The follower undergoes simple </a:t>
                </a:r>
                <a:r>
                  <a:rPr lang="en-US" altLang="zh-CN" sz="2000" b="1" i="0">
                    <a:solidFill>
                      <a:schemeClr val="tx1"/>
                    </a:solidFill>
                    <a:latin typeface="微软雅黑" panose="020B0503020204020204" pitchFamily="34" charset="-122"/>
                    <a:ea typeface="微软雅黑" panose="020B0503020204020204" pitchFamily="34" charset="-122"/>
                    <a:cs typeface="DejaVu Sans"/>
                  </a:rPr>
                  <a:t>harmonic </a:t>
                </a:r>
                <a:r>
                  <a:rPr lang="en-US" altLang="zh-CN" sz="2000" b="0" i="0">
                    <a:solidFill>
                      <a:srgbClr val="5D6E7B"/>
                    </a:solidFill>
                    <a:latin typeface="微软雅黑" panose="020B0503020204020204" pitchFamily="34" charset="-122"/>
                    <a:ea typeface="微软雅黑" panose="020B0503020204020204" pitchFamily="34" charset="-122"/>
                    <a:cs typeface="DejaVu Sans"/>
                  </a:rPr>
                  <a:t>motion during both the rise and return strokes.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p:txBody>
          </p:sp>
        </mc:Choice>
        <mc:Fallback>
          <p:sp>
            <p:nvSpPr>
              <p:cNvPr id="21" name="矩形 20"/>
              <p:cNvSpPr>
                <a:spLocks noRot="1" noChangeAspect="1" noMove="1" noResize="1" noEditPoints="1" noAdjustHandles="1" noChangeArrowheads="1" noChangeShapeType="1" noTextEdit="1"/>
              </p:cNvSpPr>
              <p:nvPr/>
            </p:nvSpPr>
            <p:spPr>
              <a:xfrm>
                <a:off x="647065" y="1729740"/>
                <a:ext cx="6607175" cy="742950"/>
              </a:xfrm>
              <a:prstGeom prst="rect">
                <a:avLst/>
              </a:prstGeom>
              <a:blipFill rotWithShape="1">
                <a:blip r:embed="rId1"/>
                <a:stretch>
                  <a:fillRect t="-36325" b="-30684"/>
                </a:stretch>
              </a:blipFill>
              <a:ln w="0">
                <a:noFill/>
              </a:ln>
            </p:spPr>
            <p:txBody>
              <a:bodyPr/>
              <a:lstStyle/>
              <a:p>
                <a:r>
                  <a:rPr lang="zh-CN" altLang="en-US">
                    <a:noFill/>
                  </a:rPr>
                  <a:t> </a:t>
                </a:r>
              </a:p>
            </p:txBody>
          </p:sp>
        </mc:Fallback>
      </mc:AlternateContent>
      <p:sp>
        <p:nvSpPr>
          <p:cNvPr id="9" name="椭圆 8"/>
          <p:cNvSpPr>
            <a:spLocks noGrp="1"/>
          </p:cNvSpPr>
          <p:nvPr>
            <p:custDataLst>
              <p:tags r:id="rId2"/>
            </p:custDataLst>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custDataLst>
              <p:tags r:id="rId3"/>
            </p:custDataLst>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1" name="矩形 10"/>
          <p:cNvSpPr>
            <a:spLocks noGrp="1"/>
          </p:cNvSpPr>
          <p:nvPr>
            <p:custDataLst>
              <p:tags r:id="rId4"/>
            </p:custDataLst>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a:latin typeface="微软雅黑" panose="020B0503020204020204" pitchFamily="34" charset="-122"/>
                <a:ea typeface="微软雅黑" panose="020B0503020204020204" pitchFamily="34" charset="-122"/>
                <a:sym typeface="+mn-ea"/>
              </a:rPr>
              <a:t>Draw its motion diagrams s–t, v–t and a–t by either graphical method or analytical formula.</a:t>
            </a:r>
            <a:endParaRPr lang="en-US" altLang="zh-CN" sz="1800" b="0" i="0">
              <a:solidFill>
                <a:srgbClr val="17324D"/>
              </a:solidFill>
              <a:latin typeface="微软雅黑" panose="020B0503020204020204" pitchFamily="34" charset="-122"/>
              <a:ea typeface="微软雅黑" panose="020B0503020204020204" pitchFamily="34" charset="-122"/>
            </a:endParaRPr>
          </a:p>
        </p:txBody>
      </p:sp>
      <p:sp>
        <p:nvSpPr>
          <p:cNvPr id="12" name="椭圆 11"/>
          <p:cNvSpPr>
            <a:spLocks noGrp="1"/>
          </p:cNvSpPr>
          <p:nvPr>
            <p:custDataLst>
              <p:tags r:id="rId5"/>
            </p:custDataLst>
          </p:nvPr>
        </p:nvSpPr>
        <p:spPr>
          <a:xfrm>
            <a:off x="676275" y="3737610"/>
            <a:ext cx="314325" cy="285750"/>
          </a:xfrm>
          <a:prstGeom prst="ellipse">
            <a:avLst/>
          </a:prstGeom>
          <a:solidFill>
            <a:srgbClr val="167C80"/>
          </a:solidFill>
          <a:ln w="0">
            <a:solidFill>
              <a:srgbClr val="167C80"/>
            </a:solidFill>
            <a:prstDash val="solid"/>
          </a:ln>
        </p:spPr>
      </p:sp>
      <p:sp>
        <p:nvSpPr>
          <p:cNvPr id="13" name="矩形 12"/>
          <p:cNvSpPr>
            <a:spLocks noGrp="1"/>
          </p:cNvSpPr>
          <p:nvPr>
            <p:custDataLst>
              <p:tags r:id="rId6"/>
            </p:custDataLst>
          </p:nvPr>
        </p:nvSpPr>
        <p:spPr>
          <a:xfrm>
            <a:off x="695325" y="37090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4" name="矩形 13"/>
              <p:cNvSpPr>
                <a:spLocks noGrp="1"/>
              </p:cNvSpPr>
              <p:nvPr>
                <p:custDataLst>
                  <p:tags r:id="rId7"/>
                </p:custDataLst>
              </p:nvPr>
            </p:nvSpPr>
            <p:spPr>
              <a:xfrm>
                <a:off x="1104900" y="4448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DejaVu Sans"/>
                  </a:rPr>
                  <a:t>Design the offset plate cam with translating roller follower shown in the figure. The cam rotates clockwise at a constant angular velocity. The offset distance </a:t>
                </a:r>
                <a14:m>
                  <m:oMath xmlns:m="http://schemas.openxmlformats.org/officeDocument/2006/math">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𝑒</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the base circle radius of the cam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60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and the roller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r</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Draw the cam profile by graphical method and check the pressure angle in the rise stroke.</a:t>
                </a:r>
                <a:endParaRPr lang="en-US" altLang="zh-CN" sz="1800" b="0" i="0">
                  <a:solidFill>
                    <a:srgbClr val="17324D"/>
                  </a:solidFill>
                  <a:latin typeface="微软雅黑" panose="020B0503020204020204" pitchFamily="34" charset="-122"/>
                  <a:ea typeface="微软雅黑" panose="020B0503020204020204" pitchFamily="34" charset="-122"/>
                  <a:cs typeface="DejaVu Sans"/>
                </a:endParaRPr>
              </a:p>
            </p:txBody>
          </p:sp>
        </mc:Choice>
        <mc:Fallback>
          <p:sp>
            <p:nvSpPr>
              <p:cNvPr id="14" name="矩形 13"/>
              <p:cNvSpPr>
                <a:spLocks noRot="1" noChangeAspect="1" noMove="1" noResize="1" noEditPoints="1" noAdjustHandles="1" noChangeArrowheads="1" noChangeShapeType="1" noTextEdit="1"/>
              </p:cNvSpPr>
              <p:nvPr>
                <p:custDataLst>
                  <p:tags r:id="rId8"/>
                </p:custDataLst>
              </p:nvPr>
            </p:nvSpPr>
            <p:spPr>
              <a:xfrm>
                <a:off x="1104900" y="4448810"/>
                <a:ext cx="5753100" cy="476250"/>
              </a:xfrm>
              <a:prstGeom prst="rect">
                <a:avLst/>
              </a:prstGeom>
              <a:blipFill rotWithShape="1">
                <a:blip r:embed="rId9"/>
                <a:stretch>
                  <a:fillRect t="-157467" b="-149733"/>
                </a:stretch>
              </a:blipFill>
              <a:ln w="0">
                <a:noFill/>
              </a:ln>
            </p:spPr>
            <p:txBody>
              <a:bodyPr/>
              <a:lstStyle/>
              <a:p>
                <a:r>
                  <a:rPr lang="zh-CN" altLang="en-US">
                    <a:noFill/>
                  </a:rPr>
                  <a:t> </a:t>
                </a:r>
              </a:p>
            </p:txBody>
          </p:sp>
        </mc:Fallback>
      </mc:AlternateContent>
      <p:pic>
        <p:nvPicPr>
          <p:cNvPr id="2" name="图片 1"/>
          <p:cNvPicPr>
            <a:picLocks noChangeAspect="1"/>
          </p:cNvPicPr>
          <p:nvPr/>
        </p:nvPicPr>
        <p:blipFill>
          <a:blip r:embed="rId10"/>
          <a:stretch>
            <a:fillRect/>
          </a:stretch>
        </p:blipFill>
        <p:spPr>
          <a:xfrm>
            <a:off x="7904480" y="1199515"/>
            <a:ext cx="2809240" cy="4458970"/>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mc:AlternateContent xmlns:mc="http://schemas.openxmlformats.org/markup-compatibility/2006">
        <mc:Choice xmlns:a14="http://schemas.microsoft.com/office/drawing/2010/main" Requires="a14">
          <p:sp>
            <p:nvSpPr>
              <p:cNvPr id="21" name="矩形 20"/>
              <p:cNvSpPr>
                <a:spLocks noGrp="1"/>
              </p:cNvSpPr>
              <p:nvPr/>
            </p:nvSpPr>
            <p:spPr>
              <a:xfrm>
                <a:off x="647065" y="1729740"/>
                <a:ext cx="6607175"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Given that the stroke of the translating follower is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ℎ</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30</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15</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e>
                      <m:sub>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s</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3</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12</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e>
                      <m:sub>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s</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6</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The follower undergoes simple </a:t>
                </a:r>
                <a:r>
                  <a:rPr lang="en-US" altLang="zh-CN" sz="2000" b="1" i="0">
                    <a:solidFill>
                      <a:schemeClr val="tx1"/>
                    </a:solidFill>
                    <a:latin typeface="微软雅黑" panose="020B0503020204020204" pitchFamily="34" charset="-122"/>
                    <a:ea typeface="微软雅黑" panose="020B0503020204020204" pitchFamily="34" charset="-122"/>
                    <a:cs typeface="DejaVu Sans"/>
                  </a:rPr>
                  <a:t>harmonic</a:t>
                </a:r>
                <a:r>
                  <a:rPr lang="en-US" altLang="zh-CN" sz="2000" b="0" i="0">
                    <a:solidFill>
                      <a:srgbClr val="5D6E7B"/>
                    </a:solidFill>
                    <a:latin typeface="微软雅黑" panose="020B0503020204020204" pitchFamily="34" charset="-122"/>
                    <a:ea typeface="微软雅黑" panose="020B0503020204020204" pitchFamily="34" charset="-122"/>
                    <a:cs typeface="DejaVu Sans"/>
                  </a:rPr>
                  <a:t> motion during both the rise and return strokes.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p:txBody>
          </p:sp>
        </mc:Choice>
        <mc:Fallback>
          <p:sp>
            <p:nvSpPr>
              <p:cNvPr id="21" name="矩形 20"/>
              <p:cNvSpPr>
                <a:spLocks noRot="1" noChangeAspect="1" noMove="1" noResize="1" noEditPoints="1" noAdjustHandles="1" noChangeArrowheads="1" noChangeShapeType="1" noTextEdit="1"/>
              </p:cNvSpPr>
              <p:nvPr/>
            </p:nvSpPr>
            <p:spPr>
              <a:xfrm>
                <a:off x="647065" y="1729740"/>
                <a:ext cx="6607175" cy="742950"/>
              </a:xfrm>
              <a:prstGeom prst="rect">
                <a:avLst/>
              </a:prstGeom>
              <a:blipFill rotWithShape="1">
                <a:blip r:embed="rId1"/>
                <a:stretch>
                  <a:fillRect t="-36325" b="-30684"/>
                </a:stretch>
              </a:blipFill>
              <a:ln w="0">
                <a:noFill/>
              </a:ln>
            </p:spPr>
            <p:txBody>
              <a:bodyPr/>
              <a:lstStyle/>
              <a:p>
                <a:r>
                  <a:rPr lang="zh-CN" altLang="en-US">
                    <a:noFill/>
                  </a:rPr>
                  <a:t> </a:t>
                </a:r>
              </a:p>
            </p:txBody>
          </p:sp>
        </mc:Fallback>
      </mc:AlternateContent>
      <p:sp>
        <p:nvSpPr>
          <p:cNvPr id="9" name="椭圆 8"/>
          <p:cNvSpPr>
            <a:spLocks noGrp="1"/>
          </p:cNvSpPr>
          <p:nvPr>
            <p:custDataLst>
              <p:tags r:id="rId2"/>
            </p:custDataLst>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custDataLst>
              <p:tags r:id="rId3"/>
            </p:custDataLst>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1" name="矩形 10"/>
          <p:cNvSpPr>
            <a:spLocks noGrp="1"/>
          </p:cNvSpPr>
          <p:nvPr>
            <p:custDataLst>
              <p:tags r:id="rId4"/>
            </p:custDataLst>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a:latin typeface="微软雅黑" panose="020B0503020204020204" pitchFamily="34" charset="-122"/>
                <a:ea typeface="微软雅黑" panose="020B0503020204020204" pitchFamily="34" charset="-122"/>
                <a:sym typeface="+mn-ea"/>
              </a:rPr>
              <a:t>Draw its motion diagrams s–t, v–t and a–t by either graphical method or analytical formula.</a:t>
            </a:r>
            <a:endParaRPr lang="en-US" altLang="zh-CN" sz="1800" b="0" i="0">
              <a:solidFill>
                <a:srgbClr val="17324D"/>
              </a:solidFill>
              <a:latin typeface="微软雅黑" panose="020B0503020204020204" pitchFamily="34" charset="-122"/>
              <a:ea typeface="微软雅黑" panose="020B0503020204020204" pitchFamily="34" charset="-122"/>
            </a:endParaRPr>
          </a:p>
        </p:txBody>
      </p:sp>
      <p:sp>
        <p:nvSpPr>
          <p:cNvPr id="12" name="椭圆 11"/>
          <p:cNvSpPr>
            <a:spLocks noGrp="1"/>
          </p:cNvSpPr>
          <p:nvPr>
            <p:custDataLst>
              <p:tags r:id="rId5"/>
            </p:custDataLst>
          </p:nvPr>
        </p:nvSpPr>
        <p:spPr>
          <a:xfrm>
            <a:off x="676275" y="3737610"/>
            <a:ext cx="314325" cy="285750"/>
          </a:xfrm>
          <a:prstGeom prst="ellipse">
            <a:avLst/>
          </a:prstGeom>
          <a:solidFill>
            <a:srgbClr val="167C80"/>
          </a:solidFill>
          <a:ln w="0">
            <a:solidFill>
              <a:srgbClr val="167C80"/>
            </a:solidFill>
            <a:prstDash val="solid"/>
          </a:ln>
        </p:spPr>
      </p:sp>
      <p:sp>
        <p:nvSpPr>
          <p:cNvPr id="13" name="矩形 12"/>
          <p:cNvSpPr>
            <a:spLocks noGrp="1"/>
          </p:cNvSpPr>
          <p:nvPr>
            <p:custDataLst>
              <p:tags r:id="rId6"/>
            </p:custDataLst>
          </p:nvPr>
        </p:nvSpPr>
        <p:spPr>
          <a:xfrm>
            <a:off x="695325" y="37090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4" name="矩形 13"/>
              <p:cNvSpPr>
                <a:spLocks noGrp="1"/>
              </p:cNvSpPr>
              <p:nvPr>
                <p:custDataLst>
                  <p:tags r:id="rId7"/>
                </p:custDataLst>
              </p:nvPr>
            </p:nvSpPr>
            <p:spPr>
              <a:xfrm>
                <a:off x="1104900" y="4448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DejaVu Sans"/>
                  </a:rPr>
                  <a:t>Design the offset plate cam with translating roller follower shown in the figure. The cam rotates clockwise at a constant angular velocity. The offset distance </a:t>
                </a:r>
                <a14:m>
                  <m:oMath xmlns:m="http://schemas.openxmlformats.org/officeDocument/2006/math">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𝑒</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the base circle radius of the cam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60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and the roller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r</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Draw the cam profile by graphical method and check the pressure angle in the rise stroke.</a:t>
                </a:r>
                <a:endParaRPr lang="en-US" altLang="zh-CN" sz="1800" b="0" i="0">
                  <a:solidFill>
                    <a:srgbClr val="17324D"/>
                  </a:solidFill>
                  <a:latin typeface="微软雅黑" panose="020B0503020204020204" pitchFamily="34" charset="-122"/>
                  <a:ea typeface="微软雅黑" panose="020B0503020204020204" pitchFamily="34" charset="-122"/>
                  <a:cs typeface="DejaVu Sans"/>
                </a:endParaRPr>
              </a:p>
            </p:txBody>
          </p:sp>
        </mc:Choice>
        <mc:Fallback>
          <p:sp>
            <p:nvSpPr>
              <p:cNvPr id="14" name="矩形 13"/>
              <p:cNvSpPr>
                <a:spLocks noRot="1" noChangeAspect="1" noMove="1" noResize="1" noEditPoints="1" noAdjustHandles="1" noChangeArrowheads="1" noChangeShapeType="1" noTextEdit="1"/>
              </p:cNvSpPr>
              <p:nvPr>
                <p:custDataLst>
                  <p:tags r:id="rId8"/>
                </p:custDataLst>
              </p:nvPr>
            </p:nvSpPr>
            <p:spPr>
              <a:xfrm>
                <a:off x="1104900" y="4448810"/>
                <a:ext cx="5753100" cy="476250"/>
              </a:xfrm>
              <a:prstGeom prst="rect">
                <a:avLst/>
              </a:prstGeom>
              <a:blipFill rotWithShape="1">
                <a:blip r:embed="rId9"/>
                <a:stretch>
                  <a:fillRect t="-157467" b="-149733"/>
                </a:stretch>
              </a:blipFill>
              <a:ln w="0">
                <a:noFill/>
              </a:ln>
            </p:spPr>
            <p:txBody>
              <a:bodyPr/>
              <a:lstStyle/>
              <a:p>
                <a:r>
                  <a:rPr lang="zh-CN" altLang="en-US">
                    <a:noFill/>
                  </a:rPr>
                  <a:t> </a:t>
                </a:r>
              </a:p>
            </p:txBody>
          </p:sp>
        </mc:Fallback>
      </mc:AlternateContent>
      <p:pic>
        <p:nvPicPr>
          <p:cNvPr id="3" name="图片 2"/>
          <p:cNvPicPr>
            <a:picLocks noChangeAspect="1"/>
          </p:cNvPicPr>
          <p:nvPr/>
        </p:nvPicPr>
        <p:blipFill>
          <a:blip r:embed="rId10"/>
          <a:stretch>
            <a:fillRect/>
          </a:stretch>
        </p:blipFill>
        <p:spPr>
          <a:xfrm>
            <a:off x="6921500" y="1787525"/>
            <a:ext cx="4860925" cy="4415790"/>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wrap="square"/>
          <a:lstStyle/>
          <a:p>
            <a:r>
              <a:rPr lang="zh-CN" altLang="en-US" dirty="0"/>
              <a:t>Practice Problem</a:t>
            </a:r>
            <a:endParaRPr lang="zh-CN" altLang="en-US" dirty="0"/>
          </a:p>
        </p:txBody>
      </p:sp>
      <mc:AlternateContent xmlns:mc="http://schemas.openxmlformats.org/markup-compatibility/2006">
        <mc:Choice xmlns:a14="http://schemas.microsoft.com/office/drawing/2010/main" Requires="a14">
          <p:sp>
            <p:nvSpPr>
              <p:cNvPr id="21" name="矩形 20"/>
              <p:cNvSpPr>
                <a:spLocks noGrp="1"/>
              </p:cNvSpPr>
              <p:nvPr/>
            </p:nvSpPr>
            <p:spPr>
              <a:xfrm>
                <a:off x="647065" y="1729740"/>
                <a:ext cx="6607175" cy="742950"/>
              </a:xfrm>
              <a:prstGeom prst="rect">
                <a:avLst/>
              </a:prstGeom>
              <a:noFill/>
              <a:ln w="0">
                <a:noFill/>
              </a:ln>
            </p:spPr>
            <p:txBody>
              <a:bodyPr anchor="ctr">
                <a:noAutofit/>
              </a:bodyPr>
              <a:lstStyle/>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Given that the stroke of the translating follower is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ℎ</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30</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15</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e>
                      <m:sub>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s</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3</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12</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14:m>
                  <m:oMath xmlns:m="http://schemas.openxmlformats.org/officeDocument/2006/math">
                    <m:sSub>
                      <m:sSub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𝛷</m:t>
                        </m:r>
                      </m:e>
                      <m:sub>
                        <m:r>
                          <m:rPr>
                            <m:sty m:val="p"/>
                          </m:r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s</m:t>
                        </m:r>
                      </m:sub>
                    </m:sSub>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6</m:t>
                    </m:r>
                    <m:sSup>
                      <m:sSupPr>
                        <m:ctrlP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0</m:t>
                        </m:r>
                      </m:e>
                      <m:sup>
                        <m:r>
                          <a:rPr lang="en-US" altLang="zh-CN" sz="2000" b="0" i="0">
                            <a:solidFill>
                              <a:srgbClr val="5D6E7B"/>
                            </a:solidFill>
                            <a:latin typeface="Cambria Math" panose="02040503050406030204" pitchFamily="18" charset="0"/>
                            <a:ea typeface="微软雅黑" panose="020B0503020204020204" pitchFamily="34" charset="-122"/>
                            <a:cs typeface="Cambria Math" panose="02040503050406030204" pitchFamily="18" charset="0"/>
                          </a:rPr>
                          <m:t>∘</m:t>
                        </m:r>
                      </m:sup>
                    </m:sSup>
                  </m:oMath>
                </a14:m>
                <a:r>
                  <a:rPr lang="en-US" altLang="zh-CN" sz="2000" b="0" i="0">
                    <a:solidFill>
                      <a:srgbClr val="5D6E7B"/>
                    </a:solidFill>
                    <a:latin typeface="微软雅黑" panose="020B0503020204020204" pitchFamily="34" charset="-122"/>
                    <a:ea typeface="微软雅黑" panose="020B0503020204020204" pitchFamily="34" charset="-122"/>
                    <a:cs typeface="DejaVu Sans"/>
                  </a:rPr>
                  <a:t>.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a:p>
                <a:pPr algn="l">
                  <a:defRPr sz="1200" b="0" i="0">
                    <a:solidFill>
                      <a:srgbClr val="5D6E7B"/>
                    </a:solidFill>
                    <a:latin typeface="DejaVu Sans"/>
                    <a:ea typeface="DejaVu Sans"/>
                    <a:cs typeface="DejaVu Sans"/>
                  </a:defRPr>
                </a:pPr>
                <a:r>
                  <a:rPr lang="en-US" altLang="zh-CN" sz="2000" b="0" i="0">
                    <a:solidFill>
                      <a:srgbClr val="5D6E7B"/>
                    </a:solidFill>
                    <a:latin typeface="微软雅黑" panose="020B0503020204020204" pitchFamily="34" charset="-122"/>
                    <a:ea typeface="微软雅黑" panose="020B0503020204020204" pitchFamily="34" charset="-122"/>
                    <a:cs typeface="DejaVu Sans"/>
                  </a:rPr>
                  <a:t>The follower undergoes simple harmonic motion during both the rise and return strokes. </a:t>
                </a:r>
                <a:endParaRPr lang="en-US" altLang="zh-CN" sz="2000" b="0" i="0">
                  <a:solidFill>
                    <a:srgbClr val="5D6E7B"/>
                  </a:solidFill>
                  <a:latin typeface="微软雅黑" panose="020B0503020204020204" pitchFamily="34" charset="-122"/>
                  <a:ea typeface="微软雅黑" panose="020B0503020204020204" pitchFamily="34" charset="-122"/>
                  <a:cs typeface="DejaVu Sans"/>
                </a:endParaRPr>
              </a:p>
            </p:txBody>
          </p:sp>
        </mc:Choice>
        <mc:Fallback>
          <p:sp>
            <p:nvSpPr>
              <p:cNvPr id="21" name="矩形 20"/>
              <p:cNvSpPr>
                <a:spLocks noRot="1" noChangeAspect="1" noMove="1" noResize="1" noEditPoints="1" noAdjustHandles="1" noChangeArrowheads="1" noChangeShapeType="1" noTextEdit="1"/>
              </p:cNvSpPr>
              <p:nvPr/>
            </p:nvSpPr>
            <p:spPr>
              <a:xfrm>
                <a:off x="647065" y="1729740"/>
                <a:ext cx="6607175" cy="742950"/>
              </a:xfrm>
              <a:prstGeom prst="rect">
                <a:avLst/>
              </a:prstGeom>
              <a:blipFill rotWithShape="1">
                <a:blip r:embed="rId1"/>
                <a:stretch>
                  <a:fillRect t="-36325" b="-30684"/>
                </a:stretch>
              </a:blipFill>
              <a:ln w="0">
                <a:noFill/>
              </a:ln>
            </p:spPr>
            <p:txBody>
              <a:bodyPr/>
              <a:lstStyle/>
              <a:p>
                <a:r>
                  <a:rPr lang="zh-CN" altLang="en-US">
                    <a:noFill/>
                  </a:rPr>
                  <a:t> </a:t>
                </a:r>
              </a:p>
            </p:txBody>
          </p:sp>
        </mc:Fallback>
      </mc:AlternateContent>
      <p:sp>
        <p:nvSpPr>
          <p:cNvPr id="9" name="椭圆 8"/>
          <p:cNvSpPr>
            <a:spLocks noGrp="1"/>
          </p:cNvSpPr>
          <p:nvPr>
            <p:custDataLst>
              <p:tags r:id="rId2"/>
            </p:custDataLst>
          </p:nvPr>
        </p:nvSpPr>
        <p:spPr>
          <a:xfrm>
            <a:off x="676275" y="3147060"/>
            <a:ext cx="314325" cy="285750"/>
          </a:xfrm>
          <a:prstGeom prst="ellipse">
            <a:avLst/>
          </a:prstGeom>
          <a:solidFill>
            <a:srgbClr val="167C80"/>
          </a:solidFill>
          <a:ln w="0">
            <a:solidFill>
              <a:srgbClr val="167C80"/>
            </a:solidFill>
            <a:prstDash val="solid"/>
          </a:ln>
        </p:spPr>
      </p:sp>
      <p:sp>
        <p:nvSpPr>
          <p:cNvPr id="10" name="矩形 9"/>
          <p:cNvSpPr>
            <a:spLocks noGrp="1"/>
          </p:cNvSpPr>
          <p:nvPr>
            <p:custDataLst>
              <p:tags r:id="rId3"/>
            </p:custDataLst>
          </p:nvPr>
        </p:nvSpPr>
        <p:spPr>
          <a:xfrm>
            <a:off x="695325" y="311848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1</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p:sp>
        <p:nvSpPr>
          <p:cNvPr id="11" name="矩形 10"/>
          <p:cNvSpPr>
            <a:spLocks noGrp="1"/>
          </p:cNvSpPr>
          <p:nvPr>
            <p:custDataLst>
              <p:tags r:id="rId4"/>
            </p:custDataLst>
          </p:nvPr>
        </p:nvSpPr>
        <p:spPr>
          <a:xfrm>
            <a:off x="1104900" y="3051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a:latin typeface="微软雅黑" panose="020B0503020204020204" pitchFamily="34" charset="-122"/>
                <a:ea typeface="微软雅黑" panose="020B0503020204020204" pitchFamily="34" charset="-122"/>
                <a:sym typeface="+mn-ea"/>
              </a:rPr>
              <a:t>Draw its motion diagrams s–t, v–t and a–t by either graphical method or analytical formula.</a:t>
            </a:r>
            <a:endParaRPr lang="en-US" altLang="zh-CN" sz="1800" b="0" i="0">
              <a:solidFill>
                <a:srgbClr val="17324D"/>
              </a:solidFill>
              <a:latin typeface="微软雅黑" panose="020B0503020204020204" pitchFamily="34" charset="-122"/>
              <a:ea typeface="微软雅黑" panose="020B0503020204020204" pitchFamily="34" charset="-122"/>
            </a:endParaRPr>
          </a:p>
        </p:txBody>
      </p:sp>
      <p:sp>
        <p:nvSpPr>
          <p:cNvPr id="12" name="椭圆 11"/>
          <p:cNvSpPr>
            <a:spLocks noGrp="1"/>
          </p:cNvSpPr>
          <p:nvPr>
            <p:custDataLst>
              <p:tags r:id="rId5"/>
            </p:custDataLst>
          </p:nvPr>
        </p:nvSpPr>
        <p:spPr>
          <a:xfrm>
            <a:off x="676275" y="3737610"/>
            <a:ext cx="314325" cy="285750"/>
          </a:xfrm>
          <a:prstGeom prst="ellipse">
            <a:avLst/>
          </a:prstGeom>
          <a:solidFill>
            <a:srgbClr val="167C80"/>
          </a:solidFill>
          <a:ln w="0">
            <a:solidFill>
              <a:srgbClr val="167C80"/>
            </a:solidFill>
            <a:prstDash val="solid"/>
          </a:ln>
        </p:spPr>
      </p:sp>
      <p:sp>
        <p:nvSpPr>
          <p:cNvPr id="13" name="矩形 12"/>
          <p:cNvSpPr>
            <a:spLocks noGrp="1"/>
          </p:cNvSpPr>
          <p:nvPr>
            <p:custDataLst>
              <p:tags r:id="rId6"/>
            </p:custDataLst>
          </p:nvPr>
        </p:nvSpPr>
        <p:spPr>
          <a:xfrm>
            <a:off x="695325" y="3709035"/>
            <a:ext cx="272415" cy="285750"/>
          </a:xfrm>
          <a:prstGeom prst="rect">
            <a:avLst/>
          </a:prstGeom>
          <a:noFill/>
          <a:ln w="0">
            <a:noFill/>
          </a:ln>
        </p:spPr>
        <p:txBody>
          <a:bodyPr anchor="ctr">
            <a:noAutofit/>
          </a:bodyPr>
          <a:lstStyle/>
          <a:p>
            <a:pPr algn="ctr">
              <a:defRPr sz="1125" b="1" i="0">
                <a:solidFill>
                  <a:srgbClr val="FFFFFF"/>
                </a:solidFill>
                <a:latin typeface="DejaVu Sans"/>
                <a:ea typeface="DejaVu Sans"/>
                <a:cs typeface="DejaVu Sans"/>
              </a:defRPr>
            </a:pPr>
            <a:r>
              <a:rPr sz="1800" b="1" i="0">
                <a:solidFill>
                  <a:srgbClr val="FFFFFF"/>
                </a:solidFill>
                <a:latin typeface="微软雅黑" panose="020B0503020204020204" pitchFamily="34" charset="-122"/>
                <a:ea typeface="微软雅黑" panose="020B0503020204020204" pitchFamily="34" charset="-122"/>
                <a:cs typeface="DejaVu Sans"/>
              </a:rPr>
              <a:t>2</a:t>
            </a:r>
            <a:endParaRPr sz="1800" b="1" i="0">
              <a:solidFill>
                <a:srgbClr val="FFFFFF"/>
              </a:solidFill>
              <a:latin typeface="微软雅黑" panose="020B0503020204020204" pitchFamily="34" charset="-122"/>
              <a:ea typeface="微软雅黑" panose="020B0503020204020204" pitchFamily="34" charset="-122"/>
              <a:cs typeface="DejaVu Sans"/>
            </a:endParaRPr>
          </a:p>
        </p:txBody>
      </p:sp>
      <mc:AlternateContent xmlns:mc="http://schemas.openxmlformats.org/markup-compatibility/2006">
        <mc:Choice xmlns:a14="http://schemas.microsoft.com/office/drawing/2010/main" Requires="a14">
          <p:sp>
            <p:nvSpPr>
              <p:cNvPr id="14" name="矩形 13"/>
              <p:cNvSpPr>
                <a:spLocks noGrp="1"/>
              </p:cNvSpPr>
              <p:nvPr>
                <p:custDataLst>
                  <p:tags r:id="rId7"/>
                </p:custDataLst>
              </p:nvPr>
            </p:nvSpPr>
            <p:spPr>
              <a:xfrm>
                <a:off x="1104900" y="4448810"/>
                <a:ext cx="5753100" cy="476250"/>
              </a:xfrm>
              <a:prstGeom prst="rect">
                <a:avLst/>
              </a:prstGeom>
              <a:noFill/>
              <a:ln w="0">
                <a:noFill/>
              </a:ln>
            </p:spPr>
            <p:txBody>
              <a:bodyPr anchor="ctr">
                <a:noAutofit/>
              </a:bodyPr>
              <a:lstStyle/>
              <a:p>
                <a:pPr algn="l">
                  <a:defRPr sz="1350" b="0" i="0">
                    <a:solidFill>
                      <a:srgbClr val="17324D"/>
                    </a:solidFill>
                    <a:latin typeface="DejaVu Sans"/>
                    <a:ea typeface="DejaVu Sans"/>
                    <a:cs typeface="DejaVu Sans"/>
                  </a:defRPr>
                </a:pPr>
                <a:r>
                  <a:rPr lang="en-US" altLang="zh-CN" sz="1800" b="0" i="0">
                    <a:solidFill>
                      <a:srgbClr val="17324D"/>
                    </a:solidFill>
                    <a:latin typeface="微软雅黑" panose="020B0503020204020204" pitchFamily="34" charset="-122"/>
                    <a:ea typeface="微软雅黑" panose="020B0503020204020204" pitchFamily="34" charset="-122"/>
                    <a:cs typeface="DejaVu Sans"/>
                  </a:rPr>
                  <a:t>Design the </a:t>
                </a:r>
                <a:r>
                  <a:rPr lang="en-US" altLang="zh-CN" sz="1800" b="1" i="0">
                    <a:solidFill>
                      <a:srgbClr val="17324D"/>
                    </a:solidFill>
                    <a:latin typeface="微软雅黑" panose="020B0503020204020204" pitchFamily="34" charset="-122"/>
                    <a:ea typeface="微软雅黑" panose="020B0503020204020204" pitchFamily="34" charset="-122"/>
                    <a:cs typeface="DejaVu Sans"/>
                  </a:rPr>
                  <a:t>offset plate cam with translating roller follower</a:t>
                </a:r>
                <a:r>
                  <a:rPr lang="en-US" altLang="zh-CN" sz="1800" b="0" i="0">
                    <a:solidFill>
                      <a:srgbClr val="17324D"/>
                    </a:solidFill>
                    <a:latin typeface="微软雅黑" panose="020B0503020204020204" pitchFamily="34" charset="-122"/>
                    <a:ea typeface="微软雅黑" panose="020B0503020204020204" pitchFamily="34" charset="-122"/>
                    <a:cs typeface="DejaVu Sans"/>
                  </a:rPr>
                  <a:t> shown in the figure. The cam rotates clockwise at a constant angular velocity. The offset distance </a:t>
                </a:r>
                <a14:m>
                  <m:oMath xmlns:m="http://schemas.openxmlformats.org/officeDocument/2006/math">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𝑒</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the base circle radius of the cam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60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and the roller radius </a:t>
                </a:r>
                <a14:m>
                  <m:oMath xmlns:m="http://schemas.openxmlformats.org/officeDocument/2006/math">
                    <m:sSub>
                      <m:sSubPr>
                        <m:ctrl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𝑟</m:t>
                        </m:r>
                      </m:e>
                      <m:sub>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r</m:t>
                        </m:r>
                      </m:sub>
                    </m:sSub>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10</m:t>
                    </m:r>
                    <m: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 </m:t>
                    </m:r>
                    <m:r>
                      <m:rPr>
                        <m:sty m:val="p"/>
                      </m:rPr>
                      <a:rPr lang="en-US" altLang="zh-CN" sz="1800" b="0" i="0">
                        <a:solidFill>
                          <a:srgbClr val="17324D"/>
                        </a:solidFill>
                        <a:latin typeface="Cambria Math" panose="02040503050406030204" pitchFamily="18" charset="0"/>
                        <a:ea typeface="微软雅黑" panose="020B0503020204020204" pitchFamily="34" charset="-122"/>
                        <a:cs typeface="Cambria Math" panose="02040503050406030204" pitchFamily="18" charset="0"/>
                      </a:rPr>
                      <m:t>mm</m:t>
                    </m:r>
                  </m:oMath>
                </a14:m>
                <a:r>
                  <a:rPr lang="en-US" altLang="zh-CN" sz="1800" b="0" i="0">
                    <a:solidFill>
                      <a:srgbClr val="17324D"/>
                    </a:solidFill>
                    <a:latin typeface="微软雅黑" panose="020B0503020204020204" pitchFamily="34" charset="-122"/>
                    <a:ea typeface="微软雅黑" panose="020B0503020204020204" pitchFamily="34" charset="-122"/>
                    <a:cs typeface="DejaVu Sans"/>
                  </a:rPr>
                  <a:t>.  Draw the cam profile by graphical method and check the pressure angle in the rise stroke.</a:t>
                </a:r>
                <a:endParaRPr lang="en-US" altLang="zh-CN" sz="1800" b="0" i="0">
                  <a:solidFill>
                    <a:srgbClr val="17324D"/>
                  </a:solidFill>
                  <a:latin typeface="微软雅黑" panose="020B0503020204020204" pitchFamily="34" charset="-122"/>
                  <a:ea typeface="微软雅黑" panose="020B0503020204020204" pitchFamily="34" charset="-122"/>
                  <a:cs typeface="DejaVu Sans"/>
                </a:endParaRPr>
              </a:p>
            </p:txBody>
          </p:sp>
        </mc:Choice>
        <mc:Fallback>
          <p:sp>
            <p:nvSpPr>
              <p:cNvPr id="14" name="矩形 13"/>
              <p:cNvSpPr>
                <a:spLocks noRot="1" noChangeAspect="1" noMove="1" noResize="1" noEditPoints="1" noAdjustHandles="1" noChangeArrowheads="1" noChangeShapeType="1" noTextEdit="1"/>
              </p:cNvSpPr>
              <p:nvPr>
                <p:custDataLst>
                  <p:tags r:id="rId8"/>
                </p:custDataLst>
              </p:nvPr>
            </p:nvSpPr>
            <p:spPr>
              <a:xfrm>
                <a:off x="1104900" y="4448810"/>
                <a:ext cx="5753100" cy="476250"/>
              </a:xfrm>
              <a:prstGeom prst="rect">
                <a:avLst/>
              </a:prstGeom>
              <a:blipFill rotWithShape="1">
                <a:blip r:embed="rId9"/>
                <a:stretch>
                  <a:fillRect t="-186267" b="-178533"/>
                </a:stretch>
              </a:blipFill>
              <a:ln w="0">
                <a:noFill/>
              </a:ln>
            </p:spPr>
            <p:txBody>
              <a:bodyPr/>
              <a:lstStyle/>
              <a:p>
                <a:r>
                  <a:rPr lang="zh-CN" altLang="en-US">
                    <a:noFill/>
                  </a:rPr>
                  <a:t> </a:t>
                </a:r>
              </a:p>
            </p:txBody>
          </p:sp>
        </mc:Fallback>
      </mc:AlternateContent>
      <p:pic>
        <p:nvPicPr>
          <p:cNvPr id="3" name="图片 2"/>
          <p:cNvPicPr>
            <a:picLocks noChangeAspect="1"/>
          </p:cNvPicPr>
          <p:nvPr/>
        </p:nvPicPr>
        <p:blipFill>
          <a:blip r:embed="rId10"/>
          <a:stretch>
            <a:fillRect/>
          </a:stretch>
        </p:blipFill>
        <p:spPr>
          <a:xfrm>
            <a:off x="6826250" y="1222375"/>
            <a:ext cx="1343660" cy="2133600"/>
          </a:xfrm>
          <a:prstGeom prst="rect">
            <a:avLst/>
          </a:prstGeom>
        </p:spPr>
      </p:pic>
      <p:pic>
        <p:nvPicPr>
          <p:cNvPr id="4" name="图片 3"/>
          <p:cNvPicPr>
            <a:picLocks noChangeAspect="1"/>
          </p:cNvPicPr>
          <p:nvPr/>
        </p:nvPicPr>
        <p:blipFill>
          <a:blip r:embed="rId11"/>
          <a:stretch>
            <a:fillRect/>
          </a:stretch>
        </p:blipFill>
        <p:spPr>
          <a:xfrm>
            <a:off x="8011795" y="1788795"/>
            <a:ext cx="3670300" cy="3550285"/>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6602095" y="5390515"/>
                <a:ext cx="5080000" cy="1076325"/>
              </a:xfrm>
              <a:prstGeom prst="rect">
                <a:avLst/>
              </a:prstGeom>
            </p:spPr>
            <p:txBody>
              <a:bodyPr>
                <a:spAutoFit/>
              </a:bodyPr>
              <a:p>
                <a:r>
                  <a:rPr lang="en-US" altLang="zh-CN" sz="1600"/>
                  <a:t>The maximum pressure angle of the cam mechanism is measured from the drawing, which occurs at the start of the rise stroke.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𝛼</m:t>
                        </m:r>
                      </m:e>
                      <m:sub>
                        <m:r>
                          <m:rPr>
                            <m:sty m:val="p"/>
                          </m:rPr>
                          <a:rPr lang="en-US" altLang="zh-CN" sz="1600" i="1">
                            <a:latin typeface="Cambria Math" panose="02040503050406030204" pitchFamily="18" charset="0"/>
                            <a:cs typeface="Cambria Math" panose="02040503050406030204" pitchFamily="18" charset="0"/>
                          </a:rPr>
                          <m:t>max</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9</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6</m:t>
                        </m:r>
                      </m:e>
                      <m:sup>
                        <m:r>
                          <a:rPr lang="en-US" altLang="zh-CN" sz="1600" i="1">
                            <a:latin typeface="Cambria Math" panose="02040503050406030204" pitchFamily="18" charset="0"/>
                            <a:cs typeface="Cambria Math" panose="02040503050406030204" pitchFamily="18" charset="0"/>
                          </a:rPr>
                          <m:t>∘</m:t>
                        </m:r>
                      </m:sup>
                    </m:sSup>
                    <m:r>
                      <a:rPr lang="en-US" altLang="zh-CN" sz="1600" i="1">
                        <a:latin typeface="Cambria Math" panose="02040503050406030204" pitchFamily="18" charset="0"/>
                        <a:cs typeface="Cambria Math" panose="02040503050406030204" pitchFamily="18" charset="0"/>
                      </a:rPr>
                      <m:t>&lt;[</m:t>
                    </m:r>
                    <m:r>
                      <a:rPr lang="en-US" altLang="zh-CN" sz="1600" i="1">
                        <a:latin typeface="Cambria Math" panose="02040503050406030204" pitchFamily="18" charset="0"/>
                        <a:cs typeface="Cambria Math" panose="02040503050406030204" pitchFamily="18" charset="0"/>
                      </a:rPr>
                      <m:t>𝛼</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3</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0</m:t>
                        </m:r>
                      </m:e>
                      <m:sup>
                        <m:r>
                          <a:rPr lang="en-US" altLang="zh-CN" sz="1600" i="1">
                            <a:latin typeface="Cambria Math" panose="02040503050406030204" pitchFamily="18" charset="0"/>
                            <a:cs typeface="Cambria Math" panose="02040503050406030204" pitchFamily="18" charset="0"/>
                          </a:rPr>
                          <m:t>∘</m:t>
                        </m:r>
                      </m:sup>
                    </m:sSup>
                  </m:oMath>
                </a14:m>
                <a:r>
                  <a:rPr lang="en-US" altLang="zh-CN" sz="1600"/>
                  <a:t>, so the requirement is satisfied.</a:t>
                </a:r>
                <a:endParaRPr lang="en-US" altLang="zh-CN" sz="1600"/>
              </a:p>
            </p:txBody>
          </p:sp>
        </mc:Choice>
        <mc:Fallback>
          <p:sp>
            <p:nvSpPr>
              <p:cNvPr id="2" name="文本框 1"/>
              <p:cNvSpPr txBox="1">
                <a:spLocks noRot="1" noChangeAspect="1" noMove="1" noResize="1" noEditPoints="1" noAdjustHandles="1" noChangeArrowheads="1" noChangeShapeType="1" noTextEdit="1"/>
              </p:cNvSpPr>
              <p:nvPr/>
            </p:nvSpPr>
            <p:spPr>
              <a:xfrm>
                <a:off x="6602095" y="5390515"/>
                <a:ext cx="5080000" cy="1076325"/>
              </a:xfrm>
              <a:prstGeom prst="rect">
                <a:avLst/>
              </a:prstGeom>
              <a:blipFill rotWithShape="1">
                <a:blip r:embed="rId12"/>
                <a:stretch>
                  <a:fillRect/>
                </a:stretch>
              </a:blipFill>
            </p:spPr>
            <p:txBody>
              <a:bodyPr/>
              <a:lstStyle/>
              <a:p>
                <a:r>
                  <a:rPr lang="zh-CN" altLang="en-US">
                    <a:noFill/>
                  </a:rPr>
                  <a:t> </a:t>
                </a:r>
              </a:p>
            </p:txBody>
          </p:sp>
        </mc:Fallback>
      </mc:AlternateContent>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136" t="14973" r="4636" b="8080"/>
          <a:stretch>
            <a:fillRect/>
          </a:stretch>
        </p:blipFill>
        <p:spPr>
          <a:xfrm>
            <a:off x="3935966" y="1259238"/>
            <a:ext cx="1860331" cy="1555531"/>
          </a:xfrm>
          <a:prstGeom prst="rect">
            <a:avLst/>
          </a:prstGeom>
        </p:spPr>
      </p:pic>
      <mc:AlternateContent xmlns:mc="http://schemas.openxmlformats.org/markup-compatibility/2006">
        <mc:Choice xmlns:a14="http://schemas.microsoft.com/office/drawing/2010/main" Requires="a14">
          <p:sp>
            <p:nvSpPr>
              <p:cNvPr id="16" name="文本框 15"/>
              <p:cNvSpPr txBox="1"/>
              <p:nvPr/>
            </p:nvSpPr>
            <p:spPr>
              <a:xfrm>
                <a:off x="4543458" y="1548075"/>
                <a:ext cx="1778020"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𝜏</m:t>
                      </m:r>
                      <m:r>
                        <a:rPr lang="en-US" altLang="zh-CN" sz="1800" b="0" i="1" smtClean="0">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r>
                        <a:rPr lang="zh-CN" altLang="en-US" i="1">
                          <a:latin typeface="Cambria Math" panose="02040503050406030204" pitchFamily="18" charset="0"/>
                        </a:rPr>
                        <m:t>𝜃</m:t>
                      </m:r>
                      <m:r>
                        <m:rPr>
                          <m:nor/>
                        </m:rPr>
                        <a:rPr lang="en-US" altLang="zh-CN" dirty="0">
                          <a:latin typeface="微软雅黑" panose="020B0503020204020204" pitchFamily="34" charset="-122"/>
                          <a:ea typeface="微软雅黑" panose="020B0503020204020204" pitchFamily="34" charset="-122"/>
                        </a:rPr>
                        <m:t>)</m:t>
                      </m:r>
                      <m:r>
                        <a:rPr lang="en-US" altLang="zh-CN" i="1">
                          <a:latin typeface="Cambria Math" panose="02040503050406030204" pitchFamily="18" charset="0"/>
                        </a:rPr>
                        <m:t>=</m:t>
                      </m:r>
                      <m:r>
                        <a:rPr lang="en-US" altLang="zh-CN" sz="1800" b="0" i="1" smtClean="0">
                          <a:latin typeface="Cambria Math" panose="02040503050406030204" pitchFamily="18" charset="0"/>
                        </a:rPr>
                        <m:t>𝐾</m:t>
                      </m:r>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𝜃</m:t>
                          </m:r>
                        </m:e>
                        <m:sup>
                          <m:r>
                            <a:rPr lang="en-US" altLang="zh-CN" b="0" i="1" smtClean="0">
                              <a:latin typeface="Cambria Math" panose="02040503050406030204" pitchFamily="18" charset="0"/>
                            </a:rPr>
                            <m:t>3</m:t>
                          </m:r>
                        </m:sup>
                      </m:sSup>
                    </m:oMath>
                  </m:oMathPara>
                </a14:m>
                <a:endParaRPr lang="zh-CN" altLang="en-US" dirty="0"/>
              </a:p>
            </p:txBody>
          </p:sp>
        </mc:Choice>
        <mc:Fallback>
          <p:sp>
            <p:nvSpPr>
              <p:cNvPr id="16" name="文本框 15"/>
              <p:cNvSpPr txBox="1">
                <a:spLocks noRot="1" noChangeAspect="1" noMove="1" noResize="1" noEditPoints="1" noAdjustHandles="1" noChangeArrowheads="1" noChangeShapeType="1" noTextEdit="1"/>
              </p:cNvSpPr>
              <p:nvPr/>
            </p:nvSpPr>
            <p:spPr>
              <a:xfrm>
                <a:off x="4543458" y="1548075"/>
                <a:ext cx="1778020" cy="369332"/>
              </a:xfrm>
              <a:prstGeom prst="rect">
                <a:avLst/>
              </a:prstGeom>
              <a:blipFill rotWithShape="1">
                <a:blip r:embed="rId2"/>
                <a:stretch>
                  <a:fillRect l="-2" t="-157" r="3" b="93"/>
                </a:stretch>
              </a:blipFill>
            </p:spPr>
            <p:txBody>
              <a:bodyPr/>
              <a:lstStyle/>
              <a:p>
                <a:r>
                  <a:rPr lang="zh-CN" altLang="en-US">
                    <a:noFill/>
                  </a:rPr>
                  <a:t> </a:t>
                </a:r>
              </a:p>
            </p:txBody>
          </p:sp>
        </mc:Fallback>
      </mc:AlternateContent>
      <p:grpSp>
        <p:nvGrpSpPr>
          <p:cNvPr id="24" name="组合 23"/>
          <p:cNvGrpSpPr/>
          <p:nvPr/>
        </p:nvGrpSpPr>
        <p:grpSpPr>
          <a:xfrm>
            <a:off x="5704662" y="1229152"/>
            <a:ext cx="6311864" cy="3217930"/>
            <a:chOff x="5617361" y="2104307"/>
            <a:chExt cx="6311864" cy="3217930"/>
          </a:xfrm>
        </p:grpSpPr>
        <p:pic>
          <p:nvPicPr>
            <p:cNvPr id="4" name="图片 3"/>
            <p:cNvPicPr>
              <a:picLocks noChangeAspect="1"/>
            </p:cNvPicPr>
            <p:nvPr/>
          </p:nvPicPr>
          <p:blipFill>
            <a:blip r:embed="rId3"/>
            <a:stretch>
              <a:fillRect/>
            </a:stretch>
          </p:blipFill>
          <p:spPr>
            <a:xfrm>
              <a:off x="6274695" y="2104307"/>
              <a:ext cx="5654530" cy="2880610"/>
            </a:xfrm>
            <a:prstGeom prst="rect">
              <a:avLst/>
            </a:prstGeom>
          </p:spPr>
        </p:pic>
        <p:sp>
          <p:nvSpPr>
            <p:cNvPr id="9" name="Line 60"/>
            <p:cNvSpPr>
              <a:spLocks noChangeShapeType="1"/>
            </p:cNvSpPr>
            <p:nvPr/>
          </p:nvSpPr>
          <p:spPr bwMode="auto">
            <a:xfrm flipH="1" flipV="1">
              <a:off x="8014313" y="4341107"/>
              <a:ext cx="824887" cy="0"/>
            </a:xfrm>
            <a:prstGeom prst="line">
              <a:avLst/>
            </a:prstGeom>
            <a:noFill/>
            <a:ln w="19050">
              <a:solidFill>
                <a:srgbClr val="FF0000"/>
              </a:solidFill>
              <a:round/>
              <a:headEnd type="arrow" w="lg" len="med"/>
              <a:tailEnd type="none" w="sm" len="lg"/>
            </a:ln>
            <a:extLst>
              <a:ext uri="{909E8E84-426E-40DD-AFC4-6F175D3DCCD1}">
                <a14:hiddenFill xmlns:a14="http://schemas.microsoft.com/office/drawing/2010/main">
                  <a:noFill/>
                </a14:hiddenFill>
              </a:ext>
            </a:extLst>
          </p:spPr>
          <p:txBody>
            <a:bodyPr wrap="none"/>
            <a:lstStyle/>
            <a:p>
              <a:endParaRPr lang="en-US" dirty="0"/>
            </a:p>
          </p:txBody>
        </p:sp>
        <mc:AlternateContent xmlns:mc="http://schemas.openxmlformats.org/markup-compatibility/2006">
          <mc:Choice xmlns:a14="http://schemas.microsoft.com/office/drawing/2010/main" Requires="a14">
            <p:sp>
              <p:nvSpPr>
                <p:cNvPr id="10" name="文本框 9"/>
                <p:cNvSpPr txBox="1"/>
                <p:nvPr/>
              </p:nvSpPr>
              <p:spPr>
                <a:xfrm>
                  <a:off x="5617361" y="4952905"/>
                  <a:ext cx="3924023"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𝜏</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𝐹</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m:t>
                        </m:r>
                        <m:r>
                          <a:rPr lang="en-US" altLang="zh-CN" sz="2400" i="1">
                            <a:latin typeface="Cambria Math" panose="02040503050406030204" pitchFamily="18" charset="0"/>
                          </a:rPr>
                          <m:t>𝑘𝑥𝐿</m:t>
                        </m:r>
                        <m:r>
                          <a:rPr lang="en-US" altLang="zh-CN" sz="2400" b="0" i="1" smtClean="0">
                            <a:latin typeface="Cambria Math" panose="02040503050406030204" pitchFamily="18" charset="0"/>
                          </a:rPr>
                          <m:t>=</m:t>
                        </m:r>
                        <m:r>
                          <a:rPr lang="en-US" altLang="zh-CN" sz="2400" b="0" i="1">
                            <a:latin typeface="Cambria Math" panose="02040503050406030204" pitchFamily="18" charset="0"/>
                          </a:rPr>
                          <m:t>𝑓</m:t>
                        </m:r>
                        <m:r>
                          <a:rPr lang="en-US" altLang="zh-CN" sz="2400" b="0" i="1">
                            <a:latin typeface="Cambria Math" panose="02040503050406030204" pitchFamily="18" charset="0"/>
                          </a:rPr>
                          <m:t>(</m:t>
                        </m:r>
                        <m:r>
                          <a:rPr lang="zh-CN" altLang="en-US" sz="2400" b="0" i="1">
                            <a:latin typeface="Cambria Math" panose="02040503050406030204" pitchFamily="18" charset="0"/>
                          </a:rPr>
                          <m:t>𝜃</m:t>
                        </m:r>
                        <m:r>
                          <m:rPr>
                            <m:nor/>
                          </m:rPr>
                          <a:rPr lang="en-US" altLang="zh-CN" sz="2400" dirty="0">
                            <a:latin typeface="微软雅黑" panose="020B0503020204020204" pitchFamily="34" charset="-122"/>
                            <a:ea typeface="微软雅黑" panose="020B0503020204020204" pitchFamily="34" charset="-122"/>
                          </a:rPr>
                          <m:t>)</m:t>
                        </m:r>
                        <m:r>
                          <m:rPr>
                            <m:nor/>
                          </m:rPr>
                          <a:rPr lang="en-US" altLang="zh-CN" sz="2400" i="0" dirty="0" smtClean="0">
                            <a:latin typeface="微软雅黑" panose="020B0503020204020204" pitchFamily="34" charset="-122"/>
                            <a:ea typeface="微软雅黑" panose="020B0503020204020204" pitchFamily="34" charset="-122"/>
                          </a:rPr>
                          <m:t>=</m:t>
                        </m:r>
                        <m:r>
                          <a:rPr lang="en-US" altLang="zh-CN" sz="2400" b="0" i="1" smtClean="0">
                            <a:latin typeface="Cambria Math" panose="02040503050406030204" pitchFamily="18" charset="0"/>
                          </a:rPr>
                          <m:t>𝐾</m:t>
                        </m:r>
                        <m:sSup>
                          <m:sSupPr>
                            <m:ctrlPr>
                              <a:rPr lang="en-US" altLang="zh-CN" sz="2400" i="1">
                                <a:latin typeface="Cambria Math" panose="02040503050406030204" pitchFamily="18" charset="0"/>
                              </a:rPr>
                            </m:ctrlPr>
                          </m:sSupPr>
                          <m:e>
                            <m:r>
                              <a:rPr lang="zh-CN" altLang="en-US" sz="2400" i="1">
                                <a:latin typeface="Cambria Math" panose="02040503050406030204" pitchFamily="18" charset="0"/>
                              </a:rPr>
                              <m:t>𝜃</m:t>
                            </m:r>
                          </m:e>
                          <m:sup>
                            <m:r>
                              <a:rPr lang="en-US" altLang="zh-CN" sz="2400" i="1">
                                <a:latin typeface="Cambria Math" panose="02040503050406030204" pitchFamily="18" charset="0"/>
                              </a:rPr>
                              <m:t>3</m:t>
                            </m:r>
                          </m:sup>
                        </m:sSup>
                      </m:oMath>
                    </m:oMathPara>
                  </a14:m>
                  <a:endParaRPr lang="zh-CN" alt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5617361" y="4952905"/>
                  <a:ext cx="3924023" cy="369332"/>
                </a:xfrm>
                <a:prstGeom prst="rect">
                  <a:avLst/>
                </a:prstGeom>
                <a:blipFill rotWithShape="1">
                  <a:blip r:embed="rId4"/>
                </a:blipFill>
              </p:spPr>
              <p:txBody>
                <a:bodyPr/>
                <a:lstStyle/>
                <a:p>
                  <a:r>
                    <a:rPr lang="zh-CN" altLang="en-US">
                      <a:noFill/>
                    </a:rPr>
                    <a:t> </a:t>
                  </a:r>
                </a:p>
              </p:txBody>
            </p:sp>
          </mc:Fallback>
        </mc:AlternateContent>
        <p:sp>
          <p:nvSpPr>
            <p:cNvPr id="11" name="Line 60"/>
            <p:cNvSpPr>
              <a:spLocks noChangeShapeType="1"/>
            </p:cNvSpPr>
            <p:nvPr/>
          </p:nvSpPr>
          <p:spPr bwMode="auto">
            <a:xfrm flipH="1" flipV="1">
              <a:off x="7469695" y="3308753"/>
              <a:ext cx="0" cy="995402"/>
            </a:xfrm>
            <a:prstGeom prst="line">
              <a:avLst/>
            </a:prstGeom>
            <a:noFill/>
            <a:ln w="19050">
              <a:solidFill>
                <a:srgbClr val="FF0000"/>
              </a:solidFill>
              <a:round/>
              <a:headEnd type="arrow" w="lg" len="med"/>
              <a:tailEnd type="arrow" w="lg" len="lg"/>
            </a:ln>
            <a:extLst>
              <a:ext uri="{909E8E84-426E-40DD-AFC4-6F175D3DCCD1}">
                <a14:hiddenFill xmlns:a14="http://schemas.microsoft.com/office/drawing/2010/main">
                  <a:noFill/>
                </a14:hiddenFill>
              </a:ext>
            </a:extLst>
          </p:spPr>
          <p:txBody>
            <a:bodyPr wrap="none"/>
            <a:lstStyle/>
            <a:p>
              <a:endParaRPr lang="en-US" dirty="0"/>
            </a:p>
          </p:txBody>
        </p:sp>
        <mc:AlternateContent xmlns:mc="http://schemas.openxmlformats.org/markup-compatibility/2006">
          <mc:Choice xmlns:a14="http://schemas.microsoft.com/office/drawing/2010/main" Requires="a14">
            <p:sp>
              <p:nvSpPr>
                <p:cNvPr id="13" name="文本框 12"/>
                <p:cNvSpPr txBox="1"/>
                <p:nvPr/>
              </p:nvSpPr>
              <p:spPr>
                <a:xfrm>
                  <a:off x="8308427" y="3855826"/>
                  <a:ext cx="1061545"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𝐹</m:t>
                        </m:r>
                        <m:r>
                          <a:rPr lang="en-US" altLang="zh-CN" sz="2000" b="0" i="1" smtClean="0">
                            <a:latin typeface="Cambria Math" panose="02040503050406030204" pitchFamily="18" charset="0"/>
                          </a:rPr>
                          <m:t>=</m:t>
                        </m:r>
                        <m:r>
                          <a:rPr lang="en-US" altLang="zh-CN" sz="2000" i="1">
                            <a:latin typeface="Cambria Math" panose="02040503050406030204" pitchFamily="18" charset="0"/>
                          </a:rPr>
                          <m:t>𝑘𝑥</m:t>
                        </m:r>
                      </m:oMath>
                    </m:oMathPara>
                  </a14:m>
                  <a:endParaRPr lang="zh-CN" altLang="en-US" sz="2000" dirty="0"/>
                </a:p>
              </p:txBody>
            </p:sp>
          </mc:Choice>
          <mc:Fallback>
            <p:sp>
              <p:nvSpPr>
                <p:cNvPr id="13" name="文本框 12"/>
                <p:cNvSpPr txBox="1">
                  <a:spLocks noRot="1" noChangeAspect="1" noMove="1" noResize="1" noEditPoints="1" noAdjustHandles="1" noChangeArrowheads="1" noChangeShapeType="1" noTextEdit="1"/>
                </p:cNvSpPr>
                <p:nvPr/>
              </p:nvSpPr>
              <p:spPr>
                <a:xfrm>
                  <a:off x="8308427" y="3855826"/>
                  <a:ext cx="1061545"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7395047" y="3785337"/>
                  <a:ext cx="578069"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𝐿</m:t>
                        </m:r>
                      </m:oMath>
                    </m:oMathPara>
                  </a14:m>
                  <a:endParaRPr lang="zh-CN" altLang="en-US" sz="2000" dirty="0"/>
                </a:p>
              </p:txBody>
            </p:sp>
          </mc:Choice>
          <mc:Fallback>
            <p:sp>
              <p:nvSpPr>
                <p:cNvPr id="15" name="文本框 14"/>
                <p:cNvSpPr txBox="1">
                  <a:spLocks noRot="1" noChangeAspect="1" noMove="1" noResize="1" noEditPoints="1" noAdjustHandles="1" noChangeArrowheads="1" noChangeShapeType="1" noTextEdit="1"/>
                </p:cNvSpPr>
                <p:nvPr/>
              </p:nvSpPr>
              <p:spPr>
                <a:xfrm>
                  <a:off x="7395047" y="3785337"/>
                  <a:ext cx="578069" cy="400110"/>
                </a:xfrm>
                <a:prstGeom prst="rect">
                  <a:avLst/>
                </a:prstGeom>
                <a:blipFill rotWithShape="1">
                  <a:blip r:embed="rId6"/>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0" name="文本框 19"/>
              <p:cNvSpPr txBox="1"/>
              <p:nvPr/>
            </p:nvSpPr>
            <p:spPr>
              <a:xfrm>
                <a:off x="10068371" y="3887855"/>
                <a:ext cx="2229423" cy="668388"/>
              </a:xfrm>
              <a:prstGeom prst="rect">
                <a:avLst/>
              </a:prstGeom>
              <a:noFill/>
            </p:spPr>
            <p:txBody>
              <a:bodyPr wrap="square">
                <a:spAutoFit/>
              </a:bodyPr>
              <a:lstStyle/>
              <a:p>
                <a14:m>
                  <m:oMath xmlns:m="http://schemas.openxmlformats.org/officeDocument/2006/math">
                    <m:r>
                      <a:rPr lang="en-US" altLang="zh-CN" sz="2400" i="1">
                        <a:latin typeface="Cambria Math" panose="02040503050406030204" pitchFamily="18" charset="0"/>
                      </a:rPr>
                      <m:t>𝑥</m:t>
                    </m:r>
                    <m:r>
                      <a:rPr lang="en-US" altLang="zh-CN" sz="2400" i="1">
                        <a:latin typeface="Cambria Math" panose="02040503050406030204" pitchFamily="18" charset="0"/>
                      </a:rPr>
                      <m:t>=</m:t>
                    </m:r>
                  </m:oMath>
                </a14:m>
                <a:r>
                  <a:rPr lang="en-US" altLang="zh-CN" sz="2400" dirty="0"/>
                  <a:t> </a:t>
                </a:r>
                <a14:m>
                  <m:oMath xmlns:m="http://schemas.openxmlformats.org/officeDocument/2006/math">
                    <m:f>
                      <m:fPr>
                        <m:ctrlPr>
                          <a:rPr lang="en-US" altLang="zh-CN" sz="2400" i="1">
                            <a:latin typeface="Cambria Math" panose="02040503050406030204" pitchFamily="18" charset="0"/>
                          </a:rPr>
                        </m:ctrlPr>
                      </m:fPr>
                      <m:num>
                        <m:r>
                          <a:rPr lang="zh-CN" altLang="en-US" sz="2400" i="1">
                            <a:latin typeface="Cambria Math" panose="02040503050406030204" pitchFamily="18" charset="0"/>
                          </a:rPr>
                          <m:t>𝜏</m:t>
                        </m:r>
                      </m:num>
                      <m:den>
                        <m:r>
                          <a:rPr lang="en-US" altLang="zh-CN" sz="2400" i="1">
                            <a:latin typeface="Cambria Math" panose="02040503050406030204" pitchFamily="18" charset="0"/>
                          </a:rPr>
                          <m:t>𝑘𝐿</m:t>
                        </m:r>
                      </m:den>
                    </m:f>
                  </m:oMath>
                </a14:m>
                <a:r>
                  <a:rPr lang="en-US" altLang="zh-CN" sz="2400" i="1" dirty="0">
                    <a:latin typeface="Cambria Math" panose="02040503050406030204" pitchFamily="18" charset="0"/>
                  </a:rPr>
                  <a:t>= </a:t>
                </a:r>
                <a14:m>
                  <m:oMath xmlns:m="http://schemas.openxmlformats.org/officeDocument/2006/math">
                    <m:f>
                      <m:fPr>
                        <m:ctrlPr>
                          <a:rPr lang="en-US" altLang="zh-CN" sz="2400" i="1" smtClean="0">
                            <a:latin typeface="Cambria Math" panose="02040503050406030204" pitchFamily="18" charset="0"/>
                          </a:rPr>
                        </m:ctrlPr>
                      </m:fPr>
                      <m:num>
                        <m:r>
                          <a:rPr lang="en-US" altLang="zh-CN" sz="2400" i="1">
                            <a:latin typeface="Cambria Math" panose="02040503050406030204" pitchFamily="18" charset="0"/>
                          </a:rPr>
                          <m:t>𝐾</m:t>
                        </m:r>
                        <m:sSup>
                          <m:sSupPr>
                            <m:ctrlPr>
                              <a:rPr lang="en-US" altLang="zh-CN" sz="2400" i="1">
                                <a:latin typeface="Cambria Math" panose="02040503050406030204" pitchFamily="18" charset="0"/>
                              </a:rPr>
                            </m:ctrlPr>
                          </m:sSupPr>
                          <m:e>
                            <m:r>
                              <a:rPr lang="zh-CN" altLang="en-US" sz="2400" i="1">
                                <a:latin typeface="Cambria Math" panose="02040503050406030204" pitchFamily="18" charset="0"/>
                              </a:rPr>
                              <m:t>𝜃</m:t>
                            </m:r>
                          </m:e>
                          <m:sup>
                            <m:r>
                              <a:rPr lang="en-US" altLang="zh-CN" sz="2400" i="1">
                                <a:latin typeface="Cambria Math" panose="02040503050406030204" pitchFamily="18" charset="0"/>
                              </a:rPr>
                              <m:t>3</m:t>
                            </m:r>
                          </m:sup>
                        </m:sSup>
                      </m:num>
                      <m:den>
                        <m:r>
                          <a:rPr lang="en-US" altLang="zh-CN" sz="2400" i="1">
                            <a:latin typeface="Cambria Math" panose="02040503050406030204" pitchFamily="18" charset="0"/>
                          </a:rPr>
                          <m:t>𝑘𝐿</m:t>
                        </m:r>
                      </m:den>
                    </m:f>
                  </m:oMath>
                </a14:m>
                <a:endParaRPr lang="zh-CN" altLang="en-US" sz="2400" dirty="0"/>
              </a:p>
            </p:txBody>
          </p:sp>
        </mc:Choice>
        <mc:Fallback>
          <p:sp>
            <p:nvSpPr>
              <p:cNvPr id="20" name="文本框 19"/>
              <p:cNvSpPr txBox="1">
                <a:spLocks noRot="1" noChangeAspect="1" noMove="1" noResize="1" noEditPoints="1" noAdjustHandles="1" noChangeArrowheads="1" noChangeShapeType="1" noTextEdit="1"/>
              </p:cNvSpPr>
              <p:nvPr/>
            </p:nvSpPr>
            <p:spPr>
              <a:xfrm>
                <a:off x="10068371" y="3887855"/>
                <a:ext cx="2229423" cy="668388"/>
              </a:xfrm>
              <a:prstGeom prst="rect">
                <a:avLst/>
              </a:prstGeom>
              <a:blipFill rotWithShape="1">
                <a:blip r:embed="rId7"/>
                <a:stretch>
                  <a:fillRect l="-20" t="-58" r="17" b="18"/>
                </a:stretch>
              </a:blipFill>
            </p:spPr>
            <p:txBody>
              <a:bodyPr/>
              <a:lstStyle/>
              <a:p>
                <a:r>
                  <a:rPr lang="zh-CN" altLang="en-US">
                    <a:noFill/>
                  </a:rPr>
                  <a:t> </a:t>
                </a:r>
              </a:p>
            </p:txBody>
          </p:sp>
        </mc:Fallback>
      </mc:AlternateContent>
      <p:sp>
        <p:nvSpPr>
          <p:cNvPr id="25" name="Line 60"/>
          <p:cNvSpPr>
            <a:spLocks noChangeShapeType="1"/>
          </p:cNvSpPr>
          <p:nvPr/>
        </p:nvSpPr>
        <p:spPr bwMode="auto">
          <a:xfrm flipH="1" flipV="1">
            <a:off x="9549256" y="4262416"/>
            <a:ext cx="466775" cy="0"/>
          </a:xfrm>
          <a:prstGeom prst="line">
            <a:avLst/>
          </a:prstGeom>
          <a:noFill/>
          <a:ln w="19050">
            <a:solidFill>
              <a:srgbClr val="FF0000"/>
            </a:solidFill>
            <a:round/>
            <a:headEnd type="arrow" w="lg" len="med"/>
            <a:tailEnd type="none" w="sm" len="lg"/>
          </a:ln>
          <a:extLst>
            <a:ext uri="{909E8E84-426E-40DD-AFC4-6F175D3DCCD1}">
              <a14:hiddenFill xmlns:a14="http://schemas.microsoft.com/office/drawing/2010/main">
                <a:noFill/>
              </a14:hiddenFill>
            </a:ext>
          </a:extLst>
        </p:spPr>
        <p:txBody>
          <a:bodyPr wrap="square"/>
          <a:lstStyle/>
          <a:p>
            <a:endParaRPr lang="en-US" dirty="0"/>
          </a:p>
        </p:txBody>
      </p:sp>
      <p:pic>
        <p:nvPicPr>
          <p:cNvPr id="3" name="图片 2"/>
          <p:cNvPicPr>
            <a:picLocks noChangeAspect="1"/>
          </p:cNvPicPr>
          <p:nvPr/>
        </p:nvPicPr>
        <p:blipFill>
          <a:blip r:embed="rId8"/>
          <a:stretch>
            <a:fillRect/>
          </a:stretch>
        </p:blipFill>
        <p:spPr>
          <a:xfrm>
            <a:off x="531495" y="3436620"/>
            <a:ext cx="1860550" cy="577850"/>
          </a:xfrm>
          <a:prstGeom prst="rect">
            <a:avLst/>
          </a:prstGeom>
        </p:spPr>
      </p:pic>
      <p:sp>
        <p:nvSpPr>
          <p:cNvPr id="18" name="文本框 17"/>
          <p:cNvSpPr txBox="1"/>
          <p:nvPr/>
        </p:nvSpPr>
        <p:spPr>
          <a:xfrm>
            <a:off x="316230" y="5626100"/>
            <a:ext cx="7537450" cy="706755"/>
          </a:xfrm>
          <a:prstGeom prst="rect">
            <a:avLst/>
          </a:prstGeom>
          <a:noFill/>
        </p:spPr>
        <p:txBody>
          <a:bodyPr wrap="square">
            <a:spAutoFit/>
          </a:bodyPr>
          <a:lstStyle/>
          <a:p>
            <a:r>
              <a:rPr lang="en-US" altLang="zh-CN" sz="2000" b="1" dirty="0">
                <a:solidFill>
                  <a:schemeClr val="tx1"/>
                </a:solidFill>
                <a:latin typeface="微软雅黑" panose="020B0503020204020204" pitchFamily="34" charset="-122"/>
                <a:ea typeface="微软雅黑" panose="020B0503020204020204" pitchFamily="34" charset="-122"/>
              </a:rPr>
              <a:t>How to design a spring so that </a:t>
            </a:r>
            <a:r>
              <a:rPr lang="en-US" altLang="zh-CN" sz="2000" b="1" dirty="0">
                <a:solidFill>
                  <a:srgbClr val="FF0000"/>
                </a:solidFill>
                <a:latin typeface="微软雅黑" panose="020B0503020204020204" pitchFamily="34" charset="-122"/>
                <a:ea typeface="微软雅黑" panose="020B0503020204020204" pitchFamily="34" charset="-122"/>
              </a:rPr>
              <a:t>it produces any desired torque τ at the corresponding angle of rotation θ</a:t>
            </a:r>
            <a:r>
              <a:rPr lang="zh-CN" altLang="en-US" sz="2000" b="1" dirty="0">
                <a:solidFill>
                  <a:schemeClr val="tx1"/>
                </a:solidFill>
                <a:latin typeface="微软雅黑" panose="020B0503020204020204" pitchFamily="34" charset="-122"/>
                <a:ea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9"/>
          <a:stretch>
            <a:fillRect/>
          </a:stretch>
        </p:blipFill>
        <p:spPr>
          <a:xfrm>
            <a:off x="4250201" y="2870700"/>
            <a:ext cx="1402138" cy="1382878"/>
          </a:xfrm>
          <a:prstGeom prst="rect">
            <a:avLst/>
          </a:prstGeom>
        </p:spPr>
      </p:pic>
      <p:sp>
        <p:nvSpPr>
          <p:cNvPr id="21" name="标题 741383"/>
          <p:cNvSpPr txBox="1">
            <a:spLocks noRot="1" noChangeArrowheads="1"/>
          </p:cNvSpPr>
          <p:nvPr/>
        </p:nvSpPr>
        <p:spPr bwMode="auto">
          <a:xfrm>
            <a:off x="228569" y="1530461"/>
            <a:ext cx="3607655" cy="676275"/>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4200">
                <a:solidFill>
                  <a:schemeClr val="tx2"/>
                </a:solidFill>
                <a:latin typeface="Times New Roman" panose="02020603050405020304" pitchFamily="18" charset="0"/>
                <a:ea typeface="黑体" panose="02010609060101010101" pitchFamily="2" charset="-122"/>
              </a:defRPr>
            </a:lvl9pPr>
          </a:lstStyle>
          <a:p>
            <a:pPr eaLnBrk="1" hangingPunct="1"/>
            <a:r>
              <a:rPr lang="zh-CN" altLang="en-US" sz="2200" b="1" dirty="0">
                <a:solidFill>
                  <a:srgbClr val="201E84"/>
                </a:solidFill>
                <a:latin typeface="微软雅黑" panose="020B0503020204020204" pitchFamily="34" charset="-122"/>
                <a:ea typeface="微软雅黑" panose="020B0503020204020204" pitchFamily="34" charset="-122"/>
                <a:cs typeface="+mn-cs"/>
              </a:rPr>
              <a:t>Frontier Extension: Bionic Prosthetic Foot Design</a:t>
            </a:r>
            <a:endParaRPr lang="zh-CN" altLang="en-US" sz="2200" b="1" dirty="0">
              <a:solidFill>
                <a:srgbClr val="201E84"/>
              </a:solidFill>
              <a:latin typeface="微软雅黑" panose="020B0503020204020204" pitchFamily="34" charset="-122"/>
              <a:ea typeface="微软雅黑" panose="020B0503020204020204" pitchFamily="34" charset="-122"/>
              <a:cs typeface="+mn-cs"/>
            </a:endParaRPr>
          </a:p>
        </p:txBody>
      </p:sp>
      <p:sp>
        <p:nvSpPr>
          <p:cNvPr id="23" name="文本框 22"/>
          <p:cNvSpPr txBox="1"/>
          <p:nvPr/>
        </p:nvSpPr>
        <p:spPr>
          <a:xfrm>
            <a:off x="316230" y="4314825"/>
            <a:ext cx="5085715" cy="429895"/>
          </a:xfrm>
          <a:prstGeom prst="rect">
            <a:avLst/>
          </a:prstGeom>
          <a:noFill/>
        </p:spPr>
        <p:txBody>
          <a:bodyPr wrap="square">
            <a:spAutoFit/>
          </a:bodyPr>
          <a:lstStyle/>
          <a:p>
            <a:r>
              <a:rPr lang="zh-CN" altLang="en-US" sz="2200" b="1" dirty="0">
                <a:latin typeface="微软雅黑" panose="020B0503020204020204" pitchFamily="34" charset="-122"/>
                <a:ea typeface="微软雅黑" panose="020B0503020204020204" pitchFamily="34" charset="-122"/>
              </a:rPr>
              <a:t>Why bionics? How to achieve it?</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372177" y="6259791"/>
            <a:ext cx="6689860" cy="398780"/>
          </a:xfrm>
          <a:prstGeom prst="rect">
            <a:avLst/>
          </a:prstGeom>
          <a:noFill/>
        </p:spPr>
        <p:txBody>
          <a:bodyPr wrap="square">
            <a:spAutoFit/>
          </a:bodyPr>
          <a:lstStyle/>
          <a:p>
            <a:r>
              <a:rPr lang="zh-CN" altLang="en-US" sz="2000" b="1" dirty="0">
                <a:solidFill>
                  <a:schemeClr val="tx1"/>
                </a:solidFill>
                <a:latin typeface="微软雅黑" panose="020B0503020204020204" pitchFamily="34" charset="-122"/>
                <a:ea typeface="微软雅黑" panose="020B0503020204020204" pitchFamily="34" charset="-122"/>
              </a:rPr>
              <a:t>Can electronic control achieve it? What problems?</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6823839" y="6203731"/>
            <a:ext cx="4731278" cy="706755"/>
          </a:xfrm>
          <a:prstGeom prst="rect">
            <a:avLst/>
          </a:prstGeom>
          <a:noFill/>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Cost? Weight? Response speed? Reliability?</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22" name="灯片编号占位符 1"/>
          <p:cNvSpPr txBox="1"/>
          <p:nvPr/>
        </p:nvSpPr>
        <p:spPr>
          <a:xfrm>
            <a:off x="11712102" y="6446393"/>
            <a:ext cx="479897" cy="365125"/>
          </a:xfrm>
          <a:prstGeom prst="rect">
            <a:avLst/>
          </a:prstGeom>
        </p:spPr>
        <p:txBody>
          <a:bodyPr wrap="squar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4A3870-DF25-464D-B6EA-3BA6EAAA2BCA}" type="slidenum">
              <a:rPr lang="zh-CN" altLang="en-US" smtClean="0">
                <a:latin typeface="+mj-lt"/>
                <a:ea typeface="微软雅黑" panose="020B0503020204020204" pitchFamily="34" charset="-122"/>
              </a:rPr>
            </a:fld>
            <a:endParaRPr lang="zh-CN" altLang="en-US" dirty="0">
              <a:latin typeface="+mj-lt"/>
              <a:ea typeface="微软雅黑" panose="020B0503020204020204" pitchFamily="34" charset="-122"/>
            </a:endParaRPr>
          </a:p>
        </p:txBody>
      </p:sp>
      <p:grpSp>
        <p:nvGrpSpPr>
          <p:cNvPr id="46" name="组合 45"/>
          <p:cNvGrpSpPr/>
          <p:nvPr/>
        </p:nvGrpSpPr>
        <p:grpSpPr>
          <a:xfrm>
            <a:off x="9843372" y="2221686"/>
            <a:ext cx="1471206" cy="1135325"/>
            <a:chOff x="9843372" y="2221686"/>
            <a:chExt cx="1471206" cy="1135325"/>
          </a:xfrm>
        </p:grpSpPr>
        <mc:AlternateContent xmlns:mc="http://schemas.openxmlformats.org/markup-compatibility/2006">
          <mc:Choice xmlns:a14="http://schemas.microsoft.com/office/drawing/2010/main" Requires="a14">
            <p:sp>
              <p:nvSpPr>
                <p:cNvPr id="40" name="文本框 39"/>
                <p:cNvSpPr txBox="1"/>
                <p:nvPr/>
              </p:nvSpPr>
              <p:spPr>
                <a:xfrm>
                  <a:off x="9843372" y="2956901"/>
                  <a:ext cx="1061545"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𝜏</m:t>
                        </m:r>
                        <m:r>
                          <a:rPr lang="en-US" altLang="zh-CN" sz="2000" b="0" i="1" smtClean="0">
                            <a:latin typeface="Cambria Math" panose="02040503050406030204" pitchFamily="18" charset="0"/>
                          </a:rPr>
                          <m:t>=</m:t>
                        </m:r>
                        <m:r>
                          <a:rPr lang="en-US" altLang="zh-CN" sz="2000" i="1" smtClean="0">
                            <a:latin typeface="Cambria Math" panose="02040503050406030204" pitchFamily="18" charset="0"/>
                          </a:rPr>
                          <m:t>𝑘</m:t>
                        </m:r>
                        <m:r>
                          <a:rPr lang="en-US" altLang="zh-CN" sz="2000" i="1">
                            <a:latin typeface="Cambria Math" panose="02040503050406030204" pitchFamily="18" charset="0"/>
                          </a:rPr>
                          <m:t>𝑥𝐿</m:t>
                        </m:r>
                      </m:oMath>
                    </m:oMathPara>
                  </a14:m>
                  <a:endParaRPr lang="zh-CN" altLang="en-US" sz="2000" dirty="0"/>
                </a:p>
              </p:txBody>
            </p:sp>
          </mc:Choice>
          <mc:Fallback>
            <p:sp>
              <p:nvSpPr>
                <p:cNvPr id="40" name="文本框 39"/>
                <p:cNvSpPr txBox="1">
                  <a:spLocks noRot="1" noChangeAspect="1" noMove="1" noResize="1" noEditPoints="1" noAdjustHandles="1" noChangeArrowheads="1" noChangeShapeType="1" noTextEdit="1"/>
                </p:cNvSpPr>
                <p:nvPr/>
              </p:nvSpPr>
              <p:spPr>
                <a:xfrm>
                  <a:off x="9843372" y="2956901"/>
                  <a:ext cx="1061545" cy="400110"/>
                </a:xfrm>
                <a:prstGeom prst="rect">
                  <a:avLst/>
                </a:prstGeom>
                <a:blipFill rotWithShape="1">
                  <a:blip r:embed="rId10"/>
                </a:blipFill>
              </p:spPr>
              <p:txBody>
                <a:bodyPr/>
                <a:lstStyle/>
                <a:p>
                  <a:r>
                    <a:rPr lang="zh-CN" altLang="en-US">
                      <a:noFill/>
                    </a:rPr>
                    <a:t> </a:t>
                  </a:r>
                </a:p>
              </p:txBody>
            </p:sp>
          </mc:Fallback>
        </mc:AlternateContent>
        <p:sp>
          <p:nvSpPr>
            <p:cNvPr id="41" name="椭圆 40"/>
            <p:cNvSpPr>
              <a:spLocks noChangeArrowheads="1"/>
            </p:cNvSpPr>
            <p:nvPr/>
          </p:nvSpPr>
          <p:spPr bwMode="auto">
            <a:xfrm>
              <a:off x="10878467" y="2377516"/>
              <a:ext cx="131762" cy="120650"/>
            </a:xfrm>
            <a:prstGeom prst="ellipse">
              <a:avLst/>
            </a:prstGeom>
            <a:solidFill>
              <a:srgbClr val="FF0000"/>
            </a:solidFill>
            <a:ln w="3175">
              <a:solidFill>
                <a:srgbClr val="FF0000"/>
              </a:solidFill>
              <a:round/>
            </a:ln>
          </p:spPr>
          <p:txBody>
            <a:bodyPr/>
            <a:lstStyle>
              <a:lvl1pPr>
                <a:lnSpc>
                  <a:spcPct val="90000"/>
                </a:lnSpc>
                <a:spcBef>
                  <a:spcPct val="163000"/>
                </a:spcBef>
                <a:buFont typeface="Arial" panose="020B0604020202020204" pitchFamily="34" charset="0"/>
                <a:buChar char="•"/>
                <a:defRPr sz="2200">
                  <a:solidFill>
                    <a:schemeClr val="tx1"/>
                  </a:solidFill>
                  <a:latin typeface="Franklin Gothic Medium" panose="020B0603020102020204" pitchFamily="34" charset="0"/>
                </a:defRPr>
              </a:lvl1pPr>
              <a:lvl2pPr marL="742950" indent="-285750">
                <a:lnSpc>
                  <a:spcPct val="90000"/>
                </a:lnSpc>
                <a:spcBef>
                  <a:spcPts val="400"/>
                </a:spcBef>
                <a:buFont typeface="Arial" panose="020B0604020202020204" pitchFamily="34" charset="0"/>
                <a:buChar char="•"/>
                <a:defRPr sz="1900">
                  <a:solidFill>
                    <a:schemeClr val="tx1"/>
                  </a:solidFill>
                  <a:latin typeface="Franklin Gothic Medium" panose="020B0603020102020204" pitchFamily="34" charset="0"/>
                </a:defRPr>
              </a:lvl2pPr>
              <a:lvl3pPr marL="1143000" indent="-228600">
                <a:lnSpc>
                  <a:spcPct val="90000"/>
                </a:lnSpc>
                <a:spcBef>
                  <a:spcPts val="400"/>
                </a:spcBef>
                <a:buFont typeface="Arial" panose="020B0604020202020204" pitchFamily="34" charset="0"/>
                <a:buChar char="•"/>
                <a:defRPr sz="1600">
                  <a:solidFill>
                    <a:schemeClr val="tx1"/>
                  </a:solidFill>
                  <a:latin typeface="Franklin Gothic Medium" panose="020B0603020102020204" pitchFamily="34" charset="0"/>
                </a:defRPr>
              </a:lvl3pPr>
              <a:lvl4pPr marL="16002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4pPr>
              <a:lvl5pPr marL="2057400" indent="-228600">
                <a:lnSpc>
                  <a:spcPct val="90000"/>
                </a:lnSpc>
                <a:spcBef>
                  <a:spcPts val="400"/>
                </a:spcBef>
                <a:buFont typeface="Arial" panose="020B0604020202020204" pitchFamily="34" charset="0"/>
                <a:buChar char="•"/>
                <a:defRPr sz="1400">
                  <a:solidFill>
                    <a:schemeClr val="tx1"/>
                  </a:solidFill>
                  <a:latin typeface="Franklin Gothic Medium" panose="020B0603020102020204" pitchFamily="34" charset="0"/>
                </a:defRPr>
              </a:lvl5pPr>
              <a:lvl6pPr marL="25146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6pPr>
              <a:lvl7pPr marL="29718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7pPr>
              <a:lvl8pPr marL="34290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8pPr>
              <a:lvl9pPr marL="3886200" indent="-228600" eaLnBrk="0" fontAlgn="base" hangingPunct="0">
                <a:lnSpc>
                  <a:spcPct val="90000"/>
                </a:lnSpc>
                <a:spcBef>
                  <a:spcPts val="400"/>
                </a:spcBef>
                <a:spcAft>
                  <a:spcPct val="0"/>
                </a:spcAft>
                <a:buFont typeface="Arial" panose="020B0604020202020204" pitchFamily="34" charset="0"/>
                <a:buChar char="•"/>
                <a:defRPr sz="1400">
                  <a:solidFill>
                    <a:schemeClr val="tx1"/>
                  </a:solidFill>
                  <a:latin typeface="Franklin Gothic Medium" panose="020B0603020102020204" pitchFamily="34" charset="0"/>
                </a:defRPr>
              </a:lvl9pPr>
            </a:lstStyle>
            <a:p>
              <a:pPr>
                <a:lnSpc>
                  <a:spcPct val="100000"/>
                </a:lnSpc>
                <a:spcBef>
                  <a:spcPct val="0"/>
                </a:spcBef>
                <a:buFont typeface="Arial" panose="020B0604020202020204" pitchFamily="34" charset="0"/>
                <a:buNone/>
              </a:pPr>
              <a:endParaRPr lang="zh-CN"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42" name="文本框 41"/>
                <p:cNvSpPr txBox="1"/>
                <p:nvPr/>
              </p:nvSpPr>
              <p:spPr>
                <a:xfrm>
                  <a:off x="10725284" y="2725516"/>
                  <a:ext cx="589294"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i="1">
                                <a:latin typeface="Cambria Math" panose="02040503050406030204" pitchFamily="18" charset="0"/>
                              </a:rPr>
                              <m:t>𝜃</m:t>
                            </m:r>
                          </m:e>
                          <m:sub>
                            <m:r>
                              <a:rPr lang="en-US" altLang="zh-CN" sz="2000" b="0" i="1" smtClean="0">
                                <a:latin typeface="Cambria Math" panose="02040503050406030204" pitchFamily="18" charset="0"/>
                              </a:rPr>
                              <m:t>1</m:t>
                            </m:r>
                          </m:sub>
                        </m:sSub>
                      </m:oMath>
                    </m:oMathPara>
                  </a14:m>
                  <a:endParaRPr lang="zh-CN" altLang="en-US" sz="2000" dirty="0"/>
                </a:p>
              </p:txBody>
            </p:sp>
          </mc:Choice>
          <mc:Fallback>
            <p:sp>
              <p:nvSpPr>
                <p:cNvPr id="42" name="文本框 41"/>
                <p:cNvSpPr txBox="1">
                  <a:spLocks noRot="1" noChangeAspect="1" noMove="1" noResize="1" noEditPoints="1" noAdjustHandles="1" noChangeArrowheads="1" noChangeShapeType="1" noTextEdit="1"/>
                </p:cNvSpPr>
                <p:nvPr/>
              </p:nvSpPr>
              <p:spPr>
                <a:xfrm>
                  <a:off x="10725284" y="2725516"/>
                  <a:ext cx="589294" cy="400110"/>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10016032" y="2221686"/>
                  <a:ext cx="589294"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𝜏</m:t>
                            </m:r>
                          </m:e>
                          <m:sub>
                            <m:r>
                              <a:rPr lang="en-US" altLang="zh-CN" sz="2000" b="0" i="1" smtClean="0">
                                <a:latin typeface="Cambria Math" panose="02040503050406030204" pitchFamily="18" charset="0"/>
                              </a:rPr>
                              <m:t>1</m:t>
                            </m:r>
                          </m:sub>
                        </m:sSub>
                      </m:oMath>
                    </m:oMathPara>
                  </a14:m>
                  <a:endParaRPr lang="zh-CN" altLang="en-US" sz="2000" dirty="0"/>
                </a:p>
              </p:txBody>
            </p:sp>
          </mc:Choice>
          <mc:Fallback>
            <p:sp>
              <p:nvSpPr>
                <p:cNvPr id="43" name="文本框 42"/>
                <p:cNvSpPr txBox="1">
                  <a:spLocks noRot="1" noChangeAspect="1" noMove="1" noResize="1" noEditPoints="1" noAdjustHandles="1" noChangeArrowheads="1" noChangeShapeType="1" noTextEdit="1"/>
                </p:cNvSpPr>
                <p:nvPr/>
              </p:nvSpPr>
              <p:spPr>
                <a:xfrm>
                  <a:off x="10016032" y="2221686"/>
                  <a:ext cx="589294" cy="400110"/>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10059774" y="2705013"/>
                  <a:ext cx="521187"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oMath>
                    </m:oMathPara>
                  </a14:m>
                  <a:endParaRPr lang="zh-CN" altLang="en-US" sz="2000" dirty="0"/>
                </a:p>
              </p:txBody>
            </p:sp>
          </mc:Choice>
          <mc:Fallback>
            <p:sp>
              <p:nvSpPr>
                <p:cNvPr id="44" name="文本框 43"/>
                <p:cNvSpPr txBox="1">
                  <a:spLocks noRot="1" noChangeAspect="1" noMove="1" noResize="1" noEditPoints="1" noAdjustHandles="1" noChangeArrowheads="1" noChangeShapeType="1" noTextEdit="1"/>
                </p:cNvSpPr>
                <p:nvPr/>
              </p:nvSpPr>
              <p:spPr>
                <a:xfrm>
                  <a:off x="10059774" y="2705013"/>
                  <a:ext cx="521187" cy="400110"/>
                </a:xfrm>
                <a:prstGeom prst="rect">
                  <a:avLst/>
                </a:prstGeom>
                <a:blipFill rotWithShape="1">
                  <a:blip r:embed="rId13"/>
                </a:blipFill>
              </p:spPr>
              <p:txBody>
                <a:bodyPr/>
                <a:lstStyle/>
                <a:p>
                  <a:r>
                    <a:rPr lang="zh-CN" altLang="en-US">
                      <a:noFill/>
                    </a:rPr>
                    <a:t> </a:t>
                  </a:r>
                </a:p>
              </p:txBody>
            </p:sp>
          </mc:Fallback>
        </mc:AlternateContent>
        <p:sp>
          <p:nvSpPr>
            <p:cNvPr id="45" name="Line 60"/>
            <p:cNvSpPr>
              <a:spLocks noChangeShapeType="1"/>
            </p:cNvSpPr>
            <p:nvPr/>
          </p:nvSpPr>
          <p:spPr bwMode="auto">
            <a:xfrm flipH="1" flipV="1">
              <a:off x="10303425" y="2559118"/>
              <a:ext cx="0" cy="263285"/>
            </a:xfrm>
            <a:prstGeom prst="line">
              <a:avLst/>
            </a:prstGeom>
            <a:noFill/>
            <a:ln w="19050">
              <a:solidFill>
                <a:srgbClr val="FF0000"/>
              </a:solidFill>
              <a:round/>
              <a:headEnd type="arrow" w="lg" len="med"/>
              <a:tailEnd type="none" w="sm" len="lg"/>
            </a:ln>
            <a:extLst>
              <a:ext uri="{909E8E84-426E-40DD-AFC4-6F175D3DCCD1}">
                <a14:hiddenFill xmlns:a14="http://schemas.microsoft.com/office/drawing/2010/main">
                  <a:noFill/>
                </a14:hiddenFill>
              </a:ext>
            </a:extLst>
          </p:spPr>
          <p:txBody>
            <a:bodyPr wrap="none"/>
            <a:lstStyle/>
            <a:p>
              <a:endParaRPr lang="en-US" sz="2000" dirty="0"/>
            </a:p>
          </p:txBody>
        </p:sp>
      </p:grpSp>
      <p:sp>
        <p:nvSpPr>
          <p:cNvPr id="31" name="文本框 30"/>
          <p:cNvSpPr txBox="1"/>
          <p:nvPr/>
        </p:nvSpPr>
        <p:spPr>
          <a:xfrm>
            <a:off x="316296" y="5015525"/>
            <a:ext cx="7110171" cy="706755"/>
          </a:xfrm>
          <a:prstGeom prst="rect">
            <a:avLst/>
          </a:prstGeom>
          <a:noFill/>
        </p:spPr>
        <p:txBody>
          <a:bodyPr wrap="square">
            <a:spAutoFit/>
          </a:bodyPr>
          <a:lstStyle/>
          <a:p>
            <a:r>
              <a:rPr lang="en-US" altLang="zh-CN" sz="2000" b="1" dirty="0">
                <a:latin typeface="微软雅黑" panose="020B0503020204020204" pitchFamily="34" charset="-122"/>
                <a:ea typeface="微软雅黑" panose="020B0503020204020204" pitchFamily="34" charset="-122"/>
              </a:rPr>
              <a:t>What if the measured τ = f(θ) is more complex than anticipated</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grpSp>
        <p:nvGrpSpPr>
          <p:cNvPr id="34" name="组合 33"/>
          <p:cNvGrpSpPr/>
          <p:nvPr/>
        </p:nvGrpSpPr>
        <p:grpSpPr>
          <a:xfrm flipH="1">
            <a:off x="1949785" y="1870366"/>
            <a:ext cx="2270204" cy="1781517"/>
            <a:chOff x="9636314" y="4547138"/>
            <a:chExt cx="2270204" cy="1781517"/>
          </a:xfrm>
        </p:grpSpPr>
        <p:cxnSp>
          <p:nvCxnSpPr>
            <p:cNvPr id="35" name="直接连接符 34"/>
            <p:cNvCxnSpPr>
              <a:endCxn id="38" idx="6"/>
            </p:cNvCxnSpPr>
            <p:nvPr/>
          </p:nvCxnSpPr>
          <p:spPr bwMode="auto">
            <a:xfrm>
              <a:off x="10095419" y="6276268"/>
              <a:ext cx="588399"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a:endCxn id="37" idx="4"/>
            </p:cNvCxnSpPr>
            <p:nvPr/>
          </p:nvCxnSpPr>
          <p:spPr bwMode="auto">
            <a:xfrm flipH="1" flipV="1">
              <a:off x="10617204" y="5393823"/>
              <a:ext cx="0" cy="864737"/>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椭圆 274448"/>
            <p:cNvSpPr>
              <a:spLocks noChangeArrowheads="1"/>
            </p:cNvSpPr>
            <p:nvPr/>
          </p:nvSpPr>
          <p:spPr bwMode="auto">
            <a:xfrm>
              <a:off x="10566404" y="5289048"/>
              <a:ext cx="101600" cy="104775"/>
            </a:xfrm>
            <a:prstGeom prst="ellipse">
              <a:avLst/>
            </a:prstGeom>
            <a:solidFill>
              <a:schemeClr val="bg1"/>
            </a:solidFill>
            <a:ln w="19050">
              <a:solidFill>
                <a:srgbClr val="000000"/>
              </a:solidFill>
              <a:rou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zh-CN" sz="2000">
                <a:latin typeface="微软雅黑" panose="020B0503020204020204" pitchFamily="34" charset="-122"/>
              </a:endParaRPr>
            </a:p>
          </p:txBody>
        </p:sp>
        <p:sp>
          <p:nvSpPr>
            <p:cNvPr id="38" name="椭圆 274448"/>
            <p:cNvSpPr>
              <a:spLocks noChangeArrowheads="1"/>
            </p:cNvSpPr>
            <p:nvPr/>
          </p:nvSpPr>
          <p:spPr bwMode="auto">
            <a:xfrm>
              <a:off x="10582218" y="6223880"/>
              <a:ext cx="101600" cy="104775"/>
            </a:xfrm>
            <a:prstGeom prst="ellipse">
              <a:avLst/>
            </a:prstGeom>
            <a:solidFill>
              <a:schemeClr val="bg1"/>
            </a:solidFill>
            <a:ln w="19050">
              <a:solidFill>
                <a:srgbClr val="000000"/>
              </a:solidFill>
              <a:rou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Franklin Gothic Medium" panose="020B0603020102020204" pitchFamily="34" charset="0"/>
                  <a:ea typeface="微软雅黑" panose="020B0503020204020204" pitchFamily="34" charset="-122"/>
                </a:defRPr>
              </a:lvl1pPr>
              <a:lvl2pPr marL="742950" indent="-285750">
                <a:lnSpc>
                  <a:spcPct val="90000"/>
                </a:lnSpc>
                <a:spcBef>
                  <a:spcPts val="375"/>
                </a:spcBef>
                <a:buFont typeface="Arial" panose="020B0604020202020204" pitchFamily="34" charset="0"/>
                <a:buChar char="•"/>
                <a:defRPr>
                  <a:solidFill>
                    <a:schemeClr val="tx1"/>
                  </a:solidFill>
                  <a:latin typeface="Franklin Gothic Medium" panose="020B0603020102020204" pitchFamily="34" charset="0"/>
                  <a:ea typeface="微软雅黑" panose="020B0503020204020204" pitchFamily="34"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Franklin Gothic Medium" panose="020B0603020102020204" pitchFamily="34" charset="0"/>
                  <a:ea typeface="微软雅黑" panose="020B0503020204020204" pitchFamily="34"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Franklin Gothic Medium" panose="020B0603020102020204"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zh-CN" sz="2000">
                <a:ln>
                  <a:solidFill>
                    <a:schemeClr val="tx1"/>
                  </a:solidFill>
                </a:ln>
                <a:latin typeface="微软雅黑" panose="020B0503020204020204" pitchFamily="34" charset="-122"/>
              </a:endParaRPr>
            </a:p>
          </p:txBody>
        </p:sp>
        <p:cxnSp>
          <p:nvCxnSpPr>
            <p:cNvPr id="47" name="直接连接符 46"/>
            <p:cNvCxnSpPr/>
            <p:nvPr/>
          </p:nvCxnSpPr>
          <p:spPr bwMode="auto">
            <a:xfrm flipV="1">
              <a:off x="10617203" y="4547138"/>
              <a:ext cx="1" cy="732492"/>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文本框 47"/>
            <p:cNvSpPr txBox="1"/>
            <p:nvPr/>
          </p:nvSpPr>
          <p:spPr>
            <a:xfrm>
              <a:off x="10972810" y="4680103"/>
              <a:ext cx="933708" cy="429895"/>
            </a:xfrm>
            <a:prstGeom prst="rect">
              <a:avLst/>
            </a:prstGeom>
            <a:noFill/>
          </p:spPr>
          <p:txBody>
            <a:bodyPr wrap="square">
              <a:spAutoFit/>
            </a:bodyPr>
            <a:lstStyle/>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thigh</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文本框 48"/>
            <p:cNvSpPr txBox="1"/>
            <p:nvPr/>
          </p:nvSpPr>
          <p:spPr>
            <a:xfrm>
              <a:off x="10822837" y="5399259"/>
              <a:ext cx="933708" cy="429895"/>
            </a:xfrm>
            <a:prstGeom prst="rect">
              <a:avLst/>
            </a:prstGeom>
            <a:noFill/>
          </p:spPr>
          <p:txBody>
            <a:bodyPr wrap="square">
              <a:spAutoFit/>
            </a:bodyPr>
            <a:lstStyle/>
            <a:p>
              <a:r>
                <a:rPr lang="en-US" altLang="zh-CN" sz="2200" dirty="0"/>
                <a:t>calf</a:t>
              </a:r>
              <a:endParaRPr lang="en-US" altLang="zh-CN" sz="2200" dirty="0"/>
            </a:p>
          </p:txBody>
        </p:sp>
        <p:sp>
          <p:nvSpPr>
            <p:cNvPr id="50" name="文本框 49"/>
            <p:cNvSpPr txBox="1"/>
            <p:nvPr/>
          </p:nvSpPr>
          <p:spPr>
            <a:xfrm>
              <a:off x="9636314" y="5606318"/>
              <a:ext cx="941070" cy="429895"/>
            </a:xfrm>
            <a:prstGeom prst="rect">
              <a:avLst/>
            </a:prstGeom>
            <a:noFill/>
          </p:spPr>
          <p:txBody>
            <a:bodyPr wrap="square">
              <a:spAutoFit/>
            </a:bodyPr>
            <a:lstStyle/>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foot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1" name="直接连接符 50"/>
            <p:cNvCxnSpPr/>
            <p:nvPr/>
          </p:nvCxnSpPr>
          <p:spPr bwMode="auto">
            <a:xfrm flipV="1">
              <a:off x="10331096" y="5968643"/>
              <a:ext cx="33321" cy="277683"/>
            </a:xfrm>
            <a:prstGeom prst="line">
              <a:avLst/>
            </a:prstGeom>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10633018" y="5546428"/>
              <a:ext cx="465394" cy="72395"/>
            </a:xfrm>
            <a:prstGeom prst="line">
              <a:avLst/>
            </a:prstGeom>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p:nvPr/>
          </p:nvCxnSpPr>
          <p:spPr bwMode="auto">
            <a:xfrm flipH="1">
              <a:off x="10655971" y="4883323"/>
              <a:ext cx="473873" cy="195748"/>
            </a:xfrm>
            <a:prstGeom prst="line">
              <a:avLst/>
            </a:prstGeom>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 name="组合 11"/>
          <p:cNvGrpSpPr/>
          <p:nvPr/>
        </p:nvGrpSpPr>
        <p:grpSpPr>
          <a:xfrm>
            <a:off x="3352240" y="3211341"/>
            <a:ext cx="687410" cy="585071"/>
            <a:chOff x="3648081" y="2837156"/>
            <a:chExt cx="687410" cy="585071"/>
          </a:xfrm>
        </p:grpSpPr>
        <p:sp>
          <p:nvSpPr>
            <p:cNvPr id="54" name="弧形 53"/>
            <p:cNvSpPr/>
            <p:nvPr/>
          </p:nvSpPr>
          <p:spPr bwMode="auto">
            <a:xfrm>
              <a:off x="3648081" y="3062227"/>
              <a:ext cx="360000" cy="360000"/>
            </a:xfrm>
            <a:prstGeom prst="arc">
              <a:avLst>
                <a:gd name="adj1" fmla="val 16200000"/>
                <a:gd name="adj2" fmla="val 5549317"/>
              </a:avLst>
            </a:prstGeom>
            <a:noFill/>
            <a:ln w="9525" cap="flat" cmpd="sng" algn="ctr">
              <a:solidFill>
                <a:srgbClr val="FF0000"/>
              </a:solidFill>
              <a:prstDash val="solid"/>
              <a:round/>
              <a:headEnd type="stealth"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zh-CN" altLang="en-US"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55" name="文本框 54"/>
                <p:cNvSpPr txBox="1"/>
                <p:nvPr/>
              </p:nvSpPr>
              <p:spPr>
                <a:xfrm>
                  <a:off x="3753605" y="2837156"/>
                  <a:ext cx="581886"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800" i="1" smtClean="0">
                            <a:solidFill>
                              <a:srgbClr val="FF0000"/>
                            </a:solidFill>
                            <a:latin typeface="Cambria Math" panose="02040503050406030204" pitchFamily="18" charset="0"/>
                          </a:rPr>
                          <m:t>𝜃</m:t>
                        </m:r>
                      </m:oMath>
                    </m:oMathPara>
                  </a14:m>
                  <a:endParaRPr lang="zh-CN" altLang="en-US" dirty="0">
                    <a:solidFill>
                      <a:srgbClr val="FF0000"/>
                    </a:solidFill>
                  </a:endParaRPr>
                </a:p>
              </p:txBody>
            </p:sp>
          </mc:Choice>
          <mc:Fallback>
            <p:sp>
              <p:nvSpPr>
                <p:cNvPr id="55" name="文本框 54"/>
                <p:cNvSpPr txBox="1">
                  <a:spLocks noRot="1" noChangeAspect="1" noMove="1" noResize="1" noEditPoints="1" noAdjustHandles="1" noChangeArrowheads="1" noChangeShapeType="1" noTextEdit="1"/>
                </p:cNvSpPr>
                <p:nvPr/>
              </p:nvSpPr>
              <p:spPr>
                <a:xfrm>
                  <a:off x="3753605" y="2837156"/>
                  <a:ext cx="581886" cy="369332"/>
                </a:xfrm>
                <a:prstGeom prst="rect">
                  <a:avLst/>
                </a:prstGeom>
                <a:blipFill rotWithShape="1">
                  <a:blip r:embed="rId14"/>
                </a:blipFill>
              </p:spPr>
              <p:txBody>
                <a:bodyPr/>
                <a:lstStyle/>
                <a:p>
                  <a:r>
                    <a:rPr lang="zh-CN" altLang="en-US">
                      <a:noFill/>
                    </a:rPr>
                    <a:t> </a:t>
                  </a:r>
                </a:p>
              </p:txBody>
            </p:sp>
          </mc:Fallback>
        </mc:AlternateContent>
      </p:grpSp>
      <p:grpSp>
        <p:nvGrpSpPr>
          <p:cNvPr id="8" name="组合 7"/>
          <p:cNvGrpSpPr/>
          <p:nvPr/>
        </p:nvGrpSpPr>
        <p:grpSpPr>
          <a:xfrm>
            <a:off x="2883396" y="3441504"/>
            <a:ext cx="581886" cy="539574"/>
            <a:chOff x="3825907" y="3069960"/>
            <a:chExt cx="581886" cy="539574"/>
          </a:xfrm>
        </p:grpSpPr>
        <p:sp>
          <p:nvSpPr>
            <p:cNvPr id="56" name="弧形 55"/>
            <p:cNvSpPr/>
            <p:nvPr/>
          </p:nvSpPr>
          <p:spPr bwMode="auto">
            <a:xfrm flipV="1">
              <a:off x="4047793" y="3069960"/>
              <a:ext cx="360000" cy="360000"/>
            </a:xfrm>
            <a:prstGeom prst="arc">
              <a:avLst>
                <a:gd name="adj1" fmla="val 16391723"/>
                <a:gd name="adj2" fmla="val 5549317"/>
              </a:avLst>
            </a:prstGeom>
            <a:noFill/>
            <a:ln w="9525" cap="flat" cmpd="sng" algn="ctr">
              <a:solidFill>
                <a:srgbClr val="FF0000"/>
              </a:solidFill>
              <a:prstDash val="solid"/>
              <a:round/>
              <a:headEnd type="stealth"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50000"/>
                </a:spcBef>
                <a:spcAft>
                  <a:spcPct val="0"/>
                </a:spcAft>
                <a:buClrTx/>
                <a:buSzTx/>
                <a:buFontTx/>
                <a:buNone/>
              </a:pPr>
              <a:endParaRPr kumimoji="0" lang="zh-CN" altLang="en-US"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57" name="文本框 56"/>
                <p:cNvSpPr txBox="1"/>
                <p:nvPr/>
              </p:nvSpPr>
              <p:spPr>
                <a:xfrm>
                  <a:off x="3825907" y="3240202"/>
                  <a:ext cx="581886"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800" b="0" i="1" smtClean="0">
                            <a:solidFill>
                              <a:srgbClr val="FF0000"/>
                            </a:solidFill>
                            <a:latin typeface="Cambria Math" panose="02040503050406030204" pitchFamily="18" charset="0"/>
                          </a:rPr>
                          <m:t>𝜏</m:t>
                        </m:r>
                      </m:oMath>
                    </m:oMathPara>
                  </a14:m>
                  <a:endParaRPr lang="zh-CN" altLang="en-US" dirty="0">
                    <a:solidFill>
                      <a:srgbClr val="FF0000"/>
                    </a:solidFill>
                  </a:endParaRPr>
                </a:p>
              </p:txBody>
            </p:sp>
          </mc:Choice>
          <mc:Fallback>
            <p:sp>
              <p:nvSpPr>
                <p:cNvPr id="57" name="文本框 56"/>
                <p:cNvSpPr txBox="1">
                  <a:spLocks noRot="1" noChangeAspect="1" noMove="1" noResize="1" noEditPoints="1" noAdjustHandles="1" noChangeArrowheads="1" noChangeShapeType="1" noTextEdit="1"/>
                </p:cNvSpPr>
                <p:nvPr/>
              </p:nvSpPr>
              <p:spPr>
                <a:xfrm>
                  <a:off x="3825907" y="3240202"/>
                  <a:ext cx="581886" cy="369332"/>
                </a:xfrm>
                <a:prstGeom prst="rect">
                  <a:avLst/>
                </a:prstGeom>
                <a:blipFill rotWithShape="1">
                  <a:blip r:embed="rId15"/>
                </a:blipFill>
              </p:spPr>
              <p:txBody>
                <a:bodyPr/>
                <a:lstStyle/>
                <a:p>
                  <a:r>
                    <a:rPr lang="zh-CN" altLang="en-US">
                      <a:noFill/>
                    </a:rPr>
                    <a:t> </a:t>
                  </a:r>
                </a:p>
              </p:txBody>
            </p:sp>
          </mc:Fallback>
        </mc:AlternateContent>
      </p:grpSp>
      <p:sp>
        <p:nvSpPr>
          <p:cNvPr id="58" name="文本框 57"/>
          <p:cNvSpPr txBox="1"/>
          <p:nvPr/>
        </p:nvSpPr>
        <p:spPr>
          <a:xfrm>
            <a:off x="228600" y="4695190"/>
            <a:ext cx="7780020" cy="398780"/>
          </a:xfrm>
          <a:prstGeom prst="rect">
            <a:avLst/>
          </a:prstGeom>
          <a:noFill/>
        </p:spPr>
        <p:txBody>
          <a:bodyPr wrap="square">
            <a:spAutoFit/>
          </a:bodyPr>
          <a:lstStyle/>
          <a:p>
            <a:r>
              <a:rPr lang="en-US" altLang="zh-CN" sz="2000" b="1" dirty="0">
                <a:solidFill>
                  <a:srgbClr val="FF0000"/>
                </a:solidFill>
                <a:latin typeface="微软雅黑" panose="020B0503020204020204" pitchFamily="34" charset="-122"/>
                <a:ea typeface="微软雅黑" panose="020B0503020204020204" pitchFamily="34" charset="-122"/>
              </a:rPr>
              <a:t>Measure the torque τ generated by normal foot rotation θ</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grpSp>
        <p:nvGrpSpPr>
          <p:cNvPr id="29" name="组合 28"/>
          <p:cNvGrpSpPr/>
          <p:nvPr/>
        </p:nvGrpSpPr>
        <p:grpSpPr>
          <a:xfrm>
            <a:off x="10321677" y="4444867"/>
            <a:ext cx="1390425" cy="506627"/>
            <a:chOff x="10321677" y="4551384"/>
            <a:chExt cx="1425234" cy="400110"/>
          </a:xfrm>
        </p:grpSpPr>
        <mc:AlternateContent xmlns:mc="http://schemas.openxmlformats.org/markup-compatibility/2006">
          <mc:Choice xmlns:a14="http://schemas.microsoft.com/office/drawing/2010/main" Requires="a14">
            <p:sp>
              <p:nvSpPr>
                <p:cNvPr id="59" name="文本框 58"/>
                <p:cNvSpPr txBox="1"/>
                <p:nvPr/>
              </p:nvSpPr>
              <p:spPr>
                <a:xfrm>
                  <a:off x="10321677" y="4551384"/>
                  <a:ext cx="589294"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i="1">
                                <a:latin typeface="Cambria Math" panose="02040503050406030204" pitchFamily="18" charset="0"/>
                              </a:rPr>
                              <m:t>𝜃</m:t>
                            </m:r>
                          </m:e>
                          <m:sub>
                            <m:r>
                              <a:rPr lang="en-US" altLang="zh-CN" sz="2000" b="0" i="1" smtClean="0">
                                <a:latin typeface="Cambria Math" panose="02040503050406030204" pitchFamily="18" charset="0"/>
                              </a:rPr>
                              <m:t>1</m:t>
                            </m:r>
                          </m:sub>
                        </m:sSub>
                      </m:oMath>
                    </m:oMathPara>
                  </a14:m>
                  <a:endParaRPr lang="zh-CN" altLang="en-US" sz="2000" dirty="0"/>
                </a:p>
              </p:txBody>
            </p:sp>
          </mc:Choice>
          <mc:Fallback>
            <p:sp>
              <p:nvSpPr>
                <p:cNvPr id="59" name="文本框 58"/>
                <p:cNvSpPr txBox="1">
                  <a:spLocks noRot="1" noChangeAspect="1" noMove="1" noResize="1" noEditPoints="1" noAdjustHandles="1" noChangeArrowheads="1" noChangeShapeType="1" noTextEdit="1"/>
                </p:cNvSpPr>
                <p:nvPr/>
              </p:nvSpPr>
              <p:spPr>
                <a:xfrm>
                  <a:off x="10321677" y="4551384"/>
                  <a:ext cx="589294" cy="400110"/>
                </a:xfrm>
                <a:prstGeom prst="rect">
                  <a:avLst/>
                </a:prstGeom>
                <a:blipFill rotWithShape="1">
                  <a:blip r:embed="rId16"/>
                </a:blipFill>
              </p:spPr>
              <p:txBody>
                <a:bodyPr/>
                <a:lstStyle/>
                <a:p>
                  <a:r>
                    <a:rPr lang="zh-CN" altLang="en-US">
                      <a:noFill/>
                    </a:rPr>
                    <a:t> </a:t>
                  </a:r>
                </a:p>
              </p:txBody>
            </p:sp>
          </mc:Fallback>
        </mc:AlternateContent>
        <p:sp>
          <p:nvSpPr>
            <p:cNvPr id="60" name="Line 60"/>
            <p:cNvSpPr>
              <a:spLocks noChangeShapeType="1"/>
            </p:cNvSpPr>
            <p:nvPr/>
          </p:nvSpPr>
          <p:spPr bwMode="auto">
            <a:xfrm flipH="1" flipV="1">
              <a:off x="10761367" y="4749250"/>
              <a:ext cx="409661" cy="0"/>
            </a:xfrm>
            <a:prstGeom prst="line">
              <a:avLst/>
            </a:prstGeom>
            <a:noFill/>
            <a:ln w="19050">
              <a:solidFill>
                <a:srgbClr val="FF0000"/>
              </a:solidFill>
              <a:round/>
              <a:headEnd type="arrow" w="lg" len="med"/>
              <a:tailEnd type="none" w="sm" len="lg"/>
            </a:ln>
            <a:extLst>
              <a:ext uri="{909E8E84-426E-40DD-AFC4-6F175D3DCCD1}">
                <a14:hiddenFill xmlns:a14="http://schemas.microsoft.com/office/drawing/2010/main">
                  <a:noFill/>
                </a14:hiddenFill>
              </a:ext>
            </a:extLst>
          </p:spPr>
          <p:txBody>
            <a:bodyPr wrap="none"/>
            <a:lstStyle/>
            <a:p>
              <a:endParaRPr lang="en-US" sz="2000" dirty="0"/>
            </a:p>
          </p:txBody>
        </p:sp>
        <mc:AlternateContent xmlns:mc="http://schemas.openxmlformats.org/markup-compatibility/2006">
          <mc:Choice xmlns:a14="http://schemas.microsoft.com/office/drawing/2010/main" Requires="a14">
            <p:sp>
              <p:nvSpPr>
                <p:cNvPr id="61" name="文本框 60"/>
                <p:cNvSpPr txBox="1"/>
                <p:nvPr/>
              </p:nvSpPr>
              <p:spPr>
                <a:xfrm>
                  <a:off x="11064923" y="4551384"/>
                  <a:ext cx="681988"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𝑥</m:t>
                            </m:r>
                          </m:e>
                          <m:sub>
                            <m:r>
                              <a:rPr lang="en-US" altLang="zh-CN" sz="1800" b="0" i="1" smtClean="0">
                                <a:latin typeface="Cambria Math" panose="02040503050406030204" pitchFamily="18" charset="0"/>
                              </a:rPr>
                              <m:t>1</m:t>
                            </m:r>
                          </m:sub>
                        </m:sSub>
                      </m:oMath>
                    </m:oMathPara>
                  </a14:m>
                  <a:endParaRPr lang="zh-CN" altLang="en-US" dirty="0"/>
                </a:p>
              </p:txBody>
            </p:sp>
          </mc:Choice>
          <mc:Fallback>
            <p:sp>
              <p:nvSpPr>
                <p:cNvPr id="61" name="文本框 60"/>
                <p:cNvSpPr txBox="1">
                  <a:spLocks noRot="1" noChangeAspect="1" noMove="1" noResize="1" noEditPoints="1" noAdjustHandles="1" noChangeArrowheads="1" noChangeShapeType="1" noTextEdit="1"/>
                </p:cNvSpPr>
                <p:nvPr/>
              </p:nvSpPr>
              <p:spPr>
                <a:xfrm>
                  <a:off x="11064923" y="4551384"/>
                  <a:ext cx="681988" cy="369332"/>
                </a:xfrm>
                <a:prstGeom prst="rect">
                  <a:avLst/>
                </a:prstGeom>
                <a:blipFill rotWithShape="1">
                  <a:blip r:embed="rId17"/>
                </a:blipFill>
              </p:spPr>
              <p:txBody>
                <a:bodyPr/>
                <a:lstStyle/>
                <a:p>
                  <a:r>
                    <a:rPr lang="zh-CN" altLang="en-US">
                      <a:noFill/>
                    </a:rPr>
                    <a:t> </a:t>
                  </a:r>
                </a:p>
              </p:txBody>
            </p:sp>
          </mc:Fallback>
        </mc:AlternateContent>
      </p:grpSp>
      <p:sp>
        <p:nvSpPr>
          <p:cNvPr id="63" name="文本框 62"/>
          <p:cNvSpPr txBox="1"/>
          <p:nvPr/>
        </p:nvSpPr>
        <p:spPr>
          <a:xfrm>
            <a:off x="8395772" y="4851100"/>
            <a:ext cx="3578194" cy="922020"/>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Inversion method: Fix cam, move everything else</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b="1" dirty="0">
                <a:solidFill>
                  <a:schemeClr val="tx1"/>
                </a:solidFill>
                <a:latin typeface="微软雅黑" panose="020B0503020204020204" pitchFamily="34" charset="-122"/>
                <a:ea typeface="微软雅黑" panose="020B0503020204020204" pitchFamily="34" charset="-122"/>
              </a:rPr>
              <a:t>(Relative motion unchanged)</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2" name="TextBox 8"/>
          <p:cNvSpPr txBox="1"/>
          <p:nvPr/>
        </p:nvSpPr>
        <p:spPr>
          <a:xfrm>
            <a:off x="1007878" y="319709"/>
            <a:ext cx="9470935" cy="521970"/>
          </a:xfrm>
          <a:prstGeom prst="rect">
            <a:avLst/>
          </a:prstGeom>
          <a:noFill/>
        </p:spPr>
        <p:txBody>
          <a:bodyPr wrap="square" rtlCol="0">
            <a:spAutoFit/>
          </a:bodyPr>
          <a:lstStyle/>
          <a:p>
            <a:r>
              <a:rPr lang="en-US" sz="2800" spc="100" dirty="0">
                <a:solidFill>
                  <a:schemeClr val="accent2">
                    <a:lumMod val="75000"/>
                  </a:schemeClr>
                </a:solidFill>
                <a:ea typeface="微软雅黑" panose="020B0503020204020204" pitchFamily="34" charset="-122"/>
                <a:sym typeface="Arial" panose="020B0604020202020204" pitchFamily="34" charset="0"/>
              </a:rPr>
              <a:t>Extension</a:t>
            </a:r>
            <a:endParaRPr lang="en-US" sz="2800" dirty="0">
              <a:solidFill>
                <a:schemeClr val="accent2">
                  <a:lumMod val="7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25" grpId="0" animBg="1"/>
      <p:bldP spid="18" grpId="0"/>
      <p:bldP spid="26" grpId="0"/>
      <p:bldP spid="27" grpId="0"/>
      <p:bldP spid="31" grpId="0"/>
      <p:bldP spid="58" grpId="0"/>
      <p:bldP spid="6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8"/>
          <p:cNvSpPr txBox="1"/>
          <p:nvPr/>
        </p:nvSpPr>
        <p:spPr>
          <a:xfrm>
            <a:off x="1007879" y="319709"/>
            <a:ext cx="7290338" cy="954107"/>
          </a:xfrm>
          <a:prstGeom prst="rect">
            <a:avLst/>
          </a:prstGeom>
          <a:noFill/>
        </p:spPr>
        <p:txBody>
          <a:bodyPr wrap="square" rtlCol="0">
            <a:spAutoFit/>
          </a:bodyPr>
          <a:lstStyle/>
          <a:p>
            <a:r>
              <a:rPr lang="en-US" altLang="zh-CN" sz="2800" dirty="0">
                <a:solidFill>
                  <a:schemeClr val="accent2">
                    <a:lumMod val="75000"/>
                  </a:schemeClr>
                </a:solidFill>
              </a:rPr>
              <a:t>3-6 Analytical Method for Cam Profile Design</a:t>
            </a:r>
            <a:endParaRPr lang="en-US" altLang="zh-CN" sz="2800" dirty="0">
              <a:solidFill>
                <a:schemeClr val="accent2">
                  <a:lumMod val="75000"/>
                </a:schemeClr>
              </a:solidFill>
            </a:endParaRPr>
          </a:p>
          <a:p>
            <a:endParaRPr lang="en-US" altLang="zh-CN" sz="2800" dirty="0">
              <a:solidFill>
                <a:schemeClr val="accent2">
                  <a:lumMod val="75000"/>
                </a:schemeClr>
              </a:solidFill>
            </a:endParaRPr>
          </a:p>
        </p:txBody>
      </p:sp>
      <p:sp>
        <p:nvSpPr>
          <p:cNvPr id="11" name="Text Box 262"/>
          <p:cNvSpPr txBox="1">
            <a:spLocks noChangeArrowheads="1"/>
          </p:cNvSpPr>
          <p:nvPr/>
        </p:nvSpPr>
        <p:spPr bwMode="auto">
          <a:xfrm>
            <a:off x="134343" y="2673779"/>
            <a:ext cx="8277225" cy="456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p>
            <a:pPr eaLnBrk="0" fontAlgn="base" hangingPunct="0">
              <a:lnSpc>
                <a:spcPct val="110000"/>
              </a:lnSpc>
              <a:spcBef>
                <a:spcPct val="10000"/>
              </a:spcBef>
              <a:spcAft>
                <a:spcPct val="0"/>
              </a:spcAft>
            </a:pPr>
            <a:r>
              <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Disadvantages of graphical method:</a:t>
            </a:r>
            <a:endPar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eaLnBrk="0" fontAlgn="base" hangingPunct="0">
              <a:lnSpc>
                <a:spcPct val="110000"/>
              </a:lnSpc>
              <a:spcBef>
                <a:spcPct val="10000"/>
              </a:spcBef>
              <a:spcAft>
                <a:spcPct val="0"/>
              </a:spcAft>
            </a:pPr>
            <a:r>
              <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Cumbersome, relatively large errors.</a:t>
            </a:r>
            <a:endParaRPr kumimoji="1" lang="en-US" altLang="zh-CN"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0" fontAlgn="base" hangingPunct="0">
              <a:lnSpc>
                <a:spcPct val="110000"/>
              </a:lnSpc>
              <a:spcBef>
                <a:spcPct val="10000"/>
              </a:spcBef>
              <a:spcAft>
                <a:spcPct val="0"/>
              </a:spcAft>
            </a:pPr>
            <a:r>
              <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0" fontAlgn="base" hangingPunct="0">
              <a:lnSpc>
                <a:spcPct val="110000"/>
              </a:lnSpc>
              <a:spcBef>
                <a:spcPct val="10000"/>
              </a:spcBef>
              <a:spcAft>
                <a:spcPct val="0"/>
              </a:spcAft>
            </a:pPr>
            <a:r>
              <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Advantages of analytical method:</a:t>
            </a:r>
            <a:endPar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eaLnBrk="0" fontAlgn="base" hangingPunct="0">
              <a:lnSpc>
                <a:spcPct val="110000"/>
              </a:lnSpc>
              <a:spcBef>
                <a:spcPct val="10000"/>
              </a:spcBef>
              <a:spcAft>
                <a:spcPct val="0"/>
              </a:spcAft>
            </a:pP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High precision, fast calculation. Results can be used for CNC machining programs.</a:t>
            </a:r>
            <a:endPar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291998" y="1735480"/>
            <a:ext cx="6840760" cy="461665"/>
          </a:xfrm>
          <a:prstGeom prst="rect">
            <a:avLst/>
          </a:prstGeom>
        </p:spPr>
        <p:txBody>
          <a:bodyPr wrap="square">
            <a:spAutoFit/>
          </a:bodyPr>
          <a:lstStyle/>
          <a:p>
            <a:pPr eaLnBrk="0" fontAlgn="base" hangingPunct="0">
              <a:spcBef>
                <a:spcPct val="50000"/>
              </a:spcBef>
              <a:spcAft>
                <a:spcPct val="0"/>
              </a:spcAft>
            </a:pPr>
            <a:r>
              <a:rPr kumimoji="1" lang="zh-CN" altLang="en-US" sz="2400" b="1" dirty="0">
                <a:solidFill>
                  <a:srgbClr val="990033"/>
                </a:solidFill>
                <a:latin typeface="黑体" panose="02010609060101010101" pitchFamily="2" charset="-122"/>
                <a:ea typeface="黑体" panose="02010609060101010101" pitchFamily="2" charset="-122"/>
              </a:rPr>
              <a:t>Cam Pitch Curve Design — Analytical Method</a:t>
            </a:r>
            <a:endParaRPr kumimoji="1" lang="zh-CN" altLang="en-US" sz="2400" b="1" dirty="0">
              <a:solidFill>
                <a:srgbClr val="990033"/>
              </a:solidFill>
              <a:latin typeface="黑体" panose="02010609060101010101" pitchFamily="2" charset="-122"/>
              <a:ea typeface="黑体" panose="02010609060101010101" pitchFamily="2" charset="-122"/>
            </a:endParaRPr>
          </a:p>
        </p:txBody>
      </p:sp>
      <p:pic>
        <p:nvPicPr>
          <p:cNvPr id="5" name="图片 4"/>
          <p:cNvPicPr>
            <a:picLocks noChangeAspect="1"/>
          </p:cNvPicPr>
          <p:nvPr/>
        </p:nvPicPr>
        <p:blipFill>
          <a:blip r:embed="rId1"/>
          <a:stretch>
            <a:fillRect/>
          </a:stretch>
        </p:blipFill>
        <p:spPr>
          <a:xfrm>
            <a:off x="9648660" y="2445169"/>
            <a:ext cx="104775" cy="352425"/>
          </a:xfrm>
          <a:prstGeom prst="rect">
            <a:avLst/>
          </a:prstGeom>
        </p:spPr>
      </p:pic>
      <p:pic>
        <p:nvPicPr>
          <p:cNvPr id="8" name="图片 7"/>
          <p:cNvPicPr>
            <a:picLocks noChangeAspect="1"/>
          </p:cNvPicPr>
          <p:nvPr/>
        </p:nvPicPr>
        <p:blipFill>
          <a:blip r:embed="rId2"/>
          <a:stretch>
            <a:fillRect/>
          </a:stretch>
        </p:blipFill>
        <p:spPr>
          <a:xfrm>
            <a:off x="8044842" y="1735480"/>
            <a:ext cx="3827987" cy="1196246"/>
          </a:xfrm>
          <a:prstGeom prst="rect">
            <a:avLst/>
          </a:prstGeom>
        </p:spPr>
      </p:pic>
      <p:pic>
        <p:nvPicPr>
          <p:cNvPr id="9" name="图片 8"/>
          <p:cNvPicPr>
            <a:picLocks noChangeAspect="1"/>
          </p:cNvPicPr>
          <p:nvPr/>
        </p:nvPicPr>
        <p:blipFill>
          <a:blip r:embed="rId3"/>
          <a:stretch>
            <a:fillRect/>
          </a:stretch>
        </p:blipFill>
        <p:spPr>
          <a:xfrm>
            <a:off x="8679647" y="3111310"/>
            <a:ext cx="2493103" cy="2390446"/>
          </a:xfrm>
          <a:prstGeom prst="rect">
            <a:avLst/>
          </a:prstGeom>
        </p:spPr>
      </p:pic>
      <p:sp>
        <p:nvSpPr>
          <p:cNvPr id="14" name="矩形 13"/>
          <p:cNvSpPr/>
          <p:nvPr/>
        </p:nvSpPr>
        <p:spPr>
          <a:xfrm>
            <a:off x="7328535" y="5815330"/>
            <a:ext cx="4672965" cy="671830"/>
          </a:xfrm>
          <a:prstGeom prst="rect">
            <a:avLst/>
          </a:prstGeom>
        </p:spPr>
        <p:txBody>
          <a:bodyPr wrap="square">
            <a:spAutoFit/>
          </a:bodyPr>
          <a:lstStyle/>
          <a:p>
            <a:pPr marL="273050" indent="-273050" algn="just">
              <a:lnSpc>
                <a:spcPct val="105000"/>
              </a:lnSpc>
              <a:spcBef>
                <a:spcPct val="5000"/>
              </a:spcBef>
            </a:pPr>
            <a:r>
              <a:rPr lang="zh-CN" altLang="en-US" b="1" dirty="0">
                <a:solidFill>
                  <a:srgbClr val="000000"/>
                </a:solidFill>
                <a:latin typeface="Times New Roman" panose="02020603050405020304" pitchFamily="18" charset="0"/>
                <a:ea typeface="楷体_GB2312" pitchFamily="49" charset="-122"/>
              </a:rPr>
              <a:t>Apply -ω rotation to the entire system — relative motion unchanged.</a:t>
            </a:r>
            <a:endParaRPr lang="en-US" altLang="zh-CN" b="1" dirty="0">
              <a:solidFill>
                <a:srgbClr val="000000"/>
              </a:solidFill>
              <a:latin typeface="Times New Roman" panose="02020603050405020304" pitchFamily="18" charset="0"/>
              <a:ea typeface="楷体_GB2312"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5"/>
          <p:cNvSpPr txBox="1">
            <a:spLocks noChangeArrowheads="1"/>
          </p:cNvSpPr>
          <p:nvPr/>
        </p:nvSpPr>
        <p:spPr bwMode="auto">
          <a:xfrm>
            <a:off x="1480820" y="2021205"/>
            <a:ext cx="6344285" cy="398780"/>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zh-CN" altLang="en-US" sz="2000" b="1" dirty="0">
                <a:solidFill>
                  <a:srgbClr val="990033"/>
                </a:solidFill>
                <a:latin typeface="黑体" panose="02010609060101010101" pitchFamily="2" charset="-122"/>
                <a:ea typeface="黑体" panose="02010609060101010101" pitchFamily="2" charset="-122"/>
              </a:rPr>
              <a:t>Establishing the Coordinate System</a:t>
            </a:r>
            <a:endParaRPr kumimoji="1" lang="zh-CN" altLang="en-US" sz="2000" b="1" dirty="0">
              <a:solidFill>
                <a:srgbClr val="990033"/>
              </a:solidFill>
              <a:latin typeface="黑体" panose="02010609060101010101" pitchFamily="2" charset="-122"/>
              <a:ea typeface="黑体" panose="02010609060101010101" pitchFamily="2" charset="-122"/>
            </a:endParaRPr>
          </a:p>
        </p:txBody>
      </p:sp>
      <p:sp>
        <p:nvSpPr>
          <p:cNvPr id="14" name="Text Box 85"/>
          <p:cNvSpPr txBox="1">
            <a:spLocks noChangeArrowheads="1"/>
          </p:cNvSpPr>
          <p:nvPr/>
        </p:nvSpPr>
        <p:spPr bwMode="auto">
          <a:xfrm>
            <a:off x="2328545" y="2740660"/>
            <a:ext cx="5541010" cy="70675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000" b="1" dirty="0">
                <a:solidFill>
                  <a:srgbClr val="990033"/>
                </a:solidFill>
                <a:latin typeface="隶书" panose="02010509060101010101" pitchFamily="49" charset="-122"/>
                <a:ea typeface="隶书" panose="02010509060101010101" pitchFamily="49" charset="-122"/>
              </a:rPr>
              <a:t>Fixedly connected to the cam; stationary coordinate system.</a:t>
            </a:r>
            <a:endParaRPr kumimoji="1" lang="en-US" altLang="zh-CN" sz="2000" b="1" dirty="0">
              <a:solidFill>
                <a:srgbClr val="990033"/>
              </a:solidFill>
              <a:latin typeface="隶书" panose="02010509060101010101" pitchFamily="49" charset="-122"/>
              <a:ea typeface="隶书" panose="02010509060101010101" pitchFamily="49" charset="-122"/>
            </a:endParaRPr>
          </a:p>
        </p:txBody>
      </p:sp>
      <p:sp>
        <p:nvSpPr>
          <p:cNvPr id="17" name="Text Box 85"/>
          <p:cNvSpPr txBox="1">
            <a:spLocks noChangeArrowheads="1"/>
          </p:cNvSpPr>
          <p:nvPr/>
        </p:nvSpPr>
        <p:spPr bwMode="auto">
          <a:xfrm>
            <a:off x="2355215" y="3910965"/>
            <a:ext cx="5587365" cy="70675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000" b="1" dirty="0">
                <a:solidFill>
                  <a:srgbClr val="990033"/>
                </a:solidFill>
                <a:latin typeface="隶书" panose="02010509060101010101" pitchFamily="49" charset="-122"/>
                <a:ea typeface="隶书" panose="02010509060101010101" pitchFamily="49" charset="-122"/>
              </a:rPr>
              <a:t>Fixedly connected to the "rack"; serves as the moving coordinate system.</a:t>
            </a:r>
            <a:endParaRPr kumimoji="1" lang="en-US" altLang="zh-CN" sz="2000" b="1" dirty="0">
              <a:solidFill>
                <a:srgbClr val="990033"/>
              </a:solidFill>
              <a:latin typeface="隶书" panose="02010509060101010101" pitchFamily="49" charset="-122"/>
              <a:ea typeface="隶书" panose="02010509060101010101" pitchFamily="49" charset="-122"/>
            </a:endParaRPr>
          </a:p>
        </p:txBody>
      </p:sp>
      <p:grpSp>
        <p:nvGrpSpPr>
          <p:cNvPr id="18" name="组合 17"/>
          <p:cNvGrpSpPr/>
          <p:nvPr/>
        </p:nvGrpSpPr>
        <p:grpSpPr>
          <a:xfrm>
            <a:off x="365530" y="4259887"/>
            <a:ext cx="2557462" cy="1077787"/>
            <a:chOff x="67724" y="3804486"/>
            <a:chExt cx="2557462" cy="1077787"/>
          </a:xfrm>
        </p:grpSpPr>
        <p:sp>
          <p:nvSpPr>
            <p:cNvPr id="19" name="Text Box 85"/>
            <p:cNvSpPr txBox="1">
              <a:spLocks noChangeArrowheads="1"/>
            </p:cNvSpPr>
            <p:nvPr/>
          </p:nvSpPr>
          <p:spPr bwMode="auto">
            <a:xfrm>
              <a:off x="67724" y="3804486"/>
              <a:ext cx="2500330" cy="82994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400" b="1" dirty="0">
                  <a:solidFill>
                    <a:srgbClr val="990033"/>
                  </a:solidFill>
                  <a:latin typeface="黑体" panose="02010609060101010101" pitchFamily="2" charset="-122"/>
                  <a:ea typeface="黑体" panose="02010609060101010101" pitchFamily="2" charset="-122"/>
                </a:rPr>
                <a:t>Coordinate transformation</a:t>
              </a:r>
              <a:endParaRPr kumimoji="1" lang="en-US" altLang="zh-CN" sz="2400" b="1" dirty="0">
                <a:solidFill>
                  <a:srgbClr val="990033"/>
                </a:solidFill>
                <a:latin typeface="黑体" panose="02010609060101010101" pitchFamily="2" charset="-122"/>
                <a:ea typeface="黑体" panose="02010609060101010101" pitchFamily="2" charset="-122"/>
              </a:endParaRPr>
            </a:p>
          </p:txBody>
        </p:sp>
        <p:graphicFrame>
          <p:nvGraphicFramePr>
            <p:cNvPr id="20" name="Object 11"/>
            <p:cNvGraphicFramePr>
              <a:graphicFrameLocks noChangeAspect="1"/>
            </p:cNvGraphicFramePr>
            <p:nvPr/>
          </p:nvGraphicFramePr>
          <p:xfrm>
            <a:off x="67724" y="4447298"/>
            <a:ext cx="2557462" cy="434975"/>
          </p:xfrm>
          <a:graphic>
            <a:graphicData uri="http://schemas.openxmlformats.org/presentationml/2006/ole">
              <mc:AlternateContent xmlns:mc="http://schemas.openxmlformats.org/markup-compatibility/2006">
                <mc:Choice xmlns:v="urn:schemas-microsoft-com:vml" Requires="v">
                  <p:oleObj spid="_x0000_s199920" name="公式" r:id="rId1" imgW="28651200" imgH="4876800" progId="Equation.3">
                    <p:embed/>
                  </p:oleObj>
                </mc:Choice>
                <mc:Fallback>
                  <p:oleObj name="公式" r:id="rId1" imgW="28651200" imgH="4876800" progId="Equation.3">
                    <p:embed/>
                    <p:pic>
                      <p:nvPicPr>
                        <p:cNvPr id="0" name="Object 11"/>
                        <p:cNvPicPr>
                          <a:picLocks noChangeAspect="1" noChangeArrowheads="1"/>
                        </p:cNvPicPr>
                        <p:nvPr/>
                      </p:nvPicPr>
                      <p:blipFill>
                        <a:blip r:embed="rId2"/>
                        <a:srcRect/>
                        <a:stretch>
                          <a:fillRect/>
                        </a:stretch>
                      </p:blipFill>
                      <p:spPr bwMode="auto">
                        <a:xfrm>
                          <a:off x="67724" y="4447298"/>
                          <a:ext cx="2557462" cy="434975"/>
                        </a:xfrm>
                        <a:prstGeom prst="rect">
                          <a:avLst/>
                        </a:prstGeom>
                        <a:noFill/>
                      </p:spPr>
                    </p:pic>
                  </p:oleObj>
                </mc:Fallback>
              </mc:AlternateContent>
            </a:graphicData>
          </a:graphic>
        </p:graphicFrame>
      </p:grpSp>
      <p:pic>
        <p:nvPicPr>
          <p:cNvPr id="22" name="图片 21"/>
          <p:cNvPicPr>
            <a:picLocks noChangeAspect="1"/>
          </p:cNvPicPr>
          <p:nvPr/>
        </p:nvPicPr>
        <p:blipFill>
          <a:blip r:embed="rId3"/>
          <a:stretch>
            <a:fillRect/>
          </a:stretch>
        </p:blipFill>
        <p:spPr>
          <a:xfrm>
            <a:off x="8365169" y="962274"/>
            <a:ext cx="3391402" cy="3801593"/>
          </a:xfrm>
          <a:prstGeom prst="rect">
            <a:avLst/>
          </a:prstGeom>
        </p:spPr>
      </p:pic>
      <p:sp>
        <p:nvSpPr>
          <p:cNvPr id="23" name="文本框 22"/>
          <p:cNvSpPr txBox="1"/>
          <p:nvPr/>
        </p:nvSpPr>
        <p:spPr>
          <a:xfrm>
            <a:off x="205414" y="1390795"/>
            <a:ext cx="7358114" cy="706755"/>
          </a:xfrm>
          <a:prstGeom prst="rect">
            <a:avLst/>
          </a:prstGeom>
          <a:noFill/>
        </p:spPr>
        <p:txBody>
          <a:bodyPr wrap="square" rtlCol="0">
            <a:spAutoFit/>
          </a:bodyPr>
          <a:lstStyle/>
          <a:p>
            <a:r>
              <a:rPr lang="zh-CN" altLang="en-US" sz="2000" b="1" dirty="0">
                <a:solidFill>
                  <a:srgbClr val="0000FF"/>
                </a:solidFill>
              </a:rPr>
              <a:t>Based on inversion principle: cam fixed, frame rotates, follower rotates and translates.</a:t>
            </a:r>
            <a:endParaRPr lang="zh-CN" altLang="en-US" sz="2000" b="1" dirty="0">
              <a:solidFill>
                <a:srgbClr val="0000FF"/>
              </a:solidFill>
            </a:endParaRPr>
          </a:p>
        </p:txBody>
      </p:sp>
      <p:sp>
        <p:nvSpPr>
          <p:cNvPr id="24" name="Text Box 85"/>
          <p:cNvSpPr txBox="1">
            <a:spLocks noChangeArrowheads="1"/>
          </p:cNvSpPr>
          <p:nvPr/>
        </p:nvSpPr>
        <p:spPr bwMode="auto">
          <a:xfrm>
            <a:off x="435610" y="1023620"/>
            <a:ext cx="8493125" cy="46037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400" b="1" dirty="0">
                <a:solidFill>
                  <a:srgbClr val="990033"/>
                </a:solidFill>
                <a:latin typeface="黑体" panose="02010609060101010101" pitchFamily="2" charset="-122"/>
                <a:ea typeface="黑体" panose="02010609060101010101" pitchFamily="2" charset="-122"/>
              </a:rPr>
              <a:t>1. Design of pitch curve with offset and roller</a:t>
            </a:r>
            <a:endParaRPr kumimoji="1" lang="zh-CN" altLang="en-US" sz="2400" b="1" dirty="0">
              <a:solidFill>
                <a:srgbClr val="990033"/>
              </a:solidFill>
              <a:latin typeface="黑体" panose="02010609060101010101" pitchFamily="2" charset="-122"/>
              <a:ea typeface="黑体" panose="02010609060101010101" pitchFamily="2" charset="-122"/>
            </a:endParaRPr>
          </a:p>
        </p:txBody>
      </p:sp>
      <mc:AlternateContent xmlns:mc="http://schemas.openxmlformats.org/markup-compatibility/2006">
        <mc:Choice xmlns:a14="http://schemas.microsoft.com/office/drawing/2010/main" Requires="a14">
          <p:sp>
            <p:nvSpPr>
              <p:cNvPr id="25" name="文本框 24"/>
              <p:cNvSpPr txBox="1"/>
              <p:nvPr/>
            </p:nvSpPr>
            <p:spPr>
              <a:xfrm>
                <a:off x="4295775" y="5033645"/>
                <a:ext cx="7142480" cy="645160"/>
              </a:xfrm>
              <a:prstGeom prst="rect">
                <a:avLst/>
              </a:prstGeom>
              <a:noFill/>
            </p:spPr>
            <p:txBody>
              <a:bodyPr wrap="square">
                <a:spAutoFit/>
              </a:bodyPr>
              <a:lstStyle/>
              <a:p>
                <a:pPr eaLnBrk="0" fontAlgn="base" hangingPunct="0">
                  <a:spcBef>
                    <a:spcPct val="50000"/>
                  </a:spcBef>
                  <a:spcAft>
                    <a:spcPct val="0"/>
                  </a:spcAft>
                </a:pPr>
                <a:r>
                  <a:t>It is known that point B is in the coordinate system</a:t>
                </a:r>
                <a:r>
                  <a:rPr lang="en-US"/>
                  <a:t> </a:t>
                </a:r>
                <a14:m>
                  <m:oMath xmlns:m="http://schemas.openxmlformats.org/officeDocument/2006/math">
                    <m:r>
                      <a:rPr kumimoji="1" lang="en-US" altLang="zh-CN" sz="1800" b="1" i="1" smtClean="0">
                        <a:solidFill>
                          <a:srgbClr val="990033"/>
                        </a:solidFill>
                        <a:latin typeface="Cambria Math" panose="02040503050406030204" pitchFamily="18" charset="0"/>
                        <a:ea typeface="黑体" panose="02010609060101010101" pitchFamily="2" charset="-122"/>
                      </a:rPr>
                      <m:t>𝑶</m:t>
                    </m:r>
                    <m:r>
                      <a:rPr kumimoji="1" lang="en-US" altLang="zh-CN" sz="1800" b="1" i="1" smtClean="0">
                        <a:solidFill>
                          <a:srgbClr val="990033"/>
                        </a:solidFill>
                        <a:latin typeface="Cambria Math" panose="02040503050406030204" pitchFamily="18" charset="0"/>
                        <a:ea typeface="黑体" panose="02010609060101010101" pitchFamily="2" charset="-122"/>
                      </a:rPr>
                      <m:t>−</m:t>
                    </m:r>
                    <m:r>
                      <a:rPr kumimoji="1" lang="en-US" altLang="zh-CN" sz="1800" b="1" i="1" smtClean="0">
                        <a:solidFill>
                          <a:srgbClr val="990033"/>
                        </a:solidFill>
                        <a:latin typeface="Cambria Math" panose="02040503050406030204" pitchFamily="18" charset="0"/>
                        <a:ea typeface="黑体" panose="02010609060101010101" pitchFamily="2" charset="-122"/>
                      </a:rPr>
                      <m:t>𝒙</m:t>
                    </m:r>
                    <m:r>
                      <a:rPr kumimoji="1" lang="zh-CN" altLang="en-US" b="1" i="1">
                        <a:solidFill>
                          <a:srgbClr val="990033"/>
                        </a:solidFill>
                        <a:latin typeface="Cambria Math" panose="02040503050406030204" pitchFamily="18" charset="0"/>
                        <a:ea typeface="黑体" panose="02010609060101010101" pitchFamily="2" charset="-122"/>
                      </a:rPr>
                      <m:t>’</m:t>
                    </m:r>
                    <m:r>
                      <a:rPr kumimoji="1" lang="en-US" altLang="zh-CN" sz="1800" b="1" i="1" smtClean="0">
                        <a:solidFill>
                          <a:srgbClr val="990033"/>
                        </a:solidFill>
                        <a:latin typeface="Cambria Math" panose="02040503050406030204" pitchFamily="18" charset="0"/>
                        <a:ea typeface="黑体" panose="02010609060101010101" pitchFamily="2" charset="-122"/>
                      </a:rPr>
                      <m:t>,</m:t>
                    </m:r>
                    <m:r>
                      <a:rPr kumimoji="1" lang="en-US" altLang="zh-CN" sz="1800" b="1" i="1" smtClean="0">
                        <a:solidFill>
                          <a:srgbClr val="990033"/>
                        </a:solidFill>
                        <a:latin typeface="Cambria Math" panose="02040503050406030204" pitchFamily="18" charset="0"/>
                        <a:ea typeface="黑体" panose="02010609060101010101" pitchFamily="2" charset="-122"/>
                      </a:rPr>
                      <m:t>𝒚</m:t>
                    </m:r>
                    <m:r>
                      <a:rPr kumimoji="1" lang="zh-CN" altLang="en-US" b="1" i="1">
                        <a:solidFill>
                          <a:srgbClr val="990033"/>
                        </a:solidFill>
                        <a:latin typeface="Cambria Math" panose="02040503050406030204" pitchFamily="18" charset="0"/>
                        <a:ea typeface="黑体" panose="02010609060101010101" pitchFamily="2" charset="-122"/>
                      </a:rPr>
                      <m:t>’</m:t>
                    </m:r>
                  </m:oMath>
                </a14:m>
                <a:r>
                  <a:rPr kumimoji="1" lang="en-US" altLang="zh-CN" sz="1800" b="1" dirty="0">
                    <a:solidFill>
                      <a:srgbClr val="990033"/>
                    </a:solidFill>
                    <a:latin typeface="黑体" panose="02010609060101010101" pitchFamily="2" charset="-122"/>
                    <a:ea typeface="黑体" panose="02010609060101010101" pitchFamily="2" charset="-122"/>
                  </a:rPr>
                  <a:t>,</a:t>
                </a:r>
                <a:r>
                  <a:rPr kumimoji="1" lang="en-US" altLang="zh-CN" sz="18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The coordinates is</a:t>
                </a:r>
                <a:r>
                  <a:rPr kumimoji="1" lang="zh-CN" altLang="en-US" sz="1800" b="1" dirty="0">
                    <a:solidFill>
                      <a:srgbClr val="990033"/>
                    </a:solidFill>
                    <a:latin typeface="黑体" panose="02010609060101010101" pitchFamily="2" charset="-122"/>
                    <a:ea typeface="黑体" panose="02010609060101010101" pitchFamily="2" charset="-122"/>
                  </a:rPr>
                  <a:t>（</a:t>
                </a:r>
                <a:r>
                  <a:rPr kumimoji="1" lang="en-US" altLang="zh-CN" b="1" dirty="0">
                    <a:solidFill>
                      <a:srgbClr val="990033"/>
                    </a:solidFill>
                    <a:ea typeface="黑体" panose="02010609060101010101" pitchFamily="2" charset="-122"/>
                  </a:rPr>
                  <a:t> </a:t>
                </a:r>
                <a14:m>
                  <m:oMath xmlns:m="http://schemas.openxmlformats.org/officeDocument/2006/math">
                    <m:r>
                      <a:rPr kumimoji="1" lang="en-US" altLang="zh-CN" b="1" i="1">
                        <a:solidFill>
                          <a:srgbClr val="990033"/>
                        </a:solidFill>
                        <a:latin typeface="Cambria Math" panose="02040503050406030204" pitchFamily="18" charset="0"/>
                        <a:ea typeface="黑体" panose="02010609060101010101" pitchFamily="2" charset="-122"/>
                      </a:rPr>
                      <m:t>𝒙</m:t>
                    </m:r>
                    <m:r>
                      <a:rPr kumimoji="1" lang="en-US" altLang="zh-CN" b="1" i="1" smtClean="0">
                        <a:solidFill>
                          <a:srgbClr val="990033"/>
                        </a:solidFill>
                        <a:latin typeface="Cambria Math" panose="02040503050406030204" pitchFamily="18" charset="0"/>
                        <a:ea typeface="黑体" panose="02010609060101010101" pitchFamily="2" charset="-122"/>
                      </a:rPr>
                      <m:t>′</m:t>
                    </m:r>
                    <m:r>
                      <a:rPr kumimoji="1" lang="en-US" altLang="zh-CN" b="1" i="1">
                        <a:solidFill>
                          <a:srgbClr val="990033"/>
                        </a:solidFill>
                        <a:latin typeface="Cambria Math" panose="02040503050406030204" pitchFamily="18" charset="0"/>
                        <a:ea typeface="黑体" panose="02010609060101010101" pitchFamily="2" charset="-122"/>
                      </a:rPr>
                      <m:t>,</m:t>
                    </m:r>
                    <m:r>
                      <a:rPr kumimoji="1" lang="en-US" altLang="zh-CN" b="1" i="1">
                        <a:solidFill>
                          <a:srgbClr val="990033"/>
                        </a:solidFill>
                        <a:latin typeface="Cambria Math" panose="02040503050406030204" pitchFamily="18" charset="0"/>
                        <a:ea typeface="黑体" panose="02010609060101010101" pitchFamily="2" charset="-122"/>
                      </a:rPr>
                      <m:t>𝒚</m:t>
                    </m:r>
                    <m:r>
                      <a:rPr kumimoji="1" lang="en-US" altLang="zh-CN" b="1" i="1" smtClean="0">
                        <a:solidFill>
                          <a:srgbClr val="990033"/>
                        </a:solidFill>
                        <a:latin typeface="Cambria Math" panose="02040503050406030204" pitchFamily="18" charset="0"/>
                        <a:ea typeface="黑体" panose="02010609060101010101" pitchFamily="2" charset="-122"/>
                      </a:rPr>
                      <m:t>′</m:t>
                    </m:r>
                    <m:r>
                      <a:rPr kumimoji="1" lang="en-US" altLang="zh-CN" b="1" i="1">
                        <a:solidFill>
                          <a:srgbClr val="990033"/>
                        </a:solidFill>
                        <a:latin typeface="Cambria Math" panose="02040503050406030204" pitchFamily="18" charset="0"/>
                        <a:ea typeface="黑体" panose="02010609060101010101" pitchFamily="2" charset="-122"/>
                      </a:rPr>
                      <m:t> </m:t>
                    </m:r>
                  </m:oMath>
                </a14:m>
                <a:r>
                  <a:rPr kumimoji="1" lang="zh-CN" altLang="en-US" sz="1800" b="1" dirty="0">
                    <a:solidFill>
                      <a:srgbClr val="990033"/>
                    </a:solidFill>
                    <a:latin typeface="黑体" panose="02010609060101010101" pitchFamily="2" charset="-122"/>
                    <a:ea typeface="黑体" panose="02010609060101010101" pitchFamily="2" charset="-122"/>
                  </a:rPr>
                  <a:t>）</a:t>
                </a:r>
                <a:endParaRPr kumimoji="1" lang="zh-CN" altLang="en-US" sz="1800" b="1" dirty="0">
                  <a:solidFill>
                    <a:srgbClr val="990033"/>
                  </a:solidFill>
                  <a:latin typeface="黑体" panose="02010609060101010101" pitchFamily="2" charset="-122"/>
                  <a:ea typeface="黑体" panose="02010609060101010101" pitchFamily="2" charset="-122"/>
                </a:endParaRPr>
              </a:p>
            </p:txBody>
          </p:sp>
        </mc:Choice>
        <mc:Fallback>
          <p:sp>
            <p:nvSpPr>
              <p:cNvPr id="25" name="文本框 24"/>
              <p:cNvSpPr txBox="1">
                <a:spLocks noRot="1" noChangeAspect="1" noMove="1" noResize="1" noEditPoints="1" noAdjustHandles="1" noChangeArrowheads="1" noChangeShapeType="1" noTextEdit="1"/>
              </p:cNvSpPr>
              <p:nvPr/>
            </p:nvSpPr>
            <p:spPr>
              <a:xfrm>
                <a:off x="4295775" y="5033645"/>
                <a:ext cx="7142480" cy="64516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p:cNvSpPr txBox="1"/>
              <p:nvPr/>
            </p:nvSpPr>
            <p:spPr>
              <a:xfrm>
                <a:off x="4295775" y="6049010"/>
                <a:ext cx="7222490" cy="368300"/>
              </a:xfrm>
              <a:prstGeom prst="rect">
                <a:avLst/>
              </a:prstGeom>
              <a:noFill/>
            </p:spPr>
            <p:txBody>
              <a:bodyPr wrap="square">
                <a:spAutoFit/>
              </a:bodyPr>
              <a:lstStyle/>
              <a:p>
                <a:pPr eaLnBrk="0" fontAlgn="base" hangingPunct="0">
                  <a:spcBef>
                    <a:spcPct val="50000"/>
                  </a:spcBef>
                  <a:spcAft>
                    <a:spcPct val="0"/>
                  </a:spcAft>
                </a:pPr>
                <a:r>
                  <a:t>Find its coordinates in the </a:t>
                </a:r>
                <a14:m>
                  <m:oMath xmlns:m="http://schemas.openxmlformats.org/officeDocument/2006/math">
                    <m:r>
                      <a:rPr kumimoji="1" lang="en-US" altLang="zh-CN" sz="1800" b="1" i="1" smtClean="0">
                        <a:solidFill>
                          <a:srgbClr val="990033"/>
                        </a:solidFill>
                        <a:latin typeface="Cambria Math" panose="02040503050406030204" pitchFamily="18" charset="0"/>
                        <a:ea typeface="黑体" panose="02010609060101010101" pitchFamily="2" charset="-122"/>
                      </a:rPr>
                      <m:t>𝑶</m:t>
                    </m:r>
                    <m:r>
                      <a:rPr kumimoji="1" lang="en-US" altLang="zh-CN" sz="1800" b="1" i="1" smtClean="0">
                        <a:solidFill>
                          <a:srgbClr val="990033"/>
                        </a:solidFill>
                        <a:latin typeface="Cambria Math" panose="02040503050406030204" pitchFamily="18" charset="0"/>
                        <a:ea typeface="黑体" panose="02010609060101010101" pitchFamily="2" charset="-122"/>
                      </a:rPr>
                      <m:t>−</m:t>
                    </m:r>
                    <m:r>
                      <a:rPr kumimoji="1" lang="en-US" altLang="zh-CN" sz="1800" b="1" i="1" smtClean="0">
                        <a:solidFill>
                          <a:srgbClr val="990033"/>
                        </a:solidFill>
                        <a:latin typeface="Cambria Math" panose="02040503050406030204" pitchFamily="18" charset="0"/>
                        <a:ea typeface="黑体" panose="02010609060101010101" pitchFamily="2" charset="-122"/>
                      </a:rPr>
                      <m:t>𝒙</m:t>
                    </m:r>
                    <m:r>
                      <a:rPr kumimoji="1" lang="en-US" altLang="zh-CN" sz="1800" b="1" i="1" smtClean="0">
                        <a:solidFill>
                          <a:srgbClr val="990033"/>
                        </a:solidFill>
                        <a:latin typeface="Cambria Math" panose="02040503050406030204" pitchFamily="18" charset="0"/>
                        <a:ea typeface="黑体" panose="02010609060101010101" pitchFamily="2" charset="-122"/>
                      </a:rPr>
                      <m:t>,</m:t>
                    </m:r>
                    <m:r>
                      <a:rPr kumimoji="1" lang="en-US" altLang="zh-CN" sz="1800" b="1" i="1" smtClean="0">
                        <a:solidFill>
                          <a:srgbClr val="990033"/>
                        </a:solidFill>
                        <a:latin typeface="Cambria Math" panose="02040503050406030204" pitchFamily="18" charset="0"/>
                        <a:ea typeface="黑体" panose="02010609060101010101" pitchFamily="2" charset="-122"/>
                      </a:rPr>
                      <m:t>𝒚</m:t>
                    </m:r>
                  </m:oMath>
                </a14:m>
                <a:r>
                  <a:rPr lang="en-US">
                    <a:sym typeface="+mn-ea"/>
                  </a:rPr>
                  <a:t> </a:t>
                </a:r>
                <a:r>
                  <a:rPr>
                    <a:sym typeface="+mn-ea"/>
                  </a:rPr>
                  <a:t>coordinate system as</a:t>
                </a:r>
                <a:r>
                  <a:rPr kumimoji="1" lang="zh-CN" altLang="en-US" sz="1800" b="1" dirty="0">
                    <a:solidFill>
                      <a:srgbClr val="990033"/>
                    </a:solidFill>
                    <a:latin typeface="黑体" panose="02010609060101010101" pitchFamily="2" charset="-122"/>
                    <a:ea typeface="黑体" panose="02010609060101010101" pitchFamily="2" charset="-122"/>
                  </a:rPr>
                  <a:t>（</a:t>
                </a:r>
                <a:r>
                  <a:rPr kumimoji="1" lang="en-US" altLang="zh-CN" b="1" dirty="0">
                    <a:solidFill>
                      <a:srgbClr val="990033"/>
                    </a:solidFill>
                    <a:ea typeface="黑体" panose="02010609060101010101" pitchFamily="2" charset="-122"/>
                  </a:rPr>
                  <a:t> </a:t>
                </a:r>
                <a14:m>
                  <m:oMath xmlns:m="http://schemas.openxmlformats.org/officeDocument/2006/math">
                    <m:r>
                      <a:rPr kumimoji="1" lang="en-US" altLang="zh-CN" b="1" i="1">
                        <a:solidFill>
                          <a:srgbClr val="990033"/>
                        </a:solidFill>
                        <a:latin typeface="Cambria Math" panose="02040503050406030204" pitchFamily="18" charset="0"/>
                        <a:ea typeface="黑体" panose="02010609060101010101" pitchFamily="2" charset="-122"/>
                      </a:rPr>
                      <m:t>𝒙</m:t>
                    </m:r>
                    <m:r>
                      <a:rPr kumimoji="1" lang="en-US" altLang="zh-CN" b="1" i="1">
                        <a:solidFill>
                          <a:srgbClr val="990033"/>
                        </a:solidFill>
                        <a:latin typeface="Cambria Math" panose="02040503050406030204" pitchFamily="18" charset="0"/>
                        <a:ea typeface="黑体" panose="02010609060101010101" pitchFamily="2" charset="-122"/>
                      </a:rPr>
                      <m:t>,</m:t>
                    </m:r>
                    <m:r>
                      <a:rPr kumimoji="1" lang="en-US" altLang="zh-CN" b="1" i="1">
                        <a:solidFill>
                          <a:srgbClr val="990033"/>
                        </a:solidFill>
                        <a:latin typeface="Cambria Math" panose="02040503050406030204" pitchFamily="18" charset="0"/>
                        <a:ea typeface="黑体" panose="02010609060101010101" pitchFamily="2" charset="-122"/>
                      </a:rPr>
                      <m:t>𝒚</m:t>
                    </m:r>
                    <m:r>
                      <a:rPr kumimoji="1" lang="en-US" altLang="zh-CN" b="1" i="1">
                        <a:solidFill>
                          <a:srgbClr val="990033"/>
                        </a:solidFill>
                        <a:latin typeface="Cambria Math" panose="02040503050406030204" pitchFamily="18" charset="0"/>
                        <a:ea typeface="黑体" panose="02010609060101010101" pitchFamily="2" charset="-122"/>
                      </a:rPr>
                      <m:t> </m:t>
                    </m:r>
                  </m:oMath>
                </a14:m>
                <a:r>
                  <a:rPr kumimoji="1" lang="zh-CN" altLang="en-US" sz="1800" b="1" dirty="0">
                    <a:solidFill>
                      <a:srgbClr val="990033"/>
                    </a:solidFill>
                    <a:latin typeface="黑体" panose="02010609060101010101" pitchFamily="2" charset="-122"/>
                    <a:ea typeface="黑体" panose="02010609060101010101" pitchFamily="2" charset="-122"/>
                  </a:rPr>
                  <a:t>）</a:t>
                </a:r>
                <a:endParaRPr kumimoji="1" lang="zh-CN" altLang="en-US" sz="1800" b="1" dirty="0">
                  <a:solidFill>
                    <a:srgbClr val="990033"/>
                  </a:solidFill>
                  <a:latin typeface="黑体" panose="02010609060101010101" pitchFamily="2" charset="-122"/>
                  <a:ea typeface="黑体" panose="02010609060101010101" pitchFamily="2" charset="-122"/>
                </a:endParaRPr>
              </a:p>
            </p:txBody>
          </p:sp>
        </mc:Choice>
        <mc:Fallback>
          <p:sp>
            <p:nvSpPr>
              <p:cNvPr id="26" name="文本框 25"/>
              <p:cNvSpPr txBox="1">
                <a:spLocks noRot="1" noChangeAspect="1" noMove="1" noResize="1" noEditPoints="1" noAdjustHandles="1" noChangeArrowheads="1" noChangeShapeType="1" noTextEdit="1"/>
              </p:cNvSpPr>
              <p:nvPr/>
            </p:nvSpPr>
            <p:spPr>
              <a:xfrm>
                <a:off x="4295775" y="6049010"/>
                <a:ext cx="7222490" cy="368300"/>
              </a:xfrm>
              <a:prstGeom prst="rect">
                <a:avLst/>
              </a:prstGeom>
              <a:blipFill rotWithShape="1">
                <a:blip r:embed="rId5"/>
                <a:stretch>
                  <a:fillRect/>
                </a:stretch>
              </a:blipFill>
            </p:spPr>
            <p:txBody>
              <a:bodyPr/>
              <a:lstStyle/>
              <a:p>
                <a:r>
                  <a:rPr lang="zh-CN" altLang="en-US">
                    <a:noFill/>
                  </a:rPr>
                  <a:t> </a:t>
                </a:r>
              </a:p>
            </p:txBody>
          </p:sp>
        </mc:Fallback>
      </mc:AlternateContent>
      <p:graphicFrame>
        <p:nvGraphicFramePr>
          <p:cNvPr id="6" name="对象 5"/>
          <p:cNvGraphicFramePr>
            <a:graphicFrameLocks noChangeAspect="1"/>
          </p:cNvGraphicFramePr>
          <p:nvPr/>
        </p:nvGraphicFramePr>
        <p:xfrm>
          <a:off x="340999" y="5487256"/>
          <a:ext cx="3773487" cy="1035050"/>
        </p:xfrm>
        <a:graphic>
          <a:graphicData uri="http://schemas.openxmlformats.org/presentationml/2006/ole">
            <mc:AlternateContent xmlns:mc="http://schemas.openxmlformats.org/markup-compatibility/2006">
              <mc:Choice xmlns:v="urn:schemas-microsoft-com:vml" Requires="v">
                <p:oleObj spid="_x0000_s199921" name="Equation" r:id="rId6" imgW="3775075" imgH="1036320" progId="Equation.DSMT4">
                  <p:embed/>
                </p:oleObj>
              </mc:Choice>
              <mc:Fallback>
                <p:oleObj name="Equation" r:id="rId6" imgW="3775075" imgH="1036320" progId="Equation.DSMT4">
                  <p:embed/>
                  <p:pic>
                    <p:nvPicPr>
                      <p:cNvPr id="0" name="图片 199920"/>
                      <p:cNvPicPr/>
                      <p:nvPr/>
                    </p:nvPicPr>
                    <p:blipFill>
                      <a:blip r:embed="rId7"/>
                      <a:stretch>
                        <a:fillRect/>
                      </a:stretch>
                    </p:blipFill>
                    <p:spPr>
                      <a:xfrm>
                        <a:off x="340999" y="5487256"/>
                        <a:ext cx="3773487" cy="103505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21" name="文本框 20"/>
              <p:cNvSpPr txBox="1"/>
              <p:nvPr/>
            </p:nvSpPr>
            <p:spPr>
              <a:xfrm>
                <a:off x="9418741" y="3225640"/>
                <a:ext cx="1284258"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kumimoji="1" lang="en-US" altLang="zh-CN" b="1" i="1" smtClean="0">
                          <a:solidFill>
                            <a:srgbClr val="990033"/>
                          </a:solidFill>
                          <a:latin typeface="Cambria Math" panose="02040503050406030204" pitchFamily="18" charset="0"/>
                          <a:ea typeface="黑体" panose="02010609060101010101" pitchFamily="2" charset="-122"/>
                        </a:rPr>
                        <m:t>𝒚</m:t>
                      </m:r>
                      <m:r>
                        <a:rPr kumimoji="1" lang="en-US" altLang="zh-CN" b="1" i="1" smtClean="0">
                          <a:solidFill>
                            <a:srgbClr val="990033"/>
                          </a:solidFill>
                          <a:latin typeface="Cambria Math" panose="02040503050406030204" pitchFamily="18" charset="0"/>
                          <a:ea typeface="黑体" panose="02010609060101010101" pitchFamily="2" charset="-122"/>
                        </a:rPr>
                        <m:t>′</m:t>
                      </m:r>
                    </m:oMath>
                  </m:oMathPara>
                </a14:m>
                <a:endParaRPr lang="zh-CN" altLang="en-US" dirty="0"/>
              </a:p>
            </p:txBody>
          </p:sp>
        </mc:Choice>
        <mc:Fallback>
          <p:sp>
            <p:nvSpPr>
              <p:cNvPr id="21" name="文本框 20"/>
              <p:cNvSpPr txBox="1">
                <a:spLocks noRot="1" noChangeAspect="1" noMove="1" noResize="1" noEditPoints="1" noAdjustHandles="1" noChangeArrowheads="1" noChangeShapeType="1" noTextEdit="1"/>
              </p:cNvSpPr>
              <p:nvPr/>
            </p:nvSpPr>
            <p:spPr>
              <a:xfrm>
                <a:off x="9418741" y="3225640"/>
                <a:ext cx="1284258" cy="369332"/>
              </a:xfrm>
              <a:prstGeom prst="rect">
                <a:avLst/>
              </a:prstGeom>
              <a:blipFill rotWithShape="1">
                <a:blip r:embed="rId8"/>
                <a:stretch>
                  <a:fillRect l="-33" t="-129" r="6" b="64"/>
                </a:stretch>
              </a:blipFill>
            </p:spPr>
            <p:txBody>
              <a:bodyPr/>
              <a:lstStyle/>
              <a:p>
                <a:r>
                  <a:rPr lang="zh-CN" altLang="en-US">
                    <a:noFill/>
                  </a:rPr>
                  <a:t> </a:t>
                </a:r>
              </a:p>
            </p:txBody>
          </p:sp>
        </mc:Fallback>
      </mc:AlternateContent>
      <p:sp>
        <p:nvSpPr>
          <p:cNvPr id="10" name="TextBox 8"/>
          <p:cNvSpPr txBox="1"/>
          <p:nvPr/>
        </p:nvSpPr>
        <p:spPr>
          <a:xfrm>
            <a:off x="1007879" y="319709"/>
            <a:ext cx="7290338" cy="954107"/>
          </a:xfrm>
          <a:prstGeom prst="rect">
            <a:avLst/>
          </a:prstGeom>
          <a:noFill/>
        </p:spPr>
        <p:txBody>
          <a:bodyPr wrap="square" rtlCol="0">
            <a:spAutoFit/>
          </a:bodyPr>
          <a:lstStyle/>
          <a:p>
            <a:r>
              <a:rPr lang="en-US" altLang="zh-CN" sz="2800" dirty="0">
                <a:solidFill>
                  <a:schemeClr val="accent2">
                    <a:lumMod val="75000"/>
                  </a:schemeClr>
                </a:solidFill>
              </a:rPr>
              <a:t>3-6 Analytical Method for Cam Profile Design</a:t>
            </a:r>
            <a:endParaRPr lang="en-US" altLang="zh-CN" sz="2800" dirty="0">
              <a:solidFill>
                <a:schemeClr val="accent2">
                  <a:lumMod val="75000"/>
                </a:schemeClr>
              </a:solidFill>
            </a:endParaRPr>
          </a:p>
          <a:p>
            <a:endParaRPr lang="en-US" altLang="zh-CN" sz="2800" dirty="0">
              <a:solidFill>
                <a:schemeClr val="accent2">
                  <a:lumMod val="75000"/>
                </a:schemeClr>
              </a:solidFill>
            </a:endParaRPr>
          </a:p>
        </p:txBody>
      </p:sp>
      <p:pic>
        <p:nvPicPr>
          <p:cNvPr id="2" name="图片 1"/>
          <p:cNvPicPr>
            <a:picLocks noChangeAspect="1"/>
          </p:cNvPicPr>
          <p:nvPr/>
        </p:nvPicPr>
        <p:blipFill>
          <a:blip r:embed="rId9"/>
          <a:stretch>
            <a:fillRect/>
          </a:stretch>
        </p:blipFill>
        <p:spPr>
          <a:xfrm>
            <a:off x="2621280" y="2372360"/>
            <a:ext cx="2908300" cy="443230"/>
          </a:xfrm>
          <a:prstGeom prst="rect">
            <a:avLst/>
          </a:prstGeom>
        </p:spPr>
      </p:pic>
      <p:pic>
        <p:nvPicPr>
          <p:cNvPr id="3" name="图片 2"/>
          <p:cNvPicPr>
            <a:picLocks noChangeAspect="1"/>
          </p:cNvPicPr>
          <p:nvPr/>
        </p:nvPicPr>
        <p:blipFill>
          <a:blip r:embed="rId10"/>
          <a:stretch>
            <a:fillRect/>
          </a:stretch>
        </p:blipFill>
        <p:spPr>
          <a:xfrm>
            <a:off x="2586990" y="3488690"/>
            <a:ext cx="3107690" cy="34544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stretch>
            <a:fillRect/>
          </a:stretch>
        </p:blipFill>
        <p:spPr>
          <a:xfrm>
            <a:off x="4896186" y="1983347"/>
            <a:ext cx="3657917" cy="3612193"/>
          </a:xfrm>
          <a:prstGeom prst="rect">
            <a:avLst/>
          </a:prstGeom>
        </p:spPr>
      </p:pic>
      <p:sp>
        <p:nvSpPr>
          <p:cNvPr id="27" name="Text Box 118"/>
          <p:cNvSpPr txBox="1">
            <a:spLocks noChangeArrowheads="1"/>
          </p:cNvSpPr>
          <p:nvPr/>
        </p:nvSpPr>
        <p:spPr bwMode="auto">
          <a:xfrm>
            <a:off x="435429" y="1835200"/>
            <a:ext cx="56451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p>
            <a:pPr algn="just" eaLnBrk="0" fontAlgn="base" hangingPunct="0">
              <a:lnSpc>
                <a:spcPct val="110000"/>
              </a:lnSpc>
              <a:spcBef>
                <a:spcPct val="10000"/>
              </a:spcBef>
              <a:spcAft>
                <a:spcPct val="0"/>
              </a:spcAft>
            </a:pPr>
            <a:r>
              <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Radial Roller Follower Disk Cam</a:t>
            </a:r>
            <a:endPar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0" fontAlgn="base" hangingPunct="0">
              <a:lnSpc>
                <a:spcPct val="110000"/>
              </a:lnSpc>
              <a:spcBef>
                <a:spcPct val="10000"/>
              </a:spcBef>
              <a:spcAft>
                <a:spcPct val="0"/>
              </a:spcAft>
            </a:pPr>
            <a:r>
              <a:rPr kumimoji="1"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Known Parameters:</a:t>
            </a:r>
            <a:endParaRPr kumimoji="1"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0" fontAlgn="base" hangingPunct="0">
              <a:lnSpc>
                <a:spcPct val="110000"/>
              </a:lnSpc>
              <a:spcBef>
                <a:spcPct val="10000"/>
              </a:spcBef>
              <a:spcAft>
                <a:spcPct val="0"/>
              </a:spcAft>
            </a:pPr>
            <a:r>
              <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400" b="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1" i="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2400" b="1" baseline="-25000"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0</a:t>
            </a:r>
            <a:r>
              <a:rPr kumimoji="1" lang="en-US" altLang="zh-CN" sz="24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1" i="1" dirty="0" err="1">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2400" b="1" baseline="-25000" dirty="0" err="1">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24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1" i="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e</a:t>
            </a:r>
            <a:r>
              <a:rPr kumimoji="1" lang="en-US" altLang="zh-CN" sz="24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400" b="1" i="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4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1" i="1" dirty="0" err="1">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s</a:t>
            </a:r>
            <a:r>
              <a:rPr kumimoji="1" lang="en-US" altLang="zh-CN" sz="2400" b="1" dirty="0" err="1">
                <a:solidFill>
                  <a:srgbClr val="009999"/>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400" b="1" i="1" dirty="0" err="1">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s</a:t>
            </a:r>
            <a:r>
              <a:rPr kumimoji="1" lang="en-US" altLang="zh-CN" sz="2400" b="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b="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en-US" altLang="zh-CN" sz="2400" b="1" dirty="0">
                <a:solidFill>
                  <a:srgbClr val="009999"/>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1" lang="zh-CN" altLang="en-US" sz="2400" b="1" dirty="0">
              <a:solidFill>
                <a:srgbClr val="3333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8" name="Object 121"/>
          <p:cNvGraphicFramePr>
            <a:graphicFrameLocks noChangeAspect="1"/>
          </p:cNvGraphicFramePr>
          <p:nvPr/>
        </p:nvGraphicFramePr>
        <p:xfrm>
          <a:off x="8701242" y="5781213"/>
          <a:ext cx="3352800" cy="971550"/>
        </p:xfrm>
        <a:graphic>
          <a:graphicData uri="http://schemas.openxmlformats.org/presentationml/2006/ole">
            <mc:AlternateContent xmlns:mc="http://schemas.openxmlformats.org/markup-compatibility/2006">
              <mc:Choice xmlns:v="urn:schemas-microsoft-com:vml" Requires="v">
                <p:oleObj spid="_x0000_s200892" name="公式" r:id="rId2" imgW="41148000" imgH="11582400" progId="Equation.3">
                  <p:embed/>
                </p:oleObj>
              </mc:Choice>
              <mc:Fallback>
                <p:oleObj name="公式" r:id="rId2" imgW="41148000" imgH="11582400" progId="Equation.3">
                  <p:embed/>
                  <p:pic>
                    <p:nvPicPr>
                      <p:cNvPr id="0" name="Object 121"/>
                      <p:cNvPicPr>
                        <a:picLocks noChangeAspect="1" noChangeArrowheads="1"/>
                      </p:cNvPicPr>
                      <p:nvPr/>
                    </p:nvPicPr>
                    <p:blipFill>
                      <a:blip r:embed="rId3"/>
                      <a:srcRect/>
                      <a:stretch>
                        <a:fillRect/>
                      </a:stretch>
                    </p:blipFill>
                    <p:spPr bwMode="auto">
                      <a:xfrm>
                        <a:off x="8701242" y="5781213"/>
                        <a:ext cx="3352800" cy="971550"/>
                      </a:xfrm>
                      <a:prstGeom prst="rect">
                        <a:avLst/>
                      </a:prstGeom>
                      <a:noFill/>
                      <a:extLst>
                        <a:ext uri="{909E8E84-426E-40DD-AFC4-6F175D3DCCD1}">
                          <a14:hiddenFill xmlns:a14="http://schemas.microsoft.com/office/drawing/2010/main">
                            <a:solidFill>
                              <a:srgbClr val="0000FF"/>
                            </a:solidFill>
                          </a14:hiddenFill>
                        </a:ext>
                      </a:extLst>
                    </p:spPr>
                  </p:pic>
                </p:oleObj>
              </mc:Fallback>
            </mc:AlternateContent>
          </a:graphicData>
        </a:graphic>
      </p:graphicFrame>
      <p:sp>
        <p:nvSpPr>
          <p:cNvPr id="29" name="Text Box 122"/>
          <p:cNvSpPr txBox="1">
            <a:spLocks noChangeArrowheads="1"/>
          </p:cNvSpPr>
          <p:nvPr/>
        </p:nvSpPr>
        <p:spPr bwMode="auto">
          <a:xfrm>
            <a:off x="452301" y="3241320"/>
            <a:ext cx="4860926"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p>
            <a:pPr algn="just" eaLnBrk="0" fontAlgn="base" hangingPunct="0">
              <a:lnSpc>
                <a:spcPct val="110000"/>
              </a:lnSpc>
              <a:spcBef>
                <a:spcPct val="10000"/>
              </a:spcBef>
              <a:spcAft>
                <a:spcPct val="0"/>
              </a:spcAft>
            </a:pPr>
            <a:r>
              <a:rPr kumimoji="1" lang="zh-CN" altLang="en-US" sz="24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Pitch Curve Equation</a:t>
            </a:r>
            <a:endPar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30" name="Object 130"/>
          <p:cNvGraphicFramePr>
            <a:graphicFrameLocks noChangeAspect="1"/>
          </p:cNvGraphicFramePr>
          <p:nvPr/>
        </p:nvGraphicFramePr>
        <p:xfrm>
          <a:off x="8701242" y="5189075"/>
          <a:ext cx="1709737" cy="592138"/>
        </p:xfrm>
        <a:graphic>
          <a:graphicData uri="http://schemas.openxmlformats.org/presentationml/2006/ole">
            <mc:AlternateContent xmlns:mc="http://schemas.openxmlformats.org/markup-compatibility/2006">
              <mc:Choice xmlns:v="urn:schemas-microsoft-com:vml" Requires="v">
                <p:oleObj spid="_x0000_s200893" name="公式" r:id="rId4" imgW="20116800" imgH="7010400" progId="Equation.3">
                  <p:embed/>
                </p:oleObj>
              </mc:Choice>
              <mc:Fallback>
                <p:oleObj name="公式" r:id="rId4" imgW="20116800" imgH="7010400" progId="Equation.3">
                  <p:embed/>
                  <p:pic>
                    <p:nvPicPr>
                      <p:cNvPr id="0" name="Object 130"/>
                      <p:cNvPicPr>
                        <a:picLocks noChangeAspect="1" noChangeArrowheads="1"/>
                      </p:cNvPicPr>
                      <p:nvPr/>
                    </p:nvPicPr>
                    <p:blipFill>
                      <a:blip r:embed="rId5"/>
                      <a:srcRect/>
                      <a:stretch>
                        <a:fillRect/>
                      </a:stretch>
                    </p:blipFill>
                    <p:spPr bwMode="auto">
                      <a:xfrm>
                        <a:off x="8701242" y="5189075"/>
                        <a:ext cx="1709737" cy="592138"/>
                      </a:xfrm>
                      <a:prstGeom prst="rect">
                        <a:avLst/>
                      </a:prstGeom>
                      <a:noFill/>
                      <a:extLst>
                        <a:ext uri="{909E8E84-426E-40DD-AFC4-6F175D3DCCD1}">
                          <a14:hiddenFill xmlns:a14="http://schemas.microsoft.com/office/drawing/2010/main">
                            <a:solidFill>
                              <a:srgbClr val="0000FF"/>
                            </a:solidFill>
                          </a14:hiddenFill>
                        </a:ext>
                      </a:extLst>
                    </p:spPr>
                  </p:pic>
                </p:oleObj>
              </mc:Fallback>
            </mc:AlternateContent>
          </a:graphicData>
        </a:graphic>
      </p:graphicFrame>
      <p:pic>
        <p:nvPicPr>
          <p:cNvPr id="31" name="图片 30"/>
          <p:cNvPicPr>
            <a:picLocks noChangeAspect="1"/>
          </p:cNvPicPr>
          <p:nvPr/>
        </p:nvPicPr>
        <p:blipFill>
          <a:blip r:embed="rId6"/>
          <a:stretch>
            <a:fillRect/>
          </a:stretch>
        </p:blipFill>
        <p:spPr>
          <a:xfrm>
            <a:off x="7793543" y="930706"/>
            <a:ext cx="4006144" cy="1221454"/>
          </a:xfrm>
          <a:prstGeom prst="rect">
            <a:avLst/>
          </a:prstGeom>
        </p:spPr>
      </p:pic>
      <p:pic>
        <p:nvPicPr>
          <p:cNvPr id="32" name="图片 31"/>
          <p:cNvPicPr>
            <a:picLocks noChangeAspect="1"/>
          </p:cNvPicPr>
          <p:nvPr/>
        </p:nvPicPr>
        <p:blipFill>
          <a:blip r:embed="rId7"/>
          <a:stretch>
            <a:fillRect/>
          </a:stretch>
        </p:blipFill>
        <p:spPr>
          <a:xfrm>
            <a:off x="367201" y="4999899"/>
            <a:ext cx="3551228" cy="1668925"/>
          </a:xfrm>
          <a:prstGeom prst="rect">
            <a:avLst/>
          </a:prstGeom>
        </p:spPr>
      </p:pic>
      <p:graphicFrame>
        <p:nvGraphicFramePr>
          <p:cNvPr id="33" name="Object 12"/>
          <p:cNvGraphicFramePr>
            <a:graphicFrameLocks noChangeAspect="1"/>
          </p:cNvGraphicFramePr>
          <p:nvPr/>
        </p:nvGraphicFramePr>
        <p:xfrm>
          <a:off x="435429" y="3789443"/>
          <a:ext cx="2074862" cy="1092200"/>
        </p:xfrm>
        <a:graphic>
          <a:graphicData uri="http://schemas.openxmlformats.org/presentationml/2006/ole">
            <mc:AlternateContent xmlns:mc="http://schemas.openxmlformats.org/markup-compatibility/2006">
              <mc:Choice xmlns:v="urn:schemas-microsoft-com:vml" Requires="v">
                <p:oleObj spid="_x0000_s200894" name="公式" r:id="rId8" imgW="21945600" imgH="11582400" progId="Equation.3">
                  <p:embed/>
                </p:oleObj>
              </mc:Choice>
              <mc:Fallback>
                <p:oleObj name="公式" r:id="rId8" imgW="21945600" imgH="11582400" progId="Equation.3">
                  <p:embed/>
                  <p:pic>
                    <p:nvPicPr>
                      <p:cNvPr id="0" name="Object 12"/>
                      <p:cNvPicPr>
                        <a:picLocks noChangeAspect="1" noChangeArrowheads="1"/>
                      </p:cNvPicPr>
                      <p:nvPr/>
                    </p:nvPicPr>
                    <p:blipFill>
                      <a:blip r:embed="rId9"/>
                      <a:srcRect/>
                      <a:stretch>
                        <a:fillRect/>
                      </a:stretch>
                    </p:blipFill>
                    <p:spPr bwMode="auto">
                      <a:xfrm>
                        <a:off x="435429" y="3789443"/>
                        <a:ext cx="2074862" cy="109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4" name="直接箭头连接符 33"/>
          <p:cNvCxnSpPr/>
          <p:nvPr/>
        </p:nvCxnSpPr>
        <p:spPr bwMode="auto">
          <a:xfrm>
            <a:off x="1992344" y="4881643"/>
            <a:ext cx="1086522" cy="1067744"/>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6" name="直接箭头连接符 35"/>
          <p:cNvCxnSpPr/>
          <p:nvPr/>
        </p:nvCxnSpPr>
        <p:spPr bwMode="auto">
          <a:xfrm>
            <a:off x="4426384" y="6075765"/>
            <a:ext cx="3871833"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 name="直接箭头连接符 2"/>
          <p:cNvCxnSpPr/>
          <p:nvPr/>
        </p:nvCxnSpPr>
        <p:spPr bwMode="auto">
          <a:xfrm flipV="1">
            <a:off x="6096000" y="3404108"/>
            <a:ext cx="1354238" cy="1030147"/>
          </a:xfrm>
          <a:prstGeom prst="straightConnector1">
            <a:avLst/>
          </a:prstGeom>
          <a:solidFill>
            <a:schemeClr val="accent1"/>
          </a:solidFill>
          <a:ln w="9525"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箭头连接符 16"/>
          <p:cNvCxnSpPr/>
          <p:nvPr/>
        </p:nvCxnSpPr>
        <p:spPr bwMode="auto">
          <a:xfrm>
            <a:off x="6119263" y="4393810"/>
            <a:ext cx="938916" cy="1213412"/>
          </a:xfrm>
          <a:prstGeom prst="straightConnector1">
            <a:avLst/>
          </a:prstGeom>
          <a:solidFill>
            <a:schemeClr val="accent1"/>
          </a:solidFill>
          <a:ln w="9525"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22" name="文本框 21"/>
              <p:cNvSpPr txBox="1"/>
              <p:nvPr/>
            </p:nvSpPr>
            <p:spPr>
              <a:xfrm>
                <a:off x="6871036" y="5645145"/>
                <a:ext cx="566595"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kumimoji="1" lang="en-US" altLang="zh-CN" b="1" i="1" smtClean="0">
                          <a:solidFill>
                            <a:srgbClr val="FF00FF"/>
                          </a:solidFill>
                          <a:latin typeface="Cambria Math" panose="02040503050406030204" pitchFamily="18" charset="0"/>
                          <a:ea typeface="黑体" panose="02010609060101010101" pitchFamily="2" charset="-122"/>
                        </a:rPr>
                        <m:t>𝒙</m:t>
                      </m:r>
                      <m:r>
                        <a:rPr kumimoji="1" lang="en-US" altLang="zh-CN" b="1" i="1" smtClean="0">
                          <a:solidFill>
                            <a:srgbClr val="FF00FF"/>
                          </a:solidFill>
                          <a:latin typeface="Cambria Math" panose="02040503050406030204" pitchFamily="18" charset="0"/>
                          <a:ea typeface="黑体" panose="02010609060101010101" pitchFamily="2" charset="-122"/>
                        </a:rPr>
                        <m:t>′</m:t>
                      </m:r>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6871036" y="5645145"/>
                <a:ext cx="566595" cy="369332"/>
              </a:xfrm>
              <a:prstGeom prst="rect">
                <a:avLst/>
              </a:prstGeom>
              <a:blipFill rotWithShape="1">
                <a:blip r:embed="rId10"/>
                <a:stretch>
                  <a:fillRect l="-59" t="-171" r="90" b="1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7130547" y="3063390"/>
                <a:ext cx="920535"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kumimoji="1" lang="en-US" altLang="zh-CN" b="1" i="1" smtClean="0">
                          <a:solidFill>
                            <a:srgbClr val="FF00FF"/>
                          </a:solidFill>
                          <a:latin typeface="Cambria Math" panose="02040503050406030204" pitchFamily="18" charset="0"/>
                          <a:ea typeface="黑体" panose="02010609060101010101" pitchFamily="2" charset="-122"/>
                        </a:rPr>
                        <m:t>𝒚</m:t>
                      </m:r>
                      <m:r>
                        <a:rPr kumimoji="1" lang="en-US" altLang="zh-CN" b="1" i="1" smtClean="0">
                          <a:solidFill>
                            <a:srgbClr val="FF00FF"/>
                          </a:solidFill>
                          <a:latin typeface="Cambria Math" panose="02040503050406030204" pitchFamily="18" charset="0"/>
                          <a:ea typeface="黑体" panose="02010609060101010101" pitchFamily="2" charset="-122"/>
                        </a:rPr>
                        <m:t>′ </m:t>
                      </m:r>
                    </m:oMath>
                  </m:oMathPara>
                </a14:m>
                <a:endParaRPr lang="zh-CN" altLang="en-US" dirty="0">
                  <a:solidFill>
                    <a:srgbClr val="FF00FF"/>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7130547" y="3063390"/>
                <a:ext cx="920535" cy="369332"/>
              </a:xfrm>
              <a:prstGeom prst="rect">
                <a:avLst/>
              </a:prstGeom>
              <a:blipFill rotWithShape="1">
                <a:blip r:embed="rId11"/>
                <a:stretch>
                  <a:fillRect l="-14" t="-41" r="60" b="148"/>
                </a:stretch>
              </a:blipFill>
            </p:spPr>
            <p:txBody>
              <a:bodyPr/>
              <a:lstStyle/>
              <a:p>
                <a:r>
                  <a:rPr lang="zh-CN" altLang="en-US">
                    <a:noFill/>
                  </a:rPr>
                  <a:t> </a:t>
                </a:r>
              </a:p>
            </p:txBody>
          </p:sp>
        </mc:Fallback>
      </mc:AlternateContent>
      <p:sp>
        <p:nvSpPr>
          <p:cNvPr id="2" name="Text Box 85"/>
          <p:cNvSpPr txBox="1">
            <a:spLocks noChangeArrowheads="1"/>
          </p:cNvSpPr>
          <p:nvPr/>
        </p:nvSpPr>
        <p:spPr bwMode="auto">
          <a:xfrm>
            <a:off x="300990" y="1074420"/>
            <a:ext cx="8493125" cy="46037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400" b="1" dirty="0">
                <a:solidFill>
                  <a:srgbClr val="990033"/>
                </a:solidFill>
                <a:latin typeface="黑体" panose="02010609060101010101" pitchFamily="2" charset="-122"/>
                <a:ea typeface="黑体" panose="02010609060101010101" pitchFamily="2" charset="-122"/>
              </a:rPr>
              <a:t>1. Design of pitch curve with offset and roller</a:t>
            </a:r>
            <a:endParaRPr kumimoji="1" lang="zh-CN" altLang="en-US" sz="2400" b="1" dirty="0">
              <a:solidFill>
                <a:srgbClr val="990033"/>
              </a:solidFill>
              <a:latin typeface="黑体" panose="02010609060101010101" pitchFamily="2" charset="-122"/>
              <a:ea typeface="黑体" panose="02010609060101010101" pitchFamily="2" charset="-122"/>
            </a:endParaRPr>
          </a:p>
        </p:txBody>
      </p:sp>
      <p:sp>
        <p:nvSpPr>
          <p:cNvPr id="10" name="TextBox 8"/>
          <p:cNvSpPr txBox="1"/>
          <p:nvPr/>
        </p:nvSpPr>
        <p:spPr>
          <a:xfrm>
            <a:off x="1007879" y="319709"/>
            <a:ext cx="7290338" cy="954107"/>
          </a:xfrm>
          <a:prstGeom prst="rect">
            <a:avLst/>
          </a:prstGeom>
          <a:noFill/>
        </p:spPr>
        <p:txBody>
          <a:bodyPr wrap="square" rtlCol="0">
            <a:spAutoFit/>
          </a:bodyPr>
          <a:lstStyle/>
          <a:p>
            <a:r>
              <a:rPr lang="en-US" altLang="zh-CN" sz="2800" dirty="0">
                <a:solidFill>
                  <a:schemeClr val="accent2">
                    <a:lumMod val="75000"/>
                  </a:schemeClr>
                </a:solidFill>
              </a:rPr>
              <a:t>3-6 Analytical Method for Cam Profile Design</a:t>
            </a:r>
            <a:endParaRPr lang="en-US" altLang="zh-CN" sz="2800" dirty="0">
              <a:solidFill>
                <a:schemeClr val="accent2">
                  <a:lumMod val="75000"/>
                </a:schemeClr>
              </a:solidFill>
            </a:endParaRPr>
          </a:p>
          <a:p>
            <a:endParaRPr lang="en-US" altLang="zh-CN" sz="2800" dirty="0">
              <a:solidFill>
                <a:schemeClr val="accent2">
                  <a:lumMod val="75000"/>
                </a:schemeClr>
              </a:solidFill>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85"/>
          <p:cNvSpPr txBox="1">
            <a:spLocks noChangeArrowheads="1"/>
          </p:cNvSpPr>
          <p:nvPr/>
        </p:nvSpPr>
        <p:spPr bwMode="auto">
          <a:xfrm>
            <a:off x="435429" y="1023638"/>
            <a:ext cx="7358114" cy="398780"/>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000" b="1" dirty="0">
                <a:solidFill>
                  <a:srgbClr val="990033"/>
                </a:solidFill>
                <a:latin typeface="黑体" panose="02010609060101010101" pitchFamily="2" charset="-122"/>
                <a:ea typeface="黑体" panose="02010609060101010101" pitchFamily="2" charset="-122"/>
              </a:rPr>
              <a:t>2. Design of actual profile with offset and roller</a:t>
            </a:r>
            <a:endParaRPr kumimoji="1" lang="en-US" altLang="zh-CN" sz="2000" b="1" dirty="0">
              <a:solidFill>
                <a:srgbClr val="990033"/>
              </a:solidFill>
              <a:latin typeface="黑体" panose="02010609060101010101" pitchFamily="2" charset="-122"/>
              <a:ea typeface="黑体" panose="02010609060101010101" pitchFamily="2" charset="-122"/>
            </a:endParaRPr>
          </a:p>
        </p:txBody>
      </p:sp>
      <p:pic>
        <p:nvPicPr>
          <p:cNvPr id="15" name="图片 14"/>
          <p:cNvPicPr>
            <a:picLocks noChangeAspect="1"/>
          </p:cNvPicPr>
          <p:nvPr/>
        </p:nvPicPr>
        <p:blipFill rotWithShape="1">
          <a:blip r:embed="rId1"/>
          <a:srcRect l="48246" t="15133"/>
          <a:stretch>
            <a:fillRect/>
          </a:stretch>
        </p:blipFill>
        <p:spPr>
          <a:xfrm>
            <a:off x="7509027" y="1650666"/>
            <a:ext cx="4244643" cy="4226434"/>
          </a:xfrm>
          <a:prstGeom prst="rect">
            <a:avLst/>
          </a:prstGeom>
        </p:spPr>
      </p:pic>
      <p:pic>
        <p:nvPicPr>
          <p:cNvPr id="16" name="图片 15"/>
          <p:cNvPicPr>
            <a:picLocks noChangeAspect="1"/>
          </p:cNvPicPr>
          <p:nvPr/>
        </p:nvPicPr>
        <p:blipFill>
          <a:blip r:embed="rId2"/>
          <a:stretch>
            <a:fillRect/>
          </a:stretch>
        </p:blipFill>
        <p:spPr>
          <a:xfrm>
            <a:off x="7066215" y="5724311"/>
            <a:ext cx="4523534" cy="1133689"/>
          </a:xfrm>
          <a:prstGeom prst="rect">
            <a:avLst/>
          </a:prstGeom>
        </p:spPr>
      </p:pic>
      <p:sp>
        <p:nvSpPr>
          <p:cNvPr id="19" name="文本框 18"/>
          <p:cNvSpPr txBox="1"/>
          <p:nvPr/>
        </p:nvSpPr>
        <p:spPr>
          <a:xfrm>
            <a:off x="7281940" y="1175214"/>
            <a:ext cx="3011713" cy="369332"/>
          </a:xfrm>
          <a:prstGeom prst="rect">
            <a:avLst/>
          </a:prstGeom>
          <a:noFill/>
        </p:spPr>
        <p:txBody>
          <a:bodyPr wrap="square">
            <a:spAutoFit/>
          </a:bodyPr>
          <a:lstStyle/>
          <a:p>
            <a:r>
              <a:rPr kumimoji="1" lang="zh-CN"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Based on curve family envelope equation</a:t>
            </a:r>
            <a:endParaRPr lang="zh-CN" altLang="en-US" dirty="0"/>
          </a:p>
        </p:txBody>
      </p:sp>
      <p:pic>
        <p:nvPicPr>
          <p:cNvPr id="3" name="图片 2"/>
          <p:cNvPicPr>
            <a:picLocks noChangeAspect="1"/>
          </p:cNvPicPr>
          <p:nvPr/>
        </p:nvPicPr>
        <p:blipFill>
          <a:blip r:embed="rId3"/>
          <a:stretch>
            <a:fillRect/>
          </a:stretch>
        </p:blipFill>
        <p:spPr>
          <a:xfrm>
            <a:off x="9691720" y="1085121"/>
            <a:ext cx="2363954" cy="1069049"/>
          </a:xfrm>
          <a:prstGeom prst="rect">
            <a:avLst/>
          </a:prstGeom>
        </p:spPr>
      </p:pic>
      <p:pic>
        <p:nvPicPr>
          <p:cNvPr id="22" name="图片 21"/>
          <p:cNvPicPr>
            <a:picLocks noChangeAspect="1"/>
          </p:cNvPicPr>
          <p:nvPr/>
        </p:nvPicPr>
        <p:blipFill>
          <a:blip r:embed="rId4"/>
          <a:stretch>
            <a:fillRect/>
          </a:stretch>
        </p:blipFill>
        <p:spPr>
          <a:xfrm>
            <a:off x="7416762" y="125836"/>
            <a:ext cx="3096041" cy="943968"/>
          </a:xfrm>
          <a:prstGeom prst="rect">
            <a:avLst/>
          </a:prstGeom>
        </p:spPr>
      </p:pic>
      <p:cxnSp>
        <p:nvCxnSpPr>
          <p:cNvPr id="23" name="直接箭头连接符 22"/>
          <p:cNvCxnSpPr/>
          <p:nvPr/>
        </p:nvCxnSpPr>
        <p:spPr bwMode="auto">
          <a:xfrm>
            <a:off x="5231850" y="6334623"/>
            <a:ext cx="1834365"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10" name="TextBox 8"/>
          <p:cNvSpPr txBox="1"/>
          <p:nvPr/>
        </p:nvSpPr>
        <p:spPr>
          <a:xfrm>
            <a:off x="218574" y="268274"/>
            <a:ext cx="7290338" cy="954107"/>
          </a:xfrm>
          <a:prstGeom prst="rect">
            <a:avLst/>
          </a:prstGeom>
          <a:noFill/>
        </p:spPr>
        <p:txBody>
          <a:bodyPr wrap="square" rtlCol="0">
            <a:spAutoFit/>
          </a:bodyPr>
          <a:lstStyle/>
          <a:p>
            <a:r>
              <a:rPr lang="en-US" altLang="zh-CN" sz="2800" dirty="0">
                <a:solidFill>
                  <a:schemeClr val="accent2">
                    <a:lumMod val="75000"/>
                  </a:schemeClr>
                </a:solidFill>
              </a:rPr>
              <a:t>3-6 Analytical Method for Cam Profile Design</a:t>
            </a:r>
            <a:endParaRPr lang="en-US" altLang="zh-CN" sz="2800" dirty="0">
              <a:solidFill>
                <a:schemeClr val="accent2">
                  <a:lumMod val="75000"/>
                </a:schemeClr>
              </a:solidFill>
            </a:endParaRPr>
          </a:p>
          <a:p>
            <a:endParaRPr lang="en-US" altLang="zh-CN" sz="2800" dirty="0">
              <a:solidFill>
                <a:schemeClr val="accent2">
                  <a:lumMod val="75000"/>
                </a:schemeClr>
              </a:solidFill>
            </a:endParaRPr>
          </a:p>
        </p:txBody>
      </p:sp>
      <p:pic>
        <p:nvPicPr>
          <p:cNvPr id="2" name="图片 1" descr="image-1 (3)"/>
          <p:cNvPicPr>
            <a:picLocks noChangeAspect="1"/>
          </p:cNvPicPr>
          <p:nvPr/>
        </p:nvPicPr>
        <p:blipFill>
          <a:blip r:embed="rId5"/>
          <a:srcRect t="39010"/>
          <a:stretch>
            <a:fillRect/>
          </a:stretch>
        </p:blipFill>
        <p:spPr>
          <a:xfrm>
            <a:off x="183515" y="3605530"/>
            <a:ext cx="6802120" cy="272923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302895" y="1544320"/>
                <a:ext cx="7113270" cy="2061210"/>
              </a:xfrm>
              <a:prstGeom prst="rect">
                <a:avLst/>
              </a:prstGeom>
            </p:spPr>
            <p:txBody>
              <a:bodyPr wrap="square">
                <a:spAutoFit/>
              </a:bodyPr>
              <a:p>
                <a:r>
                  <a:rPr lang="en-US" altLang="zh-CN" sz="1600"/>
                  <a:t>The envelope of the family of roller circles, where each circle is centered at a point on the theoretical profile with radius equal to the roller radius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𝑟</m:t>
                        </m:r>
                      </m:e>
                      <m:sub>
                        <m:r>
                          <a:rPr lang="en-US" altLang="zh-CN" sz="1600" i="1">
                            <a:latin typeface="Cambria Math" panose="02040503050406030204" pitchFamily="18" charset="0"/>
                            <a:cs typeface="Cambria Math" panose="02040503050406030204" pitchFamily="18" charset="0"/>
                          </a:rPr>
                          <m:t>𝑟</m:t>
                        </m:r>
                      </m:sub>
                    </m:sSub>
                  </m:oMath>
                </a14:m>
                <a:r>
                  <a:rPr lang="en-US" altLang="zh-CN" sz="1600"/>
                  <a:t>, is defined as the working profile (also called the actual profile) of a plate cam with roller follower.</a:t>
                </a:r>
                <a:endParaRPr lang="en-US" altLang="zh-CN" sz="1600"/>
              </a:p>
              <a:p>
                <a:r>
                  <a:rPr lang="en-US" altLang="zh-CN" sz="1600"/>
                  <a:t>Let (x,y) denote the coordinates of points on the theoretical profile, which serve as the centers of the family of roller circles. Let (X,Y) be the coordinates of points on the corresponding envelope, i.e., the cam working profile. According to differential geometry, the envelope equation for a one-parameter family of planar curves with parameter </a:t>
                </a:r>
                <a14:m>
                  <m:oMath xmlns:m="http://schemas.openxmlformats.org/officeDocument/2006/math">
                    <m:r>
                      <a:rPr lang="en-US" altLang="zh-CN" sz="1600" i="1">
                        <a:latin typeface="Cambria Math" panose="02040503050406030204" pitchFamily="18" charset="0"/>
                        <a:cs typeface="Cambria Math" panose="02040503050406030204" pitchFamily="18" charset="0"/>
                      </a:rPr>
                      <m:t>𝜑</m:t>
                    </m:r>
                  </m:oMath>
                </a14:m>
                <a:r>
                  <a:rPr lang="en-US" altLang="zh-CN" sz="1600"/>
                  <a:t> is:</a:t>
                </a:r>
                <a:endParaRPr lang="en-US" altLang="zh-CN" sz="1600"/>
              </a:p>
            </p:txBody>
          </p:sp>
        </mc:Choice>
        <mc:Fallback>
          <p:sp>
            <p:nvSpPr>
              <p:cNvPr id="4" name="文本框 3"/>
              <p:cNvSpPr txBox="1">
                <a:spLocks noRot="1" noChangeAspect="1" noMove="1" noResize="1" noEditPoints="1" noAdjustHandles="1" noChangeArrowheads="1" noChangeShapeType="1" noTextEdit="1"/>
              </p:cNvSpPr>
              <p:nvPr/>
            </p:nvSpPr>
            <p:spPr>
              <a:xfrm>
                <a:off x="302895" y="1544320"/>
                <a:ext cx="7113270" cy="206121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401320" y="4235450"/>
                <a:ext cx="6390005" cy="645160"/>
              </a:xfrm>
              <a:prstGeom prst="rect">
                <a:avLst/>
              </a:prstGeom>
              <a:solidFill>
                <a:schemeClr val="bg1"/>
              </a:solidFill>
            </p:spPr>
            <p:txBody>
              <a:bodyPr wrap="square" rtlCol="0">
                <a:noAutofit/>
              </a:bodyPr>
              <a:p>
                <a:r>
                  <a:rPr lang="en-US" altLang="zh-CN" sz="1400"/>
                  <a:t>where </a:t>
                </a:r>
                <a14:m>
                  <m:oMath xmlns:m="http://schemas.openxmlformats.org/officeDocument/2006/math">
                    <m:r>
                      <a:rPr lang="en-US" altLang="zh-CN" sz="1400" i="1">
                        <a:latin typeface="Cambria Math" panose="02040503050406030204" pitchFamily="18" charset="0"/>
                        <a:cs typeface="Cambria Math" panose="02040503050406030204" pitchFamily="18" charset="0"/>
                      </a:rPr>
                      <m:t>𝑓</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𝑋</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𝑌</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𝜑</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0</m:t>
                    </m:r>
                  </m:oMath>
                </a14:m>
                <a:r>
                  <a:rPr lang="en-US" altLang="zh-CN" sz="1400"/>
                  <a:t> denotes the equation of the family of curves, i.e., the equation of the family of roller circles. When the radius of the roller circle is </a:t>
                </a:r>
                <a14:m>
                  <m:oMath xmlns:m="http://schemas.openxmlformats.org/officeDocument/2006/math">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𝑟</m:t>
                        </m:r>
                      </m:e>
                      <m:sub>
                        <m:r>
                          <a:rPr lang="en-US" altLang="zh-CN" sz="1400" i="1">
                            <a:latin typeface="Cambria Math" panose="02040503050406030204" pitchFamily="18" charset="0"/>
                            <a:cs typeface="Cambria Math" panose="02040503050406030204" pitchFamily="18" charset="0"/>
                          </a:rPr>
                          <m:t>𝑟</m:t>
                        </m:r>
                      </m:sub>
                    </m:sSub>
                  </m:oMath>
                </a14:m>
                <a:r>
                  <a:rPr lang="en-US" altLang="zh-CN" sz="1400"/>
                  <a:t>, we have</a:t>
                </a:r>
                <a:endParaRPr lang="en-US" altLang="zh-CN" sz="1400"/>
              </a:p>
            </p:txBody>
          </p:sp>
        </mc:Choice>
        <mc:Fallback>
          <p:sp>
            <p:nvSpPr>
              <p:cNvPr id="5" name="文本框 4"/>
              <p:cNvSpPr txBox="1">
                <a:spLocks noRot="1" noChangeAspect="1" noMove="1" noResize="1" noEditPoints="1" noAdjustHandles="1" noChangeArrowheads="1" noChangeShapeType="1" noTextEdit="1"/>
              </p:cNvSpPr>
              <p:nvPr/>
            </p:nvSpPr>
            <p:spPr>
              <a:xfrm>
                <a:off x="401320" y="4235450"/>
                <a:ext cx="6390005" cy="645160"/>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85"/>
          <p:cNvSpPr txBox="1">
            <a:spLocks noChangeArrowheads="1"/>
          </p:cNvSpPr>
          <p:nvPr/>
        </p:nvSpPr>
        <p:spPr bwMode="auto">
          <a:xfrm>
            <a:off x="215510" y="1008011"/>
            <a:ext cx="7358114" cy="46166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400" b="1" dirty="0">
                <a:solidFill>
                  <a:srgbClr val="990033"/>
                </a:solidFill>
                <a:latin typeface="黑体" panose="02010609060101010101" pitchFamily="2" charset="-122"/>
                <a:ea typeface="黑体" panose="02010609060101010101" pitchFamily="2" charset="-122"/>
              </a:rPr>
              <a:t>3. Design of actual profile for flat-faced follower</a:t>
            </a:r>
            <a:endParaRPr kumimoji="1" lang="zh-CN" altLang="en-US" sz="2400" b="1" dirty="0">
              <a:solidFill>
                <a:srgbClr val="990033"/>
              </a:solidFill>
              <a:latin typeface="黑体" panose="02010609060101010101" pitchFamily="2" charset="-122"/>
              <a:ea typeface="黑体" panose="02010609060101010101" pitchFamily="2" charset="-122"/>
            </a:endParaRPr>
          </a:p>
        </p:txBody>
      </p:sp>
      <p:pic>
        <p:nvPicPr>
          <p:cNvPr id="12" name="图片 11"/>
          <p:cNvPicPr>
            <a:picLocks noChangeAspect="1"/>
          </p:cNvPicPr>
          <p:nvPr/>
        </p:nvPicPr>
        <p:blipFill>
          <a:blip r:embed="rId1"/>
          <a:stretch>
            <a:fillRect/>
          </a:stretch>
        </p:blipFill>
        <p:spPr>
          <a:xfrm>
            <a:off x="5165371" y="1054938"/>
            <a:ext cx="3619814" cy="3825572"/>
          </a:xfrm>
          <a:prstGeom prst="rect">
            <a:avLst/>
          </a:prstGeom>
        </p:spPr>
      </p:pic>
      <p:graphicFrame>
        <p:nvGraphicFramePr>
          <p:cNvPr id="18" name="Object 12"/>
          <p:cNvGraphicFramePr>
            <a:graphicFrameLocks noChangeAspect="1"/>
          </p:cNvGraphicFramePr>
          <p:nvPr/>
        </p:nvGraphicFramePr>
        <p:xfrm>
          <a:off x="637613" y="1760079"/>
          <a:ext cx="1509713" cy="1025525"/>
        </p:xfrm>
        <a:graphic>
          <a:graphicData uri="http://schemas.openxmlformats.org/presentationml/2006/ole">
            <mc:AlternateContent xmlns:mc="http://schemas.openxmlformats.org/markup-compatibility/2006">
              <mc:Choice xmlns:v="urn:schemas-microsoft-com:vml" Requires="v">
                <p:oleObj spid="_x0000_s206066" name="公式" r:id="rId2" imgW="15240000" imgH="10363200" progId="Equation.3">
                  <p:embed/>
                </p:oleObj>
              </mc:Choice>
              <mc:Fallback>
                <p:oleObj name="公式" r:id="rId2" imgW="15240000" imgH="10363200" progId="Equation.3">
                  <p:embed/>
                  <p:pic>
                    <p:nvPicPr>
                      <p:cNvPr id="0" name="Object 12"/>
                      <p:cNvPicPr>
                        <a:picLocks noChangeAspect="1" noChangeArrowheads="1"/>
                      </p:cNvPicPr>
                      <p:nvPr/>
                    </p:nvPicPr>
                    <p:blipFill>
                      <a:blip r:embed="rId3"/>
                      <a:srcRect/>
                      <a:stretch>
                        <a:fillRect/>
                      </a:stretch>
                    </p:blipFill>
                    <p:spPr bwMode="auto">
                      <a:xfrm>
                        <a:off x="637613" y="1760079"/>
                        <a:ext cx="1509713" cy="1025525"/>
                      </a:xfrm>
                      <a:prstGeom prst="rect">
                        <a:avLst/>
                      </a:prstGeom>
                      <a:noFill/>
                    </p:spPr>
                  </p:pic>
                </p:oleObj>
              </mc:Fallback>
            </mc:AlternateContent>
          </a:graphicData>
        </a:graphic>
      </p:graphicFrame>
      <p:graphicFrame>
        <p:nvGraphicFramePr>
          <p:cNvPr id="20" name="Object 12"/>
          <p:cNvGraphicFramePr>
            <a:graphicFrameLocks noChangeAspect="1"/>
          </p:cNvGraphicFramePr>
          <p:nvPr/>
        </p:nvGraphicFramePr>
        <p:xfrm>
          <a:off x="581850" y="3199462"/>
          <a:ext cx="3775075" cy="1035050"/>
        </p:xfrm>
        <a:graphic>
          <a:graphicData uri="http://schemas.openxmlformats.org/presentationml/2006/ole">
            <mc:AlternateContent xmlns:mc="http://schemas.openxmlformats.org/markup-compatibility/2006">
              <mc:Choice xmlns:v="urn:schemas-microsoft-com:vml" Requires="v">
                <p:oleObj spid="_x0000_s206067" name="公式" r:id="rId4" imgW="39928800" imgH="10972800" progId="Equation.3">
                  <p:embed/>
                </p:oleObj>
              </mc:Choice>
              <mc:Fallback>
                <p:oleObj name="公式" r:id="rId4" imgW="39928800" imgH="10972800" progId="Equation.3">
                  <p:embed/>
                  <p:pic>
                    <p:nvPicPr>
                      <p:cNvPr id="0" name="Object 12"/>
                      <p:cNvPicPr>
                        <a:picLocks noChangeAspect="1" noChangeArrowheads="1"/>
                      </p:cNvPicPr>
                      <p:nvPr/>
                    </p:nvPicPr>
                    <p:blipFill>
                      <a:blip r:embed="rId5"/>
                      <a:srcRect/>
                      <a:stretch>
                        <a:fillRect/>
                      </a:stretch>
                    </p:blipFill>
                    <p:spPr bwMode="auto">
                      <a:xfrm>
                        <a:off x="581850" y="3199462"/>
                        <a:ext cx="3775075"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4"/>
          <p:cNvGraphicFramePr>
            <a:graphicFrameLocks noChangeAspect="1"/>
          </p:cNvGraphicFramePr>
          <p:nvPr/>
        </p:nvGraphicFramePr>
        <p:xfrm>
          <a:off x="467551" y="4648370"/>
          <a:ext cx="4003675" cy="1093788"/>
        </p:xfrm>
        <a:graphic>
          <a:graphicData uri="http://schemas.openxmlformats.org/presentationml/2006/ole">
            <mc:AlternateContent xmlns:mc="http://schemas.openxmlformats.org/markup-compatibility/2006">
              <mc:Choice xmlns:v="urn:schemas-microsoft-com:vml" Requires="v">
                <p:oleObj spid="_x0000_s206068" name="Equation" r:id="rId6" imgW="42367200" imgH="11582400" progId="Equation.DSMT4">
                  <p:embed/>
                </p:oleObj>
              </mc:Choice>
              <mc:Fallback>
                <p:oleObj name="Equation" r:id="rId6" imgW="42367200" imgH="11582400" progId="Equation.DSMT4">
                  <p:embed/>
                  <p:pic>
                    <p:nvPicPr>
                      <p:cNvPr id="0" name="Object 4"/>
                      <p:cNvPicPr>
                        <a:picLocks noChangeAspect="1" noChangeArrowheads="1"/>
                      </p:cNvPicPr>
                      <p:nvPr/>
                    </p:nvPicPr>
                    <p:blipFill>
                      <a:blip r:embed="rId7"/>
                      <a:srcRect/>
                      <a:stretch>
                        <a:fillRect/>
                      </a:stretch>
                    </p:blipFill>
                    <p:spPr bwMode="auto">
                      <a:xfrm>
                        <a:off x="467551" y="4648370"/>
                        <a:ext cx="4003675" cy="1093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5"/>
          <p:cNvGraphicFramePr>
            <a:graphicFrameLocks noChangeAspect="1"/>
          </p:cNvGraphicFramePr>
          <p:nvPr/>
        </p:nvGraphicFramePr>
        <p:xfrm>
          <a:off x="1407795" y="6127750"/>
          <a:ext cx="6730365" cy="614045"/>
        </p:xfrm>
        <a:graphic>
          <a:graphicData uri="http://schemas.openxmlformats.org/presentationml/2006/ole">
            <mc:AlternateContent xmlns:mc="http://schemas.openxmlformats.org/markup-compatibility/2006">
              <mc:Choice xmlns:v="urn:schemas-microsoft-com:vml" Requires="v">
                <p:oleObj spid="_x0000_s206069" name="公式" r:id="rId8" imgW="2501900" imgH="228600" progId="Equation.3">
                  <p:embed/>
                </p:oleObj>
              </mc:Choice>
              <mc:Fallback>
                <p:oleObj name="公式" r:id="rId8" imgW="2501900" imgH="228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7795" y="6127750"/>
                        <a:ext cx="6730365" cy="6140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下箭头 2"/>
          <p:cNvSpPr/>
          <p:nvPr/>
        </p:nvSpPr>
        <p:spPr bwMode="auto">
          <a:xfrm>
            <a:off x="4471226" y="4873119"/>
            <a:ext cx="576064" cy="103009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algn="r" fontAlgn="base">
              <a:spcBef>
                <a:spcPct val="0"/>
              </a:spcBef>
              <a:spcAft>
                <a:spcPct val="0"/>
              </a:spcAft>
            </a:pPr>
            <a:endParaRPr lang="zh-CN" altLang="en-US" sz="1400" baseline="-25000">
              <a:solidFill>
                <a:srgbClr val="000000"/>
              </a:solidFill>
              <a:latin typeface="Arial" panose="020B0604020202020204" pitchFamily="34" charset="0"/>
              <a:ea typeface="楷体_GB2312" pitchFamily="49" charset="-122"/>
            </a:endParaRPr>
          </a:p>
        </p:txBody>
      </p:sp>
      <p:sp>
        <p:nvSpPr>
          <p:cNvPr id="25" name="文本框 24"/>
          <p:cNvSpPr txBox="1"/>
          <p:nvPr/>
        </p:nvSpPr>
        <p:spPr>
          <a:xfrm>
            <a:off x="5047291" y="5441545"/>
            <a:ext cx="2954655" cy="461665"/>
          </a:xfrm>
          <a:prstGeom prst="rect">
            <a:avLst/>
          </a:prstGeom>
          <a:noFill/>
        </p:spPr>
        <p:txBody>
          <a:bodyPr wrap="square" rtlCol="0">
            <a:spAutoFit/>
          </a:bodyPr>
          <a:lstStyle/>
          <a:p>
            <a:pPr eaLnBrk="0" fontAlgn="base" hangingPunct="0">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Envelope of flat-face line family</a:t>
            </a:r>
            <a:endParaRPr kumimoji="1" lang="zh-CN" altLang="en-US" sz="2400" dirty="0">
              <a:solidFill>
                <a:srgbClr val="000000"/>
              </a:solidFill>
              <a:latin typeface="Times New Roman" panose="02020603050405020304" pitchFamily="18" charset="0"/>
              <a:ea typeface="宋体" panose="02010600030101010101" pitchFamily="2" charset="-122"/>
            </a:endParaRPr>
          </a:p>
        </p:txBody>
      </p:sp>
      <p:cxnSp>
        <p:nvCxnSpPr>
          <p:cNvPr id="26" name="直接箭头连接符 25"/>
          <p:cNvCxnSpPr/>
          <p:nvPr/>
        </p:nvCxnSpPr>
        <p:spPr bwMode="auto">
          <a:xfrm>
            <a:off x="2147326" y="2596000"/>
            <a:ext cx="1834365" cy="603461"/>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27" name="直接箭头连接符 26"/>
          <p:cNvCxnSpPr/>
          <p:nvPr/>
        </p:nvCxnSpPr>
        <p:spPr bwMode="auto">
          <a:xfrm>
            <a:off x="871530" y="4340938"/>
            <a:ext cx="0" cy="307432"/>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pic>
        <p:nvPicPr>
          <p:cNvPr id="5" name="图片 4"/>
          <p:cNvPicPr>
            <a:picLocks noChangeAspect="1"/>
          </p:cNvPicPr>
          <p:nvPr/>
        </p:nvPicPr>
        <p:blipFill>
          <a:blip r:embed="rId10"/>
          <a:stretch>
            <a:fillRect/>
          </a:stretch>
        </p:blipFill>
        <p:spPr>
          <a:xfrm>
            <a:off x="8510872" y="4873119"/>
            <a:ext cx="3337404" cy="1889921"/>
          </a:xfrm>
          <a:prstGeom prst="rect">
            <a:avLst/>
          </a:prstGeom>
        </p:spPr>
      </p:pic>
      <p:cxnSp>
        <p:nvCxnSpPr>
          <p:cNvPr id="28" name="直接箭头连接符 27"/>
          <p:cNvCxnSpPr/>
          <p:nvPr/>
        </p:nvCxnSpPr>
        <p:spPr bwMode="auto">
          <a:xfrm flipV="1">
            <a:off x="8138005" y="5388164"/>
            <a:ext cx="647180" cy="64418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pic>
        <p:nvPicPr>
          <p:cNvPr id="19" name="图片 18"/>
          <p:cNvPicPr>
            <a:picLocks noChangeAspect="1"/>
          </p:cNvPicPr>
          <p:nvPr/>
        </p:nvPicPr>
        <p:blipFill>
          <a:blip r:embed="rId11"/>
          <a:stretch>
            <a:fillRect/>
          </a:stretch>
        </p:blipFill>
        <p:spPr>
          <a:xfrm>
            <a:off x="8298217" y="927259"/>
            <a:ext cx="3827987" cy="1196246"/>
          </a:xfrm>
          <a:prstGeom prst="rect">
            <a:avLst/>
          </a:prstGeom>
        </p:spPr>
      </p:pic>
      <p:pic>
        <p:nvPicPr>
          <p:cNvPr id="2" name="图片 1"/>
          <p:cNvPicPr>
            <a:picLocks noChangeAspect="1"/>
          </p:cNvPicPr>
          <p:nvPr/>
        </p:nvPicPr>
        <p:blipFill>
          <a:blip r:embed="rId12"/>
          <a:stretch>
            <a:fillRect/>
          </a:stretch>
        </p:blipFill>
        <p:spPr>
          <a:xfrm>
            <a:off x="5340632" y="4880510"/>
            <a:ext cx="2009775" cy="676275"/>
          </a:xfrm>
          <a:prstGeom prst="rect">
            <a:avLst/>
          </a:prstGeom>
        </p:spPr>
      </p:pic>
      <p:pic>
        <p:nvPicPr>
          <p:cNvPr id="3" name="图片 2"/>
          <p:cNvPicPr>
            <a:picLocks noChangeAspect="1"/>
          </p:cNvPicPr>
          <p:nvPr/>
        </p:nvPicPr>
        <p:blipFill>
          <a:blip r:embed="rId13"/>
          <a:stretch>
            <a:fillRect/>
          </a:stretch>
        </p:blipFill>
        <p:spPr>
          <a:xfrm>
            <a:off x="8933022" y="2303089"/>
            <a:ext cx="2493103" cy="2390446"/>
          </a:xfrm>
          <a:prstGeom prst="rect">
            <a:avLst/>
          </a:prstGeom>
        </p:spPr>
      </p:pic>
      <p:sp>
        <p:nvSpPr>
          <p:cNvPr id="10" name="TextBox 8"/>
          <p:cNvSpPr txBox="1"/>
          <p:nvPr/>
        </p:nvSpPr>
        <p:spPr>
          <a:xfrm>
            <a:off x="218574" y="268274"/>
            <a:ext cx="7290338" cy="954107"/>
          </a:xfrm>
          <a:prstGeom prst="rect">
            <a:avLst/>
          </a:prstGeom>
          <a:noFill/>
        </p:spPr>
        <p:txBody>
          <a:bodyPr wrap="square" rtlCol="0">
            <a:spAutoFit/>
          </a:bodyPr>
          <a:lstStyle/>
          <a:p>
            <a:r>
              <a:rPr lang="en-US" altLang="zh-CN" sz="2800" dirty="0">
                <a:solidFill>
                  <a:schemeClr val="accent2">
                    <a:lumMod val="75000"/>
                  </a:schemeClr>
                </a:solidFill>
              </a:rPr>
              <a:t>3-6 Analytical Method for Cam Profile Design</a:t>
            </a:r>
            <a:endParaRPr lang="en-US" altLang="zh-CN" sz="2800" dirty="0">
              <a:solidFill>
                <a:schemeClr val="accent2">
                  <a:lumMod val="75000"/>
                </a:schemeClr>
              </a:solidFill>
            </a:endParaRPr>
          </a:p>
          <a:p>
            <a:endParaRPr lang="en-US" altLang="zh-CN" sz="2800" dirty="0">
              <a:solidFill>
                <a:schemeClr val="accent2">
                  <a:lumMod val="75000"/>
                </a:schemeClr>
              </a:solidFill>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Box 85"/>
          <p:cNvSpPr txBox="1">
            <a:spLocks noChangeArrowheads="1"/>
          </p:cNvSpPr>
          <p:nvPr/>
        </p:nvSpPr>
        <p:spPr bwMode="auto">
          <a:xfrm>
            <a:off x="243680" y="987473"/>
            <a:ext cx="4872330" cy="46166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en-US" altLang="zh-CN" sz="2400" b="1" dirty="0">
                <a:solidFill>
                  <a:srgbClr val="990033"/>
                </a:solidFill>
                <a:latin typeface="黑体" panose="02010609060101010101" pitchFamily="2" charset="-122"/>
                <a:ea typeface="黑体" panose="02010609060101010101" pitchFamily="2" charset="-122"/>
              </a:rPr>
              <a:t>4. Design of pitch curve for oscillating follower</a:t>
            </a:r>
            <a:endParaRPr kumimoji="1" lang="zh-CN" altLang="en-US" sz="2400" b="1" dirty="0">
              <a:solidFill>
                <a:srgbClr val="990033"/>
              </a:solidFill>
              <a:latin typeface="黑体" panose="02010609060101010101" pitchFamily="2" charset="-122"/>
              <a:ea typeface="黑体" panose="02010609060101010101" pitchFamily="2" charset="-122"/>
            </a:endParaRPr>
          </a:p>
        </p:txBody>
      </p:sp>
      <p:sp>
        <p:nvSpPr>
          <p:cNvPr id="30" name="Text Box 85"/>
          <p:cNvSpPr txBox="1">
            <a:spLocks noChangeArrowheads="1"/>
          </p:cNvSpPr>
          <p:nvPr/>
        </p:nvSpPr>
        <p:spPr bwMode="auto">
          <a:xfrm>
            <a:off x="243880" y="2080780"/>
            <a:ext cx="2786082" cy="461665"/>
          </a:xfrm>
          <a:prstGeom prst="rect">
            <a:avLst/>
          </a:prstGeom>
          <a:noFill/>
          <a:ln w="12700" cap="sq">
            <a:noFill/>
            <a:miter lim="800000"/>
            <a:headEnd type="none" w="sm" len="sm"/>
            <a:tailEnd type="none" w="sm" len="sm"/>
          </a:ln>
        </p:spPr>
        <p:txBody>
          <a:bodyPr wrap="square">
            <a:spAutoFit/>
          </a:bodyPr>
          <a:lstStyle/>
          <a:p>
            <a:pPr eaLnBrk="0" fontAlgn="base" hangingPunct="0">
              <a:spcBef>
                <a:spcPct val="50000"/>
              </a:spcBef>
              <a:spcAft>
                <a:spcPct val="0"/>
              </a:spcAft>
            </a:pPr>
            <a:r>
              <a:rPr kumimoji="1" lang="zh-CN" altLang="en-US" sz="2400" b="1" dirty="0">
                <a:solidFill>
                  <a:srgbClr val="990033"/>
                </a:solidFill>
                <a:latin typeface="黑体" panose="02010609060101010101" pitchFamily="2" charset="-122"/>
                <a:ea typeface="黑体" panose="02010609060101010101" pitchFamily="2" charset="-122"/>
              </a:rPr>
              <a:t>Coordinate system:</a:t>
            </a:r>
            <a:endParaRPr kumimoji="1" lang="zh-CN" altLang="en-US" sz="2400" b="1" dirty="0">
              <a:solidFill>
                <a:srgbClr val="990033"/>
              </a:solidFill>
              <a:latin typeface="黑体" panose="02010609060101010101" pitchFamily="2" charset="-122"/>
              <a:ea typeface="黑体" panose="02010609060101010101" pitchFamily="2" charset="-122"/>
            </a:endParaRPr>
          </a:p>
        </p:txBody>
      </p:sp>
      <p:graphicFrame>
        <p:nvGraphicFramePr>
          <p:cNvPr id="35" name="Object 12"/>
          <p:cNvGraphicFramePr>
            <a:graphicFrameLocks noChangeAspect="1"/>
          </p:cNvGraphicFramePr>
          <p:nvPr/>
        </p:nvGraphicFramePr>
        <p:xfrm>
          <a:off x="264795" y="3860800"/>
          <a:ext cx="2961640" cy="908050"/>
        </p:xfrm>
        <a:graphic>
          <a:graphicData uri="http://schemas.openxmlformats.org/presentationml/2006/ole">
            <mc:AlternateContent xmlns:mc="http://schemas.openxmlformats.org/markup-compatibility/2006">
              <mc:Choice xmlns:v="urn:schemas-microsoft-com:vml" Requires="v">
                <p:oleObj spid="_x0000_s203054" name="公式" r:id="rId1" imgW="37795200" imgH="11582400" progId="Equation.3">
                  <p:embed/>
                </p:oleObj>
              </mc:Choice>
              <mc:Fallback>
                <p:oleObj name="公式" r:id="rId1" imgW="37795200" imgH="11582400" progId="Equation.3">
                  <p:embed/>
                  <p:pic>
                    <p:nvPicPr>
                      <p:cNvPr id="0" name="Object 12"/>
                      <p:cNvPicPr>
                        <a:picLocks noChangeAspect="1" noChangeArrowheads="1"/>
                      </p:cNvPicPr>
                      <p:nvPr/>
                    </p:nvPicPr>
                    <p:blipFill>
                      <a:blip r:embed="rId2"/>
                      <a:srcRect/>
                      <a:stretch>
                        <a:fillRect/>
                      </a:stretch>
                    </p:blipFill>
                    <p:spPr bwMode="auto">
                      <a:xfrm>
                        <a:off x="264795" y="3860800"/>
                        <a:ext cx="296164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12"/>
          <p:cNvGraphicFramePr>
            <a:graphicFrameLocks noChangeAspect="1"/>
          </p:cNvGraphicFramePr>
          <p:nvPr/>
        </p:nvGraphicFramePr>
        <p:xfrm>
          <a:off x="457200" y="5492115"/>
          <a:ext cx="3395345" cy="930910"/>
        </p:xfrm>
        <a:graphic>
          <a:graphicData uri="http://schemas.openxmlformats.org/presentationml/2006/ole">
            <mc:AlternateContent xmlns:mc="http://schemas.openxmlformats.org/markup-compatibility/2006">
              <mc:Choice xmlns:v="urn:schemas-microsoft-com:vml" Requires="v">
                <p:oleObj spid="_x0000_s203055" name="公式" r:id="rId3" imgW="39928800" imgH="10972800" progId="Equation.3">
                  <p:embed/>
                </p:oleObj>
              </mc:Choice>
              <mc:Fallback>
                <p:oleObj name="公式" r:id="rId3" imgW="39928800" imgH="10972800" progId="Equation.3">
                  <p:embed/>
                  <p:pic>
                    <p:nvPicPr>
                      <p:cNvPr id="0" name="Object 12"/>
                      <p:cNvPicPr>
                        <a:picLocks noChangeAspect="1" noChangeArrowheads="1"/>
                      </p:cNvPicPr>
                      <p:nvPr/>
                    </p:nvPicPr>
                    <p:blipFill>
                      <a:blip r:embed="rId4"/>
                      <a:srcRect/>
                      <a:stretch>
                        <a:fillRect/>
                      </a:stretch>
                    </p:blipFill>
                    <p:spPr bwMode="auto">
                      <a:xfrm>
                        <a:off x="457200" y="5492115"/>
                        <a:ext cx="3395345" cy="930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6"/>
          <p:cNvGraphicFramePr>
            <a:graphicFrameLocks noChangeAspect="1"/>
          </p:cNvGraphicFramePr>
          <p:nvPr/>
        </p:nvGraphicFramePr>
        <p:xfrm>
          <a:off x="5078412" y="4827018"/>
          <a:ext cx="7113588" cy="1843088"/>
        </p:xfrm>
        <a:graphic>
          <a:graphicData uri="http://schemas.openxmlformats.org/presentationml/2006/ole">
            <mc:AlternateContent xmlns:mc="http://schemas.openxmlformats.org/markup-compatibility/2006">
              <mc:Choice xmlns:v="urn:schemas-microsoft-com:vml" Requires="v">
                <p:oleObj spid="_x0000_s203056" name="Equation" r:id="rId5" imgW="75285600" imgH="19507200" progId="Equation.DSMT4">
                  <p:embed/>
                </p:oleObj>
              </mc:Choice>
              <mc:Fallback>
                <p:oleObj name="Equation" r:id="rId5" imgW="75285600" imgH="19507200" progId="Equation.DSMT4">
                  <p:embed/>
                  <p:pic>
                    <p:nvPicPr>
                      <p:cNvPr id="0" name="Object 6"/>
                      <p:cNvPicPr>
                        <a:picLocks noChangeAspect="1" noChangeArrowheads="1"/>
                      </p:cNvPicPr>
                      <p:nvPr/>
                    </p:nvPicPr>
                    <p:blipFill>
                      <a:blip r:embed="rId6"/>
                      <a:srcRect/>
                      <a:stretch>
                        <a:fillRect/>
                      </a:stretch>
                    </p:blipFill>
                    <p:spPr bwMode="auto">
                      <a:xfrm>
                        <a:off x="5078412" y="4827018"/>
                        <a:ext cx="7113588" cy="184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0" name="图片 39"/>
          <p:cNvPicPr>
            <a:picLocks noChangeAspect="1"/>
          </p:cNvPicPr>
          <p:nvPr/>
        </p:nvPicPr>
        <p:blipFill>
          <a:blip r:embed="rId7"/>
          <a:stretch>
            <a:fillRect/>
          </a:stretch>
        </p:blipFill>
        <p:spPr>
          <a:xfrm>
            <a:off x="7757914" y="2080723"/>
            <a:ext cx="3655359" cy="2948747"/>
          </a:xfrm>
          <a:prstGeom prst="rect">
            <a:avLst/>
          </a:prstGeom>
        </p:spPr>
      </p:pic>
      <p:cxnSp>
        <p:nvCxnSpPr>
          <p:cNvPr id="41" name="直接箭头连接符 40"/>
          <p:cNvCxnSpPr/>
          <p:nvPr/>
        </p:nvCxnSpPr>
        <p:spPr bwMode="auto">
          <a:xfrm>
            <a:off x="859956" y="4704911"/>
            <a:ext cx="2554576" cy="73807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42" name="直接箭头连接符 41"/>
          <p:cNvCxnSpPr/>
          <p:nvPr/>
        </p:nvCxnSpPr>
        <p:spPr bwMode="auto">
          <a:xfrm>
            <a:off x="4009690" y="5748562"/>
            <a:ext cx="885892"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pic>
        <p:nvPicPr>
          <p:cNvPr id="43" name="图片 42"/>
          <p:cNvPicPr>
            <a:picLocks noChangeAspect="1"/>
          </p:cNvPicPr>
          <p:nvPr/>
        </p:nvPicPr>
        <p:blipFill>
          <a:blip r:embed="rId8"/>
          <a:stretch>
            <a:fillRect/>
          </a:stretch>
        </p:blipFill>
        <p:spPr>
          <a:xfrm>
            <a:off x="8662446" y="934570"/>
            <a:ext cx="3343075" cy="1093445"/>
          </a:xfrm>
          <a:prstGeom prst="rect">
            <a:avLst/>
          </a:prstGeom>
        </p:spPr>
      </p:pic>
      <p:sp>
        <p:nvSpPr>
          <p:cNvPr id="10" name="TextBox 8"/>
          <p:cNvSpPr txBox="1"/>
          <p:nvPr/>
        </p:nvSpPr>
        <p:spPr>
          <a:xfrm>
            <a:off x="218574" y="268274"/>
            <a:ext cx="7290338" cy="954107"/>
          </a:xfrm>
          <a:prstGeom prst="rect">
            <a:avLst/>
          </a:prstGeom>
          <a:noFill/>
        </p:spPr>
        <p:txBody>
          <a:bodyPr wrap="square" rtlCol="0">
            <a:spAutoFit/>
          </a:bodyPr>
          <a:lstStyle/>
          <a:p>
            <a:r>
              <a:rPr lang="en-US" altLang="zh-CN" sz="2800" dirty="0">
                <a:solidFill>
                  <a:schemeClr val="accent2">
                    <a:lumMod val="75000"/>
                  </a:schemeClr>
                </a:solidFill>
              </a:rPr>
              <a:t>3-6 Analytical Method for Cam Profile Design</a:t>
            </a:r>
            <a:endParaRPr lang="en-US" altLang="zh-CN" sz="2800" dirty="0">
              <a:solidFill>
                <a:schemeClr val="accent2">
                  <a:lumMod val="75000"/>
                </a:schemeClr>
              </a:solidFill>
            </a:endParaRPr>
          </a:p>
          <a:p>
            <a:endParaRPr lang="en-US" altLang="zh-CN" sz="2800" dirty="0">
              <a:solidFill>
                <a:schemeClr val="accent2">
                  <a:lumMod val="75000"/>
                </a:schemeClr>
              </a:solidFill>
            </a:endParaRPr>
          </a:p>
        </p:txBody>
      </p:sp>
      <p:pic>
        <p:nvPicPr>
          <p:cNvPr id="2" name="图片 1"/>
          <p:cNvPicPr>
            <a:picLocks noChangeAspect="1"/>
          </p:cNvPicPr>
          <p:nvPr/>
        </p:nvPicPr>
        <p:blipFill>
          <a:blip r:embed="rId9"/>
          <a:stretch>
            <a:fillRect/>
          </a:stretch>
        </p:blipFill>
        <p:spPr>
          <a:xfrm>
            <a:off x="2012950" y="1859915"/>
            <a:ext cx="5101590" cy="1916430"/>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wrap="square"/>
          <a:lstStyle/>
          <a:p>
            <a:fld id="{F54A3870-DF25-464D-B6EA-3BA6EAAA2BCA}" type="slidenum">
              <a:rPr lang="zh-CN" altLang="en-US" smtClean="0"/>
            </a:fld>
            <a:endParaRPr lang="zh-CN" altLang="en-US"/>
          </a:p>
        </p:txBody>
      </p:sp>
      <p:sp>
        <p:nvSpPr>
          <p:cNvPr id="43" name="TextBox 8"/>
          <p:cNvSpPr txBox="1"/>
          <p:nvPr/>
        </p:nvSpPr>
        <p:spPr>
          <a:xfrm>
            <a:off x="1007879" y="341807"/>
            <a:ext cx="6498514" cy="523220"/>
          </a:xfrm>
          <a:prstGeom prst="rect">
            <a:avLst/>
          </a:prstGeom>
          <a:noFill/>
        </p:spPr>
        <p:txBody>
          <a:bodyPr wrap="square" rtlCol="0">
            <a:spAutoFit/>
          </a:bodyPr>
          <a:lstStyle/>
          <a:p>
            <a:r>
              <a:rPr lang="zh-CN" altLang="en-US" sz="2800" dirty="0">
                <a:solidFill>
                  <a:schemeClr val="accent2">
                    <a:lumMod val="75000"/>
                  </a:schemeClr>
                </a:solidFill>
              </a:rPr>
              <a:t>Chapter Summary</a:t>
            </a:r>
            <a:endParaRPr lang="zh-CN" altLang="en-US" sz="2800" dirty="0">
              <a:solidFill>
                <a:schemeClr val="accent2">
                  <a:lumMod val="75000"/>
                </a:schemeClr>
              </a:solidFill>
            </a:endParaRPr>
          </a:p>
        </p:txBody>
      </p:sp>
      <p:sp>
        <p:nvSpPr>
          <p:cNvPr id="93" name="Text Box 2"/>
          <p:cNvSpPr txBox="1">
            <a:spLocks noChangeArrowheads="1"/>
          </p:cNvSpPr>
          <p:nvPr/>
        </p:nvSpPr>
        <p:spPr bwMode="auto">
          <a:xfrm>
            <a:off x="771525" y="1193165"/>
            <a:ext cx="842137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800" dirty="0">
                <a:solidFill>
                  <a:srgbClr val="FF0000"/>
                </a:solidFill>
                <a:latin typeface="微软雅黑" panose="020B0503020204020204" pitchFamily="34" charset="-122"/>
                <a:ea typeface="微软雅黑" panose="020B0503020204020204" pitchFamily="34" charset="-122"/>
              </a:rPr>
              <a:t>Advantages and Disadvantages of Cam Mechanisms:</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94" name="Text Box 4"/>
          <p:cNvSpPr txBox="1">
            <a:spLocks noChangeArrowheads="1"/>
          </p:cNvSpPr>
          <p:nvPr/>
        </p:nvSpPr>
        <p:spPr bwMode="auto">
          <a:xfrm>
            <a:off x="1488117" y="2340203"/>
            <a:ext cx="84204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en-US" altLang="zh-CN" sz="2800" b="0" dirty="0">
                <a:solidFill>
                  <a:schemeClr val="tx1"/>
                </a:solidFill>
                <a:latin typeface="黑体" panose="02010609060101010101" pitchFamily="2" charset="-122"/>
                <a:ea typeface="黑体" panose="02010609060101010101" pitchFamily="2" charset="-122"/>
              </a:rPr>
              <a:t>   </a:t>
            </a:r>
            <a:endParaRPr lang="zh-CN" altLang="en-US" sz="2800" b="0" dirty="0">
              <a:solidFill>
                <a:schemeClr val="tx1"/>
              </a:solidFill>
              <a:latin typeface="黑体" panose="02010609060101010101" pitchFamily="2" charset="-122"/>
              <a:ea typeface="黑体" panose="02010609060101010101" pitchFamily="2" charset="-122"/>
            </a:endParaRPr>
          </a:p>
        </p:txBody>
      </p:sp>
      <p:sp>
        <p:nvSpPr>
          <p:cNvPr id="95" name="Text Box 6"/>
          <p:cNvSpPr txBox="1">
            <a:spLocks noChangeArrowheads="1"/>
          </p:cNvSpPr>
          <p:nvPr/>
        </p:nvSpPr>
        <p:spPr bwMode="auto">
          <a:xfrm>
            <a:off x="1487535" y="3739972"/>
            <a:ext cx="84061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algn="l" eaLnBrk="1" hangingPunct="1">
              <a:spcBef>
                <a:spcPct val="50000"/>
              </a:spcBef>
            </a:pPr>
            <a:r>
              <a:rPr lang="en-US" altLang="zh-CN" sz="2800" b="0" dirty="0">
                <a:solidFill>
                  <a:schemeClr val="tx1"/>
                </a:solidFill>
                <a:latin typeface="黑体" panose="02010609060101010101" pitchFamily="2" charset="-122"/>
                <a:ea typeface="黑体" panose="02010609060101010101" pitchFamily="2" charset="-122"/>
              </a:rPr>
              <a:t>   </a:t>
            </a:r>
            <a:endParaRPr lang="zh-CN" altLang="en-US" sz="2800" b="0" dirty="0">
              <a:solidFill>
                <a:schemeClr val="tx1"/>
              </a:solidFill>
              <a:latin typeface="黑体" panose="02010609060101010101" pitchFamily="2" charset="-122"/>
              <a:ea typeface="黑体" panose="02010609060101010101" pitchFamily="2" charset="-122"/>
            </a:endParaRPr>
          </a:p>
        </p:txBody>
      </p:sp>
      <p:sp>
        <p:nvSpPr>
          <p:cNvPr id="97" name="Text Box 8"/>
          <p:cNvSpPr txBox="1">
            <a:spLocks noChangeArrowheads="1"/>
          </p:cNvSpPr>
          <p:nvPr/>
        </p:nvSpPr>
        <p:spPr bwMode="auto">
          <a:xfrm>
            <a:off x="1158813" y="2863506"/>
            <a:ext cx="9965984"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Advantages: Any desired motion law</a:t>
            </a:r>
            <a:r>
              <a:rPr lang="zh-CN" altLang="en-US" sz="2000" dirty="0">
                <a:solidFill>
                  <a:schemeClr val="tx1"/>
                </a:solidFill>
                <a:latin typeface="微软雅黑" panose="020B0503020204020204" pitchFamily="34" charset="-122"/>
                <a:ea typeface="微软雅黑" panose="020B0503020204020204" pitchFamily="34" charset="-122"/>
              </a:rPr>
              <a:t> achievable through proper cam profile design; simple, compact, reliable.</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56" name="Text Box 9"/>
          <p:cNvSpPr txBox="1">
            <a:spLocks noChangeArrowheads="1"/>
          </p:cNvSpPr>
          <p:nvPr/>
        </p:nvSpPr>
        <p:spPr bwMode="auto">
          <a:xfrm>
            <a:off x="1158813" y="4482388"/>
            <a:ext cx="9263004"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b="1">
                <a:solidFill>
                  <a:srgbClr val="CC0000"/>
                </a:solidFill>
                <a:latin typeface="隶书" panose="02010509060101010101" pitchFamily="49" charset="-122"/>
                <a:ea typeface="隶书" panose="02010509060101010101" pitchFamily="49" charset="-122"/>
              </a:defRPr>
            </a:lvl1pPr>
            <a:lvl2pPr marL="742950" indent="-285750" eaLnBrk="0" hangingPunct="0">
              <a:defRPr sz="4000" b="1">
                <a:solidFill>
                  <a:srgbClr val="CC0000"/>
                </a:solidFill>
                <a:latin typeface="隶书" panose="02010509060101010101" pitchFamily="49" charset="-122"/>
                <a:ea typeface="隶书" panose="02010509060101010101" pitchFamily="49" charset="-122"/>
              </a:defRPr>
            </a:lvl2pPr>
            <a:lvl3pPr marL="1143000" indent="-228600" eaLnBrk="0" hangingPunct="0">
              <a:defRPr sz="4000" b="1">
                <a:solidFill>
                  <a:srgbClr val="CC0000"/>
                </a:solidFill>
                <a:latin typeface="隶书" panose="02010509060101010101" pitchFamily="49" charset="-122"/>
                <a:ea typeface="隶书" panose="02010509060101010101" pitchFamily="49" charset="-122"/>
              </a:defRPr>
            </a:lvl3pPr>
            <a:lvl4pPr marL="1600200" indent="-228600" eaLnBrk="0" hangingPunct="0">
              <a:defRPr sz="4000" b="1">
                <a:solidFill>
                  <a:srgbClr val="CC0000"/>
                </a:solidFill>
                <a:latin typeface="隶书" panose="02010509060101010101" pitchFamily="49" charset="-122"/>
                <a:ea typeface="隶书" panose="02010509060101010101" pitchFamily="49" charset="-122"/>
              </a:defRPr>
            </a:lvl4pPr>
            <a:lvl5pPr marL="2057400" indent="-228600" eaLnBrk="0" hangingPunct="0">
              <a:defRPr sz="4000" b="1">
                <a:solidFill>
                  <a:srgbClr val="CC0000"/>
                </a:solidFill>
                <a:latin typeface="隶书" panose="02010509060101010101" pitchFamily="49" charset="-122"/>
                <a:ea typeface="隶书" panose="02010509060101010101" pitchFamily="49" charset="-122"/>
              </a:defRPr>
            </a:lvl5pPr>
            <a:lvl6pPr marL="25146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6pPr>
            <a:lvl7pPr marL="29718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7pPr>
            <a:lvl8pPr marL="34290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8pPr>
            <a:lvl9pPr marL="3886200" indent="-228600" algn="ctr" eaLnBrk="0" fontAlgn="base" hangingPunct="0">
              <a:lnSpc>
                <a:spcPct val="90000"/>
              </a:lnSpc>
              <a:spcBef>
                <a:spcPct val="0"/>
              </a:spcBef>
              <a:spcAft>
                <a:spcPct val="0"/>
              </a:spcAft>
              <a:defRPr sz="4000" b="1">
                <a:solidFill>
                  <a:srgbClr val="CC0000"/>
                </a:solidFill>
                <a:latin typeface="隶书" panose="02010509060101010101" pitchFamily="49" charset="-122"/>
                <a:ea typeface="隶书" panose="02010509060101010101" pitchFamily="49" charset="-122"/>
              </a:defRPr>
            </a:lvl9pPr>
          </a:lstStyle>
          <a:p>
            <a:pPr eaLnBrk="1" hangingPunct="1">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Disadvantages: </a:t>
            </a:r>
            <a:r>
              <a:rPr lang="zh-CN" altLang="en-US" sz="2000" dirty="0">
                <a:solidFill>
                  <a:schemeClr val="tx1"/>
                </a:solidFill>
                <a:latin typeface="微软雅黑" panose="020B0503020204020204" pitchFamily="34" charset="-122"/>
                <a:ea typeface="微软雅黑" panose="020B0503020204020204" pitchFamily="34" charset="-122"/>
              </a:rPr>
              <a:t>Higher-pair contact (point/line) → high contact pressure,</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wear</a:t>
            </a:r>
            <a:r>
              <a:rPr lang="en-US" altLang="zh-CN" sz="2000" dirty="0">
                <a:solidFill>
                  <a:schemeClr val="tx1"/>
                </a:solidFill>
                <a:latin typeface="微软雅黑" panose="020B0503020204020204" pitchFamily="34" charset="-122"/>
                <a:ea typeface="微软雅黑" panose="020B0503020204020204" pitchFamily="34" charset="-122"/>
              </a:rPr>
              <a:t> easily</a:t>
            </a:r>
            <a:r>
              <a:rPr lang="zh-CN" altLang="en-US" sz="2000" dirty="0">
                <a:solidFill>
                  <a:schemeClr val="tx1"/>
                </a:solidFill>
                <a:latin typeface="微软雅黑" panose="020B0503020204020204" pitchFamily="34" charset="-122"/>
                <a:ea typeface="微软雅黑" panose="020B0503020204020204" pitchFamily="34" charset="-122"/>
              </a:rPr>
              <a:t>; cam profile machining is difficult and costly.</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tags/tag1.xml><?xml version="1.0" encoding="utf-8"?>
<p:tagLst xmlns:p="http://schemas.openxmlformats.org/presentationml/2006/main">
  <p:tag name="KSO_WM_DIAGRAM_VIRTUALLY_FRAME" val="{&quot;height&quot;:177,&quot;left&quot;:53.25,&quot;top&quot;:240.3,&quot;width&quot;:486.75}"/>
</p:tagLst>
</file>

<file path=ppt/tags/tag2.xml><?xml version="1.0" encoding="utf-8"?>
<p:tagLst xmlns:p="http://schemas.openxmlformats.org/presentationml/2006/main">
  <p:tag name="KSO_WM_DIAGRAM_VIRTUALLY_FRAME" val="{&quot;height&quot;:177,&quot;left&quot;:53.25,&quot;top&quot;:240.3,&quot;width&quot;:486.75}"/>
</p:tagLst>
</file>

<file path=ppt/tags/tag3.xml><?xml version="1.0" encoding="utf-8"?>
<p:tagLst xmlns:p="http://schemas.openxmlformats.org/presentationml/2006/main">
  <p:tag name="KSO_WM_DIAGRAM_VIRTUALLY_FRAME" val="{&quot;height&quot;:177,&quot;left&quot;:53.25,&quot;top&quot;:240.3,&quot;width&quot;:486.75}"/>
</p:tagLst>
</file>

<file path=ppt/tags/tag4.xml><?xml version="1.0" encoding="utf-8"?>
<p:tagLst xmlns:p="http://schemas.openxmlformats.org/presentationml/2006/main">
  <p:tag name="KSO_WM_DIAGRAM_VIRTUALLY_FRAME" val="{&quot;height&quot;:177,&quot;left&quot;:53.25,&quot;top&quot;:240.3,&quot;width&quot;:486.75}"/>
</p:tagLst>
</file>

<file path=ppt/tags/tag5.xml><?xml version="1.0" encoding="utf-8"?>
<p:tagLst xmlns:p="http://schemas.openxmlformats.org/presentationml/2006/main">
  <p:tag name="KSO_WM_DIAGRAM_VIRTUALLY_FRAME" val="{&quot;height&quot;:177,&quot;left&quot;:53.25,&quot;top&quot;:240.3,&quot;width&quot;:486.75}"/>
</p:tagLst>
</file>

<file path=ppt/tags/tag6.xml><?xml version="1.0" encoding="utf-8"?>
<p:tagLst xmlns:p="http://schemas.openxmlformats.org/presentationml/2006/main">
  <p:tag name="KSO_WM_DIAGRAM_VIRTUALLY_FRAME" val="{&quot;height&quot;:177,&quot;left&quot;:53.25,&quot;top&quot;:240.3,&quot;width&quot;:486.75}"/>
</p:tagLst>
</file>

<file path=ppt/tags/tag7.xml><?xml version="1.0" encoding="utf-8"?>
<p:tagLst xmlns:p="http://schemas.openxmlformats.org/presentationml/2006/main">
  <p:tag name="KSO_WM_DIAGRAM_VIRTUALLY_FRAME" val="{&quot;height&quot;:177,&quot;left&quot;:53.25,&quot;top&quot;:240.3,&quot;width&quot;:486.75}"/>
</p:tagLst>
</file>

<file path=ppt/tags/tag8.xml><?xml version="1.0" encoding="utf-8"?>
<p:tagLst xmlns:p="http://schemas.openxmlformats.org/presentationml/2006/main">
  <p:tag name="KSO_WM_DIAGRAM_VIRTUALLY_FRAME" val="{&quot;height&quot;:177,&quot;left&quot;:53.25,&quot;top&quot;:240.3,&quot;width&quot;:486.75}"/>
</p:tagLst>
</file>

<file path=ppt/tags/tag9.xml><?xml version="1.0" encoding="utf-8"?>
<p:tagLst xmlns:p="http://schemas.openxmlformats.org/presentationml/2006/main">
  <p:tag name="KSO_WM_DIAGRAM_VIRTUALLY_FRAME" val="{&quot;height&quot;:177,&quot;left&quot;:53.25,&quot;top&quot;:240.3,&quot;width&quot;:486.75}"/>
</p:tagLst>
</file>

<file path=ppt/tags/tag10.xml><?xml version="1.0" encoding="utf-8"?>
<p:tagLst xmlns:p="http://schemas.openxmlformats.org/presentationml/2006/main">
  <p:tag name="KSO_WM_DIAGRAM_VIRTUALLY_FRAME" val="{&quot;height&quot;:177,&quot;left&quot;:53.25,&quot;top&quot;:240.3,&quot;width&quot;:486.75}"/>
</p:tagLst>
</file>

<file path=ppt/tags/tag11.xml><?xml version="1.0" encoding="utf-8"?>
<p:tagLst xmlns:p="http://schemas.openxmlformats.org/presentationml/2006/main">
  <p:tag name="KSO_WM_DIAGRAM_VIRTUALLY_FRAME" val="{&quot;height&quot;:177,&quot;left&quot;:53.25,&quot;top&quot;:240.3,&quot;width&quot;:486.75}"/>
</p:tagLst>
</file>

<file path=ppt/tags/tag12.xml><?xml version="1.0" encoding="utf-8"?>
<p:tagLst xmlns:p="http://schemas.openxmlformats.org/presentationml/2006/main">
  <p:tag name="KSO_WM_DIAGRAM_VIRTUALLY_FRAME" val="{&quot;height&quot;:177,&quot;left&quot;:53.25,&quot;top&quot;:240.3,&quot;width&quot;:486.75}"/>
</p:tagLst>
</file>

<file path=ppt/tags/tag13.xml><?xml version="1.0" encoding="utf-8"?>
<p:tagLst xmlns:p="http://schemas.openxmlformats.org/presentationml/2006/main">
  <p:tag name="KSO_WM_DIAGRAM_VIRTUALLY_FRAME" val="{&quot;height&quot;:177,&quot;left&quot;:53.25,&quot;top&quot;:240.3,&quot;width&quot;:486.75}"/>
</p:tagLst>
</file>

<file path=ppt/tags/tag14.xml><?xml version="1.0" encoding="utf-8"?>
<p:tagLst xmlns:p="http://schemas.openxmlformats.org/presentationml/2006/main">
  <p:tag name="KSO_WM_DIAGRAM_VIRTUALLY_FRAME" val="{&quot;height&quot;:177,&quot;left&quot;:53.25,&quot;top&quot;:240.3,&quot;width&quot;:486.75}"/>
</p:tagLst>
</file>

<file path=ppt/tags/tag15.xml><?xml version="1.0" encoding="utf-8"?>
<p:tagLst xmlns:p="http://schemas.openxmlformats.org/presentationml/2006/main">
  <p:tag name="KSO_WM_DIAGRAM_VIRTUALLY_FRAME" val="{&quot;height&quot;:177,&quot;left&quot;:53.25,&quot;top&quot;:240.3,&quot;width&quot;:486.75}"/>
</p:tagLst>
</file>

<file path=ppt/tags/tag16.xml><?xml version="1.0" encoding="utf-8"?>
<p:tagLst xmlns:p="http://schemas.openxmlformats.org/presentationml/2006/main">
  <p:tag name="KSO_WM_DIAGRAM_VIRTUALLY_FRAME" val="{&quot;height&quot;:177,&quot;left&quot;:53.25,&quot;top&quot;:240.3,&quot;width&quot;:486.75}"/>
</p:tagLst>
</file>

<file path=ppt/tags/tag17.xml><?xml version="1.0" encoding="utf-8"?>
<p:tagLst xmlns:p="http://schemas.openxmlformats.org/presentationml/2006/main">
  <p:tag name="KSO_WM_DIAGRAM_VIRTUALLY_FRAME" val="{&quot;height&quot;:177,&quot;left&quot;:53.25,&quot;top&quot;:240.3,&quot;width&quot;:486.75}"/>
</p:tagLst>
</file>

<file path=ppt/tags/tag18.xml><?xml version="1.0" encoding="utf-8"?>
<p:tagLst xmlns:p="http://schemas.openxmlformats.org/presentationml/2006/main">
  <p:tag name="KSO_WM_DIAGRAM_VIRTUALLY_FRAME" val="{&quot;height&quot;:177,&quot;left&quot;:53.25,&quot;top&quot;:240.3,&quot;width&quot;:486.75}"/>
</p:tagLst>
</file>

<file path=ppt/tags/tag19.xml><?xml version="1.0" encoding="utf-8"?>
<p:tagLst xmlns:p="http://schemas.openxmlformats.org/presentationml/2006/main">
  <p:tag name="KSO_WM_DIAGRAM_VIRTUALLY_FRAME" val="{&quot;height&quot;:177,&quot;left&quot;:53.25,&quot;top&quot;:240.3,&quot;width&quot;:486.75}"/>
</p:tagLst>
</file>

<file path=ppt/tags/tag20.xml><?xml version="1.0" encoding="utf-8"?>
<p:tagLst xmlns:p="http://schemas.openxmlformats.org/presentationml/2006/main">
  <p:tag name="KSO_WM_DIAGRAM_VIRTUALLY_FRAME" val="{&quot;height&quot;:177,&quot;left&quot;:53.25,&quot;top&quot;:240.3,&quot;width&quot;:486.75}"/>
</p:tagLst>
</file>

<file path=ppt/tags/tag21.xml><?xml version="1.0" encoding="utf-8"?>
<p:tagLst xmlns:p="http://schemas.openxmlformats.org/presentationml/2006/main">
  <p:tag name="KSO_WM_DIAGRAM_VIRTUALLY_FRAME" val="{&quot;height&quot;:177,&quot;left&quot;:53.25,&quot;top&quot;:240.3,&quot;width&quot;:486.75}"/>
</p:tagLst>
</file>

<file path=ppt/tags/tag22.xml><?xml version="1.0" encoding="utf-8"?>
<p:tagLst xmlns:p="http://schemas.openxmlformats.org/presentationml/2006/main">
  <p:tag name="KSO_WM_DIAGRAM_VIRTUALLY_FRAME" val="{&quot;height&quot;:177,&quot;left&quot;:53.25,&quot;top&quot;:240.3,&quot;width&quot;:486.75}"/>
</p:tagLst>
</file>

<file path=ppt/tags/tag23.xml><?xml version="1.0" encoding="utf-8"?>
<p:tagLst xmlns:p="http://schemas.openxmlformats.org/presentationml/2006/main">
  <p:tag name="KSO_WM_DIAGRAM_VIRTUALLY_FRAME" val="{&quot;height&quot;:177,&quot;left&quot;:53.25,&quot;top&quot;:240.3,&quot;width&quot;:486.75}"/>
</p:tagLst>
</file>

<file path=ppt/tags/tag24.xml><?xml version="1.0" encoding="utf-8"?>
<p:tagLst xmlns:p="http://schemas.openxmlformats.org/presentationml/2006/main">
  <p:tag name="KSO_WM_DIAGRAM_VIRTUALLY_FRAME" val="{&quot;height&quot;:177,&quot;left&quot;:53.25,&quot;top&quot;:240.3,&quot;width&quot;:486.75}"/>
</p:tagLst>
</file>

<file path=ppt/tags/tag25.xml><?xml version="1.0" encoding="utf-8"?>
<p:tagLst xmlns:p="http://schemas.openxmlformats.org/presentationml/2006/main">
  <p:tag name="KSO_WM_DIAGRAM_VIRTUALLY_FRAME" val="{&quot;height&quot;:177,&quot;left&quot;:53.25,&quot;top&quot;:240.3,&quot;width&quot;:486.75}"/>
</p:tagLst>
</file>

<file path=ppt/tags/tag26.xml><?xml version="1.0" encoding="utf-8"?>
<p:tagLst xmlns:p="http://schemas.openxmlformats.org/presentationml/2006/main">
  <p:tag name="KSO_WM_DIAGRAM_VIRTUALLY_FRAME" val="{&quot;height&quot;:177,&quot;left&quot;:53.25,&quot;top&quot;:240.3,&quot;width&quot;:486.75}"/>
</p:tagLst>
</file>

<file path=ppt/tags/tag27.xml><?xml version="1.0" encoding="utf-8"?>
<p:tagLst xmlns:p="http://schemas.openxmlformats.org/presentationml/2006/main">
  <p:tag name="KSO_WM_DIAGRAM_VIRTUALLY_FRAME" val="{&quot;height&quot;:177,&quot;left&quot;:53.25,&quot;top&quot;:240.3,&quot;width&quot;:486.75}"/>
</p:tagLst>
</file>

<file path=ppt/tags/tag28.xml><?xml version="1.0" encoding="utf-8"?>
<p:tagLst xmlns:p="http://schemas.openxmlformats.org/presentationml/2006/main">
  <p:tag name="KSO_WM_DIAGRAM_VIRTUALLY_FRAME" val="{&quot;height&quot;:177,&quot;left&quot;:53.25,&quot;top&quot;:240.3,&quot;width&quot;:486.75}"/>
</p:tagLst>
</file>

<file path=ppt/tags/tag29.xml><?xml version="1.0" encoding="utf-8"?>
<p:tagLst xmlns:p="http://schemas.openxmlformats.org/presentationml/2006/main">
  <p:tag name="KSO_WM_DIAGRAM_VIRTUALLY_FRAME" val="{&quot;height&quot;:177,&quot;left&quot;:53.25,&quot;top&quot;:240.3,&quot;width&quot;:486.75}"/>
</p:tagLst>
</file>

<file path=ppt/tags/tag30.xml><?xml version="1.0" encoding="utf-8"?>
<p:tagLst xmlns:p="http://schemas.openxmlformats.org/presentationml/2006/main">
  <p:tag name="KSO_WM_DIAGRAM_VIRTUALLY_FRAME" val="{&quot;height&quot;:177,&quot;left&quot;:53.25,&quot;top&quot;:240.3,&quot;width&quot;:486.75}"/>
</p:tagLst>
</file>

<file path=ppt/tags/tag31.xml><?xml version="1.0" encoding="utf-8"?>
<p:tagLst xmlns:p="http://schemas.openxmlformats.org/presentationml/2006/main">
  <p:tag name="KSO_WM_DIAGRAM_VIRTUALLY_FRAME" val="{&quot;height&quot;:177,&quot;left&quot;:53.25,&quot;top&quot;:240.3,&quot;width&quot;:486.75}"/>
</p:tagLst>
</file>

<file path=ppt/tags/tag32.xml><?xml version="1.0" encoding="utf-8"?>
<p:tagLst xmlns:p="http://schemas.openxmlformats.org/presentationml/2006/main">
  <p:tag name="KSO_WM_DIAGRAM_VIRTUALLY_FRAME" val="{&quot;height&quot;:177,&quot;left&quot;:53.25,&quot;top&quot;:240.3,&quot;width&quot;:486.75}"/>
</p:tagLst>
</file>

<file path=ppt/tags/tag33.xml><?xml version="1.0" encoding="utf-8"?>
<p:tagLst xmlns:p="http://schemas.openxmlformats.org/presentationml/2006/main">
  <p:tag name="KSO_WM_DIAGRAM_VIRTUALLY_FRAME" val="{&quot;height&quot;:177,&quot;left&quot;:53.25,&quot;top&quot;:240.3,&quot;width&quot;:486.75}"/>
</p:tagLst>
</file>

<file path=ppt/tags/tag34.xml><?xml version="1.0" encoding="utf-8"?>
<p:tagLst xmlns:p="http://schemas.openxmlformats.org/presentationml/2006/main">
  <p:tag name="KSO_WM_DIAGRAM_VIRTUALLY_FRAME" val="{&quot;height&quot;:177,&quot;left&quot;:53.25,&quot;top&quot;:240.3,&quot;width&quot;:486.75}"/>
</p:tagLst>
</file>

<file path=ppt/tags/tag35.xml><?xml version="1.0" encoding="utf-8"?>
<p:tagLst xmlns:p="http://schemas.openxmlformats.org/presentationml/2006/main">
  <p:tag name="KSO_WM_DIAGRAM_VIRTUALLY_FRAME" val="{&quot;height&quot;:177,&quot;left&quot;:53.25,&quot;top&quot;:240.3,&quot;width&quot;:486.75}"/>
</p:tagLst>
</file>

<file path=ppt/tags/tag36.xml><?xml version="1.0" encoding="utf-8"?>
<p:tagLst xmlns:p="http://schemas.openxmlformats.org/presentationml/2006/main">
  <p:tag name="KSO_WM_DIAGRAM_VIRTUALLY_FRAME" val="{&quot;height&quot;:177,&quot;left&quot;:53.25,&quot;top&quot;:240.3,&quot;width&quot;:486.75}"/>
</p:tagLst>
</file>

<file path=ppt/tags/tag37.xml><?xml version="1.0" encoding="utf-8"?>
<p:tagLst xmlns:p="http://schemas.openxmlformats.org/presentationml/2006/main">
  <p:tag name="KSO_WM_DIAGRAM_VIRTUALLY_FRAME" val="{&quot;height&quot;:177,&quot;left&quot;:53.25,&quot;top&quot;:240.3,&quot;width&quot;:486.75}"/>
</p:tagLst>
</file>

<file path=ppt/theme/theme1.xml><?xml version="1.0" encoding="utf-8"?>
<a:theme xmlns:a="http://schemas.openxmlformats.org/drawingml/2006/main" name="Profile">
  <a:themeElements>
    <a:clrScheme name="自定义 6">
      <a:dk1>
        <a:srgbClr val="000000"/>
      </a:dk1>
      <a:lt1>
        <a:srgbClr val="FFFFFF"/>
      </a:lt1>
      <a:dk2>
        <a:srgbClr val="000000"/>
      </a:dk2>
      <a:lt2>
        <a:srgbClr val="DDDDDD"/>
      </a:lt2>
      <a:accent1>
        <a:srgbClr val="A3B2C1"/>
      </a:accent1>
      <a:accent2>
        <a:srgbClr val="3D7AB7"/>
      </a:accent2>
      <a:accent3>
        <a:srgbClr val="FFFFFF"/>
      </a:accent3>
      <a:accent4>
        <a:srgbClr val="000000"/>
      </a:accent4>
      <a:accent5>
        <a:srgbClr val="CED5DD"/>
      </a:accent5>
      <a:accent6>
        <a:srgbClr val="3D7AB7"/>
      </a:accent6>
      <a:hlink>
        <a:srgbClr val="3D7AB7"/>
      </a:hlink>
      <a:folHlink>
        <a:srgbClr val="003366"/>
      </a:folHlink>
    </a:clrScheme>
    <a:fontScheme name="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zh-CN" altLang="en-US" sz="1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zh-CN" altLang="en-US" sz="1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1400" b="0" i="0" u="none" strike="noStrike" cap="none" normalizeH="0" baseline="-2500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1400" b="0" i="0" u="none" strike="noStrike" cap="none" normalizeH="0" baseline="-2500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30232</Words>
  <Application>WPS 演示</Application>
  <PresentationFormat>宽屏</PresentationFormat>
  <Paragraphs>1837</Paragraphs>
  <Slides>61</Slides>
  <Notes>53</Notes>
  <HiddenSlides>20</HiddenSlides>
  <MMClips>60</MMClips>
  <ScaleCrop>false</ScaleCrop>
  <HeadingPairs>
    <vt:vector size="8" baseType="variant">
      <vt:variant>
        <vt:lpstr>已用的字体</vt:lpstr>
      </vt:variant>
      <vt:variant>
        <vt:i4>27</vt:i4>
      </vt:variant>
      <vt:variant>
        <vt:lpstr>主题</vt:lpstr>
      </vt:variant>
      <vt:variant>
        <vt:i4>3</vt:i4>
      </vt:variant>
      <vt:variant>
        <vt:lpstr>嵌入 OLE 服务器</vt:lpstr>
      </vt:variant>
      <vt:variant>
        <vt:i4>120</vt:i4>
      </vt:variant>
      <vt:variant>
        <vt:lpstr>幻灯片标题</vt:lpstr>
      </vt:variant>
      <vt:variant>
        <vt:i4>61</vt:i4>
      </vt:variant>
    </vt:vector>
  </HeadingPairs>
  <TitlesOfParts>
    <vt:vector size="211" baseType="lpstr">
      <vt:lpstr>Arial</vt:lpstr>
      <vt:lpstr>宋体</vt:lpstr>
      <vt:lpstr>Wingdings</vt:lpstr>
      <vt:lpstr>Times New Roman</vt:lpstr>
      <vt:lpstr>Verdana</vt:lpstr>
      <vt:lpstr>黑体</vt:lpstr>
      <vt:lpstr>楷体_GB2312</vt:lpstr>
      <vt:lpstr>新宋体</vt:lpstr>
      <vt:lpstr>华文行楷</vt:lpstr>
      <vt:lpstr>微软雅黑</vt:lpstr>
      <vt:lpstr>华文楷体</vt:lpstr>
      <vt:lpstr>隶书</vt:lpstr>
      <vt:lpstr>Cambria Math</vt:lpstr>
      <vt:lpstr>楷体</vt:lpstr>
      <vt:lpstr>Arial Unicode MS</vt:lpstr>
      <vt:lpstr>Calibri</vt:lpstr>
      <vt:lpstr>MS Mincho</vt:lpstr>
      <vt:lpstr>AMGDT</vt:lpstr>
      <vt:lpstr>Franklin Gothic Medium</vt:lpstr>
      <vt:lpstr>Symbol</vt:lpstr>
      <vt:lpstr>Tahoma</vt:lpstr>
      <vt:lpstr>Impact</vt:lpstr>
      <vt:lpstr>DejaVu Sans</vt:lpstr>
      <vt:lpstr>Times New Roman</vt:lpstr>
      <vt:lpstr>Calibri</vt:lpstr>
      <vt:lpstr>KSOF1B52B550</vt:lpstr>
      <vt:lpstr>KSOFAF972451</vt:lpstr>
      <vt:lpstr>Profile</vt:lpstr>
      <vt:lpstr>自定义设计方案</vt:lpstr>
      <vt:lpstr>1_默认设计模板</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Equation.DSMT4</vt:lpstr>
      <vt:lpstr>Equation.3</vt:lpstr>
      <vt:lpstr>Equation.3</vt:lpstr>
      <vt:lpstr>Equation.DSMT4</vt:lpstr>
      <vt:lpstr>Equation.3</vt:lpstr>
      <vt:lpstr>Equation.DSMT4</vt:lpstr>
      <vt:lpstr>Equation.DSMT4</vt:lpstr>
      <vt:lpstr>Equation.DSMT4</vt:lpstr>
      <vt:lpstr>Paint.Picture</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Constant Velocity — Linear Motion Law</vt:lpstr>
      <vt:lpstr>PowerPoint 演示文稿</vt:lpstr>
      <vt:lpstr>PowerPoint 演示文稿</vt:lpstr>
      <vt:lpstr>PowerPoint 演示文稿</vt:lpstr>
      <vt:lpstr>PowerPoint 演示文稿</vt:lpstr>
      <vt:lpstr>PowerPoint 演示文稿</vt:lpstr>
      <vt:lpstr>Radial Knife-edge Follower Disk Cam</vt:lpstr>
      <vt:lpstr>Offset Knife-edge Follower Disk Cam</vt:lpstr>
      <vt:lpstr>PowerPoint 演示文稿</vt:lpstr>
      <vt:lpstr>PowerPoint 演示文稿</vt:lpstr>
      <vt:lpstr>PowerPoint 演示文稿</vt:lpstr>
      <vt:lpstr>PowerPoint 演示文稿</vt:lpstr>
      <vt:lpstr>Practice Problem</vt:lpstr>
      <vt:lpstr>Practice Problem</vt:lpstr>
      <vt:lpstr>Practice Problem</vt:lpstr>
      <vt:lpstr>Practice Problem</vt:lpstr>
      <vt:lpstr>Radial Roller Follower Disk Cam</vt:lpstr>
      <vt:lpstr>Roller Radius Selection</vt:lpstr>
      <vt:lpstr>Practice Problem</vt:lpstr>
      <vt:lpstr>Practice Problem</vt:lpstr>
      <vt:lpstr>Practice Problem</vt:lpstr>
      <vt:lpstr>Practice Problem</vt:lpstr>
      <vt:lpstr>Practice Problem</vt:lpstr>
      <vt:lpstr>Practice Problem</vt:lpstr>
      <vt:lpstr>PowerPoint 演示文稿</vt:lpstr>
      <vt:lpstr>PowerPoint 演示文稿</vt:lpstr>
      <vt:lpstr>PowerPoint 演示文稿</vt:lpstr>
      <vt:lpstr>PowerPoint 演示文稿</vt:lpstr>
      <vt:lpstr>PowerPoint 演示文稿</vt:lpstr>
      <vt:lpstr>PowerPoint 演示文稿</vt:lpstr>
      <vt:lpstr>Practice Problem</vt:lpstr>
      <vt:lpstr>Practice Problem</vt:lpstr>
      <vt:lpstr>Practice Problem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章阳坤</dc:creator>
  <cp:lastModifiedBy>王睿</cp:lastModifiedBy>
  <cp:revision>847</cp:revision>
  <dcterms:created xsi:type="dcterms:W3CDTF">2019-02-07T04:14:00Z</dcterms:created>
  <dcterms:modified xsi:type="dcterms:W3CDTF">2026-10-06T05:17:51Z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C0E093885E6E4E2A9B1516AEADC558A7_12</vt:lpwstr>
  </property>
  <property fmtid="{D5CDD505-2E9C-101B-9397-08002B2CF9AE}" pid="3" name="KSOProductBuildVer">
    <vt:lpwstr>2052-12.1.0.28505</vt:lpwstr>
  </property>
</Properties>
</file>