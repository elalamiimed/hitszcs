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72" r:id="rId10"/>
    <p:sldId id="275" r:id="rId11"/>
    <p:sldId id="276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80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2395728"/>
            <a:ext cx="53035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lgerian" panose="04020705040A02060702" pitchFamily="82" charset="0"/>
                <a:ea typeface="Calibri" pitchFamily="34" charset="-122"/>
                <a:cs typeface="Calibri" pitchFamily="34" charset="-120"/>
              </a:rPr>
              <a:t>CLASS # 7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organisations plan, organise, lead and</a:t>
            </a:r>
            <a:r>
              <a:rPr lang="en-US" sz="1400" dirty="0"/>
              <a:t> </a:t>
            </a: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resources to achieve their goals.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46597" y="4159214"/>
            <a:ext cx="3920163" cy="705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Algerian" panose="04020705040A02060702" pitchFamily="82" charset="0"/>
              </a:rPr>
              <a:t>Dr. Israr Ahmad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Algerian" panose="04020705040A02060702" pitchFamily="82" charset="0"/>
              </a:rPr>
              <a:t>Date : May 25, 2026 (Class 1)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Algerian" panose="04020705040A02060702" pitchFamily="82" charset="0"/>
              </a:rPr>
              <a:t>             May 26, 2026 (Class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SESSION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50976"/>
            <a:ext cx="1325880" cy="749808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55648" y="960120"/>
            <a:ext cx="804672" cy="74980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950976"/>
            <a:ext cx="1325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78608" y="960120"/>
            <a:ext cx="62910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24912" y="101498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Business Management?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24912" y="13624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· Roles · POLC Framework · Levels of Management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09928"/>
            <a:ext cx="36576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947672"/>
            <a:ext cx="1325880" cy="749808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3500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55648" y="1947672"/>
            <a:ext cx="804672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1947672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78608" y="1947672"/>
            <a:ext cx="62910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24912" y="200253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Management Functions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24912" y="23500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Organising · Leading · Controlling — in depth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2697480"/>
            <a:ext cx="36576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2935224"/>
            <a:ext cx="1325880" cy="749808"/>
          </a:xfrm>
          <a:prstGeom prst="rect">
            <a:avLst/>
          </a:prstGeom>
          <a:solidFill>
            <a:srgbClr val="243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55648" y="2935224"/>
            <a:ext cx="804672" cy="749808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2935224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78608" y="2935224"/>
            <a:ext cx="62910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24912" y="299008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Managerial Decision-Making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24912" y="3337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types · Rational model · Behavioural factors · Tools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3685032"/>
            <a:ext cx="36576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922776"/>
            <a:ext cx="1325880" cy="749808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755648" y="3922776"/>
            <a:ext cx="804672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3922776"/>
            <a:ext cx="1316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578608" y="3922776"/>
            <a:ext cx="629107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24912" y="39776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Leadership, Culture &amp; Change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24912" y="43251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styles · Organizational culture · Change management · Ethics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4709160"/>
            <a:ext cx="8549640" cy="25603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BUSINESS MANAGEMENT?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8229600" cy="960120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planning, organising, leading, and controlling an organisation's resources (people, finances, information, and operations) to achieve defined goals effectively and efficiently.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886200" cy="2834640"/>
          </a:xfrm>
          <a:prstGeom prst="rect">
            <a:avLst/>
          </a:prstGeom>
          <a:solidFill>
            <a:srgbClr val="F2F4F6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38862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MANAGEMENT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799" y="2432304"/>
            <a:ext cx="3886199" cy="2414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management, organisations become chaotic — no direction, no coordination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management converts individual effort into collective achievement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determines how efficiently resources are used and waste is eliminated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creates the conditions for innovation, growth, and sustainability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function — from finance to HR — requires management to operate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011680"/>
            <a:ext cx="4023360" cy="2834640"/>
          </a:xfrm>
          <a:prstGeom prst="rect">
            <a:avLst/>
          </a:prstGeom>
          <a:solidFill>
            <a:srgbClr val="F2F4F6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2011680"/>
            <a:ext cx="4023360" cy="34747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2011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MANAGEMENT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19472" y="2523744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75504" y="2450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75504" y="268833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Overseeing the whole organisation or a business unit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19472" y="2999232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75504" y="29260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75504" y="3163824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 specific department (Finance, HR, Ops, Marketing)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19472" y="3474720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75504" y="34015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75504" y="36393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a defined outcome within time, cost, scope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9472" y="3950208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75504" y="38770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Management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75504" y="411480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long-term direction and competitive positioning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4425696"/>
            <a:ext cx="182880" cy="18288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75504" y="43525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75504" y="459028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day-to-day processes run efficiently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POLC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universal functions every manager performs — regardless of industry, size, or level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51960" cy="178308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1289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36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we going and how?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9280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vision and goal-setting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scanning (PESTLE, SWOT)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Strategic, tactical &amp; operational plans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KPIs and performance benchmarks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42519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251960" cy="1783080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440680" y="1289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6367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structure for success?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89280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labour and job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Departmentalisation (functional, divisional, matrix)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Authority, responsibility and accountability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of control and hierarchy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2519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670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36392"/>
            <a:ext cx="4251960" cy="178308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1821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005840" y="31912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538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motivate people?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9768" y="3794760"/>
            <a:ext cx="4142232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styles and situational leadership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theories (Maslow, Herzberg, McGregor)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— upward, downward, lateral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and team dynamics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42519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4572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136392"/>
            <a:ext cx="4251960" cy="1783080"/>
          </a:xfrm>
          <a:prstGeom prst="rect">
            <a:avLst/>
          </a:prstGeom>
          <a:solidFill>
            <a:srgbClr val="243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1821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440680" y="31912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538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on track?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3794760"/>
            <a:ext cx="402336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standards and measuring performance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actuals to targets (variance analysis)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corrective action when needed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Scorecard and management dashboards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553712"/>
            <a:ext cx="42519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4572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 —  PLANNING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0"/>
            <a:ext cx="8229600" cy="749808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of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868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OF PLANS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8046720" cy="932688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Plans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Management  |  3–10 years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7465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overall direction: mission, vision, long-range goals, competitive strategy. e.g.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5 new markets by 2028.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286000"/>
            <a:ext cx="6583680" cy="932688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 Plans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Management  |  1–3 years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7980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strategy into departmental objectives and resource allocation. e.g.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plan to hire 200 engineers over 2 years.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337560"/>
            <a:ext cx="5303520" cy="932688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Plans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639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Management  |  Days–months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84962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schedules, procedures, and standing rules. e.g. Weekly production schedule, shift rota, procurement orders.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868680"/>
            <a:ext cx="3127248" cy="3977640"/>
          </a:xfrm>
          <a:prstGeom prst="rect">
            <a:avLst/>
          </a:prstGeom>
          <a:solidFill>
            <a:srgbClr val="F2F4F6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70448" y="941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TOOLS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70448" y="1353312"/>
            <a:ext cx="22860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12984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1536192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· Weaknesses · Opportunities · Threats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70448" y="1920240"/>
            <a:ext cx="22860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18653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PESTLE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21031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Political, Economic, Social, Tech, Legal, Environmental scan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70448" y="2487168"/>
            <a:ext cx="22860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72200" y="24323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267004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Key Results — cascading goal framework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70448" y="3054096"/>
            <a:ext cx="22860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72200" y="29992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23697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Objectives — Drucker's participatory goal-setting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70448" y="3621024"/>
            <a:ext cx="22860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72200" y="35661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38039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stress-test multiple future scenarios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70448" y="4187952"/>
            <a:ext cx="22860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72200" y="413308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4416552"/>
            <a:ext cx="2633472" cy="31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Timeline-based visualisation of tasks and milestones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 —  ORGANISING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STRUCTURES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207008"/>
            <a:ext cx="1965960" cy="2057400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1645920"/>
            <a:ext cx="16916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700784"/>
            <a:ext cx="189280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department (Sales, Finance, HR). Clear hierarchy. Best for stable environments.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Specialisation &amp; efficiency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Silos between departments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18196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Stable, process-driven orgs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79776" y="1207008"/>
            <a:ext cx="1965960" cy="2057400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79776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16936" y="1645920"/>
            <a:ext cx="16916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52928" y="1700784"/>
            <a:ext cx="189280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product, region or customer. Each division is semi-autonomous.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52928" y="23774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Faster divisional decisions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52928" y="26060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Duplication of resources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52928" y="2834640"/>
            <a:ext cx="18196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52928" y="283464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Diversified corporations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01184" y="1207008"/>
            <a:ext cx="1965960" cy="205740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1184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38344" y="1645920"/>
            <a:ext cx="16916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74336" y="1700784"/>
            <a:ext cx="189280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reporting — functional manager AND project manager. Common in consulting.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74336" y="23774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Flexible resource sharing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4336" y="26060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Conflict and confusion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74336" y="2834640"/>
            <a:ext cx="18196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74336" y="283464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Project-heavy businesses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22592" y="1207008"/>
            <a:ext cx="1965960" cy="205740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22592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 / Holacracy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159752" y="1645920"/>
            <a:ext cx="169164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95744" y="1700784"/>
            <a:ext cx="181965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hierarchy. Wide spans of control. Suits startups and creative firms.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95744" y="23774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 communication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95744" y="2606040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Harder to scale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95744" y="2834640"/>
            <a:ext cx="1819656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95744" y="2834640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Startups / creative firms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" y="3401568"/>
            <a:ext cx="8229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4672" y="3474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 OF ORGANISING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" y="3767328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of Command — each employee reports to one manager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of Control — how many direct reports a manager can effectively supervise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— assigning authority downward while retaining accountability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vs Decentralisation — who has decision-making authority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Formalisation — the degree to which jobs and processes are standardised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 —  LEADING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89120" cy="749808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Influencing people toward shared goals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841248"/>
            <a:ext cx="4572000" cy="4005072"/>
          </a:xfrm>
          <a:prstGeom prst="rect">
            <a:avLst/>
          </a:prstGeom>
          <a:solidFill>
            <a:srgbClr val="F2F4F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STYLES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131673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12618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Autocratic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51790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decides alone, expects compliance. Fast but reduces buy-in.  |  Best for: Crises, unskilled teams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1911096"/>
            <a:ext cx="201168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18562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/ Participative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112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involved in decisions. Higher engagement and creativity.  |  Best for: Skilled, motivated teams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" y="2505456"/>
            <a:ext cx="201168" cy="201168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24505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Laissez-Faire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8992" y="2706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 given to the team. Manager steps back.  |  Best for: Expert, self-directed professionals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3099816"/>
            <a:ext cx="201168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8992" y="30449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30098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inspires a compelling vision; motivates through purpose and change.  |  Best for: Innovation-driven orgs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" y="3694176"/>
            <a:ext cx="201168" cy="20116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78992" y="36393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8992" y="3895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for performance, consequence for underperformance.  |  Best for: Sales teams, routine tasks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" y="4288536"/>
            <a:ext cx="201168" cy="20116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8992" y="4233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 Leadership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4489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Leader's priority is supporting the team's needs and growth.  |  Best for: People-centric cultures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841248"/>
            <a:ext cx="3456432" cy="4005072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THEORIES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0680" y="1298448"/>
            <a:ext cx="3456432" cy="71323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69280" y="13350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Maslow's Hierarchy of Needs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22976" y="1609344"/>
            <a:ext cx="3374135" cy="360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pyramid: physiological → safety → belonging → esteem → self-actualisation. Managers address unmet needs.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2139696"/>
            <a:ext cx="3456432" cy="71323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0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Herzberg's Two-Factor Theory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1827" y="2450592"/>
            <a:ext cx="33538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factors (pay, conditions) prevent dissatisfaction. Motivators (achievement, recognition) drive engagement.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0680" y="2980944"/>
            <a:ext cx="3456432" cy="71323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0" y="3017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McGregor's Theory X &amp; 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1828" y="3291840"/>
            <a:ext cx="33538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X: people dislike work, need control. Theory Y: people are self-motivated. Management style should match.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40680" y="3822192"/>
            <a:ext cx="3456432" cy="71323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0" y="3858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Vroom's Expectancy Theory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1827" y="4133088"/>
            <a:ext cx="3415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= Expectancy × Instrumentality × Valence. People act when effort leads to valued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 —  CONTROLLING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1920240" cy="1600200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80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success looks like — KPIs, targets, quality benchmarks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78608" y="1901952"/>
            <a:ext cx="16459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234440"/>
            <a:ext cx="1920240" cy="1600200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280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16352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actual data — financial results, output rates, satisfaction scores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901952"/>
            <a:ext cx="16459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28032" y="1234440"/>
            <a:ext cx="1920240" cy="160020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28032" y="1280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828032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1184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— are we ahead, on track, or behind target?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48272" y="1901952"/>
            <a:ext cx="164592" cy="1645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12864" y="1234440"/>
            <a:ext cx="1920240" cy="160020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12864" y="12801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12864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86016" y="2103120"/>
            <a:ext cx="1773936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resources, retrain staff, revise the plan, or escalate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2999232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4672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43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CONTROL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" y="3456432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60704" y="34015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Control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0704" y="36393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problems before they occur — input checks, pre-flight checklists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" y="3913632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0704" y="38587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Control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0704" y="4096512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while work is in progress — dashboards, floor supervision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" y="4370832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60704" y="43159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Control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0704" y="455371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Post-activity review — financial reports, quality audits, customer surveys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19472" y="2999232"/>
            <a:ext cx="3977640" cy="1828800"/>
          </a:xfrm>
          <a:prstGeom prst="rect">
            <a:avLst/>
          </a:prstGeom>
          <a:solidFill>
            <a:srgbClr val="243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47488" y="3072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TOOLS MANAGERS USE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19472" y="3383280"/>
            <a:ext cx="396849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Scorecard (Financial, Customer, Internal, Learning)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reports &amp; financial 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performance appraisals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TQM / Six Sigma quality frameworks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Resource Planning (ERP) systems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OF MANAGEMENT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91840" y="868680"/>
            <a:ext cx="2560320" cy="7772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83280" y="868680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MANAGEMENT  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(CEO, CFO, COO, Board of Directors)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83280" y="1257300"/>
            <a:ext cx="23774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vision, long-term strategy &amp; organizational goals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691640"/>
            <a:ext cx="4572000" cy="77724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1691640"/>
            <a:ext cx="43891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MANAGEMENT  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(Department Heads, Regional Managers)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2080260"/>
            <a:ext cx="43891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strategy into tactical plans; bridges top &amp; frontline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514600"/>
            <a:ext cx="6583680" cy="777240"/>
          </a:xfrm>
          <a:prstGeom prst="rect">
            <a:avLst/>
          </a:prstGeom>
          <a:solidFill>
            <a:srgbClr val="2E5F8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640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MANAGEMENT  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(Supervisors, Team Leaders)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903220"/>
            <a:ext cx="6400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day-to-day operations; directly manages employees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8412480" cy="68580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STAFF  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(Employees, Individual Contributors)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8046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business functions across all departments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" y="868680"/>
            <a:ext cx="1051560" cy="315468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 rot="16200000">
            <a:off x="91440" y="868680"/>
            <a:ext cx="1051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&amp; RESPONSIBILITY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management requires different skill sets at each level — technical skills at front, conceptual skills at top, human skills throughout.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STRATEGIC MANAGEMENT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8C96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Thinking Like a Leader — Long-Term Planning &amp; Competitive Positioning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2743200"/>
          </a:xfrm>
          <a:prstGeom prst="rect">
            <a:avLst/>
          </a:prstGeom>
          <a:solidFill>
            <a:srgbClr val="C9A84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CORPORATE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242316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compete?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Diversification, mergers &amp; acquisitions, portfolio management, resource allocation across business units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97480" cy="27432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46120" y="12984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0" y="1719072"/>
            <a:ext cx="242316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37560" y="17922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compete?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2176272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Porter's Generic Strategies: Cost Leadership, Differentiation, Focus. Competitive advantage and market positioning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697480" cy="2743200"/>
          </a:xfrm>
          <a:prstGeom prst="rect">
            <a:avLst/>
          </a:prstGeom>
          <a:solidFill>
            <a:srgbClr val="2E5F8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26480" y="12984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FUNCTIONAL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719072"/>
            <a:ext cx="242316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17922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support the strategy?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17920" y="2176272"/>
            <a:ext cx="2514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plans for Marketing, HR, Finance, and Operations aligned to business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9A84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TOOLS: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  |  Porter's 5 Forces  |  PESTLE Analysis  |  BCG Matrix  |  Ansoff Matrix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457200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BCG Growth-Share Matrix   ·   Ansoff Growth Matrix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0176" y="221969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BCG Matrix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411480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057400" cy="19888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804672"/>
            <a:ext cx="2057400" cy="198882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2793492"/>
            <a:ext cx="2057400" cy="198882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0" y="2793492"/>
            <a:ext cx="2057400" cy="1988820"/>
          </a:xfrm>
          <a:prstGeom prst="rect">
            <a:avLst/>
          </a:prstGeom>
          <a:solidFill>
            <a:srgbClr val="FFF1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969264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STAR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1463040"/>
            <a:ext cx="1874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4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Market Share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969264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❓ QUESTION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1463040"/>
            <a:ext cx="1874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835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Market Share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958084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5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🐄 CASH COW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451860"/>
            <a:ext cx="1874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4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64E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Market Share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2958084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9F123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🐕 DOG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77440" y="3451860"/>
            <a:ext cx="1874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13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813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18872" y="2656332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Market Growth Rate →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4818888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Relative Market Share →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603504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0" y="603504"/>
            <a:ext cx="731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79976" y="896112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79976" y="4347972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28616" y="27889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Ansoff Matrix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804672"/>
            <a:ext cx="3898042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11034" y="804672"/>
            <a:ext cx="2005236" cy="198882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52846" y="804672"/>
            <a:ext cx="1945796" cy="198882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11034" y="2793492"/>
            <a:ext cx="2021648" cy="198882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66560" y="2793492"/>
            <a:ext cx="1932082" cy="1988820"/>
          </a:xfrm>
          <a:prstGeom prst="rect">
            <a:avLst/>
          </a:prstGeom>
          <a:solidFill>
            <a:srgbClr val="FDF4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969264"/>
            <a:ext cx="18745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📈 MARKET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PENETRATION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1490472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Products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453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Markets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74920" y="2473452"/>
            <a:ext cx="1508760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2473452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65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Risk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949440" y="969264"/>
            <a:ext cx="18745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PRODUCT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1490472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Products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3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Markets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32320" y="2473452"/>
            <a:ext cx="1508760" cy="201168"/>
          </a:xfrm>
          <a:prstGeom prst="roundRect">
            <a:avLst>
              <a:gd name="adj" fmla="val 2272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0" y="2473452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40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2040" y="2958084"/>
            <a:ext cx="18745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4D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🌍 MARKET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54D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479292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3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Products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13F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Markets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74920" y="4462272"/>
            <a:ext cx="1508760" cy="201168"/>
          </a:xfrm>
          <a:prstGeom prst="roundRect">
            <a:avLst>
              <a:gd name="adj" fmla="val 22727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4462272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54D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49440" y="2958084"/>
            <a:ext cx="18745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E22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🚀 DIVERSIFI-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E22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3479292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21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Products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21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Markets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32320" y="4462272"/>
            <a:ext cx="1508760" cy="201168"/>
          </a:xfrm>
          <a:prstGeom prst="roundRect">
            <a:avLst>
              <a:gd name="adj" fmla="val 2272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0" y="4462272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E22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Risk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00600" y="4818888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Products →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 rot="16200000">
            <a:off x="4690872" y="2656332"/>
            <a:ext cx="3977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Markets →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37760" y="603504"/>
            <a:ext cx="10058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498080" y="603504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651585" y="873252"/>
            <a:ext cx="822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695943" y="4256532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07992" y="804672"/>
            <a:ext cx="0" cy="3977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54" name="Text 0">
            <a:extLst>
              <a:ext uri="{FF2B5EF4-FFF2-40B4-BE49-F238E27FC236}">
                <a16:creationId xmlns:a16="http://schemas.microsoft.com/office/drawing/2014/main" id="{C17D4D41-F54A-F709-F4E0-797EA9103787}"/>
              </a:ext>
            </a:extLst>
          </p:cNvPr>
          <p:cNvSpPr/>
          <p:nvPr/>
        </p:nvSpPr>
        <p:spPr>
          <a:xfrm>
            <a:off x="274320" y="73152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6" name="Text 0">
            <a:extLst>
              <a:ext uri="{FF2B5EF4-FFF2-40B4-BE49-F238E27FC236}">
                <a16:creationId xmlns:a16="http://schemas.microsoft.com/office/drawing/2014/main" id="{FA0C4C50-D6E3-469A-19A7-ED63796B93C9}"/>
              </a:ext>
            </a:extLst>
          </p:cNvPr>
          <p:cNvSpPr/>
          <p:nvPr/>
        </p:nvSpPr>
        <p:spPr>
          <a:xfrm>
            <a:off x="426720" y="225552"/>
            <a:ext cx="8595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43520B4F-44D2-69DA-457E-EC56AB588821}"/>
              </a:ext>
            </a:extLst>
          </p:cNvPr>
          <p:cNvSpPr/>
          <p:nvPr/>
        </p:nvSpPr>
        <p:spPr>
          <a:xfrm>
            <a:off x="4249262" y="2256282"/>
            <a:ext cx="822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MANAGERIAL DECISION-MAKING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841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 DECISION-MAKING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22529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33856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3856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Clearly identify the gap between current and desired state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" y="1609344"/>
            <a:ext cx="36576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186537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33856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Decision Criteria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3856" y="2084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matter? Cost, time, quality, risk tolerance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2249424"/>
            <a:ext cx="36576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" y="250545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Alternatives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all feasible options without judgement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" y="2889504"/>
            <a:ext cx="36576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" y="314553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Alternatives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Weigh each option against the criteria — use a decision matrix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" y="3529584"/>
            <a:ext cx="36576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8368" y="378561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3856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Option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3856" y="4005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alternative with the highest expected value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" y="4169664"/>
            <a:ext cx="36576" cy="2011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8368" y="4425696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33856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&amp; Evaluate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3856" y="4645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decision and monitor outcomes for learning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74920" y="841248"/>
            <a:ext cx="3749040" cy="1920240"/>
          </a:xfrm>
          <a:prstGeom prst="rect">
            <a:avLst/>
          </a:prstGeom>
          <a:solidFill>
            <a:srgbClr val="F2F4F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93792" y="9144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DECISIONS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93792" y="1307592"/>
            <a:ext cx="164592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13248" y="1234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Programmed: 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13248" y="14356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repetitive, handled by policy/procedure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93792" y="1691640"/>
            <a:ext cx="164592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13248" y="16184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Non-Programmed: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13248" y="181965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Novel, unstructured, requires judgement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93792" y="2075688"/>
            <a:ext cx="164592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13248" y="20025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Strategic:  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13248" y="2203704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Long-term, high stakes — top management domain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93792" y="2459736"/>
            <a:ext cx="164592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13248" y="23865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/ Operational:  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13248" y="25877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 and short-term, frontline / middle management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74920" y="2880360"/>
            <a:ext cx="3813048" cy="2020824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193792" y="29535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BIASES IN MANAGEMENT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93792" y="331012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Bias  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93792" y="3474720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info that confirms our existing view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93792" y="360273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 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93792" y="3767328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Over-relying on the first piece of information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93792" y="389534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Overconfidence  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193792" y="4059936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Overestimating our ability to predict outcomes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93792" y="4187952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Groupthink 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93792" y="4352544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pressure suppresses dissenting views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193792" y="448056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Sunk Cost Fallacy  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93792" y="4645152"/>
            <a:ext cx="3520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a bad path because of past investment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ORGANISATIONAL CULTURE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"Culture eats strategy for breakfast."  — Peter Drucker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366760" cy="621792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207008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culture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shared set of values, beliefs, norms, and behaviours that define how work gets done within an organisation. It is often described as "the way we do things around here."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SCHEIN'S CULTURE ICEBERG MODEL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3931920" cy="59436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0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layout, dress code, rituals, logos, language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594360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ESPOUSED VALUES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2186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visible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34640" y="29992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statements, published values, stated strategies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3931920" cy="594360"/>
          </a:xfrm>
          <a:prstGeom prst="rect">
            <a:avLst/>
          </a:prstGeom>
          <a:solidFill>
            <a:srgbClr val="243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ASSUMPTIONS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877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/ unconscious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beliefs about people, work, and reality. The real 'why'.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1938528"/>
            <a:ext cx="4251960" cy="2926080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20116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TYPES (Cameron &amp; Quinn)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359152"/>
            <a:ext cx="1920240" cy="100584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2414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7249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Family-like, collaborative, employee-focused. High loyalty.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12280" y="2359152"/>
            <a:ext cx="1920240" cy="100584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03720" y="2414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Adhocracy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7249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Innovation-driven, entrepreneurial, risk-taking.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502152"/>
            <a:ext cx="1920240" cy="1005840"/>
          </a:xfrm>
          <a:prstGeom prst="rect">
            <a:avLst/>
          </a:prstGeom>
          <a:solidFill>
            <a:srgbClr val="243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557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8679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rules-driven, stable, efficiency-focused.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12280" y="3502152"/>
            <a:ext cx="1920240" cy="100584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3557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38679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Results-oriented, competitive, goal-driven.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836676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shape culture through role modelling, recognition, communication, rituals, and the behaviours they tolerate.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ORGANISATIONAL CHANGE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841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KOTTER'S 8-STEP CHANGE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170432"/>
            <a:ext cx="2331720" cy="685800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0704" y="1216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Urgency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60704" y="1499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case that change is necessary now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45536" y="1170432"/>
            <a:ext cx="2331720" cy="685800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45536" y="1207008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7872" y="1216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Guiding Coalition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7872" y="1499616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team with authority and credibility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1920240"/>
            <a:ext cx="2331720" cy="685800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195681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0704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Vision &amp; Strategy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" y="2249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clear picture of the future and how to get there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45536" y="1920240"/>
            <a:ext cx="2331720" cy="68580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45536" y="195681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47872" y="1965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Vision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249424"/>
            <a:ext cx="17530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every channel possible; lead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example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2670048"/>
            <a:ext cx="2331720" cy="68580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270662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0704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Broad Action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0704" y="2999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barriers; change systems that undermine the vision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45536" y="2670048"/>
            <a:ext cx="2331720" cy="685800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45536" y="270662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47872" y="2715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Short-Term Wins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47872" y="2999232"/>
            <a:ext cx="16615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visible successes to build momentum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" y="3419856"/>
            <a:ext cx="2331720" cy="68580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345643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0704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Acceleration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42416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declare victory early; keep driving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45536" y="3419856"/>
            <a:ext cx="2331720" cy="685800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45536" y="345643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547872" y="3465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in Culture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0" y="3749040"/>
            <a:ext cx="1734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 stick by embedding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in norms and hiring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27755" y="841248"/>
            <a:ext cx="3660213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66944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RESIST CHANGE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266944" y="1335024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541264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the Unknown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41264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about what change will mean for them personally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66944" y="193852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41264" y="1883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Control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41264" y="2157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feels imposed — no voice in the process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266944" y="254203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541264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with Status Quo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41264" y="2761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it ain't broke, don't fix it" — habitual thinking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266944" y="3145536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541264" y="3090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Incompetence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541264" y="3364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lacking skills needed in the new environment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266944" y="3749040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541264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Job / Status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41264" y="3968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threatens roles, teams, or career paths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266944" y="4315968"/>
            <a:ext cx="3474720" cy="38404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58384" y="43159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Overcoming resistance: Communicate early · Involve people · Address concerns · Build trust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 IN BUSINESS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914400"/>
            <a:ext cx="8138160" cy="621792"/>
          </a:xfrm>
          <a:prstGeom prst="rect">
            <a:avLst/>
          </a:prstGeom>
          <a:solidFill>
            <a:srgbClr val="1A6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91440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 management is not just about avoiding wrongdoing — it is about creating a culture where doing the right thing is the default, even under pressure.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1691640"/>
            <a:ext cx="2633472" cy="2121408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75564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Utilitarian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223113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produces the greatest good for the most people?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615184"/>
            <a:ext cx="2450592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6700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weigh total benefits vs. harms of a decision across all stakeholders. Common in public policy and cost-benefit analysis.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47288" y="1691640"/>
            <a:ext cx="2633472" cy="2121408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38728" y="175564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Rights-Based (Deontological)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38728" y="223113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respect people's fundamental rights?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38728" y="2615184"/>
            <a:ext cx="2450592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38728" y="26700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actions are wrong regardless of outcome — e.g. deceiving employees, violating privacy, or breaking contracts.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36208" y="1691640"/>
            <a:ext cx="2633472" cy="2121408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7648" y="175564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Virtue Ethics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27648" y="223113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person of good character do?</a:t>
            </a:r>
            <a:endParaRPr lang="en-US" sz="9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27648" y="2615184"/>
            <a:ext cx="2450592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27648" y="2670048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the manager's integrity, honesty, fairness and courage rather than rules or outcomes.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3931920"/>
            <a:ext cx="8138160" cy="914400"/>
          </a:xfrm>
          <a:prstGeom prst="rect">
            <a:avLst/>
          </a:prstGeom>
          <a:solidFill>
            <a:srgbClr val="F2F4F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3968496"/>
            <a:ext cx="7863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ETHICAL MANAGEMENT LOOKS LIKE IN PRACTICE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229100"/>
            <a:ext cx="786384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communication — no hidden agendas or misleading information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treatment — equitable pay, non-discrimination, consistent performance standards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accountability — considering impact on employees, customers, community, and environment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Whistleblower protection — creating safe channels for reporting misconduct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IN THE DIGITAL 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technology is reshaping the practice of management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743200" cy="1664208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25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82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decision support, predictive analytics, RPA replacing routine tasks. Managers must focus on interpretation and judgement.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0" y="1170432"/>
            <a:ext cx="2743200" cy="1664208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225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1682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993392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dashboards, BI tools, and KPI tracking allow managers to respond instantly rather than waiting for monthly reports.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0" y="1170432"/>
            <a:ext cx="2743200" cy="1664208"/>
          </a:xfrm>
          <a:prstGeom prst="rect">
            <a:avLst/>
          </a:prstGeom>
          <a:solidFill>
            <a:srgbClr val="243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225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16824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&amp; Hybrid Teams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993392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trust, productivity, and cohesion across distributed teams requires new communication protocols and digital tools.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2743200" cy="1664208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0540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7200" y="3511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Collaboration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22192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Notion, Asana — the manager's toolkit is now digital. Asynchronous work demands new norms and leadership behaviours.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2999232"/>
            <a:ext cx="2743200" cy="1664208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91840" y="30540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83280" y="3511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Risk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822192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governance, privacy regulations (GDPR), and cyber risk are now core management responsibilities, not just IT issues.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2999232"/>
            <a:ext cx="2743200" cy="1664208"/>
          </a:xfrm>
          <a:prstGeom prst="rect">
            <a:avLst/>
          </a:prstGeom>
          <a:solidFill>
            <a:srgbClr val="1A6B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0540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09360" y="3511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Gig Economy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822192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non-traditional workers, freelancers, and contractors requires flexible HR and legal frameworks.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2B36"/>
          </a:solidFill>
          <a:ln w="12700">
            <a:solidFill>
              <a:srgbClr val="1C2B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AN EFFECTIVE MANAGER?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841248"/>
            <a:ext cx="8138160" cy="566928"/>
          </a:xfrm>
          <a:prstGeom prst="rect">
            <a:avLst/>
          </a:prstGeom>
          <a:solidFill>
            <a:srgbClr val="1C2B3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841248"/>
            <a:ext cx="7882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"Management is doing things right; leadership is doing the right things."  — Peter Drucker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MANAGEMENT COMPETENCIES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47088"/>
            <a:ext cx="393192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39319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84708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COMPETENCIES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304288"/>
            <a:ext cx="219456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9848" y="22494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69848" y="25237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reports, manage budgets, analyse variance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2962656"/>
            <a:ext cx="219456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9848" y="29077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Thinking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69848" y="3182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big picture; connect short-term actions to long-term goals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77240" y="3621024"/>
            <a:ext cx="219456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69848" y="3566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Know-How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69848" y="3840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work gets done and where the bottlenecks are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77240" y="4279392"/>
            <a:ext cx="219456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9848" y="42245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Digital Fluency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9848" y="44988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 to make decisions; harness digital tools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28032" y="1847088"/>
            <a:ext cx="39776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28032" y="1847088"/>
            <a:ext cx="3977640" cy="32918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1847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COMPETENCIES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56048" y="2304288"/>
            <a:ext cx="219456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48656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48656" y="2523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honest, timely messaging upward, downward and laterally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56048" y="2962656"/>
            <a:ext cx="219456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48656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Intelligence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48656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Self-awareness, empathy, impulse control under pressure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56048" y="3621024"/>
            <a:ext cx="219456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48656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&amp; Developing Others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48656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team's skills and confidence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56048" y="4279392"/>
            <a:ext cx="219456" cy="21945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48656" y="422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48656" y="4498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disagreements constructively and fairly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43342"/>
          </a:solidFill>
          <a:ln w="12700">
            <a:solidFill>
              <a:srgbClr val="243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DISCUSSION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04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Today's Concepts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321040" cy="896112"/>
          </a:xfrm>
          <a:prstGeom prst="rect">
            <a:avLst/>
          </a:prstGeom>
          <a:solidFill>
            <a:srgbClr val="0D737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15568" y="1554480"/>
            <a:ext cx="3657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4440" y="15087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manager you've worked with or observed. Which of the POLC functions did they seem strongest at — and what was missing?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321040" cy="896112"/>
          </a:xfrm>
          <a:prstGeom prst="rect">
            <a:avLst/>
          </a:prstGeom>
          <a:solidFill>
            <a:srgbClr val="2E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46888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15568" y="2560320"/>
            <a:ext cx="3657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company's employees are resisting a major digital transformation. Using Kotter's model, what would your first three steps be?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321040" cy="896112"/>
          </a:xfrm>
          <a:prstGeom prst="rect">
            <a:avLst/>
          </a:prstGeom>
          <a:solidFill>
            <a:srgbClr val="D4A01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4747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15568" y="3566160"/>
            <a:ext cx="3657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352044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discovers their team has been missing targets due to unclear goals. Is this a planning failure, a controlling failure — or both?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98848"/>
            <a:ext cx="832104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4988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Next &amp; Final Class: 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5960" y="4498848"/>
            <a:ext cx="667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review · Key frameworks synthesis  · Careers in Business Management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2517</Words>
  <Application>Microsoft Office PowerPoint</Application>
  <PresentationFormat>On-screen Show (16:9)</PresentationFormat>
  <Paragraphs>445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Algerian</vt:lpstr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Business Management</dc:title>
  <dc:subject>PptxGenJS Presentation</dc:subject>
  <dc:creator>PptxGenJS</dc:creator>
  <cp:lastModifiedBy>Israr Ahmad</cp:lastModifiedBy>
  <cp:revision>30</cp:revision>
  <dcterms:created xsi:type="dcterms:W3CDTF">2026-05-24T08:34:13Z</dcterms:created>
  <dcterms:modified xsi:type="dcterms:W3CDTF">2026-05-25T23:33:51Z</dcterms:modified>
</cp:coreProperties>
</file>