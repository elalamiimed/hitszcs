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4280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E84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766560" y="-822960"/>
            <a:ext cx="2926080" cy="292608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309360" y="3200400"/>
            <a:ext cx="1828800" cy="1828800"/>
          </a:xfrm>
          <a:prstGeom prst="ellipse">
            <a:avLst/>
          </a:prstGeom>
          <a:solidFill>
            <a:srgbClr val="F5A623">
              <a:alpha val="25000"/>
            </a:srgbClr>
          </a:solidFill>
          <a:ln w="12700">
            <a:solidFill>
              <a:srgbClr val="F5A623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6035040" cy="20116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371600"/>
            <a:ext cx="1737360" cy="1737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34747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kern="0" spc="250" dirty="0">
                <a:solidFill>
                  <a:srgbClr val="F5A623"/>
                </a:solidFill>
              </a:rPr>
              <a:t>PRINCIPLES OF BUSINESS  |  INTRODUCTORY MODULE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11480" y="749808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E5E7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 to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411480" y="1261872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Marketing</a:t>
            </a:r>
            <a:endParaRPr lang="en-US" sz="7000" dirty="0"/>
          </a:p>
        </p:txBody>
      </p:sp>
      <p:sp>
        <p:nvSpPr>
          <p:cNvPr id="10" name="Text 7"/>
          <p:cNvSpPr/>
          <p:nvPr/>
        </p:nvSpPr>
        <p:spPr>
          <a:xfrm>
            <a:off x="411480" y="2468880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F0BFAF"/>
                </a:solidFill>
              </a:rPr>
              <a:t>Understanding Customers, Value &amp; the Marketing Mix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572042" y="4203032"/>
            <a:ext cx="2462997" cy="643287"/>
          </a:xfrm>
          <a:prstGeom prst="rect">
            <a:avLst/>
          </a:prstGeom>
          <a:solidFill>
            <a:srgbClr val="E8472A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11480" y="3127248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350008" y="3127248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288536" y="3127248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5720" y="4846320"/>
            <a:ext cx="6035040" cy="315468"/>
          </a:xfrm>
          <a:prstGeom prst="rect">
            <a:avLst/>
          </a:prstGeom>
          <a:solidFill>
            <a:srgbClr val="E8472A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572042" y="4242815"/>
            <a:ext cx="2462997" cy="714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Instructor : Dr. Israr Ahmad</a:t>
            </a:r>
          </a:p>
          <a:p>
            <a:pPr marL="0" indent="0" algn="l">
              <a:buNone/>
            </a:pPr>
            <a:r>
              <a:rPr lang="en-US" sz="1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: May 14, 2026 (Class 1)</a:t>
            </a:r>
          </a:p>
          <a:p>
            <a:pPr marL="0" indent="0" algn="l">
              <a:buNone/>
            </a:pPr>
            <a:r>
              <a:rPr lang="en-US" sz="1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May 15, 2026 (Class 2)	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E84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87552"/>
            <a:ext cx="9144000" cy="6400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206240" cy="1078992"/>
          </a:xfrm>
          <a:prstGeom prst="rect">
            <a:avLst/>
          </a:prstGeom>
          <a:solidFill>
            <a:srgbClr val="FDECEA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64008" cy="1078992"/>
          </a:xfrm>
          <a:prstGeom prst="rect">
            <a:avLst/>
          </a:prstGeom>
          <a:solidFill>
            <a:srgbClr val="E847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472184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69848" y="126187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69848" y="1536192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Marketing? Core Concepts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54880" y="1170432"/>
            <a:ext cx="4206240" cy="1078992"/>
          </a:xfrm>
          <a:prstGeom prst="rect">
            <a:avLst/>
          </a:prstGeom>
          <a:solidFill>
            <a:srgbClr val="FFF5E6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54880" y="1170432"/>
            <a:ext cx="64008" cy="107899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472184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04688" y="126187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5504688" y="1536192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Understanding Customers &amp; the Market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20040" y="2414016"/>
            <a:ext cx="4206240" cy="1078992"/>
          </a:xfrm>
          <a:prstGeom prst="rect">
            <a:avLst/>
          </a:prstGeom>
          <a:solidFill>
            <a:srgbClr val="FDECEA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320040" y="2414016"/>
            <a:ext cx="64008" cy="1078992"/>
          </a:xfrm>
          <a:prstGeom prst="rect">
            <a:avLst/>
          </a:prstGeom>
          <a:solidFill>
            <a:srgbClr val="E847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2715768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69848" y="250545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069848" y="2779776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Marketing Mix – The 4Ps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4754880" y="2414016"/>
            <a:ext cx="4206240" cy="1078992"/>
          </a:xfrm>
          <a:prstGeom prst="rect">
            <a:avLst/>
          </a:prstGeom>
          <a:solidFill>
            <a:srgbClr val="FFF5E6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754880" y="2414016"/>
            <a:ext cx="64008" cy="107899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2715768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04688" y="250545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5504688" y="2779776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Segmentation, Targeting &amp; Positioning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320040" y="3657600"/>
            <a:ext cx="4206240" cy="1078992"/>
          </a:xfrm>
          <a:prstGeom prst="rect">
            <a:avLst/>
          </a:prstGeom>
          <a:solidFill>
            <a:srgbClr val="FDECEA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320040" y="3657600"/>
            <a:ext cx="64008" cy="1078992"/>
          </a:xfrm>
          <a:prstGeom prst="rect">
            <a:avLst/>
          </a:prstGeom>
          <a:solidFill>
            <a:srgbClr val="E847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" y="3959352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69848" y="374904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69848" y="4023360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 &amp; Modern Marketing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4754880" y="3657600"/>
            <a:ext cx="4206240" cy="1078992"/>
          </a:xfrm>
          <a:prstGeom prst="rect">
            <a:avLst/>
          </a:prstGeom>
          <a:solidFill>
            <a:srgbClr val="FFF5E6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4754880" y="3657600"/>
            <a:ext cx="64008" cy="107899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9472" y="3959352"/>
            <a:ext cx="457200" cy="4572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504688" y="374904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5504688" y="4023360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Careers in Marketing &amp; Wrap-Up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EC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E84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MARKETING?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0" y="987552"/>
            <a:ext cx="9144000" cy="6400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96012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A623"/>
                </a:solidFill>
              </a:rPr>
              <a:t>Marketing </a:t>
            </a:r>
            <a:r>
              <a:rPr lang="en-US" sz="1350" dirty="0">
                <a:solidFill>
                  <a:srgbClr val="FFFFFF"/>
                </a:solidFill>
              </a:rPr>
              <a:t>is the activity, set of institutions, and processes for </a:t>
            </a:r>
            <a:r>
              <a:rPr lang="en-US" sz="1350" b="1" dirty="0">
                <a:solidFill>
                  <a:srgbClr val="FFC8B4"/>
                </a:solidFill>
              </a:rPr>
              <a:t>creating, communicating, delivering, and exchanging </a:t>
            </a:r>
            <a:r>
              <a:rPr lang="en-US" sz="1350" dirty="0">
                <a:solidFill>
                  <a:srgbClr val="FFFFFF"/>
                </a:solidFill>
              </a:rPr>
              <a:t>offerings that have value for customers, clients, partners, and society.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65760" y="20756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F5A623"/>
                </a:solidFill>
              </a:rPr>
              <a:t>— American Marketing Association (AMA)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2423160"/>
            <a:ext cx="4160520" cy="24505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2423160"/>
            <a:ext cx="4160520" cy="38404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242316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</a:rPr>
              <a:t>❌  Common Misconception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880360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• Marketing = just advertising or selling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337560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• Marketing is manipulating customers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3794760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• It only matters for big companies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4251960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• Marketing is a cost, not an investment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2423160"/>
            <a:ext cx="4160520" cy="24505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63440" y="2423160"/>
            <a:ext cx="4160520" cy="384048"/>
          </a:xfrm>
          <a:prstGeom prst="rect">
            <a:avLst/>
          </a:prstGeom>
          <a:solidFill>
            <a:srgbClr val="E84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0" y="242316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 The Reality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2880360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• Understanding and fulfilling customer needs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754880" y="3337560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• Building genuine long-term relationships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54880" y="3794760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• Every business of any size needs it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54880" y="4251960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• Well-done marketing drives sustainable growth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UNDERSTANDING CUSTOMERS &amp; THE MARKET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87552"/>
            <a:ext cx="9144000" cy="64008"/>
          </a:xfrm>
          <a:prstGeom prst="rect">
            <a:avLst/>
          </a:prstGeom>
          <a:solidFill>
            <a:srgbClr val="E84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8503920" cy="502920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64008" cy="502920"/>
          </a:xfrm>
          <a:prstGeom prst="rect">
            <a:avLst/>
          </a:prstGeom>
          <a:solidFill>
            <a:srgbClr val="E84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1155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F2937"/>
                </a:solidFill>
              </a:rPr>
              <a:t>The starting point of all marketing is the customer — knowing who they are, what they want, and why they buy.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92608" y="1755648"/>
            <a:ext cx="1572768" cy="3154680"/>
          </a:xfrm>
          <a:prstGeom prst="rect">
            <a:avLst/>
          </a:prstGeom>
          <a:solidFill>
            <a:srgbClr val="FFF0EB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92608" y="1755648"/>
            <a:ext cx="1572768" cy="54864"/>
          </a:xfrm>
          <a:prstGeom prst="rect">
            <a:avLst/>
          </a:prstGeom>
          <a:solidFill>
            <a:srgbClr val="E84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58952" y="1874520"/>
            <a:ext cx="640080" cy="640080"/>
          </a:xfrm>
          <a:prstGeom prst="ellipse">
            <a:avLst/>
          </a:prstGeom>
          <a:solidFill>
            <a:srgbClr val="E847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938528"/>
            <a:ext cx="512064" cy="51206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47472" y="260604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Needs, Wants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Demands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65760" y="3218688"/>
            <a:ext cx="1426464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Need: food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Want: pizza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Demand: want + buying power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011680" y="1755648"/>
            <a:ext cx="1572768" cy="3154680"/>
          </a:xfrm>
          <a:prstGeom prst="rect">
            <a:avLst/>
          </a:prstGeom>
          <a:solidFill>
            <a:srgbClr val="EBF4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011680" y="1755648"/>
            <a:ext cx="1572768" cy="54864"/>
          </a:xfrm>
          <a:prstGeom prst="rect">
            <a:avLst/>
          </a:prstGeom>
          <a:solidFill>
            <a:srgbClr val="E84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478024" y="1874520"/>
            <a:ext cx="640080" cy="640080"/>
          </a:xfrm>
          <a:prstGeom prst="ellipse">
            <a:avLst/>
          </a:prstGeom>
          <a:solidFill>
            <a:srgbClr val="E847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2032" y="1938528"/>
            <a:ext cx="512064" cy="51206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066544" y="260604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2084832" y="3218688"/>
            <a:ext cx="1426464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Gathering data about customers, competitors &amp; trends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3730752" y="1755648"/>
            <a:ext cx="1572768" cy="3154680"/>
          </a:xfrm>
          <a:prstGeom prst="rect">
            <a:avLst/>
          </a:prstGeom>
          <a:solidFill>
            <a:srgbClr val="FFF0F5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3730752" y="1755648"/>
            <a:ext cx="1572768" cy="54864"/>
          </a:xfrm>
          <a:prstGeom prst="rect">
            <a:avLst/>
          </a:prstGeom>
          <a:solidFill>
            <a:srgbClr val="E84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4197096" y="1874520"/>
            <a:ext cx="640080" cy="640080"/>
          </a:xfrm>
          <a:prstGeom prst="ellipse">
            <a:avLst/>
          </a:prstGeom>
          <a:solidFill>
            <a:srgbClr val="E847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1104" y="1938528"/>
            <a:ext cx="512064" cy="51206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785616" y="260604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Consumer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Behavior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3803904" y="3218688"/>
            <a:ext cx="1426464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Why people buy: psychological, social &amp; cultural factors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5449824" y="1755648"/>
            <a:ext cx="1572768" cy="3154680"/>
          </a:xfrm>
          <a:prstGeom prst="rect">
            <a:avLst/>
          </a:prstGeom>
          <a:solidFill>
            <a:srgbClr val="F0FFF4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5449824" y="1755648"/>
            <a:ext cx="1572768" cy="54864"/>
          </a:xfrm>
          <a:prstGeom prst="rect">
            <a:avLst/>
          </a:prstGeom>
          <a:solidFill>
            <a:srgbClr val="E84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5916168" y="1874520"/>
            <a:ext cx="640080" cy="640080"/>
          </a:xfrm>
          <a:prstGeom prst="ellipse">
            <a:avLst/>
          </a:prstGeom>
          <a:solidFill>
            <a:srgbClr val="E847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0176" y="1938528"/>
            <a:ext cx="512064" cy="51206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504688" y="260604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Buying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5522976" y="3218688"/>
            <a:ext cx="1426464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Problem → Research → Evaluate → Purchase → Post-purchase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7168896" y="1755648"/>
            <a:ext cx="1572768" cy="3154680"/>
          </a:xfrm>
          <a:prstGeom prst="rect">
            <a:avLst/>
          </a:prstGeom>
          <a:solidFill>
            <a:srgbClr val="FFFBEB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7168896" y="1755648"/>
            <a:ext cx="1572768" cy="54864"/>
          </a:xfrm>
          <a:prstGeom prst="rect">
            <a:avLst/>
          </a:prstGeom>
          <a:solidFill>
            <a:srgbClr val="E84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28"/>
          <p:cNvSpPr/>
          <p:nvPr/>
        </p:nvSpPr>
        <p:spPr>
          <a:xfrm>
            <a:off x="7635240" y="1874520"/>
            <a:ext cx="640080" cy="640080"/>
          </a:xfrm>
          <a:prstGeom prst="ellipse">
            <a:avLst/>
          </a:prstGeom>
          <a:solidFill>
            <a:srgbClr val="E847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9248" y="1938528"/>
            <a:ext cx="512064" cy="51206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223760" y="260604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Value</a:t>
            </a:r>
            <a:endParaRPr lang="en-US" sz="1150" dirty="0"/>
          </a:p>
        </p:txBody>
      </p:sp>
      <p:sp>
        <p:nvSpPr>
          <p:cNvPr id="37" name="Text 30"/>
          <p:cNvSpPr/>
          <p:nvPr/>
        </p:nvSpPr>
        <p:spPr>
          <a:xfrm>
            <a:off x="7242048" y="3218688"/>
            <a:ext cx="1426464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Perceived benefits vs. perceived costs — why they choose you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27432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0" b="1" dirty="0">
                <a:solidFill>
                  <a:srgbClr val="FFFFFF"/>
                </a:solidFill>
              </a:rPr>
              <a:t>4Ps</a:t>
            </a: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E84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82296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MARKETING MIX — THE 4Ps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bg1"/>
                </a:solidFill>
              </a:rPr>
              <a:t>The 4 controllable levers every marketer uses to reach and satisfy customers: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" y="1508760"/>
            <a:ext cx="4160520" cy="1627632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508760"/>
            <a:ext cx="64008" cy="1627632"/>
          </a:xfrm>
          <a:prstGeom prst="rect">
            <a:avLst/>
          </a:prstGeom>
          <a:solidFill>
            <a:srgbClr val="E84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" y="158191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4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" y="19659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What are we selling?</a:t>
            </a:r>
            <a:endParaRPr lang="en-US" sz="1200" dirty="0">
              <a:solidFill>
                <a:schemeClr val="accent2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84632" y="2258568"/>
            <a:ext cx="38587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Features, design &amp; quality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Branding &amp; packaging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Product lifecycle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Core vs. augmented product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508760"/>
            <a:ext cx="4160520" cy="1627632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54880" y="1508760"/>
            <a:ext cx="64008" cy="162763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19472" y="158191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19472" y="19659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How much does it cost?</a:t>
            </a:r>
            <a:endParaRPr lang="en-US" sz="1200" dirty="0">
              <a:solidFill>
                <a:schemeClr val="accent2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4919472" y="2258568"/>
            <a:ext cx="38587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Pricing strategies (penetration, skimming)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Discounts &amp; payment terms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Perceived value vs. cost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Competitive pricing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264408"/>
            <a:ext cx="4160520" cy="1627632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3264408"/>
            <a:ext cx="64008" cy="1627632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" y="33375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4632" y="37216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Where can customers get it?</a:t>
            </a:r>
            <a:endParaRPr lang="en-US" sz="1200" dirty="0">
              <a:solidFill>
                <a:schemeClr val="accent2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4632" y="4014216"/>
            <a:ext cx="38587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Distribution channels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Online vs. offline retail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Supply chain &amp; logistics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</a:rPr>
              <a:t>Market coverage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3264408"/>
            <a:ext cx="4160520" cy="1627632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54880" y="3264408"/>
            <a:ext cx="64008" cy="1627632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19472" y="33375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PROMOTION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919472" y="37216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How do we communicate it?</a:t>
            </a:r>
            <a:endParaRPr lang="en-US" sz="1200" dirty="0">
              <a:solidFill>
                <a:schemeClr val="accent2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4919472" y="4014216"/>
            <a:ext cx="3858768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</a:rPr>
              <a:t>Advertising &amp; PR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</a:rPr>
              <a:t>Social media &amp; content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</a:rPr>
              <a:t>Sales promotions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BD5E1"/>
                </a:solidFill>
              </a:rPr>
              <a:t>Personal selling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EC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E84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SEGMENTATION, TARGETING &amp; POSITIONING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87552"/>
            <a:ext cx="9144000" cy="6400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43200" cy="37673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743200" cy="73152"/>
          </a:xfrm>
          <a:prstGeom prst="rect">
            <a:avLst/>
          </a:prstGeom>
          <a:solidFill>
            <a:srgbClr val="E84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234440" y="1261872"/>
            <a:ext cx="822960" cy="822960"/>
          </a:xfrm>
          <a:prstGeom prst="ellipse">
            <a:avLst/>
          </a:prstGeom>
          <a:solidFill>
            <a:srgbClr val="E84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34440" y="126187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217627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4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Segmentation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25420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280"/>
                </a:solidFill>
              </a:rPr>
              <a:t>Divide the market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23774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296265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▸  Geographic (country, city, climate)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39242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▸  Demographic (age, gender, income)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82219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▸  Psychographic (lifestyle, values)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42519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▸  Behavioural (usage, loyalty, benefits)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090672" y="2852928"/>
            <a:ext cx="91440" cy="347472"/>
          </a:xfrm>
          <a:prstGeom prst="rect">
            <a:avLst/>
          </a:prstGeom>
          <a:solidFill>
            <a:srgbClr val="E84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035808" y="2697480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472A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182112" y="1143000"/>
            <a:ext cx="2743200" cy="37673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182112" y="1143000"/>
            <a:ext cx="2743200" cy="73152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142232" y="1261872"/>
            <a:ext cx="822960" cy="82296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42232" y="126187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T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273552" y="217627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273552" y="25420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280"/>
                </a:solidFill>
              </a:rPr>
              <a:t>Choose your segment(s)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64992" y="2880360"/>
            <a:ext cx="23774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319272" y="296265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▸  Undifferentiated (mass marketing)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19272" y="339242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▸  Differentiated (multiple segments)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19272" y="382219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▸  Concentrated (niche focus)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19272" y="42519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▸  Micromarketing (individual level)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98464" y="2852928"/>
            <a:ext cx="91440" cy="347472"/>
          </a:xfrm>
          <a:prstGeom prst="rect">
            <a:avLst/>
          </a:prstGeom>
          <a:solidFill>
            <a:srgbClr val="E84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943600" y="2697480"/>
            <a:ext cx="201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472A"/>
                </a:solidFill>
              </a:rPr>
              <a:t>→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089904" y="1143000"/>
            <a:ext cx="2743200" cy="37673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089904" y="1143000"/>
            <a:ext cx="2743200" cy="73152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050024" y="1261872"/>
            <a:ext cx="822960" cy="822960"/>
          </a:xfrm>
          <a:prstGeom prst="ellipse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050024" y="126187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P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6181344" y="217627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Positioning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181344" y="25420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280"/>
                </a:solidFill>
              </a:rPr>
              <a:t>Own a place in the mind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72784" y="2880360"/>
            <a:ext cx="23774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227064" y="296265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▸  Value proposition statement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27064" y="339242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▸  Perceptual maps vs. competitors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27064" y="382219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▸  Points of difference (POD)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27064" y="42519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▸  Brand promise &amp; messaging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CONSUMER BUYING PROCESS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87552"/>
            <a:ext cx="9144000" cy="64008"/>
          </a:xfrm>
          <a:prstGeom prst="rect">
            <a:avLst/>
          </a:prstGeom>
          <a:solidFill>
            <a:srgbClr val="E84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</a:rPr>
              <a:t>Understanding how customers decide helps marketers intervene at the right moment.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554480"/>
            <a:ext cx="8503920" cy="640080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2" y="1645920"/>
            <a:ext cx="457200" cy="457200"/>
          </a:xfrm>
          <a:prstGeom prst="ellipse">
            <a:avLst/>
          </a:prstGeom>
          <a:solidFill>
            <a:srgbClr val="E84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82496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160934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</a:rPr>
              <a:t>Problem Recognition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417320" y="18653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Consumer realises a need or problem exists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794760" y="1645920"/>
            <a:ext cx="4937760" cy="457200"/>
          </a:xfrm>
          <a:prstGeom prst="rect">
            <a:avLst/>
          </a:prstGeom>
          <a:solidFill>
            <a:srgbClr val="1B2A4A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794760" y="1645920"/>
            <a:ext cx="54864" cy="4572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913632" y="16459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📌  Create awareness — ads that highlight a problem you solve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0040" y="2249424"/>
            <a:ext cx="850392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47472" y="2340864"/>
            <a:ext cx="457200" cy="457200"/>
          </a:xfrm>
          <a:prstGeom prst="ellipse">
            <a:avLst/>
          </a:prstGeom>
          <a:solidFill>
            <a:srgbClr val="E84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47472" y="2340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377440"/>
            <a:ext cx="384048" cy="38404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417320" y="23042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</a:rPr>
              <a:t>Information Search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417320" y="2560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Consumer searches for solutions (Google, friends, reviews)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3794760" y="2340864"/>
            <a:ext cx="4937760" cy="457200"/>
          </a:xfrm>
          <a:prstGeom prst="rect">
            <a:avLst/>
          </a:prstGeom>
          <a:solidFill>
            <a:srgbClr val="1B2A4A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3794760" y="2340864"/>
            <a:ext cx="54864" cy="4572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3913632" y="234086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📌  Be visible — SEO, reviews, influencer content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20040" y="2944368"/>
            <a:ext cx="8503920" cy="640080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347472" y="3035808"/>
            <a:ext cx="457200" cy="457200"/>
          </a:xfrm>
          <a:prstGeom prst="ellipse">
            <a:avLst/>
          </a:prstGeom>
          <a:solidFill>
            <a:srgbClr val="E84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347472" y="3035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072384"/>
            <a:ext cx="384048" cy="38404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417320" y="29992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</a:rPr>
              <a:t>Evaluation of Alternatives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1417320" y="32552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Comparing brands, features, prices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3794760" y="3035808"/>
            <a:ext cx="4937760" cy="457200"/>
          </a:xfrm>
          <a:prstGeom prst="rect">
            <a:avLst/>
          </a:prstGeom>
          <a:solidFill>
            <a:srgbClr val="1B2A4A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3794760" y="3035808"/>
            <a:ext cx="54864" cy="4572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3913632" y="303580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📌  Communicate your USP — what makes you different?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320040" y="3639312"/>
            <a:ext cx="8503920" cy="640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29"/>
          <p:cNvSpPr/>
          <p:nvPr/>
        </p:nvSpPr>
        <p:spPr>
          <a:xfrm>
            <a:off x="347472" y="3730752"/>
            <a:ext cx="457200" cy="457200"/>
          </a:xfrm>
          <a:prstGeom prst="ellipse">
            <a:avLst/>
          </a:prstGeom>
          <a:solidFill>
            <a:srgbClr val="E84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/>
          <p:nvPr/>
        </p:nvSpPr>
        <p:spPr>
          <a:xfrm>
            <a:off x="347472" y="3730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767328"/>
            <a:ext cx="384048" cy="384048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1417320" y="36941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</a:rPr>
              <a:t>Purchase Decision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1417320" y="39502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Choosing a product and completing the transaction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3794760" y="3730752"/>
            <a:ext cx="4937760" cy="457200"/>
          </a:xfrm>
          <a:prstGeom prst="rect">
            <a:avLst/>
          </a:prstGeom>
          <a:solidFill>
            <a:srgbClr val="1B2A4A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4"/>
          <p:cNvSpPr/>
          <p:nvPr/>
        </p:nvSpPr>
        <p:spPr>
          <a:xfrm>
            <a:off x="3794760" y="3730752"/>
            <a:ext cx="54864" cy="4572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5"/>
          <p:cNvSpPr/>
          <p:nvPr/>
        </p:nvSpPr>
        <p:spPr>
          <a:xfrm>
            <a:off x="3913632" y="373075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📌  Reduce friction — easy checkout, promotions, guarantees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320040" y="4334256"/>
            <a:ext cx="8503920" cy="640080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37"/>
          <p:cNvSpPr/>
          <p:nvPr/>
        </p:nvSpPr>
        <p:spPr>
          <a:xfrm>
            <a:off x="347472" y="4425696"/>
            <a:ext cx="457200" cy="457200"/>
          </a:xfrm>
          <a:prstGeom prst="ellipse">
            <a:avLst/>
          </a:prstGeom>
          <a:solidFill>
            <a:srgbClr val="E84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38"/>
          <p:cNvSpPr/>
          <p:nvPr/>
        </p:nvSpPr>
        <p:spPr>
          <a:xfrm>
            <a:off x="347472" y="44256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pic>
        <p:nvPicPr>
          <p:cNvPr id="4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462272"/>
            <a:ext cx="384048" cy="384048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1417320" y="4389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</a:rPr>
              <a:t>Post-Purchase Evaluation</a:t>
            </a:r>
            <a:endParaRPr lang="en-US" sz="1200" dirty="0"/>
          </a:p>
        </p:txBody>
      </p:sp>
      <p:sp>
        <p:nvSpPr>
          <p:cNvPr id="47" name="Text 40"/>
          <p:cNvSpPr/>
          <p:nvPr/>
        </p:nvSpPr>
        <p:spPr>
          <a:xfrm>
            <a:off x="1417320" y="46451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Was the product worth it? Satisfaction or regret?</a:t>
            </a:r>
            <a:endParaRPr lang="en-US" sz="950" dirty="0"/>
          </a:p>
        </p:txBody>
      </p:sp>
      <p:sp>
        <p:nvSpPr>
          <p:cNvPr id="48" name="Shape 41"/>
          <p:cNvSpPr/>
          <p:nvPr/>
        </p:nvSpPr>
        <p:spPr>
          <a:xfrm>
            <a:off x="3794760" y="4425696"/>
            <a:ext cx="4937760" cy="457200"/>
          </a:xfrm>
          <a:prstGeom prst="rect">
            <a:avLst/>
          </a:prstGeom>
          <a:solidFill>
            <a:srgbClr val="1B2A4A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2"/>
          <p:cNvSpPr/>
          <p:nvPr/>
        </p:nvSpPr>
        <p:spPr>
          <a:xfrm>
            <a:off x="3794760" y="4425696"/>
            <a:ext cx="54864" cy="4572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3"/>
          <p:cNvSpPr/>
          <p:nvPr/>
        </p:nvSpPr>
        <p:spPr>
          <a:xfrm>
            <a:off x="3913632" y="442569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📌  Delight customers — follow-up, loyalty programs, reviews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 &amp; MODERN MARKETING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</a:rPr>
              <a:t>Marketing has transformed radically — digital channels now dominate how brands reach customers.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2743200" cy="1572768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2743200" cy="64008"/>
          </a:xfrm>
          <a:prstGeom prst="rect">
            <a:avLst/>
          </a:prstGeom>
          <a:solidFill>
            <a:srgbClr val="E84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658368" cy="658368"/>
          </a:xfrm>
          <a:prstGeom prst="ellipse">
            <a:avLst/>
          </a:prstGeom>
          <a:solidFill>
            <a:srgbClr val="E8472A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1746504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673352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Search Engine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Marketing (SEM)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80160" y="2221992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</a:rPr>
              <a:t>e.g. Google Ads, SEO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84632" y="2651760"/>
            <a:ext cx="242316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84632" y="26974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Key metric: Clicks, reach, conversions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246120" y="1508760"/>
            <a:ext cx="2743200" cy="1572768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246120" y="1508760"/>
            <a:ext cx="2743200" cy="6400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429000" y="1691640"/>
            <a:ext cx="658368" cy="658368"/>
          </a:xfrm>
          <a:prstGeom prst="ellipse">
            <a:avLst/>
          </a:prstGeom>
          <a:solidFill>
            <a:srgbClr val="A78BFA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3864" y="1746504"/>
            <a:ext cx="548640" cy="5486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206240" y="1673352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Social Media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Marketing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206240" y="2221992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</a:rPr>
              <a:t>e.g. IG, TikTok, FB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3410712" y="2651760"/>
            <a:ext cx="242316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3410712" y="26974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Key metric: Clicks, reach, conversions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6172200" y="1508760"/>
            <a:ext cx="2743200" cy="1572768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6172200" y="1508760"/>
            <a:ext cx="2743200" cy="6400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6355080" y="1691640"/>
            <a:ext cx="658368" cy="658368"/>
          </a:xfrm>
          <a:prstGeom prst="ellipse">
            <a:avLst/>
          </a:prstGeom>
          <a:solidFill>
            <a:srgbClr val="F5A623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9944" y="1746504"/>
            <a:ext cx="548640" cy="54864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132320" y="1673352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Email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Marketing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7132320" y="2221992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</a:rPr>
              <a:t>e.g. Newsletters, drip campaigns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6336792" y="2651760"/>
            <a:ext cx="242316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6336792" y="26974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Key metric: Clicks, reach, conversions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320040" y="3246120"/>
            <a:ext cx="2743200" cy="1572768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320040" y="3246120"/>
            <a:ext cx="2743200" cy="64008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502920" y="3429000"/>
            <a:ext cx="658368" cy="658368"/>
          </a:xfrm>
          <a:prstGeom prst="ellipse">
            <a:avLst/>
          </a:prstGeom>
          <a:solidFill>
            <a:srgbClr val="4ADE80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" y="3483864"/>
            <a:ext cx="548640" cy="54864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280160" y="3410712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Mobile &amp;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App Marketing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1280160" y="3959352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</a:rPr>
              <a:t>e.g. Push notifs, in-app ads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484632" y="4389120"/>
            <a:ext cx="242316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484632" y="44348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Key metric: Clicks, reach, conversions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3246120" y="3246120"/>
            <a:ext cx="2743200" cy="1572768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2"/>
          <p:cNvSpPr/>
          <p:nvPr/>
        </p:nvSpPr>
        <p:spPr>
          <a:xfrm>
            <a:off x="3246120" y="3246120"/>
            <a:ext cx="2743200" cy="64008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3"/>
          <p:cNvSpPr/>
          <p:nvPr/>
        </p:nvSpPr>
        <p:spPr>
          <a:xfrm>
            <a:off x="3429000" y="3429000"/>
            <a:ext cx="658368" cy="658368"/>
          </a:xfrm>
          <a:prstGeom prst="ellipse">
            <a:avLst/>
          </a:prstGeom>
          <a:solidFill>
            <a:srgbClr val="60A5FA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3483864"/>
            <a:ext cx="548640" cy="54864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4206240" y="3410712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E-Commerce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&amp; Retail Media</a:t>
            </a:r>
            <a:endParaRPr lang="en-US" sz="1200" dirty="0"/>
          </a:p>
        </p:txBody>
      </p:sp>
      <p:sp>
        <p:nvSpPr>
          <p:cNvPr id="42" name="Text 35"/>
          <p:cNvSpPr/>
          <p:nvPr/>
        </p:nvSpPr>
        <p:spPr>
          <a:xfrm>
            <a:off x="4206240" y="3959352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</a:rPr>
              <a:t>e.g. Shopee, Amazon ads</a:t>
            </a:r>
            <a:endParaRPr lang="en-US" sz="950" dirty="0"/>
          </a:p>
        </p:txBody>
      </p:sp>
      <p:sp>
        <p:nvSpPr>
          <p:cNvPr id="43" name="Shape 36"/>
          <p:cNvSpPr/>
          <p:nvPr/>
        </p:nvSpPr>
        <p:spPr>
          <a:xfrm>
            <a:off x="3410712" y="4389120"/>
            <a:ext cx="242316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7"/>
          <p:cNvSpPr/>
          <p:nvPr/>
        </p:nvSpPr>
        <p:spPr>
          <a:xfrm>
            <a:off x="3410712" y="44348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Key metric: Clicks, reach, conversions</a:t>
            </a:r>
            <a:endParaRPr lang="en-US" sz="900" dirty="0"/>
          </a:p>
        </p:txBody>
      </p:sp>
      <p:sp>
        <p:nvSpPr>
          <p:cNvPr id="45" name="Shape 38"/>
          <p:cNvSpPr/>
          <p:nvPr/>
        </p:nvSpPr>
        <p:spPr>
          <a:xfrm>
            <a:off x="6172200" y="3246120"/>
            <a:ext cx="2743200" cy="1572768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39"/>
          <p:cNvSpPr/>
          <p:nvPr/>
        </p:nvSpPr>
        <p:spPr>
          <a:xfrm>
            <a:off x="6172200" y="3246120"/>
            <a:ext cx="2743200" cy="64008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0"/>
          <p:cNvSpPr/>
          <p:nvPr/>
        </p:nvSpPr>
        <p:spPr>
          <a:xfrm>
            <a:off x="6355080" y="3429000"/>
            <a:ext cx="658368" cy="658368"/>
          </a:xfrm>
          <a:prstGeom prst="ellipse">
            <a:avLst/>
          </a:prstGeom>
          <a:solidFill>
            <a:srgbClr val="F87171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9944" y="3483864"/>
            <a:ext cx="548640" cy="548640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7132320" y="3410712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Influencer &amp;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Content Marketing</a:t>
            </a:r>
            <a:endParaRPr lang="en-US" sz="1200" dirty="0"/>
          </a:p>
        </p:txBody>
      </p:sp>
      <p:sp>
        <p:nvSpPr>
          <p:cNvPr id="50" name="Text 42"/>
          <p:cNvSpPr/>
          <p:nvPr/>
        </p:nvSpPr>
        <p:spPr>
          <a:xfrm>
            <a:off x="7132320" y="3959352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</a:rPr>
              <a:t>e.g. KOLs, blogs, video</a:t>
            </a:r>
            <a:endParaRPr lang="en-US" sz="950" dirty="0"/>
          </a:p>
        </p:txBody>
      </p:sp>
      <p:sp>
        <p:nvSpPr>
          <p:cNvPr id="51" name="Shape 43"/>
          <p:cNvSpPr/>
          <p:nvPr/>
        </p:nvSpPr>
        <p:spPr>
          <a:xfrm>
            <a:off x="6336792" y="4389120"/>
            <a:ext cx="242316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4"/>
          <p:cNvSpPr/>
          <p:nvPr/>
        </p:nvSpPr>
        <p:spPr>
          <a:xfrm>
            <a:off x="6336792" y="44348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Key metric: Clicks, reach, conversions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E84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BRANDING &amp; VALUE PROPOSITION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0" y="987552"/>
            <a:ext cx="9144000" cy="6400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4114800" cy="3767328"/>
          </a:xfrm>
          <a:prstGeom prst="rect">
            <a:avLst/>
          </a:prstGeom>
          <a:solidFill>
            <a:srgbClr val="FDECEA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4114800" cy="420624"/>
          </a:xfrm>
          <a:prstGeom prst="rect">
            <a:avLst/>
          </a:prstGeom>
          <a:solidFill>
            <a:srgbClr val="E84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115568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What is a Brand?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62763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A brand is much more than a logo or a name — it is the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total perception customers have of a company.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2304288"/>
            <a:ext cx="3913632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" y="2304288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472A"/>
                </a:solidFill>
              </a:rPr>
              <a:t>Brand Name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965960" y="2304288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Nike, Apple, McDonald's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798064"/>
            <a:ext cx="3913632" cy="438912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" y="2798064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472A"/>
                </a:solidFill>
              </a:rPr>
              <a:t>Logo &amp; Visuals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965960" y="2798064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Swoosh, bitten apple, golden arches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291840"/>
            <a:ext cx="3913632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" y="329184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472A"/>
                </a:solidFill>
              </a:rPr>
              <a:t>Brand Voice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965960" y="329184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Tone, personality in communications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785616"/>
            <a:ext cx="3913632" cy="438912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" y="3785616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472A"/>
                </a:solidFill>
              </a:rPr>
              <a:t>Brand Promise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965960" y="3785616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What you guarantee to customers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4279392"/>
            <a:ext cx="3913632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" y="4279392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472A"/>
                </a:solidFill>
              </a:rPr>
              <a:t>Brand Equity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965960" y="4279392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Extra value brand name adds to product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1115568"/>
            <a:ext cx="4114800" cy="37673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09160" y="1115568"/>
            <a:ext cx="4114800" cy="420624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00600" y="1115568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Value Proposition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00600" y="1627632"/>
            <a:ext cx="3913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2937"/>
                </a:solidFill>
              </a:rPr>
              <a:t>"The promise of value to be delivered to the customer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1F2937"/>
                </a:solidFill>
              </a:rPr>
              <a:t>and the reason why they should choose you."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0600" y="2340864"/>
            <a:ext cx="3913632" cy="5029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00600" y="2340864"/>
            <a:ext cx="3913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5A623"/>
                </a:solidFill>
              </a:rPr>
              <a:t>For [target customer] who [need], our [product] provides [key benefit] unlike [competitors].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2944368"/>
            <a:ext cx="502920" cy="402336"/>
          </a:xfrm>
          <a:prstGeom prst="rect">
            <a:avLst/>
          </a:prstGeom>
          <a:solidFill>
            <a:srgbClr val="E84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00600" y="2944368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Who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76672" y="2944368"/>
            <a:ext cx="3310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Exactly who is your target customer?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00600" y="3419856"/>
            <a:ext cx="502920" cy="402336"/>
          </a:xfrm>
          <a:prstGeom prst="rect">
            <a:avLst/>
          </a:prstGeom>
          <a:solidFill>
            <a:srgbClr val="E84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00600" y="3419856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76672" y="3419856"/>
            <a:ext cx="3310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What does your product actually do?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00600" y="3895344"/>
            <a:ext cx="502920" cy="402336"/>
          </a:xfrm>
          <a:prstGeom prst="rect">
            <a:avLst/>
          </a:prstGeom>
          <a:solidFill>
            <a:srgbClr val="E84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00600" y="3895344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Why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376672" y="3895344"/>
            <a:ext cx="3310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Why is it better than alternatives?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800600" y="4370832"/>
            <a:ext cx="502920" cy="402336"/>
          </a:xfrm>
          <a:prstGeom prst="rect">
            <a:avLst/>
          </a:prstGeom>
          <a:solidFill>
            <a:srgbClr val="E84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00600" y="4370832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Proof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376672" y="4370832"/>
            <a:ext cx="3310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What evidence supports your claim?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4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114800" cy="41148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1B2A4A">
              <a:alpha val="15000"/>
            </a:srgbClr>
          </a:solidFill>
          <a:ln w="12700">
            <a:solidFill>
              <a:srgbClr val="1B2A4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82296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CAREERS IN MARKETING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224528" cy="1152144"/>
          </a:xfrm>
          <a:prstGeom prst="rect">
            <a:avLst/>
          </a:prstGeom>
          <a:solidFill>
            <a:srgbClr val="1B2A4A">
              <a:alpha val="90000"/>
            </a:srgbClr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64008" cy="115214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435608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87552" y="1170432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</a:rPr>
              <a:t>Brand Manager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87552" y="1490472"/>
            <a:ext cx="3383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Own &amp; grow a brand's identity, strategy and market share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987552" y="1956816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DE68A"/>
                </a:solidFill>
              </a:rPr>
              <a:t>📈 Coordinator → Manager → Director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709160" y="1097280"/>
            <a:ext cx="4224528" cy="1152144"/>
          </a:xfrm>
          <a:prstGeom prst="rect">
            <a:avLst/>
          </a:prstGeom>
          <a:solidFill>
            <a:srgbClr val="1B2A4A">
              <a:alpha val="90000"/>
            </a:srgbClr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709160" y="1097280"/>
            <a:ext cx="64008" cy="115214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1435608"/>
            <a:ext cx="438912" cy="4389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22392" y="1170432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</a:rPr>
              <a:t>Digital Marketing Mgr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5422392" y="1490472"/>
            <a:ext cx="3383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Lead SEO, SEM, social, email and paid campaigns online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5422392" y="1956816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DE68A"/>
                </a:solidFill>
              </a:rPr>
              <a:t>📈 Specialist → Manager → VP Digital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274320" y="2377440"/>
            <a:ext cx="4224528" cy="1152144"/>
          </a:xfrm>
          <a:prstGeom prst="rect">
            <a:avLst/>
          </a:prstGeom>
          <a:solidFill>
            <a:srgbClr val="1B2A4A">
              <a:alpha val="90000"/>
            </a:srgbClr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274320" y="2377440"/>
            <a:ext cx="64008" cy="115214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2715768"/>
            <a:ext cx="438912" cy="4389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87552" y="2450592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</a:rPr>
              <a:t>Market Research Analyst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987552" y="2770632"/>
            <a:ext cx="3383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Gather &amp; interpret data to guide product and strategy decisions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987552" y="3236976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DE68A"/>
                </a:solidFill>
              </a:rPr>
              <a:t>📈 Junior Analyst → Senior → Director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4709160" y="2377440"/>
            <a:ext cx="4224528" cy="1152144"/>
          </a:xfrm>
          <a:prstGeom prst="rect">
            <a:avLst/>
          </a:prstGeom>
          <a:solidFill>
            <a:srgbClr val="1B2A4A">
              <a:alpha val="90000"/>
            </a:srgbClr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4709160" y="2377440"/>
            <a:ext cx="64008" cy="115214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2715768"/>
            <a:ext cx="438912" cy="43891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422392" y="2450592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</a:rPr>
              <a:t>Content Strategist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5422392" y="2770632"/>
            <a:ext cx="3383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Create and manage content that attracts and retains audiences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5422392" y="3236976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DE68A"/>
                </a:solidFill>
              </a:rPr>
              <a:t>📈 Writer/Creator → Strategist → CMO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274320" y="3657600"/>
            <a:ext cx="4224528" cy="1152144"/>
          </a:xfrm>
          <a:prstGeom prst="rect">
            <a:avLst/>
          </a:prstGeom>
          <a:solidFill>
            <a:srgbClr val="1B2A4A">
              <a:alpha val="90000"/>
            </a:srgbClr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274320" y="3657600"/>
            <a:ext cx="64008" cy="115214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" y="3995928"/>
            <a:ext cx="438912" cy="43891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87552" y="3730752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</a:rPr>
              <a:t>Product Marketing Mgr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987552" y="4050792"/>
            <a:ext cx="3383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Bridge product and marketing — launch, position &amp; promote products</a:t>
            </a:r>
            <a:endParaRPr lang="en-US" sz="950" dirty="0"/>
          </a:p>
        </p:txBody>
      </p:sp>
      <p:sp>
        <p:nvSpPr>
          <p:cNvPr id="35" name="Text 28"/>
          <p:cNvSpPr/>
          <p:nvPr/>
        </p:nvSpPr>
        <p:spPr>
          <a:xfrm>
            <a:off x="987552" y="4517136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DE68A"/>
                </a:solidFill>
              </a:rPr>
              <a:t>📈 Associate PMM → Senior → VP Product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4709160" y="3657600"/>
            <a:ext cx="4224528" cy="1152144"/>
          </a:xfrm>
          <a:prstGeom prst="rect">
            <a:avLst/>
          </a:prstGeom>
          <a:solidFill>
            <a:srgbClr val="1B2A4A">
              <a:alpha val="90000"/>
            </a:srgbClr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0"/>
          <p:cNvSpPr/>
          <p:nvPr/>
        </p:nvSpPr>
        <p:spPr>
          <a:xfrm>
            <a:off x="4709160" y="3657600"/>
            <a:ext cx="64008" cy="115214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3752" y="3995928"/>
            <a:ext cx="438912" cy="438912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5422392" y="3730752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</a:rPr>
              <a:t>Sales &amp; Mktg Manager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5422392" y="4050792"/>
            <a:ext cx="33832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Drive revenue through integrated sales funnels &amp; campaigns</a:t>
            </a:r>
            <a:endParaRPr lang="en-US" sz="950" dirty="0"/>
          </a:p>
        </p:txBody>
      </p:sp>
      <p:sp>
        <p:nvSpPr>
          <p:cNvPr id="41" name="Text 33"/>
          <p:cNvSpPr/>
          <p:nvPr/>
        </p:nvSpPr>
        <p:spPr>
          <a:xfrm>
            <a:off x="5422392" y="4517136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DE68A"/>
                </a:solidFill>
              </a:rPr>
              <a:t>📈 Rep → Manager → VP Sales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E84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87552"/>
            <a:ext cx="9144000" cy="6400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160520" cy="1115568"/>
          </a:xfrm>
          <a:prstGeom prst="rect">
            <a:avLst/>
          </a:prstGeom>
          <a:solidFill>
            <a:srgbClr val="FDECEA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566928" cy="1115568"/>
          </a:xfrm>
          <a:prstGeom prst="rect">
            <a:avLst/>
          </a:prstGeom>
          <a:solidFill>
            <a:srgbClr val="E84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143000"/>
            <a:ext cx="56692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78408" y="12344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</a:rPr>
              <a:t>Marketing = creating value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78408" y="16002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It is about understanding and satisfying needs, not just selling.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4160520" cy="1115568"/>
          </a:xfrm>
          <a:prstGeom prst="rect">
            <a:avLst/>
          </a:prstGeom>
          <a:solidFill>
            <a:srgbClr val="FDECEA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566928" cy="1115568"/>
          </a:xfrm>
          <a:prstGeom prst="rect">
            <a:avLst/>
          </a:prstGeom>
          <a:solidFill>
            <a:srgbClr val="E84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1143000"/>
            <a:ext cx="56692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13248" y="12344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</a:rPr>
              <a:t>Customer is the centre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13248" y="16002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All marketing decisions start with knowing your customer deeply.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404872"/>
            <a:ext cx="4160520" cy="1115568"/>
          </a:xfrm>
          <a:prstGeom prst="rect">
            <a:avLst/>
          </a:prstGeom>
          <a:solidFill>
            <a:srgbClr val="FFF5E6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2404872"/>
            <a:ext cx="566928" cy="1115568"/>
          </a:xfrm>
          <a:prstGeom prst="rect">
            <a:avLst/>
          </a:prstGeom>
          <a:solidFill>
            <a:srgbClr val="E84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2404872"/>
            <a:ext cx="56692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78408" y="249631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</a:rPr>
              <a:t>The 4Ps work together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78408" y="286207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Product, Price, Place &amp; Promotion must be aligned and consistent.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404872"/>
            <a:ext cx="4160520" cy="1115568"/>
          </a:xfrm>
          <a:prstGeom prst="rect">
            <a:avLst/>
          </a:prstGeom>
          <a:solidFill>
            <a:srgbClr val="FFF5E6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2404872"/>
            <a:ext cx="566928" cy="1115568"/>
          </a:xfrm>
          <a:prstGeom prst="rect">
            <a:avLst/>
          </a:prstGeom>
          <a:solidFill>
            <a:srgbClr val="E84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0" y="2404872"/>
            <a:ext cx="56692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13248" y="249631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</a:rPr>
              <a:t>STP drives focus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13248" y="286207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Segment → Target → Position: you can't be everything to everyone.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3666744"/>
            <a:ext cx="4160520" cy="1115568"/>
          </a:xfrm>
          <a:prstGeom prst="rect">
            <a:avLst/>
          </a:prstGeom>
          <a:solidFill>
            <a:srgbClr val="FDECEA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" y="3666744"/>
            <a:ext cx="566928" cy="1115568"/>
          </a:xfrm>
          <a:prstGeom prst="rect">
            <a:avLst/>
          </a:prstGeom>
          <a:solidFill>
            <a:srgbClr val="E84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3666744"/>
            <a:ext cx="56692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78408" y="375818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</a:rPr>
              <a:t>Digital changed the rules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78408" y="4123944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Modern marketing is data-driven, personalised and always-on.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3666744"/>
            <a:ext cx="4160520" cy="1115568"/>
          </a:xfrm>
          <a:prstGeom prst="rect">
            <a:avLst/>
          </a:prstGeom>
          <a:solidFill>
            <a:srgbClr val="FDECEA"/>
          </a:solidFill>
          <a:ln/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54880" y="3666744"/>
            <a:ext cx="566928" cy="1115568"/>
          </a:xfrm>
          <a:prstGeom prst="rect">
            <a:avLst/>
          </a:prstGeom>
          <a:solidFill>
            <a:srgbClr val="E84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54880" y="3666744"/>
            <a:ext cx="56692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413248" y="375818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</a:rPr>
              <a:t>Brand builds long-term trust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413248" y="4123944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Strong brands command loyalty, premium pricing and resilience.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65760" y="4828032"/>
            <a:ext cx="841248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5A623"/>
                </a:solidFill>
              </a:rPr>
              <a:t>Next Module → Introduction to HRM  |  Questions? 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E84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457200"/>
            <a:ext cx="3200400" cy="320040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126480" y="3474720"/>
            <a:ext cx="2011680" cy="2011680"/>
          </a:xfrm>
          <a:prstGeom prst="ellipse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371600"/>
            <a:ext cx="1645920" cy="1645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0"/>
            <a:ext cx="5943600" cy="20116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11480" y="45720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6200" dirty="0"/>
          </a:p>
        </p:txBody>
      </p:sp>
      <p:sp>
        <p:nvSpPr>
          <p:cNvPr id="8" name="Text 5"/>
          <p:cNvSpPr/>
          <p:nvPr/>
        </p:nvSpPr>
        <p:spPr>
          <a:xfrm>
            <a:off x="411480" y="1600200"/>
            <a:ext cx="5212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0BFAF"/>
                </a:solidFill>
              </a:rPr>
              <a:t>Great marketing starts with genuine curiosity about people.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11480" y="2267712"/>
            <a:ext cx="5120640" cy="0"/>
          </a:xfrm>
          <a:prstGeom prst="line">
            <a:avLst/>
          </a:prstGeom>
          <a:noFill/>
          <a:ln w="25400">
            <a:solidFill>
              <a:srgbClr val="E84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11480" y="2423160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📚  Kotler &amp; Armstrong — Principles of Marketing (17th Ed.)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11480" y="2926080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🌐  HubSpot Academy — Free Marketing Certifications (hubspot.com)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11480" y="3429000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📊  Think with Google — Consumer insights &amp; trends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11480" y="3931920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0" y="4828032"/>
            <a:ext cx="5943600" cy="315468"/>
          </a:xfrm>
          <a:prstGeom prst="rect">
            <a:avLst/>
          </a:prstGeom>
          <a:solidFill>
            <a:srgbClr val="E8472A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65760" y="4828032"/>
            <a:ext cx="530352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1184</Words>
  <Application>Microsoft Office PowerPoint</Application>
  <PresentationFormat>On-screen Show (16:9)</PresentationFormat>
  <Paragraphs>227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Times New Roman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Marketing</dc:title>
  <dc:subject>PptxGenJS Presentation</dc:subject>
  <dc:creator>PptxGenJS</dc:creator>
  <cp:lastModifiedBy>Israr Ahmad</cp:lastModifiedBy>
  <cp:revision>7</cp:revision>
  <dcterms:created xsi:type="dcterms:W3CDTF">2026-05-04T02:56:13Z</dcterms:created>
  <dcterms:modified xsi:type="dcterms:W3CDTF">2026-05-15T01:54:46Z</dcterms:modified>
</cp:coreProperties>
</file>