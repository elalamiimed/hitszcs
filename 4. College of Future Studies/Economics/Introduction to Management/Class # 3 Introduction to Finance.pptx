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3200400"/>
            <a:ext cx="2011680" cy="2011680"/>
          </a:xfrm>
          <a:prstGeom prst="ellipse">
            <a:avLst/>
          </a:prstGeom>
          <a:solidFill>
            <a:srgbClr val="F4A918">
              <a:alpha val="15000"/>
            </a:srgbClr>
          </a:solidFill>
          <a:ln w="12700">
            <a:solidFill>
              <a:srgbClr val="F4A91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3200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chemeClr val="accent5"/>
                </a:solidFill>
              </a:rPr>
              <a:t>INTRODUCTION TO MANAGEMENT | INTRODUCTORY MODULE</a:t>
            </a:r>
            <a:endParaRPr lang="en-US" sz="1050" dirty="0">
              <a:solidFill>
                <a:schemeClr val="accent5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7315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E5E7E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Introduction to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73152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Finance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320040" y="256032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3C4BC"/>
                </a:solidFill>
              </a:rPr>
              <a:t>Understanding Money, Markets &amp; Financial Decisions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40679" y="3291839"/>
            <a:ext cx="3393173" cy="1258771"/>
          </a:xfrm>
          <a:prstGeom prst="roundRect">
            <a:avLst>
              <a:gd name="adj" fmla="val 19048"/>
            </a:avLst>
          </a:prstGeom>
          <a:solidFill>
            <a:srgbClr val="0D7377">
              <a:alpha val="7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0680" y="3291840"/>
            <a:ext cx="3393172" cy="12587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Instructor: Dr. Israr Ahmad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May 11, 2026– Class-1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May 12, 2026– Class- 2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" y="4773168"/>
            <a:ext cx="4572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342"/>
                </a:solidFill>
              </a:rPr>
              <a:t>School of Economics &amp;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SESSION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1051560"/>
          </a:xfrm>
          <a:prstGeom prst="rect">
            <a:avLst/>
          </a:prstGeom>
          <a:solidFill>
            <a:srgbClr val="EAF4F4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64008" cy="105156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63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1280160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33272" y="1536192"/>
            <a:ext cx="3383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What is Finance? Core Concepts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206240" cy="1051560"/>
          </a:xfrm>
          <a:prstGeom prst="rect">
            <a:avLst/>
          </a:prstGeom>
          <a:solidFill>
            <a:srgbClr val="FFF8E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64008" cy="1051560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4630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68112" y="1280160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468112" y="1536192"/>
            <a:ext cx="3383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Financial Markets &amp; Institutions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0040" y="2423160"/>
            <a:ext cx="4206240" cy="1051560"/>
          </a:xfrm>
          <a:prstGeom prst="rect">
            <a:avLst/>
          </a:prstGeom>
          <a:solidFill>
            <a:srgbClr val="EAF4F4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0040" y="2423160"/>
            <a:ext cx="64008" cy="105156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6974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3272" y="2514600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33272" y="2770632"/>
            <a:ext cx="3383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Time Value of Money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754880" y="2423160"/>
            <a:ext cx="4206240" cy="1051560"/>
          </a:xfrm>
          <a:prstGeom prst="rect">
            <a:avLst/>
          </a:prstGeom>
          <a:solidFill>
            <a:srgbClr val="FFF8E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754880" y="2423160"/>
            <a:ext cx="64008" cy="1051560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6974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68112" y="2514600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468112" y="2770632"/>
            <a:ext cx="3383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Risk, Return &amp; Investment Basics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20040" y="3657600"/>
            <a:ext cx="4206240" cy="1051560"/>
          </a:xfrm>
          <a:prstGeom prst="rect">
            <a:avLst/>
          </a:prstGeom>
          <a:solidFill>
            <a:srgbClr val="EAF4F4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20040" y="3657600"/>
            <a:ext cx="64008" cy="105156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393192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33272" y="3749040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33272" y="4005072"/>
            <a:ext cx="3383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Financial Statements Overview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754880" y="3657600"/>
            <a:ext cx="4206240" cy="1051560"/>
          </a:xfrm>
          <a:prstGeom prst="rect">
            <a:avLst/>
          </a:prstGeom>
          <a:solidFill>
            <a:srgbClr val="FFF8E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4754880" y="3657600"/>
            <a:ext cx="64008" cy="1051560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393192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68112" y="3749040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5468112" y="4005072"/>
            <a:ext cx="3383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Careers in Finance &amp; Wrap-Up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WHAT IS FINANCE?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solidFill>
            <a:srgbClr val="0A234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918"/>
                </a:solidFill>
              </a:rPr>
              <a:t>Finance </a:t>
            </a:r>
            <a:r>
              <a:rPr lang="en-US" sz="1500" dirty="0">
                <a:solidFill>
                  <a:srgbClr val="FFFFFF"/>
                </a:solidFill>
              </a:rPr>
              <a:t>is the study of how individuals, businesses, and governments </a:t>
            </a:r>
            <a:r>
              <a:rPr lang="en-US" sz="1500" b="1" dirty="0">
                <a:solidFill>
                  <a:srgbClr val="A3C4BC"/>
                </a:solidFill>
              </a:rPr>
              <a:t>raise, allocate, and manage money</a:t>
            </a:r>
            <a:r>
              <a:rPr lang="en-US" sz="1500" dirty="0">
                <a:solidFill>
                  <a:srgbClr val="FFFFFF"/>
                </a:solidFill>
              </a:rPr>
              <a:t> over time, considering risk and uncertainty.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2651760" cy="2651760"/>
          </a:xfrm>
          <a:prstGeom prst="rect">
            <a:avLst/>
          </a:prstGeom>
          <a:solidFill>
            <a:srgbClr val="0D7377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2860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944368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918"/>
                </a:solidFill>
              </a:rPr>
              <a:t>Personal Finance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429000"/>
            <a:ext cx="2377440" cy="1234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</a:rPr>
              <a:t>Managing individual income, savings, budgets &amp; investments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54680" y="2148840"/>
            <a:ext cx="2651760" cy="2651760"/>
          </a:xfrm>
          <a:prstGeom prst="rect">
            <a:avLst/>
          </a:prstGeom>
          <a:solidFill>
            <a:srgbClr val="0A234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28600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54680" y="2944368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918"/>
                </a:solidFill>
              </a:rPr>
              <a:t>Corporate Finance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91840" y="3429000"/>
            <a:ext cx="2377440" cy="1234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</a:rPr>
              <a:t>How companies fund operations, invest capital &amp; create shareholder value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89320" y="2148840"/>
            <a:ext cx="2651760" cy="2651760"/>
          </a:xfrm>
          <a:prstGeom prst="rect">
            <a:avLst/>
          </a:prstGeom>
          <a:solidFill>
            <a:srgbClr val="B4530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2860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89320" y="2944368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918"/>
                </a:solidFill>
              </a:rPr>
              <a:t>Public Finance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26480" y="3429000"/>
            <a:ext cx="2377440" cy="1234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</a:rPr>
              <a:t>Government revenue (taxes), spending, debt &amp; economic policy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FINANCIAL MARKETS &amp; INSTITUTIONS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41148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Types of Financial Markets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4114800" cy="685800"/>
          </a:xfrm>
          <a:prstGeom prst="rect">
            <a:avLst/>
          </a:prstGeom>
          <a:solidFill>
            <a:srgbClr val="EAF4F4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54864" cy="68580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3840480" cy="27432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Stock Market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384048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Buy &amp; sell shares of public companies (e.g., NYSE, NASDAQ)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432304"/>
            <a:ext cx="4114800" cy="685800"/>
          </a:xfrm>
          <a:prstGeom prst="rect">
            <a:avLst/>
          </a:prstGeom>
          <a:solidFill>
            <a:srgbClr val="F0FAFA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432304"/>
            <a:ext cx="54864" cy="68580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432304"/>
            <a:ext cx="3840480" cy="27432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Bond Market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706624"/>
            <a:ext cx="384048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Governments &amp; corporations borrow money from investors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200400"/>
            <a:ext cx="4114800" cy="685800"/>
          </a:xfrm>
          <a:prstGeom prst="rect">
            <a:avLst/>
          </a:prstGeom>
          <a:solidFill>
            <a:srgbClr val="EAF4F4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3200400"/>
            <a:ext cx="54864" cy="68580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3840480" cy="27432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Money Market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384048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Short-term, low-risk instruments (Treasury bills, Certificates of Deposit (CDs))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968496"/>
            <a:ext cx="4114800" cy="685800"/>
          </a:xfrm>
          <a:prstGeom prst="rect">
            <a:avLst/>
          </a:prstGeom>
          <a:solidFill>
            <a:srgbClr val="F0FAFA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968496"/>
            <a:ext cx="54864" cy="68580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968496"/>
            <a:ext cx="3840480" cy="27432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Forex Market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42816"/>
            <a:ext cx="384048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Currency exchange – largest market in the world (~$7.5T/day)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143000"/>
            <a:ext cx="4114800" cy="41148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114300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Financial Institutions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1664208"/>
            <a:ext cx="4114800" cy="685800"/>
          </a:xfrm>
          <a:prstGeom prst="rect">
            <a:avLst/>
          </a:prstGeom>
          <a:solidFill>
            <a:srgbClr val="F5F3FF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1664208"/>
            <a:ext cx="54864" cy="68580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1664208"/>
            <a:ext cx="3840480" cy="27432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Central Banks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1938528"/>
            <a:ext cx="384048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Control monetary policy &amp; money supply (e.g., Fed, Bank of China)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437529"/>
            <a:ext cx="4114800" cy="685800"/>
          </a:xfrm>
          <a:prstGeom prst="rect">
            <a:avLst/>
          </a:prstGeom>
          <a:solidFill>
            <a:srgbClr val="EAF4F4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2432304"/>
            <a:ext cx="54864" cy="68580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2432304"/>
            <a:ext cx="3840480" cy="27432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Commercial Banks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2706624"/>
            <a:ext cx="384048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Accept deposits, give loans, essential for everyday transactions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200400"/>
            <a:ext cx="4114800" cy="685800"/>
          </a:xfrm>
          <a:prstGeom prst="rect">
            <a:avLst/>
          </a:prstGeom>
          <a:solidFill>
            <a:srgbClr val="F5F3FF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09160" y="3200400"/>
            <a:ext cx="54864" cy="68580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3200400"/>
            <a:ext cx="3840480" cy="27432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Investment Banks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3474720"/>
            <a:ext cx="384048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Help companies raise capital, facilitate mergers &amp; IPOs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3968496"/>
            <a:ext cx="4114800" cy="685800"/>
          </a:xfrm>
          <a:prstGeom prst="rect">
            <a:avLst/>
          </a:prstGeom>
          <a:solidFill>
            <a:srgbClr val="EAF4F4"/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09160" y="3968496"/>
            <a:ext cx="54864" cy="68580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3968496"/>
            <a:ext cx="3840480" cy="27432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Insurance Companies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4242816"/>
            <a:ext cx="384048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Manage risk by pooling premiums against future claims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234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TIME VALUE OF MONEY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918"/>
                </a:solidFill>
              </a:rPr>
              <a:t>Core Principle: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</a:rPr>
              <a:t>"A dollar today is worth more than a dollar in the future."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8412480" cy="36576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Why? Because money can earn returns when invested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423160"/>
            <a:ext cx="2651760" cy="2423160"/>
          </a:xfrm>
          <a:prstGeom prst="rect">
            <a:avLst/>
          </a:prstGeom>
          <a:solidFill>
            <a:srgbClr val="132F4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2651760" cy="73152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496312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A918"/>
                </a:solidFill>
              </a:rPr>
              <a:t>Future Value (FV)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3035808"/>
            <a:ext cx="2103120" cy="475488"/>
          </a:xfrm>
          <a:prstGeom prst="rect">
            <a:avLst/>
          </a:prstGeom>
          <a:solidFill>
            <a:srgbClr val="0D7377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035808"/>
            <a:ext cx="21031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FV = PV × (1 + r)ⁿ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02736"/>
            <a:ext cx="23774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</a:rPr>
              <a:t>How much today's money grows to in the future at rate r over n periods.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2423160"/>
            <a:ext cx="2651760" cy="2423160"/>
          </a:xfrm>
          <a:prstGeom prst="rect">
            <a:avLst/>
          </a:prstGeom>
          <a:solidFill>
            <a:srgbClr val="132F4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54680" y="2423160"/>
            <a:ext cx="2651760" cy="73152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54680" y="2496312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A918"/>
                </a:solidFill>
              </a:rPr>
              <a:t>Present Value (PV)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29000" y="3035808"/>
            <a:ext cx="2103120" cy="475488"/>
          </a:xfrm>
          <a:prstGeom prst="rect">
            <a:avLst/>
          </a:prstGeom>
          <a:solidFill>
            <a:srgbClr val="0D7377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29000" y="3035808"/>
            <a:ext cx="21031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PV = FV ÷ (1 + r)ⁿ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3602736"/>
            <a:ext cx="23774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</a:rPr>
              <a:t>What a future sum of money is worth today, discounted at rate 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0" y="2423160"/>
            <a:ext cx="2651760" cy="2423160"/>
          </a:xfrm>
          <a:prstGeom prst="rect">
            <a:avLst/>
          </a:prstGeom>
          <a:solidFill>
            <a:srgbClr val="132F4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89320" y="2423160"/>
            <a:ext cx="2651760" cy="73152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89320" y="2496312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A918"/>
                </a:solidFill>
              </a:rPr>
              <a:t>Interest Rate (r)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3035808"/>
            <a:ext cx="2103120" cy="475488"/>
          </a:xfrm>
          <a:prstGeom prst="rect">
            <a:avLst/>
          </a:prstGeom>
          <a:solidFill>
            <a:srgbClr val="0D7377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63640" y="3035808"/>
            <a:ext cx="21031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Price of Money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3602736"/>
            <a:ext cx="23774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</a:rPr>
              <a:t>The cost of borrowing OR the reward for saving/investing capital.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Example: $10,000 invested at 5% for 3 years → $10,000 × (1.05)³ = $11,576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RISK &amp; RETURN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640080"/>
          </a:xfrm>
          <a:prstGeom prst="rect">
            <a:avLst/>
          </a:prstGeom>
          <a:solidFill>
            <a:srgbClr val="0A234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8503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4A918"/>
                </a:solidFill>
              </a:rPr>
              <a:t>Golden Rule of Finance: </a:t>
            </a:r>
            <a:r>
              <a:rPr lang="en-US" sz="1450" dirty="0">
                <a:solidFill>
                  <a:srgbClr val="FFFFFF"/>
                </a:solidFill>
              </a:rPr>
              <a:t>Higher potential return always comes with higher risk.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4572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Risk-Return Spectrum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Savings Account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31720" y="2340864"/>
            <a:ext cx="393192" cy="237744"/>
          </a:xfrm>
          <a:prstGeom prst="rect">
            <a:avLst/>
          </a:prstGeom>
          <a:solidFill>
            <a:srgbClr val="34D399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715768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Government Bonds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31720" y="2770632"/>
            <a:ext cx="982980" cy="237744"/>
          </a:xfrm>
          <a:prstGeom prst="rect">
            <a:avLst/>
          </a:prstGeom>
          <a:solidFill>
            <a:srgbClr val="60A5FA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3145536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Corporate Bonds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31720" y="3200400"/>
            <a:ext cx="1651406" cy="237744"/>
          </a:xfrm>
          <a:prstGeom prst="rect">
            <a:avLst/>
          </a:prstGeom>
          <a:solidFill>
            <a:srgbClr val="A78BFA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575304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Mutual Funds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31720" y="3630168"/>
            <a:ext cx="2437790" cy="237744"/>
          </a:xfrm>
          <a:prstGeom prst="rect">
            <a:avLst/>
          </a:prstGeom>
          <a:solidFill>
            <a:srgbClr val="FBBF24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4005072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Stocks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31720" y="4059936"/>
            <a:ext cx="3145536" cy="237744"/>
          </a:xfrm>
          <a:prstGeom prst="rect">
            <a:avLst/>
          </a:prstGeom>
          <a:solidFill>
            <a:srgbClr val="F87171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4434840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Crypto / Startups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31720" y="4489704"/>
            <a:ext cx="3813962" cy="237744"/>
          </a:xfrm>
          <a:prstGeom prst="rect">
            <a:avLst/>
          </a:prstGeom>
          <a:solidFill>
            <a:srgbClr val="EF4444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86000" y="4773168"/>
            <a:ext cx="4114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280"/>
                </a:solidFill>
              </a:rPr>
              <a:t>LOW RISK ←──────────────────→ HIGH RISK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0" y="1783080"/>
            <a:ext cx="2377440" cy="3154680"/>
          </a:xfrm>
          <a:prstGeom prst="rect">
            <a:avLst/>
          </a:prstGeom>
          <a:solidFill>
            <a:srgbClr val="EAF4F4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0" y="1783080"/>
            <a:ext cx="2377440" cy="36576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17830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Terms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2286000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</a:rPr>
              <a:t>Systematic Risk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0" y="2542032"/>
            <a:ext cx="2194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Market-wide risk (can't be avoided)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2990088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</a:rPr>
              <a:t>Unsystematic Risk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0" y="3246120"/>
            <a:ext cx="2194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Firm-specific risk (reducible via diversification)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92240" y="3694176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</a:rPr>
              <a:t>Diversification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0" y="3950208"/>
            <a:ext cx="2194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'Don't put all eggs in one basket'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92240" y="4398264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</a:rPr>
              <a:t>Portfolio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4654296"/>
            <a:ext cx="2194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 collection of different investments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FINANCIAL STATEMENTS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2937"/>
                </a:solidFill>
              </a:rPr>
              <a:t>The 3 core documents that tell a company's complete financial story: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2788920" cy="3401568"/>
          </a:xfrm>
          <a:prstGeom prst="rect">
            <a:avLst/>
          </a:prstGeom>
          <a:solidFill>
            <a:srgbClr val="EAF7F7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2788920" cy="64008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2606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📊 Income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606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Profitability — How much did we earn?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87168"/>
            <a:ext cx="2606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2606040" cy="2240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Revenue (sales)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Cost of Goods Sold (COGS)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Gross Profit = Revenue − COGS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Operating Expenses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Net Income (bottom line)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1536192"/>
            <a:ext cx="2788920" cy="3401568"/>
          </a:xfrm>
          <a:prstGeom prst="rect">
            <a:avLst/>
          </a:prstGeom>
          <a:solidFill>
            <a:srgbClr val="EEF2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1536192"/>
            <a:ext cx="2788920" cy="64008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46120" y="1627632"/>
            <a:ext cx="2606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🏦 Balance Sheet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103120"/>
            <a:ext cx="2606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Financial Position — What do we own &amp; owe?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2487168"/>
            <a:ext cx="2606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46120" y="2560320"/>
            <a:ext cx="2606040" cy="2240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Assets = What company owns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Liabilities = What company owes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Equity = Owners' stake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Key formula: Assets = Liabilities + Equity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1536192"/>
            <a:ext cx="2788920" cy="3401568"/>
          </a:xfrm>
          <a:prstGeom prst="rect">
            <a:avLst/>
          </a:prstGeom>
          <a:solidFill>
            <a:srgbClr val="FFFBE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5040" y="1536192"/>
            <a:ext cx="2788920" cy="64008"/>
          </a:xfrm>
          <a:prstGeom prst="rect">
            <a:avLst/>
          </a:prstGeom>
          <a:solidFill>
            <a:srgbClr val="B45309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1627632"/>
            <a:ext cx="2606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💧 Cash Flow Statement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2103120"/>
            <a:ext cx="2606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Liquidity — Where did cash come from &amp; go?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2487168"/>
            <a:ext cx="2606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6480" y="2560320"/>
            <a:ext cx="2606040" cy="2240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Operating Activities (day-to-day)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Investing Activities (buying assets)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Financing Activities (loans/shares)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Cash is king — profit ≠ cash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KEY FINANCIAL RATIOS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2937"/>
                </a:solidFill>
              </a:rPr>
              <a:t>Ratios help us quickly evaluate a company's financial health.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743200" cy="384048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2743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Liquidity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2743200" cy="1417320"/>
          </a:xfrm>
          <a:prstGeom prst="rect">
            <a:avLst/>
          </a:prstGeom>
          <a:solidFill>
            <a:srgbClr val="EAF4F4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64008" cy="141732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Current Ratio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468880" cy="347472"/>
          </a:xfrm>
          <a:prstGeom prst="rect">
            <a:avLst/>
          </a:prstGeom>
          <a:solidFill>
            <a:srgbClr val="0D7377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Current Assets ÷ Current Liabilities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07208"/>
            <a:ext cx="2468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≥ 2 is healthy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474720"/>
            <a:ext cx="2743200" cy="1417320"/>
          </a:xfrm>
          <a:prstGeom prst="rect">
            <a:avLst/>
          </a:prstGeom>
          <a:solidFill>
            <a:srgbClr val="F9FAF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474720"/>
            <a:ext cx="64008" cy="141732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Quick Ratio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2468880" cy="347472"/>
          </a:xfrm>
          <a:prstGeom prst="rect">
            <a:avLst/>
          </a:prstGeom>
          <a:solidFill>
            <a:srgbClr val="0D7377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88620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(CA − Inventory) ÷ CL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2468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Immediate ability to pay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1508760"/>
            <a:ext cx="2743200" cy="384048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0" y="1508760"/>
            <a:ext cx="2743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Profitability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0" y="1965960"/>
            <a:ext cx="2743200" cy="1417320"/>
          </a:xfrm>
          <a:prstGeom prst="rect">
            <a:avLst/>
          </a:prstGeom>
          <a:solidFill>
            <a:srgbClr val="EAF4F4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1965960"/>
            <a:ext cx="64008" cy="141732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37560" y="205740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Gross Margin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37560" y="2377440"/>
            <a:ext cx="2468880" cy="347472"/>
          </a:xfrm>
          <a:prstGeom prst="rect">
            <a:avLst/>
          </a:prstGeom>
          <a:solidFill>
            <a:srgbClr val="7C3AED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23774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Gross Profit ÷ Revenue ×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2807208"/>
            <a:ext cx="2468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Core earning efficiency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3474720"/>
            <a:ext cx="2743200" cy="1417320"/>
          </a:xfrm>
          <a:prstGeom prst="rect">
            <a:avLst/>
          </a:prstGeom>
          <a:solidFill>
            <a:srgbClr val="F9FAF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3474720"/>
            <a:ext cx="64008" cy="141732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37560" y="356616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ROE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37560" y="3886200"/>
            <a:ext cx="2468880" cy="347472"/>
          </a:xfrm>
          <a:prstGeom prst="rect">
            <a:avLst/>
          </a:prstGeom>
          <a:solidFill>
            <a:srgbClr val="7C3AED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37560" y="388620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Net Income ÷ Shareholders' Equity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37560" y="4315968"/>
            <a:ext cx="2468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Return for owners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0760" y="1508760"/>
            <a:ext cx="2743200" cy="384048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80760" y="1508760"/>
            <a:ext cx="2743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Leverage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080760" y="1965960"/>
            <a:ext cx="2743200" cy="1417320"/>
          </a:xfrm>
          <a:prstGeom prst="rect">
            <a:avLst/>
          </a:prstGeom>
          <a:solidFill>
            <a:srgbClr val="EAF4F4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80760" y="1965960"/>
            <a:ext cx="64008" cy="141732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17920" y="205740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Debt-to-Equity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17920" y="2377440"/>
            <a:ext cx="2468880" cy="347472"/>
          </a:xfrm>
          <a:prstGeom prst="rect">
            <a:avLst/>
          </a:prstGeom>
          <a:solidFill>
            <a:srgbClr val="0A2342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17920" y="23774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Total Debt ÷ Total Equity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17920" y="2807208"/>
            <a:ext cx="2468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&lt; 1 is generally safer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80760" y="3474720"/>
            <a:ext cx="2743200" cy="1417320"/>
          </a:xfrm>
          <a:prstGeom prst="rect">
            <a:avLst/>
          </a:prstGeom>
          <a:solidFill>
            <a:srgbClr val="F9FAF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080760" y="3474720"/>
            <a:ext cx="64008" cy="141732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17920" y="356616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Interest Cover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217920" y="3886200"/>
            <a:ext cx="2468880" cy="347472"/>
          </a:xfrm>
          <a:prstGeom prst="rect">
            <a:avLst/>
          </a:prstGeom>
          <a:solidFill>
            <a:srgbClr val="0A2342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17920" y="388620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EBIT ÷ Interest Expense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17920" y="4315968"/>
            <a:ext cx="2468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≥ 2 shows comfort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234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CAREERS IN FINANCE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143000"/>
          </a:xfrm>
          <a:prstGeom prst="rect">
            <a:avLst/>
          </a:prstGeom>
          <a:solidFill>
            <a:srgbClr val="132F4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64008" cy="1143000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4264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70432"/>
            <a:ext cx="3337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918"/>
                </a:solidFill>
              </a:rPr>
              <a:t>Financial Analyst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05840" y="1499616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Analyze data to guide investment or business decisions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05840" y="1947672"/>
            <a:ext cx="33375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📈 Entry → Senior Analyst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1097280"/>
            <a:ext cx="4206240" cy="1143000"/>
          </a:xfrm>
          <a:prstGeom prst="rect">
            <a:avLst/>
          </a:prstGeom>
          <a:solidFill>
            <a:srgbClr val="132F4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1097280"/>
            <a:ext cx="64008" cy="1143000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42646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170432"/>
            <a:ext cx="3337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918"/>
                </a:solidFill>
              </a:rPr>
              <a:t>Investment Banker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40680" y="1499616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Help companies raise capital, conduct IPOs &amp; M&amp;A deals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440680" y="1947672"/>
            <a:ext cx="33375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📈 Analyst → MD / Partner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74320" y="2395728"/>
            <a:ext cx="4206240" cy="1143000"/>
          </a:xfrm>
          <a:prstGeom prst="rect">
            <a:avLst/>
          </a:prstGeom>
          <a:solidFill>
            <a:srgbClr val="132F4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74320" y="2395728"/>
            <a:ext cx="64008" cy="1143000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724912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468880"/>
            <a:ext cx="3337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918"/>
                </a:solidFill>
              </a:rPr>
              <a:t>Risk Manager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005840" y="2798064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Identify, measure &amp; mitigate financial risks for firms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005840" y="3246120"/>
            <a:ext cx="33375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📈 Risk Analyst → CRO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709160" y="2395728"/>
            <a:ext cx="4206240" cy="1143000"/>
          </a:xfrm>
          <a:prstGeom prst="rect">
            <a:avLst/>
          </a:prstGeom>
          <a:solidFill>
            <a:srgbClr val="132F4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09160" y="2395728"/>
            <a:ext cx="64008" cy="1143000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724912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40680" y="2468880"/>
            <a:ext cx="3337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918"/>
                </a:solidFill>
              </a:rPr>
              <a:t>Financial Planner (CFP)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40680" y="2798064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Help individuals plan budgets, retirement &amp; investments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40680" y="3246120"/>
            <a:ext cx="33375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📈 Associate → Certified Planner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274320" y="3694176"/>
            <a:ext cx="4206240" cy="1143000"/>
          </a:xfrm>
          <a:prstGeom prst="rect">
            <a:avLst/>
          </a:prstGeom>
          <a:solidFill>
            <a:srgbClr val="132F4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274320" y="3694176"/>
            <a:ext cx="64008" cy="1143000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4023360"/>
            <a:ext cx="438912" cy="4389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05840" y="3767328"/>
            <a:ext cx="3337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918"/>
                </a:solidFill>
              </a:rPr>
              <a:t>Corporate Treasurer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1005840" y="4096512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Manage a company's liquidity, funding &amp; foreign exchange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005840" y="4544568"/>
            <a:ext cx="33375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📈 Analyst → VP Treasurer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709160" y="3694176"/>
            <a:ext cx="4206240" cy="1143000"/>
          </a:xfrm>
          <a:prstGeom prst="rect">
            <a:avLst/>
          </a:prstGeom>
          <a:solidFill>
            <a:srgbClr val="132F4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4709160" y="3694176"/>
            <a:ext cx="64008" cy="1143000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4023360"/>
            <a:ext cx="438912" cy="43891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440680" y="3767328"/>
            <a:ext cx="3337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918"/>
                </a:solidFill>
              </a:rPr>
              <a:t>FinTech Specialist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5440680" y="4096512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Blend finance with technology — payments, blockchain, AI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5440680" y="4544568"/>
            <a:ext cx="33375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📈 Fast-growing &amp; diverse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A2342">
              <a:alpha val="30000"/>
            </a:srgbClr>
          </a:solidFill>
          <a:ln w="12700">
            <a:solidFill>
              <a:srgbClr val="0A234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A2342">
              <a:alpha val="25000"/>
            </a:srgbClr>
          </a:solidFill>
          <a:ln w="12700">
            <a:solidFill>
              <a:srgbClr val="0A2342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4A918"/>
                </a:solidFill>
              </a:rPr>
              <a:t>SESSION RECAP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1005840"/>
          </a:xfrm>
          <a:prstGeom prst="rect">
            <a:avLst/>
          </a:prstGeom>
          <a:solidFill>
            <a:srgbClr val="0D4F53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502920" cy="100584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502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918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34015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Finance is universal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865376"/>
            <a:ext cx="34015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</a:rPr>
              <a:t>Every individual, company &amp; government makes financial decisions daily.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4114800" cy="1005840"/>
          </a:xfrm>
          <a:prstGeom prst="rect">
            <a:avLst/>
          </a:prstGeom>
          <a:solidFill>
            <a:srgbClr val="0D4F53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502920" cy="100584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606040"/>
            <a:ext cx="502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918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679192"/>
            <a:ext cx="34015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Markets connect money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34015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</a:rPr>
              <a:t>Financial markets channel funds from savers to borrowers efficiently.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4114800" cy="1005840"/>
          </a:xfrm>
          <a:prstGeom prst="rect">
            <a:avLst/>
          </a:prstGeom>
          <a:solidFill>
            <a:srgbClr val="0D4F53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502920" cy="100584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749040"/>
            <a:ext cx="502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918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822192"/>
            <a:ext cx="34015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 is money — literally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4151376"/>
            <a:ext cx="34015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</a:rPr>
              <a:t>The Time Value of Money is the foundation of all financial valuation.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463040"/>
            <a:ext cx="4114800" cy="1005840"/>
          </a:xfrm>
          <a:prstGeom prst="rect">
            <a:avLst/>
          </a:prstGeom>
          <a:solidFill>
            <a:srgbClr val="0D4F53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1463040"/>
            <a:ext cx="502920" cy="100584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1463040"/>
            <a:ext cx="502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918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40680" y="1536192"/>
            <a:ext cx="34015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Risk &amp; return are linked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0680" y="1865376"/>
            <a:ext cx="34015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</a:rPr>
              <a:t>You cannot separate higher expected return from higher risk.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606040"/>
            <a:ext cx="4114800" cy="1005840"/>
          </a:xfrm>
          <a:prstGeom prst="rect">
            <a:avLst/>
          </a:prstGeom>
          <a:solidFill>
            <a:srgbClr val="0D4F53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0" y="2606040"/>
            <a:ext cx="502920" cy="100584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2606040"/>
            <a:ext cx="502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918"/>
                </a:solidFill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40680" y="2679192"/>
            <a:ext cx="34015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Numbers tell the story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3008376"/>
            <a:ext cx="34015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</a:rPr>
              <a:t>Financial statements reveal the true health and performance of any business.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4A918"/>
                </a:solidFill>
              </a:rPr>
              <a:t>Next Module → Introduction to Accounting  |  Questions? Office Hours: Book via LMS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137160" cy="4590288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0" y="731520"/>
            <a:ext cx="5029200" cy="5029200"/>
          </a:xfrm>
          <a:prstGeom prst="ellipse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315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3C4BC"/>
                </a:solidFill>
              </a:rPr>
              <a:t>Great minds start with great questions.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5943600" cy="54864"/>
          </a:xfrm>
          <a:prstGeom prst="rect">
            <a:avLst/>
          </a:prstGeom>
          <a:solidFill>
            <a:srgbClr val="0D7377">
              <a:alpha val="6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7772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📚  Recommended Reading: Principles of Corporate Finance — Brealey, Myers &amp; Allen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7772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🌐  Khan Academy Finance &amp; Capital Markets (free online)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7772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📝  Assignment details uploaded to LMS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4A918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</a:rPr>
              <a:t>Introduction to Finance  ·  Faculty of Business &amp; Economics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941</Words>
  <Application>Microsoft Office PowerPoint</Application>
  <PresentationFormat>On-screen Show (16:9)</PresentationFormat>
  <Paragraphs>173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Finance</dc:title>
  <dc:subject>PptxGenJS Presentation</dc:subject>
  <dc:creator>PptxGenJS</dc:creator>
  <cp:lastModifiedBy>Israr Ahmad</cp:lastModifiedBy>
  <cp:revision>10</cp:revision>
  <dcterms:created xsi:type="dcterms:W3CDTF">2026-05-04T02:48:00Z</dcterms:created>
  <dcterms:modified xsi:type="dcterms:W3CDTF">2026-05-11T02:19:55Z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D4D6A639BB2F4F45A38B1712D18A89C4_12</vt:lpwstr>
  </property>
  <property fmtid="{D5CDD505-2E9C-101B-9397-08002B2CF9AE}" pid="3" name="KSOProductBuildVer">
    <vt:lpwstr>1033-12.1.0.25242</vt:lpwstr>
  </property>
</Properties>
</file>