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70" r:id="rId26"/>
    <p:sldId id="271" r:id="rId27"/>
    <p:sldId id="272" r:id="rId28"/>
    <p:sldId id="273" r:id="rId2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2" Type="http://schemas.openxmlformats.org/officeDocument/2006/relationships/notesSlide" Target="../notesSlides/notesSlide5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42.xml"/><Relationship Id="rId3" Type="http://schemas.openxmlformats.org/officeDocument/2006/relationships/tags" Target="../tags/tag15.xml"/><Relationship Id="rId29" Type="http://schemas.openxmlformats.org/officeDocument/2006/relationships/tags" Target="../tags/tag41.xml"/><Relationship Id="rId28" Type="http://schemas.openxmlformats.org/officeDocument/2006/relationships/tags" Target="../tags/tag40.xml"/><Relationship Id="rId27" Type="http://schemas.openxmlformats.org/officeDocument/2006/relationships/tags" Target="../tags/tag39.xml"/><Relationship Id="rId26" Type="http://schemas.openxmlformats.org/officeDocument/2006/relationships/tags" Target="../tags/tag38.xml"/><Relationship Id="rId25" Type="http://schemas.openxmlformats.org/officeDocument/2006/relationships/tags" Target="../tags/tag3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4" Type="http://schemas.openxmlformats.org/officeDocument/2006/relationships/notesSlide" Target="../notesSlides/notesSlide6.xml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74.xml"/><Relationship Id="rId31" Type="http://schemas.openxmlformats.org/officeDocument/2006/relationships/tags" Target="../tags/tag73.xml"/><Relationship Id="rId30" Type="http://schemas.openxmlformats.org/officeDocument/2006/relationships/tags" Target="../tags/tag72.xml"/><Relationship Id="rId3" Type="http://schemas.openxmlformats.org/officeDocument/2006/relationships/tags" Target="../tags/tag45.xml"/><Relationship Id="rId29" Type="http://schemas.openxmlformats.org/officeDocument/2006/relationships/tags" Target="../tags/tag71.xml"/><Relationship Id="rId28" Type="http://schemas.openxmlformats.org/officeDocument/2006/relationships/tags" Target="../tags/tag70.xml"/><Relationship Id="rId27" Type="http://schemas.openxmlformats.org/officeDocument/2006/relationships/tags" Target="../tags/tag69.xml"/><Relationship Id="rId26" Type="http://schemas.openxmlformats.org/officeDocument/2006/relationships/tags" Target="../tags/tag68.xml"/><Relationship Id="rId25" Type="http://schemas.openxmlformats.org/officeDocument/2006/relationships/tags" Target="../tags/tag67.xml"/><Relationship Id="rId24" Type="http://schemas.openxmlformats.org/officeDocument/2006/relationships/tags" Target="../tags/tag66.xml"/><Relationship Id="rId23" Type="http://schemas.openxmlformats.org/officeDocument/2006/relationships/tags" Target="../tags/tag65.xml"/><Relationship Id="rId22" Type="http://schemas.openxmlformats.org/officeDocument/2006/relationships/tags" Target="../tags/tag64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8" Type="http://schemas.openxmlformats.org/officeDocument/2006/relationships/notesSlide" Target="../notesSlides/notesSlide8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tags" Target="../tags/tag7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731520"/>
            <a:ext cx="2926080" cy="2926080"/>
          </a:xfrm>
          <a:prstGeom prst="ellipse">
            <a:avLst/>
          </a:prstGeom>
          <a:solidFill>
            <a:srgbClr val="0C4D5A">
              <a:alpha val="80000"/>
            </a:srgbClr>
          </a:solidFill>
          <a:ln w="12700">
            <a:solidFill>
              <a:srgbClr val="0C4D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182880"/>
            <a:ext cx="1645920" cy="1645920"/>
          </a:xfrm>
          <a:prstGeom prst="ellipse">
            <a:avLst/>
          </a:prstGeom>
          <a:solidFill>
            <a:srgbClr val="F4A261">
              <a:alpha val="4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548640"/>
            <a:ext cx="7772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4A261"/>
                </a:solidFill>
              </a:rPr>
              <a:t>INTRODUCTION TO MANAGEMENT  ·  CLASS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960120"/>
            <a:ext cx="777240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Introduction to</a:t>
            </a:r>
            <a:endParaRPr lang="en-US" sz="4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Accounting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30352" y="315468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B2DFE4"/>
                </a:solidFill>
              </a:rPr>
              <a:t>Basics, Principles &amp; Core Concepts  ·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0352" y="3584448"/>
            <a:ext cx="38404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3749040"/>
            <a:ext cx="77724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B2DFE4"/>
                </a:solidFill>
              </a:rPr>
              <a:t>"Accounting is the language of business."</a:t>
            </a:r>
            <a:endParaRPr lang="en-US" sz="1250" dirty="0"/>
          </a:p>
          <a:p>
            <a:pPr marL="0" indent="0" algn="l">
              <a:buNone/>
            </a:pPr>
            <a:r>
              <a:rPr lang="en-US" sz="1250" i="1" dirty="0">
                <a:solidFill>
                  <a:srgbClr val="B2DFE4"/>
                </a:solidFill>
              </a:rPr>
              <a:t>— Warren Buffett</a:t>
            </a:r>
            <a:endParaRPr lang="en-US" sz="1250" dirty="0"/>
          </a:p>
        </p:txBody>
      </p:sp>
      <p:sp>
        <p:nvSpPr>
          <p:cNvPr id="10" name="Text Box 9"/>
          <p:cNvSpPr txBox="1"/>
          <p:nvPr/>
        </p:nvSpPr>
        <p:spPr>
          <a:xfrm>
            <a:off x="5313045" y="4064635"/>
            <a:ext cx="3921125" cy="735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solidFill>
                  <a:schemeClr val="bg1"/>
                </a:solidFill>
                <a:latin typeface="Georgia" panose="02040502050405020303" charset="0"/>
                <a:cs typeface="Georgia" panose="02040502050405020303" charset="0"/>
              </a:rPr>
              <a:t>Instructor : Dr. Israr Ahmad</a:t>
            </a:r>
            <a:endParaRPr lang="en-US">
              <a:solidFill>
                <a:schemeClr val="bg1"/>
              </a:solidFill>
              <a:latin typeface="Georgia" panose="02040502050405020303" charset="0"/>
              <a:cs typeface="Georgia" panose="02040502050405020303" charset="0"/>
            </a:endParaRPr>
          </a:p>
          <a:p>
            <a:r>
              <a:rPr lang="en-US">
                <a:solidFill>
                  <a:schemeClr val="bg1"/>
                </a:solidFill>
                <a:latin typeface="Georgia" panose="02040502050405020303" charset="0"/>
                <a:cs typeface="Georgia" panose="02040502050405020303" charset="0"/>
              </a:rPr>
              <a:t>Date : 2026/05/09</a:t>
            </a:r>
            <a:endParaRPr lang="en-US">
              <a:solidFill>
                <a:schemeClr val="bg1"/>
              </a:solidFill>
              <a:latin typeface="Georgia" panose="02040502050405020303" charset="0"/>
              <a:cs typeface="Georgia" panose="020405020504050203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CLASS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493776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32688"/>
            <a:ext cx="64008" cy="4937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1"/>
            </p:custDataLst>
          </p:nvPr>
        </p:nvSpPr>
        <p:spPr>
          <a:xfrm>
            <a:off x="2468880" y="1024128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Welcome, Recap &amp; Class 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17904"/>
            <a:ext cx="8412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17904"/>
            <a:ext cx="64008" cy="4937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2"/>
            </p:custDataLst>
          </p:nvPr>
        </p:nvSpPr>
        <p:spPr>
          <a:xfrm>
            <a:off x="2468880" y="1609344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What is Accounting? Definition &amp; Importance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8412480" cy="493776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03120"/>
            <a:ext cx="64008" cy="4937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3"/>
            </p:custDataLst>
          </p:nvPr>
        </p:nvSpPr>
        <p:spPr>
          <a:xfrm>
            <a:off x="548640" y="219456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>
            <p:custDataLst>
              <p:tags r:id="rId4"/>
            </p:custDataLst>
          </p:nvPr>
        </p:nvSpPr>
        <p:spPr>
          <a:xfrm>
            <a:off x="2468880" y="2194560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Branches of Accounting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88336"/>
            <a:ext cx="8412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88336"/>
            <a:ext cx="64008" cy="4937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5"/>
            </p:custDataLst>
          </p:nvPr>
        </p:nvSpPr>
        <p:spPr>
          <a:xfrm>
            <a:off x="548640" y="277977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>
            <p:custDataLst>
              <p:tags r:id="rId6"/>
            </p:custDataLst>
          </p:nvPr>
        </p:nvSpPr>
        <p:spPr>
          <a:xfrm>
            <a:off x="2468880" y="2779776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Accounting Principles, Concepts &amp; Equations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273552"/>
            <a:ext cx="8412480" cy="493776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73552"/>
            <a:ext cx="64008" cy="4937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7"/>
            </p:custDataLst>
          </p:nvPr>
        </p:nvSpPr>
        <p:spPr>
          <a:xfrm>
            <a:off x="548640" y="336499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>
            <p:custDataLst>
              <p:tags r:id="rId8"/>
            </p:custDataLst>
          </p:nvPr>
        </p:nvSpPr>
        <p:spPr>
          <a:xfrm>
            <a:off x="2468880" y="3364992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Financial Statements – The Big Three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858768"/>
            <a:ext cx="84124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858768"/>
            <a:ext cx="64008" cy="4937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9"/>
            </p:custDataLst>
          </p:nvPr>
        </p:nvSpPr>
        <p:spPr>
          <a:xfrm>
            <a:off x="548640" y="395020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>
            <p:custDataLst>
              <p:tags r:id="rId10"/>
            </p:custDataLst>
          </p:nvPr>
        </p:nvSpPr>
        <p:spPr>
          <a:xfrm>
            <a:off x="2468880" y="3950208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Class Activity &amp; Discussion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443984"/>
            <a:ext cx="8412480" cy="493776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443984"/>
            <a:ext cx="64008" cy="4937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>
            <p:custDataLst>
              <p:tags r:id="rId11"/>
            </p:custDataLst>
          </p:nvPr>
        </p:nvSpPr>
        <p:spPr>
          <a:xfrm>
            <a:off x="548640" y="453542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Text 29"/>
          <p:cNvSpPr/>
          <p:nvPr>
            <p:custDataLst>
              <p:tags r:id="rId12"/>
            </p:custDataLst>
          </p:nvPr>
        </p:nvSpPr>
        <p:spPr>
          <a:xfrm>
            <a:off x="2468880" y="4535424"/>
            <a:ext cx="6126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</a:rPr>
              <a:t>Recap, Q&amp;A &amp; Next Class Preview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ACCOUNTING?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96012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32688"/>
            <a:ext cx="73152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87552"/>
            <a:ext cx="8046720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2E35"/>
                </a:solidFill>
              </a:rPr>
              <a:t>Accounting is the systematic process of recording, classifying, summarizing, analyzing, and communicating financial information to help stakeholders make informed economic decisions.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1572768" cy="2761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14884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67004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Recording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154680"/>
            <a:ext cx="1115568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3246120"/>
            <a:ext cx="1426464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Enter every financial transaction in the books (journals)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38528" y="3291840"/>
            <a:ext cx="128016" cy="128016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66544" y="2084832"/>
            <a:ext cx="1572768" cy="27614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66544" y="214884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66544" y="267004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Classifying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295144" y="3154680"/>
            <a:ext cx="1115568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39696" y="3246120"/>
            <a:ext cx="1426464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Group transactions into categories (ledger accounts)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39312" y="3291840"/>
            <a:ext cx="128016" cy="128016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67328" y="2084832"/>
            <a:ext cx="1572768" cy="2761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67328" y="214884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767328" y="267004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Summarizing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95928" y="3154680"/>
            <a:ext cx="1115568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3246120"/>
            <a:ext cx="1426464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Compile data into meaningful financial statements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40096" y="3291840"/>
            <a:ext cx="128016" cy="128016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68112" y="2084832"/>
            <a:ext cx="1572768" cy="276148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68112" y="214884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468112" y="267004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Analyzing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96712" y="3154680"/>
            <a:ext cx="1115568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41264" y="3246120"/>
            <a:ext cx="1426464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Interpret financial data for performance insights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040880" y="3291840"/>
            <a:ext cx="128016" cy="128016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68896" y="2084832"/>
            <a:ext cx="1572768" cy="276148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68896" y="214884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168896" y="2670048"/>
            <a:ext cx="1572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Communicating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97496" y="3154680"/>
            <a:ext cx="1115568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3246120"/>
            <a:ext cx="1426464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Report findings to managers, investors &amp; regulators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WHO USES ACCOUNTING INFORMATION?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4023360" cy="393192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32688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🏢  INTERNAL USERS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934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Managers &amp; Directors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8366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Plan operations, set budgets &amp; evaluate performance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840480" cy="65836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8658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Owners / Shareholders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66090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Assess profitability and return on investment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6382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Employees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43814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Understand company stability &amp; wage decisions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3840480" cy="65836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4106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Internal Auditors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421538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Monitor compliance and internal controls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932688"/>
            <a:ext cx="4023360" cy="393192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932688"/>
            <a:ext cx="402336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978408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🌐  EXTERNAL USERS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155448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60934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Investors &amp; Creditors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188366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Evaluate risk before lending or investing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331720"/>
            <a:ext cx="3840480" cy="65836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38658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Government &amp; Tax Authorities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266090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Ensure tax compliance &amp; regulatory reporting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10896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16382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Customers &amp; Suppliers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343814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Assess financial stability of trading partners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886200"/>
            <a:ext cx="3840480" cy="65836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94106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External Auditors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421538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Verify accuracy of financial statements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BRANCHES OF ACCOUNTING</a:t>
            </a: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370840" y="96520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365760" y="960120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3"/>
            </p:custDataLst>
          </p:nvPr>
        </p:nvSpPr>
        <p:spPr>
          <a:xfrm>
            <a:off x="530352" y="1124712"/>
            <a:ext cx="475488" cy="47548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247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📒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115568" y="1143000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Financial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Accounting</a:t>
            </a:r>
            <a:endParaRPr lang="en-US" sz="1600" b="1" dirty="0">
              <a:solidFill>
                <a:srgbClr val="028090"/>
              </a:solidFill>
            </a:endParaRPr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530352" y="1737360"/>
            <a:ext cx="2423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525C"/>
                </a:solidFill>
              </a:rPr>
              <a:t>Preparing financial statements for external stakeholders. Governed by GAAP / IFRS.</a:t>
            </a:r>
            <a:endParaRPr lang="en-US" sz="1400" dirty="0">
              <a:solidFill>
                <a:srgbClr val="37525C"/>
              </a:solidFill>
            </a:endParaRPr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3246120" y="9601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3246120" y="960120"/>
            <a:ext cx="269748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3410712" y="1124712"/>
            <a:ext cx="475488" cy="475488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1247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3996055" y="1143000"/>
            <a:ext cx="1940560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Management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</a:rPr>
              <a:t>Accounting</a:t>
            </a:r>
            <a:endParaRPr lang="en-US" sz="1600" b="1" dirty="0">
              <a:solidFill>
                <a:srgbClr val="00A896"/>
              </a:solidFill>
            </a:endParaRPr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3410712" y="1737360"/>
            <a:ext cx="2423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525C"/>
                </a:solidFill>
              </a:rPr>
              <a:t>Internal reports to help managers plan, control &amp; make decisions. Not publicly disclosed.</a:t>
            </a:r>
            <a:endParaRPr lang="en-US" sz="1400" dirty="0">
              <a:solidFill>
                <a:srgbClr val="37525C"/>
              </a:solidFill>
            </a:endParaRPr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6126480" y="9601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6126480" y="960120"/>
            <a:ext cx="26974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6291072" y="1124712"/>
            <a:ext cx="475488" cy="475488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12471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6876288" y="1143000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</a:rPr>
              <a:t>Cost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</a:rPr>
              <a:t>Accounting</a:t>
            </a:r>
            <a:endParaRPr lang="en-US" sz="1600" b="1" dirty="0">
              <a:solidFill>
                <a:srgbClr val="F4A261"/>
              </a:solidFill>
            </a:endParaRPr>
          </a:p>
        </p:txBody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6291072" y="1737360"/>
            <a:ext cx="2423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525C"/>
                </a:solidFill>
              </a:rPr>
              <a:t>Tracking and analyzing costs of production. Helps price products &amp; cut waste.</a:t>
            </a:r>
            <a:endParaRPr lang="en-US" sz="1400" dirty="0">
              <a:solidFill>
                <a:srgbClr val="37525C"/>
              </a:solidFill>
            </a:endParaRPr>
          </a:p>
        </p:txBody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365760" y="2953512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>
            <p:custDataLst>
              <p:tags r:id="rId17"/>
            </p:custDataLst>
          </p:nvPr>
        </p:nvSpPr>
        <p:spPr>
          <a:xfrm>
            <a:off x="365760" y="2953512"/>
            <a:ext cx="269748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Shape 22"/>
          <p:cNvSpPr/>
          <p:nvPr>
            <p:custDataLst>
              <p:tags r:id="rId18"/>
            </p:custDataLst>
          </p:nvPr>
        </p:nvSpPr>
        <p:spPr>
          <a:xfrm>
            <a:off x="530352" y="3118104"/>
            <a:ext cx="475488" cy="475488"/>
          </a:xfrm>
          <a:prstGeom prst="ellipse">
            <a:avLst/>
          </a:prstGeom>
          <a:solidFill>
            <a:srgbClr val="E76F51">
              <a:alpha val="20000"/>
            </a:srgbClr>
          </a:solidFill>
          <a:ln w="12700">
            <a:solidFill>
              <a:srgbClr val="E76F51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11810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1115568" y="3136392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6F51"/>
                </a:solidFill>
              </a:rPr>
              <a:t>Auditing</a:t>
            </a:r>
            <a:endParaRPr lang="en-US" sz="1600" b="1" dirty="0">
              <a:solidFill>
                <a:srgbClr val="E76F51"/>
              </a:solidFill>
            </a:endParaRPr>
          </a:p>
        </p:txBody>
      </p:sp>
      <p:sp>
        <p:nvSpPr>
          <p:cNvPr id="27" name="Text 25"/>
          <p:cNvSpPr/>
          <p:nvPr>
            <p:custDataLst>
              <p:tags r:id="rId20"/>
            </p:custDataLst>
          </p:nvPr>
        </p:nvSpPr>
        <p:spPr>
          <a:xfrm>
            <a:off x="530352" y="3730752"/>
            <a:ext cx="2423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525C"/>
                </a:solidFill>
              </a:rPr>
              <a:t>Independent review of financial records to ensure accuracy and compliance.</a:t>
            </a:r>
            <a:endParaRPr lang="en-US" sz="1400" dirty="0">
              <a:solidFill>
                <a:srgbClr val="37525C"/>
              </a:solidFill>
            </a:endParaRPr>
          </a:p>
        </p:txBody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3246120" y="2953512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>
            <p:custDataLst>
              <p:tags r:id="rId22"/>
            </p:custDataLst>
          </p:nvPr>
        </p:nvSpPr>
        <p:spPr>
          <a:xfrm>
            <a:off x="3246120" y="2953512"/>
            <a:ext cx="269748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0" name="Shape 28"/>
          <p:cNvSpPr/>
          <p:nvPr>
            <p:custDataLst>
              <p:tags r:id="rId23"/>
            </p:custDataLst>
          </p:nvPr>
        </p:nvSpPr>
        <p:spPr>
          <a:xfrm>
            <a:off x="3410712" y="3118104"/>
            <a:ext cx="475488" cy="475488"/>
          </a:xfrm>
          <a:prstGeom prst="ellipse">
            <a:avLst/>
          </a:prstGeom>
          <a:solidFill>
            <a:srgbClr val="E9C46A">
              <a:alpha val="20000"/>
            </a:srgbClr>
          </a:solidFill>
          <a:ln w="12700">
            <a:solidFill>
              <a:srgbClr val="E9C46A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712" y="311810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32" name="Text 30"/>
          <p:cNvSpPr/>
          <p:nvPr>
            <p:custDataLst>
              <p:tags r:id="rId24"/>
            </p:custDataLst>
          </p:nvPr>
        </p:nvSpPr>
        <p:spPr>
          <a:xfrm>
            <a:off x="3995928" y="3136392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C46A"/>
                </a:solidFill>
              </a:rPr>
              <a:t>Tax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E9C46A"/>
                </a:solidFill>
              </a:rPr>
              <a:t>Accounting</a:t>
            </a:r>
            <a:endParaRPr lang="en-US" sz="1600" b="1" dirty="0">
              <a:solidFill>
                <a:srgbClr val="E9C46A"/>
              </a:solidFill>
            </a:endParaRPr>
          </a:p>
        </p:txBody>
      </p:sp>
      <p:sp>
        <p:nvSpPr>
          <p:cNvPr id="33" name="Text 31"/>
          <p:cNvSpPr/>
          <p:nvPr>
            <p:custDataLst>
              <p:tags r:id="rId25"/>
            </p:custDataLst>
          </p:nvPr>
        </p:nvSpPr>
        <p:spPr>
          <a:xfrm>
            <a:off x="3410712" y="3730752"/>
            <a:ext cx="2423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525C"/>
                </a:solidFill>
              </a:rPr>
              <a:t>Calculating &amp; filing taxes in compliance with local and international tax laws.</a:t>
            </a:r>
            <a:endParaRPr lang="en-US" sz="1400" dirty="0">
              <a:solidFill>
                <a:srgbClr val="37525C"/>
              </a:solidFill>
            </a:endParaRPr>
          </a:p>
        </p:txBody>
      </p:sp>
      <p:sp>
        <p:nvSpPr>
          <p:cNvPr id="34" name="Shape 32"/>
          <p:cNvSpPr/>
          <p:nvPr>
            <p:custDataLst>
              <p:tags r:id="rId26"/>
            </p:custDataLst>
          </p:nvPr>
        </p:nvSpPr>
        <p:spPr>
          <a:xfrm>
            <a:off x="6126480" y="2953512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>
            <p:custDataLst>
              <p:tags r:id="rId27"/>
            </p:custDataLst>
          </p:nvPr>
        </p:nvSpPr>
        <p:spPr>
          <a:xfrm>
            <a:off x="6126480" y="2953512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>
            <p:custDataLst>
              <p:tags r:id="rId28"/>
            </p:custDataLst>
          </p:nvPr>
        </p:nvSpPr>
        <p:spPr>
          <a:xfrm>
            <a:off x="6291072" y="3118104"/>
            <a:ext cx="475488" cy="47548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311810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38" name="Text 36"/>
          <p:cNvSpPr/>
          <p:nvPr>
            <p:custDataLst>
              <p:tags r:id="rId29"/>
            </p:custDataLst>
          </p:nvPr>
        </p:nvSpPr>
        <p:spPr>
          <a:xfrm>
            <a:off x="6876288" y="3136392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Government /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Fund Accounting</a:t>
            </a:r>
            <a:endParaRPr lang="en-US" sz="1600" b="1" dirty="0">
              <a:solidFill>
                <a:srgbClr val="028090"/>
              </a:solidFill>
            </a:endParaRPr>
          </a:p>
        </p:txBody>
      </p:sp>
      <p:sp>
        <p:nvSpPr>
          <p:cNvPr id="39" name="Text 37"/>
          <p:cNvSpPr/>
          <p:nvPr>
            <p:custDataLst>
              <p:tags r:id="rId30"/>
            </p:custDataLst>
          </p:nvPr>
        </p:nvSpPr>
        <p:spPr>
          <a:xfrm>
            <a:off x="6291072" y="3730752"/>
            <a:ext cx="2423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525C"/>
                </a:solidFill>
              </a:rPr>
              <a:t>Manages public sector and nonprofit finances — focused on accountability, not profit.</a:t>
            </a:r>
            <a:endParaRPr lang="en-US" sz="1400" dirty="0">
              <a:solidFill>
                <a:srgbClr val="37525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ACCOUNTING PRINCIPLES (GAAP)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1"/>
                </a:solidFill>
              </a:rPr>
              <a:t>Generally Accepted Accounting Principles (GAAP) are the standard rules all businesses must follow when preparing financial statements.</a:t>
            </a:r>
            <a:endParaRPr lang="en-US" sz="1400" i="1" dirty="0">
              <a:solidFill>
                <a:schemeClr val="tx1"/>
              </a:solidFill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65760" y="1444752"/>
            <a:ext cx="4206240" cy="73152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365760" y="1444752"/>
            <a:ext cx="64008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548640" y="150876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47"/>
                </a:solidFill>
              </a:rPr>
              <a:t>Entity Principle</a:t>
            </a:r>
            <a:endParaRPr lang="en-US" sz="125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548640" y="1819656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Business finances must be kept separate from owner's personal finances.</a:t>
            </a:r>
            <a:endParaRPr lang="en-US" sz="105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4754880" y="1444752"/>
            <a:ext cx="4206240" cy="73152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4754880" y="1444752"/>
            <a:ext cx="64008" cy="7315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4937760" y="150876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47"/>
                </a:solidFill>
              </a:rPr>
              <a:t>Going Concern</a:t>
            </a:r>
            <a:endParaRPr lang="en-US" sz="1250" dirty="0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4937760" y="1819656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Assume the business will continue operating into the foreseeable future.</a:t>
            </a:r>
            <a:endParaRPr lang="en-US" sz="1050" dirty="0"/>
          </a:p>
        </p:txBody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365760" y="2295144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365760" y="2295144"/>
            <a:ext cx="64008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548640" y="2359152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47"/>
                </a:solidFill>
              </a:rPr>
              <a:t>Accrual Principle</a:t>
            </a:r>
            <a:endParaRPr lang="en-US" sz="125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548640" y="2670048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Record revenues and expenses when earned/incurred, not when cash is received/paid.</a:t>
            </a:r>
            <a:endParaRPr lang="en-US" sz="105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4754880" y="2295144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4754880" y="2295144"/>
            <a:ext cx="64008" cy="7315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4937760" y="2359152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47"/>
                </a:solidFill>
              </a:rPr>
              <a:t>Consistency</a:t>
            </a:r>
            <a:endParaRPr lang="en-US" sz="125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4937760" y="2670048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Use the same accounting methods from one period to the next.</a:t>
            </a:r>
            <a:endParaRPr lang="en-US" sz="1050" dirty="0"/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365760" y="3145536"/>
            <a:ext cx="4206240" cy="73152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2" name="Shape 20"/>
          <p:cNvSpPr/>
          <p:nvPr>
            <p:custDataLst>
              <p:tags r:id="rId18"/>
            </p:custDataLst>
          </p:nvPr>
        </p:nvSpPr>
        <p:spPr>
          <a:xfrm>
            <a:off x="365760" y="3145536"/>
            <a:ext cx="64008" cy="7315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548640" y="3209544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47"/>
                </a:solidFill>
              </a:rPr>
              <a:t>Materiality</a:t>
            </a:r>
            <a:endParaRPr lang="en-US" sz="1250" dirty="0"/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548640" y="352044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Report all significant financial information that could affect decisions.</a:t>
            </a:r>
            <a:endParaRPr lang="en-US" sz="1050" dirty="0"/>
          </a:p>
        </p:txBody>
      </p:sp>
      <p:sp>
        <p:nvSpPr>
          <p:cNvPr id="25" name="Shape 23"/>
          <p:cNvSpPr/>
          <p:nvPr>
            <p:custDataLst>
              <p:tags r:id="rId21"/>
            </p:custDataLst>
          </p:nvPr>
        </p:nvSpPr>
        <p:spPr>
          <a:xfrm>
            <a:off x="4754880" y="3145536"/>
            <a:ext cx="4206240" cy="73152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6" name="Shape 24"/>
          <p:cNvSpPr/>
          <p:nvPr>
            <p:custDataLst>
              <p:tags r:id="rId22"/>
            </p:custDataLst>
          </p:nvPr>
        </p:nvSpPr>
        <p:spPr>
          <a:xfrm>
            <a:off x="4754880" y="3145536"/>
            <a:ext cx="64008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4937760" y="3209544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47"/>
                </a:solidFill>
              </a:rPr>
              <a:t>Prudence / Conservatism</a:t>
            </a:r>
            <a:endParaRPr lang="en-US" sz="1250" dirty="0"/>
          </a:p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4937760" y="352044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Record losses as soon as probable; record gains only when realized.</a:t>
            </a:r>
            <a:endParaRPr lang="en-US" sz="1050" dirty="0"/>
          </a:p>
        </p:txBody>
      </p:sp>
      <p:sp>
        <p:nvSpPr>
          <p:cNvPr id="29" name="Shape 27"/>
          <p:cNvSpPr/>
          <p:nvPr>
            <p:custDataLst>
              <p:tags r:id="rId25"/>
            </p:custDataLst>
          </p:nvPr>
        </p:nvSpPr>
        <p:spPr>
          <a:xfrm>
            <a:off x="365760" y="3995928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30" name="Shape 28"/>
          <p:cNvSpPr/>
          <p:nvPr>
            <p:custDataLst>
              <p:tags r:id="rId26"/>
            </p:custDataLst>
          </p:nvPr>
        </p:nvSpPr>
        <p:spPr>
          <a:xfrm>
            <a:off x="365760" y="3995928"/>
            <a:ext cx="64008" cy="7315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>
            <p:custDataLst>
              <p:tags r:id="rId27"/>
            </p:custDataLst>
          </p:nvPr>
        </p:nvSpPr>
        <p:spPr>
          <a:xfrm>
            <a:off x="548640" y="405993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47"/>
                </a:solidFill>
              </a:rPr>
              <a:t>Matching Principle</a:t>
            </a:r>
            <a:endParaRPr lang="en-US" sz="1250" dirty="0"/>
          </a:p>
        </p:txBody>
      </p:sp>
      <p:sp>
        <p:nvSpPr>
          <p:cNvPr id="32" name="Text 30"/>
          <p:cNvSpPr/>
          <p:nvPr>
            <p:custDataLst>
              <p:tags r:id="rId28"/>
            </p:custDataLst>
          </p:nvPr>
        </p:nvSpPr>
        <p:spPr>
          <a:xfrm>
            <a:off x="548640" y="4370832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Expenses must be recorded in the same period as the revenues they helped generate.</a:t>
            </a:r>
            <a:endParaRPr lang="en-US" sz="1050" dirty="0"/>
          </a:p>
        </p:txBody>
      </p:sp>
      <p:sp>
        <p:nvSpPr>
          <p:cNvPr id="33" name="Shape 31"/>
          <p:cNvSpPr/>
          <p:nvPr>
            <p:custDataLst>
              <p:tags r:id="rId29"/>
            </p:custDataLst>
          </p:nvPr>
        </p:nvSpPr>
        <p:spPr>
          <a:xfrm>
            <a:off x="4754880" y="3995928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34" name="Shape 32"/>
          <p:cNvSpPr/>
          <p:nvPr>
            <p:custDataLst>
              <p:tags r:id="rId30"/>
            </p:custDataLst>
          </p:nvPr>
        </p:nvSpPr>
        <p:spPr>
          <a:xfrm>
            <a:off x="4754880" y="3995928"/>
            <a:ext cx="64008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>
            <p:custDataLst>
              <p:tags r:id="rId31"/>
            </p:custDataLst>
          </p:nvPr>
        </p:nvSpPr>
        <p:spPr>
          <a:xfrm>
            <a:off x="4937760" y="4059936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D47"/>
                </a:solidFill>
              </a:rPr>
              <a:t>Full Disclosure</a:t>
            </a:r>
            <a:endParaRPr lang="en-US" sz="1250" dirty="0"/>
          </a:p>
        </p:txBody>
      </p:sp>
      <p:sp>
        <p:nvSpPr>
          <p:cNvPr id="36" name="Text 34"/>
          <p:cNvSpPr/>
          <p:nvPr>
            <p:custDataLst>
              <p:tags r:id="rId32"/>
            </p:custDataLst>
          </p:nvPr>
        </p:nvSpPr>
        <p:spPr>
          <a:xfrm>
            <a:off x="4937760" y="4370832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All relevant financial information must be disclosed in financial statements.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FUNDAMENTAL ACCOUNTING EQUATION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132588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24128"/>
            <a:ext cx="2286000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ASSETS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2DFE4"/>
                </a:solidFill>
              </a:rPr>
              <a:t>What you OWN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170432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261"/>
                </a:solidFill>
              </a:rPr>
              <a:t>=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429000" y="1024128"/>
            <a:ext cx="2286000" cy="1143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078992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LIABILITIES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15087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What you OWE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170432"/>
            <a:ext cx="457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A261"/>
                </a:solidFill>
              </a:rPr>
              <a:t>+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263640" y="1024128"/>
            <a:ext cx="2377440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7899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EQUITY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15087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What you're WORTH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87168"/>
            <a:ext cx="8412480" cy="64008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87168"/>
            <a:ext cx="64008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51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ASSETS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2651760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525C"/>
                </a:solidFill>
              </a:rPr>
              <a:t>Cash · Inventory · Land · Equipment · Accounts Receivable · Buildings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236976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36976"/>
            <a:ext cx="64008" cy="640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0156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LIABILITIES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3401568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525C"/>
                </a:solidFill>
              </a:rPr>
              <a:t>Bank Loans · Accounts Payable · Mortgages · Bonds · Tax Payable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986784"/>
            <a:ext cx="8412480" cy="64008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986784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5137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OWNER'S EQUITY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4151376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525C"/>
                </a:solidFill>
              </a:rPr>
              <a:t>Share Capital · Retained Earnings · Net Profit · Reserves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DOUBLE-ENTRY BOOKKEEPING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74980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32688"/>
            <a:ext cx="73152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8092440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E35"/>
                </a:solidFill>
              </a:rPr>
              <a:t>The Golden Rule: Every transaction has TWO equal and opposite effects — a DEBIT and a CREDIT. The equation must always balance.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41148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47088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DEBIT (Dr)  ←  Left Side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810512"/>
            <a:ext cx="411480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47088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CREDIT (Cr)  →  Right Side</a:t>
            </a:r>
            <a:endParaRPr lang="en-US" sz="1400" dirty="0"/>
          </a:p>
        </p:txBody>
      </p:sp>
      <p:sp>
        <p:nvSpPr>
          <p:cNvPr id="11" name="Shape 9"/>
          <p:cNvSpPr/>
          <p:nvPr>
            <p:custDataLst>
              <p:tags r:id="rId1"/>
            </p:custDataLst>
          </p:nvPr>
        </p:nvSpPr>
        <p:spPr>
          <a:xfrm>
            <a:off x="365760" y="2331720"/>
            <a:ext cx="4114800" cy="38404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2"/>
            </p:custDataLst>
          </p:nvPr>
        </p:nvSpPr>
        <p:spPr>
          <a:xfrm>
            <a:off x="502920" y="241401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Increases Assets</a:t>
            </a:r>
            <a:endParaRPr lang="en-US" sz="1200" dirty="0"/>
          </a:p>
        </p:txBody>
      </p:sp>
      <p:sp>
        <p:nvSpPr>
          <p:cNvPr id="13" name="Shape 11"/>
          <p:cNvSpPr/>
          <p:nvPr>
            <p:custDataLst>
              <p:tags r:id="rId3"/>
            </p:custDataLst>
          </p:nvPr>
        </p:nvSpPr>
        <p:spPr>
          <a:xfrm>
            <a:off x="4663440" y="2331720"/>
            <a:ext cx="4114800" cy="38404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4"/>
            </p:custDataLst>
          </p:nvPr>
        </p:nvSpPr>
        <p:spPr>
          <a:xfrm>
            <a:off x="4800600" y="241401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Decreases Assets</a:t>
            </a:r>
            <a:endParaRPr lang="en-US" sz="1200" dirty="0"/>
          </a:p>
        </p:txBody>
      </p:sp>
      <p:sp>
        <p:nvSpPr>
          <p:cNvPr id="15" name="Shape 13"/>
          <p:cNvSpPr/>
          <p:nvPr>
            <p:custDataLst>
              <p:tags r:id="rId5"/>
            </p:custDataLst>
          </p:nvPr>
        </p:nvSpPr>
        <p:spPr>
          <a:xfrm>
            <a:off x="365760" y="277063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6"/>
            </p:custDataLst>
          </p:nvPr>
        </p:nvSpPr>
        <p:spPr>
          <a:xfrm>
            <a:off x="502920" y="285292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Decreases Liabilities</a:t>
            </a:r>
            <a:endParaRPr lang="en-US" sz="1200" dirty="0"/>
          </a:p>
        </p:txBody>
      </p:sp>
      <p:sp>
        <p:nvSpPr>
          <p:cNvPr id="17" name="Shape 15"/>
          <p:cNvSpPr/>
          <p:nvPr>
            <p:custDataLst>
              <p:tags r:id="rId7"/>
            </p:custDataLst>
          </p:nvPr>
        </p:nvSpPr>
        <p:spPr>
          <a:xfrm>
            <a:off x="4663440" y="277063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8"/>
            </p:custDataLst>
          </p:nvPr>
        </p:nvSpPr>
        <p:spPr>
          <a:xfrm>
            <a:off x="4800600" y="285292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Increases Liabilities</a:t>
            </a:r>
            <a:endParaRPr lang="en-US" sz="1200" dirty="0"/>
          </a:p>
        </p:txBody>
      </p:sp>
      <p:sp>
        <p:nvSpPr>
          <p:cNvPr id="19" name="Shape 17"/>
          <p:cNvSpPr/>
          <p:nvPr>
            <p:custDataLst>
              <p:tags r:id="rId9"/>
            </p:custDataLst>
          </p:nvPr>
        </p:nvSpPr>
        <p:spPr>
          <a:xfrm>
            <a:off x="365760" y="3209544"/>
            <a:ext cx="4114800" cy="38404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0"/>
            </p:custDataLst>
          </p:nvPr>
        </p:nvSpPr>
        <p:spPr>
          <a:xfrm>
            <a:off x="502920" y="329184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Decreases Equity</a:t>
            </a:r>
            <a:endParaRPr lang="en-US" sz="1200" dirty="0"/>
          </a:p>
        </p:txBody>
      </p:sp>
      <p:sp>
        <p:nvSpPr>
          <p:cNvPr id="21" name="Shape 19"/>
          <p:cNvSpPr/>
          <p:nvPr>
            <p:custDataLst>
              <p:tags r:id="rId11"/>
            </p:custDataLst>
          </p:nvPr>
        </p:nvSpPr>
        <p:spPr>
          <a:xfrm>
            <a:off x="4663440" y="3209544"/>
            <a:ext cx="4114800" cy="38404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2"/>
            </p:custDataLst>
          </p:nvPr>
        </p:nvSpPr>
        <p:spPr>
          <a:xfrm>
            <a:off x="4800600" y="329184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Increases Equity</a:t>
            </a:r>
            <a:endParaRPr lang="en-US" sz="1200" dirty="0"/>
          </a:p>
        </p:txBody>
      </p:sp>
      <p:sp>
        <p:nvSpPr>
          <p:cNvPr id="23" name="Shape 21"/>
          <p:cNvSpPr/>
          <p:nvPr>
            <p:custDataLst>
              <p:tags r:id="rId13"/>
            </p:custDataLst>
          </p:nvPr>
        </p:nvSpPr>
        <p:spPr>
          <a:xfrm>
            <a:off x="365760" y="3648456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4" name="Text 22"/>
          <p:cNvSpPr/>
          <p:nvPr>
            <p:custDataLst>
              <p:tags r:id="rId14"/>
            </p:custDataLst>
          </p:nvPr>
        </p:nvSpPr>
        <p:spPr>
          <a:xfrm>
            <a:off x="502920" y="373075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Increases Expenses</a:t>
            </a:r>
            <a:endParaRPr lang="en-US" sz="1200" dirty="0"/>
          </a:p>
        </p:txBody>
      </p:sp>
      <p:sp>
        <p:nvSpPr>
          <p:cNvPr id="25" name="Shape 23"/>
          <p:cNvSpPr/>
          <p:nvPr>
            <p:custDataLst>
              <p:tags r:id="rId15"/>
            </p:custDataLst>
          </p:nvPr>
        </p:nvSpPr>
        <p:spPr>
          <a:xfrm>
            <a:off x="4663440" y="3648456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16"/>
            </p:custDataLst>
          </p:nvPr>
        </p:nvSpPr>
        <p:spPr>
          <a:xfrm>
            <a:off x="4800600" y="373075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Increases Revenue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solidFill>
            <a:srgbClr val="0A3D47">
              <a:alpha val="12000"/>
            </a:srgbClr>
          </a:solidFill>
          <a:ln w="12700">
            <a:solidFill>
              <a:srgbClr val="0A3D47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0624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47"/>
                </a:solidFill>
              </a:rPr>
              <a:t>Example: A business buys equipment for $5,000 cash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4480560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525C"/>
                </a:solidFill>
              </a:rPr>
              <a:t>Dr Equipment $5,000  (Asset ↑)     |     Cr Cash $5,000  (Asset ↓)   →   Both sides balance ✓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FINANCIAL STATEMENTS – THE BIG THREE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1"/>
                </a:solidFill>
              </a:rPr>
              <a:t>Financial statements are formal records that communicate a business's financial position and performance to stakeholders.</a:t>
            </a:r>
            <a:endParaRPr lang="en-US" sz="1400" i="1" dirty="0">
              <a:solidFill>
                <a:schemeClr val="tx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2715768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2715768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508760"/>
            <a:ext cx="475488" cy="475488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087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5568" y="149047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47"/>
                </a:solidFill>
              </a:rPr>
              <a:t>Income Statement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07D8B"/>
                </a:solidFill>
              </a:rPr>
              <a:t>(Profit &amp; Loss Account)</a:t>
            </a:r>
            <a:endParaRPr lang="en-US" sz="1050" i="1" dirty="0">
              <a:solidFill>
                <a:srgbClr val="607D8B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2514600" cy="32004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660904"/>
            <a:ext cx="2450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28090"/>
                </a:solidFill>
              </a:rPr>
              <a:t>Did the business make a profit?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99232"/>
            <a:ext cx="251460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Revenue / Sales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Cost of Goods Sold (COGS)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Gross Profit = Revenue − COGS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Operating Expenses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Net Profit / Net Loss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389888"/>
            <a:ext cx="2715768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389888"/>
            <a:ext cx="2715768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10712" y="1508760"/>
            <a:ext cx="475488" cy="475488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15087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95928" y="149047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199339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47"/>
                </a:solidFill>
              </a:rPr>
              <a:t>Balance Sheet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337560" y="233172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07D8B"/>
                </a:solidFill>
              </a:rPr>
              <a:t>(Statement of Financial Position)</a:t>
            </a:r>
            <a:endParaRPr lang="en-US" sz="1050" i="1" dirty="0">
              <a:solidFill>
                <a:srgbClr val="607D8B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337560" y="2633472"/>
            <a:ext cx="2514600" cy="320040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2660904"/>
            <a:ext cx="2450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4A261"/>
                </a:solidFill>
              </a:rPr>
              <a:t>What does the business own and owe?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2999232"/>
            <a:ext cx="251460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Assets (current &amp; non-current)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Liabilities (current &amp; long-term)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Owner's Equity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Must always balance: A = L + 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Snapshot at a specific date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1389888"/>
            <a:ext cx="2715768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389888"/>
            <a:ext cx="2715768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91072" y="1508760"/>
            <a:ext cx="475488" cy="475488"/>
          </a:xfrm>
          <a:prstGeom prst="ellipse">
            <a:avLst/>
          </a:prstGeom>
          <a:solidFill>
            <a:srgbClr val="E76F51">
              <a:alpha val="20000"/>
            </a:srgbClr>
          </a:solidFill>
          <a:ln w="12700">
            <a:solidFill>
              <a:srgbClr val="E76F51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15087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76288" y="149047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1993392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47"/>
                </a:solidFill>
              </a:rPr>
              <a:t>Cash Flow Statement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217920" y="2331720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07D8B"/>
                </a:solidFill>
              </a:rPr>
              <a:t>(Statement of Cash Flows)</a:t>
            </a:r>
            <a:endParaRPr lang="en-US" sz="1050" i="1" dirty="0">
              <a:solidFill>
                <a:srgbClr val="607D8B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17920" y="2633472"/>
            <a:ext cx="2514600" cy="320040"/>
          </a:xfrm>
          <a:prstGeom prst="rect">
            <a:avLst/>
          </a:prstGeom>
          <a:solidFill>
            <a:srgbClr val="E76F51">
              <a:alpha val="15000"/>
            </a:srgbClr>
          </a:solidFill>
          <a:ln w="12700">
            <a:solidFill>
              <a:srgbClr val="E76F51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2660904"/>
            <a:ext cx="24505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E76F51"/>
                </a:solidFill>
              </a:rPr>
              <a:t>Where did the money come from and go?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2999232"/>
            <a:ext cx="251460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Operating Activities (day-to-day)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Investing Activities (assets bought/sold)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Financing Activities (loans, dividends)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Net Change in Cash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525C"/>
                </a:solidFill>
              </a:rPr>
              <a:t>Differs from profit — cash is king!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📋  INCOME STATEMENT – HOW IT WORKS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942848"/>
            <a:ext cx="4572000" cy="393192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32815"/>
            <a:ext cx="4572000" cy="42989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4389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ABC Company – Income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44168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For the Year Ended Dec 31,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Revenue (Sales)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91840" y="162763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28090"/>
                </a:solidFill>
              </a:rPr>
              <a:t>$500,000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Less: Cost of Goods Sold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187452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76F51"/>
                </a:solidFill>
              </a:rPr>
              <a:t>($280,000)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093976"/>
            <a:ext cx="4572000" cy="22860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2140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GROSS PROFIT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2121408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</a:rPr>
              <a:t>$220,000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368296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Less: Operating Expenses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615184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  · Salaries &amp; Wages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2615184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76F51"/>
                </a:solidFill>
              </a:rPr>
              <a:t>($75,000)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86207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  · Rent &amp; Utilities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0" y="286207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76F51"/>
                </a:solidFill>
              </a:rPr>
              <a:t>($20,000)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  · Marketing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310896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76F51"/>
                </a:solidFill>
              </a:rPr>
              <a:t>($15,000)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35584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  · Depreciation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3355848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76F51"/>
                </a:solidFill>
              </a:rPr>
              <a:t>($10,000)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575304"/>
            <a:ext cx="4572000" cy="22860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02736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OPERATING PROFIT (EBIT)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91840" y="3602736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</a:rPr>
              <a:t>$100,000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849624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Less: Interest Expense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91840" y="3849624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76F51"/>
                </a:solidFill>
              </a:rPr>
              <a:t>($8,000)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069080"/>
            <a:ext cx="4572000" cy="22860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96512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NET PROFIT BEFORE TAX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91840" y="409651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</a:rPr>
              <a:t>$92,000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34340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525C"/>
                </a:solidFill>
              </a:rPr>
              <a:t>Less: Income Tax (25%)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91840" y="434340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E76F51"/>
                </a:solidFill>
              </a:rPr>
              <a:t>($23,000)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562856"/>
            <a:ext cx="4572000" cy="22860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9028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NET PROFIT (AFTER TAX)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91840" y="4590288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</a:rPr>
              <a:t>$69,000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212080" y="932688"/>
            <a:ext cx="35661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212080" y="932688"/>
            <a:ext cx="356616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21808" y="1042416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47"/>
                </a:solidFill>
              </a:rPr>
              <a:t>Key Ratios from This Statement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21808" y="141732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525C"/>
                </a:solidFill>
              </a:rPr>
              <a:t>Gross Profit Margin: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78040" y="141732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A261"/>
                </a:solidFill>
              </a:rPr>
              <a:t>220,000 / 500,000 = 44%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21808" y="17830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525C"/>
                </a:solidFill>
              </a:rPr>
              <a:t>Net Profit Margin: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78040" y="178308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A261"/>
                </a:solidFill>
              </a:rPr>
              <a:t>69,000 / 500,000 = 13.8%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21808" y="214884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525C"/>
                </a:solidFill>
              </a:rPr>
              <a:t>Operating Margin: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78040" y="2148840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A261"/>
                </a:solidFill>
              </a:rPr>
              <a:t>100,000 / 500,000 = 20%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12080" y="2712720"/>
            <a:ext cx="3566160" cy="74980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12080" y="2712720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76672" y="285292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Gross Profit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76672" y="317296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25C"/>
                </a:solidFill>
              </a:rPr>
              <a:t>Revenue  −  COGS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276215" y="3547745"/>
            <a:ext cx="3501390" cy="749935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12080" y="3547745"/>
            <a:ext cx="64008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76545" y="3723640"/>
            <a:ext cx="329184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Operating Profit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76672" y="4041648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25C"/>
                </a:solidFill>
              </a:rPr>
              <a:t>Gross Profit  −  Opex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211445" y="4393565"/>
            <a:ext cx="3566160" cy="74980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12080" y="4393565"/>
            <a:ext cx="64008" cy="7498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94960" y="4516755"/>
            <a:ext cx="3291840" cy="237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Net Profit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376545" y="4755515"/>
            <a:ext cx="3291840" cy="320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25C"/>
                </a:solidFill>
              </a:rPr>
              <a:t>Operating Profit  −  Tax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⚖️  BALANCE SHEET – UNDERSTANDING STRUCTURE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4114800" cy="395020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32688"/>
            <a:ext cx="41148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78408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ASSETS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Current Assets (short-term, &lt; 1 year)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25C"/>
                </a:solidFill>
              </a:rPr>
              <a:t>Cash &amp;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828800"/>
            <a:ext cx="139763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7525C"/>
                </a:solidFill>
              </a:rPr>
              <a:t>$42,000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3969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25C"/>
                </a:solidFill>
              </a:rPr>
              <a:t>Accounts Receivable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2139696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7525C"/>
                </a:solidFill>
              </a:rPr>
              <a:t>$28,000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45059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25C"/>
                </a:solidFill>
              </a:rPr>
              <a:t>Inventory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450592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7525C"/>
                </a:solidFill>
              </a:rPr>
              <a:t>$55,000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76148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25C"/>
                </a:solidFill>
              </a:rPr>
              <a:t>Prepaid Expenses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76148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7525C"/>
                </a:solidFill>
              </a:rPr>
              <a:t>$5,000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081528"/>
            <a:ext cx="3840480" cy="27432"/>
          </a:xfrm>
          <a:prstGeom prst="rect">
            <a:avLst/>
          </a:prstGeom>
          <a:solidFill>
            <a:srgbClr val="607D8B">
              <a:alpha val="40000"/>
            </a:srgbClr>
          </a:solidFill>
          <a:ln w="12700">
            <a:solidFill>
              <a:srgbClr val="607D8B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2724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Total Current Assets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312724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8090"/>
                </a:solidFill>
              </a:rPr>
              <a:t>$130,000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4747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Non-Current Assets (long-term, &gt; 1 year)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25C"/>
                </a:solidFill>
              </a:rPr>
              <a:t>Property &amp; Equipment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3794760"/>
            <a:ext cx="1417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7525C"/>
                </a:solidFill>
              </a:rPr>
              <a:t>$200,000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096512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25C"/>
                </a:solidFill>
              </a:rPr>
              <a:t>Less: Depreciation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4096512"/>
            <a:ext cx="1417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E76F51"/>
                </a:solidFill>
              </a:rPr>
              <a:t>($30,000)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443984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47"/>
                </a:solidFill>
              </a:rPr>
              <a:t>TOTAL ASSETS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26080" y="4443984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A3D47"/>
                </a:solidFill>
              </a:rPr>
              <a:t>$300,000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932688"/>
            <a:ext cx="4114800" cy="395020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932688"/>
            <a:ext cx="411480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978408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LIABILITIES + EQUITY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00600" y="148132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Current Liabilities (&lt; 1 year)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1828800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25C"/>
                </a:solidFill>
              </a:rPr>
              <a:t>Accounts Payable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1828800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7525C"/>
                </a:solidFill>
              </a:rPr>
              <a:t>$30,000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2139696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25C"/>
                </a:solidFill>
              </a:rPr>
              <a:t>Short-term Loans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06640" y="2139696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7525C"/>
                </a:solidFill>
              </a:rPr>
              <a:t>$20,000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2450592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25C"/>
                </a:solidFill>
              </a:rPr>
              <a:t>Accrued Expenses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06640" y="2450592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7525C"/>
                </a:solidFill>
              </a:rPr>
              <a:t>$10,000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2798064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</a:rPr>
              <a:t>Total Current Liabilities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06640" y="279806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76F51"/>
                </a:solidFill>
              </a:rPr>
              <a:t>$60,000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314553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51"/>
                </a:solidFill>
              </a:rPr>
              <a:t>Long-term Liabilities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3474720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25C"/>
                </a:solidFill>
              </a:rPr>
              <a:t>Bank Loan (5-year)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3474720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7525C"/>
                </a:solidFill>
              </a:rPr>
              <a:t>$90,000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3794760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</a:rPr>
              <a:t>TOTAL LIABILITIES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06640" y="3794760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76F51"/>
                </a:solidFill>
              </a:rPr>
              <a:t>$150,000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00600" y="4096512"/>
            <a:ext cx="3840480" cy="27432"/>
          </a:xfrm>
          <a:prstGeom prst="rect">
            <a:avLst/>
          </a:prstGeom>
          <a:solidFill>
            <a:srgbClr val="607D8B">
              <a:alpha val="40000"/>
            </a:srgbClr>
          </a:solidFill>
          <a:ln w="12700">
            <a:solidFill>
              <a:srgbClr val="607D8B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1605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Owner's Equity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92040" y="4453128"/>
            <a:ext cx="2606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525C"/>
                </a:solidFill>
              </a:rPr>
              <a:t>Share Capital + Retained Earnings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06640" y="4453128"/>
            <a:ext cx="1234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896"/>
                </a:solidFill>
              </a:rPr>
              <a:t>$150,000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402582" y="932688"/>
            <a:ext cx="338328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25112" y="2743200"/>
            <a:ext cx="3383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</a:rPr>
              <a:t>=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💸  CASH FLOW STATEMENT – TRACKING THE MONEY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7525C"/>
                </a:solidFill>
              </a:rPr>
              <a:t>A business can be profitable but still run out of cash. The Cash Flow Statement shows WHERE money comes from and WHERE it goes.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2715768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89888"/>
            <a:ext cx="2715768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</a:rPr>
              <a:t>1️⃣  Operating Activities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D8B"/>
                </a:solidFill>
              </a:rPr>
              <a:t>Day-to-day business operations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514600" cy="27432"/>
          </a:xfrm>
          <a:prstGeom prst="rect">
            <a:avLst/>
          </a:prstGeom>
          <a:solidFill>
            <a:srgbClr val="B2DFE4"/>
          </a:solidFill>
          <a:ln w="12700">
            <a:solidFill>
              <a:srgbClr val="B2DF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25146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525C"/>
                </a:solidFill>
              </a:rPr>
              <a:t>Cash received from customers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525C"/>
                </a:solidFill>
              </a:rPr>
              <a:t>Cash paid to suppliers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525C"/>
                </a:solidFill>
              </a:rPr>
              <a:t>Cash paid to employees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525C"/>
                </a:solidFill>
              </a:rPr>
              <a:t>Tax payments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005072"/>
            <a:ext cx="2514600" cy="50292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4078224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Net Cash: +$85,000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1389888"/>
            <a:ext cx="2715768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389888"/>
            <a:ext cx="2715768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508760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2️⃣  Investing Activities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892808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D8B"/>
                </a:solidFill>
              </a:rPr>
              <a:t>Buying/selling long-term assets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2194560"/>
            <a:ext cx="2514600" cy="27432"/>
          </a:xfrm>
          <a:prstGeom prst="rect">
            <a:avLst/>
          </a:prstGeom>
          <a:solidFill>
            <a:srgbClr val="B2DFE4"/>
          </a:solidFill>
          <a:ln w="12700">
            <a:solidFill>
              <a:srgbClr val="B2DF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286000"/>
            <a:ext cx="25146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525C"/>
                </a:solidFill>
              </a:rPr>
              <a:t>Purchase of equipment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525C"/>
                </a:solidFill>
              </a:rPr>
              <a:t>Sale of investments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525C"/>
                </a:solidFill>
              </a:rPr>
              <a:t>Purchase of property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525C"/>
                </a:solidFill>
              </a:rPr>
              <a:t>Loans given to others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4005072"/>
            <a:ext cx="2514600" cy="502920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4078224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</a:rPr>
              <a:t>Net Cash: −$45,000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1389888"/>
            <a:ext cx="2715768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389888"/>
            <a:ext cx="2715768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508760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</a:rPr>
              <a:t>3️⃣  Financing Activities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1892808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D8B"/>
                </a:solidFill>
              </a:rPr>
              <a:t>Raising and repaying capital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194560"/>
            <a:ext cx="2514600" cy="27432"/>
          </a:xfrm>
          <a:prstGeom prst="rect">
            <a:avLst/>
          </a:prstGeom>
          <a:solidFill>
            <a:srgbClr val="B2DFE4"/>
          </a:solidFill>
          <a:ln w="12700">
            <a:solidFill>
              <a:srgbClr val="B2DF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286000"/>
            <a:ext cx="25146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525C"/>
                </a:solidFill>
              </a:rPr>
              <a:t>Issuing shares / new equity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525C"/>
                </a:solidFill>
              </a:rPr>
              <a:t>Borrowing from banks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525C"/>
                </a:solidFill>
              </a:rPr>
              <a:t>Repaying loans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525C"/>
                </a:solidFill>
              </a:rPr>
              <a:t>Paying dividends to shareholders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005072"/>
            <a:ext cx="2514600" cy="502920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4078224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Net Cash: +$20,000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4864608"/>
            <a:ext cx="8412480" cy="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ACCOUNTING vs BOOKKEEPING — WHAT'S THE DIFFERENCE?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4160520" cy="395020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32688"/>
            <a:ext cx="416052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📓  BOOKKEEPING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84048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Records daily financial transactions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Maintains journals &amp; ledgers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Routine, clerical in nature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No interpretation or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Foundation for accounting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Example: Recording a $500 sale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32688"/>
            <a:ext cx="4160520" cy="3950208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32688"/>
            <a:ext cx="41605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78408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📊  ACCOUNTING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1536192"/>
            <a:ext cx="384048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Uses bookkeeping data for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Prepares financial statements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Requires professional judgment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Involves interpretation &amp; reporting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Supports management decisions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</a:rPr>
              <a:t>Example: Analyzing profitability trends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645152"/>
            <a:ext cx="8412480" cy="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ACCOUNTING CYCLE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7525C"/>
                </a:solidFill>
              </a:rPr>
              <a:t>A repeating process completed every accounting period (monthly, quarterly, or annually).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1417320" cy="1417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6304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Identify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Transactions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0240" y="1947672"/>
            <a:ext cx="457200" cy="109728"/>
          </a:xfrm>
          <a:prstGeom prst="rect">
            <a:avLst/>
          </a:prstGeom>
          <a:solidFill>
            <a:srgbClr val="607D8B">
              <a:alpha val="70000"/>
            </a:srgbClr>
          </a:solidFill>
          <a:ln w="12700">
            <a:solidFill>
              <a:srgbClr val="607D8B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04288" y="1883664"/>
            <a:ext cx="109728" cy="256032"/>
          </a:xfrm>
          <a:prstGeom prst="rect">
            <a:avLst/>
          </a:prstGeom>
          <a:solidFill>
            <a:srgbClr val="607D8B">
              <a:alpha val="70000"/>
            </a:srgbClr>
          </a:solidFill>
          <a:ln w="12700">
            <a:solidFill>
              <a:srgbClr val="607D8B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353312"/>
            <a:ext cx="1417320" cy="1417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46304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993392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Record 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Journals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77640" y="1947672"/>
            <a:ext cx="457200" cy="109728"/>
          </a:xfrm>
          <a:prstGeom prst="rect">
            <a:avLst/>
          </a:prstGeom>
          <a:solidFill>
            <a:srgbClr val="607D8B">
              <a:alpha val="70000"/>
            </a:srgbClr>
          </a:solidFill>
          <a:ln w="12700">
            <a:solidFill>
              <a:srgbClr val="607D8B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1688" y="1883664"/>
            <a:ext cx="109728" cy="256032"/>
          </a:xfrm>
          <a:prstGeom prst="rect">
            <a:avLst/>
          </a:prstGeom>
          <a:solidFill>
            <a:srgbClr val="607D8B">
              <a:alpha val="70000"/>
            </a:srgbClr>
          </a:solidFill>
          <a:ln w="12700">
            <a:solidFill>
              <a:srgbClr val="607D8B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353312"/>
            <a:ext cx="1417320" cy="14173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46304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26280" y="1993392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Post 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Ledger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947672"/>
            <a:ext cx="457200" cy="109728"/>
          </a:xfrm>
          <a:prstGeom prst="rect">
            <a:avLst/>
          </a:prstGeom>
          <a:solidFill>
            <a:srgbClr val="607D8B">
              <a:alpha val="70000"/>
            </a:srgbClr>
          </a:solidFill>
          <a:ln w="12700">
            <a:solidFill>
              <a:srgbClr val="607D8B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1883664"/>
            <a:ext cx="109728" cy="256032"/>
          </a:xfrm>
          <a:prstGeom prst="rect">
            <a:avLst/>
          </a:prstGeom>
          <a:solidFill>
            <a:srgbClr val="607D8B">
              <a:alpha val="70000"/>
            </a:srgbClr>
          </a:solidFill>
          <a:ln w="12700">
            <a:solidFill>
              <a:srgbClr val="607D8B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1353312"/>
            <a:ext cx="1417320" cy="14173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75120" y="146304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583680" y="1993392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Trial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Balance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273552"/>
            <a:ext cx="1417320" cy="141732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3832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11480" y="3913632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Adjusting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Entries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920240" y="3867912"/>
            <a:ext cx="457200" cy="109728"/>
          </a:xfrm>
          <a:prstGeom prst="rect">
            <a:avLst/>
          </a:prstGeom>
          <a:solidFill>
            <a:srgbClr val="607D8B">
              <a:alpha val="70000"/>
            </a:srgbClr>
          </a:solidFill>
          <a:ln w="12700">
            <a:solidFill>
              <a:srgbClr val="607D8B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04288" y="3803904"/>
            <a:ext cx="109728" cy="256032"/>
          </a:xfrm>
          <a:prstGeom prst="rect">
            <a:avLst/>
          </a:prstGeom>
          <a:solidFill>
            <a:srgbClr val="607D8B">
              <a:alpha val="70000"/>
            </a:srgbClr>
          </a:solidFill>
          <a:ln w="12700">
            <a:solidFill>
              <a:srgbClr val="607D8B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0" y="3273552"/>
            <a:ext cx="1417320" cy="1417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60320" y="33832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6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2468880" y="3913632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Financial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Statements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977640" y="3867912"/>
            <a:ext cx="457200" cy="109728"/>
          </a:xfrm>
          <a:prstGeom prst="rect">
            <a:avLst/>
          </a:prstGeom>
          <a:solidFill>
            <a:srgbClr val="607D8B">
              <a:alpha val="70000"/>
            </a:srgbClr>
          </a:solidFill>
          <a:ln w="12700">
            <a:solidFill>
              <a:srgbClr val="607D8B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61688" y="3803904"/>
            <a:ext cx="109728" cy="256032"/>
          </a:xfrm>
          <a:prstGeom prst="rect">
            <a:avLst/>
          </a:prstGeom>
          <a:solidFill>
            <a:srgbClr val="607D8B">
              <a:alpha val="70000"/>
            </a:srgbClr>
          </a:solidFill>
          <a:ln w="12700">
            <a:solidFill>
              <a:srgbClr val="607D8B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3273552"/>
            <a:ext cx="1417320" cy="1417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17720" y="33832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526280" y="3913632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Closing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Entries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35040" y="3867912"/>
            <a:ext cx="457200" cy="109728"/>
          </a:xfrm>
          <a:prstGeom prst="rect">
            <a:avLst/>
          </a:prstGeom>
          <a:solidFill>
            <a:srgbClr val="607D8B">
              <a:alpha val="70000"/>
            </a:srgbClr>
          </a:solidFill>
          <a:ln w="12700">
            <a:solidFill>
              <a:srgbClr val="607D8B">
                <a:alpha val="7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3803904"/>
            <a:ext cx="109728" cy="256032"/>
          </a:xfrm>
          <a:prstGeom prst="rect">
            <a:avLst/>
          </a:prstGeom>
          <a:solidFill>
            <a:srgbClr val="607D8B">
              <a:alpha val="70000"/>
            </a:srgbClr>
          </a:solidFill>
          <a:ln w="12700">
            <a:solidFill>
              <a:srgbClr val="607D8B">
                <a:alpha val="7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3273552"/>
            <a:ext cx="1417320" cy="14173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675120" y="338328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8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583680" y="3913632"/>
            <a:ext cx="1600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Post-Closing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Trial Balance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200400" y="4754880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</a:rPr>
              <a:t>↺  Repeats every accounting period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Step 1 — The Journal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The "Book of Original Entry" — every transaction recorded chronologically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3291840" cy="36576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2588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83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Key Rules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201168" cy="20116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Double-entry bookkeeping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404872"/>
            <a:ext cx="201168" cy="20116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59152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Every entry: Debit = Credit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935224"/>
            <a:ext cx="201168" cy="20116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89504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Date each transaction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465576"/>
            <a:ext cx="201168" cy="20116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19856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Add a brief description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995928"/>
            <a:ext cx="201168" cy="20116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5020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Accounts affected listed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2926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DEBIT = CREDIT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always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49040" y="1234440"/>
            <a:ext cx="512064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234440"/>
            <a:ext cx="51206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General Journal — January 2024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49040" y="1673352"/>
            <a:ext cx="7772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673352"/>
            <a:ext cx="777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1673352"/>
            <a:ext cx="210312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673352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Account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1673352"/>
            <a:ext cx="45720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1673352"/>
            <a:ext cx="457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86600" y="1673352"/>
            <a:ext cx="82296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673352"/>
            <a:ext cx="822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Debit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09560" y="1673352"/>
            <a:ext cx="82296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1673352"/>
            <a:ext cx="822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Credit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49040" y="1993392"/>
            <a:ext cx="777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1993392"/>
            <a:ext cx="77724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Jan 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26280" y="1993392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1993392"/>
            <a:ext cx="210312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Cash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29400" y="1993392"/>
            <a:ext cx="457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1993392"/>
            <a:ext cx="45720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86600" y="1993392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1993392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$50,000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909560" y="1993392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1993392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49040" y="2240280"/>
            <a:ext cx="777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2240280"/>
            <a:ext cx="77724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26280" y="2240280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26280" y="2240280"/>
            <a:ext cx="210312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 Owner's Equity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29400" y="2240280"/>
            <a:ext cx="457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2240280"/>
            <a:ext cx="45720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301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086600" y="2240280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86600" y="2240280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909560" y="2240280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09560" y="2240280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$50,000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749040" y="2487168"/>
            <a:ext cx="77724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2487168"/>
            <a:ext cx="77724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Jan 3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26280" y="2487168"/>
            <a:ext cx="210312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26280" y="2487168"/>
            <a:ext cx="210312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Equipment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629400" y="2487168"/>
            <a:ext cx="45720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29400" y="2487168"/>
            <a:ext cx="45720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150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086600" y="2487168"/>
            <a:ext cx="82296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86600" y="2487168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$8,000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909560" y="2487168"/>
            <a:ext cx="82296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09560" y="2487168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749040" y="2734056"/>
            <a:ext cx="77724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49040" y="2734056"/>
            <a:ext cx="77724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26280" y="2734056"/>
            <a:ext cx="210312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26280" y="2734056"/>
            <a:ext cx="210312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 Cash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629400" y="2734056"/>
            <a:ext cx="45720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29400" y="2734056"/>
            <a:ext cx="45720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086600" y="2734056"/>
            <a:ext cx="82296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86600" y="2734056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909560" y="2734056"/>
            <a:ext cx="82296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09560" y="2734056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$8,000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749040" y="2980944"/>
            <a:ext cx="777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0" y="2980944"/>
            <a:ext cx="77724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Jan 5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26280" y="2980944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26280" y="2980944"/>
            <a:ext cx="210312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Rent Expense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629400" y="2980944"/>
            <a:ext cx="457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29400" y="2980944"/>
            <a:ext cx="45720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510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086600" y="2980944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86600" y="2980944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$1,500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909560" y="2980944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09560" y="2980944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749040" y="3227832"/>
            <a:ext cx="777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49040" y="3227832"/>
            <a:ext cx="77724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526280" y="3227832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26280" y="3227832"/>
            <a:ext cx="210312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 Cash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629400" y="3227832"/>
            <a:ext cx="457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629400" y="3227832"/>
            <a:ext cx="45720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086600" y="3227832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86600" y="3227832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7909560" y="3227832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909560" y="3227832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$1,500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749040" y="3474720"/>
            <a:ext cx="77724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749040" y="3474720"/>
            <a:ext cx="77724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Jan 10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526280" y="3474720"/>
            <a:ext cx="210312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26280" y="3474720"/>
            <a:ext cx="210312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Accounts Rec.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629400" y="3474720"/>
            <a:ext cx="45720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629400" y="3474720"/>
            <a:ext cx="45720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120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086600" y="3474720"/>
            <a:ext cx="82296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086600" y="3474720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$12,000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7909560" y="3474720"/>
            <a:ext cx="82296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09560" y="3474720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3749040" y="3721608"/>
            <a:ext cx="77724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749040" y="3721608"/>
            <a:ext cx="77724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4526280" y="3721608"/>
            <a:ext cx="210312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526280" y="3721608"/>
            <a:ext cx="210312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 Service Rev.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629400" y="3721608"/>
            <a:ext cx="45720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629400" y="3721608"/>
            <a:ext cx="45720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400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7086600" y="3721608"/>
            <a:ext cx="82296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086600" y="3721608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7909560" y="3721608"/>
            <a:ext cx="82296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909560" y="3721608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$12,000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3749040" y="3968496"/>
            <a:ext cx="777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749040" y="3968496"/>
            <a:ext cx="77724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Jan 20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4526280" y="3968496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526280" y="3968496"/>
            <a:ext cx="210312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Salary Expense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6629400" y="3968496"/>
            <a:ext cx="457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629400" y="3968496"/>
            <a:ext cx="45720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520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7086600" y="3968496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086600" y="3968496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$3,000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7909560" y="3968496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909560" y="3968496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3749040" y="4215384"/>
            <a:ext cx="777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749040" y="4215384"/>
            <a:ext cx="77724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4526280" y="4215384"/>
            <a:ext cx="21031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526280" y="4215384"/>
            <a:ext cx="210312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 Cash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6629400" y="4215384"/>
            <a:ext cx="457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629400" y="4215384"/>
            <a:ext cx="45720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101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7086600" y="4215384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086600" y="4215384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7909560" y="4215384"/>
            <a:ext cx="82296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909560" y="4215384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$3,000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3749040" y="4462272"/>
            <a:ext cx="77724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749040" y="4462272"/>
            <a:ext cx="77724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Jan 25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4526280" y="4462272"/>
            <a:ext cx="210312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526280" y="4462272"/>
            <a:ext cx="210312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Supplies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6629400" y="4462272"/>
            <a:ext cx="45720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629400" y="4462272"/>
            <a:ext cx="45720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130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7086600" y="4462272"/>
            <a:ext cx="82296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086600" y="4462272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$800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7909560" y="4462272"/>
            <a:ext cx="82296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909560" y="4462272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3749040" y="4709160"/>
            <a:ext cx="77724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749040" y="4709160"/>
            <a:ext cx="77724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41" name="Shape 139"/>
          <p:cNvSpPr/>
          <p:nvPr/>
        </p:nvSpPr>
        <p:spPr>
          <a:xfrm>
            <a:off x="4526280" y="4709160"/>
            <a:ext cx="210312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526280" y="4709160"/>
            <a:ext cx="210312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 Accounts Pay.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6629400" y="4709160"/>
            <a:ext cx="45720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629400" y="4709160"/>
            <a:ext cx="45720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210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7086600" y="4709160"/>
            <a:ext cx="82296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086600" y="4709160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7909560" y="4709160"/>
            <a:ext cx="822960" cy="246888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909560" y="4709160"/>
            <a:ext cx="822960" cy="246888"/>
          </a:xfrm>
          <a:prstGeom prst="rect">
            <a:avLst/>
          </a:prstGeom>
          <a:noFill/>
        </p:spPr>
        <p:txBody>
          <a:bodyPr wrap="square" lIns="0" tIns="50800" rIns="5080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$800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Step 2 — The Ledger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Journal entries are "posted" to individual T-Accounts in the General Ledger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423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2423160" cy="3383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43000"/>
            <a:ext cx="242316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Cash (101)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40180" y="1481328"/>
            <a:ext cx="0" cy="15361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481328"/>
            <a:ext cx="12115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40180" y="1481328"/>
            <a:ext cx="12115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737360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$50,000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85900" y="1737360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$8,000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984248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85900" y="1984248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$1,500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231136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85900" y="2231136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$3,000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2240280" cy="0"/>
          </a:xfrm>
          <a:prstGeom prst="line">
            <a:avLst/>
          </a:prstGeom>
          <a:noFill/>
          <a:ln w="12700">
            <a:solidFill>
              <a:srgbClr val="1B2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688336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Bal: $37,500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0" y="1143000"/>
            <a:ext cx="2423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0" y="1143000"/>
            <a:ext cx="2423160" cy="3383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1143000"/>
            <a:ext cx="242316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Equipment (150)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37660" y="1481328"/>
            <a:ext cx="0" cy="15361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1481328"/>
            <a:ext cx="12115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37660" y="1481328"/>
            <a:ext cx="12115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71800" y="1737360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$8,000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83380" y="1737360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17520" y="2670048"/>
            <a:ext cx="2240280" cy="0"/>
          </a:xfrm>
          <a:prstGeom prst="line">
            <a:avLst/>
          </a:prstGeom>
          <a:noFill/>
          <a:ln w="12700">
            <a:solidFill>
              <a:srgbClr val="1B2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2688336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Bal: $8,000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23560" y="1143000"/>
            <a:ext cx="2423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23560" y="1143000"/>
            <a:ext cx="2423160" cy="33832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1143000"/>
            <a:ext cx="242316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Accounts Receivable (120)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35140" y="1481328"/>
            <a:ext cx="0" cy="15361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1481328"/>
            <a:ext cx="12115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35140" y="1481328"/>
            <a:ext cx="12115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0" y="1737360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$12,000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80860" y="1737360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15000" y="2670048"/>
            <a:ext cx="2240280" cy="0"/>
          </a:xfrm>
          <a:prstGeom prst="line">
            <a:avLst/>
          </a:prstGeom>
          <a:noFill/>
          <a:ln w="12700">
            <a:solidFill>
              <a:srgbClr val="1B2B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23560" y="2688336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Bal: $12,000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8600" y="3246120"/>
            <a:ext cx="2423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28600" y="3246120"/>
            <a:ext cx="2423160" cy="3383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3246120"/>
            <a:ext cx="242316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Service Revenue (400)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440180" y="3584448"/>
            <a:ext cx="0" cy="15361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3584448"/>
            <a:ext cx="12115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440180" y="3584448"/>
            <a:ext cx="12115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" y="3840480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485900" y="3840480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$12,000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4773168"/>
            <a:ext cx="2240280" cy="0"/>
          </a:xfrm>
          <a:prstGeom prst="line">
            <a:avLst/>
          </a:prstGeom>
          <a:noFill/>
          <a:ln w="12700">
            <a:solidFill>
              <a:srgbClr val="1B2B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4791456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Bal: $12,000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926080" y="3246120"/>
            <a:ext cx="2423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926080" y="3246120"/>
            <a:ext cx="2423160" cy="3383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0" y="3246120"/>
            <a:ext cx="242316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Owner's Equity (301)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37660" y="3584448"/>
            <a:ext cx="0" cy="15361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0" y="3584448"/>
            <a:ext cx="12115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37660" y="3584448"/>
            <a:ext cx="12115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CR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971800" y="3840480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83380" y="3840480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$50,000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017520" y="4773168"/>
            <a:ext cx="2240280" cy="0"/>
          </a:xfrm>
          <a:prstGeom prst="line">
            <a:avLst/>
          </a:prstGeom>
          <a:noFill/>
          <a:ln w="12700">
            <a:solidFill>
              <a:srgbClr val="1B2B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26080" y="4791456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Bal: $50,000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623560" y="3246120"/>
            <a:ext cx="24231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623560" y="3246120"/>
            <a:ext cx="2423160" cy="3383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23560" y="3246120"/>
            <a:ext cx="2423160" cy="3383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Expenses (5XX)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835140" y="3584448"/>
            <a:ext cx="0" cy="15361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23560" y="3584448"/>
            <a:ext cx="12115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835140" y="3584448"/>
            <a:ext cx="12115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CR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669280" y="3840480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$1,500 Rent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880860" y="3840480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669280" y="4087368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$3,000 Salary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880860" y="4087368"/>
            <a:ext cx="112014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715000" y="4773168"/>
            <a:ext cx="2240280" cy="0"/>
          </a:xfrm>
          <a:prstGeom prst="line">
            <a:avLst/>
          </a:prstGeom>
          <a:noFill/>
          <a:ln w="12700">
            <a:solidFill>
              <a:srgbClr val="1B2B5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623560" y="4791456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Bal: $4,500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Step 3 — Trial Balance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Verify the ledger balances: Total Debits must equal Total Credits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926080" cy="356616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Why a Trial Balance?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256032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28800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82880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Catches posting errors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395728"/>
            <a:ext cx="256032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95728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395728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Confirms debit = credit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962656"/>
            <a:ext cx="256032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62656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962656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First step toward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financial statements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529584"/>
            <a:ext cx="256032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529584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529584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Identifies missing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accounts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096512"/>
            <a:ext cx="256032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096512"/>
            <a:ext cx="256032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4096512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Done every accounting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period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1188720"/>
            <a:ext cx="530352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88720"/>
            <a:ext cx="5303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Tech Startup Co. — Trial Balance, January 31, 2024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600200"/>
            <a:ext cx="274320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002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Account Name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600200"/>
            <a:ext cx="12344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600200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Debit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52360" y="1600200"/>
            <a:ext cx="123444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1600200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Credit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0" y="1920240"/>
            <a:ext cx="2743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9584" y="1920240"/>
            <a:ext cx="26883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Cash (101)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920240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1920240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$37,500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52360" y="1920240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07224" y="1920240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0" y="2176272"/>
            <a:ext cx="274320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9584" y="2176272"/>
            <a:ext cx="26883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Accounts Receivable (120)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2176272"/>
            <a:ext cx="123444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2176272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$12,000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52360" y="2176272"/>
            <a:ext cx="123444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07224" y="2176272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74720" y="2432304"/>
            <a:ext cx="2743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9584" y="2432304"/>
            <a:ext cx="26883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Supplies (130)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2432304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2432304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$800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52360" y="2432304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07224" y="2432304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74720" y="2688336"/>
            <a:ext cx="274320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29584" y="2688336"/>
            <a:ext cx="26883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Equipment (150)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2688336"/>
            <a:ext cx="123444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72784" y="2688336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$8,000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52360" y="2688336"/>
            <a:ext cx="123444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07224" y="2688336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474720" y="2944368"/>
            <a:ext cx="2743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29584" y="2944368"/>
            <a:ext cx="26883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Accounts Payable (210)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17920" y="2944368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72784" y="2944368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52360" y="2944368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07224" y="2944368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$800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474720" y="3200400"/>
            <a:ext cx="274320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29584" y="3200400"/>
            <a:ext cx="26883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Owner's Equity (301)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17920" y="3200400"/>
            <a:ext cx="123444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72784" y="3200400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452360" y="3200400"/>
            <a:ext cx="123444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07224" y="3200400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$50,000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474720" y="3456432"/>
            <a:ext cx="2743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29584" y="3456432"/>
            <a:ext cx="26883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Service Revenue (400)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217920" y="3456432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72784" y="3456432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452360" y="3456432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07224" y="3456432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$12,000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474720" y="3712464"/>
            <a:ext cx="274320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29584" y="3712464"/>
            <a:ext cx="26883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Rent Expense (510)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217920" y="3712464"/>
            <a:ext cx="123444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72784" y="3712464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$1,500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452360" y="3712464"/>
            <a:ext cx="123444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07224" y="3712464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474720" y="3968496"/>
            <a:ext cx="27432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529584" y="3968496"/>
            <a:ext cx="268833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Salary Expense (520)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217920" y="3968496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72784" y="3968496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$3,000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452360" y="3968496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507224" y="3968496"/>
            <a:ext cx="117957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474720" y="4224528"/>
            <a:ext cx="2743200" cy="34747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217920" y="4224528"/>
            <a:ext cx="1234440" cy="34747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52360" y="4224528"/>
            <a:ext cx="1234440" cy="34747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474720" y="4224528"/>
            <a:ext cx="2743200" cy="347472"/>
          </a:xfrm>
          <a:prstGeom prst="rect">
            <a:avLst/>
          </a:prstGeom>
          <a:noFill/>
        </p:spPr>
        <p:txBody>
          <a:bodyPr wrap="square" lIns="0" tIns="76200" rIns="7620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TOTALS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217920" y="4224528"/>
            <a:ext cx="1234440" cy="347472"/>
          </a:xfrm>
          <a:prstGeom prst="rect">
            <a:avLst/>
          </a:prstGeom>
          <a:noFill/>
        </p:spPr>
        <p:txBody>
          <a:bodyPr wrap="square" lIns="0" tIns="76200" rIns="7620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$62,800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452360" y="4224528"/>
            <a:ext cx="1234440" cy="347472"/>
          </a:xfrm>
          <a:prstGeom prst="rect">
            <a:avLst/>
          </a:prstGeom>
          <a:noFill/>
        </p:spPr>
        <p:txBody>
          <a:bodyPr wrap="square" lIns="0" tIns="76200" rIns="7620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$62,800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3520440" y="4626864"/>
            <a:ext cx="521208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520440" y="4626864"/>
            <a:ext cx="5212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✓  BALANCED  — Debits $62,800 = Credits $62,800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Financial Statement 1 — Income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Shows profitability: Revenue − Expenses = Net Income / Net Loss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200400" cy="3566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What It Tells You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292608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76272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Money earned from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business activities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834640"/>
            <a:ext cx="292608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880360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Expenses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182112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Costs incurred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earn revenue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840480"/>
            <a:ext cx="2926080" cy="86868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886200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Net Income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4187952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The "bottom line"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profit or loss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1188720"/>
            <a:ext cx="5212080" cy="41148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1188720"/>
            <a:ext cx="5212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TECH STARTUP CO. — Income Statement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For the Month Ended January 31, 2024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1600200"/>
            <a:ext cx="5212080" cy="301752"/>
          </a:xfrm>
          <a:prstGeom prst="rect">
            <a:avLst/>
          </a:prstGeom>
          <a:solidFill>
            <a:srgbClr val="1B2B5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600200"/>
            <a:ext cx="41148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Revenue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1901952"/>
            <a:ext cx="5212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901952"/>
            <a:ext cx="41148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Service Revenue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1901952"/>
            <a:ext cx="914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$12,000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0" y="2203704"/>
            <a:ext cx="5212080" cy="30175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2203704"/>
            <a:ext cx="41148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0" y="2203704"/>
            <a:ext cx="914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$12,000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0" y="2505456"/>
            <a:ext cx="5212080" cy="301752"/>
          </a:xfrm>
          <a:prstGeom prst="rect">
            <a:avLst/>
          </a:prstGeom>
          <a:solidFill>
            <a:srgbClr val="1B2B5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2505456"/>
            <a:ext cx="41148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Expenses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2807208"/>
            <a:ext cx="5212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2807208"/>
            <a:ext cx="41148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Rent Expense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63840" y="2807208"/>
            <a:ext cx="914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$1,500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0" y="3108960"/>
            <a:ext cx="5212080" cy="30175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3108960"/>
            <a:ext cx="41148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Salary Expense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63840" y="3108960"/>
            <a:ext cx="914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$3,000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0" y="3410712"/>
            <a:ext cx="5212080" cy="3017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3410712"/>
            <a:ext cx="41148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Expenses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63840" y="3410712"/>
            <a:ext cx="9144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$4,500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0" y="3712464"/>
            <a:ext cx="521208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3712464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NET INCOME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863840" y="3712464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$7,500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0" y="4261104"/>
            <a:ext cx="5212080" cy="41148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4315968"/>
            <a:ext cx="50292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D737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Net Profit Margin: $7,500 ÷ $12,000 = 62.5%  —  Excellent for a startup!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Financial Statement 2 — Balance Sheet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 snapshot of what the company owns (assets) and owes (liabilities + equity)  •  Assets = Liabilities + Owner's Equity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34747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ASSETS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90472"/>
            <a:ext cx="4160520" cy="265176"/>
          </a:xfrm>
          <a:prstGeom prst="rect">
            <a:avLst/>
          </a:prstGeom>
          <a:solidFill>
            <a:srgbClr val="3341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90472"/>
            <a:ext cx="306324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Current Assets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490472"/>
            <a:ext cx="4160520" cy="2651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90472"/>
            <a:ext cx="416052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Current Assets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41605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55648"/>
            <a:ext cx="306324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Cash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9000" y="1755648"/>
            <a:ext cx="91440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$37,500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020824"/>
            <a:ext cx="4160520" cy="265176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20824"/>
            <a:ext cx="306324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Accounts Receivable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2020824"/>
            <a:ext cx="91440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$12,000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41605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86000"/>
            <a:ext cx="306324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Supplies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2286000"/>
            <a:ext cx="91440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$800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551176"/>
            <a:ext cx="416052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51176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Current Assets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2551176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$50,300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871216"/>
            <a:ext cx="4160520" cy="2651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71216"/>
            <a:ext cx="416052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Non-Current Assets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136392"/>
            <a:ext cx="41605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36392"/>
            <a:ext cx="306324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Equipment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29000" y="3136392"/>
            <a:ext cx="91440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$8,000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401568"/>
            <a:ext cx="416052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401568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Non-Current Assets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3401568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$8,000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721608"/>
            <a:ext cx="4160520" cy="3200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21608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ASSETS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29000" y="3721608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$58,300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1143000"/>
            <a:ext cx="4160520" cy="34747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143000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LIABILITIES &amp; OWNER'S EQUITY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1490472"/>
            <a:ext cx="4160520" cy="2651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490472"/>
            <a:ext cx="416052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Liabilities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1755648"/>
            <a:ext cx="41605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1755648"/>
            <a:ext cx="306324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Accounts Payable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818120" y="1755648"/>
            <a:ext cx="91440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$800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2020824"/>
            <a:ext cx="416052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020824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Liabilities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818120" y="2020824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$800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2340864"/>
            <a:ext cx="4160520" cy="2651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340864"/>
            <a:ext cx="416052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Owner's Equity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63440" y="2606040"/>
            <a:ext cx="4160520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2606040"/>
            <a:ext cx="306324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Capital Invested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818120" y="2606040"/>
            <a:ext cx="91440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$50,000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63440" y="2871216"/>
            <a:ext cx="4160520" cy="265176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2871216"/>
            <a:ext cx="306324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Net Income (Jan)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818120" y="2871216"/>
            <a:ext cx="914400" cy="2651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$7,500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663440" y="3136392"/>
            <a:ext cx="416052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3136392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Owner's Equity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818120" y="3136392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$57,500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663440" y="3456432"/>
            <a:ext cx="4160520" cy="32004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3456432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LIABILITIES + EQUITY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818120" y="3456432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$58,300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663440" y="3840480"/>
            <a:ext cx="41605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3840480"/>
            <a:ext cx="4160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✓  Balanced: $58,300 = $58,300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Financial Statement 3 — Cash Flow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Where did cash come from, and where did it go?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48640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⚙️  Operating Activities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90472"/>
            <a:ext cx="5486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90472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Net Income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0" y="1490472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+$7,500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746504"/>
            <a:ext cx="548640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46504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Change in Accounts Rec.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1746504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C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−$12,000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02536"/>
            <a:ext cx="5486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02536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Change in Supplies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2002536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C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−$800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258568"/>
            <a:ext cx="5486400" cy="25603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258568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Change in Accounts Pay.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2258568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+$800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54864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14600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Net Cash from Operating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2514600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−$4,500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862072"/>
            <a:ext cx="5486400" cy="347472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62072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🏗️  Investing Activities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209544"/>
            <a:ext cx="5486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9544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Purchase of Equipment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3209544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DC2626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−$8,000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465576"/>
            <a:ext cx="54864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65576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Net Cash from Investing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3465576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−$8,000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813048"/>
            <a:ext cx="548640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813048"/>
            <a:ext cx="5486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💼  Financing Activities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160520"/>
            <a:ext cx="5486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160520"/>
            <a:ext cx="4389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Owner Capital Contribution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0" y="4160520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+$50,000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416552"/>
            <a:ext cx="54864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416552"/>
            <a:ext cx="4389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Net Cash from Financing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54880" y="4416552"/>
            <a:ext cx="914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+$50,000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764024"/>
            <a:ext cx="5486400" cy="38404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764024"/>
            <a:ext cx="43891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Net Increase in Cash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0" y="4764024"/>
            <a:ext cx="914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A83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$37,500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5221224"/>
            <a:ext cx="5486400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5221224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Beginning cash: $0  →  Ending cash: $37,500  ✓ Matches Balance Sheet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0" y="1143000"/>
            <a:ext cx="29260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943600" y="1143000"/>
            <a:ext cx="2926080" cy="38404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1143000"/>
            <a:ext cx="2926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 Sections Explained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035040" y="1645920"/>
            <a:ext cx="2743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⚙️ Operating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035040" y="1920240"/>
            <a:ext cx="27432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Day-to-day business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activities (sales, wages,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rent, supplies)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035040" y="2724912"/>
            <a:ext cx="2743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🏗️ Investing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035040" y="2999232"/>
            <a:ext cx="27432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Buying/selling long-term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assets like equipment,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property, investments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035040" y="3803904"/>
            <a:ext cx="2743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💼 Financing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035040" y="4078224"/>
            <a:ext cx="27432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Owner contributions,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borrowing, repaying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loans, withdrawals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Financial Statement 4 — Statement of Owner's Equity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Shows how the owner's stake in the business changed over the period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108960" cy="365760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2926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Owner's Equity =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Assets − Liabilities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148840"/>
            <a:ext cx="278892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Increases 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96312"/>
            <a:ext cx="2651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• Owner investments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• Net income earned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520440"/>
            <a:ext cx="2788920" cy="12344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6616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Decreases 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67912"/>
            <a:ext cx="2651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• Owner withdrawals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• Net losses incurred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1188720"/>
            <a:ext cx="530352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188720"/>
            <a:ext cx="5303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TECH STARTUP CO. — Statement of Owner's Equity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For the Month Ended January 31, 2024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1600200"/>
            <a:ext cx="5303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600200"/>
            <a:ext cx="420624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Beginning Capital (Jan 1)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66160" y="1883664"/>
            <a:ext cx="5303520" cy="28346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1883664"/>
            <a:ext cx="420624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 Capital, January 1, 2024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63840" y="1883664"/>
            <a:ext cx="9144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66160" y="2167128"/>
            <a:ext cx="5303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167128"/>
            <a:ext cx="420624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Add: Owner Investment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66160" y="2450592"/>
            <a:ext cx="5303520" cy="28346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450592"/>
            <a:ext cx="420624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 Cash Contribution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63840" y="2450592"/>
            <a:ext cx="9144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+$50,000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66160" y="2734056"/>
            <a:ext cx="5303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734056"/>
            <a:ext cx="420624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Add: Net Income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66160" y="3017520"/>
            <a:ext cx="5303520" cy="28346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017520"/>
            <a:ext cx="420624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 Net Income — January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63840" y="3017520"/>
            <a:ext cx="9144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6A3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+$7,500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566160" y="3300984"/>
            <a:ext cx="53035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3300984"/>
            <a:ext cx="420624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Less: Drawings / Withdrawals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566160" y="3584448"/>
            <a:ext cx="5303520" cy="283464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584448"/>
            <a:ext cx="420624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 No withdrawals this period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863840" y="3584448"/>
            <a:ext cx="914400" cy="2834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566160" y="3867912"/>
            <a:ext cx="530352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3867912"/>
            <a:ext cx="42062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Ending Capital (January 31, 2024)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63840" y="3867912"/>
            <a:ext cx="9144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$57,500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566160" y="4379976"/>
            <a:ext cx="5303520" cy="347472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4425696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This $57,500 matches exactly the Owner's Equity on the Balance Sheet ✓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How the Financial Statements Connect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The statements are interconnected — a change in one ripples through all others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606040" cy="1737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46304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Income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423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Revenue − Expenses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= Net Income ($7,500)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06040" cy="17373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46304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Statement of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Owner's Equity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2103120"/>
            <a:ext cx="2423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+ Net Income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→ Ending Capital ($57,500)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606040" cy="1737360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463040"/>
            <a:ext cx="2606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Balance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Sheet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2423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Equity = $57,500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Assets = $58,300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80360" y="2148840"/>
            <a:ext cx="365760" cy="0"/>
          </a:xfrm>
          <a:prstGeom prst="line">
            <a:avLst/>
          </a:prstGeom>
          <a:noFill/>
          <a:ln w="381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984248"/>
            <a:ext cx="228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A838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2148840"/>
            <a:ext cx="365760" cy="0"/>
          </a:xfrm>
          <a:prstGeom prst="line">
            <a:avLst/>
          </a:prstGeom>
          <a:noFill/>
          <a:ln w="38100">
            <a:solidFill>
              <a:srgbClr val="E8A8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84248"/>
            <a:ext cx="228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A838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34640" y="3246120"/>
            <a:ext cx="34747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34640" y="3246120"/>
            <a:ext cx="3474720" cy="365760"/>
          </a:xfrm>
          <a:prstGeom prst="rect">
            <a:avLst/>
          </a:prstGeom>
          <a:solidFill>
            <a:srgbClr val="14ACAC"/>
          </a:solidFill>
          <a:ln w="12700">
            <a:solidFill>
              <a:srgbClr val="14AC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324612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Cash Flow Statement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3657600"/>
            <a:ext cx="3291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Ending cash $37,500 ties to Cash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on the Balance Sheet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017520"/>
            <a:ext cx="0" cy="685800"/>
          </a:xfrm>
          <a:prstGeom prst="line">
            <a:avLst/>
          </a:prstGeom>
          <a:noFill/>
          <a:ln w="25400">
            <a:solidFill>
              <a:srgbClr val="14ACA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72000" y="2926080"/>
            <a:ext cx="0" cy="320040"/>
          </a:xfrm>
          <a:prstGeom prst="line">
            <a:avLst/>
          </a:prstGeom>
          <a:noFill/>
          <a:ln w="25400">
            <a:solidFill>
              <a:srgbClr val="14ACA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B2B5E"/>
          </a:solidFill>
          <a:ln w="12700">
            <a:solidFill>
              <a:srgbClr val="1B2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681728"/>
            <a:ext cx="8412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Net Income flows into Equity → Equity sits on the Balance Sheet → Cash on Balance Sheet is confirmed by Cash Flow Statement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✏️  CLASS ACTIVITY – 15 MINUTES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68580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32688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87552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A3D47"/>
                </a:solidFill>
              </a:rPr>
              <a:t>"Build a Mini Balance Sheet"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8138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525C"/>
                </a:solidFill>
              </a:rPr>
              <a:t>Work in pairs. Use the transactions below to identify Assets, Liabilities, and Equity.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8412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47"/>
                </a:solidFill>
              </a:rPr>
              <a:t>Transactions: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8412480" cy="329184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30552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1.  Owner invests $50,000 cash to start the business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1460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2.  Business buys equipment worth $20,000 on credit (loan)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329184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98648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3.  Business purchases inventory for $8,000 cash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36976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82696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4.  Business earns $15,000 revenue, $10,000 received in cash and $5,000 on credit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21024"/>
            <a:ext cx="8412480" cy="329184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66744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5.  Business pays $3,000 rent expense in cash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005072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50792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6.  Business repays $5,000 of the equipment loan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370832"/>
            <a:ext cx="8412480" cy="475488"/>
          </a:xfrm>
          <a:prstGeom prst="rect">
            <a:avLst/>
          </a:prstGeom>
          <a:solidFill>
            <a:srgbClr val="0A3D47">
              <a:alpha val="12000"/>
            </a:srgbClr>
          </a:solidFill>
          <a:ln w="12700">
            <a:solidFill>
              <a:srgbClr val="0A3D47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425696"/>
            <a:ext cx="8138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A3D47"/>
                </a:solidFill>
              </a:rPr>
              <a:t>Debrief: Share your Balance Sheet totals. Does  Assets = Liabilities + Equity?  Discuss what changed the Equity balance.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ACCOUNTING TERMS – QUICK GLOSSARY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45720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32688"/>
            <a:ext cx="6400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47"/>
                </a:solidFill>
              </a:rPr>
              <a:t>Revenue: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1033272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525C"/>
                </a:solidFill>
              </a:rPr>
              <a:t>Income earned from the sale of goods or services before any deductions.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44752"/>
            <a:ext cx="64008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4533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47"/>
                </a:solidFill>
              </a:rPr>
              <a:t>Expense: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1545336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525C"/>
                </a:solidFill>
              </a:rPr>
              <a:t>Costs incurred to generate revenue (salaries, rent, utilities, etc.).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8412480" cy="45720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956816"/>
            <a:ext cx="6400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5740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47"/>
                </a:solidFill>
              </a:rPr>
              <a:t>Depreciation: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057400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525C"/>
                </a:solidFill>
              </a:rPr>
              <a:t>The systematic allocation of a fixed asset's cost over its useful life.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68880"/>
            <a:ext cx="64008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6946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47"/>
                </a:solidFill>
              </a:rPr>
              <a:t>Accrual: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2569464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525C"/>
                </a:solidFill>
              </a:rPr>
              <a:t>Recognizing revenue/expense when earned/incurred, not when cash moves.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980944"/>
            <a:ext cx="8412480" cy="45720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80944"/>
            <a:ext cx="6400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08152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47"/>
                </a:solidFill>
              </a:rPr>
              <a:t>Accounts Receivable: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3081528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525C"/>
                </a:solidFill>
              </a:rPr>
              <a:t>Money owed to the business by customers for goods/services already delivered.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493008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493008"/>
            <a:ext cx="64008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5935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47"/>
                </a:solidFill>
              </a:rPr>
              <a:t>Accounts Payable: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14600" y="3593592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525C"/>
                </a:solidFill>
              </a:rPr>
              <a:t>Money the business owes to suppliers for purchases already received.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05072"/>
            <a:ext cx="8412480" cy="45720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005072"/>
            <a:ext cx="6400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0565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47"/>
                </a:solidFill>
              </a:rPr>
              <a:t>Working Capital: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14600" y="4105656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525C"/>
                </a:solidFill>
              </a:rPr>
              <a:t>Current Assets minus Current Liabilities — measures short-term liquidity.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517136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517136"/>
            <a:ext cx="64008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61772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47"/>
                </a:solidFill>
              </a:rPr>
              <a:t>EBITDA: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14600" y="4617720"/>
            <a:ext cx="6172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525C"/>
                </a:solidFill>
              </a:rPr>
              <a:t>Earnings Before Interest, Tax, Depreciation &amp; Amortization. A cash proxy.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RECOMMENDED RESOURCES &amp; NEXT CLASS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4069080" cy="260604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32688"/>
            <a:ext cx="406908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📚 Textbooks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947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</a:rPr>
              <a:t>Weygandt, Kimmel &amp; Kieso – Financial Accounting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</a:rPr>
              <a:t>Frank Wood – Business Accounting Vol. 1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</a:rPr>
              <a:t>Warren, Reeve &amp; Duchac – Accounting (27th Ed.)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932688"/>
            <a:ext cx="4069080" cy="260604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32688"/>
            <a:ext cx="406908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78408"/>
            <a:ext cx="3886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🎬 Online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9476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</a:rPr>
              <a:t>Khan Academy – Accounting &amp; Financial Literacy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</a:rPr>
              <a:t>Coursera – Introduction to Financial Accounting (Wharton)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5"/>
                </a:solidFill>
              </a:rPr>
              <a:t>YouTube: Accounting Stuff channel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3687445"/>
            <a:ext cx="8412480" cy="1170940"/>
          </a:xfrm>
          <a:prstGeom prst="rect">
            <a:avLst/>
          </a:prstGeom>
          <a:solidFill>
            <a:srgbClr val="EDF6F7"/>
          </a:solidFill>
          <a:ln w="12700">
            <a:solidFill>
              <a:srgbClr val="C8E6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675888"/>
            <a:ext cx="64008" cy="1188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123563"/>
            <a:ext cx="8138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197223"/>
            <a:ext cx="8138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4858258"/>
            <a:ext cx="8412480" cy="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3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2743200"/>
            <a:ext cx="3291840" cy="3291840"/>
          </a:xfrm>
          <a:prstGeom prst="ellipse">
            <a:avLst/>
          </a:prstGeom>
          <a:solidFill>
            <a:srgbClr val="0C4D5A">
              <a:alpha val="75000"/>
            </a:srgbClr>
          </a:solidFill>
          <a:ln w="12700">
            <a:solidFill>
              <a:srgbClr val="0C4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822960"/>
            <a:ext cx="73152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800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30352" y="1874520"/>
            <a:ext cx="384048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201168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2DFE4"/>
                </a:solidFill>
              </a:rPr>
              <a:t>Questions &amp; Open Discussion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0352" y="2788920"/>
            <a:ext cx="7772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DFE4"/>
                </a:solidFill>
              </a:rPr>
              <a:t>Introduction to Management</a:t>
            </a:r>
            <a:r>
              <a:rPr lang="en-US" sz="1400" dirty="0">
                <a:solidFill>
                  <a:srgbClr val="B2DFE4"/>
                </a:solidFill>
              </a:rPr>
              <a:t>  ·  Class 2: Introduction to Accounting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3337560"/>
            <a:ext cx="77724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2DFE4"/>
                </a:solidFill>
              </a:rPr>
              <a:t>Next Class: Introduction to Finance – Module 3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4114800"/>
            <a:ext cx="6858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2DFE4"/>
                </a:solidFill>
              </a:rPr>
              <a:t>"The goal of accounting is not to confuse — it is to communicate clearly."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B2DFE4"/>
                </a:solidFill>
              </a:rPr>
              <a:t>— Anonymous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0.96,&quot;left&quot;:43.2,&quot;top&quot;:80.64,&quot;width&quot;:633.6}"/>
</p:tagLst>
</file>

<file path=ppt/tags/tag2.xml><?xml version="1.0" encoding="utf-8"?>
<p:tagLst xmlns:p="http://schemas.openxmlformats.org/presentationml/2006/main">
  <p:tag name="KSO_WM_DIAGRAM_VIRTUALLY_FRAME" val="{&quot;height&quot;:300.96,&quot;left&quot;:43.2,&quot;top&quot;:80.64,&quot;width&quot;:633.6}"/>
</p:tagLst>
</file>

<file path=ppt/tags/tag3.xml><?xml version="1.0" encoding="utf-8"?>
<p:tagLst xmlns:p="http://schemas.openxmlformats.org/presentationml/2006/main">
  <p:tag name="KSO_WM_DIAGRAM_VIRTUALLY_FRAME" val="{&quot;height&quot;:300.96,&quot;left&quot;:43.2,&quot;top&quot;:80.64,&quot;width&quot;:633.6}"/>
</p:tagLst>
</file>

<file path=ppt/tags/tag4.xml><?xml version="1.0" encoding="utf-8"?>
<p:tagLst xmlns:p="http://schemas.openxmlformats.org/presentationml/2006/main">
  <p:tag name="KSO_WM_DIAGRAM_VIRTUALLY_FRAME" val="{&quot;height&quot;:300.96,&quot;left&quot;:43.2,&quot;top&quot;:80.64,&quot;width&quot;:633.6}"/>
</p:tagLst>
</file>

<file path=ppt/tags/tag5.xml><?xml version="1.0" encoding="utf-8"?>
<p:tagLst xmlns:p="http://schemas.openxmlformats.org/presentationml/2006/main">
  <p:tag name="KSO_WM_DIAGRAM_VIRTUALLY_FRAME" val="{&quot;height&quot;:300.96,&quot;left&quot;:43.2,&quot;top&quot;:80.64,&quot;width&quot;:633.6}"/>
</p:tagLst>
</file>

<file path=ppt/tags/tag6.xml><?xml version="1.0" encoding="utf-8"?>
<p:tagLst xmlns:p="http://schemas.openxmlformats.org/presentationml/2006/main">
  <p:tag name="KSO_WM_DIAGRAM_VIRTUALLY_FRAME" val="{&quot;height&quot;:300.96,&quot;left&quot;:43.2,&quot;top&quot;:80.64,&quot;width&quot;:633.6}"/>
</p:tagLst>
</file>

<file path=ppt/tags/tag7.xml><?xml version="1.0" encoding="utf-8"?>
<p:tagLst xmlns:p="http://schemas.openxmlformats.org/presentationml/2006/main">
  <p:tag name="KSO_WM_DIAGRAM_VIRTUALLY_FRAME" val="{&quot;height&quot;:300.96,&quot;left&quot;:43.2,&quot;top&quot;:80.64,&quot;width&quot;:633.6}"/>
</p:tagLst>
</file>

<file path=ppt/tags/tag8.xml><?xml version="1.0" encoding="utf-8"?>
<p:tagLst xmlns:p="http://schemas.openxmlformats.org/presentationml/2006/main">
  <p:tag name="KSO_WM_DIAGRAM_VIRTUALLY_FRAME" val="{&quot;height&quot;:300.96,&quot;left&quot;:43.2,&quot;top&quot;:80.64,&quot;width&quot;:633.6}"/>
</p:tagLst>
</file>

<file path=ppt/tags/tag9.xml><?xml version="1.0" encoding="utf-8"?>
<p:tagLst xmlns:p="http://schemas.openxmlformats.org/presentationml/2006/main">
  <p:tag name="KSO_WM_DIAGRAM_VIRTUALLY_FRAME" val="{&quot;height&quot;:300.96,&quot;left&quot;:43.2,&quot;top&quot;:80.64,&quot;width&quot;:633.6}"/>
</p:tagLst>
</file>

<file path=ppt/tags/tag10.xml><?xml version="1.0" encoding="utf-8"?>
<p:tagLst xmlns:p="http://schemas.openxmlformats.org/presentationml/2006/main">
  <p:tag name="KSO_WM_DIAGRAM_VIRTUALLY_FRAME" val="{&quot;height&quot;:300.96,&quot;left&quot;:43.2,&quot;top&quot;:80.64,&quot;width&quot;:633.6}"/>
</p:tagLst>
</file>

<file path=ppt/tags/tag11.xml><?xml version="1.0" encoding="utf-8"?>
<p:tagLst xmlns:p="http://schemas.openxmlformats.org/presentationml/2006/main">
  <p:tag name="KSO_WM_DIAGRAM_VIRTUALLY_FRAME" val="{&quot;height&quot;:300.96,&quot;left&quot;:43.2,&quot;top&quot;:80.64,&quot;width&quot;:633.6}"/>
</p:tagLst>
</file>

<file path=ppt/tags/tag12.xml><?xml version="1.0" encoding="utf-8"?>
<p:tagLst xmlns:p="http://schemas.openxmlformats.org/presentationml/2006/main">
  <p:tag name="KSO_WM_DIAGRAM_VIRTUALLY_FRAME" val="{&quot;height&quot;:300.96,&quot;left&quot;:43.2,&quot;top&quot;:80.64,&quot;width&quot;:633.6}"/>
</p:tagLst>
</file>

<file path=ppt/tags/tag13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14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15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16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17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18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19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20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21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22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23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24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25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26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27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28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29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30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31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32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33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34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35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36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37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38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39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40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41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42.xml><?xml version="1.0" encoding="utf-8"?>
<p:tagLst xmlns:p="http://schemas.openxmlformats.org/presentationml/2006/main">
  <p:tag name="KSO_WM_DIAGRAM_VIRTUALLY_FRAME" val="{&quot;height&quot;:297.36,&quot;left&quot;:28.8,&quot;top&quot;:75.6,&quot;width&quot;:666}"/>
</p:tagLst>
</file>

<file path=ppt/tags/tag43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44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45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46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47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48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49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50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51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52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53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54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55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56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57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58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59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60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61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62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63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64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65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66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67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68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69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70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71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72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73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74.xml><?xml version="1.0" encoding="utf-8"?>
<p:tagLst xmlns:p="http://schemas.openxmlformats.org/presentationml/2006/main">
  <p:tag name="KSO_WM_DIAGRAM_VIRTUALLY_FRAME" val="{&quot;height&quot;:258.4800000000001,&quot;left&quot;:28.8,&quot;top&quot;:113.75999999999999,&quot;width&quot;:676.8}"/>
</p:tagLst>
</file>

<file path=ppt/tags/tag75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76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77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78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79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80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81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82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83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84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85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86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87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88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89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ags/tag90.xml><?xml version="1.0" encoding="utf-8"?>
<p:tagLst xmlns:p="http://schemas.openxmlformats.org/presentationml/2006/main">
  <p:tag name="KSO_WM_DIAGRAM_VIRTUALLY_FRAME" val="{&quot;height&quot;:133.92000000000002,&quot;left&quot;:28.8,&quot;top&quot;:183.6,&quot;width&quot;:66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13724</Words>
  <Application>WPS Presentation</Application>
  <PresentationFormat>On-screen Show (16:9)</PresentationFormat>
  <Paragraphs>1200</Paragraphs>
  <Slides>26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Microsoft YaHei</vt:lpstr>
      <vt:lpstr>Arial Unicode MS</vt:lpstr>
      <vt:lpstr>Georgia</vt:lpstr>
      <vt:lpstr>Calibri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Accounting – Basics &amp; Fundamentals</dc:title>
  <dc:creator>PptxGenJS</dc:creator>
  <dc:subject>PptxGenJS Presentation</dc:subject>
  <cp:lastModifiedBy>Israr Ahmad</cp:lastModifiedBy>
  <cp:revision>13</cp:revision>
  <dcterms:created xsi:type="dcterms:W3CDTF">2026-05-02T04:08:00Z</dcterms:created>
  <dcterms:modified xsi:type="dcterms:W3CDTF">2026-05-08T23:24:57Z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D5E67B21F4D34471B4B9C1163AFA0641_12</vt:lpwstr>
  </property>
  <property fmtid="{D5CDD505-2E9C-101B-9397-08002B2CF9AE}" pid="3" name="KSOProductBuildVer">
    <vt:lpwstr>1033-12.2.0.23196</vt:lpwstr>
  </property>
</Properties>
</file>