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2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1097280"/>
            <a:ext cx="5486400" cy="5486400"/>
          </a:xfrm>
          <a:prstGeom prst="ellipse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365760"/>
            <a:ext cx="3657600" cy="36576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7315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078992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Businesses Deliver Value — Every Day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3566160"/>
            <a:ext cx="32004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28737" y="3974164"/>
            <a:ext cx="3473116" cy="1192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F9BAD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Instructor : Dr. Israr Ahmad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F9BAD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Date : May 21, 2026 (class-1)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F9BAD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             May 22, 2026 (class-2)  </a:t>
            </a:r>
            <a:endParaRPr lang="en-US" sz="16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Operations Mgmt?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44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scope &amp; strategic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Transformation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344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Process → Outputs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96596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Design &amp; Types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Job, batch, mass &amp; continuous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1031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0116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350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supply with demand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355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JIT, EOQ &amp; stock control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97180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Management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355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TQM, Six Sigma &amp; continuous improvement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868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Management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43616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material to customer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977640"/>
            <a:ext cx="502920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4114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03520" y="4023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&amp; Sustainability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436168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elimination &amp; green ops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Operations Management?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941832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64008" cy="10058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7840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Management (OM) is the design, planning, control and improvement of the processes and systems that create and deliver a firm's products or services.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984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is one of three core business functions: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2697480" cy="128930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29443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identifies what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2926080"/>
            <a:ext cx="18288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2414016"/>
            <a:ext cx="2697480" cy="127101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25603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54680" y="29443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creates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926080"/>
            <a:ext cx="18288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2697480" cy="1271016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5603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2944368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the 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allocates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73989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Operations Managers Do: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83449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3931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processes &amp; layouts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454433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3068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 &amp; logistics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91456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3415" y="4650376"/>
            <a:ext cx="3931920" cy="487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quality standards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224528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41605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capacity vs. demand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4590288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45262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improvement initiatives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in Real Life — Examples Across Industries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exist in EVERY organisation — manufacturing AND services.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206240" cy="1143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🍔 Fast Food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McDonald's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recipes, assembly-line kitchen, JIT supply, precise 3-min service target per customer.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53312"/>
            <a:ext cx="4206240" cy="114300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E-Commerce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655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94767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warehouses, same-day fulfilment, real-time inventory tracking, 2.5M packages/day.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87752"/>
            <a:ext cx="4206240" cy="114300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🚗 Manufacturing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89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Toyota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Production System: Lean manufacturing, Kaizen, JIT parts delivery, zero-defect culture.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587752"/>
            <a:ext cx="4206240" cy="1143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Healthcare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889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NHS / Hospital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318211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surgeries, managing beds/equipment, reducing patient wait times, drug inventory.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4206240" cy="1143000"/>
          </a:xfrm>
          <a:prstGeom prst="rect">
            <a:avLst/>
          </a:prstGeom>
          <a:solidFill>
            <a:srgbClr val="7B4F1E"/>
          </a:solidFill>
          <a:ln w="12700">
            <a:solidFill>
              <a:srgbClr val="7B4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👗 Fashion Retail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239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41655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design-to-shelf cycle (vs 6 months for rivals). Responsive supply chain, limited batches.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822192"/>
            <a:ext cx="4206240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✈ Airlines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1239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Ryanair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4416552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25-min aircraft turnaround, gate utilisation, crew scheduling, load factor optimisation.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Transformation Model — How Operations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transform INPUTS into OUTPUTS through a PROCESS. This is the fundamental model of operations.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237744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Transformed: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49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Materials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523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98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2095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Transforming: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465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/ Labour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7398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40142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834640"/>
            <a:ext cx="457200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0604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08960" y="1417320"/>
            <a:ext cx="2926080" cy="329184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0" y="1508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224028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Physical (manufacturing)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58775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Informational (banking)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935224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(logistics)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3282696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(warehousing)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3630168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Physiological (healthcare)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3977640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Psychological (entertainment)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834640"/>
            <a:ext cx="457200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0" y="1417320"/>
            <a:ext cx="2377440" cy="329184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75120" y="19933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22494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2523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2798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Clothes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32095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3465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37398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40142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Transport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4800600"/>
            <a:ext cx="8778240" cy="246888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818888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FEEDBACK — Customer satisfaction, quality data &amp; performance metrics feed back to improve the process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Design — Types of Production Processes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production process depends on VOLUME (how many?) and VARIETY (how different?).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VARIETY ←——————————————————————— LOW VARIETY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0574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8249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/ Jobbing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9424"/>
            <a:ext cx="205740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276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| High Variety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2606040"/>
            <a:ext cx="1929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uniquely made to customer specification. Highly skilled workers, flexible equipment.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776472"/>
            <a:ext cx="2057400" cy="1097280"/>
          </a:xfrm>
          <a:prstGeom prst="rect">
            <a:avLst/>
          </a:prstGeom>
          <a:solidFill>
            <a:srgbClr val="0D2137">
              <a:alpha val="12000"/>
            </a:srgbClr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3813048"/>
            <a:ext cx="1929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Building a bespoke house, a NASA rocket, a custom wedding cake, a law firm preparing a unique case.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627632"/>
            <a:ext cx="2057400" cy="59436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168249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Production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249424"/>
            <a:ext cx="205740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2276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Volume | Medium Variety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256032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32888" y="2606040"/>
            <a:ext cx="1929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similar items processed together. Same equipment used for different batches.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3776472"/>
            <a:ext cx="2057400" cy="1097280"/>
          </a:xfrm>
          <a:prstGeom prst="rect">
            <a:avLst/>
          </a:prstGeom>
          <a:solidFill>
            <a:srgbClr val="0E3D5B">
              <a:alpha val="12000"/>
            </a:srgbClr>
          </a:solidFill>
          <a:ln w="12700">
            <a:solidFill>
              <a:srgbClr val="0E3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32888" y="3813048"/>
            <a:ext cx="1929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bakery making 200 croissants then switching to 200 loaves. Clothing manufactured in size runs.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27632"/>
            <a:ext cx="2057400" cy="59436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68249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/ Line Production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9424"/>
            <a:ext cx="205740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2276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| Low Variety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56032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27448" y="2606040"/>
            <a:ext cx="1929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flow of similar products on an assembly line. Highly standardised.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76472"/>
            <a:ext cx="2057400" cy="1097280"/>
          </a:xfrm>
          <a:prstGeom prst="rect">
            <a:avLst/>
          </a:prstGeom>
          <a:solidFill>
            <a:srgbClr val="1D6A5A">
              <a:alpha val="12000"/>
            </a:srgbClr>
          </a:solidFill>
          <a:ln w="12700">
            <a:solidFill>
              <a:srgbClr val="1D6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27448" y="3813048"/>
            <a:ext cx="1929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Toyota car assembly line, Coca-Cola bottling plant, iPhone manufacturing in Foxconn.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1627632"/>
            <a:ext cx="2057400" cy="594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0" y="1682496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/ Flow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2249424"/>
            <a:ext cx="2057400" cy="2743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227685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Volume | Very Low Variety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256032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22008" y="2606040"/>
            <a:ext cx="1929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non-stop production of a single undifferentiated product. Capital-intensive.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3776472"/>
            <a:ext cx="2057400" cy="1097280"/>
          </a:xfrm>
          <a:prstGeom prst="rect">
            <a:avLst/>
          </a:prstGeom>
          <a:solidFill>
            <a:srgbClr val="6D2E46">
              <a:alpha val="12000"/>
            </a:srgbClr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22008" y="3813048"/>
            <a:ext cx="19293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Oil refinery, electricity generation, paper mills, chemical plants.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↑ ————————— ↓ HIGH VOLUME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Management — Matching Supply with Demand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the maximum output a process can produce in a given time. Managing it is about balancing SUPPLY (what you can produce) vs DEMAND (what customers want).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9748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Capacity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theoretical output under ideal conditions.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2514600" cy="27432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715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 cinema has 300 seats — that's its design capacity.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697480" cy="192024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Effective Capacity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9842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output after maintenance, breaks &amp; quality losses.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670048"/>
            <a:ext cx="2514600" cy="27432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2715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The cinema runs 3 shows/day with 80% occupancy on average.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97480" cy="192024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5727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842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produced — often lower due to unexpected disruptions.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670048"/>
            <a:ext cx="2514600" cy="27432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2715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On Mondays, only 50% of seats fill. Efficiency = 50/80%.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5478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Management Strategies: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950208"/>
            <a:ext cx="2697480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005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Capacity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at a constant rate regardless of demand (build inventory in slack periods)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3950208"/>
            <a:ext cx="2697480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4005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Chase Demand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output to match demand (hire/fire, overtime, part-time staff)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950208"/>
            <a:ext cx="2697480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400507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Management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demand to smooth peaks — e.g. off-peak pricing, promotions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Management — The Right Stock at the Right Time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= any stored resource used to satisfy future demand. Too much = tied-up cash. Too little = lost sales &amp; unhappy customers.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Inventory: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14800" cy="43891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Materials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901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Steel at a car plant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865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Work-In-Progress (WIP)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Half-assembled phones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43891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8895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Finished Goods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907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Boxed products in warehouse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3924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Maintenance, Repair &amp; Ops (MRO)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Spare machine parts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Inventory Models: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20624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8836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EOQ — Economic Order Quantity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176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optimal order size that minimises total inventory costs (ordering + holding costs).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Supermarket orders 500 units of cereal per delivery to minimise cost.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907792"/>
            <a:ext cx="4206240" cy="100584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9626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Just-In-Time (JIT)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2552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arrives exactly when needed — zero excess inventory. Requires reliable suppliers.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566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Toyota receives parts hours before they go on the assembly line.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986784"/>
            <a:ext cx="4206240" cy="100584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40416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ABC Analysis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43342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inventory by value: A items (20% of stock, 80% of value), B items, C items (low value).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4645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Hospital manages drugs: life-saving = A priority, bandages = C.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Management — Getting It Right, Every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2ECC71">
              <a:alpha val="12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64008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509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= consistently meeting or exceeding customer expectations. It is NOT just about luxury — a budget airline with zero delays delivers quality.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2697480" cy="3246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Quality Management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(TQM)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Organisation-wide philosophy: EVERY employee is responsible for quality at every stage. Culture of continuous improvement.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456432"/>
            <a:ext cx="2514600" cy="3657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529584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Toyota's 'Andon Cord' — any worker can stop the assembly line if they spot a defect.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536192"/>
            <a:ext cx="2697480" cy="324612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600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Sigma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28600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method to eliminate defects. Target: fewer than 3.4 defects per million opportunities (DMAIC cycle).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456432"/>
            <a:ext cx="2514600" cy="3657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3529584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GE saved $12 billion in 5 years using Six Sigma. Amazon uses it in fulfilment centres.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536192"/>
            <a:ext cx="2697480" cy="324612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600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 9001 Standards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28600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standard for quality management systems. Provides a framework for consistent processes and customer satisfaction.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3456432"/>
            <a:ext cx="2514600" cy="36576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3529584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Companies like Airbus, NHS suppliers &amp; Bosch are ISO 9001 certified — it signals credibility.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37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Cost of Poor Quality: Rework, recalls, returns, reputation damage. Boeing 737 MAX grounding cost $20B+. Quality saves money.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 Management — From Raw Material to Customer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supply chain is the network of all organisations, activities, resources &amp; technology involved in creating and delivering a product.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1280160" cy="12801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Material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0" y="1417320"/>
            <a:ext cx="128016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4592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plant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1417320"/>
            <a:ext cx="1280160" cy="128016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Manufacturer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car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18745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417320"/>
            <a:ext cx="1280160" cy="128016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Distributor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Wholesaler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hub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0" y="18745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1280160" cy="1280160"/>
          </a:xfrm>
          <a:prstGeom prst="rect">
            <a:avLst/>
          </a:prstGeom>
          <a:solidFill>
            <a:srgbClr val="7B4F1E"/>
          </a:solidFill>
          <a:ln w="12700">
            <a:solidFill>
              <a:srgbClr val="7B4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187452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1417320"/>
            <a:ext cx="1280160" cy="1280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buying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" y="2788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UPSTREAM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2788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→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Supply Chain Concepts: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0624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575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Bullwhip Effect: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8313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in customer demand cause massive swings upstream. A 5% retail sales dip can cause a 40% factory output cut.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520440"/>
            <a:ext cx="4206240" cy="68580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3575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Integration: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8313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stages of supply chain. Apple designs chips, Tesla owns mines. Gives control but requires investment.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279392"/>
            <a:ext cx="4206240" cy="68580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334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Outsourcing / Offshoring: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5902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designs in USA, manufactures in Vietnam. Lower costs but adds risk (quality, ethics, disruption).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279392"/>
            <a:ext cx="420624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4334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Resilience vs Efficiency: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459028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exposed lean supply chains. Companies now hold more safety stock and multi-source suppliers.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Operations — Eliminating Waste, Adding Value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thinking (pioneered by Toyota) focuses on creating more value for customers by systematically eliminating waste.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8 Wastes (TIMWOODS) — Lean identifies 8 types of waste in any process: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05740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874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50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items unnecessarily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Sending parts to wrong dept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1783080"/>
            <a:ext cx="2057400" cy="146304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14600" y="1856232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1460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35808" y="1874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350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stock tying up cash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Overordering raw materials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783080"/>
            <a:ext cx="2057400" cy="146304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1856232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1874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2350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people movement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Poorly laid out workstations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783080"/>
            <a:ext cx="2057400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03720" y="1856232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1856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24928" y="1874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2350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 between process steps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31152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Queue at hospital check-in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355848"/>
            <a:ext cx="205740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3429000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1248" y="3447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Overproduction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3922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more than needed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7472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Printing 1000 brochures, use 200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68880" y="3355848"/>
            <a:ext cx="2057400" cy="146304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14600" y="3429000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1460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35808" y="3447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Over-processing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42032" y="3922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effort than customer needs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542032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Gold-plating a basic report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355848"/>
            <a:ext cx="2057400" cy="146304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3429000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30368" y="3447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36592" y="3922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requiring rework/scrap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36592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Product recall (Boeing, Samsung)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58000" y="3355848"/>
            <a:ext cx="2057400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903720" y="3429000"/>
            <a:ext cx="438912" cy="43891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0372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424928" y="3447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31152" y="3922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Underusing employee talents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31152" y="431596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Engineer doing photocopying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Kaizen &amp; Continuous Improvement — Small Steps, Big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PDCA Cycle (Plan-Do-Check-Act) is the engine of continuous improvement used worldwide: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57400" cy="2560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41832" y="1481328"/>
            <a:ext cx="713232" cy="7132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3042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problem or opportunity. Analyse root cause. Set improvement targets.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468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389888"/>
            <a:ext cx="2057400" cy="256032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36392" y="1481328"/>
            <a:ext cx="713232" cy="7132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36392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68880" y="23042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697480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change on a small scale / pilot. Test the solution.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468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389888"/>
            <a:ext cx="2057400" cy="256032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30952" y="1481328"/>
            <a:ext cx="713232" cy="7132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30952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63440" y="23042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697480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results against targets. Did the change work? Collect data.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246888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1389888"/>
            <a:ext cx="2057400" cy="2560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25512" y="1481328"/>
            <a:ext cx="713232" cy="7132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25512" y="14813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58000" y="23042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2697480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successful: standardise &amp; scale up. If not: refine and repeat the cycle.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8595360" cy="242316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986784"/>
            <a:ext cx="84124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 ACT feeds back into PLAN — the cycle never stops. This is Kaizen: small, daily improvements by everyone.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338828"/>
            <a:ext cx="859536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Continuous Improvement Examples: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17136"/>
            <a:ext cx="83210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497542"/>
            <a:ext cx="8321040" cy="321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Toyota: Workers submit 1 million improvement ideas per year — 90%+ are implemented.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00016"/>
            <a:ext cx="8275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Amazon: 'Working Backwards' process — teams continuously improve from the customer inwards.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4340" y="491359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UK NHS: 'Rapid Improvement Events' cut A&amp;E wait times by 30% in pilot hospitals.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Sustainable Operations — Doing More with Less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 operations means meeting today's needs without compromising future generations — and it's becoming a competitive advantage.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Triple Bottom Line — People, Planet, Profit: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697480" cy="210312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wages, safe conditions, community impact, ethical sourcing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Patagonia pays living wage to all suppliers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828800"/>
            <a:ext cx="2697480" cy="210312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19019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Planet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46120" y="237744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footprint, waste, water use, renewable energy, circular economy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IKEA: 100% renewable energy in all stores by 2030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97480" cy="210312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9019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Profit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377440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sustainability — operations must be viable long-term, not just cheapest now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Unilever: Sustainable brands grow 2× faster than rest of portfolio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Circular Economy: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Take → Make → Dispose  |  Circular: Reduce → Reuse → Recycle → Recover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Apple now designs iPhones with 100% recycled aluminium. Renault refurbishes used car parts in its 'ReFactory'.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Strategy — Competing Through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strategy defines HOW an organisation's operations should support its overall business strategy.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Competitive Priorities — What does your operation compete on?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420624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💲  Cost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" y="232257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at the lowest possible cost. Achieved through economies of scale, automation &amp; lean processes.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862072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Ryanair, ALDI, Primark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4206240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90195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Quality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18888" y="232257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superior products/services. Quality products command premium prices and build loyalty.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8888" y="2862072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Rolls-Royce, Apple, Ritz-Carlton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64992"/>
            <a:ext cx="4206240" cy="1463040"/>
          </a:xfrm>
          <a:prstGeom prst="rect">
            <a:avLst/>
          </a:prstGeom>
          <a:solidFill>
            <a:srgbClr val="1D6A5A"/>
          </a:solidFill>
          <a:ln w="12700">
            <a:solidFill>
              <a:srgbClr val="1D6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345643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Speed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" y="387705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than competitors. Reduce waiting time and lead times through process efficiency.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416552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Amazon Same-Day, Domino's 30min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364992"/>
            <a:ext cx="4206240" cy="146304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345643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Flexibility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18888" y="387705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quickly — product variety, volume or delivery. Key in volatile markets.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8888" y="4416552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Zara 2-week design-to-shelf cycle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828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Trade-offs exist — you cannot excel at ALL four simultaneously. Ryanair chooses Cost; Rolls-Royce chooses Quality.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Management — Topics at a Glance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411480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Topic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Core Concept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Real-World Example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→ Process →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Hospital: patients in → treatment → healthy patient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/ Batch / Mass / Continuous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Batch: bakery; Mass: Toyota; Continuous: oil refinery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vs Effective vs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Cinema: 300 seats, 80% fill on average = effective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EOQ, JIT, ABC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 JIT: parts arrive hours before needed on the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TQM, Six Sigma, ISO 9001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 saved $12B with Six Sigma; Toyota's Andon 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→ downstream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ore → steel → factory → dealer →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/ Kaizen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waste (TIMWOODS)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Toyota: 1M improvement ideas/year from 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Quality, Speed, Flexibility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Ryanair = Cost; Zara = Flexibility; Apple =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286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011680"/>
            <a:ext cx="7680960" cy="438912"/>
          </a:xfrm>
          <a:prstGeom prst="rect">
            <a:avLst/>
          </a:prstGeom>
          <a:solidFill>
            <a:srgbClr val="0E3D5B"/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210312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70432" y="2075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is the engine room — it delivers value to every customer, every day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514600"/>
            <a:ext cx="7680960" cy="438912"/>
          </a:xfrm>
          <a:prstGeom prst="rect">
            <a:avLst/>
          </a:prstGeom>
          <a:solidFill>
            <a:srgbClr val="0E3D5B"/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4672" y="260604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70432" y="2578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operations transform inputs into outputs — and can always be improved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" y="3017520"/>
            <a:ext cx="7680960" cy="438912"/>
          </a:xfrm>
          <a:prstGeom prst="rect">
            <a:avLst/>
          </a:prstGeom>
          <a:solidFill>
            <a:srgbClr val="0E3D5B"/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4672" y="310896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70432" y="3081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process type, capacity level &amp; inventory model is critical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3520440"/>
            <a:ext cx="7680960" cy="438912"/>
          </a:xfrm>
          <a:prstGeom prst="rect">
            <a:avLst/>
          </a:prstGeom>
          <a:solidFill>
            <a:srgbClr val="0E3D5B"/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4672" y="361188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70432" y="3584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is everyone's responsibility — defects cost far more than prevention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" y="4023360"/>
            <a:ext cx="7680960" cy="438912"/>
          </a:xfrm>
          <a:prstGeom prst="rect">
            <a:avLst/>
          </a:prstGeom>
          <a:solidFill>
            <a:srgbClr val="0E3D5B"/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" y="411480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70432" y="4087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Lean, JIT and Kaizen show that small, daily improvements compound into huge gains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1520" y="4526280"/>
            <a:ext cx="7680960" cy="438912"/>
          </a:xfrm>
          <a:prstGeom prst="rect">
            <a:avLst/>
          </a:prstGeom>
          <a:solidFill>
            <a:srgbClr val="0E3D5B"/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04672" y="461772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70432" y="4590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Sustainability is no longer optional — it is an operational and strategic necessity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E3D5B"/>
          </a:solidFill>
          <a:ln w="12700">
            <a:solidFill>
              <a:srgbClr val="0E3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4592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&amp; Q&amp;A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25786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Questions: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99923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Think of a business you use regularly. What are its inputs, transformation process, and outputs?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Should a coffee shop use JIT inventory or hold large stocks? What are the trade-offs?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did COVID-19 expose weaknesses in global supply chains? What should companies do differently?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2569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Can a company be both LEAN and HIGH QUALITY at the same time? Give an example.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Next session: Introduction to Marketing Strategy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2360</Words>
  <Application>Microsoft Office PowerPoint</Application>
  <PresentationFormat>On-screen Show (16:9)</PresentationFormat>
  <Paragraphs>373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Operations Management</dc:title>
  <dc:subject>PptxGenJS Presentation</dc:subject>
  <dc:creator>Course Instructor</dc:creator>
  <cp:lastModifiedBy>Israr Ahmad</cp:lastModifiedBy>
  <cp:revision>6</cp:revision>
  <dcterms:created xsi:type="dcterms:W3CDTF">2026-05-16T01:55:49Z</dcterms:created>
  <dcterms:modified xsi:type="dcterms:W3CDTF">2026-05-22T01:23:43Z</dcterms:modified>
</cp:coreProperties>
</file>