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6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44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69280" y="-914400"/>
            <a:ext cx="5029200" cy="5029200"/>
          </a:xfrm>
          <a:prstGeom prst="ellipse">
            <a:avLst/>
          </a:prstGeom>
          <a:solidFill>
            <a:srgbClr val="1D4E6C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7315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1430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Resource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 &amp; Core Functions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361188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89120" y="4114799"/>
            <a:ext cx="3487554" cy="9545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Instructor : Dr. Israr Ahmad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Date : May 18,2026 (class 1)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             May 19, 2026 (class 2)</a:t>
            </a:r>
            <a:endParaRPr lang="en-US" sz="16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HRM?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441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evolution &amp; strategic importance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50292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097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1005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Planning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3441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needs analysis &amp; forecasting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965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1965960"/>
            <a:ext cx="50292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1031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0116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Recruitment &amp; Selection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3500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Attracting and hiring the right talent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965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1965960"/>
            <a:ext cx="50292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1031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0116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&amp; Development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3500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employee capabilities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50292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Management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3558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and improving performance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9718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2971800"/>
            <a:ext cx="50292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Compensation &amp; Benefits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33558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Rewarding employees fairly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9776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3977640"/>
            <a:ext cx="50292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114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8680" y="4023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Relations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8680" y="43616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culture &amp; conflict resolution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9776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9160" y="3977640"/>
            <a:ext cx="50292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09160" y="4114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03520" y="4023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Compliance &amp; Ethics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03520" y="43616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frameworks &amp; ethical standards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Human Resource Management?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05156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HRM is the strategic approach to managing an organization's most valuable asset — its people.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encompasses all activities related to acquiring, developing, rewarding, and retaining employees to achieve organizational goals.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194560"/>
            <a:ext cx="2697480" cy="2651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0120" y="2880360"/>
            <a:ext cx="141732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999232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resources 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partners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194560"/>
            <a:ext cx="2697480" cy="2651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4680" y="2331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94760" y="2880360"/>
            <a:ext cx="141732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54680" y="2999232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approaches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managing workforce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effectively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2194560"/>
            <a:ext cx="2697480" cy="26517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89320" y="2331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629400" y="2880360"/>
            <a:ext cx="141732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89320" y="2999232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organizational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through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excellence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Evolution of HRM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0"/>
            <a:ext cx="8503920" cy="54864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2258568"/>
            <a:ext cx="292608" cy="292608"/>
          </a:xfrm>
          <a:prstGeom prst="ellipse">
            <a:avLst/>
          </a:prstGeom>
          <a:solidFill>
            <a:srgbClr val="5C6B73"/>
          </a:solidFill>
          <a:ln w="12700">
            <a:solidFill>
              <a:srgbClr val="5C6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1463040" cy="2011680"/>
          </a:xfrm>
          <a:prstGeom prst="rect">
            <a:avLst/>
          </a:prstGeom>
          <a:solidFill>
            <a:srgbClr val="5C6B73"/>
          </a:solidFill>
          <a:ln w="12700">
            <a:solidFill>
              <a:srgbClr val="5C6B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Pre-1900s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3703320"/>
            <a:ext cx="13167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treated as machinery. No formal HR function.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Pre-1900s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52144" y="2103120"/>
            <a:ext cx="0" cy="155448"/>
          </a:xfrm>
          <a:prstGeom prst="line">
            <a:avLst/>
          </a:prstGeom>
          <a:noFill/>
          <a:ln w="12700">
            <a:solidFill>
              <a:srgbClr val="6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70048" y="2258568"/>
            <a:ext cx="292608" cy="292608"/>
          </a:xfrm>
          <a:prstGeom prst="ellipse">
            <a:avLst/>
          </a:prstGeom>
          <a:solidFill>
            <a:srgbClr val="22577A"/>
          </a:solidFill>
          <a:ln w="12700">
            <a:solidFill>
              <a:srgbClr val="225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67128" y="2743200"/>
            <a:ext cx="1463040" cy="2011680"/>
          </a:xfrm>
          <a:prstGeom prst="rect">
            <a:avLst/>
          </a:prstGeom>
          <a:solidFill>
            <a:srgbClr val="22577A"/>
          </a:solidFill>
          <a:ln w="12700">
            <a:solidFill>
              <a:srgbClr val="2257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67128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1900–1940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67128" y="30632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Personnel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Mgmt Era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3703320"/>
            <a:ext cx="13167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admin, basic welfare. Focus on efficiency.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67128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1900–1940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16352" y="2103120"/>
            <a:ext cx="0" cy="155448"/>
          </a:xfrm>
          <a:prstGeom prst="line">
            <a:avLst/>
          </a:prstGeom>
          <a:noFill/>
          <a:ln w="12700">
            <a:solidFill>
              <a:srgbClr val="6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34256" y="2258568"/>
            <a:ext cx="292608" cy="292608"/>
          </a:xfrm>
          <a:prstGeom prst="ellipse">
            <a:avLst/>
          </a:prstGeom>
          <a:solidFill>
            <a:srgbClr val="38A3A5"/>
          </a:solidFill>
          <a:ln w="12700">
            <a:solidFill>
              <a:srgbClr val="38A3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31336" y="2743200"/>
            <a:ext cx="1463040" cy="2011680"/>
          </a:xfrm>
          <a:prstGeom prst="rect">
            <a:avLst/>
          </a:prstGeom>
          <a:solidFill>
            <a:srgbClr val="38A3A5"/>
          </a:solidFill>
          <a:ln w="12700">
            <a:solidFill>
              <a:srgbClr val="38A3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31336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1940–1980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31336" y="30632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as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04488" y="3703320"/>
            <a:ext cx="13167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departments, labor law, unions recognized.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31336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1940–1980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2103120"/>
            <a:ext cx="0" cy="155448"/>
          </a:xfrm>
          <a:prstGeom prst="line">
            <a:avLst/>
          </a:prstGeom>
          <a:noFill/>
          <a:ln w="12700">
            <a:solidFill>
              <a:srgbClr val="6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98464" y="2258568"/>
            <a:ext cx="292608" cy="29260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95544" y="2743200"/>
            <a:ext cx="1463040" cy="20116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95544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1980–2000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95544" y="30632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68696" y="3703320"/>
            <a:ext cx="13167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aligned with business strategy. Talent focus.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95544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1980–2000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44768" y="2103120"/>
            <a:ext cx="0" cy="155448"/>
          </a:xfrm>
          <a:prstGeom prst="line">
            <a:avLst/>
          </a:prstGeom>
          <a:noFill/>
          <a:ln w="12700">
            <a:solidFill>
              <a:srgbClr val="6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62672" y="2258568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59752" y="2743200"/>
            <a:ext cx="1463040" cy="2011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59752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2000–Now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59752" y="30632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HR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32904" y="3703320"/>
            <a:ext cx="13167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analytics, remote work, diversity &amp; inclusion.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59752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2000–Now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808976" y="2103120"/>
            <a:ext cx="0" cy="155448"/>
          </a:xfrm>
          <a:prstGeom prst="line">
            <a:avLst/>
          </a:prstGeom>
          <a:noFill/>
          <a:ln w="12700">
            <a:solidFill>
              <a:srgbClr val="6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D4E6C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D4E6C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HRM Matter?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8346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"People are the only appreciable asset in a company.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else depreciates."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886200"/>
            <a:ext cx="2286000" cy="1005840"/>
          </a:xfrm>
          <a:prstGeom prst="rect">
            <a:avLst/>
          </a:prstGeom>
          <a:solidFill>
            <a:srgbClr val="1D4E6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39136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" y="43708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say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affects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83280" y="3886200"/>
            <a:ext cx="2286000" cy="1005840"/>
          </a:xfrm>
          <a:prstGeom prst="rect">
            <a:avLst/>
          </a:prstGeom>
          <a:solidFill>
            <a:srgbClr val="1D4E6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83280" y="39136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2×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43708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exceed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targets with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workforce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3886200"/>
            <a:ext cx="2286000" cy="1005840"/>
          </a:xfrm>
          <a:prstGeom prst="rect">
            <a:avLst/>
          </a:prstGeom>
          <a:solidFill>
            <a:srgbClr val="1D4E6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35040" y="39136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$1T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035040" y="43708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globally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employee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disengagement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1: HR Planning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HR Planning?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986784" cy="3146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Planning is the process of forecasting an organization's future human resource needs and ensuring the right people are in the right roles at the right time.
</a:t>
            </a:r>
            <a:r>
              <a:rPr lang="en-US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Steps: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current workforce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needs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gaps (shortage or surplus)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action plans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&amp; monitor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Planning Process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846320" y="1508760"/>
            <a:ext cx="3840480" cy="4572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Environmental Scanning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2103120"/>
            <a:ext cx="3840480" cy="457200"/>
          </a:xfrm>
          <a:prstGeom prst="rect">
            <a:avLst/>
          </a:prstGeom>
          <a:solidFill>
            <a:srgbClr val="1D4E6C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Demand Forecasting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2697480"/>
            <a:ext cx="384048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Supply Analysis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3291840"/>
            <a:ext cx="384048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Gap Analysis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3886200"/>
            <a:ext cx="3840480" cy="4572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Strategy Formulation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2: Recruitment &amp; Selection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1234440"/>
          </a:xfrm>
          <a:prstGeom prst="rect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417750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attracting a pool of qualified candidates through job postings, employer branding, and outreach.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234440"/>
          </a:xfrm>
          <a:prstGeom prst="rect">
            <a:avLst/>
          </a:prstGeom>
          <a:solidFill>
            <a:srgbClr val="F4A261">
              <a:alpha val="90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325880"/>
            <a:ext cx="417750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choosing the best candidate from the applicant pool through evaluation and assessment.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286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Hiring Funnel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Analysis &amp; Description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3182112"/>
            <a:ext cx="7132320" cy="384048"/>
          </a:xfrm>
          <a:prstGeom prst="rect">
            <a:avLst/>
          </a:prstGeom>
          <a:solidFill>
            <a:srgbClr val="1D4E6C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32278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Sourcing &amp; Advertising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00200" y="3621024"/>
            <a:ext cx="5943600" cy="384048"/>
          </a:xfrm>
          <a:prstGeom prst="rect">
            <a:avLst/>
          </a:prstGeom>
          <a:solidFill>
            <a:srgbClr val="38A3A5"/>
          </a:solidFill>
          <a:ln w="12700">
            <a:solidFill>
              <a:srgbClr val="38A3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00200" y="366674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Screening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94560" y="4059936"/>
            <a:ext cx="47548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94560" y="41056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Interviews &amp; Assessment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34640" y="4498848"/>
            <a:ext cx="347472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34640" y="4544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 &amp; Onboarding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3: Training &amp; Development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86868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vs. Development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5029200" cy="21031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Training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Development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job 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roles &amp;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potential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techniques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 programmes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577840" y="914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Training Methods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435608"/>
            <a:ext cx="274320" cy="2743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961888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On-the-job training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577840" y="1938528"/>
            <a:ext cx="274320" cy="2743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961888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&amp; e-learning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577840" y="2441448"/>
            <a:ext cx="274320" cy="2743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961888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&amp; coaching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577840" y="2944368"/>
            <a:ext cx="274320" cy="2743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961888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rotation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577840" y="3447288"/>
            <a:ext cx="274320" cy="2743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961888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&amp; role-play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577840" y="3950208"/>
            <a:ext cx="274320" cy="2743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961888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&amp; seminars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56033" y="3950208"/>
            <a:ext cx="5272169" cy="117043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70-20-10 Learning Model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57200" y="3977640"/>
            <a:ext cx="196204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57200" y="4389120"/>
            <a:ext cx="17164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Learning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(on-the-job experience)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2338251" y="3977640"/>
            <a:ext cx="164853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1964654" y="4389120"/>
            <a:ext cx="18497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Learning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(mentors, feedback)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566161" y="3977640"/>
            <a:ext cx="181051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3681114" y="438912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Education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(courses, workshops)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4: Performance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is an ongoing process of communication between a manager and employee to ensure goals are met and performance is improved.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114800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594360" cy="594360"/>
          </a:xfrm>
          <a:prstGeom prst="ellipse">
            <a:avLst/>
          </a:prstGeom>
          <a:solidFill>
            <a:schemeClr val="bg2">
              <a:alpha val="80000"/>
            </a:scheme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 Setting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objectives aligned with org strategy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4114800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594360" cy="594360"/>
          </a:xfrm>
          <a:prstGeom prst="ellipse">
            <a:avLst/>
          </a:prstGeom>
          <a:solidFill>
            <a:schemeClr val="bg2">
              <a:alpha val="80000"/>
            </a:scheme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1691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2103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check-ins, progress tracking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14800" cy="1188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594360" cy="594360"/>
          </a:xfrm>
          <a:prstGeom prst="ellipse">
            <a:avLst/>
          </a:prstGeom>
          <a:solidFill>
            <a:schemeClr val="bg2">
              <a:alpha val="80000"/>
            </a:scheme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063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474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Annual/periodic formal reviews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4114800" cy="1188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3200400"/>
            <a:ext cx="594360" cy="594360"/>
          </a:xfrm>
          <a:prstGeom prst="ellipse">
            <a:avLst/>
          </a:prstGeom>
          <a:solidFill>
            <a:schemeClr val="bg2">
              <a:alpha val="80000"/>
            </a:scheme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77840" y="3063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&amp; Coaching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77840" y="3474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dialogue, development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5704" y="2240280"/>
            <a:ext cx="1243585" cy="1005840"/>
          </a:xfrm>
          <a:prstGeom prst="ellipse">
            <a:avLst/>
          </a:prstGeom>
          <a:solidFill>
            <a:srgbClr val="E2EAF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5704" y="2194560"/>
            <a:ext cx="124358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tools: KPIs, 360-degree feedback, Balanced Scorecard, Appraisal forms, OKRs (Objectives &amp; Key Results)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5: Compensation &amp; Benefits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Rewards Framework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931920" cy="530352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Pay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5361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Salary, hourly wage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3931920" cy="530352"/>
          </a:xfrm>
          <a:prstGeom prst="rect">
            <a:avLst/>
          </a:prstGeom>
          <a:solidFill>
            <a:srgbClr val="1D4E6C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1305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Pay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1579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Bonuses, commissions, incentives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06624"/>
            <a:ext cx="3931920" cy="530352"/>
          </a:xfrm>
          <a:prstGeom prst="rect">
            <a:avLst/>
          </a:prstGeom>
          <a:solidFill>
            <a:srgbClr val="38A3A5"/>
          </a:solidFill>
          <a:ln w="12700">
            <a:solidFill>
              <a:srgbClr val="38A3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523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7797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pension, insurance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3931920" cy="5303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3741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Work-Life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34015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hours, remote work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9319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9959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4520" y="4023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Awards, career growth, culture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91440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Compensation Principles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0600" y="1463040"/>
            <a:ext cx="393192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14996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Equity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pay relative to other roles within the organization.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103120"/>
            <a:ext cx="3931920" cy="548640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21396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Equity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pay compared to industry market rates.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743200"/>
            <a:ext cx="393192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27797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 Equity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reflects individual performance and contribution.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383280"/>
            <a:ext cx="3931920" cy="548640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34198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3657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communication about how pay is determined.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4023360"/>
            <a:ext cx="393192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40599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Factor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4297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should drive performance &amp; retention.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6: Employee Relations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Relations (ER) refers to the efforts made by an organization to maintain positive relationships between management and employees — fostering trust, fairness, and engagement.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691640"/>
            <a:ext cx="2697480" cy="14630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7830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2402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channels between mgmt &amp; staff. Town halls, feedback loops.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54680" y="1691640"/>
            <a:ext cx="2697480" cy="1463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46120" y="17830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Conflict Resolution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46120" y="22402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grievance procedures, mediation, disciplinary processes.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1691640"/>
            <a:ext cx="2697480" cy="1463040"/>
          </a:xfrm>
          <a:prstGeom prst="rect">
            <a:avLst/>
          </a:prstGeom>
          <a:solidFill>
            <a:srgbClr val="1D4E6C"/>
          </a:solidFill>
          <a:ln w="12700">
            <a:solidFill>
              <a:srgbClr val="1D4E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26480" y="17830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Engagement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26480" y="22402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meaningful work, motivation, and organizational commitment.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291840"/>
            <a:ext cx="2697480" cy="1463040"/>
          </a:xfrm>
          <a:prstGeom prst="rect">
            <a:avLst/>
          </a:prstGeom>
          <a:solidFill>
            <a:srgbClr val="38A3A5"/>
          </a:solidFill>
          <a:ln w="12700">
            <a:solidFill>
              <a:srgbClr val="38A3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33832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Workplace Culture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65760" y="38404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norms, and behaviors that define the work environment.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154680" y="3291840"/>
            <a:ext cx="269748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246120" y="33832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Unions &amp; Collective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246120" y="38404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trade unions on collective bargaining agreements.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35040" y="3291840"/>
            <a:ext cx="2697480" cy="1463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126480" y="33832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Wellbeing &amp; Support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126480" y="3840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Assistant Programs, mental health, work-life balance, safety programmes.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7: HR Compliance &amp; Ethics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6926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Legal Areas in HR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228600" cy="228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contracts &amp; termination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20824"/>
            <a:ext cx="228600" cy="228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9751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opportunity &amp; anti-discrimination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487168"/>
            <a:ext cx="228600" cy="228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441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safety &amp; working conditions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53512"/>
            <a:ext cx="228600" cy="228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907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wage &amp; working hours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228600" cy="228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3741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&amp; employee privacy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886200"/>
            <a:ext cx="228600" cy="228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leave &amp; family rights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352544"/>
            <a:ext cx="228600" cy="228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3068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&amp; severance procedures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206240" cy="384048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Ethical HR Principles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508760"/>
            <a:ext cx="3931920" cy="530352"/>
          </a:xfrm>
          <a:prstGeom prst="rect">
            <a:avLst/>
          </a:prstGeom>
          <a:solidFill>
            <a:srgbClr val="1D4E6C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15819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Fairness: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bias-free decisions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130552"/>
            <a:ext cx="3931920" cy="530352"/>
          </a:xfrm>
          <a:prstGeom prst="rect">
            <a:avLst/>
          </a:prstGeom>
          <a:solidFill>
            <a:srgbClr val="1D4E6C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22037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Transparency: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2221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communication about policies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752344"/>
            <a:ext cx="3931920" cy="530352"/>
          </a:xfrm>
          <a:prstGeom prst="rect">
            <a:avLst/>
          </a:prstGeom>
          <a:solidFill>
            <a:srgbClr val="1D4E6C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8254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Confidentiality: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2843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sensitive employee data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374136"/>
            <a:ext cx="3931920" cy="530352"/>
          </a:xfrm>
          <a:prstGeom prst="rect">
            <a:avLst/>
          </a:prstGeom>
          <a:solidFill>
            <a:srgbClr val="1D4E6C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34472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Dignity: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34655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every individual at work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995928"/>
            <a:ext cx="3931920" cy="530352"/>
          </a:xfrm>
          <a:prstGeom prst="rect">
            <a:avLst/>
          </a:prstGeom>
          <a:solidFill>
            <a:srgbClr val="1D4E6C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40690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Accountability: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40873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acts with integrity &amp; ownership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HRM &amp; The HR Business Partner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Dave Ulrich's HR Model (1997)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160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5A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PROCESSES                                                           PEOPLE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 rot="16200000">
            <a:off x="-2361436" y="2507742"/>
            <a:ext cx="4944947" cy="326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5A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FOCUS                              </a:t>
            </a:r>
            <a:r>
              <a:rPr lang="en-US" sz="1000" b="1" dirty="0">
                <a:solidFill>
                  <a:srgbClr val="3D5A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800" b="1" dirty="0">
                <a:solidFill>
                  <a:srgbClr val="3D5A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FOCUS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1965960" cy="12344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Partner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18196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HR strategy with business goals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17320"/>
            <a:ext cx="1965960" cy="1234440"/>
          </a:xfrm>
          <a:prstGeom prst="rect">
            <a:avLst/>
          </a:prstGeom>
          <a:solidFill>
            <a:srgbClr val="1D4E6C"/>
          </a:solidFill>
          <a:ln w="12700">
            <a:solidFill>
              <a:srgbClr val="1D4E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50592" y="149047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1920240"/>
            <a:ext cx="18196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transformation &amp; organizational change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1965960" cy="1234440"/>
          </a:xfrm>
          <a:prstGeom prst="rect">
            <a:avLst/>
          </a:prstGeom>
          <a:solidFill>
            <a:srgbClr val="38A3A5"/>
          </a:solidFill>
          <a:ln w="12700">
            <a:solidFill>
              <a:srgbClr val="38A3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Expert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" y="3246120"/>
            <a:ext cx="18196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HR processes, cost reduction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77440" y="2743200"/>
            <a:ext cx="1965960" cy="12344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5059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Employee Champion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50592" y="3246120"/>
            <a:ext cx="18196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Advocates for employees, boosts engagement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91440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HR Challenges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481328"/>
            <a:ext cx="39319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153619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&amp; automation reshaping jobs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1947672"/>
            <a:ext cx="3931920" cy="411480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200253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Managing remote &amp; hybrid workforces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414016"/>
            <a:ext cx="39319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24688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Diversity, equity &amp; inclusion (DEI)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880360"/>
            <a:ext cx="3931920" cy="411480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29352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HR analytics &amp; data-driven decisions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346704"/>
            <a:ext cx="39319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4015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Continuous learning in fast-changing roles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813048"/>
            <a:ext cx="3931920" cy="411480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38679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Employee mental health &amp; wellbeing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4279392"/>
            <a:ext cx="39319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433425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Talent wars &amp; retention strategies</a:t>
            </a:r>
            <a:endParaRPr lang="en-US" sz="11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09E7B6B-BB83-30B3-141D-48DABFA21823}"/>
              </a:ext>
            </a:extLst>
          </p:cNvPr>
          <p:cNvCxnSpPr>
            <a:cxnSpLocks/>
          </p:cNvCxnSpPr>
          <p:nvPr/>
        </p:nvCxnSpPr>
        <p:spPr>
          <a:xfrm>
            <a:off x="1269710" y="4334256"/>
            <a:ext cx="246626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B1197D-DED6-E8FB-14EC-2580426389F8}"/>
              </a:ext>
            </a:extLst>
          </p:cNvPr>
          <p:cNvCxnSpPr/>
          <p:nvPr/>
        </p:nvCxnSpPr>
        <p:spPr>
          <a:xfrm flipV="1">
            <a:off x="114953" y="2267712"/>
            <a:ext cx="0" cy="74719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HRM Functions — At a Glance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9319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HR Function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Outcome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E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📋  HR Planning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people, right place, right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E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🔍  Recruitment &amp; Selection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Attract &amp; hire top talent efficiently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E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🎓  Training &amp; Development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Skilled, capable, growing workforce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E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📈  Performance Mgmt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performance culture &amp; accountability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E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💰  Compensation &amp; Benefits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Fair, motivating reward structures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E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🤝  Employee Relations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Positive, engaged, productive workforce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E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⚖️  Compliance &amp; Ethics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Legal, ethical, trusted HR practices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D4E6C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D4E6C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743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31520" y="2011680"/>
            <a:ext cx="7680960" cy="475488"/>
          </a:xfrm>
          <a:prstGeom prst="rect">
            <a:avLst/>
          </a:prstGeom>
          <a:solidFill>
            <a:srgbClr val="1D4E6C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4672" y="211226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88720" y="208483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HRM is strategic — it connects people decisions to business outcomes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578608"/>
            <a:ext cx="7680960" cy="475488"/>
          </a:xfrm>
          <a:prstGeom prst="rect">
            <a:avLst/>
          </a:prstGeom>
          <a:solidFill>
            <a:srgbClr val="1D4E6C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04672" y="267919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88720" y="265176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7 core HR functions form an integrated, mutually reinforcing system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3145536"/>
            <a:ext cx="7680960" cy="475488"/>
          </a:xfrm>
          <a:prstGeom prst="rect">
            <a:avLst/>
          </a:prstGeom>
          <a:solidFill>
            <a:srgbClr val="1D4E6C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04672" y="324612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88720" y="321868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Effective HR drives engagement, productivity, retention, and culture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3712464"/>
            <a:ext cx="7680960" cy="475488"/>
          </a:xfrm>
          <a:prstGeom prst="rect">
            <a:avLst/>
          </a:prstGeom>
          <a:solidFill>
            <a:srgbClr val="1D4E6C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381304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188720" y="3785616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must balance legal compliance with ethical leadership and empathy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1520" y="4279392"/>
            <a:ext cx="7680960" cy="475488"/>
          </a:xfrm>
          <a:prstGeom prst="rect">
            <a:avLst/>
          </a:prstGeom>
          <a:solidFill>
            <a:srgbClr val="1D4E6C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" y="4379976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188720" y="435254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future of HR is data-driven, digital, and people-centred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D4E6C"/>
          </a:solidFill>
          <a:ln w="12700">
            <a:solidFill>
              <a:srgbClr val="1D4E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828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Discussion &amp; Q&amp;A</a:t>
            </a:r>
            <a:endParaRPr lang="en-US" sz="3200" dirty="0">
              <a:latin typeface="Algerian" panose="04020705040A02060702" pitchFamily="8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8" name="Text 5"/>
          <p:cNvSpPr/>
          <p:nvPr/>
        </p:nvSpPr>
        <p:spPr>
          <a:xfrm>
            <a:off x="731520" y="349300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968496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44398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1162</Words>
  <Application>Microsoft Office PowerPoint</Application>
  <PresentationFormat>On-screen Show (16:9)</PresentationFormat>
  <Paragraphs>289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Algerian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Human Resource Management</dc:title>
  <dc:subject>PptxGenJS Presentation</dc:subject>
  <dc:creator>Course Instructor</dc:creator>
  <cp:lastModifiedBy>Israr Ahmad</cp:lastModifiedBy>
  <cp:revision>13</cp:revision>
  <dcterms:created xsi:type="dcterms:W3CDTF">2026-05-16T01:38:24Z</dcterms:created>
  <dcterms:modified xsi:type="dcterms:W3CDTF">2026-05-18T23:29:27Z</dcterms:modified>
</cp:coreProperties>
</file>