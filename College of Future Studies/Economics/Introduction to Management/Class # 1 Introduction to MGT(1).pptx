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3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4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1" r:id="rId4"/>
    <p:sldId id="258" r:id="rId5"/>
    <p:sldId id="272" r:id="rId6"/>
    <p:sldId id="260" r:id="rId7"/>
    <p:sldId id="261" r:id="rId8"/>
    <p:sldId id="262" r:id="rId9"/>
    <p:sldId id="263" r:id="rId10"/>
    <p:sldId id="264" r:id="rId11"/>
    <p:sldId id="273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27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3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548640"/>
            <a:ext cx="2743200" cy="2743200"/>
          </a:xfrm>
          <a:prstGeom prst="ellipse">
            <a:avLst/>
          </a:prstGeom>
          <a:solidFill>
            <a:srgbClr val="2A3880">
              <a:alpha val="70000"/>
            </a:srgbClr>
          </a:solidFill>
          <a:ln w="12700">
            <a:solidFill>
              <a:srgbClr val="2A38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-182880"/>
            <a:ext cx="1828800" cy="1828800"/>
          </a:xfrm>
          <a:prstGeom prst="ellipse">
            <a:avLst/>
          </a:prstGeom>
          <a:solidFill>
            <a:srgbClr val="F4A261">
              <a:alpha val="50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F4A261"/>
                </a:solidFill>
              </a:rPr>
              <a:t>INTRODUCTION TO 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77724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Overview of</a:t>
            </a:r>
            <a:endParaRPr lang="en-US" sz="4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Business Administration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ADCFC"/>
                </a:solidFill>
              </a:rPr>
              <a:t>Class 1  • 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657600"/>
            <a:ext cx="365760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3840480"/>
            <a:ext cx="7772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ADCFC"/>
                </a:solidFill>
              </a:rPr>
              <a:t>"Management is doing things right; leadership is doing the right things."</a:t>
            </a:r>
            <a:endParaRPr lang="en-US" sz="1600" dirty="0"/>
          </a:p>
          <a:p>
            <a:pPr marL="0" indent="0" algn="l">
              <a:buNone/>
            </a:pPr>
            <a:r>
              <a:rPr lang="en-US" sz="1600" i="1" dirty="0">
                <a:solidFill>
                  <a:srgbClr val="CADCFC"/>
                </a:solidFill>
              </a:rPr>
              <a:t>— Peter Drucker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5022850" y="4305300"/>
            <a:ext cx="4121785" cy="893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Instructor: Dr. Israr Ahmad</a:t>
            </a:r>
          </a:p>
          <a:p>
            <a:pPr algn="r"/>
            <a:r>
              <a:rPr lang="en-US">
                <a:solidFill>
                  <a:schemeClr val="bg1"/>
                </a:solidFill>
              </a:rPr>
              <a:t>Date : 2026/05/7-8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CLASS AGENDA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>
            <p:custDataLst>
              <p:tags r:id="rId1"/>
            </p:custDataLst>
          </p:nvPr>
        </p:nvSpPr>
        <p:spPr>
          <a:xfrm>
            <a:off x="548640" y="10515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1</a:t>
            </a:r>
          </a:p>
        </p:txBody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2286000" y="105156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Welcome &amp; Course Introduction</a:t>
            </a:r>
          </a:p>
        </p:txBody>
      </p:sp>
      <p:sp>
        <p:nvSpPr>
          <p:cNvPr id="8" name="Shape 6"/>
          <p:cNvSpPr/>
          <p:nvPr/>
        </p:nvSpPr>
        <p:spPr>
          <a:xfrm>
            <a:off x="365760" y="1581912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581912"/>
            <a:ext cx="54864" cy="502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548640" y="1673352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2286000" y="167335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What is Business Administration?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2203704"/>
            <a:ext cx="841248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203704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>
            <p:custDataLst>
              <p:tags r:id="rId5"/>
            </p:custDataLst>
          </p:nvPr>
        </p:nvSpPr>
        <p:spPr>
          <a:xfrm>
            <a:off x="548640" y="2295144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>
            <p:custDataLst>
              <p:tags r:id="rId6"/>
            </p:custDataLst>
          </p:nvPr>
        </p:nvSpPr>
        <p:spPr>
          <a:xfrm>
            <a:off x="2286000" y="2295144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Core Functional Areas of Business</a:t>
            </a:r>
          </a:p>
        </p:txBody>
      </p:sp>
      <p:sp>
        <p:nvSpPr>
          <p:cNvPr id="16" name="Shape 14"/>
          <p:cNvSpPr/>
          <p:nvPr/>
        </p:nvSpPr>
        <p:spPr>
          <a:xfrm>
            <a:off x="365760" y="2825496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825496"/>
            <a:ext cx="54864" cy="502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>
            <p:custDataLst>
              <p:tags r:id="rId7"/>
            </p:custDataLst>
          </p:nvPr>
        </p:nvSpPr>
        <p:spPr>
          <a:xfrm>
            <a:off x="548640" y="2916936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>
            <p:custDataLst>
              <p:tags r:id="rId8"/>
            </p:custDataLst>
          </p:nvPr>
        </p:nvSpPr>
        <p:spPr>
          <a:xfrm>
            <a:off x="2286000" y="2916936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How Functions Work Together</a:t>
            </a:r>
          </a:p>
        </p:txBody>
      </p:sp>
      <p:sp>
        <p:nvSpPr>
          <p:cNvPr id="20" name="Shape 18"/>
          <p:cNvSpPr/>
          <p:nvPr/>
        </p:nvSpPr>
        <p:spPr>
          <a:xfrm>
            <a:off x="365760" y="3447288"/>
            <a:ext cx="841248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447288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>
            <p:custDataLst>
              <p:tags r:id="rId9"/>
            </p:custDataLst>
          </p:nvPr>
        </p:nvSpPr>
        <p:spPr>
          <a:xfrm>
            <a:off x="548640" y="3538728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>
            <p:custDataLst>
              <p:tags r:id="rId10"/>
            </p:custDataLst>
          </p:nvPr>
        </p:nvSpPr>
        <p:spPr>
          <a:xfrm>
            <a:off x="2286000" y="353872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Why Study Business Administration?</a:t>
            </a:r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069080"/>
            <a:ext cx="54864" cy="502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>
            <p:custDataLst>
              <p:tags r:id="rId11"/>
            </p:custDataLst>
          </p:nvPr>
        </p:nvSpPr>
        <p:spPr>
          <a:xfrm>
            <a:off x="548640" y="416052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>
            <p:custDataLst>
              <p:tags r:id="rId12"/>
            </p:custDataLst>
          </p:nvPr>
        </p:nvSpPr>
        <p:spPr>
          <a:xfrm>
            <a:off x="2286000" y="41605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Q&amp;A, Wrap-Up &amp; Next Class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033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algn="ctr"/>
            <a:r>
              <a:rPr lang="en-US" altLang="en-US" sz="2800" dirty="0">
                <a:solidFill>
                  <a:schemeClr val="bg1"/>
                </a:solidFill>
                <a:latin typeface="Algerian" panose="04020705040A02060702" pitchFamily="82" charset="0"/>
                <a:cs typeface="Aharoni" panose="020F0502020204030204" pitchFamily="2" charset="-79"/>
              </a:rPr>
              <a:t>What is a Business?</a:t>
            </a:r>
          </a:p>
        </p:txBody>
      </p:sp>
      <p:sp>
        <p:nvSpPr>
          <p:cNvPr id="4" name="Shape 2"/>
          <p:cNvSpPr/>
          <p:nvPr/>
        </p:nvSpPr>
        <p:spPr>
          <a:xfrm>
            <a:off x="509270" y="1409700"/>
            <a:ext cx="7459980" cy="370205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“Name a company you interact with daily”.........</a:t>
            </a:r>
          </a:p>
        </p:txBody>
      </p:sp>
      <p:sp>
        <p:nvSpPr>
          <p:cNvPr id="8" name="Shape 6"/>
          <p:cNvSpPr/>
          <p:nvPr/>
        </p:nvSpPr>
        <p:spPr>
          <a:xfrm>
            <a:off x="530860" y="2505075"/>
            <a:ext cx="7439660" cy="4927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“What do they actually do behind the scenes?”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09270" y="3820794"/>
            <a:ext cx="7461250" cy="40011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altLang="en-US" sz="2000" b="1" dirty="0"/>
              <a:t>“What departments do you think exist in these companies?”</a:t>
            </a:r>
            <a:endParaRPr lang="en-US" sz="2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BUSINESS ADMINISTRATION?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916940"/>
          </a:xfrm>
          <a:prstGeom prst="rect">
            <a:avLst/>
          </a:prstGeom>
          <a:solidFill>
            <a:srgbClr val="1E2761">
              <a:alpha val="10000"/>
            </a:srgbClr>
          </a:solidFill>
          <a:ln w="12700">
            <a:solidFill>
              <a:srgbClr val="1E276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7575"/>
            <a:ext cx="79375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24128"/>
            <a:ext cx="80467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93B"/>
                </a:solidFill>
              </a:rPr>
              <a:t>Business Administration is the process of organizing, managing, and overseeing all aspects of a business — from finance and marketing to human resources and operations — to achieve organizational goals efficiently and effectively.</a:t>
            </a:r>
            <a:endParaRPr lang="en-US" sz="135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405597" y="2066925"/>
            <a:ext cx="3984836" cy="996209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568613" y="2285124"/>
            <a:ext cx="3622578" cy="3622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Planning</a:t>
            </a: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568613" y="2665495"/>
            <a:ext cx="3622578" cy="407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Setting goals &amp; strategies for the future</a:t>
            </a:r>
          </a:p>
        </p:txBody>
      </p:sp>
      <p:sp>
        <p:nvSpPr>
          <p:cNvPr id="10" name="Shape 8"/>
          <p:cNvSpPr/>
          <p:nvPr>
            <p:custDataLst>
              <p:tags r:id="rId4"/>
            </p:custDataLst>
          </p:nvPr>
        </p:nvSpPr>
        <p:spPr>
          <a:xfrm>
            <a:off x="4610692" y="2077085"/>
            <a:ext cx="3984836" cy="996209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4825143" y="2285124"/>
            <a:ext cx="3622578" cy="3622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Organizing</a:t>
            </a:r>
            <a:endParaRPr lang="en-US" sz="1500" dirty="0"/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4825143" y="2665495"/>
            <a:ext cx="3622578" cy="407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Structuring resources and responsibilities</a:t>
            </a:r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445135" y="3183890"/>
            <a:ext cx="3984625" cy="858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594360" y="3232150"/>
            <a:ext cx="3622675" cy="470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Leading</a:t>
            </a:r>
            <a:endParaRPr lang="en-US" sz="1500" dirty="0"/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594648" y="3634115"/>
            <a:ext cx="3622578" cy="407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Motivating people toward shared goals</a:t>
            </a:r>
          </a:p>
        </p:txBody>
      </p:sp>
      <p:sp>
        <p:nvSpPr>
          <p:cNvPr id="16" name="Shape 14"/>
          <p:cNvSpPr/>
          <p:nvPr>
            <p:custDataLst>
              <p:tags r:id="rId10"/>
            </p:custDataLst>
          </p:nvPr>
        </p:nvSpPr>
        <p:spPr>
          <a:xfrm>
            <a:off x="4610735" y="3239770"/>
            <a:ext cx="3984625" cy="819785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4824730" y="3273425"/>
            <a:ext cx="3622675" cy="290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Controlling</a:t>
            </a:r>
            <a:endParaRPr lang="en-US" sz="1500" dirty="0"/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4825365" y="3617595"/>
            <a:ext cx="3622675" cy="377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Monitoring &amp; correcting performance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439420" y="4163165"/>
            <a:ext cx="8201660" cy="8806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000" dirty="0"/>
              <a:t>Inputs → Processes → Outputs</a:t>
            </a:r>
          </a:p>
          <a:p>
            <a:pPr algn="ctr"/>
            <a:r>
              <a:rPr lang="en-US" altLang="en-US" sz="2000" dirty="0"/>
              <a:t>(People, Money) → (Management) → (Products/Services)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05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58317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CORE FUNCTIONAL AREAS OF BUSINESS</a:t>
            </a:r>
            <a:endParaRPr lang="en-US" sz="2000" dirty="0"/>
          </a:p>
        </p:txBody>
      </p:sp>
      <p:sp>
        <p:nvSpPr>
          <p:cNvPr id="4" name="Text Box 3"/>
          <p:cNvSpPr txBox="1"/>
          <p:nvPr/>
        </p:nvSpPr>
        <p:spPr>
          <a:xfrm>
            <a:off x="-3175" y="816610"/>
            <a:ext cx="9138285" cy="4281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5" name="Flowchart: Connector 4"/>
          <p:cNvSpPr/>
          <p:nvPr/>
        </p:nvSpPr>
        <p:spPr>
          <a:xfrm>
            <a:off x="3619500" y="2299335"/>
            <a:ext cx="1945005" cy="1408430"/>
          </a:xfrm>
          <a:prstGeom prst="flowChartConnector">
            <a:avLst/>
          </a:pr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Business Administration</a:t>
            </a:r>
          </a:p>
        </p:txBody>
      </p:sp>
      <p:sp>
        <p:nvSpPr>
          <p:cNvPr id="6" name="Rectangles 5"/>
          <p:cNvSpPr/>
          <p:nvPr/>
        </p:nvSpPr>
        <p:spPr>
          <a:xfrm>
            <a:off x="741045" y="1145540"/>
            <a:ext cx="1258570" cy="732790"/>
          </a:xfrm>
          <a:prstGeom prst="rect">
            <a:avLst/>
          </a:prstGeo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sym typeface="+mn-ea"/>
              </a:rPr>
              <a:t>Finance</a:t>
            </a:r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3934460" y="1145540"/>
            <a:ext cx="1356360" cy="73279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sym typeface="+mn-ea"/>
              </a:rPr>
              <a:t>Marketing </a:t>
            </a:r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7125335" y="1145540"/>
            <a:ext cx="1258570" cy="7327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sym typeface="+mn-ea"/>
              </a:rPr>
              <a:t>HRM</a:t>
            </a:r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741045" y="4193540"/>
            <a:ext cx="1258570" cy="7327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sym typeface="+mn-ea"/>
              </a:rPr>
              <a:t>Accounting</a:t>
            </a:r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3907155" y="4193540"/>
            <a:ext cx="1383665" cy="73279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sym typeface="+mn-ea"/>
              </a:rPr>
              <a:t>Strategy</a:t>
            </a:r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7125335" y="4135755"/>
            <a:ext cx="1258570" cy="7327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sym typeface="+mn-ea"/>
              </a:rPr>
              <a:t>Operations </a:t>
            </a:r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999615" y="1878330"/>
            <a:ext cx="1731645" cy="87503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2027555" y="3414395"/>
            <a:ext cx="1879600" cy="79629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5" idx="0"/>
          </p:cNvCxnSpPr>
          <p:nvPr/>
        </p:nvCxnSpPr>
        <p:spPr>
          <a:xfrm>
            <a:off x="4592320" y="1878330"/>
            <a:ext cx="0" cy="421005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0" idx="0"/>
            <a:endCxn id="5" idx="4"/>
          </p:cNvCxnSpPr>
          <p:nvPr/>
        </p:nvCxnSpPr>
        <p:spPr>
          <a:xfrm flipH="1" flipV="1">
            <a:off x="4592320" y="3707765"/>
            <a:ext cx="6985" cy="485775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5439410" y="3287395"/>
            <a:ext cx="1680210" cy="854075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564505" y="1878965"/>
            <a:ext cx="1560830" cy="874395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FINANCE &amp; ACCOUNTING</a:t>
            </a:r>
            <a:endParaRPr lang="en-US" sz="22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365760" y="914400"/>
            <a:ext cx="402336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💰 FINANCE</a:t>
            </a:r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502920" y="1508760"/>
            <a:ext cx="379476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Managing company funds &amp; investments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Capital budgeting &amp; resource allocation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Financial risk assessment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Profit maximization strategies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Working capital management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4754880" y="914400"/>
            <a:ext cx="4023360" cy="502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96012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📊 ACCOUNTING</a:t>
            </a:r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4892040" y="1508760"/>
            <a:ext cx="379476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Recording &amp; tracking financial transactions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Preparing financial statements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Tax planning &amp; compliance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Auditing &amp; internal controls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Cost accounting &amp; analysis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MARKETING &amp; HUMAN RESOURCE MANAGEMENT</a:t>
            </a:r>
            <a:endParaRPr lang="en-US" sz="19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365760" y="914400"/>
            <a:ext cx="402336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📣 MARKETING</a:t>
            </a:r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502920" y="1508760"/>
            <a:ext cx="379476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Understanding customer needs &amp; markets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Product development &amp; branding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Pricing strategies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Promotion &amp; advertising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Digital marketing &amp; social media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Market research &amp; consumer behavior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4754880" y="914400"/>
            <a:ext cx="4023360" cy="50292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96012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👥 HUMAN RESOURCE MGMT</a:t>
            </a:r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4892040" y="1508760"/>
            <a:ext cx="379476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Recruitment &amp; selection of talent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Training &amp; development programs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Performance management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Compensation &amp; benefits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Employee relations &amp; welfare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Organizational culture &amp; diversity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OPERATIONS MANAGEMENT &amp; STRATEGIC MANAGEMENT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⚙️ OPERATIONS MGT</a:t>
            </a:r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9476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Designing &amp; managing production processes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Supply chain &amp; logistics management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Quality control &amp; assurance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Inventory management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Process improvement (Lean, Six Sigma)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Capacity planning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5029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96012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</a:rPr>
              <a:t>🎯 STRATEGIC MGT</a:t>
            </a:r>
          </a:p>
        </p:txBody>
      </p:sp>
      <p:sp>
        <p:nvSpPr>
          <p:cNvPr id="11" name="Text 9"/>
          <p:cNvSpPr/>
          <p:nvPr/>
        </p:nvSpPr>
        <p:spPr>
          <a:xfrm>
            <a:off x="4743450" y="1508760"/>
            <a:ext cx="4025265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Defining organizational vision &amp; mission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Environmental scanning (SWOT, PESTLE)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Competitive advantage &amp; positioning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Corporate, business &amp; functional strategies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Strategy implementation &amp; evaluation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Innovation &amp; change management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FUNCTIONAL AREAS WORK TOGETHER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4155"/>
                </a:solidFill>
              </a:rPr>
              <a:t>Every business function is interdependent. A decision in one area directly impacts all others.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8595360" cy="457200"/>
          </a:xfrm>
          <a:prstGeom prst="rect">
            <a:avLst/>
          </a:prstGeom>
          <a:solidFill>
            <a:srgbClr val="1E2761">
              <a:alpha val="15000"/>
            </a:srgbClr>
          </a:solidFill>
          <a:ln w="12700">
            <a:solidFill>
              <a:srgbClr val="1E276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EXAMPLE: Launching a New Product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1508760" cy="14630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Marketing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1508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Identifies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market need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74520" y="2697480"/>
            <a:ext cx="18288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57400" y="2103120"/>
            <a:ext cx="150876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57400" y="2176272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Finance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57400" y="2578608"/>
            <a:ext cx="1508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Allocates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budget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66160" y="2697480"/>
            <a:ext cx="18288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49040" y="2103120"/>
            <a:ext cx="1508760" cy="1463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49040" y="2176272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Operations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49040" y="2578608"/>
            <a:ext cx="1508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Plans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production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57800" y="2697480"/>
            <a:ext cx="18288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40680" y="2103120"/>
            <a:ext cx="1508760" cy="146304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40680" y="2176272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40680" y="2578608"/>
            <a:ext cx="1508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Hires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trains staff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949440" y="2697480"/>
            <a:ext cx="18288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32320" y="2103120"/>
            <a:ext cx="1508760" cy="1463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0" y="2176272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Accounting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0" y="2578608"/>
            <a:ext cx="1508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Tracks costs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&amp; revenue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3794760"/>
            <a:ext cx="2697480" cy="105156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3794760"/>
            <a:ext cx="64008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" y="382219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Strategy aligns all functions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" y="416052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The overall company strategy sets direction for every department.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3794760"/>
            <a:ext cx="2697480" cy="105156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46120" y="3794760"/>
            <a:ext cx="64008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74136" y="382219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Information flows both ways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74136" y="416052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Data from Accounting informs Finance; HRM feeds Operations with talent.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794760"/>
            <a:ext cx="2697480" cy="105156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26480" y="3794760"/>
            <a:ext cx="64008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54496" y="382219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Conflict &amp; coordination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54496" y="416052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Managers must balance competing priorities across departments.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STUDY BUSINESS ADMINISTRATION?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9748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2471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A261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Versatile Career Paths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Open doors in finance, consulting, marketing, entrepreneurship, nonprofit management, and more.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9748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12471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C4B6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Develop Critical Thinking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947672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Analyze complex business problems and make decisions with incomplete information.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69748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112471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6F51"/>
                </a:solidFill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160020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Global Relevance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947672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Business principles apply across industries, countries, and organizational sizes.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2697480" cy="6400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04495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57B9D"/>
                </a:solidFill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02920" y="352044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Entrepreneurship Skills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867912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Learn how to plan, launch, and grow your own business venture from the ground up.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288036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46120" y="2880360"/>
            <a:ext cx="269748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83280" y="304495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9D8F"/>
                </a:solidFill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383280" y="352044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Leadership Foundation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867912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Build people management, communication, and organizational skills.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2880360"/>
            <a:ext cx="269748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63640" y="304495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C46A"/>
                </a:solidFill>
              </a:rPr>
              <a:t>06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263640" y="352044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High Earning Potential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867912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MBA and BBA graduates consistently rank among the highest earners globally.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5880"/>
            <a:ext cx="9144000" cy="772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altLang="en-US" sz="2400">
              <a:solidFill>
                <a:schemeClr val="bg1"/>
              </a:solidFill>
            </a:endParaRPr>
          </a:p>
          <a:p>
            <a:r>
              <a:rPr lang="en-US" altLang="en-US" sz="2400">
                <a:solidFill>
                  <a:schemeClr val="bg1"/>
                </a:solidFill>
              </a:rPr>
              <a:t>Types of Businesses</a:t>
            </a:r>
          </a:p>
        </p:txBody>
      </p:sp>
      <p:sp>
        <p:nvSpPr>
          <p:cNvPr id="4" name="Shape 2"/>
          <p:cNvSpPr/>
          <p:nvPr/>
        </p:nvSpPr>
        <p:spPr>
          <a:xfrm>
            <a:off x="245110" y="1387475"/>
            <a:ext cx="4458970" cy="3400425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Manufacturing (Nike)</a:t>
            </a: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Service (Uber)</a:t>
            </a: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Retail (Walmart)</a:t>
            </a: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E-commerce (Amazon)</a:t>
            </a: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45110" y="920115"/>
            <a:ext cx="4478655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r>
              <a:rPr lang="en-US"/>
              <a:t>Catagories</a:t>
            </a:r>
          </a:p>
        </p:txBody>
      </p:sp>
      <p:sp>
        <p:nvSpPr>
          <p:cNvPr id="3" name="Shape 2"/>
          <p:cNvSpPr/>
          <p:nvPr/>
        </p:nvSpPr>
        <p:spPr>
          <a:xfrm>
            <a:off x="4778375" y="1318260"/>
            <a:ext cx="4296410" cy="346964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Sole Proprietorship</a:t>
            </a: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Partnership</a:t>
            </a: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Corporation</a:t>
            </a:r>
          </a:p>
        </p:txBody>
      </p:sp>
      <p:sp>
        <p:nvSpPr>
          <p:cNvPr id="6" name="Shape 3"/>
          <p:cNvSpPr/>
          <p:nvPr/>
        </p:nvSpPr>
        <p:spPr>
          <a:xfrm>
            <a:off x="4778375" y="920115"/>
            <a:ext cx="4297045" cy="502920"/>
          </a:xfrm>
          <a:prstGeom prst="rect">
            <a:avLst/>
          </a:prstGeom>
          <a:solidFill>
            <a:schemeClr val="accent6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r>
              <a:rPr lang="en-US"/>
              <a:t>Ownership Types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COURSE ROADMAP – WHAT YOU WILL LEARN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4008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0332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Module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27101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Overview of Business Administration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64008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9472" y="10332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Module 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19472" y="127101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64008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181051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Module 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204825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Introcution to Finance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737360"/>
            <a:ext cx="64008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9472" y="181051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Module 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19345" y="1271270"/>
            <a:ext cx="374015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Introduction to Accounting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5146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514600"/>
            <a:ext cx="64008" cy="6583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" y="258775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Module 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" y="282549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Intoduction to Operations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5146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514600"/>
            <a:ext cx="64008" cy="65836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19472" y="258775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Module 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19472" y="282549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Intoduction to Human Resource Management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2918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3291840"/>
            <a:ext cx="64008" cy="6583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" y="336499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Module 7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0352" y="360273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Introduction to Business Management </a:t>
            </a:r>
          </a:p>
        </p:txBody>
      </p:sp>
      <p:sp>
        <p:nvSpPr>
          <p:cNvPr id="32" name="Shape 30"/>
          <p:cNvSpPr/>
          <p:nvPr/>
        </p:nvSpPr>
        <p:spPr>
          <a:xfrm>
            <a:off x="4754880" y="32918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3291840"/>
            <a:ext cx="64008" cy="6583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19472" y="336499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Module 8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19472" y="360273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Exchanges and Discussion</a:t>
            </a:r>
          </a:p>
        </p:txBody>
      </p:sp>
      <p:sp>
        <p:nvSpPr>
          <p:cNvPr id="48" name="Text 17"/>
          <p:cNvSpPr/>
          <p:nvPr/>
        </p:nvSpPr>
        <p:spPr>
          <a:xfrm>
            <a:off x="4919345" y="2121535"/>
            <a:ext cx="396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Introduction to Marketing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CLASS ACTIVITY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solidFill>
            <a:srgbClr val="1E2761">
              <a:alpha val="10000"/>
            </a:srgbClr>
          </a:solidFill>
          <a:ln w="12700">
            <a:solidFill>
              <a:srgbClr val="1E276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E2761"/>
                </a:solidFill>
              </a:rPr>
              <a:t>"Map a Business You Know"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118872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00200" y="1920240"/>
            <a:ext cx="731520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37360" y="2011680"/>
            <a:ext cx="7040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Think of a business you are familiar with (family business, your favorite brand, a local shop, etc.)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32888"/>
            <a:ext cx="118872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00200" y="2532888"/>
            <a:ext cx="7315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7360" y="2624328"/>
            <a:ext cx="7040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Identify which functional areas exist in that business — Finance, Marketing, HR, Operations, Accounting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45536"/>
            <a:ext cx="118872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218688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00200" y="3145536"/>
            <a:ext cx="731520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37360" y="3236976"/>
            <a:ext cx="7040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Write down ONE specific activity each function performs in that business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758184"/>
            <a:ext cx="118872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831336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00200" y="3758184"/>
            <a:ext cx="7315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737360" y="3849624"/>
            <a:ext cx="7040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Share with a partner: How do these functions support each other?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370832"/>
            <a:ext cx="11887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443984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Debrief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00200" y="4370832"/>
            <a:ext cx="731520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737360" y="4462272"/>
            <a:ext cx="7040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3-4 groups share their findings with the class. Instructor highlights key takeaways.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CONCEPTS FROM TODAY'S CLASS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4008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6984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Business Administration: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880360" y="1069848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The process of planning, organizing, leading, and controlling an organization's resources to achieve its goals.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64008" cy="6858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865376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Functional Areas: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80360" y="1865376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Specialized departments in a business: Finance, Accounting, Marketing, HRM, Operations, and Strategy.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51176"/>
            <a:ext cx="8412480" cy="68580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551176"/>
            <a:ext cx="64008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660904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Interdependence: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80360" y="2660904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All functional areas rely on each other — a change in one area ripples across the entire organization.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346704"/>
            <a:ext cx="64008" cy="6858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45643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Management: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880360" y="3456432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Getting things done through and with people — involves both science (principles) and art (judgment).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42232"/>
            <a:ext cx="8412480" cy="68580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4142232"/>
            <a:ext cx="64008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Stakeholders: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880360" y="425196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Anyone affected by the business: employees, customers, investors, suppliers, community, and government.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DISCUSSION QUESTIONS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51560" y="1005840"/>
            <a:ext cx="7726680" cy="77724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1097280"/>
            <a:ext cx="7452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Can a business survive without one of the core functional areas? Which do you think is most critical — and why?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51560" y="1965960"/>
            <a:ext cx="7726680" cy="77724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2057400"/>
            <a:ext cx="7452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Think of a major business failure (e.g., Kodak, Nokia, Toys R Us). Which functional area(s) do you think failed? Why?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0175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051560" y="2926080"/>
            <a:ext cx="7726680" cy="77724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88720" y="3017520"/>
            <a:ext cx="7452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If you were to start a business tomorrow, which functional area would you personally run? Which would you hire out first?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9776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51560" y="3886200"/>
            <a:ext cx="7726680" cy="77724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88720" y="3977640"/>
            <a:ext cx="7452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How has the rise of technology (AI, e-commerce, data analytics) changed the role of traditional business functions?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RECOMMENDED RESOURCES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2743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📚 Textbooks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Robbins &amp; Coulter – Management (14th Ed.)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Nickels, McHugh &amp; McHugh – Understanding Business (12th Ed.)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Griffin – Fundamentals of Management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2743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502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🎧 Podcasts &amp; Videos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74904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HBR IdeaCast (Harvard Business Review)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How I Built This – NPR (entrepreneurship)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TED Talks: Business &amp; Management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886200"/>
            <a:ext cx="8412480" cy="868680"/>
          </a:xfrm>
          <a:prstGeom prst="rect">
            <a:avLst/>
          </a:prstGeom>
          <a:solidFill>
            <a:srgbClr val="1E2761">
              <a:alpha val="10000"/>
            </a:srgbClr>
          </a:solidFill>
          <a:ln w="12700">
            <a:solidFill>
              <a:srgbClr val="1E276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64008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Next Class Preview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25196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Module 2: Introduction to Accounting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2A3880">
              <a:alpha val="70000"/>
            </a:srgbClr>
          </a:solidFill>
          <a:ln w="12700">
            <a:solidFill>
              <a:srgbClr val="2A38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kern="0" spc="800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36576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CADCFC"/>
                </a:solidFill>
              </a:rPr>
              <a:t>Questions &amp; Open Discussion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</a:rPr>
              <a:t>Introduction to Management</a:t>
            </a:r>
            <a:r>
              <a:rPr lang="en-US" sz="1400" dirty="0">
                <a:solidFill>
                  <a:srgbClr val="CADCFC"/>
                </a:solidFill>
              </a:rPr>
              <a:t>  ·  Class 1: Overview of Business Administration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474720"/>
            <a:ext cx="7315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</a:rPr>
              <a:t>"The best managers know how every piece of the business fits together."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</a:rPr>
              <a:t>— Adapted from Henry Mintzberg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,&quot;left&quot;:43.2,&quot;top&quot;:82.8,&quot;width&quot;:640.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,&quot;left&quot;:43.2,&quot;top&quot;:82.8,&quot;width&quot;:640.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,&quot;left&quot;:43.2,&quot;top&quot;:82.8,&quot;width&quot;:640.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,&quot;left&quot;:43.2,&quot;top&quot;:82.8,&quot;width&quot;:640.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,&quot;left&quot;:43.2,&quot;top&quot;:82.8,&quot;width&quot;:640.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,&quot;left&quot;:43.2,&quot;top&quot;:82.8,&quot;width&quot;:640.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,&quot;left&quot;:43.2,&quot;top&quot;:82.8,&quot;width&quot;:640.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,&quot;left&quot;:43.2,&quot;top&quot;:82.8,&quot;width&quot;:640.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,&quot;left&quot;:43.2,&quot;top&quot;:82.8,&quot;width&quot;:640.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,&quot;left&quot;:43.2,&quot;top&quot;:82.8,&quot;width&quot;:640.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,&quot;left&quot;:43.2,&quot;top&quot;:82.8,&quot;width&quot;:640.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,&quot;left&quot;:43.2,&quot;top&quot;:82.8,&quot;width&quot;:640.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6.9,&quot;left&quot;:28.8,&quot;top&quot;:162.75,&quot;width&quot;:655.263195691202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6.9,&quot;left&quot;:28.8,&quot;top&quot;:162.75,&quot;width&quot;:655.263195691202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6.9,&quot;left&quot;:28.8,&quot;top&quot;:162.75,&quot;width&quot;:655.263195691202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6.9,&quot;left&quot;:28.8,&quot;top&quot;:162.75,&quot;width&quot;:655.263195691202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6.9,&quot;left&quot;:28.8,&quot;top&quot;:162.75,&quot;width&quot;:655.263195691202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6.9,&quot;left&quot;:28.8,&quot;top&quot;:162.75,&quot;width&quot;:655.263195691202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6.9,&quot;left&quot;:28.8,&quot;top&quot;:162.75,&quot;width&quot;:655.263195691202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6.9,&quot;left&quot;:28.8,&quot;top&quot;:162.75,&quot;width&quot;:655.263195691202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6.9,&quot;left&quot;:28.8,&quot;top&quot;:162.75,&quot;width&quot;:655.263195691202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6.9,&quot;left&quot;:28.8,&quot;top&quot;:162.75,&quot;width&quot;:655.263195691202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6.9,&quot;left&quot;:28.8,&quot;top&quot;:162.75,&quot;width&quot;:655.263195691202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6.9,&quot;left&quot;:28.8,&quot;top&quot;:162.75,&quot;width&quot;:655.2631956912028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6,&quot;left&quot;:28.8,&quot;top&quot;:72,&quot;width&quot;:662.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6,&quot;left&quot;:28.8,&quot;top&quot;:72,&quot;width&quot;:662.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6,&quot;left&quot;:28.8,&quot;top&quot;:72,&quot;width&quot;:662.4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6,&quot;left&quot;:28.8,&quot;top&quot;:72,&quot;width&quot;:662.4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6,&quot;left&quot;:28.8,&quot;top&quot;:72,&quot;width&quot;:662.4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6,&quot;left&quot;:28.8,&quot;top&quot;:72,&quot;width&quot;:662.4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6,&quot;left&quot;:28.8,&quot;top&quot;:72,&quot;width&quot;:662.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6,&quot;left&quot;:28.8,&quot;top&quot;:72,&quot;width&quot;:662.4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6,&quot;left&quot;:28.8,&quot;top&quot;:72,&quot;width&quot;:662.4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6,&quot;left&quot;:28.8,&quot;top&quot;:72,&quot;width&quot;:662.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6,&quot;left&quot;:28.8,&quot;top&quot;:72,&quot;width&quot;:662.4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6,&quot;left&quot;:28.8,&quot;top&quot;:72,&quot;width&quot;:66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1080</Words>
  <Application>Microsoft Office PowerPoint</Application>
  <PresentationFormat>On-screen Show (16:9)</PresentationFormat>
  <Paragraphs>223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Algerian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Management – Overview of Business Administration</dc:title>
  <dc:subject>PptxGenJS Presentation</dc:subject>
  <dc:creator>PptxGenJS</dc:creator>
  <cp:lastModifiedBy>Israr Ahmad</cp:lastModifiedBy>
  <cp:revision>17</cp:revision>
  <dcterms:created xsi:type="dcterms:W3CDTF">2026-05-02T03:23:00Z</dcterms:created>
  <dcterms:modified xsi:type="dcterms:W3CDTF">2026-05-08T00:56:03Z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300CB610EA3848A3A49A18A3861A80EB_12</vt:lpwstr>
  </property>
  <property fmtid="{D5CDD505-2E9C-101B-9397-08002B2CF9AE}" pid="3" name="KSOProductBuildVer">
    <vt:lpwstr>1033-12.2.0.23196</vt:lpwstr>
  </property>
</Properties>
</file>