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240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n Zhou" userId="307cf16e35cdea9e" providerId="LiveId" clId="{49B2BC24-B782-5D0C-BEEB-4D8A5491F99E}"/>
    <pc:docChg chg="modSld">
      <pc:chgData name="Xun Zhou" userId="307cf16e35cdea9e" providerId="LiveId" clId="{49B2BC24-B782-5D0C-BEEB-4D8A5491F99E}" dt="2025-11-14T08:15:01.765" v="102" actId="20577"/>
      <pc:docMkLst>
        <pc:docMk/>
      </pc:docMkLst>
      <pc:sldChg chg="modSp mod">
        <pc:chgData name="Xun Zhou" userId="307cf16e35cdea9e" providerId="LiveId" clId="{49B2BC24-B782-5D0C-BEEB-4D8A5491F99E}" dt="2025-11-14T08:15:01.765" v="102" actId="20577"/>
        <pc:sldMkLst>
          <pc:docMk/>
          <pc:sldMk cId="424711434" sldId="258"/>
        </pc:sldMkLst>
        <pc:spChg chg="mod">
          <ac:chgData name="Xun Zhou" userId="307cf16e35cdea9e" providerId="LiveId" clId="{49B2BC24-B782-5D0C-BEEB-4D8A5491F99E}" dt="2025-11-14T08:15:01.765" v="102" actId="20577"/>
          <ac:spMkLst>
            <pc:docMk/>
            <pc:sldMk cId="424711434" sldId="258"/>
            <ac:spMk id="3" creationId="{3F2F678B-3299-4994-B461-81FCE617DC4A}"/>
          </ac:spMkLst>
        </pc:spChg>
      </pc:sldChg>
      <pc:sldChg chg="modSp mod">
        <pc:chgData name="Xun Zhou" userId="307cf16e35cdea9e" providerId="LiveId" clId="{49B2BC24-B782-5D0C-BEEB-4D8A5491F99E}" dt="2025-11-14T08:13:59.490" v="26" actId="20577"/>
        <pc:sldMkLst>
          <pc:docMk/>
          <pc:sldMk cId="2999621526" sldId="259"/>
        </pc:sldMkLst>
        <pc:spChg chg="mod">
          <ac:chgData name="Xun Zhou" userId="307cf16e35cdea9e" providerId="LiveId" clId="{49B2BC24-B782-5D0C-BEEB-4D8A5491F99E}" dt="2025-11-14T08:13:59.490" v="26" actId="20577"/>
          <ac:spMkLst>
            <pc:docMk/>
            <pc:sldMk cId="2999621526" sldId="259"/>
            <ac:spMk id="2" creationId="{29DC848F-AFEA-4398-9CEB-F833C29F99E4}"/>
          </ac:spMkLst>
        </pc:spChg>
      </pc:sldChg>
      <pc:sldChg chg="modSp mod">
        <pc:chgData name="Xun Zhou" userId="307cf16e35cdea9e" providerId="LiveId" clId="{49B2BC24-B782-5D0C-BEEB-4D8A5491F99E}" dt="2025-11-14T08:14:19.160" v="51" actId="20577"/>
        <pc:sldMkLst>
          <pc:docMk/>
          <pc:sldMk cId="3565079011" sldId="260"/>
        </pc:sldMkLst>
        <pc:spChg chg="mod">
          <ac:chgData name="Xun Zhou" userId="307cf16e35cdea9e" providerId="LiveId" clId="{49B2BC24-B782-5D0C-BEEB-4D8A5491F99E}" dt="2025-11-14T08:14:19.160" v="51" actId="20577"/>
          <ac:spMkLst>
            <pc:docMk/>
            <pc:sldMk cId="3565079011" sldId="260"/>
            <ac:spMk id="3" creationId="{80B68BE8-9E35-444F-9F82-B27D6E9590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C882D-20F3-4877-A42F-29947B891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Final Review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5F1DF8-338C-42C5-980B-63FAA64114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73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2C50E-EB34-41B2-95BB-2D244C1E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A970E5-7F38-4380-B13D-178385B2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dirty="0"/>
              <a:t> Time: 11/27 Thursday 4pm-6pm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/>
              <a:t> Location: H301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/>
              <a:t> Check your attendance record. Missing over 1/3 </a:t>
            </a:r>
            <a:r>
              <a:rPr lang="en-US" altLang="zh-CN" dirty="0" err="1"/>
              <a:t>lectures+labs</a:t>
            </a:r>
            <a:r>
              <a:rPr lang="en-US" altLang="zh-CN" dirty="0"/>
              <a:t> =  </a:t>
            </a:r>
            <a:r>
              <a:rPr lang="en-US" altLang="zh-CN" b="1" dirty="0">
                <a:solidFill>
                  <a:srgbClr val="FF0000"/>
                </a:solidFill>
              </a:rPr>
              <a:t>DQ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FF0000"/>
                </a:solidFill>
              </a:rPr>
              <a:t> Closed book, Closed note. No electronic devices can be used.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FF0000"/>
                </a:solidFill>
              </a:rPr>
              <a:t> One cheat-sheet allowed: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FF0000"/>
                </a:solidFill>
              </a:rPr>
              <a:t> Hand-written, single-side, A4 size.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FF0000"/>
                </a:solidFill>
              </a:rPr>
              <a:t> Must turn in along with exam. Write student ID and Name on it.</a:t>
            </a: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96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43F1C-F1AA-4EA9-9540-93F8CCFE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Outstanding Issues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6071A-A99A-4D17-8A1B-691048900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HW3 due </a:t>
            </a:r>
          </a:p>
          <a:p>
            <a:r>
              <a:rPr lang="en-US" altLang="zh-CN" dirty="0"/>
              <a:t>Lab 6 due </a:t>
            </a:r>
          </a:p>
          <a:p>
            <a:endParaRPr lang="en-US" altLang="zh-CN" dirty="0"/>
          </a:p>
          <a:p>
            <a:r>
              <a:rPr lang="en-US" altLang="zh-CN" dirty="0"/>
              <a:t>If you submitted a </a:t>
            </a:r>
            <a:r>
              <a:rPr lang="en-US" altLang="zh-CN" dirty="0" err="1"/>
              <a:t>hw</a:t>
            </a:r>
            <a:r>
              <a:rPr lang="en-US" altLang="zh-CN" dirty="0"/>
              <a:t> or lab but I did not receive it, please contact the TA with (1) proof of submission with timestamp, and (2) resend the original file to the TA. </a:t>
            </a:r>
          </a:p>
          <a:p>
            <a:endParaRPr lang="en-US" altLang="zh-CN" dirty="0"/>
          </a:p>
          <a:p>
            <a:r>
              <a:rPr lang="en-US" altLang="zh-CN" dirty="0"/>
              <a:t>All HW/Lab grades will be posted before final exam.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159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5539F-67E1-4965-8FAC-9765CB9C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Types of Questions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F678B-3299-4994-B461-81FCE617D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True or False</a:t>
            </a:r>
          </a:p>
          <a:p>
            <a:r>
              <a:rPr lang="en-US" altLang="zh-CN" dirty="0"/>
              <a:t> Multiple choices (only one correct answer)</a:t>
            </a:r>
          </a:p>
          <a:p>
            <a:r>
              <a:rPr lang="zh-CN" altLang="en-US"/>
              <a:t> </a:t>
            </a:r>
            <a:r>
              <a:rPr lang="en-US" altLang="zh-CN"/>
              <a:t>Write</a:t>
            </a:r>
            <a:r>
              <a:rPr lang="zh-CN" altLang="en-US" dirty="0"/>
              <a:t> </a:t>
            </a:r>
            <a:r>
              <a:rPr lang="en-US" altLang="zh-CN" dirty="0"/>
              <a:t>queries</a:t>
            </a:r>
            <a:r>
              <a:rPr lang="zh-CN" altLang="en-US" dirty="0"/>
              <a:t> </a:t>
            </a:r>
            <a:r>
              <a:rPr lang="en-US" altLang="zh-CN" dirty="0"/>
              <a:t>(relational</a:t>
            </a:r>
            <a:r>
              <a:rPr lang="zh-CN" altLang="en-US" dirty="0"/>
              <a:t> </a:t>
            </a:r>
            <a:r>
              <a:rPr lang="en-US" altLang="zh-CN" dirty="0"/>
              <a:t>algebra,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SQL)</a:t>
            </a:r>
          </a:p>
          <a:p>
            <a:r>
              <a:rPr lang="en-US" altLang="zh-CN" dirty="0"/>
              <a:t> Fill in blanks</a:t>
            </a:r>
          </a:p>
          <a:p>
            <a:r>
              <a:rPr lang="en-US" altLang="zh-CN" dirty="0"/>
              <a:t> Show query output</a:t>
            </a:r>
          </a:p>
          <a:p>
            <a:r>
              <a:rPr lang="en-US" altLang="zh-CN" dirty="0"/>
              <a:t> Brief text answers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71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848F-AFEA-4398-9CEB-F833C29F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included</a:t>
            </a:r>
            <a:r>
              <a:rPr lang="zh-CN" altLang="en-US" dirty="0"/>
              <a:t> </a:t>
            </a:r>
            <a:r>
              <a:rPr lang="en-US" altLang="zh-CN" dirty="0"/>
              <a:t>(not</a:t>
            </a:r>
            <a:r>
              <a:rPr lang="zh-CN" altLang="en-US" dirty="0"/>
              <a:t> </a:t>
            </a:r>
            <a:r>
              <a:rPr lang="en-US" altLang="zh-CN" dirty="0"/>
              <a:t>limited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these)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B68BE8-9E35-444F-9F82-B27D6E95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ER diagram, EER diagram.</a:t>
            </a:r>
          </a:p>
          <a:p>
            <a:pPr lvl="1"/>
            <a:r>
              <a:rPr lang="en-US" altLang="zh-CN" dirty="0"/>
              <a:t>Given an EERD, convert it to relational schema</a:t>
            </a:r>
          </a:p>
          <a:p>
            <a:pPr lvl="1"/>
            <a:r>
              <a:rPr lang="en-US" altLang="zh-CN" dirty="0"/>
              <a:t>Concepts and design principles of EERD (e.g., when to use associative entity)</a:t>
            </a:r>
          </a:p>
          <a:p>
            <a:pPr marL="0" indent="0">
              <a:buNone/>
            </a:pPr>
            <a:r>
              <a:rPr lang="en-US" altLang="zh-CN" dirty="0"/>
              <a:t>2. Relational Model</a:t>
            </a:r>
          </a:p>
          <a:p>
            <a:pPr lvl="1"/>
            <a:r>
              <a:rPr lang="en-US" altLang="zh-CN" dirty="0"/>
              <a:t>Basic concepts: relation, relational schema, PK, FK, integrity constraints, short text representation and graphical representation.</a:t>
            </a:r>
          </a:p>
          <a:p>
            <a:pPr lvl="1"/>
            <a:r>
              <a:rPr lang="en-US" altLang="zh-CN" dirty="0"/>
              <a:t>Normal Forms and normalization: Functional dependencies, partial and transitive dependencies.</a:t>
            </a:r>
          </a:p>
          <a:p>
            <a:pPr lvl="1"/>
            <a:r>
              <a:rPr lang="en-US" altLang="zh-CN" dirty="0"/>
              <a:t>1NF, 2NF, 3NF, convert a table to first three.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962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848F-AFEA-4398-9CEB-F833C29F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included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B68BE8-9E35-444F-9F82-B27D6E959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05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3. SQL</a:t>
            </a:r>
          </a:p>
          <a:p>
            <a:pPr lvl="1"/>
            <a:r>
              <a:rPr lang="en-US" altLang="zh-CN" dirty="0"/>
              <a:t>6 basic clauses,</a:t>
            </a:r>
            <a:r>
              <a:rPr lang="zh-CN" altLang="en-US" dirty="0"/>
              <a:t> </a:t>
            </a:r>
            <a:r>
              <a:rPr lang="en-US" altLang="zh-CN" dirty="0"/>
              <a:t>update,</a:t>
            </a:r>
            <a:r>
              <a:rPr lang="zh-CN" altLang="en-US" dirty="0"/>
              <a:t> </a:t>
            </a:r>
            <a:r>
              <a:rPr lang="en-US" altLang="zh-CN" dirty="0"/>
              <a:t>delete,</a:t>
            </a:r>
            <a:r>
              <a:rPr lang="zh-CN" altLang="en-US" dirty="0"/>
              <a:t> </a:t>
            </a:r>
            <a:r>
              <a:rPr lang="en-US" altLang="zh-CN" dirty="0"/>
              <a:t>insert.</a:t>
            </a:r>
          </a:p>
          <a:p>
            <a:pPr lvl="1"/>
            <a:r>
              <a:rPr lang="en-US" altLang="zh-CN" dirty="0"/>
              <a:t>Join (inner, outer, </a:t>
            </a:r>
            <a:r>
              <a:rPr lang="en-US" altLang="zh-CN" dirty="0" err="1"/>
              <a:t>equi</a:t>
            </a:r>
            <a:r>
              <a:rPr lang="en-US" altLang="zh-CN" dirty="0"/>
              <a:t>, natural, theta, self)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Set-based operations (union, intersect, minus) (Lecture slide corrected)</a:t>
            </a:r>
          </a:p>
          <a:p>
            <a:pPr lvl="1"/>
            <a:r>
              <a:rPr lang="en-US" altLang="zh-CN" dirty="0"/>
              <a:t>Sub-queries (where clause, from clause, </a:t>
            </a:r>
            <a:r>
              <a:rPr lang="en-US" altLang="zh-CN" dirty="0">
                <a:solidFill>
                  <a:srgbClr val="FF0000"/>
                </a:solidFill>
              </a:rPr>
              <a:t>no having clause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Correlated subqueries are </a:t>
            </a:r>
            <a:r>
              <a:rPr lang="en-US" altLang="zh-CN" dirty="0">
                <a:solidFill>
                  <a:srgbClr val="FF0000"/>
                </a:solidFill>
              </a:rPr>
              <a:t>NOT</a:t>
            </a:r>
            <a:r>
              <a:rPr lang="en-US" altLang="zh-CN" dirty="0"/>
              <a:t> included</a:t>
            </a:r>
          </a:p>
          <a:p>
            <a:pPr lvl="1"/>
            <a:r>
              <a:rPr lang="en-US" altLang="zh-CN" dirty="0"/>
              <a:t>PL/SQL anonymous blocks (</a:t>
            </a:r>
            <a:r>
              <a:rPr lang="en-US" altLang="zh-CN" dirty="0">
                <a:solidFill>
                  <a:srgbClr val="FF0000"/>
                </a:solidFill>
              </a:rPr>
              <a:t>excluding cursor</a:t>
            </a:r>
            <a:r>
              <a:rPr lang="en-US" altLang="zh-CN" dirty="0"/>
              <a:t>), stored functions and procedures</a:t>
            </a:r>
          </a:p>
          <a:p>
            <a:pPr lvl="1"/>
            <a:r>
              <a:rPr lang="en-US" altLang="zh-CN" dirty="0"/>
              <a:t>Triggers (only before trigger, </a:t>
            </a:r>
            <a:r>
              <a:rPr lang="en-US" altLang="zh-CN" dirty="0">
                <a:solidFill>
                  <a:srgbClr val="FF0000"/>
                </a:solidFill>
              </a:rPr>
              <a:t>no after triggers</a:t>
            </a:r>
            <a:r>
              <a:rPr lang="en-US" altLang="zh-CN" dirty="0"/>
              <a:t>), commit, rollback</a:t>
            </a:r>
          </a:p>
          <a:p>
            <a:r>
              <a:rPr lang="en-US" altLang="zh-CN" dirty="0"/>
              <a:t>Given a text question, write SQL query or PL/SQL (or fill in blanks)</a:t>
            </a:r>
          </a:p>
          <a:p>
            <a:r>
              <a:rPr lang="en-US" altLang="zh-CN" dirty="0"/>
              <a:t>Given a SQL query or block, show output.</a:t>
            </a:r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07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848F-AFEA-4398-9CEB-F833C29F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included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B68BE8-9E35-444F-9F82-B27D6E95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4. Physical modeling</a:t>
            </a:r>
          </a:p>
          <a:p>
            <a:pPr lvl="1"/>
            <a:r>
              <a:rPr lang="en-US" altLang="zh-CN" dirty="0"/>
              <a:t>Basic concepts: I/O cost, page, block, file organization (heap, sequential), </a:t>
            </a:r>
          </a:p>
          <a:p>
            <a:pPr lvl="1"/>
            <a:r>
              <a:rPr lang="en-US" altLang="zh-CN" dirty="0"/>
              <a:t>Index: primary vs. secondary, dense vs. sparse, clustering vs. </a:t>
            </a:r>
            <a:r>
              <a:rPr lang="en-US" altLang="zh-CN" dirty="0" err="1"/>
              <a:t>nonclustering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index: concepts, number of slots used in each node, how to search, how to do insertion (only concepts, no algorithm).</a:t>
            </a:r>
          </a:p>
          <a:p>
            <a:pPr marL="0" indent="0">
              <a:buNone/>
            </a:pPr>
            <a:r>
              <a:rPr lang="en-US" altLang="zh-CN" dirty="0"/>
              <a:t>5. Relational Algebra</a:t>
            </a:r>
          </a:p>
          <a:p>
            <a:pPr lvl="1"/>
            <a:r>
              <a:rPr lang="en-US" altLang="zh-CN" dirty="0"/>
              <a:t>Basic operations: selection, projection, rename, union, intersection, difference, join, Cartesian product. (division Not Included)</a:t>
            </a:r>
          </a:p>
          <a:p>
            <a:pPr lvl="1"/>
            <a:r>
              <a:rPr lang="en-US" altLang="zh-CN" dirty="0"/>
              <a:t>Write query expressions </a:t>
            </a:r>
          </a:p>
          <a:p>
            <a:pPr lvl="1"/>
            <a:r>
              <a:rPr lang="en-US" altLang="zh-CN" dirty="0"/>
              <a:t>Show output of expressions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912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848F-AFEA-4398-9CEB-F833C29F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included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B68BE8-9E35-444F-9F82-B27D6E95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6. Query processing &amp; optimization</a:t>
            </a:r>
          </a:p>
          <a:p>
            <a:pPr lvl="1"/>
            <a:r>
              <a:rPr lang="en-US" altLang="zh-CN" dirty="0"/>
              <a:t>Basic idea of query optimization</a:t>
            </a:r>
          </a:p>
          <a:p>
            <a:pPr lvl="1"/>
            <a:r>
              <a:rPr lang="en-US" altLang="zh-CN" dirty="0"/>
              <a:t>Convert relational algebra expression to logical query plan (tree structure)</a:t>
            </a:r>
          </a:p>
          <a:p>
            <a:pPr marL="0" indent="0">
              <a:buNone/>
            </a:pPr>
            <a:r>
              <a:rPr lang="en-US" altLang="zh-CN" dirty="0"/>
              <a:t>7. Concurrency Control</a:t>
            </a:r>
          </a:p>
          <a:p>
            <a:pPr lvl="1"/>
            <a:r>
              <a:rPr lang="en-US" altLang="zh-CN" dirty="0"/>
              <a:t>Basic concepts: transactions, ACID, schedule, conflict, serializable, conflict serializable </a:t>
            </a:r>
          </a:p>
          <a:p>
            <a:pPr lvl="1"/>
            <a:r>
              <a:rPr lang="en-US" altLang="zh-CN" dirty="0"/>
              <a:t>Two-phase locking: basic concepts, </a:t>
            </a:r>
          </a:p>
          <a:p>
            <a:pPr lvl="1"/>
            <a:r>
              <a:rPr lang="en-US" altLang="zh-CN" dirty="0"/>
              <a:t>Add locks on a schedule to implement two-phase locking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2172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542</Words>
  <Application>Microsoft Macintosh PowerPoint</Application>
  <PresentationFormat>宽屏</PresentationFormat>
  <Paragraphs>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WPS</vt:lpstr>
      <vt:lpstr>Final Review</vt:lpstr>
      <vt:lpstr>Exam Policy</vt:lpstr>
      <vt:lpstr>Outstanding Issues</vt:lpstr>
      <vt:lpstr>Types of Questions </vt:lpstr>
      <vt:lpstr>Topics included (not limited to these)</vt:lpstr>
      <vt:lpstr>Topics included</vt:lpstr>
      <vt:lpstr>Topics included</vt:lpstr>
      <vt:lpstr>Topics included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</dc:title>
  <dc:creator>ASUS</dc:creator>
  <cp:lastModifiedBy>Zhou, Xun</cp:lastModifiedBy>
  <cp:revision>100</cp:revision>
  <dcterms:created xsi:type="dcterms:W3CDTF">2023-08-09T12:44:00Z</dcterms:created>
  <dcterms:modified xsi:type="dcterms:W3CDTF">2025-11-14T08:15:02Z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