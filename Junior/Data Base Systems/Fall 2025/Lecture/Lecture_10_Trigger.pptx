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4" r:id="rId1"/>
  </p:sldMasterIdLst>
  <p:notesMasterIdLst>
    <p:notesMasterId r:id="rId25"/>
  </p:notesMasterIdLst>
  <p:sldIdLst>
    <p:sldId id="407" r:id="rId2"/>
    <p:sldId id="260" r:id="rId3"/>
    <p:sldId id="261" r:id="rId4"/>
    <p:sldId id="408" r:id="rId5"/>
    <p:sldId id="262" r:id="rId6"/>
    <p:sldId id="273" r:id="rId7"/>
    <p:sldId id="264" r:id="rId8"/>
    <p:sldId id="274" r:id="rId9"/>
    <p:sldId id="275" r:id="rId10"/>
    <p:sldId id="409" r:id="rId11"/>
    <p:sldId id="276" r:id="rId12"/>
    <p:sldId id="277" r:id="rId13"/>
    <p:sldId id="278" r:id="rId14"/>
    <p:sldId id="279" r:id="rId15"/>
    <p:sldId id="410" r:id="rId16"/>
    <p:sldId id="283" r:id="rId17"/>
    <p:sldId id="411" r:id="rId18"/>
    <p:sldId id="412" r:id="rId19"/>
    <p:sldId id="284" r:id="rId20"/>
    <p:sldId id="304" r:id="rId21"/>
    <p:sldId id="305" r:id="rId22"/>
    <p:sldId id="306" r:id="rId23"/>
    <p:sldId id="30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, Xun" initials="ZX" lastIdx="1" clrIdx="0">
    <p:extLst>
      <p:ext uri="{19B8F6BF-5375-455C-9EA6-DF929625EA0E}">
        <p15:presenceInfo xmlns:p15="http://schemas.microsoft.com/office/powerpoint/2012/main" userId="S-1-5-21-1343024091-1383384898-725345543-876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9" autoAdjust="0"/>
    <p:restoredTop sz="96433" autoAdjust="0"/>
  </p:normalViewPr>
  <p:slideViewPr>
    <p:cSldViewPr snapToGrid="0">
      <p:cViewPr varScale="1">
        <p:scale>
          <a:sx n="116" d="100"/>
          <a:sy n="116" d="100"/>
        </p:scale>
        <p:origin x="52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-109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n Zhou" userId="307cf16e35cdea9e" providerId="LiveId" clId="{071D360F-31A9-4F21-8DD2-9094D2FDA3FD}"/>
    <pc:docChg chg="addSld delSld modSld">
      <pc:chgData name="Xun Zhou" userId="307cf16e35cdea9e" providerId="LiveId" clId="{071D360F-31A9-4F21-8DD2-9094D2FDA3FD}" dt="2025-10-20T16:51:41.049" v="2"/>
      <pc:docMkLst>
        <pc:docMk/>
      </pc:docMkLst>
      <pc:sldChg chg="del">
        <pc:chgData name="Xun Zhou" userId="307cf16e35cdea9e" providerId="LiveId" clId="{071D360F-31A9-4F21-8DD2-9094D2FDA3FD}" dt="2025-10-20T16:49:40.194" v="0" actId="47"/>
        <pc:sldMkLst>
          <pc:docMk/>
          <pc:sldMk cId="2554555121" sldId="257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3324530723" sldId="260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4259381529" sldId="261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476694644" sldId="262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273264805" sldId="264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425004315" sldId="265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841470900" sldId="266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235919445" sldId="267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432326112" sldId="268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816235843" sldId="269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4043463284" sldId="270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486671419" sldId="271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2753070023" sldId="273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94359570" sldId="274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359596723" sldId="275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462911150" sldId="276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719458354" sldId="277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3549649612" sldId="278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834581677" sldId="279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539256650" sldId="283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149864628" sldId="284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239666757" sldId="291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59355950" sldId="294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362919040" sldId="295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120138081" sldId="296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698184009" sldId="297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4255023767" sldId="298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701149891" sldId="299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532463630" sldId="300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610654718" sldId="301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295491743" sldId="302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722870766" sldId="303"/>
        </pc:sldMkLst>
      </pc:sldChg>
      <pc:sldChg chg="add">
        <pc:chgData name="Xun Zhou" userId="307cf16e35cdea9e" providerId="LiveId" clId="{071D360F-31A9-4F21-8DD2-9094D2FDA3FD}" dt="2025-10-20T16:51:41.049" v="2"/>
        <pc:sldMkLst>
          <pc:docMk/>
          <pc:sldMk cId="1451328827" sldId="304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012789302" sldId="305"/>
        </pc:sldMkLst>
      </pc:sldChg>
      <pc:sldChg chg="add">
        <pc:chgData name="Xun Zhou" userId="307cf16e35cdea9e" providerId="LiveId" clId="{071D360F-31A9-4F21-8DD2-9094D2FDA3FD}" dt="2025-10-20T16:51:41.049" v="2"/>
        <pc:sldMkLst>
          <pc:docMk/>
          <pc:sldMk cId="4164455954" sldId="305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814415550" sldId="306"/>
        </pc:sldMkLst>
      </pc:sldChg>
      <pc:sldChg chg="add">
        <pc:chgData name="Xun Zhou" userId="307cf16e35cdea9e" providerId="LiveId" clId="{071D360F-31A9-4F21-8DD2-9094D2FDA3FD}" dt="2025-10-20T16:51:41.049" v="2"/>
        <pc:sldMkLst>
          <pc:docMk/>
          <pc:sldMk cId="1208604829" sldId="306"/>
        </pc:sldMkLst>
      </pc:sldChg>
      <pc:sldChg chg="add">
        <pc:chgData name="Xun Zhou" userId="307cf16e35cdea9e" providerId="LiveId" clId="{071D360F-31A9-4F21-8DD2-9094D2FDA3FD}" dt="2025-10-20T16:51:41.049" v="2"/>
        <pc:sldMkLst>
          <pc:docMk/>
          <pc:sldMk cId="2777202346" sldId="307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057720445" sldId="307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726165065" sldId="308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267832577" sldId="309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932199139" sldId="310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257602428" sldId="311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880084283" sldId="312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194390918" sldId="313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3650292349" sldId="314"/>
        </pc:sldMkLst>
      </pc:sldChg>
      <pc:sldChg chg="del">
        <pc:chgData name="Xun Zhou" userId="307cf16e35cdea9e" providerId="LiveId" clId="{071D360F-31A9-4F21-8DD2-9094D2FDA3FD}" dt="2025-10-20T16:49:40.194" v="0" actId="47"/>
        <pc:sldMkLst>
          <pc:docMk/>
          <pc:sldMk cId="2544560057" sldId="315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4227353135" sldId="408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2072156081" sldId="409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58385580" sldId="410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2613723632" sldId="411"/>
        </pc:sldMkLst>
      </pc:sldChg>
      <pc:sldChg chg="add">
        <pc:chgData name="Xun Zhou" userId="307cf16e35cdea9e" providerId="LiveId" clId="{071D360F-31A9-4F21-8DD2-9094D2FDA3FD}" dt="2025-10-20T16:49:41.085" v="1"/>
        <pc:sldMkLst>
          <pc:docMk/>
          <pc:sldMk cId="2923374796" sldId="412"/>
        </pc:sldMkLst>
      </pc:sldChg>
    </pc:docChg>
  </pc:docChgLst>
  <pc:docChgLst>
    <pc:chgData name="Xun Zhou" userId="307cf16e35cdea9e" providerId="LiveId" clId="{A26FA108-34C0-440C-B627-CD19D788777B}"/>
    <pc:docChg chg="modSld">
      <pc:chgData name="Xun Zhou" userId="307cf16e35cdea9e" providerId="LiveId" clId="{A26FA108-34C0-440C-B627-CD19D788777B}" dt="2025-10-26T07:18:30.687" v="15" actId="20577"/>
      <pc:docMkLst>
        <pc:docMk/>
      </pc:docMkLst>
      <pc:sldChg chg="modSp mod">
        <pc:chgData name="Xun Zhou" userId="307cf16e35cdea9e" providerId="LiveId" clId="{A26FA108-34C0-440C-B627-CD19D788777B}" dt="2025-10-26T07:18:30.687" v="15" actId="20577"/>
        <pc:sldMkLst>
          <pc:docMk/>
          <pc:sldMk cId="4107101501" sldId="407"/>
        </pc:sldMkLst>
        <pc:spChg chg="mod">
          <ac:chgData name="Xun Zhou" userId="307cf16e35cdea9e" providerId="LiveId" clId="{A26FA108-34C0-440C-B627-CD19D788777B}" dt="2025-10-26T07:18:30.687" v="15" actId="20577"/>
          <ac:spMkLst>
            <pc:docMk/>
            <pc:sldMk cId="4107101501" sldId="40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EB7E-867D-4282-8DE5-F36A179E3AC7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BA66-FF30-40C0-A8D7-30028C97E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BA66-FF30-40C0-A8D7-30028C97E1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205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BA66-FF30-40C0-A8D7-30028C97E1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8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BA66-FF30-40C0-A8D7-30028C97E1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1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BA66-FF30-40C0-A8D7-30028C97E1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9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42AF0-9EB6-4DA0-AA18-4D452EF1FC35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3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54D9-3FC8-4F5A-9887-8169F77364C0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5D39E-5580-4DD5-8F06-2604FE426769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8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62ED-3FA5-4E29-AD84-CBD2ED8A40E8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719D-44E6-47A2-84AB-0AB0DB21914A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22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E2FE4-6D64-44AB-8717-E7988512E516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0149-D071-4618-B927-DAD5ED66D149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4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D1A81E-A393-41C9-9B38-2D3A71971022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7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7BDC-98EC-441F-8CC2-C970B2D9F19F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6D57-56A4-4768-98BC-B1DCE3579E3C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3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F54B-6BF3-4F64-AA49-C79910828BAA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1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73FADF-1024-4215-908D-689AC4B31A34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5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Database S</a:t>
            </a:r>
            <a:r>
              <a:rPr lang="en-US" altLang="zh-CN" sz="6600" dirty="0"/>
              <a:t>ystems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 3010E FALL 2025</a:t>
            </a:r>
          </a:p>
          <a:p>
            <a:endParaRPr lang="en-US" dirty="0"/>
          </a:p>
          <a:p>
            <a:r>
              <a:rPr lang="en-US" dirty="0"/>
              <a:t>Lecture </a:t>
            </a:r>
            <a:r>
              <a:rPr lang="en-US"/>
              <a:t>10 </a:t>
            </a:r>
            <a:r>
              <a:rPr lang="en-US" altLang="zh-CN"/>
              <a:t>Trigger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10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286605"/>
            <a:ext cx="9729216" cy="1450757"/>
          </a:xfrm>
        </p:spPr>
        <p:txBody>
          <a:bodyPr>
            <a:normAutofit/>
          </a:bodyPr>
          <a:lstStyle/>
          <a:p>
            <a:r>
              <a:rPr lang="en-US" sz="4000" dirty="0"/>
              <a:t>Integrity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961" y="1875295"/>
            <a:ext cx="10008522" cy="44204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cs typeface="Arial" charset="0"/>
              </a:rPr>
              <a:t>Domains – set allowable values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cs typeface="Arial" charset="0"/>
              </a:rPr>
              <a:t> Age can’t be negative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cs typeface="Arial" charset="0"/>
              </a:rPr>
              <a:t> Month between 1-12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cs typeface="Arial" charset="0"/>
              </a:rPr>
              <a:t>Assertions – enforce database conditions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Total pieces sold should not exceed total pieces available.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cs typeface="Arial" charset="0"/>
              </a:rPr>
              <a:t> CHECK constraint in databases (in addition to Not NULL and Unique)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Arial" charset="0"/>
              </a:rPr>
              <a:t>Triggers</a:t>
            </a:r>
            <a:r>
              <a:rPr lang="en-US" sz="2400" dirty="0">
                <a:cs typeface="Arial" charset="0"/>
              </a:rPr>
              <a:t> – </a:t>
            </a:r>
            <a:r>
              <a:rPr lang="en-US" sz="2400" dirty="0">
                <a:solidFill>
                  <a:srgbClr val="0070C0"/>
                </a:solidFill>
                <a:cs typeface="Arial" charset="0"/>
              </a:rPr>
              <a:t>prevent inappropriate actions, invoke special handling procedures,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70C0"/>
                </a:solidFill>
                <a:cs typeface="Arial" charset="0"/>
              </a:rPr>
              <a:t>                      write to log tables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solidFill>
                <a:srgbClr val="0070C0"/>
              </a:solidFill>
              <a:cs typeface="Arial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0C0"/>
                </a:solidFill>
                <a:cs typeface="Arial" charset="0"/>
              </a:rPr>
              <a:t>Safe Guard of  database consistency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Image result for gu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936" y="1901450"/>
            <a:ext cx="1335612" cy="222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53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602906-B08E-48FD-90DD-C1AA348D6EA9}" type="slidenum">
              <a:rPr lang="en-US" sz="1400">
                <a:solidFill>
                  <a:schemeClr val="bg1"/>
                </a:solidFill>
              </a:rPr>
              <a:pPr/>
              <a:t>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75360" y="1845734"/>
            <a:ext cx="10613666" cy="441558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v"/>
            </a:pPr>
            <a:r>
              <a:rPr lang="en-US" sz="2200" dirty="0"/>
              <a:t> A named PL/SQL block (stored procedure)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/>
              <a:t> Stored in a databased and controlled by the DBMS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/>
              <a:t> Fired/executed when a </a:t>
            </a:r>
            <a:r>
              <a:rPr lang="en-US" sz="2200" dirty="0">
                <a:solidFill>
                  <a:srgbClr val="FF0000"/>
                </a:solidFill>
              </a:rPr>
              <a:t>triggering event</a:t>
            </a:r>
            <a:r>
              <a:rPr lang="en-US" sz="2200" dirty="0"/>
              <a:t> occurs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dirty="0"/>
              <a:t> a mechanism to perform an action based on an event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u="sng" dirty="0">
                <a:cs typeface="Arial" charset="0"/>
              </a:rPr>
              <a:t>Whenever a new product is being inserted into the product table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cs typeface="Arial" charset="0"/>
              </a:rPr>
              <a:t> Check the “</a:t>
            </a:r>
            <a:r>
              <a:rPr lang="en-US" dirty="0" err="1">
                <a:cs typeface="Arial" charset="0"/>
              </a:rPr>
              <a:t>ProductStandardPrice</a:t>
            </a:r>
            <a:r>
              <a:rPr lang="en-US" dirty="0">
                <a:cs typeface="Arial" charset="0"/>
              </a:rPr>
              <a:t>” attribute of the new record.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cs typeface="Arial" charset="0"/>
              </a:rPr>
              <a:t> If NULL then change the </a:t>
            </a:r>
            <a:r>
              <a:rPr lang="en-US" sz="1600" dirty="0">
                <a:cs typeface="Arial" charset="0"/>
              </a:rPr>
              <a:t>value to default value before insertion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cs typeface="Arial" charset="0"/>
              </a:rPr>
              <a:t> Insert the data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5938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 Events that might fire a trigger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INSERT data into a table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UPDATE data in a table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DELETE data from a table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Other Database Operations (not discussed)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/>
              <a:t> Types of triggers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Before trigger (actions taken before the triggering event is executed)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</a:rPr>
              <a:t>After the action (actions taken after the triggering event is executed)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93648" y="4869472"/>
            <a:ext cx="745790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u="sng" dirty="0">
                <a:cs typeface="Arial" charset="0"/>
              </a:rPr>
              <a:t> Whenever a new product is being inserted into the product table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cs typeface="Arial" charset="0"/>
              </a:rPr>
              <a:t> Check the “</a:t>
            </a:r>
            <a:r>
              <a:rPr lang="en-US" sz="1600" dirty="0" err="1">
                <a:cs typeface="Arial" charset="0"/>
              </a:rPr>
              <a:t>ProductStandardPrice</a:t>
            </a:r>
            <a:r>
              <a:rPr lang="en-US" sz="1600" dirty="0">
                <a:cs typeface="Arial" charset="0"/>
              </a:rPr>
              <a:t>” attribute of the new record.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cs typeface="Arial" charset="0"/>
              </a:rPr>
              <a:t> If NULL then change the value to default value before insertion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cs typeface="Arial" charset="0"/>
              </a:rPr>
              <a:t> Insert the data</a:t>
            </a:r>
            <a:endParaRPr lang="en-US" sz="14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733746" y="4761098"/>
            <a:ext cx="1642872" cy="300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485375" y="4576432"/>
            <a:ext cx="2142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Firing event (INSERT)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733746" y="5517374"/>
            <a:ext cx="1862328" cy="13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18657" y="5423470"/>
            <a:ext cx="2020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Actions to 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5901176"/>
            <a:ext cx="2601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BEFORE trigger on INSERT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59858" y="2098563"/>
          <a:ext cx="44724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108">
                  <a:extLst>
                    <a:ext uri="{9D8B030D-6E8A-4147-A177-3AD203B41FA5}">
                      <a16:colId xmlns:a16="http://schemas.microsoft.com/office/drawing/2014/main" val="2481326711"/>
                    </a:ext>
                  </a:extLst>
                </a:gridCol>
                <a:gridCol w="1118108">
                  <a:extLst>
                    <a:ext uri="{9D8B030D-6E8A-4147-A177-3AD203B41FA5}">
                      <a16:colId xmlns:a16="http://schemas.microsoft.com/office/drawing/2014/main" val="3387393751"/>
                    </a:ext>
                  </a:extLst>
                </a:gridCol>
                <a:gridCol w="1118108">
                  <a:extLst>
                    <a:ext uri="{9D8B030D-6E8A-4147-A177-3AD203B41FA5}">
                      <a16:colId xmlns:a16="http://schemas.microsoft.com/office/drawing/2014/main" val="3504059634"/>
                    </a:ext>
                  </a:extLst>
                </a:gridCol>
                <a:gridCol w="1118108">
                  <a:extLst>
                    <a:ext uri="{9D8B030D-6E8A-4147-A177-3AD203B41FA5}">
                      <a16:colId xmlns:a16="http://schemas.microsoft.com/office/drawing/2014/main" val="584962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45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68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657776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>
            <a:stCxn id="15" idx="3"/>
          </p:cNvCxnSpPr>
          <p:nvPr/>
        </p:nvCxnSpPr>
        <p:spPr>
          <a:xfrm flipV="1">
            <a:off x="6395857" y="2654823"/>
            <a:ext cx="2501255" cy="3431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35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602906-B08E-48FD-90DD-C1AA348D6EA9}" type="slidenum">
              <a:rPr lang="en-US" sz="1400">
                <a:solidFill>
                  <a:schemeClr val="bg1"/>
                </a:solidFill>
              </a:rPr>
              <a:pPr/>
              <a:t>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75360" y="1845734"/>
            <a:ext cx="10613666" cy="435389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A (simplified) General Syntax</a:t>
            </a:r>
          </a:p>
          <a:p>
            <a:pPr marL="201168" lvl="1" indent="0">
              <a:buNone/>
            </a:pPr>
            <a:r>
              <a:rPr lang="en-US" sz="2000" dirty="0"/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Run the code to compile the trigger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No immediate output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Trigger saved for later use</a:t>
            </a:r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403669" y="1997513"/>
            <a:ext cx="5152801" cy="341632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800" b="1" dirty="0"/>
              <a:t>CREATE</a:t>
            </a:r>
            <a:r>
              <a:rPr lang="en-US" sz="1800" dirty="0"/>
              <a:t>  [</a:t>
            </a:r>
            <a:r>
              <a:rPr lang="en-US" sz="1800" b="1" dirty="0"/>
              <a:t>OR  REPLACE</a:t>
            </a:r>
            <a:r>
              <a:rPr lang="en-US" sz="1800" dirty="0"/>
              <a:t>]  </a:t>
            </a:r>
            <a:r>
              <a:rPr lang="en-US" sz="1800" i="1" dirty="0" err="1">
                <a:solidFill>
                  <a:srgbClr val="FF0000"/>
                </a:solidFill>
              </a:rPr>
              <a:t>trigger_name</a:t>
            </a:r>
            <a:endParaRPr lang="en-US" sz="1800" i="1" dirty="0">
              <a:solidFill>
                <a:srgbClr val="FF0000"/>
              </a:solidFill>
            </a:endParaRPr>
          </a:p>
          <a:p>
            <a:r>
              <a:rPr lang="en-US" sz="1800" dirty="0"/>
              <a:t>{</a:t>
            </a:r>
            <a:r>
              <a:rPr lang="en-US" sz="1800" b="1" dirty="0"/>
              <a:t>BEFORE</a:t>
            </a:r>
            <a:r>
              <a:rPr lang="en-US" sz="1800" dirty="0"/>
              <a:t> | </a:t>
            </a:r>
            <a:r>
              <a:rPr lang="en-US" sz="1800" b="1" dirty="0"/>
              <a:t>AFTER</a:t>
            </a:r>
            <a:r>
              <a:rPr lang="en-US" sz="1800" dirty="0"/>
              <a:t>}  </a:t>
            </a:r>
            <a:r>
              <a:rPr lang="en-US" sz="1800" i="1" dirty="0" err="1">
                <a:solidFill>
                  <a:srgbClr val="FF0000"/>
                </a:solidFill>
              </a:rPr>
              <a:t>triggering_event</a:t>
            </a:r>
            <a:r>
              <a:rPr lang="en-US" sz="1800" dirty="0"/>
              <a:t>  </a:t>
            </a:r>
          </a:p>
          <a:p>
            <a:r>
              <a:rPr lang="en-US" sz="1800" b="1" dirty="0"/>
              <a:t>ON</a:t>
            </a:r>
            <a:r>
              <a:rPr lang="en-US" sz="1800" dirty="0"/>
              <a:t>  </a:t>
            </a:r>
            <a:r>
              <a:rPr lang="en-US" sz="1800" i="1" dirty="0" err="1">
                <a:solidFill>
                  <a:srgbClr val="FF0000"/>
                </a:solidFill>
              </a:rPr>
              <a:t>table_name</a:t>
            </a:r>
            <a:endParaRPr lang="en-US" sz="1800" i="1" dirty="0">
              <a:solidFill>
                <a:srgbClr val="FF0000"/>
              </a:solidFill>
            </a:endParaRPr>
          </a:p>
          <a:p>
            <a:r>
              <a:rPr lang="en-US" sz="1800" dirty="0"/>
              <a:t>[</a:t>
            </a:r>
            <a:r>
              <a:rPr lang="en-US" sz="1800" b="1" dirty="0"/>
              <a:t>FOR EACH ROW</a:t>
            </a:r>
            <a:r>
              <a:rPr lang="en-US" sz="1800" dirty="0"/>
              <a:t>]</a:t>
            </a:r>
          </a:p>
          <a:p>
            <a:r>
              <a:rPr lang="en-US" sz="1800" dirty="0"/>
              <a:t>[</a:t>
            </a:r>
            <a:r>
              <a:rPr lang="en-US" sz="1800" b="1" dirty="0"/>
              <a:t>WHEN</a:t>
            </a:r>
            <a:r>
              <a:rPr lang="en-US" sz="1800" dirty="0"/>
              <a:t>  condition]</a:t>
            </a:r>
          </a:p>
          <a:p>
            <a:r>
              <a:rPr lang="en-US" sz="1800" b="1" dirty="0"/>
              <a:t>DECLARE</a:t>
            </a:r>
          </a:p>
          <a:p>
            <a:r>
              <a:rPr lang="en-US" sz="1800" dirty="0"/>
              <a:t>     declaration statements;</a:t>
            </a:r>
          </a:p>
          <a:p>
            <a:r>
              <a:rPr lang="en-US" sz="1800" b="1" dirty="0"/>
              <a:t>BEGIN</a:t>
            </a:r>
          </a:p>
          <a:p>
            <a:r>
              <a:rPr lang="en-US" sz="1800" dirty="0"/>
              <a:t>     executable statements;</a:t>
            </a:r>
          </a:p>
          <a:p>
            <a:r>
              <a:rPr lang="en-US" sz="1800" b="1" dirty="0"/>
              <a:t>EXCEPTION</a:t>
            </a:r>
          </a:p>
          <a:p>
            <a:r>
              <a:rPr lang="en-US" sz="1800" dirty="0"/>
              <a:t>     exception-handling statements</a:t>
            </a:r>
          </a:p>
          <a:p>
            <a:r>
              <a:rPr lang="en-US" sz="1800" b="1" dirty="0"/>
              <a:t>END</a:t>
            </a:r>
            <a:r>
              <a:rPr lang="en-US" sz="1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669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Trigger: BEFORE INSERT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0256" y="2328672"/>
            <a:ext cx="5867400" cy="3046988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CREATE or REPLACE TRIGGER </a:t>
            </a:r>
            <a:r>
              <a:rPr lang="en-US" sz="1600" i="1" dirty="0" err="1">
                <a:solidFill>
                  <a:schemeClr val="accent6">
                    <a:lumMod val="50000"/>
                  </a:schemeClr>
                </a:solidFill>
              </a:rPr>
              <a:t>trigger_name</a:t>
            </a:r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600" dirty="0"/>
              <a:t>BEFORE INSERT</a:t>
            </a:r>
          </a:p>
          <a:p>
            <a:r>
              <a:rPr lang="en-US" sz="1600" dirty="0"/>
              <a:t>    ON </a:t>
            </a:r>
            <a:r>
              <a:rPr lang="en-US" sz="1600" i="1" dirty="0" err="1">
                <a:solidFill>
                  <a:schemeClr val="accent6">
                    <a:lumMod val="50000"/>
                  </a:schemeClr>
                </a:solidFill>
              </a:rPr>
              <a:t>table_name</a:t>
            </a:r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pl-PL" sz="1600" dirty="0"/>
              <a:t>    [ FOR EACH ROW ]</a:t>
            </a:r>
          </a:p>
          <a:p>
            <a:r>
              <a:rPr lang="en-US" sz="1600" dirty="0"/>
              <a:t>DECLARE</a:t>
            </a:r>
          </a:p>
          <a:p>
            <a:r>
              <a:rPr lang="en-US" sz="1600" dirty="0"/>
              <a:t>    -- variables</a:t>
            </a:r>
          </a:p>
          <a:p>
            <a:r>
              <a:rPr lang="en-US" sz="1600" dirty="0"/>
              <a:t>BEGIN</a:t>
            </a:r>
          </a:p>
          <a:p>
            <a:r>
              <a:rPr lang="da-DK" sz="1600" dirty="0"/>
              <a:t>    -- statements to </a:t>
            </a:r>
            <a:r>
              <a:rPr lang="da-DK" sz="1600" dirty="0" err="1"/>
              <a:t>execute</a:t>
            </a:r>
            <a:endParaRPr lang="da-DK" sz="1600" dirty="0"/>
          </a:p>
          <a:p>
            <a:r>
              <a:rPr lang="en-US" sz="1600" dirty="0"/>
              <a:t>EXCEPTION</a:t>
            </a:r>
          </a:p>
          <a:p>
            <a:r>
              <a:rPr lang="en-US" sz="1600" dirty="0"/>
              <a:t>    WHEN ...</a:t>
            </a:r>
          </a:p>
          <a:p>
            <a:r>
              <a:rPr lang="da-DK" sz="1600" dirty="0"/>
              <a:t>    -- handle </a:t>
            </a:r>
            <a:r>
              <a:rPr lang="da-DK" sz="1600" dirty="0" err="1"/>
              <a:t>exception</a:t>
            </a:r>
            <a:endParaRPr lang="da-DK" sz="1600" dirty="0"/>
          </a:p>
          <a:p>
            <a:r>
              <a:rPr lang="en-US" sz="1600" dirty="0"/>
              <a:t>END;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0256" y="1982796"/>
            <a:ext cx="107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Structure</a:t>
            </a:r>
            <a:endParaRPr lang="en-US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2502829" y="2352128"/>
            <a:ext cx="7696200" cy="1011182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7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Pseudo-records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66" y="1845734"/>
            <a:ext cx="9931314" cy="437218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:NEW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:OLD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 variables implicitly (and automatically) declared by the database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 used in </a:t>
            </a:r>
            <a:r>
              <a:rPr lang="en-US" dirty="0">
                <a:solidFill>
                  <a:srgbClr val="0070C0"/>
                </a:solidFill>
              </a:rPr>
              <a:t>row-level</a:t>
            </a:r>
            <a:r>
              <a:rPr lang="en-US" dirty="0"/>
              <a:t> trigger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:OLD 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original record in the table that is being updated or deleted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 Not used in “INSERT” trigger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 :New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new record to be inserted or used to update the old record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 Not used in the “DELETE” trigger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 Access specific columns (dot operator)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:</a:t>
            </a:r>
            <a:r>
              <a:rPr lang="en-US" dirty="0" err="1"/>
              <a:t>OLD.Column</a:t>
            </a:r>
            <a:r>
              <a:rPr lang="en-US" dirty="0"/>
              <a:t>,  :</a:t>
            </a:r>
            <a:r>
              <a:rPr lang="en-US" dirty="0" err="1"/>
              <a:t>NEW.Column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 values in :OLD are read-only; values in :NEW can be updated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41" y="734220"/>
            <a:ext cx="8229600" cy="990600"/>
          </a:xfrm>
        </p:spPr>
        <p:txBody>
          <a:bodyPr/>
          <a:lstStyle/>
          <a:p>
            <a:r>
              <a:rPr lang="en-US" dirty="0"/>
              <a:t>Trigger on 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440" y="1724820"/>
            <a:ext cx="10299835" cy="487680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Define a trigger—When adding a new product to the database, if the price is null, then use default price based on the new product’s finish type (200 for n</a:t>
            </a:r>
            <a:r>
              <a:rPr lang="en-US" altLang="zh-CN" dirty="0"/>
              <a:t>atural maple</a:t>
            </a:r>
            <a:r>
              <a:rPr lang="en-US" dirty="0"/>
              <a:t>, 300 for Cherry, 100 for others)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45376" y="2405364"/>
            <a:ext cx="6934200" cy="3970318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CREATE OR REPLACE TRIGGER  </a:t>
            </a:r>
            <a:r>
              <a:rPr lang="en-US" dirty="0" err="1">
                <a:solidFill>
                  <a:srgbClr val="002060"/>
                </a:solidFill>
              </a:rPr>
              <a:t>product_price_trg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BEFORE</a:t>
            </a:r>
            <a:r>
              <a:rPr lang="en-US" dirty="0">
                <a:solidFill>
                  <a:srgbClr val="002060"/>
                </a:solidFill>
              </a:rPr>
              <a:t> INSERT ON </a:t>
            </a:r>
            <a:r>
              <a:rPr lang="en-US" dirty="0" err="1">
                <a:solidFill>
                  <a:srgbClr val="002060"/>
                </a:solidFill>
              </a:rPr>
              <a:t>product_t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IF :</a:t>
            </a:r>
            <a:r>
              <a:rPr lang="en-US" dirty="0" err="1"/>
              <a:t>NEW.ProductStandardPrice</a:t>
            </a:r>
            <a:r>
              <a:rPr lang="en-US" dirty="0"/>
              <a:t> IS NULL THEN</a:t>
            </a:r>
          </a:p>
          <a:p>
            <a:r>
              <a:rPr lang="en-US" dirty="0"/>
              <a:t>     IF :</a:t>
            </a:r>
            <a:r>
              <a:rPr lang="en-US" dirty="0" err="1"/>
              <a:t>NEW.ProductFinish</a:t>
            </a:r>
            <a:r>
              <a:rPr lang="en-US" dirty="0"/>
              <a:t> = 'Natural Maple' THEN </a:t>
            </a:r>
          </a:p>
          <a:p>
            <a:r>
              <a:rPr lang="en-US" dirty="0"/>
              <a:t>	:</a:t>
            </a:r>
            <a:r>
              <a:rPr lang="en-US" dirty="0" err="1"/>
              <a:t>NEW.ProductStandardPrice</a:t>
            </a:r>
            <a:r>
              <a:rPr lang="en-US" dirty="0"/>
              <a:t> := 200;</a:t>
            </a:r>
          </a:p>
          <a:p>
            <a:r>
              <a:rPr lang="en-US" dirty="0"/>
              <a:t>     ELSIF :</a:t>
            </a:r>
            <a:r>
              <a:rPr lang="en-US" dirty="0" err="1"/>
              <a:t>NEW.ProductFinish</a:t>
            </a:r>
            <a:r>
              <a:rPr lang="en-US" dirty="0"/>
              <a:t> = 'Cherry'  THEN</a:t>
            </a:r>
          </a:p>
          <a:p>
            <a:r>
              <a:rPr lang="en-US" dirty="0"/>
              <a:t>               :</a:t>
            </a:r>
            <a:r>
              <a:rPr lang="en-US" dirty="0" err="1"/>
              <a:t>NEW.ProductStandardPrice</a:t>
            </a:r>
            <a:r>
              <a:rPr lang="en-US" dirty="0"/>
              <a:t> :=300;</a:t>
            </a:r>
          </a:p>
          <a:p>
            <a:r>
              <a:rPr lang="en-US" dirty="0"/>
              <a:t>     ELSE </a:t>
            </a:r>
          </a:p>
          <a:p>
            <a:r>
              <a:rPr lang="en-US" dirty="0"/>
              <a:t>	:</a:t>
            </a:r>
            <a:r>
              <a:rPr lang="en-US" dirty="0" err="1"/>
              <a:t>NEW.ProductStandardPrice</a:t>
            </a:r>
            <a:r>
              <a:rPr lang="en-US" dirty="0"/>
              <a:t> :=100;</a:t>
            </a:r>
          </a:p>
          <a:p>
            <a:r>
              <a:rPr lang="en-US" dirty="0"/>
              <a:t>     END IF;</a:t>
            </a:r>
          </a:p>
          <a:p>
            <a:r>
              <a:rPr lang="en-US" dirty="0"/>
              <a:t>  END IF;</a:t>
            </a:r>
          </a:p>
          <a:p>
            <a:r>
              <a:rPr lang="en-US" dirty="0"/>
              <a:t>END;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8512" y="2614975"/>
            <a:ext cx="33375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:NEW</a:t>
            </a:r>
          </a:p>
          <a:p>
            <a:r>
              <a:rPr lang="en-US" dirty="0"/>
              <a:t>The record being inserted</a:t>
            </a:r>
          </a:p>
          <a:p>
            <a:endParaRPr lang="en-US" dirty="0"/>
          </a:p>
          <a:p>
            <a:r>
              <a:rPr lang="en-US" dirty="0"/>
              <a:t>:</a:t>
            </a:r>
            <a:r>
              <a:rPr lang="en-US" dirty="0" err="1"/>
              <a:t>NEW.ProductStandardPrice</a:t>
            </a:r>
            <a:endParaRPr lang="en-US" dirty="0"/>
          </a:p>
          <a:p>
            <a:r>
              <a:rPr lang="en-US" dirty="0"/>
              <a:t>The price of the new product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is no :OLD in the INSERT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4529" y="5645375"/>
            <a:ext cx="3190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must be a “BEFORE” trigger</a:t>
            </a:r>
          </a:p>
        </p:txBody>
      </p:sp>
    </p:spTree>
    <p:extLst>
      <p:ext uri="{BB962C8B-B14F-4D97-AF65-F5344CB8AC3E}">
        <p14:creationId xmlns:p14="http://schemas.microsoft.com/office/powerpoint/2010/main" val="19435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16167" y="2016200"/>
            <a:ext cx="8305800" cy="338554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INSERT INTO </a:t>
            </a:r>
            <a:r>
              <a:rPr lang="en-US" sz="1600" dirty="0" err="1"/>
              <a:t>product_t</a:t>
            </a:r>
            <a:r>
              <a:rPr lang="en-US" sz="1600" dirty="0"/>
              <a:t> VALUES (9, 1, ‘My Table’, ‘Cherry', NULL);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4658" y="2541047"/>
            <a:ext cx="8305800" cy="338554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INSERT INTO </a:t>
            </a:r>
            <a:r>
              <a:rPr lang="en-US" sz="1600" dirty="0" err="1"/>
              <a:t>product_t</a:t>
            </a:r>
            <a:r>
              <a:rPr lang="en-US" sz="1600" dirty="0"/>
              <a:t> VALUES (10, 1, ‘My Chair’, ‘Natural Maple', NULL);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4658" y="3065894"/>
            <a:ext cx="8305800" cy="338554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INSERT INTO </a:t>
            </a:r>
            <a:r>
              <a:rPr lang="en-US" sz="1600" dirty="0" err="1"/>
              <a:t>product_t</a:t>
            </a:r>
            <a:r>
              <a:rPr lang="en-US" sz="1600" dirty="0"/>
              <a:t> VALUES (11, 1, ‘My Desk’, ‘Natural Ash', NULL);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51593" y="2032295"/>
            <a:ext cx="2609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should be set to 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1593" y="2510269"/>
            <a:ext cx="2609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should be set to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1593" y="2988243"/>
            <a:ext cx="2609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 should be set to 100</a:t>
            </a:r>
          </a:p>
        </p:txBody>
      </p:sp>
    </p:spTree>
    <p:extLst>
      <p:ext uri="{BB962C8B-B14F-4D97-AF65-F5344CB8AC3E}">
        <p14:creationId xmlns:p14="http://schemas.microsoft.com/office/powerpoint/2010/main" val="135959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Trigger Example (1)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4517453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733288" y="2587752"/>
            <a:ext cx="1728216" cy="2011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2904" y="2151733"/>
            <a:ext cx="3362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#4 product in Table Product</a:t>
            </a:r>
          </a:p>
          <a:p>
            <a:r>
              <a:rPr lang="en-US" dirty="0"/>
              <a:t>Leave price empty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095744" y="2849326"/>
            <a:ext cx="656844" cy="1463254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26480" y="4569832"/>
            <a:ext cx="5678424" cy="1641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Trigger </a:t>
            </a:r>
            <a:r>
              <a:rPr lang="en-US" dirty="0" err="1">
                <a:solidFill>
                  <a:srgbClr val="002060"/>
                </a:solidFill>
              </a:rPr>
              <a:t>product_price_trg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IS NULL THEN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new.finish</a:t>
            </a:r>
            <a:r>
              <a:rPr lang="en-US" dirty="0">
                <a:solidFill>
                  <a:schemeClr val="tx1"/>
                </a:solidFill>
              </a:rPr>
              <a:t> = ‘Cherry’ THEN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:= 100; END;</a:t>
            </a:r>
          </a:p>
          <a:p>
            <a:r>
              <a:rPr lang="en-US" dirty="0">
                <a:solidFill>
                  <a:schemeClr val="tx1"/>
                </a:solidFill>
              </a:rPr>
              <a:t>	IF :</a:t>
            </a:r>
            <a:r>
              <a:rPr lang="en-US" dirty="0" err="1">
                <a:solidFill>
                  <a:schemeClr val="tx1"/>
                </a:solidFill>
              </a:rPr>
              <a:t>new.finish</a:t>
            </a:r>
            <a:r>
              <a:rPr lang="en-US" dirty="0">
                <a:solidFill>
                  <a:schemeClr val="tx1"/>
                </a:solidFill>
              </a:rPr>
              <a:t> = ‘Maple’ THEN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:= 200; END;</a:t>
            </a:r>
          </a:p>
          <a:p>
            <a:r>
              <a:rPr lang="en-US" dirty="0">
                <a:solidFill>
                  <a:schemeClr val="tx1"/>
                </a:solidFill>
              </a:rPr>
              <a:t>	IF :</a:t>
            </a:r>
            <a:r>
              <a:rPr lang="en-US" dirty="0" err="1">
                <a:solidFill>
                  <a:schemeClr val="tx1"/>
                </a:solidFill>
              </a:rPr>
              <a:t>new.finish</a:t>
            </a:r>
            <a:r>
              <a:rPr lang="en-US" dirty="0">
                <a:solidFill>
                  <a:schemeClr val="tx1"/>
                </a:solidFill>
              </a:rPr>
              <a:t> = ‘Ash’ THEN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:= 300; END;</a:t>
            </a:r>
          </a:p>
          <a:p>
            <a:r>
              <a:rPr lang="en-US" dirty="0">
                <a:solidFill>
                  <a:schemeClr val="tx1"/>
                </a:solidFill>
              </a:rPr>
              <a:t>END;</a:t>
            </a: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07792"/>
            <a:ext cx="4233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:new is (4, ‘Desk’, ‘Ash’, NULL)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748600" y="2999232"/>
            <a:ext cx="987552" cy="1313348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80424" y="3673140"/>
            <a:ext cx="4233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:new is (4, ‘Desk’, ‘Ash’, 300)</a:t>
            </a:r>
          </a:p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680424" y="3727671"/>
            <a:ext cx="2829304" cy="3017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4"/>
          <p:cNvGraphicFramePr>
            <a:graphicFrameLocks/>
          </p:cNvGraphicFramePr>
          <p:nvPr/>
        </p:nvGraphicFramePr>
        <p:xfrm>
          <a:off x="243523" y="4644502"/>
          <a:ext cx="4517453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Down Arrow 21"/>
          <p:cNvSpPr/>
          <p:nvPr/>
        </p:nvSpPr>
        <p:spPr>
          <a:xfrm rot="2157467">
            <a:off x="1368014" y="3462842"/>
            <a:ext cx="685800" cy="1133163"/>
          </a:xfrm>
          <a:prstGeom prst="downArrow">
            <a:avLst/>
          </a:prstGeom>
          <a:solidFill>
            <a:srgbClr val="2998E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&quot;No&quot; Symbol 2"/>
          <p:cNvSpPr/>
          <p:nvPr/>
        </p:nvSpPr>
        <p:spPr>
          <a:xfrm>
            <a:off x="6384108" y="2360114"/>
            <a:ext cx="630936" cy="604329"/>
          </a:xfrm>
          <a:prstGeom prst="noSmoking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15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  <p:bldP spid="20" grpId="0" animBg="1"/>
      <p:bldP spid="2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0350" y="610979"/>
            <a:ext cx="8229600" cy="990600"/>
          </a:xfrm>
        </p:spPr>
        <p:txBody>
          <a:bodyPr/>
          <a:lstStyle/>
          <a:p>
            <a:r>
              <a:rPr lang="en-US" dirty="0"/>
              <a:t>Trigger on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77700" y="1797114"/>
            <a:ext cx="9347044" cy="3844734"/>
          </a:xfrm>
        </p:spPr>
        <p:txBody>
          <a:bodyPr>
            <a:normAutofit/>
          </a:bodyPr>
          <a:lstStyle/>
          <a:p>
            <a:r>
              <a:rPr lang="en-US" dirty="0"/>
              <a:t>Define a trigger—when the price of a product is changed (e.g. a raise of 20%), the sales tax also increase by 20% of old price. </a:t>
            </a:r>
          </a:p>
          <a:p>
            <a:r>
              <a:rPr lang="en-US" altLang="zh-CN" dirty="0"/>
              <a:t>First let’s add a new column called ‘tax’ to the </a:t>
            </a:r>
            <a:r>
              <a:rPr lang="en-US" altLang="zh-CN" dirty="0" err="1"/>
              <a:t>product_t</a:t>
            </a:r>
            <a:r>
              <a:rPr lang="en-US" altLang="zh-CN" dirty="0"/>
              <a:t> table. Calculate the current tax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86305" y="2932206"/>
            <a:ext cx="5535811" cy="646331"/>
          </a:xfrm>
          <a:prstGeom prst="rect">
            <a:avLst/>
          </a:prstGeom>
          <a:solidFill>
            <a:srgbClr val="E6CCCC"/>
          </a:solidFill>
        </p:spPr>
        <p:txBody>
          <a:bodyPr wrap="none">
            <a:spAutoFit/>
          </a:bodyPr>
          <a:lstStyle/>
          <a:p>
            <a:r>
              <a:rPr lang="en-US" dirty="0"/>
              <a:t>ALTER TABLE </a:t>
            </a:r>
            <a:r>
              <a:rPr lang="en-US" dirty="0" err="1"/>
              <a:t>product_t</a:t>
            </a:r>
            <a:r>
              <a:rPr lang="en-US" dirty="0"/>
              <a:t> ADD tax NUMBER;</a:t>
            </a:r>
          </a:p>
          <a:p>
            <a:r>
              <a:rPr lang="en-US" dirty="0"/>
              <a:t>UPDATE </a:t>
            </a:r>
            <a:r>
              <a:rPr lang="en-US" dirty="0" err="1"/>
              <a:t>product_t</a:t>
            </a:r>
            <a:r>
              <a:rPr lang="en-US" dirty="0"/>
              <a:t> SET tax = 0.06 * </a:t>
            </a:r>
            <a:r>
              <a:rPr lang="en-US" dirty="0" err="1"/>
              <a:t>ProductStandardPrice</a:t>
            </a:r>
            <a:r>
              <a:rPr lang="en-US" dirty="0"/>
              <a:t>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05" y="3823554"/>
            <a:ext cx="4743450" cy="17430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62958" y="3823554"/>
            <a:ext cx="5053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make sure the “Tax” information is up-to-date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the original price is updated, the Tax also need to be recalculated.</a:t>
            </a:r>
          </a:p>
        </p:txBody>
      </p:sp>
    </p:spTree>
    <p:extLst>
      <p:ext uri="{BB962C8B-B14F-4D97-AF65-F5344CB8AC3E}">
        <p14:creationId xmlns:p14="http://schemas.microsoft.com/office/powerpoint/2010/main" val="46291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and Testing the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60447" y="5235846"/>
            <a:ext cx="8684337" cy="707886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UPDATE </a:t>
            </a:r>
            <a:r>
              <a:rPr lang="en-US" sz="2000" dirty="0" err="1"/>
              <a:t>Product_T</a:t>
            </a:r>
            <a:r>
              <a:rPr lang="en-US" sz="2000" dirty="0"/>
              <a:t> SET </a:t>
            </a:r>
            <a:r>
              <a:rPr lang="en-US" sz="2000" dirty="0" err="1"/>
              <a:t>ProductStandardPrice</a:t>
            </a:r>
            <a:r>
              <a:rPr lang="en-US" sz="2000" dirty="0"/>
              <a:t> = </a:t>
            </a:r>
            <a:r>
              <a:rPr lang="en-US" sz="2000" dirty="0" err="1"/>
              <a:t>ProductStandardPrice</a:t>
            </a:r>
            <a:r>
              <a:rPr lang="en-US" sz="2000" dirty="0"/>
              <a:t> * 1.2 </a:t>
            </a:r>
          </a:p>
          <a:p>
            <a:r>
              <a:rPr lang="en-US" sz="2000" dirty="0"/>
              <a:t>WHERE </a:t>
            </a:r>
            <a:r>
              <a:rPr lang="en-US" sz="2000" dirty="0" err="1"/>
              <a:t>ProductID</a:t>
            </a:r>
            <a:r>
              <a:rPr lang="en-US" sz="2000" dirty="0"/>
              <a:t> = 7;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447" y="2253503"/>
            <a:ext cx="8291146" cy="1754326"/>
          </a:xfrm>
          <a:prstGeom prst="rect">
            <a:avLst/>
          </a:prstGeom>
          <a:solidFill>
            <a:srgbClr val="800000">
              <a:alpha val="20000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CREATE OR REPLACE TRIGGER  </a:t>
            </a:r>
            <a:r>
              <a:rPr lang="en-US" dirty="0" err="1"/>
              <a:t>product_prof_trig</a:t>
            </a:r>
            <a:endParaRPr lang="en-US" dirty="0"/>
          </a:p>
          <a:p>
            <a:r>
              <a:rPr lang="en-US" dirty="0"/>
              <a:t>BEFORE UPDATE OF </a:t>
            </a:r>
            <a:r>
              <a:rPr lang="en-US" dirty="0" err="1"/>
              <a:t>ProductStandardPrice</a:t>
            </a:r>
            <a:r>
              <a:rPr lang="en-US" dirty="0"/>
              <a:t> ON </a:t>
            </a:r>
            <a:r>
              <a:rPr lang="en-US" dirty="0" err="1"/>
              <a:t>Product_T</a:t>
            </a:r>
            <a:endParaRPr lang="en-US" dirty="0"/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   :</a:t>
            </a:r>
            <a:r>
              <a:rPr lang="en-US" dirty="0" err="1"/>
              <a:t>new.tax</a:t>
            </a:r>
            <a:r>
              <a:rPr lang="en-US" dirty="0"/>
              <a:t> := :</a:t>
            </a:r>
            <a:r>
              <a:rPr lang="en-US" dirty="0" err="1"/>
              <a:t>new.ProductStandardPrice</a:t>
            </a:r>
            <a:r>
              <a:rPr lang="en-US" dirty="0"/>
              <a:t> *0.06;</a:t>
            </a:r>
          </a:p>
          <a:p>
            <a:r>
              <a:rPr lang="en-US" dirty="0"/>
              <a:t>END;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893513"/>
            <a:ext cx="6944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can refer to the old value using the “:old” qualifier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447" y="2570741"/>
            <a:ext cx="845415" cy="2894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29968" y="4866514"/>
            <a:ext cx="839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06" y="2581339"/>
            <a:ext cx="198374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Can you do AFTER?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846" y="4073462"/>
            <a:ext cx="517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After the event, you can’t change :new any </a:t>
            </a:r>
            <a:r>
              <a:rPr lang="en-US">
                <a:solidFill>
                  <a:srgbClr val="FF0000"/>
                </a:solidFill>
              </a:rPr>
              <a:t>more.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969264" y="3179168"/>
            <a:ext cx="384048" cy="576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5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3" grpId="0"/>
      <p:bldP spid="16" grpId="0" animBg="1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In-Class </a:t>
            </a:r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Q1. Define a trigger to implement the following rules:</a:t>
            </a:r>
          </a:p>
          <a:p>
            <a:r>
              <a:rPr lang="en-US" dirty="0"/>
              <a:t>When product price is increased, then add ‘(Hot)’ to Description</a:t>
            </a:r>
          </a:p>
          <a:p>
            <a:r>
              <a:rPr lang="en-US" dirty="0"/>
              <a:t>When product price is decreased, then add ‘(On Sale)’ to Description</a:t>
            </a:r>
          </a:p>
          <a:p>
            <a:endParaRPr lang="en-US" dirty="0"/>
          </a:p>
          <a:p>
            <a:r>
              <a:rPr lang="en-US" dirty="0"/>
              <a:t>Use “||” to concatenate strings</a:t>
            </a:r>
          </a:p>
          <a:p>
            <a:r>
              <a:rPr lang="en-US" dirty="0"/>
              <a:t>‘Computer Desk’ || ‘ (Hot)’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‘Computer Desk (Hot)’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649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87869" y="2503274"/>
            <a:ext cx="6778869" cy="2862322"/>
          </a:xfrm>
          <a:prstGeom prst="rect">
            <a:avLst/>
          </a:prstGeom>
          <a:solidFill>
            <a:srgbClr val="E6CCCC"/>
          </a:solidFill>
        </p:spPr>
        <p:txBody>
          <a:bodyPr wrap="square">
            <a:spAutoFit/>
          </a:bodyPr>
          <a:lstStyle/>
          <a:p>
            <a:r>
              <a:rPr lang="en-US" dirty="0"/>
              <a:t>CREATE OR REPLACE TRIGGER  </a:t>
            </a:r>
            <a:r>
              <a:rPr lang="en-US" dirty="0" err="1"/>
              <a:t>product_desc_trig</a:t>
            </a:r>
            <a:endParaRPr lang="en-US" dirty="0"/>
          </a:p>
          <a:p>
            <a:r>
              <a:rPr lang="en-US" dirty="0"/>
              <a:t>BEFORE UPDATE OF </a:t>
            </a:r>
            <a:r>
              <a:rPr lang="en-US" dirty="0" err="1"/>
              <a:t>ProductStandardPrice</a:t>
            </a:r>
            <a:r>
              <a:rPr lang="en-US" dirty="0"/>
              <a:t> ON </a:t>
            </a:r>
            <a:r>
              <a:rPr lang="en-US" b="1" dirty="0" err="1">
                <a:solidFill>
                  <a:srgbClr val="FF0000"/>
                </a:solidFill>
              </a:rPr>
              <a:t>Product_T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  IF :</a:t>
            </a:r>
            <a:r>
              <a:rPr lang="en-US" dirty="0" err="1"/>
              <a:t>new.ProductStandardPrice</a:t>
            </a:r>
            <a:r>
              <a:rPr lang="en-US" dirty="0"/>
              <a:t> &gt; :</a:t>
            </a:r>
            <a:r>
              <a:rPr lang="en-US" dirty="0" err="1"/>
              <a:t>old.ProductStandardPrice</a:t>
            </a:r>
            <a:r>
              <a:rPr lang="en-US" dirty="0"/>
              <a:t> THEN :</a:t>
            </a:r>
            <a:r>
              <a:rPr lang="en-US" dirty="0" err="1"/>
              <a:t>new.ProductDescription</a:t>
            </a:r>
            <a:r>
              <a:rPr lang="en-US" dirty="0"/>
              <a:t> := (:</a:t>
            </a:r>
            <a:r>
              <a:rPr lang="en-US" dirty="0" err="1"/>
              <a:t>old.ProductDescription</a:t>
            </a:r>
            <a:r>
              <a:rPr lang="en-US" dirty="0"/>
              <a:t> || '(Hot)');</a:t>
            </a:r>
          </a:p>
          <a:p>
            <a:r>
              <a:rPr lang="en-US" dirty="0"/>
              <a:t>      ELSIF :</a:t>
            </a:r>
            <a:r>
              <a:rPr lang="en-US" dirty="0" err="1"/>
              <a:t>new.ProductStandardPrice</a:t>
            </a:r>
            <a:r>
              <a:rPr lang="en-US" dirty="0"/>
              <a:t> &lt; :</a:t>
            </a:r>
            <a:r>
              <a:rPr lang="en-US" dirty="0" err="1"/>
              <a:t>old.ProductStandardPrice</a:t>
            </a:r>
            <a:r>
              <a:rPr lang="en-US" dirty="0"/>
              <a:t> THEN :</a:t>
            </a:r>
            <a:r>
              <a:rPr lang="en-US" dirty="0" err="1"/>
              <a:t>new.ProductDescription</a:t>
            </a:r>
            <a:r>
              <a:rPr lang="en-US" dirty="0"/>
              <a:t> := (:</a:t>
            </a:r>
            <a:r>
              <a:rPr lang="en-US" dirty="0" err="1"/>
              <a:t>old.ProductDescription</a:t>
            </a:r>
            <a:r>
              <a:rPr lang="en-US" dirty="0"/>
              <a:t> || '(On Sale)');</a:t>
            </a:r>
          </a:p>
          <a:p>
            <a:r>
              <a:rPr lang="en-US" dirty="0"/>
              <a:t>      END IF;</a:t>
            </a:r>
          </a:p>
          <a:p>
            <a:r>
              <a:rPr lang="en-US" dirty="0"/>
              <a:t>END;</a:t>
            </a:r>
          </a:p>
        </p:txBody>
      </p:sp>
      <p:cxnSp>
        <p:nvCxnSpPr>
          <p:cNvPr id="7" name="Straight Arrow Connector 6"/>
          <p:cNvCxnSpPr>
            <a:stCxn id="9" idx="1"/>
          </p:cNvCxnSpPr>
          <p:nvPr/>
        </p:nvCxnSpPr>
        <p:spPr>
          <a:xfrm flipH="1">
            <a:off x="8147304" y="2333506"/>
            <a:ext cx="978408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25712" y="2148840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table to monitor</a:t>
            </a:r>
          </a:p>
        </p:txBody>
      </p:sp>
    </p:spTree>
    <p:extLst>
      <p:ext uri="{BB962C8B-B14F-4D97-AF65-F5344CB8AC3E}">
        <p14:creationId xmlns:p14="http://schemas.microsoft.com/office/powerpoint/2010/main" val="1834581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Trigger Example (2)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4517453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733288" y="2587752"/>
            <a:ext cx="1728216" cy="20116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2904" y="2151733"/>
            <a:ext cx="3514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#2 product in Table Product</a:t>
            </a:r>
          </a:p>
          <a:p>
            <a:r>
              <a:rPr lang="en-US" dirty="0"/>
              <a:t>Change price from 200 to 250.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095744" y="2849326"/>
            <a:ext cx="656844" cy="1463254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26480" y="4569832"/>
            <a:ext cx="5404104" cy="1641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Trigger </a:t>
            </a:r>
            <a:r>
              <a:rPr lang="en-US" dirty="0" err="1">
                <a:solidFill>
                  <a:schemeClr val="tx1"/>
                </a:solidFill>
              </a:rPr>
              <a:t>product_desc_trig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&gt; :</a:t>
            </a:r>
            <a:r>
              <a:rPr lang="en-US" dirty="0" err="1">
                <a:solidFill>
                  <a:schemeClr val="tx1"/>
                </a:solidFill>
              </a:rPr>
              <a:t>old.price</a:t>
            </a:r>
            <a:r>
              <a:rPr lang="en-US" dirty="0">
                <a:solidFill>
                  <a:schemeClr val="tx1"/>
                </a:solidFill>
              </a:rPr>
              <a:t> (price increased) THEN</a:t>
            </a:r>
          </a:p>
          <a:p>
            <a:r>
              <a:rPr lang="en-US" dirty="0">
                <a:solidFill>
                  <a:schemeClr val="tx1"/>
                </a:solidFill>
              </a:rPr>
              <a:t>	Add ‘(HOT)’ at the end of the old description</a:t>
            </a:r>
          </a:p>
          <a:p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new.description</a:t>
            </a:r>
            <a:r>
              <a:rPr lang="en-US" dirty="0">
                <a:solidFill>
                  <a:schemeClr val="tx1"/>
                </a:solidFill>
              </a:rPr>
              <a:t> := ‘Table (HOT)’</a:t>
            </a:r>
          </a:p>
          <a:p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&lt; :</a:t>
            </a:r>
            <a:r>
              <a:rPr lang="en-US" dirty="0" err="1">
                <a:solidFill>
                  <a:schemeClr val="tx1"/>
                </a:solidFill>
              </a:rPr>
              <a:t>old.price</a:t>
            </a:r>
            <a:r>
              <a:rPr lang="en-US" dirty="0">
                <a:solidFill>
                  <a:schemeClr val="tx1"/>
                </a:solidFill>
              </a:rPr>
              <a:t> (price decreased) THEN</a:t>
            </a:r>
          </a:p>
          <a:p>
            <a:r>
              <a:rPr lang="en-US" dirty="0">
                <a:solidFill>
                  <a:schemeClr val="tx1"/>
                </a:solidFill>
              </a:rPr>
              <a:t>	Add ‘(HOT)’ at the end of the old description</a:t>
            </a:r>
          </a:p>
          <a:p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new.description</a:t>
            </a:r>
            <a:r>
              <a:rPr lang="en-US" dirty="0">
                <a:solidFill>
                  <a:schemeClr val="tx1"/>
                </a:solidFill>
              </a:rPr>
              <a:t> := ‘Table (On Sale)’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07792"/>
            <a:ext cx="4233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:old is (2, ‘Table’, ‘Ash’, 200)</a:t>
            </a:r>
          </a:p>
          <a:p>
            <a:r>
              <a:rPr lang="en-US" dirty="0"/>
              <a:t>:new is (2, ‘Table’, ‘Ash’, 250)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748600" y="2999232"/>
            <a:ext cx="987552" cy="1313348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87040" y="3614048"/>
            <a:ext cx="4233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:old is (2, ‘Table’, ‘Ash’, 200)</a:t>
            </a:r>
          </a:p>
          <a:p>
            <a:r>
              <a:rPr lang="en-US" dirty="0"/>
              <a:t>:new is (2, ‘Table (HOT)’, ‘Ash’, 250)</a:t>
            </a:r>
          </a:p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987040" y="3941064"/>
            <a:ext cx="3368040" cy="3017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4"/>
          <p:cNvGraphicFramePr>
            <a:graphicFrameLocks/>
          </p:cNvGraphicFramePr>
          <p:nvPr/>
        </p:nvGraphicFramePr>
        <p:xfrm>
          <a:off x="243523" y="4644502"/>
          <a:ext cx="4517453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8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(HOT)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Down Arrow 21"/>
          <p:cNvSpPr/>
          <p:nvPr/>
        </p:nvSpPr>
        <p:spPr>
          <a:xfrm rot="2157467">
            <a:off x="1368014" y="3462842"/>
            <a:ext cx="685800" cy="1133163"/>
          </a:xfrm>
          <a:prstGeom prst="downArrow">
            <a:avLst/>
          </a:prstGeom>
          <a:solidFill>
            <a:srgbClr val="2998E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&quot;No&quot; Symbol 23"/>
          <p:cNvSpPr/>
          <p:nvPr/>
        </p:nvSpPr>
        <p:spPr>
          <a:xfrm>
            <a:off x="6384108" y="2360114"/>
            <a:ext cx="630936" cy="604329"/>
          </a:xfrm>
          <a:prstGeom prst="noSmoking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85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87869" y="2503274"/>
            <a:ext cx="7845435" cy="3416320"/>
          </a:xfrm>
          <a:prstGeom prst="rect">
            <a:avLst/>
          </a:prstGeom>
          <a:solidFill>
            <a:srgbClr val="E6CCCC"/>
          </a:solidFill>
        </p:spPr>
        <p:txBody>
          <a:bodyPr wrap="square">
            <a:spAutoFit/>
          </a:bodyPr>
          <a:lstStyle/>
          <a:p>
            <a:r>
              <a:rPr lang="en-US" dirty="0"/>
              <a:t>CREATE OR REPLACE TRIGGER  </a:t>
            </a:r>
            <a:r>
              <a:rPr lang="en-US" dirty="0" err="1"/>
              <a:t>QrderLine_trigger</a:t>
            </a:r>
            <a:endParaRPr lang="en-US" dirty="0"/>
          </a:p>
          <a:p>
            <a:r>
              <a:rPr lang="en-US" dirty="0"/>
              <a:t>AFTER UPDATE OF </a:t>
            </a:r>
            <a:r>
              <a:rPr lang="en-US" dirty="0" err="1"/>
              <a:t>OrderedQuantity</a:t>
            </a:r>
            <a:r>
              <a:rPr lang="en-US" dirty="0"/>
              <a:t> ON </a:t>
            </a:r>
            <a:r>
              <a:rPr lang="en-US" b="1" dirty="0" err="1">
                <a:solidFill>
                  <a:srgbClr val="FF0000"/>
                </a:solidFill>
              </a:rPr>
              <a:t>OrderLine_T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FOR EACH ROW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  IF :new. </a:t>
            </a:r>
            <a:r>
              <a:rPr lang="en-US" dirty="0" err="1"/>
              <a:t>OrderedQuantity</a:t>
            </a:r>
            <a:r>
              <a:rPr lang="en-US" dirty="0"/>
              <a:t> &gt; :old. </a:t>
            </a:r>
            <a:r>
              <a:rPr lang="en-US" dirty="0" err="1"/>
              <a:t>OrderedQuantity</a:t>
            </a:r>
            <a:r>
              <a:rPr lang="en-US" dirty="0"/>
              <a:t> THEN </a:t>
            </a:r>
          </a:p>
          <a:p>
            <a:r>
              <a:rPr lang="en-US" dirty="0"/>
              <a:t>	UPDATE </a:t>
            </a:r>
            <a:r>
              <a:rPr lang="en-US" dirty="0" err="1"/>
              <a:t>Product_T</a:t>
            </a:r>
            <a:r>
              <a:rPr lang="en-US" dirty="0"/>
              <a:t> set </a:t>
            </a:r>
            <a:r>
              <a:rPr lang="en-US" dirty="0" err="1"/>
              <a:t>ProductStandardPrice</a:t>
            </a:r>
            <a:r>
              <a:rPr lang="en-US" dirty="0"/>
              <a:t> = </a:t>
            </a:r>
            <a:r>
              <a:rPr lang="en-US" dirty="0" err="1"/>
              <a:t>ProductStandardPrice</a:t>
            </a:r>
            <a:r>
              <a:rPr lang="en-US" dirty="0"/>
              <a:t> – 100 	WHERE </a:t>
            </a:r>
            <a:r>
              <a:rPr lang="en-US" dirty="0" err="1"/>
              <a:t>ProductID</a:t>
            </a:r>
            <a:r>
              <a:rPr lang="en-US" dirty="0"/>
              <a:t> = :</a:t>
            </a:r>
            <a:r>
              <a:rPr lang="en-US" dirty="0" err="1"/>
              <a:t>old.ProductID</a:t>
            </a:r>
            <a:r>
              <a:rPr lang="en-US" dirty="0"/>
              <a:t>;</a:t>
            </a:r>
          </a:p>
          <a:p>
            <a:r>
              <a:rPr lang="en-US" dirty="0"/>
              <a:t>      ELSIF :new. </a:t>
            </a:r>
            <a:r>
              <a:rPr lang="en-US" dirty="0" err="1"/>
              <a:t>OrderedQuantity</a:t>
            </a:r>
            <a:r>
              <a:rPr lang="en-US" dirty="0"/>
              <a:t> &lt; :old. </a:t>
            </a:r>
            <a:r>
              <a:rPr lang="en-US" dirty="0" err="1"/>
              <a:t>OrderedQuantity</a:t>
            </a:r>
            <a:r>
              <a:rPr lang="en-US" dirty="0"/>
              <a:t> THEN </a:t>
            </a:r>
          </a:p>
          <a:p>
            <a:r>
              <a:rPr lang="en-US" dirty="0"/>
              <a:t>	UPDATE </a:t>
            </a:r>
            <a:r>
              <a:rPr lang="en-US" dirty="0" err="1"/>
              <a:t>Product_T</a:t>
            </a:r>
            <a:r>
              <a:rPr lang="en-US" dirty="0"/>
              <a:t> set </a:t>
            </a:r>
            <a:r>
              <a:rPr lang="en-US" dirty="0" err="1"/>
              <a:t>ProductStandardPrice</a:t>
            </a:r>
            <a:r>
              <a:rPr lang="en-US" dirty="0"/>
              <a:t> = </a:t>
            </a:r>
            <a:r>
              <a:rPr lang="en-US" dirty="0" err="1"/>
              <a:t>ProductStandardPrice</a:t>
            </a:r>
            <a:r>
              <a:rPr lang="en-US" dirty="0"/>
              <a:t> + 100 	WHERE </a:t>
            </a:r>
            <a:r>
              <a:rPr lang="en-US" dirty="0" err="1"/>
              <a:t>ProductID</a:t>
            </a:r>
            <a:r>
              <a:rPr lang="en-US" dirty="0"/>
              <a:t> = :</a:t>
            </a:r>
            <a:r>
              <a:rPr lang="en-US" dirty="0" err="1"/>
              <a:t>old.ProductID</a:t>
            </a:r>
            <a:r>
              <a:rPr lang="en-US" dirty="0"/>
              <a:t>;</a:t>
            </a:r>
          </a:p>
          <a:p>
            <a:r>
              <a:rPr lang="en-US" dirty="0"/>
              <a:t>      END;</a:t>
            </a:r>
          </a:p>
          <a:p>
            <a:r>
              <a:rPr lang="en-US" dirty="0"/>
              <a:t>END;</a:t>
            </a:r>
          </a:p>
        </p:txBody>
      </p:sp>
      <p:cxnSp>
        <p:nvCxnSpPr>
          <p:cNvPr id="7" name="Straight Arrow Connector 6"/>
          <p:cNvCxnSpPr>
            <a:stCxn id="9" idx="1"/>
          </p:cNvCxnSpPr>
          <p:nvPr/>
        </p:nvCxnSpPr>
        <p:spPr>
          <a:xfrm flipH="1">
            <a:off x="8147304" y="2333506"/>
            <a:ext cx="978408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25712" y="2148840"/>
            <a:ext cx="253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table to monitor</a:t>
            </a:r>
          </a:p>
        </p:txBody>
      </p:sp>
    </p:spTree>
    <p:extLst>
      <p:ext uri="{BB962C8B-B14F-4D97-AF65-F5344CB8AC3E}">
        <p14:creationId xmlns:p14="http://schemas.microsoft.com/office/powerpoint/2010/main" val="1539256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Trigger Example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4167077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OrderID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dirty="0"/>
                        <a:t>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262372" y="2452760"/>
            <a:ext cx="2281428" cy="221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2904" y="2151733"/>
            <a:ext cx="4364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 the quantity of Product #1 in order 1</a:t>
            </a:r>
          </a:p>
          <a:p>
            <a:r>
              <a:rPr lang="en-US" dirty="0"/>
              <a:t>Change quantity from 5 to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569832"/>
            <a:ext cx="5404104" cy="1641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Trigger </a:t>
            </a:r>
            <a:r>
              <a:rPr lang="en-US" dirty="0" err="1">
                <a:solidFill>
                  <a:schemeClr val="tx1"/>
                </a:solidFill>
              </a:rPr>
              <a:t>orderline_trigger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new.quantity</a:t>
            </a:r>
            <a:r>
              <a:rPr lang="en-US" dirty="0">
                <a:solidFill>
                  <a:schemeClr val="tx1"/>
                </a:solidFill>
              </a:rPr>
              <a:t> &gt; :</a:t>
            </a:r>
            <a:r>
              <a:rPr lang="en-US" dirty="0" err="1">
                <a:solidFill>
                  <a:schemeClr val="tx1"/>
                </a:solidFill>
              </a:rPr>
              <a:t>old.quantity</a:t>
            </a:r>
            <a:r>
              <a:rPr lang="en-US" dirty="0">
                <a:solidFill>
                  <a:schemeClr val="tx1"/>
                </a:solidFill>
              </a:rPr>
              <a:t> THEN</a:t>
            </a:r>
          </a:p>
          <a:p>
            <a:r>
              <a:rPr lang="en-US" dirty="0">
                <a:solidFill>
                  <a:schemeClr val="tx1"/>
                </a:solidFill>
              </a:rPr>
              <a:t>	update </a:t>
            </a:r>
            <a:r>
              <a:rPr lang="en-US" dirty="0" err="1">
                <a:solidFill>
                  <a:schemeClr val="tx1"/>
                </a:solidFill>
              </a:rPr>
              <a:t>Product_T</a:t>
            </a:r>
            <a:r>
              <a:rPr lang="en-US" dirty="0">
                <a:solidFill>
                  <a:schemeClr val="tx1"/>
                </a:solidFill>
              </a:rPr>
              <a:t> set Price = Price +100 ; END;</a:t>
            </a:r>
          </a:p>
          <a:p>
            <a:r>
              <a:rPr lang="en-US" dirty="0">
                <a:solidFill>
                  <a:schemeClr val="tx1"/>
                </a:solidFill>
              </a:rPr>
              <a:t>If :</a:t>
            </a:r>
            <a:r>
              <a:rPr lang="en-US" dirty="0" err="1">
                <a:solidFill>
                  <a:schemeClr val="tx1"/>
                </a:solidFill>
              </a:rPr>
              <a:t>new.price</a:t>
            </a:r>
            <a:r>
              <a:rPr lang="en-US" dirty="0">
                <a:solidFill>
                  <a:schemeClr val="tx1"/>
                </a:solidFill>
              </a:rPr>
              <a:t> &lt; :</a:t>
            </a:r>
            <a:r>
              <a:rPr lang="en-US" dirty="0" err="1">
                <a:solidFill>
                  <a:schemeClr val="tx1"/>
                </a:solidFill>
              </a:rPr>
              <a:t>old.price</a:t>
            </a:r>
            <a:r>
              <a:rPr lang="en-US" dirty="0">
                <a:solidFill>
                  <a:schemeClr val="tx1"/>
                </a:solidFill>
              </a:rPr>
              <a:t> THEN</a:t>
            </a:r>
          </a:p>
          <a:p>
            <a:r>
              <a:rPr lang="en-US" dirty="0">
                <a:solidFill>
                  <a:schemeClr val="tx1"/>
                </a:solidFill>
              </a:rPr>
              <a:t>	update </a:t>
            </a:r>
            <a:r>
              <a:rPr lang="en-US" dirty="0" err="1">
                <a:solidFill>
                  <a:schemeClr val="tx1"/>
                </a:solidFill>
              </a:rPr>
              <a:t>Product_T</a:t>
            </a:r>
            <a:r>
              <a:rPr lang="en-US" dirty="0">
                <a:solidFill>
                  <a:schemeClr val="tx1"/>
                </a:solidFill>
              </a:rPr>
              <a:t> set Price = Price +100 ; END;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3760" y="2830518"/>
            <a:ext cx="4233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:old is (1, 1, 5)</a:t>
            </a:r>
          </a:p>
          <a:p>
            <a:r>
              <a:rPr lang="en-US" dirty="0"/>
              <a:t>:new is (1, 1, 6)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971056" y="2578655"/>
            <a:ext cx="612296" cy="1860945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4"/>
          <p:cNvGraphicFramePr>
            <a:graphicFrameLocks/>
          </p:cNvGraphicFramePr>
          <p:nvPr/>
        </p:nvGraphicFramePr>
        <p:xfrm>
          <a:off x="243523" y="4644502"/>
          <a:ext cx="4849685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8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Cherry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200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(HOT)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9" name="Straight Arrow Connector 18"/>
          <p:cNvCxnSpPr/>
          <p:nvPr/>
        </p:nvCxnSpPr>
        <p:spPr>
          <a:xfrm flipH="1">
            <a:off x="5093208" y="5075112"/>
            <a:ext cx="942214" cy="109536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723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Enable/Disable/Drop a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602906-B08E-48FD-90DD-C1AA348D6EA9}" type="slidenum">
              <a:rPr lang="en-US" sz="1400">
                <a:solidFill>
                  <a:schemeClr val="bg1"/>
                </a:solidFill>
              </a:rPr>
              <a:pPr/>
              <a:t>18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75360" y="1845734"/>
            <a:ext cx="10613666" cy="435389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Enable a trigger</a:t>
            </a:r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Disable a trigger</a:t>
            </a:r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marL="201168" lvl="1" indent="0">
              <a:buNone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 Drop a trigger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720339" y="2512528"/>
            <a:ext cx="6812279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sz="1800" b="1" dirty="0"/>
              <a:t>ALTER TRIGGER  </a:t>
            </a:r>
            <a:r>
              <a:rPr lang="fr-FR" sz="1800" b="1" i="1" dirty="0" err="1">
                <a:solidFill>
                  <a:srgbClr val="FF0000"/>
                </a:solidFill>
              </a:rPr>
              <a:t>trigger_name</a:t>
            </a:r>
            <a:r>
              <a:rPr lang="fr-FR" sz="1800" b="1" i="1" dirty="0">
                <a:solidFill>
                  <a:srgbClr val="FF0000"/>
                </a:solidFill>
              </a:rPr>
              <a:t>  </a:t>
            </a:r>
            <a:r>
              <a:rPr lang="fr-FR" sz="1800" b="1" dirty="0"/>
              <a:t>ENABLE;</a:t>
            </a:r>
            <a:r>
              <a:rPr lang="fr-FR" sz="1800" b="1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720337" y="3894415"/>
            <a:ext cx="6812279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sz="1800" b="1" dirty="0"/>
              <a:t>ALTER TRIGGER  </a:t>
            </a:r>
            <a:r>
              <a:rPr lang="fr-FR" sz="1800" b="1" i="1" dirty="0" err="1">
                <a:solidFill>
                  <a:srgbClr val="FF0000"/>
                </a:solidFill>
              </a:rPr>
              <a:t>trigger_name</a:t>
            </a:r>
            <a:r>
              <a:rPr lang="fr-FR" sz="1800" b="1" i="1" dirty="0">
                <a:solidFill>
                  <a:srgbClr val="FF0000"/>
                </a:solidFill>
              </a:rPr>
              <a:t>  </a:t>
            </a:r>
            <a:r>
              <a:rPr lang="fr-FR" sz="1800" b="1" dirty="0"/>
              <a:t>DISABLE;</a:t>
            </a:r>
            <a:r>
              <a:rPr lang="fr-FR" sz="1800" b="1" i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720337" y="5276302"/>
            <a:ext cx="6812279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sz="1800" b="1" dirty="0"/>
              <a:t>DROP TRIGGER  </a:t>
            </a:r>
            <a:r>
              <a:rPr lang="fr-FR" sz="1800" b="1" i="1" dirty="0" err="1">
                <a:solidFill>
                  <a:srgbClr val="FF0000"/>
                </a:solidFill>
              </a:rPr>
              <a:t>trigger_name</a:t>
            </a:r>
            <a:r>
              <a:rPr lang="fr-FR" sz="1800" b="1" dirty="0"/>
              <a:t>;</a:t>
            </a:r>
            <a:r>
              <a:rPr lang="fr-FR" sz="1800" b="1" i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3374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Chains and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475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Multiple triggers based on the same column is OK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Trigger1: When updating price, change description.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Trigger2: When updating price, change name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Multiple triggers modifying the same column is OK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Trigger1: When updating price, change description.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Trigger2: When updating finish, change description.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Order? Determined by the database, or you can explicitly designate the order.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Looping triggers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Trigger1: When updating price, change description.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Trigger2: When updating description, change price.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Database will detect a loop and stop this process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67216" y="2823306"/>
            <a:ext cx="2078736" cy="147732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</a:p>
          <a:p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   follows trigger_1</a:t>
            </a:r>
            <a:br>
              <a:rPr lang="en-US" dirty="0"/>
            </a:br>
            <a:r>
              <a:rPr lang="en-US" dirty="0"/>
              <a:t>begin</a:t>
            </a:r>
          </a:p>
          <a:p>
            <a:r>
              <a:rPr lang="en-US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49864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transaction is a sequence of actions on the database, that is.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ahoma" charset="0"/>
                <a:cs typeface="Arial" charset="0"/>
              </a:rPr>
              <a:t>Atomic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Tahoma" charset="0"/>
                <a:cs typeface="Arial" charset="0"/>
              </a:rPr>
              <a:t>Transaction cannot be subdivided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ahoma" charset="0"/>
                <a:cs typeface="Arial" charset="0"/>
              </a:rPr>
              <a:t>Consistent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Tahoma" charset="0"/>
                <a:cs typeface="Arial" charset="0"/>
              </a:rPr>
              <a:t>Transaction must take the database from one valid state to another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Tahoma" charset="0"/>
                <a:cs typeface="Arial" charset="0"/>
              </a:rPr>
              <a:t>e.g., database is consistent with the integrity rules before and after the transaction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ahoma" charset="0"/>
                <a:cs typeface="Arial" charset="0"/>
              </a:rPr>
              <a:t>Isolated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Tahoma" charset="0"/>
                <a:cs typeface="Arial" charset="0"/>
              </a:rPr>
              <a:t>One transaction must not interfere with another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ahoma" charset="0"/>
                <a:cs typeface="Arial" charset="0"/>
              </a:rPr>
              <a:t>Durable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Tahoma" charset="0"/>
                <a:cs typeface="Arial" charset="0"/>
              </a:rPr>
              <a:t>Database changes are permanent. Committed transactions must remain permanent.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28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Canceled/failed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882" y="1880011"/>
            <a:ext cx="7543801" cy="46140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Power-off,  Software issues (system frozen), User aborted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Bank </a:t>
            </a:r>
            <a:r>
              <a:rPr lang="en-US" altLang="zh-CN" dirty="0"/>
              <a:t>Transfer</a:t>
            </a:r>
            <a:r>
              <a:rPr lang="en-US" dirty="0"/>
              <a:t> Transaction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Update “from” balance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/>
              <a:t>Update “To” </a:t>
            </a:r>
            <a:r>
              <a:rPr lang="en-US" dirty="0"/>
              <a:t>Balance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Finalize Transaction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Either all actions are performed or none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Each transaction is atomic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Commit after each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74914" y="2812946"/>
            <a:ext cx="933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183163" y="2667370"/>
            <a:ext cx="687977" cy="8656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71140" y="2915542"/>
            <a:ext cx="168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transaction</a:t>
            </a:r>
          </a:p>
        </p:txBody>
      </p:sp>
      <p:sp>
        <p:nvSpPr>
          <p:cNvPr id="9" name="Folded Corner 8"/>
          <p:cNvSpPr/>
          <p:nvPr/>
        </p:nvSpPr>
        <p:spPr>
          <a:xfrm>
            <a:off x="8216538" y="3831336"/>
            <a:ext cx="1674222" cy="2340864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file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Commit</a:t>
            </a:r>
          </a:p>
          <a:p>
            <a:pPr algn="ctr"/>
            <a:r>
              <a:rPr lang="en-US" dirty="0"/>
              <a:t>Action 1</a:t>
            </a:r>
          </a:p>
          <a:p>
            <a:pPr algn="ctr"/>
            <a:r>
              <a:rPr lang="en-US" dirty="0"/>
              <a:t>Action 2</a:t>
            </a:r>
          </a:p>
          <a:p>
            <a:pPr algn="ctr"/>
            <a:r>
              <a:rPr lang="en-US" dirty="0"/>
              <a:t>Action 3</a:t>
            </a:r>
          </a:p>
          <a:p>
            <a:pPr algn="ctr"/>
            <a:r>
              <a:rPr lang="en-US" dirty="0"/>
              <a:t>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60684" y="4604111"/>
            <a:ext cx="933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632737" y="5065776"/>
            <a:ext cx="23489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rved Right Arrow 12"/>
          <p:cNvSpPr/>
          <p:nvPr/>
        </p:nvSpPr>
        <p:spPr>
          <a:xfrm rot="10363236">
            <a:off x="9928760" y="4484494"/>
            <a:ext cx="368280" cy="470155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25343" y="4550514"/>
            <a:ext cx="96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416445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6400" y="2133600"/>
            <a:ext cx="89154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BEGIN</a:t>
            </a:r>
          </a:p>
          <a:p>
            <a:r>
              <a:rPr lang="en-US" sz="1600" dirty="0"/>
              <a:t>  </a:t>
            </a:r>
            <a:r>
              <a:rPr lang="en-US" sz="1600" dirty="0">
                <a:solidFill>
                  <a:srgbClr val="FF0000"/>
                </a:solidFill>
              </a:rPr>
              <a:t>COMMIT;</a:t>
            </a:r>
          </a:p>
          <a:p>
            <a:r>
              <a:rPr lang="en-US" sz="1600" dirty="0"/>
              <a:t>  INSERT INTO </a:t>
            </a:r>
            <a:r>
              <a:rPr lang="en-US" sz="1600" dirty="0" err="1"/>
              <a:t>samplecustomers</a:t>
            </a:r>
            <a:r>
              <a:rPr lang="en-US" sz="1600" dirty="0"/>
              <a:t>(</a:t>
            </a:r>
            <a:r>
              <a:rPr lang="en-US" sz="1600" dirty="0" err="1"/>
              <a:t>customerid,firstname,gender</a:t>
            </a:r>
            <a:r>
              <a:rPr lang="en-US" sz="1600" dirty="0"/>
              <a:t>) VALUES (423617, 'Mike', 'M');</a:t>
            </a:r>
          </a:p>
          <a:p>
            <a:r>
              <a:rPr lang="en-US" sz="1600" dirty="0"/>
              <a:t>  INSERT INTO </a:t>
            </a:r>
            <a:r>
              <a:rPr lang="en-US" sz="1600" dirty="0" err="1"/>
              <a:t>sampleorders</a:t>
            </a:r>
            <a:r>
              <a:rPr lang="en-US" sz="1600" dirty="0"/>
              <a:t>(</a:t>
            </a:r>
            <a:r>
              <a:rPr lang="en-US" sz="1600" dirty="0" err="1"/>
              <a:t>orderid,customerid,totalprice</a:t>
            </a:r>
            <a:r>
              <a:rPr lang="en-US" sz="1600" dirty="0"/>
              <a:t>) VALUES(775765, 423617, 'Mike');</a:t>
            </a:r>
          </a:p>
          <a:p>
            <a:r>
              <a:rPr lang="en-US" sz="1600" dirty="0"/>
              <a:t>  </a:t>
            </a:r>
            <a:r>
              <a:rPr lang="en-US" sz="1600" dirty="0">
                <a:solidFill>
                  <a:srgbClr val="FF0000"/>
                </a:solidFill>
              </a:rPr>
              <a:t>COMMIT;</a:t>
            </a:r>
          </a:p>
          <a:p>
            <a:r>
              <a:rPr lang="en-US" sz="1600" dirty="0"/>
              <a:t>EXCEPTION</a:t>
            </a:r>
          </a:p>
          <a:p>
            <a:r>
              <a:rPr lang="en-US" sz="1600" dirty="0"/>
              <a:t>  WHEN OTHERS THEN</a:t>
            </a:r>
          </a:p>
          <a:p>
            <a:r>
              <a:rPr lang="en-US" sz="1600" dirty="0"/>
              <a:t>  </a:t>
            </a:r>
            <a:r>
              <a:rPr lang="en-US" sz="1600" dirty="0">
                <a:solidFill>
                  <a:srgbClr val="FF0000"/>
                </a:solidFill>
              </a:rPr>
              <a:t>ROLLBACK;</a:t>
            </a:r>
          </a:p>
          <a:p>
            <a:r>
              <a:rPr lang="en-US" sz="1600" dirty="0"/>
              <a:t>END;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400" y="1752601"/>
            <a:ext cx="6985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Atomic Transaction: Either both of the INSERT statements are executed or none is executed.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667000" y="4114800"/>
            <a:ext cx="1600200" cy="990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57400" y="5105400"/>
            <a:ext cx="5152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Rollbacks the database if any of the INSERT statements fail</a:t>
            </a:r>
          </a:p>
        </p:txBody>
      </p:sp>
    </p:spTree>
    <p:extLst>
      <p:ext uri="{BB962C8B-B14F-4D97-AF65-F5344CB8AC3E}">
        <p14:creationId xmlns:p14="http://schemas.microsoft.com/office/powerpoint/2010/main" val="120860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9EDC0D-5860-B543-A8ED-BE3083E03A6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37488" y="2664506"/>
            <a:ext cx="89154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COMMIT;</a:t>
            </a:r>
          </a:p>
          <a:p>
            <a:r>
              <a:rPr lang="en-US" sz="1600" dirty="0"/>
              <a:t>SELECT * FROM ORDERLINE_T WHERE PRODUCTID = 4;</a:t>
            </a:r>
          </a:p>
          <a:p>
            <a:r>
              <a:rPr lang="en-US" sz="1600" dirty="0"/>
              <a:t>DELETE FROM ORDERLINE_T WHERE PRODUCTID = 4;</a:t>
            </a:r>
          </a:p>
          <a:p>
            <a:r>
              <a:rPr lang="en-US" sz="1600" dirty="0"/>
              <a:t>SELECT * FROM ORDERLINE_T WHERE PRODUCTID = 4;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ROLLBACK;</a:t>
            </a:r>
          </a:p>
          <a:p>
            <a:r>
              <a:rPr lang="en-US" sz="1600" dirty="0"/>
              <a:t>SELECT * FROM ORDERLINE_T WHERE PRODUCTID = 4;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4336" y="2176272"/>
            <a:ext cx="223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these commands. </a:t>
            </a:r>
          </a:p>
        </p:txBody>
      </p:sp>
    </p:spTree>
    <p:extLst>
      <p:ext uri="{BB962C8B-B14F-4D97-AF65-F5344CB8AC3E}">
        <p14:creationId xmlns:p14="http://schemas.microsoft.com/office/powerpoint/2010/main" val="277720234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20970</TotalTime>
  <Words>2112</Words>
  <Application>Microsoft Office PowerPoint</Application>
  <PresentationFormat>宽屏</PresentationFormat>
  <Paragraphs>418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Tahoma</vt:lpstr>
      <vt:lpstr>Wingdings</vt:lpstr>
      <vt:lpstr>1_Retrospect</vt:lpstr>
      <vt:lpstr>Database Systems</vt:lpstr>
      <vt:lpstr>Integrity Controls</vt:lpstr>
      <vt:lpstr>Trigger</vt:lpstr>
      <vt:lpstr>Trigger</vt:lpstr>
      <vt:lpstr>Create a Trigger</vt:lpstr>
      <vt:lpstr>Trigger: BEFORE INSERT</vt:lpstr>
      <vt:lpstr>Two Pseudo-records</vt:lpstr>
      <vt:lpstr>Trigger on INSERT</vt:lpstr>
      <vt:lpstr>Testing the Trigger</vt:lpstr>
      <vt:lpstr>Before Trigger Example (1)</vt:lpstr>
      <vt:lpstr>Trigger on update</vt:lpstr>
      <vt:lpstr>Creating and Testing the trigger</vt:lpstr>
      <vt:lpstr>In-Class Exercise</vt:lpstr>
      <vt:lpstr>Solution</vt:lpstr>
      <vt:lpstr>Before Trigger Example (2)</vt:lpstr>
      <vt:lpstr>After Trigger</vt:lpstr>
      <vt:lpstr>After Trigger Example</vt:lpstr>
      <vt:lpstr>Enable/Disable/Drop a Trigger</vt:lpstr>
      <vt:lpstr>Chains and Deadlocks</vt:lpstr>
      <vt:lpstr>Transaction Management</vt:lpstr>
      <vt:lpstr>Transaction Canceled/failed</vt:lpstr>
      <vt:lpstr>Example</vt:lpstr>
      <vt:lpstr>Example</vt:lpstr>
    </vt:vector>
  </TitlesOfParts>
  <Company>Tippie 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Zhou, Xun</dc:creator>
  <cp:lastModifiedBy>Xun Zhou</cp:lastModifiedBy>
  <cp:revision>1306</cp:revision>
  <dcterms:created xsi:type="dcterms:W3CDTF">2014-09-09T01:52:12Z</dcterms:created>
  <dcterms:modified xsi:type="dcterms:W3CDTF">2025-10-26T07:18:31Z</dcterms:modified>
</cp:coreProperties>
</file>