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56" r:id="rId3"/>
    <p:sldId id="289" r:id="rId4"/>
    <p:sldId id="267" r:id="rId5"/>
    <p:sldId id="268" r:id="rId6"/>
    <p:sldId id="269" r:id="rId7"/>
    <p:sldId id="295" r:id="rId8"/>
    <p:sldId id="270" r:id="rId9"/>
    <p:sldId id="271" r:id="rId10"/>
    <p:sldId id="272" r:id="rId11"/>
    <p:sldId id="273" r:id="rId12"/>
    <p:sldId id="274" r:id="rId13"/>
    <p:sldId id="296" r:id="rId14"/>
    <p:sldId id="275" r:id="rId15"/>
    <p:sldId id="276" r:id="rId16"/>
    <p:sldId id="280" r:id="rId17"/>
    <p:sldId id="277" r:id="rId18"/>
    <p:sldId id="278" r:id="rId19"/>
    <p:sldId id="279" r:id="rId20"/>
    <p:sldId id="257" r:id="rId21"/>
    <p:sldId id="258" r:id="rId22"/>
    <p:sldId id="259" r:id="rId23"/>
    <p:sldId id="260" r:id="rId24"/>
    <p:sldId id="261" r:id="rId25"/>
    <p:sldId id="281" r:id="rId26"/>
    <p:sldId id="262" r:id="rId27"/>
    <p:sldId id="290" r:id="rId28"/>
    <p:sldId id="263" r:id="rId29"/>
    <p:sldId id="264" r:id="rId30"/>
    <p:sldId id="265" r:id="rId31"/>
    <p:sldId id="266" r:id="rId32"/>
    <p:sldId id="282" r:id="rId33"/>
    <p:sldId id="283" r:id="rId34"/>
    <p:sldId id="284" r:id="rId35"/>
    <p:sldId id="285" r:id="rId36"/>
    <p:sldId id="286" r:id="rId37"/>
    <p:sldId id="287" r:id="rId38"/>
    <p:sldId id="288" r:id="rId39"/>
    <p:sldId id="291" r:id="rId40"/>
    <p:sldId id="292" r:id="rId41"/>
    <p:sldId id="293" r:id="rId42"/>
    <p:sldId id="297" r:id="rId4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8" d="100"/>
          <a:sy n="78" d="100"/>
        </p:scale>
        <p:origin x="581"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B774EB-ACF2-8FFE-3DA5-42F297F7D41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52125B6-476D-2C03-83E5-92B7071AD0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9E68A64-08DB-9F48-1900-90D9B9C9776B}"/>
              </a:ext>
            </a:extLst>
          </p:cNvPr>
          <p:cNvSpPr>
            <a:spLocks noGrp="1"/>
          </p:cNvSpPr>
          <p:nvPr>
            <p:ph type="dt" sz="half" idx="10"/>
          </p:nvPr>
        </p:nvSpPr>
        <p:spPr/>
        <p:txBody>
          <a:bodyPr/>
          <a:lstStyle/>
          <a:p>
            <a:fld id="{A6FF1FC0-47A5-40E3-AF6C-5A4BCAEE4242}" type="datetimeFigureOut">
              <a:rPr lang="zh-CN" altLang="en-US" smtClean="0"/>
              <a:t>2025/9/28</a:t>
            </a:fld>
            <a:endParaRPr lang="zh-CN" altLang="en-US"/>
          </a:p>
        </p:txBody>
      </p:sp>
      <p:sp>
        <p:nvSpPr>
          <p:cNvPr id="5" name="页脚占位符 4">
            <a:extLst>
              <a:ext uri="{FF2B5EF4-FFF2-40B4-BE49-F238E27FC236}">
                <a16:creationId xmlns:a16="http://schemas.microsoft.com/office/drawing/2014/main" id="{6D74CD0C-8639-014A-690A-B3BCB2257CE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6D99556-E370-484D-4E92-DAEE6379C06D}"/>
              </a:ext>
            </a:extLst>
          </p:cNvPr>
          <p:cNvSpPr>
            <a:spLocks noGrp="1"/>
          </p:cNvSpPr>
          <p:nvPr>
            <p:ph type="sldNum" sz="quarter" idx="12"/>
          </p:nvPr>
        </p:nvSpPr>
        <p:spPr/>
        <p:txBody>
          <a:bodyPr/>
          <a:lstStyle/>
          <a:p>
            <a:fld id="{8CF87B3D-D3EB-4C1E-A523-6FD3BFE21E8C}" type="slidenum">
              <a:rPr lang="zh-CN" altLang="en-US" smtClean="0"/>
              <a:t>‹#›</a:t>
            </a:fld>
            <a:endParaRPr lang="zh-CN" altLang="en-US"/>
          </a:p>
        </p:txBody>
      </p:sp>
    </p:spTree>
    <p:extLst>
      <p:ext uri="{BB962C8B-B14F-4D97-AF65-F5344CB8AC3E}">
        <p14:creationId xmlns:p14="http://schemas.microsoft.com/office/powerpoint/2010/main" val="1341677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030637-546A-5E21-4C06-B910D02DE6F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55EED70-BC47-9EE5-C1E3-FD3FD92E58E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CBA2983-E926-0B40-0423-8E3F95E8E67D}"/>
              </a:ext>
            </a:extLst>
          </p:cNvPr>
          <p:cNvSpPr>
            <a:spLocks noGrp="1"/>
          </p:cNvSpPr>
          <p:nvPr>
            <p:ph type="dt" sz="half" idx="10"/>
          </p:nvPr>
        </p:nvSpPr>
        <p:spPr/>
        <p:txBody>
          <a:bodyPr/>
          <a:lstStyle/>
          <a:p>
            <a:fld id="{A6FF1FC0-47A5-40E3-AF6C-5A4BCAEE4242}" type="datetimeFigureOut">
              <a:rPr lang="zh-CN" altLang="en-US" smtClean="0"/>
              <a:t>2025/9/28</a:t>
            </a:fld>
            <a:endParaRPr lang="zh-CN" altLang="en-US"/>
          </a:p>
        </p:txBody>
      </p:sp>
      <p:sp>
        <p:nvSpPr>
          <p:cNvPr id="5" name="页脚占位符 4">
            <a:extLst>
              <a:ext uri="{FF2B5EF4-FFF2-40B4-BE49-F238E27FC236}">
                <a16:creationId xmlns:a16="http://schemas.microsoft.com/office/drawing/2014/main" id="{F7F173C2-ED81-A750-C577-786A32FB306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BA9FD29-1D14-3750-A82B-7F002411664F}"/>
              </a:ext>
            </a:extLst>
          </p:cNvPr>
          <p:cNvSpPr>
            <a:spLocks noGrp="1"/>
          </p:cNvSpPr>
          <p:nvPr>
            <p:ph type="sldNum" sz="quarter" idx="12"/>
          </p:nvPr>
        </p:nvSpPr>
        <p:spPr/>
        <p:txBody>
          <a:bodyPr/>
          <a:lstStyle/>
          <a:p>
            <a:fld id="{8CF87B3D-D3EB-4C1E-A523-6FD3BFE21E8C}" type="slidenum">
              <a:rPr lang="zh-CN" altLang="en-US" smtClean="0"/>
              <a:t>‹#›</a:t>
            </a:fld>
            <a:endParaRPr lang="zh-CN" altLang="en-US"/>
          </a:p>
        </p:txBody>
      </p:sp>
    </p:spTree>
    <p:extLst>
      <p:ext uri="{BB962C8B-B14F-4D97-AF65-F5344CB8AC3E}">
        <p14:creationId xmlns:p14="http://schemas.microsoft.com/office/powerpoint/2010/main" val="918053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79136B-F4E4-3894-2096-C3D49DD6523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052E33F-A444-7912-5EDE-CC3C31BBD8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0F0C7A3-E8E5-EDD0-EE70-708F7AE4A54E}"/>
              </a:ext>
            </a:extLst>
          </p:cNvPr>
          <p:cNvSpPr>
            <a:spLocks noGrp="1"/>
          </p:cNvSpPr>
          <p:nvPr>
            <p:ph type="dt" sz="half" idx="10"/>
          </p:nvPr>
        </p:nvSpPr>
        <p:spPr/>
        <p:txBody>
          <a:bodyPr/>
          <a:lstStyle/>
          <a:p>
            <a:fld id="{A6FF1FC0-47A5-40E3-AF6C-5A4BCAEE4242}" type="datetimeFigureOut">
              <a:rPr lang="zh-CN" altLang="en-US" smtClean="0"/>
              <a:t>2025/9/28</a:t>
            </a:fld>
            <a:endParaRPr lang="zh-CN" altLang="en-US"/>
          </a:p>
        </p:txBody>
      </p:sp>
      <p:sp>
        <p:nvSpPr>
          <p:cNvPr id="5" name="页脚占位符 4">
            <a:extLst>
              <a:ext uri="{FF2B5EF4-FFF2-40B4-BE49-F238E27FC236}">
                <a16:creationId xmlns:a16="http://schemas.microsoft.com/office/drawing/2014/main" id="{20447B07-0718-49D5-1103-E70BEF25943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B7B5FAC-785F-0F29-8E0D-8B0A366F2B0C}"/>
              </a:ext>
            </a:extLst>
          </p:cNvPr>
          <p:cNvSpPr>
            <a:spLocks noGrp="1"/>
          </p:cNvSpPr>
          <p:nvPr>
            <p:ph type="sldNum" sz="quarter" idx="12"/>
          </p:nvPr>
        </p:nvSpPr>
        <p:spPr/>
        <p:txBody>
          <a:bodyPr/>
          <a:lstStyle/>
          <a:p>
            <a:fld id="{8CF87B3D-D3EB-4C1E-A523-6FD3BFE21E8C}" type="slidenum">
              <a:rPr lang="zh-CN" altLang="en-US" smtClean="0"/>
              <a:t>‹#›</a:t>
            </a:fld>
            <a:endParaRPr lang="zh-CN" altLang="en-US"/>
          </a:p>
        </p:txBody>
      </p:sp>
    </p:spTree>
    <p:extLst>
      <p:ext uri="{BB962C8B-B14F-4D97-AF65-F5344CB8AC3E}">
        <p14:creationId xmlns:p14="http://schemas.microsoft.com/office/powerpoint/2010/main" val="1249349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5605B1-23FC-756F-DEAA-9E37DAFDBFD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999E9C-A4C1-81F5-7165-C3D40794698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3C58A18-3936-75EF-5FE4-48948A3D6EA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0332B15-E28B-B354-0161-E0BC400915FC}"/>
              </a:ext>
            </a:extLst>
          </p:cNvPr>
          <p:cNvSpPr>
            <a:spLocks noGrp="1"/>
          </p:cNvSpPr>
          <p:nvPr>
            <p:ph type="dt" sz="half" idx="10"/>
          </p:nvPr>
        </p:nvSpPr>
        <p:spPr/>
        <p:txBody>
          <a:bodyPr/>
          <a:lstStyle/>
          <a:p>
            <a:fld id="{A6FF1FC0-47A5-40E3-AF6C-5A4BCAEE4242}" type="datetimeFigureOut">
              <a:rPr lang="zh-CN" altLang="en-US" smtClean="0"/>
              <a:t>2025/9/28</a:t>
            </a:fld>
            <a:endParaRPr lang="zh-CN" altLang="en-US"/>
          </a:p>
        </p:txBody>
      </p:sp>
      <p:sp>
        <p:nvSpPr>
          <p:cNvPr id="6" name="页脚占位符 5">
            <a:extLst>
              <a:ext uri="{FF2B5EF4-FFF2-40B4-BE49-F238E27FC236}">
                <a16:creationId xmlns:a16="http://schemas.microsoft.com/office/drawing/2014/main" id="{C7803CC1-FBE2-D512-4FCA-87C2E97E1D0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F749DC8-BEB7-DF9D-C754-EE3720720FA5}"/>
              </a:ext>
            </a:extLst>
          </p:cNvPr>
          <p:cNvSpPr>
            <a:spLocks noGrp="1"/>
          </p:cNvSpPr>
          <p:nvPr>
            <p:ph type="sldNum" sz="quarter" idx="12"/>
          </p:nvPr>
        </p:nvSpPr>
        <p:spPr/>
        <p:txBody>
          <a:bodyPr/>
          <a:lstStyle/>
          <a:p>
            <a:fld id="{8CF87B3D-D3EB-4C1E-A523-6FD3BFE21E8C}" type="slidenum">
              <a:rPr lang="zh-CN" altLang="en-US" smtClean="0"/>
              <a:t>‹#›</a:t>
            </a:fld>
            <a:endParaRPr lang="zh-CN" altLang="en-US"/>
          </a:p>
        </p:txBody>
      </p:sp>
    </p:spTree>
    <p:extLst>
      <p:ext uri="{BB962C8B-B14F-4D97-AF65-F5344CB8AC3E}">
        <p14:creationId xmlns:p14="http://schemas.microsoft.com/office/powerpoint/2010/main" val="1450641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4FE70D-D1ED-BB8C-E5E4-4C5395DF5F2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F2020A-3A9D-4546-4C63-CDB898A63C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1897D4E-BEEC-741F-A776-F1E06A045AB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8DDF417-02AA-857D-4438-7D72637AB9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C407299-5807-B99C-41EA-0CF567F6D8B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7ACE5D4-D6D4-CBC1-B4F7-CCFF1E052C4B}"/>
              </a:ext>
            </a:extLst>
          </p:cNvPr>
          <p:cNvSpPr>
            <a:spLocks noGrp="1"/>
          </p:cNvSpPr>
          <p:nvPr>
            <p:ph type="dt" sz="half" idx="10"/>
          </p:nvPr>
        </p:nvSpPr>
        <p:spPr/>
        <p:txBody>
          <a:bodyPr/>
          <a:lstStyle/>
          <a:p>
            <a:fld id="{A6FF1FC0-47A5-40E3-AF6C-5A4BCAEE4242}" type="datetimeFigureOut">
              <a:rPr lang="zh-CN" altLang="en-US" smtClean="0"/>
              <a:t>2025/9/28</a:t>
            </a:fld>
            <a:endParaRPr lang="zh-CN" altLang="en-US"/>
          </a:p>
        </p:txBody>
      </p:sp>
      <p:sp>
        <p:nvSpPr>
          <p:cNvPr id="8" name="页脚占位符 7">
            <a:extLst>
              <a:ext uri="{FF2B5EF4-FFF2-40B4-BE49-F238E27FC236}">
                <a16:creationId xmlns:a16="http://schemas.microsoft.com/office/drawing/2014/main" id="{A9E99607-F27A-60F4-50E2-E7D83A1FBF3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32ECA2C-57B3-277E-EB53-AB6729B6BF8F}"/>
              </a:ext>
            </a:extLst>
          </p:cNvPr>
          <p:cNvSpPr>
            <a:spLocks noGrp="1"/>
          </p:cNvSpPr>
          <p:nvPr>
            <p:ph type="sldNum" sz="quarter" idx="12"/>
          </p:nvPr>
        </p:nvSpPr>
        <p:spPr/>
        <p:txBody>
          <a:bodyPr/>
          <a:lstStyle/>
          <a:p>
            <a:fld id="{8CF87B3D-D3EB-4C1E-A523-6FD3BFE21E8C}" type="slidenum">
              <a:rPr lang="zh-CN" altLang="en-US" smtClean="0"/>
              <a:t>‹#›</a:t>
            </a:fld>
            <a:endParaRPr lang="zh-CN" altLang="en-US"/>
          </a:p>
        </p:txBody>
      </p:sp>
    </p:spTree>
    <p:extLst>
      <p:ext uri="{BB962C8B-B14F-4D97-AF65-F5344CB8AC3E}">
        <p14:creationId xmlns:p14="http://schemas.microsoft.com/office/powerpoint/2010/main" val="3950919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27C641-F0DA-589D-287E-659BE164A12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B805E8E-8DD8-F32A-3ECD-0DC0E3DDCD37}"/>
              </a:ext>
            </a:extLst>
          </p:cNvPr>
          <p:cNvSpPr>
            <a:spLocks noGrp="1"/>
          </p:cNvSpPr>
          <p:nvPr>
            <p:ph type="dt" sz="half" idx="10"/>
          </p:nvPr>
        </p:nvSpPr>
        <p:spPr/>
        <p:txBody>
          <a:bodyPr/>
          <a:lstStyle/>
          <a:p>
            <a:fld id="{A6FF1FC0-47A5-40E3-AF6C-5A4BCAEE4242}" type="datetimeFigureOut">
              <a:rPr lang="zh-CN" altLang="en-US" smtClean="0"/>
              <a:t>2025/9/28</a:t>
            </a:fld>
            <a:endParaRPr lang="zh-CN" altLang="en-US"/>
          </a:p>
        </p:txBody>
      </p:sp>
      <p:sp>
        <p:nvSpPr>
          <p:cNvPr id="4" name="页脚占位符 3">
            <a:extLst>
              <a:ext uri="{FF2B5EF4-FFF2-40B4-BE49-F238E27FC236}">
                <a16:creationId xmlns:a16="http://schemas.microsoft.com/office/drawing/2014/main" id="{CF146878-8F4B-F102-8E4A-4834571B837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071B315-276D-4767-203E-A6C2029EA898}"/>
              </a:ext>
            </a:extLst>
          </p:cNvPr>
          <p:cNvSpPr>
            <a:spLocks noGrp="1"/>
          </p:cNvSpPr>
          <p:nvPr>
            <p:ph type="sldNum" sz="quarter" idx="12"/>
          </p:nvPr>
        </p:nvSpPr>
        <p:spPr/>
        <p:txBody>
          <a:bodyPr/>
          <a:lstStyle/>
          <a:p>
            <a:fld id="{8CF87B3D-D3EB-4C1E-A523-6FD3BFE21E8C}" type="slidenum">
              <a:rPr lang="zh-CN" altLang="en-US" smtClean="0"/>
              <a:t>‹#›</a:t>
            </a:fld>
            <a:endParaRPr lang="zh-CN" altLang="en-US"/>
          </a:p>
        </p:txBody>
      </p:sp>
    </p:spTree>
    <p:extLst>
      <p:ext uri="{BB962C8B-B14F-4D97-AF65-F5344CB8AC3E}">
        <p14:creationId xmlns:p14="http://schemas.microsoft.com/office/powerpoint/2010/main" val="3159672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16299E8-7727-2400-F105-63D98F7D9A5A}"/>
              </a:ext>
            </a:extLst>
          </p:cNvPr>
          <p:cNvSpPr>
            <a:spLocks noGrp="1"/>
          </p:cNvSpPr>
          <p:nvPr>
            <p:ph type="dt" sz="half" idx="10"/>
          </p:nvPr>
        </p:nvSpPr>
        <p:spPr/>
        <p:txBody>
          <a:bodyPr/>
          <a:lstStyle/>
          <a:p>
            <a:fld id="{A6FF1FC0-47A5-40E3-AF6C-5A4BCAEE4242}" type="datetimeFigureOut">
              <a:rPr lang="zh-CN" altLang="en-US" smtClean="0"/>
              <a:t>2025/9/28</a:t>
            </a:fld>
            <a:endParaRPr lang="zh-CN" altLang="en-US"/>
          </a:p>
        </p:txBody>
      </p:sp>
      <p:sp>
        <p:nvSpPr>
          <p:cNvPr id="3" name="页脚占位符 2">
            <a:extLst>
              <a:ext uri="{FF2B5EF4-FFF2-40B4-BE49-F238E27FC236}">
                <a16:creationId xmlns:a16="http://schemas.microsoft.com/office/drawing/2014/main" id="{4FE20A06-74CD-A670-8035-981A6E31C6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1DA176C-97D7-AC28-D53E-4207EF9F3E4C}"/>
              </a:ext>
            </a:extLst>
          </p:cNvPr>
          <p:cNvSpPr>
            <a:spLocks noGrp="1"/>
          </p:cNvSpPr>
          <p:nvPr>
            <p:ph type="sldNum" sz="quarter" idx="12"/>
          </p:nvPr>
        </p:nvSpPr>
        <p:spPr/>
        <p:txBody>
          <a:bodyPr/>
          <a:lstStyle/>
          <a:p>
            <a:fld id="{8CF87B3D-D3EB-4C1E-A523-6FD3BFE21E8C}" type="slidenum">
              <a:rPr lang="zh-CN" altLang="en-US" smtClean="0"/>
              <a:t>‹#›</a:t>
            </a:fld>
            <a:endParaRPr lang="zh-CN" altLang="en-US"/>
          </a:p>
        </p:txBody>
      </p:sp>
    </p:spTree>
    <p:extLst>
      <p:ext uri="{BB962C8B-B14F-4D97-AF65-F5344CB8AC3E}">
        <p14:creationId xmlns:p14="http://schemas.microsoft.com/office/powerpoint/2010/main" val="3154654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B61B69-3BCA-0DC7-EE2F-B912246B0FB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39B527F-26C0-6661-060F-A0B391835E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FAB2F83-D3D8-040E-6860-B241E4D9BA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CA7071A-6B00-B03E-1AE9-2D3135BC14F8}"/>
              </a:ext>
            </a:extLst>
          </p:cNvPr>
          <p:cNvSpPr>
            <a:spLocks noGrp="1"/>
          </p:cNvSpPr>
          <p:nvPr>
            <p:ph type="dt" sz="half" idx="10"/>
          </p:nvPr>
        </p:nvSpPr>
        <p:spPr/>
        <p:txBody>
          <a:bodyPr/>
          <a:lstStyle/>
          <a:p>
            <a:fld id="{A6FF1FC0-47A5-40E3-AF6C-5A4BCAEE4242}" type="datetimeFigureOut">
              <a:rPr lang="zh-CN" altLang="en-US" smtClean="0"/>
              <a:t>2025/9/28</a:t>
            </a:fld>
            <a:endParaRPr lang="zh-CN" altLang="en-US"/>
          </a:p>
        </p:txBody>
      </p:sp>
      <p:sp>
        <p:nvSpPr>
          <p:cNvPr id="6" name="页脚占位符 5">
            <a:extLst>
              <a:ext uri="{FF2B5EF4-FFF2-40B4-BE49-F238E27FC236}">
                <a16:creationId xmlns:a16="http://schemas.microsoft.com/office/drawing/2014/main" id="{8FF9EBC7-4DF9-D521-FD00-B8701706FAB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AA38396-DB80-B3D4-9ADB-08287BC800C7}"/>
              </a:ext>
            </a:extLst>
          </p:cNvPr>
          <p:cNvSpPr>
            <a:spLocks noGrp="1"/>
          </p:cNvSpPr>
          <p:nvPr>
            <p:ph type="sldNum" sz="quarter" idx="12"/>
          </p:nvPr>
        </p:nvSpPr>
        <p:spPr/>
        <p:txBody>
          <a:bodyPr/>
          <a:lstStyle/>
          <a:p>
            <a:fld id="{8CF87B3D-D3EB-4C1E-A523-6FD3BFE21E8C}" type="slidenum">
              <a:rPr lang="zh-CN" altLang="en-US" smtClean="0"/>
              <a:t>‹#›</a:t>
            </a:fld>
            <a:endParaRPr lang="zh-CN" altLang="en-US"/>
          </a:p>
        </p:txBody>
      </p:sp>
    </p:spTree>
    <p:extLst>
      <p:ext uri="{BB962C8B-B14F-4D97-AF65-F5344CB8AC3E}">
        <p14:creationId xmlns:p14="http://schemas.microsoft.com/office/powerpoint/2010/main" val="3863487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2C1F20-9371-F734-AB95-2196FBE35A1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DC7CDAB-83A6-EA19-0784-A3055875E5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1FFEE8C-098B-1F9B-461D-5B2C9B9F92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98772D6-A1E5-9615-51AE-A275ED7AB3F8}"/>
              </a:ext>
            </a:extLst>
          </p:cNvPr>
          <p:cNvSpPr>
            <a:spLocks noGrp="1"/>
          </p:cNvSpPr>
          <p:nvPr>
            <p:ph type="dt" sz="half" idx="10"/>
          </p:nvPr>
        </p:nvSpPr>
        <p:spPr/>
        <p:txBody>
          <a:bodyPr/>
          <a:lstStyle/>
          <a:p>
            <a:fld id="{A6FF1FC0-47A5-40E3-AF6C-5A4BCAEE4242}" type="datetimeFigureOut">
              <a:rPr lang="zh-CN" altLang="en-US" smtClean="0"/>
              <a:t>2025/9/28</a:t>
            </a:fld>
            <a:endParaRPr lang="zh-CN" altLang="en-US"/>
          </a:p>
        </p:txBody>
      </p:sp>
      <p:sp>
        <p:nvSpPr>
          <p:cNvPr id="6" name="页脚占位符 5">
            <a:extLst>
              <a:ext uri="{FF2B5EF4-FFF2-40B4-BE49-F238E27FC236}">
                <a16:creationId xmlns:a16="http://schemas.microsoft.com/office/drawing/2014/main" id="{4C501202-6A75-D971-E7AE-4DDCF5C65A4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DDD416C-3939-CFDF-AB9E-E9983072A2D6}"/>
              </a:ext>
            </a:extLst>
          </p:cNvPr>
          <p:cNvSpPr>
            <a:spLocks noGrp="1"/>
          </p:cNvSpPr>
          <p:nvPr>
            <p:ph type="sldNum" sz="quarter" idx="12"/>
          </p:nvPr>
        </p:nvSpPr>
        <p:spPr/>
        <p:txBody>
          <a:bodyPr/>
          <a:lstStyle/>
          <a:p>
            <a:fld id="{8CF87B3D-D3EB-4C1E-A523-6FD3BFE21E8C}" type="slidenum">
              <a:rPr lang="zh-CN" altLang="en-US" smtClean="0"/>
              <a:t>‹#›</a:t>
            </a:fld>
            <a:endParaRPr lang="zh-CN" altLang="en-US"/>
          </a:p>
        </p:txBody>
      </p:sp>
    </p:spTree>
    <p:extLst>
      <p:ext uri="{BB962C8B-B14F-4D97-AF65-F5344CB8AC3E}">
        <p14:creationId xmlns:p14="http://schemas.microsoft.com/office/powerpoint/2010/main" val="342903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E3FB03-CD56-2F2A-D59D-E954940E2BB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AB05355-F61A-4B3B-29F7-65496DDA8E5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5B05D5-A511-A935-9CC4-531455D0B6B2}"/>
              </a:ext>
            </a:extLst>
          </p:cNvPr>
          <p:cNvSpPr>
            <a:spLocks noGrp="1"/>
          </p:cNvSpPr>
          <p:nvPr>
            <p:ph type="dt" sz="half" idx="10"/>
          </p:nvPr>
        </p:nvSpPr>
        <p:spPr/>
        <p:txBody>
          <a:bodyPr/>
          <a:lstStyle/>
          <a:p>
            <a:fld id="{A6FF1FC0-47A5-40E3-AF6C-5A4BCAEE4242}" type="datetimeFigureOut">
              <a:rPr lang="zh-CN" altLang="en-US" smtClean="0"/>
              <a:t>2025/9/28</a:t>
            </a:fld>
            <a:endParaRPr lang="zh-CN" altLang="en-US"/>
          </a:p>
        </p:txBody>
      </p:sp>
      <p:sp>
        <p:nvSpPr>
          <p:cNvPr id="5" name="页脚占位符 4">
            <a:extLst>
              <a:ext uri="{FF2B5EF4-FFF2-40B4-BE49-F238E27FC236}">
                <a16:creationId xmlns:a16="http://schemas.microsoft.com/office/drawing/2014/main" id="{7B9134C3-B002-D7DA-6BB9-220C2561F67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23972C1-84DA-600A-542F-834DDA44EB38}"/>
              </a:ext>
            </a:extLst>
          </p:cNvPr>
          <p:cNvSpPr>
            <a:spLocks noGrp="1"/>
          </p:cNvSpPr>
          <p:nvPr>
            <p:ph type="sldNum" sz="quarter" idx="12"/>
          </p:nvPr>
        </p:nvSpPr>
        <p:spPr/>
        <p:txBody>
          <a:bodyPr/>
          <a:lstStyle/>
          <a:p>
            <a:fld id="{8CF87B3D-D3EB-4C1E-A523-6FD3BFE21E8C}" type="slidenum">
              <a:rPr lang="zh-CN" altLang="en-US" smtClean="0"/>
              <a:t>‹#›</a:t>
            </a:fld>
            <a:endParaRPr lang="zh-CN" altLang="en-US"/>
          </a:p>
        </p:txBody>
      </p:sp>
    </p:spTree>
    <p:extLst>
      <p:ext uri="{BB962C8B-B14F-4D97-AF65-F5344CB8AC3E}">
        <p14:creationId xmlns:p14="http://schemas.microsoft.com/office/powerpoint/2010/main" val="4019903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752F161-572C-A6E5-D7E2-676BF0CA3C3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B5EDE79-D8CF-C895-5991-BEC2124162D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54164E2-F676-F19F-9DB6-B2776B63A110}"/>
              </a:ext>
            </a:extLst>
          </p:cNvPr>
          <p:cNvSpPr>
            <a:spLocks noGrp="1"/>
          </p:cNvSpPr>
          <p:nvPr>
            <p:ph type="dt" sz="half" idx="10"/>
          </p:nvPr>
        </p:nvSpPr>
        <p:spPr/>
        <p:txBody>
          <a:bodyPr/>
          <a:lstStyle/>
          <a:p>
            <a:fld id="{A6FF1FC0-47A5-40E3-AF6C-5A4BCAEE4242}" type="datetimeFigureOut">
              <a:rPr lang="zh-CN" altLang="en-US" smtClean="0"/>
              <a:t>2025/9/28</a:t>
            </a:fld>
            <a:endParaRPr lang="zh-CN" altLang="en-US"/>
          </a:p>
        </p:txBody>
      </p:sp>
      <p:sp>
        <p:nvSpPr>
          <p:cNvPr id="5" name="页脚占位符 4">
            <a:extLst>
              <a:ext uri="{FF2B5EF4-FFF2-40B4-BE49-F238E27FC236}">
                <a16:creationId xmlns:a16="http://schemas.microsoft.com/office/drawing/2014/main" id="{3F79828C-267F-5CB2-B337-27DDDE6EEA9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F5BA56B-D011-1CEC-5BE4-B976E454128C}"/>
              </a:ext>
            </a:extLst>
          </p:cNvPr>
          <p:cNvSpPr>
            <a:spLocks noGrp="1"/>
          </p:cNvSpPr>
          <p:nvPr>
            <p:ph type="sldNum" sz="quarter" idx="12"/>
          </p:nvPr>
        </p:nvSpPr>
        <p:spPr/>
        <p:txBody>
          <a:bodyPr/>
          <a:lstStyle/>
          <a:p>
            <a:fld id="{8CF87B3D-D3EB-4C1E-A523-6FD3BFE21E8C}" type="slidenum">
              <a:rPr lang="zh-CN" altLang="en-US" smtClean="0"/>
              <a:t>‹#›</a:t>
            </a:fld>
            <a:endParaRPr lang="zh-CN" altLang="en-US"/>
          </a:p>
        </p:txBody>
      </p:sp>
    </p:spTree>
    <p:extLst>
      <p:ext uri="{BB962C8B-B14F-4D97-AF65-F5344CB8AC3E}">
        <p14:creationId xmlns:p14="http://schemas.microsoft.com/office/powerpoint/2010/main" val="146723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B690FA5-7999-38E1-5D4D-4656A1AE3F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B067A8D-0DB5-0BF8-BCD3-4F4910C16E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7B9B175-35B9-9C2B-3DB8-552C901B80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FF1FC0-47A5-40E3-AF6C-5A4BCAEE4242}" type="datetimeFigureOut">
              <a:rPr lang="zh-CN" altLang="en-US" smtClean="0"/>
              <a:t>2025/9/28</a:t>
            </a:fld>
            <a:endParaRPr lang="zh-CN" altLang="en-US"/>
          </a:p>
        </p:txBody>
      </p:sp>
      <p:sp>
        <p:nvSpPr>
          <p:cNvPr id="5" name="页脚占位符 4">
            <a:extLst>
              <a:ext uri="{FF2B5EF4-FFF2-40B4-BE49-F238E27FC236}">
                <a16:creationId xmlns:a16="http://schemas.microsoft.com/office/drawing/2014/main" id="{E597249D-74F1-981E-D38A-0CC93EAA47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66F2902-47A6-9C2C-C1E2-3EA36C0E38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F87B3D-D3EB-4C1E-A523-6FD3BFE21E8C}" type="slidenum">
              <a:rPr lang="zh-CN" altLang="en-US" smtClean="0"/>
              <a:t>‹#›</a:t>
            </a:fld>
            <a:endParaRPr lang="zh-CN" altLang="en-US"/>
          </a:p>
        </p:txBody>
      </p:sp>
    </p:spTree>
    <p:extLst>
      <p:ext uri="{BB962C8B-B14F-4D97-AF65-F5344CB8AC3E}">
        <p14:creationId xmlns:p14="http://schemas.microsoft.com/office/powerpoint/2010/main" val="7011335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ia-installer.de/download/index.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5199E-3BD6-3B69-8537-1AE82DD9FD29}"/>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D4CF4280-42EB-E051-91DD-99D296520A1B}"/>
              </a:ext>
            </a:extLst>
          </p:cNvPr>
          <p:cNvPicPr>
            <a:picLocks noChangeAspect="1"/>
          </p:cNvPicPr>
          <p:nvPr/>
        </p:nvPicPr>
        <p:blipFill>
          <a:blip r:embed="rId2">
            <a:extLst>
              <a:ext uri="{28A0092B-C50C-407E-A947-70E740481C1C}">
                <a14:useLocalDpi xmlns:a14="http://schemas.microsoft.com/office/drawing/2010/main" val="0"/>
              </a:ext>
            </a:extLst>
          </a:blip>
          <a:srcRect t="13426" b="18518"/>
          <a:stretch>
            <a:fillRect/>
          </a:stretch>
        </p:blipFill>
        <p:spPr>
          <a:xfrm>
            <a:off x="1224439" y="165100"/>
            <a:ext cx="9552536" cy="4875776"/>
          </a:xfrm>
          <a:prstGeom prst="rect">
            <a:avLst/>
          </a:prstGeom>
        </p:spPr>
      </p:pic>
      <p:sp>
        <p:nvSpPr>
          <p:cNvPr id="10" name="文本框 9">
            <a:extLst>
              <a:ext uri="{FF2B5EF4-FFF2-40B4-BE49-F238E27FC236}">
                <a16:creationId xmlns:a16="http://schemas.microsoft.com/office/drawing/2014/main" id="{EDC0F76A-17F1-B159-8A9C-7B48E59C5D8A}"/>
              </a:ext>
            </a:extLst>
          </p:cNvPr>
          <p:cNvSpPr txBox="1"/>
          <p:nvPr/>
        </p:nvSpPr>
        <p:spPr>
          <a:xfrm>
            <a:off x="2829643" y="5040876"/>
            <a:ext cx="6971071" cy="1200329"/>
          </a:xfrm>
          <a:prstGeom prst="rect">
            <a:avLst/>
          </a:prstGeom>
          <a:noFill/>
        </p:spPr>
        <p:txBody>
          <a:bodyPr wrap="square" rtlCol="0">
            <a:spAutoFit/>
          </a:bodyPr>
          <a:lstStyle/>
          <a:p>
            <a:pPr algn="ctr"/>
            <a:r>
              <a:rPr lang="en-US" altLang="zh-CN" sz="3600" dirty="0"/>
              <a:t>When your computer starts up, select </a:t>
            </a:r>
            <a:r>
              <a:rPr lang="en-US" altLang="zh-CN" sz="3600" b="1" dirty="0"/>
              <a:t>English system</a:t>
            </a:r>
            <a:r>
              <a:rPr lang="en-US" altLang="zh-CN" sz="3600" dirty="0"/>
              <a:t> option.</a:t>
            </a:r>
            <a:endParaRPr lang="zh-CN" altLang="en-US" sz="3600" dirty="0"/>
          </a:p>
        </p:txBody>
      </p:sp>
    </p:spTree>
    <p:extLst>
      <p:ext uri="{BB962C8B-B14F-4D97-AF65-F5344CB8AC3E}">
        <p14:creationId xmlns:p14="http://schemas.microsoft.com/office/powerpoint/2010/main" val="2456590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A38283-F9BD-44E9-E099-4B69C618D011}"/>
              </a:ext>
            </a:extLst>
          </p:cNvPr>
          <p:cNvSpPr>
            <a:spLocks noGrp="1"/>
          </p:cNvSpPr>
          <p:nvPr>
            <p:ph type="ctrTitle"/>
          </p:nvPr>
        </p:nvSpPr>
        <p:spPr/>
        <p:txBody>
          <a:bodyPr/>
          <a:lstStyle/>
          <a:p>
            <a:r>
              <a:rPr lang="en-US" altLang="zh-CN" b="1" dirty="0">
                <a:effectLst>
                  <a:outerShdw blurRad="38100" dist="38100" dir="2700000" algn="tl">
                    <a:srgbClr val="000000">
                      <a:alpha val="43137"/>
                    </a:srgbClr>
                  </a:outerShdw>
                </a:effectLst>
              </a:rPr>
              <a:t>Database Management</a:t>
            </a:r>
            <a:endParaRPr lang="zh-CN" altLang="en-US" dirty="0">
              <a:effectLst>
                <a:outerShdw blurRad="38100" dist="38100" dir="2700000" algn="tl">
                  <a:srgbClr val="000000">
                    <a:alpha val="43137"/>
                  </a:srgbClr>
                </a:outerShdw>
              </a:effectLst>
            </a:endParaRPr>
          </a:p>
        </p:txBody>
      </p:sp>
      <p:sp>
        <p:nvSpPr>
          <p:cNvPr id="3" name="副标题 2">
            <a:extLst>
              <a:ext uri="{FF2B5EF4-FFF2-40B4-BE49-F238E27FC236}">
                <a16:creationId xmlns:a16="http://schemas.microsoft.com/office/drawing/2014/main" id="{5EFDB98F-C1F7-B651-1C2C-A782F362BE43}"/>
              </a:ext>
            </a:extLst>
          </p:cNvPr>
          <p:cNvSpPr>
            <a:spLocks noGrp="1"/>
          </p:cNvSpPr>
          <p:nvPr>
            <p:ph type="subTitle" idx="1"/>
          </p:nvPr>
        </p:nvSpPr>
        <p:spPr/>
        <p:txBody>
          <a:bodyPr/>
          <a:lstStyle/>
          <a:p>
            <a:r>
              <a:rPr lang="en-US" altLang="zh-CN" dirty="0"/>
              <a:t>COMP3010E FALL 2025</a:t>
            </a:r>
          </a:p>
          <a:p>
            <a:r>
              <a:rPr lang="en-US" altLang="zh-CN" b="1" dirty="0"/>
              <a:t>Lab 1</a:t>
            </a:r>
            <a:r>
              <a:rPr lang="en-US" altLang="zh-CN" dirty="0"/>
              <a:t>	ER/EER Diagram and Relation Schema</a:t>
            </a:r>
            <a:endParaRPr lang="zh-CN" altLang="en-US" dirty="0"/>
          </a:p>
        </p:txBody>
      </p:sp>
    </p:spTree>
    <p:extLst>
      <p:ext uri="{BB962C8B-B14F-4D97-AF65-F5344CB8AC3E}">
        <p14:creationId xmlns:p14="http://schemas.microsoft.com/office/powerpoint/2010/main" val="1836445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F44BB-01FB-FB32-DE5E-B7EF03BFA2C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3DB3551-48F9-8626-C055-E795A969B14F}"/>
              </a:ext>
            </a:extLst>
          </p:cNvPr>
          <p:cNvSpPr>
            <a:spLocks noGrp="1"/>
          </p:cNvSpPr>
          <p:nvPr>
            <p:ph type="title"/>
          </p:nvPr>
        </p:nvSpPr>
        <p:spPr/>
        <p:txBody>
          <a:bodyPr/>
          <a:lstStyle/>
          <a:p>
            <a:r>
              <a:rPr lang="en-US" altLang="zh-CN" b="1" dirty="0"/>
              <a:t>Notes</a:t>
            </a:r>
            <a:endParaRPr lang="zh-CN" altLang="en-US" dirty="0"/>
          </a:p>
        </p:txBody>
      </p:sp>
      <p:sp>
        <p:nvSpPr>
          <p:cNvPr id="3" name="内容占位符 2">
            <a:extLst>
              <a:ext uri="{FF2B5EF4-FFF2-40B4-BE49-F238E27FC236}">
                <a16:creationId xmlns:a16="http://schemas.microsoft.com/office/drawing/2014/main" id="{108D6D87-4F4D-BD17-8A34-7C52B1E07A39}"/>
              </a:ext>
            </a:extLst>
          </p:cNvPr>
          <p:cNvSpPr>
            <a:spLocks noGrp="1"/>
          </p:cNvSpPr>
          <p:nvPr>
            <p:ph idx="1"/>
          </p:nvPr>
        </p:nvSpPr>
        <p:spPr>
          <a:xfrm>
            <a:off x="838200" y="1571624"/>
            <a:ext cx="10515600" cy="5140326"/>
          </a:xfrm>
        </p:spPr>
        <p:txBody>
          <a:bodyPr>
            <a:normAutofit/>
          </a:bodyPr>
          <a:lstStyle/>
          <a:p>
            <a:pPr marL="514350" indent="-514350">
              <a:buAutoNum type="arabicPeriod"/>
            </a:pPr>
            <a:r>
              <a:rPr lang="en-US" altLang="zh-CN" dirty="0"/>
              <a:t>The lab sessions will be hands-on, with explanations as we go. After the lab, you need to complete the lab report.</a:t>
            </a:r>
          </a:p>
          <a:p>
            <a:pPr marL="514350" indent="-514350">
              <a:buAutoNum type="arabicPeriod"/>
            </a:pPr>
            <a:r>
              <a:rPr lang="en-US" altLang="zh-CN" dirty="0"/>
              <a:t>Please note, the requirements for the lab and the Homework (already posted in QQ group) are different, so don’t confuse them.</a:t>
            </a:r>
          </a:p>
          <a:p>
            <a:pPr marL="514350" indent="-514350">
              <a:buAutoNum type="arabicPeriod"/>
            </a:pPr>
            <a:r>
              <a:rPr lang="en-US" altLang="zh-CN" dirty="0"/>
              <a:t>The deadline for submitting the lab is </a:t>
            </a:r>
            <a:r>
              <a:rPr lang="en-US" altLang="zh-CN" b="1" dirty="0">
                <a:solidFill>
                  <a:srgbClr val="FF0000"/>
                </a:solidFill>
              </a:rPr>
              <a:t>October 9th midnight</a:t>
            </a:r>
            <a:r>
              <a:rPr lang="en-US" altLang="zh-CN" dirty="0"/>
              <a:t>. You need to submit both your </a:t>
            </a:r>
            <a:r>
              <a:rPr lang="en-US" altLang="zh-CN" b="1" u="sng" dirty="0"/>
              <a:t>lab report</a:t>
            </a:r>
            <a:r>
              <a:rPr lang="en-US" altLang="zh-CN" u="sng" dirty="0"/>
              <a:t> </a:t>
            </a:r>
            <a:r>
              <a:rPr lang="en-US" altLang="zh-CN" dirty="0"/>
              <a:t>(word format) and the exported </a:t>
            </a:r>
            <a:r>
              <a:rPr lang="en-US" altLang="zh-CN" b="1" u="sng" dirty="0"/>
              <a:t>.</a:t>
            </a:r>
            <a:r>
              <a:rPr lang="en-US" altLang="zh-CN" b="1" u="sng" dirty="0" err="1"/>
              <a:t>dia</a:t>
            </a:r>
            <a:r>
              <a:rPr lang="en-US" altLang="zh-CN" b="1" u="sng" dirty="0"/>
              <a:t> source file</a:t>
            </a:r>
            <a:r>
              <a:rPr lang="en-US" altLang="zh-CN" dirty="0"/>
              <a:t>. </a:t>
            </a:r>
            <a:r>
              <a:rPr lang="en-US" altLang="zh-CN" b="1" dirty="0">
                <a:solidFill>
                  <a:srgbClr val="FF0000"/>
                </a:solidFill>
              </a:rPr>
              <a:t>No late submission will be accepted</a:t>
            </a:r>
            <a:r>
              <a:rPr lang="en-US" altLang="zh-CN" dirty="0"/>
              <a:t>.</a:t>
            </a:r>
          </a:p>
          <a:p>
            <a:pPr marL="514350" indent="-514350">
              <a:buAutoNum type="arabicPeriod"/>
            </a:pPr>
            <a:r>
              <a:rPr lang="en-US" altLang="zh-CN" dirty="0"/>
              <a:t>Please email your deliverable as a </a:t>
            </a:r>
            <a:r>
              <a:rPr lang="en-US" altLang="zh-CN" b="1" u="sng" dirty="0"/>
              <a:t>ZIP FILE </a:t>
            </a:r>
            <a:r>
              <a:rPr lang="en-US" altLang="zh-CN" dirty="0"/>
              <a:t>to the email: </a:t>
            </a:r>
            <a:r>
              <a:rPr lang="en-US" altLang="zh-CN" i="1" u="sng" dirty="0"/>
              <a:t>zhouxun2023@hit.edu.cn</a:t>
            </a:r>
            <a:r>
              <a:rPr lang="en-US" altLang="zh-CN" i="1" dirty="0"/>
              <a:t> </a:t>
            </a:r>
            <a:r>
              <a:rPr lang="en-US" altLang="zh-CN" dirty="0"/>
              <a:t>and Put </a:t>
            </a:r>
            <a:r>
              <a:rPr lang="en-US" altLang="zh-CN" b="1" dirty="0">
                <a:solidFill>
                  <a:srgbClr val="FF0000"/>
                </a:solidFill>
              </a:rPr>
              <a:t>"[COMP3010E] Lab1 &lt;Your Name&gt;</a:t>
            </a:r>
            <a:r>
              <a:rPr lang="en-US" altLang="zh-CN" dirty="0"/>
              <a:t>" in the email subject. Also please include your </a:t>
            </a:r>
            <a:r>
              <a:rPr lang="en-US" altLang="zh-CN" b="1" dirty="0">
                <a:solidFill>
                  <a:srgbClr val="FF0000"/>
                </a:solidFill>
              </a:rPr>
              <a:t>student ID number</a:t>
            </a:r>
            <a:r>
              <a:rPr lang="en-US" altLang="zh-CN" dirty="0"/>
              <a:t> in email.</a:t>
            </a:r>
          </a:p>
        </p:txBody>
      </p:sp>
    </p:spTree>
    <p:extLst>
      <p:ext uri="{BB962C8B-B14F-4D97-AF65-F5344CB8AC3E}">
        <p14:creationId xmlns:p14="http://schemas.microsoft.com/office/powerpoint/2010/main" val="1101875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C0464-3CCB-66B6-6011-AC9369BA86C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2C3A83B-03E5-6F57-1530-2BDBB2140547}"/>
              </a:ext>
            </a:extLst>
          </p:cNvPr>
          <p:cNvSpPr>
            <a:spLocks noGrp="1"/>
          </p:cNvSpPr>
          <p:nvPr>
            <p:ph type="title"/>
          </p:nvPr>
        </p:nvSpPr>
        <p:spPr/>
        <p:txBody>
          <a:bodyPr/>
          <a:lstStyle/>
          <a:p>
            <a:r>
              <a:rPr lang="en-US" altLang="zh-CN" b="1" dirty="0"/>
              <a:t>Agenda</a:t>
            </a:r>
            <a:endParaRPr lang="zh-CN" altLang="en-US" dirty="0"/>
          </a:p>
        </p:txBody>
      </p:sp>
      <p:sp>
        <p:nvSpPr>
          <p:cNvPr id="3" name="内容占位符 2">
            <a:extLst>
              <a:ext uri="{FF2B5EF4-FFF2-40B4-BE49-F238E27FC236}">
                <a16:creationId xmlns:a16="http://schemas.microsoft.com/office/drawing/2014/main" id="{CFD36AAC-5312-E685-952A-857DE8F753A7}"/>
              </a:ext>
            </a:extLst>
          </p:cNvPr>
          <p:cNvSpPr>
            <a:spLocks noGrp="1"/>
          </p:cNvSpPr>
          <p:nvPr>
            <p:ph idx="1"/>
          </p:nvPr>
        </p:nvSpPr>
        <p:spPr>
          <a:xfrm>
            <a:off x="838200" y="1825624"/>
            <a:ext cx="10515600" cy="4613275"/>
          </a:xfrm>
        </p:spPr>
        <p:txBody>
          <a:bodyPr>
            <a:normAutofit/>
          </a:bodyPr>
          <a:lstStyle/>
          <a:p>
            <a:pPr marL="514350" indent="-514350">
              <a:buAutoNum type="arabicPeriod"/>
            </a:pPr>
            <a:r>
              <a:rPr lang="en-US" altLang="zh-CN" b="1" dirty="0"/>
              <a:t>Experiment Preparation</a:t>
            </a:r>
          </a:p>
          <a:p>
            <a:pPr lvl="1"/>
            <a:r>
              <a:rPr lang="en-US" altLang="zh-CN" dirty="0"/>
              <a:t>Download of DIA (optional)</a:t>
            </a:r>
          </a:p>
          <a:p>
            <a:pPr lvl="1"/>
            <a:r>
              <a:rPr lang="en-US" altLang="zh-CN" dirty="0"/>
              <a:t>Basic usage of DIA</a:t>
            </a:r>
          </a:p>
          <a:p>
            <a:pPr marL="514350" indent="-514350">
              <a:buAutoNum type="arabicPeriod"/>
            </a:pPr>
            <a:r>
              <a:rPr lang="en-US" altLang="zh-CN" b="1" dirty="0"/>
              <a:t>Design and Drawing of ER and EER Diagram (9 problems)</a:t>
            </a:r>
          </a:p>
          <a:p>
            <a:pPr lvl="1"/>
            <a:r>
              <a:rPr lang="en-US" altLang="zh-CN" dirty="0"/>
              <a:t>Unary/Binary/Ternary relationship</a:t>
            </a:r>
          </a:p>
          <a:p>
            <a:pPr lvl="1"/>
            <a:r>
              <a:rPr lang="en-US" altLang="zh-CN" dirty="0"/>
              <a:t>Weak entities</a:t>
            </a:r>
          </a:p>
          <a:p>
            <a:pPr lvl="1"/>
            <a:r>
              <a:rPr lang="en-US" altLang="zh-CN" dirty="0"/>
              <a:t>Composite/Multivalued attribute</a:t>
            </a:r>
          </a:p>
          <a:p>
            <a:pPr lvl="1"/>
            <a:r>
              <a:rPr lang="en-US" altLang="zh-CN" dirty="0"/>
              <a:t>Superclass and subclass</a:t>
            </a:r>
          </a:p>
          <a:p>
            <a:pPr marL="514350" indent="-514350">
              <a:buAutoNum type="arabicPeriod"/>
            </a:pPr>
            <a:r>
              <a:rPr lang="en-US" altLang="zh-CN" b="1" dirty="0"/>
              <a:t>Conversion from ER/EER Diagram to Relation Schema</a:t>
            </a:r>
          </a:p>
          <a:p>
            <a:pPr marL="514350" indent="-514350">
              <a:buAutoNum type="arabicPeriod"/>
            </a:pPr>
            <a:r>
              <a:rPr lang="en-US" altLang="zh-CN" b="1" dirty="0"/>
              <a:t>Normalization</a:t>
            </a:r>
          </a:p>
        </p:txBody>
      </p:sp>
    </p:spTree>
    <p:extLst>
      <p:ext uri="{BB962C8B-B14F-4D97-AF65-F5344CB8AC3E}">
        <p14:creationId xmlns:p14="http://schemas.microsoft.com/office/powerpoint/2010/main" val="3483343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B2A22-622A-6803-9A30-9CA6F25125D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CB04F87-F695-36FD-9D86-EF08BC5C4AEC}"/>
              </a:ext>
            </a:extLst>
          </p:cNvPr>
          <p:cNvSpPr>
            <a:spLocks noGrp="1"/>
          </p:cNvSpPr>
          <p:nvPr>
            <p:ph type="title"/>
          </p:nvPr>
        </p:nvSpPr>
        <p:spPr/>
        <p:txBody>
          <a:bodyPr/>
          <a:lstStyle/>
          <a:p>
            <a:r>
              <a:rPr lang="en-US" altLang="zh-CN" b="1" i="1" dirty="0"/>
              <a:t>Task 1. Preparation</a:t>
            </a:r>
            <a:endParaRPr lang="zh-CN" altLang="en-US" dirty="0"/>
          </a:p>
        </p:txBody>
      </p:sp>
      <p:sp>
        <p:nvSpPr>
          <p:cNvPr id="3" name="内容占位符 2">
            <a:extLst>
              <a:ext uri="{FF2B5EF4-FFF2-40B4-BE49-F238E27FC236}">
                <a16:creationId xmlns:a16="http://schemas.microsoft.com/office/drawing/2014/main" id="{E10005F1-0378-326D-C9C2-57BB6EEC8437}"/>
              </a:ext>
            </a:extLst>
          </p:cNvPr>
          <p:cNvSpPr>
            <a:spLocks noGrp="1"/>
          </p:cNvSpPr>
          <p:nvPr>
            <p:ph idx="1"/>
          </p:nvPr>
        </p:nvSpPr>
        <p:spPr>
          <a:xfrm>
            <a:off x="838199" y="1825625"/>
            <a:ext cx="10515599" cy="4351338"/>
          </a:xfrm>
        </p:spPr>
        <p:txBody>
          <a:bodyPr>
            <a:normAutofit/>
          </a:bodyPr>
          <a:lstStyle/>
          <a:p>
            <a:r>
              <a:rPr lang="en-US" altLang="zh-CN" dirty="0"/>
              <a:t>Download DIA from: </a:t>
            </a:r>
            <a:r>
              <a:rPr lang="en-US" altLang="zh-CN" dirty="0">
                <a:hlinkClick r:id="rId2"/>
              </a:rPr>
              <a:t>http://dia-installer.de/download/index.html</a:t>
            </a:r>
            <a:endParaRPr lang="en-US" altLang="zh-CN" dirty="0"/>
          </a:p>
          <a:p>
            <a:r>
              <a:rPr lang="en-US" altLang="zh-CN" dirty="0"/>
              <a:t>Install DIA</a:t>
            </a:r>
          </a:p>
          <a:p>
            <a:r>
              <a:rPr lang="en-US" altLang="zh-CN" dirty="0"/>
              <a:t>Basic element in DIA </a:t>
            </a:r>
          </a:p>
          <a:p>
            <a:pPr lvl="1"/>
            <a:r>
              <a:rPr lang="en-US" altLang="zh-CN" dirty="0"/>
              <a:t>Menu Bar</a:t>
            </a:r>
          </a:p>
          <a:p>
            <a:pPr lvl="1"/>
            <a:r>
              <a:rPr lang="en-US" altLang="zh-CN" dirty="0"/>
              <a:t>Toolbar</a:t>
            </a:r>
          </a:p>
          <a:p>
            <a:pPr lvl="1"/>
            <a:r>
              <a:rPr lang="en-US" altLang="zh-CN" dirty="0"/>
              <a:t>Shapes Library</a:t>
            </a:r>
          </a:p>
          <a:p>
            <a:pPr lvl="1"/>
            <a:r>
              <a:rPr lang="en-US" altLang="zh-CN" dirty="0"/>
              <a:t>Drawing Area(Worksheet)</a:t>
            </a:r>
          </a:p>
        </p:txBody>
      </p:sp>
      <p:pic>
        <p:nvPicPr>
          <p:cNvPr id="4" name="图片 3">
            <a:extLst>
              <a:ext uri="{FF2B5EF4-FFF2-40B4-BE49-F238E27FC236}">
                <a16:creationId xmlns:a16="http://schemas.microsoft.com/office/drawing/2014/main" id="{EB7409DB-6332-7D31-8D60-F3585BC75F49}"/>
              </a:ext>
            </a:extLst>
          </p:cNvPr>
          <p:cNvPicPr>
            <a:picLocks noChangeAspect="1"/>
          </p:cNvPicPr>
          <p:nvPr/>
        </p:nvPicPr>
        <p:blipFill>
          <a:blip r:embed="rId3"/>
          <a:stretch>
            <a:fillRect/>
          </a:stretch>
        </p:blipFill>
        <p:spPr>
          <a:xfrm>
            <a:off x="3146323" y="140584"/>
            <a:ext cx="5513438" cy="6576831"/>
          </a:xfrm>
          <a:prstGeom prst="rect">
            <a:avLst/>
          </a:prstGeom>
        </p:spPr>
      </p:pic>
    </p:spTree>
    <p:extLst>
      <p:ext uri="{BB962C8B-B14F-4D97-AF65-F5344CB8AC3E}">
        <p14:creationId xmlns:p14="http://schemas.microsoft.com/office/powerpoint/2010/main" val="3213911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9E5B3-167F-0A5C-41A2-DB5B804F2A8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E60F9AA-BDA2-9A31-5697-3AFD0A9CC6B2}"/>
              </a:ext>
            </a:extLst>
          </p:cNvPr>
          <p:cNvSpPr>
            <a:spLocks noGrp="1"/>
          </p:cNvSpPr>
          <p:nvPr>
            <p:ph type="title"/>
          </p:nvPr>
        </p:nvSpPr>
        <p:spPr/>
        <p:txBody>
          <a:bodyPr/>
          <a:lstStyle/>
          <a:p>
            <a:r>
              <a:rPr lang="en-US" altLang="zh-CN" b="1" i="1" dirty="0"/>
              <a:t>Task 1. Preparation</a:t>
            </a:r>
            <a:endParaRPr lang="zh-CN" altLang="en-US" dirty="0"/>
          </a:p>
        </p:txBody>
      </p:sp>
      <p:sp>
        <p:nvSpPr>
          <p:cNvPr id="3" name="内容占位符 2">
            <a:extLst>
              <a:ext uri="{FF2B5EF4-FFF2-40B4-BE49-F238E27FC236}">
                <a16:creationId xmlns:a16="http://schemas.microsoft.com/office/drawing/2014/main" id="{085C8FB1-B46A-B265-13C0-6E6F6309D9F9}"/>
              </a:ext>
            </a:extLst>
          </p:cNvPr>
          <p:cNvSpPr>
            <a:spLocks noGrp="1"/>
          </p:cNvSpPr>
          <p:nvPr>
            <p:ph idx="1"/>
          </p:nvPr>
        </p:nvSpPr>
        <p:spPr>
          <a:xfrm>
            <a:off x="838199" y="1825625"/>
            <a:ext cx="10515599" cy="4351338"/>
          </a:xfrm>
        </p:spPr>
        <p:txBody>
          <a:bodyPr>
            <a:normAutofit/>
          </a:bodyPr>
          <a:lstStyle/>
          <a:p>
            <a:pPr marL="0" indent="0">
              <a:buNone/>
            </a:pPr>
            <a:r>
              <a:rPr lang="en-US" altLang="zh-CN" b="1" u="sng" dirty="0">
                <a:effectLst>
                  <a:outerShdw blurRad="38100" dist="38100" dir="2700000" algn="tl">
                    <a:srgbClr val="000000">
                      <a:alpha val="43137"/>
                    </a:srgbClr>
                  </a:outerShdw>
                </a:effectLst>
              </a:rPr>
              <a:t>Basic usage of DIA</a:t>
            </a:r>
          </a:p>
          <a:p>
            <a:r>
              <a:rPr lang="en-US" altLang="zh-CN" dirty="0"/>
              <a:t>Create an entity</a:t>
            </a:r>
          </a:p>
          <a:p>
            <a:r>
              <a:rPr lang="en-US" altLang="zh-CN" dirty="0"/>
              <a:t>Add some properties to the empty entity</a:t>
            </a:r>
          </a:p>
          <a:p>
            <a:pPr lvl="1"/>
            <a:r>
              <a:rPr lang="en-US" altLang="zh-CN" dirty="0"/>
              <a:t>add primary key</a:t>
            </a:r>
          </a:p>
          <a:p>
            <a:pPr lvl="1"/>
            <a:r>
              <a:rPr lang="en-US" altLang="zh-CN" dirty="0"/>
              <a:t>add non unique attributes</a:t>
            </a:r>
          </a:p>
          <a:p>
            <a:r>
              <a:rPr lang="en-US" altLang="zh-CN" dirty="0"/>
              <a:t>Add relations to the ER diagram</a:t>
            </a:r>
          </a:p>
          <a:p>
            <a:endParaRPr lang="en-US" altLang="zh-CN" dirty="0"/>
          </a:p>
        </p:txBody>
      </p:sp>
    </p:spTree>
    <p:extLst>
      <p:ext uri="{BB962C8B-B14F-4D97-AF65-F5344CB8AC3E}">
        <p14:creationId xmlns:p14="http://schemas.microsoft.com/office/powerpoint/2010/main" val="132762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5A2B5-4A2E-D4B1-8418-78F8BD9C90A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E63C56E-C856-4546-CA0C-92ED07C534E9}"/>
              </a:ext>
            </a:extLst>
          </p:cNvPr>
          <p:cNvSpPr>
            <a:spLocks noGrp="1"/>
          </p:cNvSpPr>
          <p:nvPr>
            <p:ph type="title"/>
          </p:nvPr>
        </p:nvSpPr>
        <p:spPr/>
        <p:txBody>
          <a:bodyPr/>
          <a:lstStyle/>
          <a:p>
            <a:r>
              <a:rPr lang="en-US" altLang="zh-CN" b="1" i="1" dirty="0"/>
              <a:t>Notice</a:t>
            </a:r>
            <a:endParaRPr lang="zh-CN" altLang="en-US" dirty="0"/>
          </a:p>
        </p:txBody>
      </p:sp>
      <p:pic>
        <p:nvPicPr>
          <p:cNvPr id="6" name="Picture 6">
            <a:extLst>
              <a:ext uri="{FF2B5EF4-FFF2-40B4-BE49-F238E27FC236}">
                <a16:creationId xmlns:a16="http://schemas.microsoft.com/office/drawing/2014/main" id="{7DF9EE68-335B-DB21-98F1-5123174385B8}"/>
              </a:ext>
            </a:extLst>
          </p:cNvPr>
          <p:cNvPicPr>
            <a:picLocks noChangeAspect="1"/>
          </p:cNvPicPr>
          <p:nvPr/>
        </p:nvPicPr>
        <p:blipFill>
          <a:blip r:embed="rId2"/>
          <a:stretch>
            <a:fillRect/>
          </a:stretch>
        </p:blipFill>
        <p:spPr>
          <a:xfrm>
            <a:off x="7157883" y="1535583"/>
            <a:ext cx="3889641" cy="1758167"/>
          </a:xfrm>
          <a:prstGeom prst="rect">
            <a:avLst/>
          </a:prstGeom>
        </p:spPr>
      </p:pic>
      <p:sp>
        <p:nvSpPr>
          <p:cNvPr id="8" name="文本框 7">
            <a:extLst>
              <a:ext uri="{FF2B5EF4-FFF2-40B4-BE49-F238E27FC236}">
                <a16:creationId xmlns:a16="http://schemas.microsoft.com/office/drawing/2014/main" id="{15F8B4AD-70AD-C889-2BFE-8B144D965154}"/>
              </a:ext>
            </a:extLst>
          </p:cNvPr>
          <p:cNvSpPr txBox="1"/>
          <p:nvPr/>
        </p:nvSpPr>
        <p:spPr>
          <a:xfrm>
            <a:off x="838200" y="4352921"/>
            <a:ext cx="9869129" cy="1938992"/>
          </a:xfrm>
          <a:prstGeom prst="rect">
            <a:avLst/>
          </a:prstGeom>
          <a:noFill/>
        </p:spPr>
        <p:txBody>
          <a:bodyPr wrap="square">
            <a:spAutoFit/>
          </a:bodyPr>
          <a:lstStyle/>
          <a:p>
            <a:pPr marL="342900" indent="-342900">
              <a:buFont typeface="Arial" panose="020B0604020202020204" pitchFamily="34" charset="0"/>
              <a:buChar char="•"/>
            </a:pPr>
            <a:r>
              <a:rPr lang="zh-CN" altLang="en-US" sz="2400" dirty="0"/>
              <a:t>Due to DIA limitations and for briefness, the representation </a:t>
            </a:r>
            <a:r>
              <a:rPr lang="en-US" altLang="zh-CN" sz="2400" dirty="0"/>
              <a:t>of relationships</a:t>
            </a:r>
            <a:r>
              <a:rPr lang="zh-CN" altLang="en-US" sz="2400" dirty="0"/>
              <a:t> </a:t>
            </a:r>
            <a:r>
              <a:rPr lang="en-US" altLang="zh-CN" sz="2400" dirty="0"/>
              <a:t>in the lab</a:t>
            </a:r>
            <a:r>
              <a:rPr lang="zh-CN" altLang="en-US" sz="2400" dirty="0"/>
              <a:t> is much simpler, not following the crow's foot notation. </a:t>
            </a:r>
            <a:endParaRPr lang="en-US" altLang="zh-CN" sz="2400" dirty="0"/>
          </a:p>
          <a:p>
            <a:pPr marL="342900" indent="-342900">
              <a:buFont typeface="Arial" panose="020B0604020202020204" pitchFamily="34" charset="0"/>
              <a:buChar char="•"/>
            </a:pPr>
            <a:r>
              <a:rPr lang="zh-CN" altLang="en-US" sz="2400" dirty="0"/>
              <a:t>For future exams and homework, </a:t>
            </a:r>
            <a:r>
              <a:rPr lang="zh-CN" altLang="en-US" sz="2400" b="1" dirty="0">
                <a:solidFill>
                  <a:srgbClr val="FF0000"/>
                </a:solidFill>
              </a:rPr>
              <a:t>please stick to the method we went over in class</a:t>
            </a:r>
            <a:r>
              <a:rPr lang="zh-CN" altLang="en-US" sz="2400" dirty="0"/>
              <a:t>.</a:t>
            </a:r>
          </a:p>
        </p:txBody>
      </p:sp>
      <p:pic>
        <p:nvPicPr>
          <p:cNvPr id="10" name="图片 9">
            <a:extLst>
              <a:ext uri="{FF2B5EF4-FFF2-40B4-BE49-F238E27FC236}">
                <a16:creationId xmlns:a16="http://schemas.microsoft.com/office/drawing/2014/main" id="{83A0E9BE-58D0-7B9A-1953-590B6A3E6DEE}"/>
              </a:ext>
            </a:extLst>
          </p:cNvPr>
          <p:cNvPicPr>
            <a:picLocks noChangeAspect="1"/>
          </p:cNvPicPr>
          <p:nvPr/>
        </p:nvPicPr>
        <p:blipFill>
          <a:blip r:embed="rId3"/>
          <a:stretch>
            <a:fillRect/>
          </a:stretch>
        </p:blipFill>
        <p:spPr>
          <a:xfrm>
            <a:off x="530942" y="1535583"/>
            <a:ext cx="5879690" cy="1758167"/>
          </a:xfrm>
          <a:prstGeom prst="rect">
            <a:avLst/>
          </a:prstGeom>
        </p:spPr>
      </p:pic>
      <p:sp>
        <p:nvSpPr>
          <p:cNvPr id="11" name="文本框 10">
            <a:extLst>
              <a:ext uri="{FF2B5EF4-FFF2-40B4-BE49-F238E27FC236}">
                <a16:creationId xmlns:a16="http://schemas.microsoft.com/office/drawing/2014/main" id="{90BFC541-8E4F-11FE-BD47-EBA07F525CA9}"/>
              </a:ext>
            </a:extLst>
          </p:cNvPr>
          <p:cNvSpPr txBox="1"/>
          <p:nvPr/>
        </p:nvSpPr>
        <p:spPr>
          <a:xfrm>
            <a:off x="1897626" y="3357515"/>
            <a:ext cx="3225719" cy="646331"/>
          </a:xfrm>
          <a:prstGeom prst="rect">
            <a:avLst/>
          </a:prstGeom>
          <a:noFill/>
        </p:spPr>
        <p:txBody>
          <a:bodyPr wrap="square" rtlCol="0">
            <a:spAutoFit/>
          </a:bodyPr>
          <a:lstStyle/>
          <a:p>
            <a:pPr algn="ctr"/>
            <a:r>
              <a:rPr lang="en-US" altLang="zh-CN" b="1" dirty="0"/>
              <a:t>Directly mark cardinalities. </a:t>
            </a:r>
          </a:p>
          <a:p>
            <a:pPr algn="ctr"/>
            <a:r>
              <a:rPr lang="en-US" altLang="zh-CN" b="1" dirty="0"/>
              <a:t>(Lab session)</a:t>
            </a:r>
            <a:endParaRPr lang="zh-CN" altLang="en-US" b="1" dirty="0"/>
          </a:p>
        </p:txBody>
      </p:sp>
      <p:sp>
        <p:nvSpPr>
          <p:cNvPr id="12" name="文本框 11">
            <a:extLst>
              <a:ext uri="{FF2B5EF4-FFF2-40B4-BE49-F238E27FC236}">
                <a16:creationId xmlns:a16="http://schemas.microsoft.com/office/drawing/2014/main" id="{96440243-587C-9A4D-9F22-6BCB978B3C1F}"/>
              </a:ext>
            </a:extLst>
          </p:cNvPr>
          <p:cNvSpPr txBox="1"/>
          <p:nvPr/>
        </p:nvSpPr>
        <p:spPr>
          <a:xfrm>
            <a:off x="7681942" y="3357515"/>
            <a:ext cx="2841522" cy="646331"/>
          </a:xfrm>
          <a:prstGeom prst="rect">
            <a:avLst/>
          </a:prstGeom>
          <a:noFill/>
        </p:spPr>
        <p:txBody>
          <a:bodyPr wrap="square" rtlCol="0">
            <a:spAutoFit/>
          </a:bodyPr>
          <a:lstStyle/>
          <a:p>
            <a:pPr algn="ctr"/>
            <a:r>
              <a:rPr lang="en-US" altLang="zh-CN" b="1" dirty="0"/>
              <a:t>Crow’s foot notation. </a:t>
            </a:r>
          </a:p>
          <a:p>
            <a:pPr algn="ctr"/>
            <a:r>
              <a:rPr lang="en-US" altLang="zh-CN" b="1" dirty="0"/>
              <a:t>(Class)</a:t>
            </a:r>
            <a:endParaRPr lang="zh-CN" altLang="en-US" b="1" dirty="0"/>
          </a:p>
        </p:txBody>
      </p:sp>
    </p:spTree>
    <p:extLst>
      <p:ext uri="{BB962C8B-B14F-4D97-AF65-F5344CB8AC3E}">
        <p14:creationId xmlns:p14="http://schemas.microsoft.com/office/powerpoint/2010/main" val="3183825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E7B6C-EDD7-1EE0-399F-FFB44461A38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D80E321-D6C6-E6F2-384C-D551CD2EE87A}"/>
              </a:ext>
            </a:extLst>
          </p:cNvPr>
          <p:cNvSpPr>
            <a:spLocks noGrp="1"/>
          </p:cNvSpPr>
          <p:nvPr>
            <p:ph type="title"/>
          </p:nvPr>
        </p:nvSpPr>
        <p:spPr/>
        <p:txBody>
          <a:bodyPr/>
          <a:lstStyle/>
          <a:p>
            <a:r>
              <a:rPr lang="en-US" altLang="zh-CN" b="1" i="1" dirty="0"/>
              <a:t>Task 2.</a:t>
            </a:r>
            <a:br>
              <a:rPr lang="en-US" altLang="zh-CN" b="1" i="1" dirty="0"/>
            </a:br>
            <a:r>
              <a:rPr lang="en-US" altLang="zh-CN" b="1" i="1" dirty="0"/>
              <a:t>Design and Drawing of ER/EER Diagram</a:t>
            </a:r>
            <a:endParaRPr lang="zh-CN" altLang="en-US" dirty="0"/>
          </a:p>
        </p:txBody>
      </p:sp>
      <p:sp>
        <p:nvSpPr>
          <p:cNvPr id="3" name="内容占位符 2">
            <a:extLst>
              <a:ext uri="{FF2B5EF4-FFF2-40B4-BE49-F238E27FC236}">
                <a16:creationId xmlns:a16="http://schemas.microsoft.com/office/drawing/2014/main" id="{E109EE66-98AA-2CFF-3298-60706EFFDDF1}"/>
              </a:ext>
            </a:extLst>
          </p:cNvPr>
          <p:cNvSpPr>
            <a:spLocks noGrp="1"/>
          </p:cNvSpPr>
          <p:nvPr>
            <p:ph idx="1"/>
          </p:nvPr>
        </p:nvSpPr>
        <p:spPr>
          <a:xfrm>
            <a:off x="838199" y="1825625"/>
            <a:ext cx="10515599" cy="4351338"/>
          </a:xfrm>
        </p:spPr>
        <p:txBody>
          <a:bodyPr>
            <a:normAutofit/>
          </a:bodyPr>
          <a:lstStyle/>
          <a:p>
            <a:r>
              <a:rPr lang="en-US" altLang="zh-CN" dirty="0"/>
              <a:t>Unary relationship</a:t>
            </a:r>
          </a:p>
          <a:p>
            <a:r>
              <a:rPr lang="en-US" altLang="zh-CN" dirty="0"/>
              <a:t>Binary relationship(one to one, one to many, many to many)</a:t>
            </a:r>
          </a:p>
          <a:p>
            <a:r>
              <a:rPr lang="en-US" altLang="zh-CN" dirty="0"/>
              <a:t>Ternary relationship</a:t>
            </a:r>
          </a:p>
          <a:p>
            <a:r>
              <a:rPr lang="en-US" altLang="zh-CN" dirty="0"/>
              <a:t>Weak entities</a:t>
            </a:r>
          </a:p>
          <a:p>
            <a:r>
              <a:rPr lang="en-US" altLang="zh-CN" dirty="0"/>
              <a:t>Composite attributes</a:t>
            </a:r>
          </a:p>
          <a:p>
            <a:r>
              <a:rPr lang="en-US" altLang="zh-CN" dirty="0"/>
              <a:t>Multivalued attributes</a:t>
            </a:r>
          </a:p>
          <a:p>
            <a:r>
              <a:rPr lang="en-US" altLang="zh-CN" dirty="0"/>
              <a:t>Superclass and subclass</a:t>
            </a:r>
          </a:p>
        </p:txBody>
      </p:sp>
    </p:spTree>
    <p:extLst>
      <p:ext uri="{BB962C8B-B14F-4D97-AF65-F5344CB8AC3E}">
        <p14:creationId xmlns:p14="http://schemas.microsoft.com/office/powerpoint/2010/main" val="1453305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F64F9-53D3-670E-C096-D90DA021730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A7DF745-9240-714E-5FC7-A9C8B7ED565D}"/>
              </a:ext>
            </a:extLst>
          </p:cNvPr>
          <p:cNvSpPr>
            <a:spLocks noGrp="1"/>
          </p:cNvSpPr>
          <p:nvPr>
            <p:ph type="title"/>
          </p:nvPr>
        </p:nvSpPr>
        <p:spPr/>
        <p:txBody>
          <a:bodyPr/>
          <a:lstStyle/>
          <a:p>
            <a:r>
              <a:rPr lang="en-US" altLang="zh-CN" b="1" i="1" dirty="0"/>
              <a:t>Problem 1. Unary relationship</a:t>
            </a:r>
            <a:endParaRPr lang="zh-CN" altLang="en-US" dirty="0"/>
          </a:p>
        </p:txBody>
      </p:sp>
      <p:sp>
        <p:nvSpPr>
          <p:cNvPr id="3" name="内容占位符 2">
            <a:extLst>
              <a:ext uri="{FF2B5EF4-FFF2-40B4-BE49-F238E27FC236}">
                <a16:creationId xmlns:a16="http://schemas.microsoft.com/office/drawing/2014/main" id="{F89222DD-FBD1-0DD2-4689-6CB170CDA9B6}"/>
              </a:ext>
            </a:extLst>
          </p:cNvPr>
          <p:cNvSpPr>
            <a:spLocks noGrp="1"/>
          </p:cNvSpPr>
          <p:nvPr>
            <p:ph idx="1"/>
          </p:nvPr>
        </p:nvSpPr>
        <p:spPr>
          <a:xfrm>
            <a:off x="838199" y="1825625"/>
            <a:ext cx="10515599" cy="4929136"/>
          </a:xfrm>
        </p:spPr>
        <p:txBody>
          <a:bodyPr>
            <a:normAutofit/>
          </a:bodyPr>
          <a:lstStyle/>
          <a:p>
            <a:pPr marL="0" indent="0">
              <a:buNone/>
            </a:pPr>
            <a:r>
              <a:rPr lang="en-US" altLang="zh-CN" b="1" u="sng" dirty="0">
                <a:effectLst>
                  <a:outerShdw blurRad="38100" dist="38100" dir="2700000" algn="tl">
                    <a:srgbClr val="000000">
                      <a:alpha val="43137"/>
                    </a:srgbClr>
                  </a:outerShdw>
                </a:effectLst>
              </a:rPr>
              <a:t>Business Rules</a:t>
            </a:r>
          </a:p>
          <a:p>
            <a:r>
              <a:rPr lang="en-US" altLang="zh-CN" dirty="0"/>
              <a:t>An employee supervises other employees and an employee is supervised by one supervisor only.</a:t>
            </a:r>
          </a:p>
          <a:p>
            <a:endParaRPr lang="en-US" altLang="zh-CN" dirty="0"/>
          </a:p>
          <a:p>
            <a:pPr marL="0" indent="0">
              <a:buNone/>
            </a:pPr>
            <a:r>
              <a:rPr lang="en-US" altLang="zh-CN" b="1" u="sng" dirty="0">
                <a:effectLst>
                  <a:outerShdw blurRad="38100" dist="38100" dir="2700000" algn="tl">
                    <a:srgbClr val="000000">
                      <a:alpha val="43137"/>
                    </a:srgbClr>
                  </a:outerShdw>
                </a:effectLst>
              </a:rPr>
              <a:t>Solutions</a:t>
            </a:r>
          </a:p>
          <a:p>
            <a:pPr marL="0" indent="0">
              <a:buNone/>
            </a:pPr>
            <a:r>
              <a:rPr lang="en-US" altLang="zh-CN" dirty="0"/>
              <a:t>Step 1. Create an entity EMPLOYEE.</a:t>
            </a:r>
          </a:p>
          <a:p>
            <a:pPr marL="0" indent="0">
              <a:buNone/>
            </a:pPr>
            <a:r>
              <a:rPr lang="en-US" altLang="zh-CN" dirty="0"/>
              <a:t>Step 2. Add attributes to the entity EMPLOYEE.</a:t>
            </a:r>
          </a:p>
          <a:p>
            <a:pPr marL="0" indent="0">
              <a:buNone/>
            </a:pPr>
            <a:r>
              <a:rPr lang="en-US" altLang="zh-CN" dirty="0"/>
              <a:t>Step 3. Add a relationship between employees and supervisors.</a:t>
            </a:r>
          </a:p>
          <a:p>
            <a:pPr marL="0" indent="0">
              <a:buNone/>
            </a:pPr>
            <a:r>
              <a:rPr lang="en-US" altLang="zh-CN" dirty="0"/>
              <a:t>Step 4. Edit the minimum and maximum cardinalities for the relationship.(</a:t>
            </a:r>
            <a:r>
              <a:rPr lang="en-US" altLang="zh-CN" b="1" dirty="0"/>
              <a:t>try yourself</a:t>
            </a:r>
            <a:r>
              <a:rPr lang="en-US" altLang="zh-CN" dirty="0"/>
              <a:t>)</a:t>
            </a:r>
          </a:p>
        </p:txBody>
      </p:sp>
    </p:spTree>
    <p:extLst>
      <p:ext uri="{BB962C8B-B14F-4D97-AF65-F5344CB8AC3E}">
        <p14:creationId xmlns:p14="http://schemas.microsoft.com/office/powerpoint/2010/main" val="4293992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90C0B-CB74-772F-1493-D5FA13DCFFA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F79F4C9-8C1B-5BC0-FC08-17EEBC4BF685}"/>
              </a:ext>
            </a:extLst>
          </p:cNvPr>
          <p:cNvSpPr>
            <a:spLocks noGrp="1"/>
          </p:cNvSpPr>
          <p:nvPr>
            <p:ph type="title"/>
          </p:nvPr>
        </p:nvSpPr>
        <p:spPr/>
        <p:txBody>
          <a:bodyPr/>
          <a:lstStyle/>
          <a:p>
            <a:r>
              <a:rPr lang="en-US" altLang="zh-CN" b="1" i="1" dirty="0"/>
              <a:t>Problem 2. Binary relationship(1 to 1)</a:t>
            </a:r>
            <a:endParaRPr lang="zh-CN" altLang="en-US" dirty="0"/>
          </a:p>
        </p:txBody>
      </p:sp>
      <p:sp>
        <p:nvSpPr>
          <p:cNvPr id="3" name="内容占位符 2">
            <a:extLst>
              <a:ext uri="{FF2B5EF4-FFF2-40B4-BE49-F238E27FC236}">
                <a16:creationId xmlns:a16="http://schemas.microsoft.com/office/drawing/2014/main" id="{FD3115C4-D746-A562-DE39-2B8D452F4985}"/>
              </a:ext>
            </a:extLst>
          </p:cNvPr>
          <p:cNvSpPr>
            <a:spLocks noGrp="1"/>
          </p:cNvSpPr>
          <p:nvPr>
            <p:ph idx="1"/>
          </p:nvPr>
        </p:nvSpPr>
        <p:spPr>
          <a:xfrm>
            <a:off x="838199" y="1825625"/>
            <a:ext cx="10515599" cy="4351338"/>
          </a:xfrm>
        </p:spPr>
        <p:txBody>
          <a:bodyPr>
            <a:normAutofit/>
          </a:bodyPr>
          <a:lstStyle/>
          <a:p>
            <a:pPr marL="0" indent="0">
              <a:buNone/>
            </a:pPr>
            <a:r>
              <a:rPr lang="en-US" altLang="zh-CN" b="1" u="sng" dirty="0">
                <a:effectLst>
                  <a:outerShdw blurRad="38100" dist="38100" dir="2700000" algn="tl">
                    <a:srgbClr val="000000">
                      <a:alpha val="43137"/>
                    </a:srgbClr>
                  </a:outerShdw>
                </a:effectLst>
              </a:rPr>
              <a:t>Business Rules</a:t>
            </a:r>
          </a:p>
          <a:p>
            <a:r>
              <a:rPr lang="en-US" altLang="zh-CN" dirty="0"/>
              <a:t>Each user has at most one login account, and each account is linked to exactly one user. In some cases a user may not yet have an account, but once an account exists it must correspond to exactly one user.</a:t>
            </a:r>
          </a:p>
        </p:txBody>
      </p:sp>
      <p:pic>
        <p:nvPicPr>
          <p:cNvPr id="4" name="图片 3">
            <a:extLst>
              <a:ext uri="{FF2B5EF4-FFF2-40B4-BE49-F238E27FC236}">
                <a16:creationId xmlns:a16="http://schemas.microsoft.com/office/drawing/2014/main" id="{D1E6DA1E-9B12-88E8-E2F7-0110BB03536E}"/>
              </a:ext>
            </a:extLst>
          </p:cNvPr>
          <p:cNvPicPr>
            <a:picLocks noChangeAspect="1"/>
          </p:cNvPicPr>
          <p:nvPr/>
        </p:nvPicPr>
        <p:blipFill>
          <a:blip r:embed="rId2"/>
          <a:stretch>
            <a:fillRect/>
          </a:stretch>
        </p:blipFill>
        <p:spPr>
          <a:xfrm>
            <a:off x="2143586" y="4157509"/>
            <a:ext cx="3617448" cy="2154391"/>
          </a:xfrm>
          <a:prstGeom prst="rect">
            <a:avLst/>
          </a:prstGeom>
        </p:spPr>
      </p:pic>
      <p:pic>
        <p:nvPicPr>
          <p:cNvPr id="5" name="图片 4">
            <a:extLst>
              <a:ext uri="{FF2B5EF4-FFF2-40B4-BE49-F238E27FC236}">
                <a16:creationId xmlns:a16="http://schemas.microsoft.com/office/drawing/2014/main" id="{8847E4F7-925E-8F49-5BD7-5870AE82249F}"/>
              </a:ext>
            </a:extLst>
          </p:cNvPr>
          <p:cNvPicPr>
            <a:picLocks noChangeAspect="1"/>
          </p:cNvPicPr>
          <p:nvPr/>
        </p:nvPicPr>
        <p:blipFill>
          <a:blip r:embed="rId3"/>
          <a:stretch>
            <a:fillRect/>
          </a:stretch>
        </p:blipFill>
        <p:spPr>
          <a:xfrm>
            <a:off x="6096000" y="4292446"/>
            <a:ext cx="4689621" cy="2019454"/>
          </a:xfrm>
          <a:prstGeom prst="rect">
            <a:avLst/>
          </a:prstGeom>
        </p:spPr>
      </p:pic>
    </p:spTree>
    <p:extLst>
      <p:ext uri="{BB962C8B-B14F-4D97-AF65-F5344CB8AC3E}">
        <p14:creationId xmlns:p14="http://schemas.microsoft.com/office/powerpoint/2010/main" val="1716473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83033-D31C-7B1E-3566-FC9F670C646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AD81538-FF5B-4CDE-EC44-864DB1F7DE68}"/>
              </a:ext>
            </a:extLst>
          </p:cNvPr>
          <p:cNvSpPr>
            <a:spLocks noGrp="1"/>
          </p:cNvSpPr>
          <p:nvPr>
            <p:ph type="title"/>
          </p:nvPr>
        </p:nvSpPr>
        <p:spPr/>
        <p:txBody>
          <a:bodyPr/>
          <a:lstStyle/>
          <a:p>
            <a:r>
              <a:rPr lang="en-US" altLang="zh-CN" b="1" i="1" dirty="0"/>
              <a:t>Problem 3. Binary relationship(1 to many)</a:t>
            </a:r>
            <a:endParaRPr lang="zh-CN" altLang="en-US" dirty="0"/>
          </a:p>
        </p:txBody>
      </p:sp>
      <p:sp>
        <p:nvSpPr>
          <p:cNvPr id="3" name="内容占位符 2">
            <a:extLst>
              <a:ext uri="{FF2B5EF4-FFF2-40B4-BE49-F238E27FC236}">
                <a16:creationId xmlns:a16="http://schemas.microsoft.com/office/drawing/2014/main" id="{C5997CD6-4B7F-E605-C881-B03606E92FCB}"/>
              </a:ext>
            </a:extLst>
          </p:cNvPr>
          <p:cNvSpPr>
            <a:spLocks noGrp="1"/>
          </p:cNvSpPr>
          <p:nvPr>
            <p:ph idx="1"/>
          </p:nvPr>
        </p:nvSpPr>
        <p:spPr>
          <a:xfrm>
            <a:off x="838199" y="1825625"/>
            <a:ext cx="10515599" cy="4351338"/>
          </a:xfrm>
        </p:spPr>
        <p:txBody>
          <a:bodyPr>
            <a:normAutofit/>
          </a:bodyPr>
          <a:lstStyle/>
          <a:p>
            <a:pPr marL="0" indent="0">
              <a:buNone/>
            </a:pPr>
            <a:r>
              <a:rPr lang="en-US" altLang="zh-CN" b="1" u="sng" dirty="0">
                <a:effectLst>
                  <a:outerShdw blurRad="38100" dist="38100" dir="2700000" algn="tl">
                    <a:srgbClr val="000000">
                      <a:alpha val="43137"/>
                    </a:srgbClr>
                  </a:outerShdw>
                </a:effectLst>
              </a:rPr>
              <a:t>Business Rules</a:t>
            </a:r>
          </a:p>
          <a:p>
            <a:r>
              <a:rPr lang="en-US" altLang="zh-CN" dirty="0"/>
              <a:t>A customer may order an item or more than one item but each item must be ordered by one and only one customer. Company wants to keep track of who is buying what and when.</a:t>
            </a:r>
          </a:p>
          <a:p>
            <a:endParaRPr lang="en-US" altLang="zh-CN" dirty="0"/>
          </a:p>
          <a:p>
            <a:pPr marL="0" indent="0">
              <a:buNone/>
            </a:pPr>
            <a:r>
              <a:rPr lang="en-US" altLang="zh-CN" b="1" u="sng" dirty="0">
                <a:effectLst>
                  <a:outerShdw blurRad="38100" dist="38100" dir="2700000" algn="tl">
                    <a:srgbClr val="000000">
                      <a:alpha val="43137"/>
                    </a:srgbClr>
                  </a:outerShdw>
                </a:effectLst>
              </a:rPr>
              <a:t>Solutions</a:t>
            </a:r>
          </a:p>
          <a:p>
            <a:pPr marL="0" indent="0">
              <a:buNone/>
            </a:pPr>
            <a:r>
              <a:rPr lang="en-US" altLang="zh-CN" dirty="0"/>
              <a:t>Step 1. Draw the entities and relationship as usual.</a:t>
            </a:r>
          </a:p>
          <a:p>
            <a:pPr marL="0" indent="0">
              <a:buNone/>
            </a:pPr>
            <a:r>
              <a:rPr lang="en-US" altLang="zh-CN" dirty="0"/>
              <a:t>Step 2. Solve the “keep track of” part.</a:t>
            </a:r>
          </a:p>
        </p:txBody>
      </p:sp>
    </p:spTree>
    <p:extLst>
      <p:ext uri="{BB962C8B-B14F-4D97-AF65-F5344CB8AC3E}">
        <p14:creationId xmlns:p14="http://schemas.microsoft.com/office/powerpoint/2010/main" val="405416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CB36D-544F-591C-439C-7F41F242663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34494BF-69F1-5D20-7C5A-835BBB099B66}"/>
              </a:ext>
            </a:extLst>
          </p:cNvPr>
          <p:cNvSpPr>
            <a:spLocks noGrp="1"/>
          </p:cNvSpPr>
          <p:nvPr>
            <p:ph type="title"/>
          </p:nvPr>
        </p:nvSpPr>
        <p:spPr>
          <a:xfrm>
            <a:off x="838200" y="365125"/>
            <a:ext cx="11049000" cy="1325563"/>
          </a:xfrm>
        </p:spPr>
        <p:txBody>
          <a:bodyPr/>
          <a:lstStyle/>
          <a:p>
            <a:r>
              <a:rPr lang="en-US" altLang="zh-CN" b="1" i="1" dirty="0"/>
              <a:t>Problem 4. Binary relationship(many to many)</a:t>
            </a:r>
            <a:endParaRPr lang="zh-CN" altLang="en-US" dirty="0"/>
          </a:p>
        </p:txBody>
      </p:sp>
      <p:sp>
        <p:nvSpPr>
          <p:cNvPr id="3" name="内容占位符 2">
            <a:extLst>
              <a:ext uri="{FF2B5EF4-FFF2-40B4-BE49-F238E27FC236}">
                <a16:creationId xmlns:a16="http://schemas.microsoft.com/office/drawing/2014/main" id="{EAED9013-AAFE-3A41-DC0D-326A69A8F3DB}"/>
              </a:ext>
            </a:extLst>
          </p:cNvPr>
          <p:cNvSpPr>
            <a:spLocks noGrp="1"/>
          </p:cNvSpPr>
          <p:nvPr>
            <p:ph idx="1"/>
          </p:nvPr>
        </p:nvSpPr>
        <p:spPr>
          <a:xfrm>
            <a:off x="838199" y="1825625"/>
            <a:ext cx="10515599" cy="4351338"/>
          </a:xfrm>
        </p:spPr>
        <p:txBody>
          <a:bodyPr>
            <a:normAutofit/>
          </a:bodyPr>
          <a:lstStyle/>
          <a:p>
            <a:pPr marL="0" indent="0">
              <a:buNone/>
            </a:pPr>
            <a:r>
              <a:rPr lang="en-US" altLang="zh-CN" b="1" u="sng" dirty="0">
                <a:effectLst>
                  <a:outerShdw blurRad="38100" dist="38100" dir="2700000" algn="tl">
                    <a:srgbClr val="000000">
                      <a:alpha val="43137"/>
                    </a:srgbClr>
                  </a:outerShdw>
                </a:effectLst>
              </a:rPr>
              <a:t>Business Rules</a:t>
            </a:r>
          </a:p>
          <a:p>
            <a:r>
              <a:rPr lang="en-US" altLang="zh-CN" dirty="0"/>
              <a:t>A </a:t>
            </a:r>
            <a:r>
              <a:rPr lang="en-US" altLang="zh-CN" i="1" dirty="0"/>
              <a:t>Customer</a:t>
            </a:r>
            <a:r>
              <a:rPr lang="en-US" altLang="zh-CN" dirty="0"/>
              <a:t> may do business in one or more </a:t>
            </a:r>
            <a:r>
              <a:rPr lang="en-US" altLang="zh-CN" i="1" dirty="0"/>
              <a:t>territories</a:t>
            </a:r>
            <a:r>
              <a:rPr lang="en-US" altLang="zh-CN" dirty="0"/>
              <a:t> but a </a:t>
            </a:r>
            <a:r>
              <a:rPr lang="en-US" altLang="zh-CN" i="1" dirty="0"/>
              <a:t>territory</a:t>
            </a:r>
            <a:r>
              <a:rPr lang="en-US" altLang="zh-CN" dirty="0"/>
              <a:t> should have at least one </a:t>
            </a:r>
            <a:r>
              <a:rPr lang="en-US" altLang="zh-CN" i="1" dirty="0"/>
              <a:t>customer</a:t>
            </a:r>
            <a:r>
              <a:rPr lang="en-US" altLang="zh-CN" dirty="0"/>
              <a:t>.</a:t>
            </a:r>
          </a:p>
          <a:p>
            <a:endParaRPr lang="en-US" altLang="zh-CN" dirty="0"/>
          </a:p>
          <a:p>
            <a:pPr marL="0" indent="0">
              <a:buNone/>
            </a:pPr>
            <a:r>
              <a:rPr lang="en-US" altLang="zh-CN" b="1" u="sng" dirty="0">
                <a:effectLst>
                  <a:outerShdw blurRad="38100" dist="38100" dir="2700000" algn="tl">
                    <a:srgbClr val="000000">
                      <a:alpha val="43137"/>
                    </a:srgbClr>
                  </a:outerShdw>
                </a:effectLst>
              </a:rPr>
              <a:t>Solutions</a:t>
            </a:r>
          </a:p>
          <a:p>
            <a:pPr marL="0" indent="0">
              <a:buNone/>
            </a:pPr>
            <a:r>
              <a:rPr lang="en-US" altLang="zh-CN" dirty="0"/>
              <a:t>Since this is a many to many relationship, it needs an </a:t>
            </a:r>
            <a:r>
              <a:rPr lang="en-US" altLang="zh-CN" b="1" dirty="0">
                <a:solidFill>
                  <a:srgbClr val="FF0000"/>
                </a:solidFill>
              </a:rPr>
              <a:t>Associative Entity (AE)</a:t>
            </a:r>
            <a:r>
              <a:rPr lang="en-US" altLang="zh-CN" dirty="0"/>
              <a:t> to keep track of who is doing business in what territory. So we add an AE and change the relationship from the AE to other entities as many to one.</a:t>
            </a:r>
          </a:p>
        </p:txBody>
      </p:sp>
    </p:spTree>
    <p:extLst>
      <p:ext uri="{BB962C8B-B14F-4D97-AF65-F5344CB8AC3E}">
        <p14:creationId xmlns:p14="http://schemas.microsoft.com/office/powerpoint/2010/main" val="3490085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69824-3EE4-CEE6-836F-EF8FF233A3A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E0AF42C-29D1-3DD2-50A5-7656FFCCF4D1}"/>
              </a:ext>
            </a:extLst>
          </p:cNvPr>
          <p:cNvSpPr>
            <a:spLocks noGrp="1"/>
          </p:cNvSpPr>
          <p:nvPr>
            <p:ph type="title"/>
          </p:nvPr>
        </p:nvSpPr>
        <p:spPr/>
        <p:txBody>
          <a:bodyPr/>
          <a:lstStyle/>
          <a:p>
            <a:r>
              <a:rPr lang="en-US" altLang="zh-CN" b="1" i="1" dirty="0"/>
              <a:t>Notice</a:t>
            </a:r>
            <a:endParaRPr lang="zh-CN" altLang="en-US" dirty="0"/>
          </a:p>
        </p:txBody>
      </p:sp>
      <p:sp>
        <p:nvSpPr>
          <p:cNvPr id="8" name="文本框 7">
            <a:extLst>
              <a:ext uri="{FF2B5EF4-FFF2-40B4-BE49-F238E27FC236}">
                <a16:creationId xmlns:a16="http://schemas.microsoft.com/office/drawing/2014/main" id="{054616C1-BB21-AA94-A3DC-E9BCD70A1786}"/>
              </a:ext>
            </a:extLst>
          </p:cNvPr>
          <p:cNvSpPr txBox="1"/>
          <p:nvPr/>
        </p:nvSpPr>
        <p:spPr>
          <a:xfrm>
            <a:off x="700548" y="1411001"/>
            <a:ext cx="5611761" cy="4214102"/>
          </a:xfrm>
          <a:prstGeom prst="rect">
            <a:avLst/>
          </a:prstGeom>
          <a:noFill/>
        </p:spPr>
        <p:txBody>
          <a:bodyPr wrap="square">
            <a:spAutoFit/>
          </a:bodyPr>
          <a:lstStyle/>
          <a:p>
            <a:pPr marL="342900" indent="-342900">
              <a:lnSpc>
                <a:spcPct val="125000"/>
              </a:lnSpc>
              <a:buFont typeface="Arial" panose="020B0604020202020204" pitchFamily="34" charset="0"/>
              <a:buChar char="•"/>
            </a:pPr>
            <a:r>
              <a:rPr lang="en-US" altLang="zh-CN" sz="2400" dirty="0"/>
              <a:t>For briefness, in the lab, the Associative Entity </a:t>
            </a:r>
            <a:r>
              <a:rPr lang="en-US" altLang="zh-CN" sz="2400" b="1" dirty="0"/>
              <a:t>includes the primary key of the related entities</a:t>
            </a:r>
            <a:r>
              <a:rPr lang="en-US" altLang="zh-CN" sz="2400" dirty="0"/>
              <a:t>. </a:t>
            </a:r>
          </a:p>
          <a:p>
            <a:pPr marL="342900" indent="-342900">
              <a:lnSpc>
                <a:spcPct val="125000"/>
              </a:lnSpc>
              <a:buFont typeface="Arial" panose="020B0604020202020204" pitchFamily="34" charset="0"/>
              <a:buChar char="•"/>
            </a:pPr>
            <a:r>
              <a:rPr lang="en-US" altLang="zh-CN" sz="2400" dirty="0"/>
              <a:t>However, the Associative Entity in class </a:t>
            </a:r>
            <a:r>
              <a:rPr lang="en-US" altLang="zh-CN" sz="2400" b="1" dirty="0"/>
              <a:t>includes attributes specific to relationship instances</a:t>
            </a:r>
            <a:r>
              <a:rPr lang="en-US" altLang="zh-CN" sz="2400" dirty="0"/>
              <a:t>.</a:t>
            </a:r>
          </a:p>
          <a:p>
            <a:pPr marL="342900" indent="-342900">
              <a:lnSpc>
                <a:spcPct val="125000"/>
              </a:lnSpc>
              <a:buFont typeface="Arial" panose="020B0604020202020204" pitchFamily="34" charset="0"/>
              <a:buChar char="•"/>
            </a:pPr>
            <a:r>
              <a:rPr lang="zh-CN" altLang="en-US" sz="2400" dirty="0"/>
              <a:t>For future exams and homework, </a:t>
            </a:r>
            <a:r>
              <a:rPr lang="zh-CN" altLang="en-US" sz="2400" b="1" dirty="0">
                <a:solidFill>
                  <a:srgbClr val="FF0000"/>
                </a:solidFill>
              </a:rPr>
              <a:t>please stick to the method we went over in class</a:t>
            </a:r>
            <a:r>
              <a:rPr lang="zh-CN" altLang="en-US" sz="2400" dirty="0"/>
              <a:t>.</a:t>
            </a:r>
          </a:p>
        </p:txBody>
      </p:sp>
      <p:sp>
        <p:nvSpPr>
          <p:cNvPr id="11" name="文本框 10">
            <a:extLst>
              <a:ext uri="{FF2B5EF4-FFF2-40B4-BE49-F238E27FC236}">
                <a16:creationId xmlns:a16="http://schemas.microsoft.com/office/drawing/2014/main" id="{3020E606-256B-6E34-213F-47512FBDCAD0}"/>
              </a:ext>
            </a:extLst>
          </p:cNvPr>
          <p:cNvSpPr txBox="1"/>
          <p:nvPr/>
        </p:nvSpPr>
        <p:spPr>
          <a:xfrm>
            <a:off x="6650277" y="3332086"/>
            <a:ext cx="4841175" cy="1200329"/>
          </a:xfrm>
          <a:prstGeom prst="rect">
            <a:avLst/>
          </a:prstGeom>
          <a:noFill/>
        </p:spPr>
        <p:txBody>
          <a:bodyPr wrap="square" rtlCol="0">
            <a:spAutoFit/>
          </a:bodyPr>
          <a:lstStyle/>
          <a:p>
            <a:pPr algn="ctr"/>
            <a:r>
              <a:rPr lang="en-US" altLang="zh-CN" b="1" dirty="0"/>
              <a:t>Associative Entity. We add </a:t>
            </a:r>
            <a:r>
              <a:rPr lang="en-US" altLang="zh-CN" b="1" dirty="0" err="1"/>
              <a:t>Customer_Id</a:t>
            </a:r>
            <a:r>
              <a:rPr lang="en-US" altLang="zh-CN" b="1" dirty="0"/>
              <a:t> and </a:t>
            </a:r>
            <a:r>
              <a:rPr lang="en-US" altLang="zh-CN" b="1" dirty="0" err="1"/>
              <a:t>Territory_id</a:t>
            </a:r>
            <a:r>
              <a:rPr lang="en-US" altLang="zh-CN" b="1" dirty="0"/>
              <a:t> from two related entities to AE as its composite primary key. </a:t>
            </a:r>
          </a:p>
          <a:p>
            <a:pPr algn="ctr"/>
            <a:r>
              <a:rPr lang="en-US" altLang="zh-CN" b="1" dirty="0"/>
              <a:t>(Lab session)</a:t>
            </a:r>
            <a:endParaRPr lang="zh-CN" altLang="en-US" b="1" dirty="0"/>
          </a:p>
        </p:txBody>
      </p:sp>
      <p:sp>
        <p:nvSpPr>
          <p:cNvPr id="12" name="文本框 11">
            <a:extLst>
              <a:ext uri="{FF2B5EF4-FFF2-40B4-BE49-F238E27FC236}">
                <a16:creationId xmlns:a16="http://schemas.microsoft.com/office/drawing/2014/main" id="{AFF69515-029A-5FAE-60B7-4A84AE6E0FF4}"/>
              </a:ext>
            </a:extLst>
          </p:cNvPr>
          <p:cNvSpPr txBox="1"/>
          <p:nvPr/>
        </p:nvSpPr>
        <p:spPr>
          <a:xfrm>
            <a:off x="6435188" y="5807795"/>
            <a:ext cx="5456903" cy="923330"/>
          </a:xfrm>
          <a:prstGeom prst="rect">
            <a:avLst/>
          </a:prstGeom>
          <a:noFill/>
        </p:spPr>
        <p:txBody>
          <a:bodyPr wrap="square" rtlCol="0">
            <a:spAutoFit/>
          </a:bodyPr>
          <a:lstStyle/>
          <a:p>
            <a:pPr algn="ctr"/>
            <a:r>
              <a:rPr lang="en-US" altLang="zh-CN" b="1" dirty="0"/>
              <a:t>Associative Entity.  CERTIFICATE has attributes specific to relationships, e.g., Date Completed.</a:t>
            </a:r>
          </a:p>
          <a:p>
            <a:pPr algn="ctr"/>
            <a:r>
              <a:rPr lang="en-US" altLang="zh-CN" b="1" dirty="0"/>
              <a:t>(Class)</a:t>
            </a:r>
            <a:endParaRPr lang="zh-CN" altLang="en-US" b="1" dirty="0"/>
          </a:p>
        </p:txBody>
      </p:sp>
      <p:pic>
        <p:nvPicPr>
          <p:cNvPr id="4" name="图片 3">
            <a:extLst>
              <a:ext uri="{FF2B5EF4-FFF2-40B4-BE49-F238E27FC236}">
                <a16:creationId xmlns:a16="http://schemas.microsoft.com/office/drawing/2014/main" id="{7E34161A-06BF-0CFF-C9B0-7C386F3FEDC2}"/>
              </a:ext>
            </a:extLst>
          </p:cNvPr>
          <p:cNvPicPr>
            <a:picLocks noChangeAspect="1"/>
          </p:cNvPicPr>
          <p:nvPr/>
        </p:nvPicPr>
        <p:blipFill>
          <a:blip r:embed="rId2"/>
          <a:stretch>
            <a:fillRect/>
          </a:stretch>
        </p:blipFill>
        <p:spPr>
          <a:xfrm>
            <a:off x="6254307" y="1186002"/>
            <a:ext cx="5818663" cy="2235218"/>
          </a:xfrm>
          <a:prstGeom prst="rect">
            <a:avLst/>
          </a:prstGeom>
        </p:spPr>
      </p:pic>
      <p:pic>
        <p:nvPicPr>
          <p:cNvPr id="5" name="Picture 7">
            <a:extLst>
              <a:ext uri="{FF2B5EF4-FFF2-40B4-BE49-F238E27FC236}">
                <a16:creationId xmlns:a16="http://schemas.microsoft.com/office/drawing/2014/main" id="{39EFC2B4-615C-65D8-3887-DDEB0284867A}"/>
              </a:ext>
            </a:extLst>
          </p:cNvPr>
          <p:cNvPicPr>
            <a:picLocks noChangeAspect="1"/>
          </p:cNvPicPr>
          <p:nvPr/>
        </p:nvPicPr>
        <p:blipFill>
          <a:blip r:embed="rId3"/>
          <a:srcRect t="62403" b="991"/>
          <a:stretch>
            <a:fillRect/>
          </a:stretch>
        </p:blipFill>
        <p:spPr>
          <a:xfrm>
            <a:off x="6274461" y="4773995"/>
            <a:ext cx="5836359" cy="938549"/>
          </a:xfrm>
          <a:prstGeom prst="rect">
            <a:avLst/>
          </a:prstGeom>
        </p:spPr>
      </p:pic>
      <p:sp>
        <p:nvSpPr>
          <p:cNvPr id="7" name="矩形 6">
            <a:extLst>
              <a:ext uri="{FF2B5EF4-FFF2-40B4-BE49-F238E27FC236}">
                <a16:creationId xmlns:a16="http://schemas.microsoft.com/office/drawing/2014/main" id="{2B11E0CF-78F8-AE28-0A11-2BC34FC66CFC}"/>
              </a:ext>
            </a:extLst>
          </p:cNvPr>
          <p:cNvSpPr/>
          <p:nvPr/>
        </p:nvSpPr>
        <p:spPr>
          <a:xfrm>
            <a:off x="8398686" y="2482913"/>
            <a:ext cx="1887793" cy="6194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0A3502FE-FBD9-6D6C-F6E8-ABF65D48FB6C}"/>
              </a:ext>
            </a:extLst>
          </p:cNvPr>
          <p:cNvSpPr/>
          <p:nvPr/>
        </p:nvSpPr>
        <p:spPr>
          <a:xfrm>
            <a:off x="8398686" y="4773995"/>
            <a:ext cx="1587909" cy="93854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35077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655D8-C642-1D8E-50AE-F25B8B40E53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DA7A788-D2A3-BA7C-72BF-1449EC81622D}"/>
              </a:ext>
            </a:extLst>
          </p:cNvPr>
          <p:cNvSpPr>
            <a:spLocks noGrp="1"/>
          </p:cNvSpPr>
          <p:nvPr>
            <p:ph type="title"/>
          </p:nvPr>
        </p:nvSpPr>
        <p:spPr>
          <a:xfrm>
            <a:off x="838200" y="365125"/>
            <a:ext cx="11353800" cy="1325563"/>
          </a:xfrm>
        </p:spPr>
        <p:txBody>
          <a:bodyPr/>
          <a:lstStyle/>
          <a:p>
            <a:r>
              <a:rPr lang="en-US" altLang="zh-CN" b="1" i="1" dirty="0"/>
              <a:t>Problem 5. Ternary relationship (many to many)</a:t>
            </a:r>
            <a:endParaRPr lang="zh-CN" altLang="en-US" dirty="0"/>
          </a:p>
        </p:txBody>
      </p:sp>
      <p:sp>
        <p:nvSpPr>
          <p:cNvPr id="3" name="内容占位符 2">
            <a:extLst>
              <a:ext uri="{FF2B5EF4-FFF2-40B4-BE49-F238E27FC236}">
                <a16:creationId xmlns:a16="http://schemas.microsoft.com/office/drawing/2014/main" id="{7DBDFF11-F64A-12FD-EF1F-6EE679CEC288}"/>
              </a:ext>
            </a:extLst>
          </p:cNvPr>
          <p:cNvSpPr>
            <a:spLocks noGrp="1"/>
          </p:cNvSpPr>
          <p:nvPr>
            <p:ph idx="1"/>
          </p:nvPr>
        </p:nvSpPr>
        <p:spPr>
          <a:xfrm>
            <a:off x="838199" y="1825625"/>
            <a:ext cx="10515599" cy="4351338"/>
          </a:xfrm>
        </p:spPr>
        <p:txBody>
          <a:bodyPr>
            <a:normAutofit/>
          </a:bodyPr>
          <a:lstStyle/>
          <a:p>
            <a:pPr marL="0" indent="0">
              <a:buNone/>
            </a:pPr>
            <a:r>
              <a:rPr lang="en-US" altLang="zh-CN" dirty="0"/>
              <a:t>Ternary relationships are 3 entities participating in one relationship. </a:t>
            </a:r>
          </a:p>
          <a:p>
            <a:pPr marL="0" indent="0">
              <a:buNone/>
            </a:pPr>
            <a:endParaRPr lang="en-US" altLang="zh-CN" b="1" u="sng" dirty="0">
              <a:effectLst>
                <a:outerShdw blurRad="38100" dist="38100" dir="2700000" algn="tl">
                  <a:srgbClr val="000000">
                    <a:alpha val="43137"/>
                  </a:srgbClr>
                </a:outerShdw>
              </a:effectLst>
            </a:endParaRPr>
          </a:p>
          <a:p>
            <a:pPr marL="0" indent="0">
              <a:buNone/>
            </a:pPr>
            <a:r>
              <a:rPr lang="en-US" altLang="zh-CN" b="1" u="sng" dirty="0">
                <a:effectLst>
                  <a:outerShdw blurRad="38100" dist="38100" dir="2700000" algn="tl">
                    <a:srgbClr val="000000">
                      <a:alpha val="43137"/>
                    </a:srgbClr>
                  </a:outerShdw>
                </a:effectLst>
              </a:rPr>
              <a:t>Business Rules</a:t>
            </a:r>
          </a:p>
          <a:p>
            <a:r>
              <a:rPr lang="en-US" altLang="zh-CN" dirty="0"/>
              <a:t>A patient can be treated by more than one physician, a physician can treat more than one patient, and one procedure can be applied by more than one physician to many patients.</a:t>
            </a:r>
          </a:p>
        </p:txBody>
      </p:sp>
    </p:spTree>
    <p:extLst>
      <p:ext uri="{BB962C8B-B14F-4D97-AF65-F5344CB8AC3E}">
        <p14:creationId xmlns:p14="http://schemas.microsoft.com/office/powerpoint/2010/main" val="1398943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222E8-6926-96D4-12C8-B76F847EEBAA}"/>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96F95EDF-E71F-6994-EC99-4A72623B202D}"/>
              </a:ext>
            </a:extLst>
          </p:cNvPr>
          <p:cNvSpPr>
            <a:spLocks noGrp="1"/>
          </p:cNvSpPr>
          <p:nvPr>
            <p:ph idx="1"/>
          </p:nvPr>
        </p:nvSpPr>
        <p:spPr>
          <a:xfrm>
            <a:off x="838200" y="301625"/>
            <a:ext cx="10515599" cy="6384310"/>
          </a:xfrm>
        </p:spPr>
        <p:txBody>
          <a:bodyPr>
            <a:normAutofit/>
          </a:bodyPr>
          <a:lstStyle/>
          <a:p>
            <a:pPr marL="0" indent="0">
              <a:buNone/>
            </a:pPr>
            <a:r>
              <a:rPr lang="en-US" altLang="zh-CN" b="1" u="sng" dirty="0">
                <a:effectLst>
                  <a:outerShdw blurRad="38100" dist="38100" dir="2700000" algn="tl">
                    <a:srgbClr val="000000">
                      <a:alpha val="43137"/>
                    </a:srgbClr>
                  </a:outerShdw>
                </a:effectLst>
              </a:rPr>
              <a:t>Business Rules</a:t>
            </a:r>
          </a:p>
          <a:p>
            <a:r>
              <a:rPr lang="en-US" altLang="zh-CN" dirty="0"/>
              <a:t>A patient can be treated by more than one physician, a physician can treat more than one patient, and one procedure can be applied by more than one physician to many patients.</a:t>
            </a:r>
          </a:p>
          <a:p>
            <a:pPr marL="0" indent="0">
              <a:buNone/>
            </a:pPr>
            <a:r>
              <a:rPr lang="en-US" altLang="zh-CN" b="1" u="sng" dirty="0">
                <a:effectLst>
                  <a:outerShdw blurRad="38100" dist="38100" dir="2700000" algn="tl">
                    <a:srgbClr val="000000">
                      <a:alpha val="43137"/>
                    </a:srgbClr>
                  </a:outerShdw>
                </a:effectLst>
              </a:rPr>
              <a:t>Solutions</a:t>
            </a:r>
          </a:p>
          <a:p>
            <a:r>
              <a:rPr lang="en-US" altLang="zh-CN" dirty="0"/>
              <a:t>For problem 4, we have converted the many-to-many relation to many-to-one relation by creating a new </a:t>
            </a:r>
            <a:r>
              <a:rPr lang="en-US" altLang="zh-CN" dirty="0">
                <a:solidFill>
                  <a:srgbClr val="FF0000"/>
                </a:solidFill>
              </a:rPr>
              <a:t>Associative Entity</a:t>
            </a:r>
            <a:r>
              <a:rPr lang="en-US" altLang="zh-CN" dirty="0"/>
              <a:t>. We'll do something similar in this problem as well. </a:t>
            </a:r>
          </a:p>
          <a:p>
            <a:r>
              <a:rPr lang="en-US" altLang="zh-CN" dirty="0"/>
              <a:t>Specifically, we call the </a:t>
            </a:r>
            <a:r>
              <a:rPr lang="en-US" altLang="zh-CN" dirty="0">
                <a:solidFill>
                  <a:srgbClr val="FF0000"/>
                </a:solidFill>
              </a:rPr>
              <a:t>Associative Entity </a:t>
            </a:r>
            <a:r>
              <a:rPr lang="en-US" altLang="zh-CN" b="1" dirty="0" err="1"/>
              <a:t>Patient_Management</a:t>
            </a:r>
            <a:r>
              <a:rPr lang="en-US" altLang="zh-CN" dirty="0"/>
              <a:t>. The primary keys for this entity that will keep every row unique are </a:t>
            </a:r>
            <a:r>
              <a:rPr lang="en-US" altLang="zh-CN" dirty="0" err="1"/>
              <a:t>Physician_ID</a:t>
            </a:r>
            <a:r>
              <a:rPr lang="en-US" altLang="zh-CN" dirty="0"/>
              <a:t>, </a:t>
            </a:r>
            <a:r>
              <a:rPr lang="en-US" altLang="zh-CN" dirty="0" err="1"/>
              <a:t>Patient_ID</a:t>
            </a:r>
            <a:r>
              <a:rPr lang="en-US" altLang="zh-CN" dirty="0"/>
              <a:t>, </a:t>
            </a:r>
            <a:r>
              <a:rPr lang="en-US" altLang="zh-CN" dirty="0" err="1"/>
              <a:t>Procedure_ID</a:t>
            </a:r>
            <a:r>
              <a:rPr lang="en-US" altLang="zh-CN" dirty="0"/>
              <a:t>, Date, Time.</a:t>
            </a:r>
          </a:p>
          <a:p>
            <a:r>
              <a:rPr lang="en-US" altLang="zh-CN" dirty="0"/>
              <a:t>That is to say, </a:t>
            </a:r>
            <a:r>
              <a:rPr lang="en-US" altLang="zh-CN" b="1" dirty="0"/>
              <a:t>one physician can treat one patient with one procedure on a certain date and at a particular time</a:t>
            </a:r>
            <a:r>
              <a:rPr lang="en-US" altLang="zh-CN" dirty="0"/>
              <a:t>.</a:t>
            </a:r>
          </a:p>
        </p:txBody>
      </p:sp>
    </p:spTree>
    <p:extLst>
      <p:ext uri="{BB962C8B-B14F-4D97-AF65-F5344CB8AC3E}">
        <p14:creationId xmlns:p14="http://schemas.microsoft.com/office/powerpoint/2010/main" val="717972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33F78-A3E0-20AC-99D2-4177366904B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93F79EF-9FCE-ED49-C0A2-E61204348411}"/>
              </a:ext>
            </a:extLst>
          </p:cNvPr>
          <p:cNvSpPr>
            <a:spLocks noGrp="1"/>
          </p:cNvSpPr>
          <p:nvPr>
            <p:ph type="title"/>
          </p:nvPr>
        </p:nvSpPr>
        <p:spPr>
          <a:xfrm>
            <a:off x="838200" y="365125"/>
            <a:ext cx="11353800" cy="1325563"/>
          </a:xfrm>
        </p:spPr>
        <p:txBody>
          <a:bodyPr/>
          <a:lstStyle/>
          <a:p>
            <a:r>
              <a:rPr lang="en-US" altLang="zh-CN" b="1" dirty="0">
                <a:effectLst>
                  <a:outerShdw blurRad="38100" dist="38100" dir="2700000" algn="tl">
                    <a:srgbClr val="000000">
                      <a:alpha val="43137"/>
                    </a:srgbClr>
                  </a:outerShdw>
                </a:effectLst>
              </a:rPr>
              <a:t>Practice time</a:t>
            </a:r>
            <a:endParaRPr lang="zh-CN" altLang="en-US" dirty="0">
              <a:effectLst>
                <a:outerShdw blurRad="38100" dist="38100" dir="2700000" algn="tl">
                  <a:srgbClr val="000000">
                    <a:alpha val="43137"/>
                  </a:srgbClr>
                </a:outerShdw>
              </a:effectLst>
            </a:endParaRPr>
          </a:p>
        </p:txBody>
      </p:sp>
      <p:sp>
        <p:nvSpPr>
          <p:cNvPr id="3" name="内容占位符 2">
            <a:extLst>
              <a:ext uri="{FF2B5EF4-FFF2-40B4-BE49-F238E27FC236}">
                <a16:creationId xmlns:a16="http://schemas.microsoft.com/office/drawing/2014/main" id="{0F582921-7E61-D38E-C73E-308E6CECCF30}"/>
              </a:ext>
            </a:extLst>
          </p:cNvPr>
          <p:cNvSpPr>
            <a:spLocks noGrp="1"/>
          </p:cNvSpPr>
          <p:nvPr>
            <p:ph idx="1"/>
          </p:nvPr>
        </p:nvSpPr>
        <p:spPr>
          <a:xfrm>
            <a:off x="838199" y="1825625"/>
            <a:ext cx="10515599" cy="4351338"/>
          </a:xfrm>
        </p:spPr>
        <p:txBody>
          <a:bodyPr>
            <a:normAutofit/>
          </a:bodyPr>
          <a:lstStyle/>
          <a:p>
            <a:pPr>
              <a:lnSpc>
                <a:spcPct val="100000"/>
              </a:lnSpc>
            </a:pPr>
            <a:r>
              <a:rPr lang="en-US" altLang="zh-CN" dirty="0"/>
              <a:t>We've roughly addressed the first five problems, including how to draw ER diagrams for </a:t>
            </a:r>
            <a:r>
              <a:rPr lang="en-US" altLang="zh-CN" b="1" dirty="0"/>
              <a:t>unary</a:t>
            </a:r>
            <a:r>
              <a:rPr lang="en-US" altLang="zh-CN" dirty="0"/>
              <a:t>, </a:t>
            </a:r>
            <a:r>
              <a:rPr lang="en-US" altLang="zh-CN" b="1" dirty="0"/>
              <a:t>binary</a:t>
            </a:r>
            <a:r>
              <a:rPr lang="en-US" altLang="zh-CN" dirty="0"/>
              <a:t>, and </a:t>
            </a:r>
            <a:r>
              <a:rPr lang="en-US" altLang="zh-CN" b="1" dirty="0"/>
              <a:t>ternary</a:t>
            </a:r>
            <a:r>
              <a:rPr lang="en-US" altLang="zh-CN" dirty="0"/>
              <a:t> relationships…</a:t>
            </a:r>
          </a:p>
          <a:p>
            <a:pPr>
              <a:lnSpc>
                <a:spcPct val="100000"/>
              </a:lnSpc>
            </a:pPr>
            <a:r>
              <a:rPr lang="en-US" altLang="zh-CN" dirty="0"/>
              <a:t>Please use the computers in the lab or your personal laptops to try out the tasks we just covered. </a:t>
            </a:r>
          </a:p>
          <a:p>
            <a:pPr>
              <a:lnSpc>
                <a:spcPct val="100000"/>
              </a:lnSpc>
            </a:pPr>
            <a:r>
              <a:rPr lang="en-US" altLang="zh-CN" dirty="0"/>
              <a:t>We’ll continue with the next part of the experiment </a:t>
            </a:r>
            <a:r>
              <a:rPr lang="en-US" altLang="zh-CN" dirty="0">
                <a:solidFill>
                  <a:srgbClr val="FF0000"/>
                </a:solidFill>
              </a:rPr>
              <a:t>in the next class</a:t>
            </a:r>
            <a:r>
              <a:rPr lang="en-US" altLang="zh-CN" dirty="0"/>
              <a:t>.</a:t>
            </a:r>
          </a:p>
        </p:txBody>
      </p:sp>
    </p:spTree>
    <p:extLst>
      <p:ext uri="{BB962C8B-B14F-4D97-AF65-F5344CB8AC3E}">
        <p14:creationId xmlns:p14="http://schemas.microsoft.com/office/powerpoint/2010/main" val="1295858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39C35-CEF9-9B30-424C-D549B0CF565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8A9967B-D83F-EABA-1E5B-4EA584B35145}"/>
              </a:ext>
            </a:extLst>
          </p:cNvPr>
          <p:cNvSpPr>
            <a:spLocks noGrp="1"/>
          </p:cNvSpPr>
          <p:nvPr>
            <p:ph type="title"/>
          </p:nvPr>
        </p:nvSpPr>
        <p:spPr>
          <a:xfrm>
            <a:off x="838200" y="365125"/>
            <a:ext cx="11353800" cy="1325563"/>
          </a:xfrm>
        </p:spPr>
        <p:txBody>
          <a:bodyPr/>
          <a:lstStyle/>
          <a:p>
            <a:r>
              <a:rPr lang="en-US" altLang="zh-CN" b="1" i="1" dirty="0"/>
              <a:t>Problem 6. Weak entities</a:t>
            </a:r>
            <a:endParaRPr lang="zh-CN" altLang="en-US" dirty="0"/>
          </a:p>
        </p:txBody>
      </p:sp>
      <p:sp>
        <p:nvSpPr>
          <p:cNvPr id="3" name="内容占位符 2">
            <a:extLst>
              <a:ext uri="{FF2B5EF4-FFF2-40B4-BE49-F238E27FC236}">
                <a16:creationId xmlns:a16="http://schemas.microsoft.com/office/drawing/2014/main" id="{DD622FAF-BD1B-E94E-EB29-533617649661}"/>
              </a:ext>
            </a:extLst>
          </p:cNvPr>
          <p:cNvSpPr>
            <a:spLocks noGrp="1"/>
          </p:cNvSpPr>
          <p:nvPr>
            <p:ph idx="1"/>
          </p:nvPr>
        </p:nvSpPr>
        <p:spPr>
          <a:xfrm>
            <a:off x="838199" y="1825625"/>
            <a:ext cx="10515599" cy="4351338"/>
          </a:xfrm>
        </p:spPr>
        <p:txBody>
          <a:bodyPr>
            <a:normAutofit/>
          </a:bodyPr>
          <a:lstStyle/>
          <a:p>
            <a:r>
              <a:rPr lang="en-US" altLang="zh-CN" b="1" dirty="0"/>
              <a:t>A weak entity is an entity that does not exist without a strong entity</a:t>
            </a:r>
            <a:r>
              <a:rPr lang="en-US" altLang="zh-CN" dirty="0"/>
              <a:t>. </a:t>
            </a:r>
          </a:p>
          <a:p>
            <a:r>
              <a:rPr lang="en-US" altLang="zh-CN" dirty="0"/>
              <a:t>For example, if an employee does not exist then his/her dependents do not exist, but an employee can exist without any dependents. </a:t>
            </a:r>
          </a:p>
          <a:p>
            <a:r>
              <a:rPr lang="en-US" altLang="zh-CN" dirty="0"/>
              <a:t>In this case </a:t>
            </a:r>
            <a:r>
              <a:rPr lang="en-US" altLang="zh-CN" b="1" dirty="0"/>
              <a:t>dependents are weak entities </a:t>
            </a:r>
            <a:r>
              <a:rPr lang="en-US" altLang="zh-CN" dirty="0"/>
              <a:t>and employee is a strong entity. </a:t>
            </a:r>
          </a:p>
          <a:p>
            <a:r>
              <a:rPr lang="en-US" altLang="zh-CN" dirty="0"/>
              <a:t>We have shown how to create a strong entity before, next we walk through how to draw a </a:t>
            </a:r>
            <a:r>
              <a:rPr lang="en-US" altLang="zh-CN" b="1" dirty="0"/>
              <a:t>weak entity</a:t>
            </a:r>
            <a:r>
              <a:rPr lang="en-US" altLang="zh-CN" dirty="0"/>
              <a:t>.</a:t>
            </a:r>
          </a:p>
        </p:txBody>
      </p:sp>
    </p:spTree>
    <p:extLst>
      <p:ext uri="{BB962C8B-B14F-4D97-AF65-F5344CB8AC3E}">
        <p14:creationId xmlns:p14="http://schemas.microsoft.com/office/powerpoint/2010/main" val="3872538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DAF90-5534-85F5-8451-DB56CF3B105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E279315-1B78-21E4-9F77-E023D54265F0}"/>
              </a:ext>
            </a:extLst>
          </p:cNvPr>
          <p:cNvSpPr>
            <a:spLocks noGrp="1"/>
          </p:cNvSpPr>
          <p:nvPr>
            <p:ph type="title"/>
          </p:nvPr>
        </p:nvSpPr>
        <p:spPr>
          <a:xfrm>
            <a:off x="838200" y="365125"/>
            <a:ext cx="11353800" cy="1325563"/>
          </a:xfrm>
        </p:spPr>
        <p:txBody>
          <a:bodyPr/>
          <a:lstStyle/>
          <a:p>
            <a:r>
              <a:rPr lang="en-US" altLang="zh-CN" b="1" i="1" dirty="0"/>
              <a:t>Problem 7. Composite attribute</a:t>
            </a:r>
            <a:endParaRPr lang="zh-CN" altLang="en-US" dirty="0"/>
          </a:p>
        </p:txBody>
      </p:sp>
      <p:sp>
        <p:nvSpPr>
          <p:cNvPr id="3" name="内容占位符 2">
            <a:extLst>
              <a:ext uri="{FF2B5EF4-FFF2-40B4-BE49-F238E27FC236}">
                <a16:creationId xmlns:a16="http://schemas.microsoft.com/office/drawing/2014/main" id="{0DD424C5-DB03-DAFF-F430-7DB801977A0C}"/>
              </a:ext>
            </a:extLst>
          </p:cNvPr>
          <p:cNvSpPr>
            <a:spLocks noGrp="1"/>
          </p:cNvSpPr>
          <p:nvPr>
            <p:ph idx="1"/>
          </p:nvPr>
        </p:nvSpPr>
        <p:spPr>
          <a:xfrm>
            <a:off x="838199" y="1825625"/>
            <a:ext cx="10515599" cy="4351338"/>
          </a:xfrm>
        </p:spPr>
        <p:txBody>
          <a:bodyPr>
            <a:normAutofit/>
          </a:bodyPr>
          <a:lstStyle/>
          <a:p>
            <a:r>
              <a:rPr lang="en-US" altLang="zh-CN" dirty="0"/>
              <a:t>In this case, we will use EMPLOYEE as our entity. </a:t>
            </a:r>
          </a:p>
          <a:p>
            <a:r>
              <a:rPr lang="en-US" altLang="zh-CN" dirty="0"/>
              <a:t>Attributes for this entity are </a:t>
            </a:r>
            <a:r>
              <a:rPr lang="en-US" altLang="zh-CN" dirty="0" err="1"/>
              <a:t>Employee_ID</a:t>
            </a:r>
            <a:r>
              <a:rPr lang="en-US" altLang="zh-CN" dirty="0"/>
              <a:t>, </a:t>
            </a:r>
            <a:r>
              <a:rPr lang="en-US" altLang="zh-CN" dirty="0" err="1"/>
              <a:t>Employee_Name</a:t>
            </a:r>
            <a:r>
              <a:rPr lang="en-US" altLang="zh-CN" dirty="0"/>
              <a:t> and </a:t>
            </a:r>
            <a:r>
              <a:rPr lang="en-US" altLang="zh-CN" dirty="0" err="1"/>
              <a:t>Hire_Date</a:t>
            </a:r>
            <a:r>
              <a:rPr lang="en-US" altLang="zh-CN" dirty="0"/>
              <a:t>. </a:t>
            </a:r>
            <a:r>
              <a:rPr lang="en-US" altLang="zh-CN" b="1" dirty="0" err="1"/>
              <a:t>Employee_Name</a:t>
            </a:r>
            <a:r>
              <a:rPr lang="en-US" altLang="zh-CN" b="1" dirty="0"/>
              <a:t> is a composite attribute</a:t>
            </a:r>
            <a:r>
              <a:rPr lang="en-US" altLang="zh-CN" dirty="0"/>
              <a:t>. </a:t>
            </a:r>
          </a:p>
          <a:p>
            <a:r>
              <a:rPr lang="en-US" altLang="zh-CN" dirty="0"/>
              <a:t>It can be further broken down into First Name, Middle Name and Last Name attributes.</a:t>
            </a:r>
          </a:p>
        </p:txBody>
      </p:sp>
    </p:spTree>
    <p:extLst>
      <p:ext uri="{BB962C8B-B14F-4D97-AF65-F5344CB8AC3E}">
        <p14:creationId xmlns:p14="http://schemas.microsoft.com/office/powerpoint/2010/main" val="3555351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EB26E-97B2-ADB6-783B-5968E3E9334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0866D61-EBCA-FCDE-8785-6301AD0325BC}"/>
              </a:ext>
            </a:extLst>
          </p:cNvPr>
          <p:cNvSpPr>
            <a:spLocks noGrp="1"/>
          </p:cNvSpPr>
          <p:nvPr>
            <p:ph type="title"/>
          </p:nvPr>
        </p:nvSpPr>
        <p:spPr>
          <a:xfrm>
            <a:off x="838200" y="365125"/>
            <a:ext cx="11353800" cy="1325563"/>
          </a:xfrm>
        </p:spPr>
        <p:txBody>
          <a:bodyPr/>
          <a:lstStyle/>
          <a:p>
            <a:r>
              <a:rPr lang="en-US" altLang="zh-CN" b="1" i="1" dirty="0"/>
              <a:t>Problem 8. Multivalued attribute</a:t>
            </a:r>
            <a:endParaRPr lang="zh-CN" altLang="en-US" dirty="0"/>
          </a:p>
        </p:txBody>
      </p:sp>
      <p:sp>
        <p:nvSpPr>
          <p:cNvPr id="3" name="内容占位符 2">
            <a:extLst>
              <a:ext uri="{FF2B5EF4-FFF2-40B4-BE49-F238E27FC236}">
                <a16:creationId xmlns:a16="http://schemas.microsoft.com/office/drawing/2014/main" id="{D2A1DDAE-36D7-A13C-223A-B967D097D755}"/>
              </a:ext>
            </a:extLst>
          </p:cNvPr>
          <p:cNvSpPr>
            <a:spLocks noGrp="1"/>
          </p:cNvSpPr>
          <p:nvPr>
            <p:ph idx="1"/>
          </p:nvPr>
        </p:nvSpPr>
        <p:spPr>
          <a:xfrm>
            <a:off x="838199" y="1825625"/>
            <a:ext cx="10515599" cy="4351338"/>
          </a:xfrm>
        </p:spPr>
        <p:txBody>
          <a:bodyPr>
            <a:normAutofit/>
          </a:bodyPr>
          <a:lstStyle/>
          <a:p>
            <a:r>
              <a:rPr lang="en-US" altLang="zh-CN" dirty="0"/>
              <a:t>Employee phone numbers is a multivalued attribute.</a:t>
            </a:r>
          </a:p>
          <a:p>
            <a:r>
              <a:rPr lang="en-US" altLang="zh-CN" dirty="0"/>
              <a:t>We just represented the multivalued attribute with a pair of curly brackets.</a:t>
            </a:r>
          </a:p>
        </p:txBody>
      </p:sp>
    </p:spTree>
    <p:extLst>
      <p:ext uri="{BB962C8B-B14F-4D97-AF65-F5344CB8AC3E}">
        <p14:creationId xmlns:p14="http://schemas.microsoft.com/office/powerpoint/2010/main" val="292453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3230BF-66F0-BDBB-B993-513B8A1D7638}"/>
              </a:ext>
            </a:extLst>
          </p:cNvPr>
          <p:cNvSpPr>
            <a:spLocks noGrp="1"/>
          </p:cNvSpPr>
          <p:nvPr>
            <p:ph type="title"/>
          </p:nvPr>
        </p:nvSpPr>
        <p:spPr/>
        <p:txBody>
          <a:bodyPr/>
          <a:lstStyle/>
          <a:p>
            <a:r>
              <a:rPr lang="en-US" altLang="zh-CN" b="1" i="1" dirty="0"/>
              <a:t>Problem 9: Superclass and subclasses</a:t>
            </a:r>
            <a:endParaRPr lang="zh-CN" altLang="en-US" dirty="0"/>
          </a:p>
        </p:txBody>
      </p:sp>
      <p:sp>
        <p:nvSpPr>
          <p:cNvPr id="3" name="内容占位符 2">
            <a:extLst>
              <a:ext uri="{FF2B5EF4-FFF2-40B4-BE49-F238E27FC236}">
                <a16:creationId xmlns:a16="http://schemas.microsoft.com/office/drawing/2014/main" id="{6A836C89-21A6-A9C3-F688-4EA3077A15D5}"/>
              </a:ext>
            </a:extLst>
          </p:cNvPr>
          <p:cNvSpPr>
            <a:spLocks noGrp="1"/>
          </p:cNvSpPr>
          <p:nvPr>
            <p:ph idx="1"/>
          </p:nvPr>
        </p:nvSpPr>
        <p:spPr/>
        <p:txBody>
          <a:bodyPr>
            <a:normAutofit/>
          </a:bodyPr>
          <a:lstStyle/>
          <a:p>
            <a:pPr marL="0" indent="0">
              <a:buNone/>
            </a:pPr>
            <a:r>
              <a:rPr lang="en-US" altLang="zh-CN" b="1" u="sng" dirty="0">
                <a:effectLst>
                  <a:outerShdw blurRad="38100" dist="38100" dir="2700000" algn="tl">
                    <a:srgbClr val="000000">
                      <a:alpha val="43137"/>
                    </a:srgbClr>
                  </a:outerShdw>
                </a:effectLst>
              </a:rPr>
              <a:t>Business Rules</a:t>
            </a:r>
          </a:p>
          <a:p>
            <a:r>
              <a:rPr lang="en-US" altLang="zh-CN" dirty="0"/>
              <a:t>There are a number of researchers in a team. Researchers are mainly composed of supervisors, clinicians, and programmers. </a:t>
            </a:r>
            <a:r>
              <a:rPr lang="en-US" altLang="zh-CN" b="1" dirty="0"/>
              <a:t>Each employee can have only one classification</a:t>
            </a:r>
            <a:r>
              <a:rPr lang="en-US" altLang="zh-CN" dirty="0"/>
              <a:t>. </a:t>
            </a:r>
          </a:p>
          <a:p>
            <a:r>
              <a:rPr lang="en-US" altLang="zh-CN" dirty="0"/>
              <a:t>For all researchers, we store the employee ID, name, office room number, and office phone number.</a:t>
            </a:r>
          </a:p>
        </p:txBody>
      </p:sp>
    </p:spTree>
    <p:extLst>
      <p:ext uri="{BB962C8B-B14F-4D97-AF65-F5344CB8AC3E}">
        <p14:creationId xmlns:p14="http://schemas.microsoft.com/office/powerpoint/2010/main" val="2317589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38E90-48AC-05E3-A9B4-DF3EEE81FFA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1B7ECFE-874A-C536-BF0F-2DEC3B6AEEC9}"/>
              </a:ext>
            </a:extLst>
          </p:cNvPr>
          <p:cNvSpPr>
            <a:spLocks noGrp="1"/>
          </p:cNvSpPr>
          <p:nvPr>
            <p:ph type="title"/>
          </p:nvPr>
        </p:nvSpPr>
        <p:spPr/>
        <p:txBody>
          <a:bodyPr/>
          <a:lstStyle/>
          <a:p>
            <a:r>
              <a:rPr lang="en-US" altLang="zh-CN" b="1" i="1" dirty="0"/>
              <a:t>Problem 9: Superclass and subclasses</a:t>
            </a:r>
            <a:endParaRPr lang="zh-CN" altLang="en-US" dirty="0"/>
          </a:p>
        </p:txBody>
      </p:sp>
      <p:sp>
        <p:nvSpPr>
          <p:cNvPr id="3" name="内容占位符 2">
            <a:extLst>
              <a:ext uri="{FF2B5EF4-FFF2-40B4-BE49-F238E27FC236}">
                <a16:creationId xmlns:a16="http://schemas.microsoft.com/office/drawing/2014/main" id="{86B79B25-7127-56D6-C8D6-516BD74D246F}"/>
              </a:ext>
            </a:extLst>
          </p:cNvPr>
          <p:cNvSpPr>
            <a:spLocks noGrp="1"/>
          </p:cNvSpPr>
          <p:nvPr>
            <p:ph idx="1"/>
          </p:nvPr>
        </p:nvSpPr>
        <p:spPr/>
        <p:txBody>
          <a:bodyPr>
            <a:normAutofit/>
          </a:bodyPr>
          <a:lstStyle/>
          <a:p>
            <a:pPr marL="0" indent="0">
              <a:buNone/>
            </a:pPr>
            <a:r>
              <a:rPr lang="en-US" altLang="zh-CN" b="1" u="sng" dirty="0">
                <a:effectLst>
                  <a:outerShdw blurRad="38100" dist="38100" dir="2700000" algn="tl">
                    <a:srgbClr val="000000">
                      <a:alpha val="43137"/>
                    </a:srgbClr>
                  </a:outerShdw>
                </a:effectLst>
              </a:rPr>
              <a:t>Business Rules</a:t>
            </a:r>
          </a:p>
          <a:p>
            <a:r>
              <a:rPr lang="en-US" altLang="zh-CN" dirty="0"/>
              <a:t>A supervisor usually supervises several clinicians and/or programmers and some other research staff, but each researcher is supervised by only one supervisor. </a:t>
            </a:r>
          </a:p>
          <a:p>
            <a:r>
              <a:rPr lang="en-US" altLang="zh-CN" dirty="0"/>
              <a:t>We would also like to store the supervisor</a:t>
            </a:r>
            <a:r>
              <a:rPr lang="zh-CN" altLang="zh-CN" dirty="0"/>
              <a:t>’</a:t>
            </a:r>
            <a:r>
              <a:rPr lang="en-US" altLang="zh-CN" dirty="0"/>
              <a:t>s research interest, the clinician</a:t>
            </a:r>
            <a:r>
              <a:rPr lang="zh-CN" altLang="zh-CN" dirty="0"/>
              <a:t>’</a:t>
            </a:r>
            <a:r>
              <a:rPr lang="en-US" altLang="zh-CN" dirty="0"/>
              <a:t>s level, and the programmer</a:t>
            </a:r>
            <a:r>
              <a:rPr lang="zh-CN" altLang="zh-CN" dirty="0"/>
              <a:t>’</a:t>
            </a:r>
            <a:r>
              <a:rPr lang="en-US" altLang="zh-CN" dirty="0"/>
              <a:t>s years of experience. The clinician</a:t>
            </a:r>
            <a:r>
              <a:rPr lang="zh-CN" altLang="zh-CN" dirty="0"/>
              <a:t>’</a:t>
            </a:r>
            <a:r>
              <a:rPr lang="en-US" altLang="zh-CN" dirty="0"/>
              <a:t>s level is denoted by one of I, II, III, IV, and V.</a:t>
            </a:r>
            <a:endParaRPr lang="zh-CN" altLang="en-US" dirty="0"/>
          </a:p>
        </p:txBody>
      </p:sp>
    </p:spTree>
    <p:extLst>
      <p:ext uri="{BB962C8B-B14F-4D97-AF65-F5344CB8AC3E}">
        <p14:creationId xmlns:p14="http://schemas.microsoft.com/office/powerpoint/2010/main" val="1906322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B16CD-3085-ACB5-DBB4-149068A49B5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30A0C9D-5BCC-648B-1A05-F7DD087238BB}"/>
              </a:ext>
            </a:extLst>
          </p:cNvPr>
          <p:cNvSpPr>
            <a:spLocks noGrp="1"/>
          </p:cNvSpPr>
          <p:nvPr>
            <p:ph type="title"/>
          </p:nvPr>
        </p:nvSpPr>
        <p:spPr/>
        <p:txBody>
          <a:bodyPr/>
          <a:lstStyle/>
          <a:p>
            <a:r>
              <a:rPr lang="en-US" altLang="zh-CN" b="1" i="1" dirty="0"/>
              <a:t>Problem 9: Superclass and subclasses</a:t>
            </a:r>
            <a:endParaRPr lang="zh-CN" altLang="en-US" dirty="0"/>
          </a:p>
        </p:txBody>
      </p:sp>
      <p:sp>
        <p:nvSpPr>
          <p:cNvPr id="3" name="内容占位符 2">
            <a:extLst>
              <a:ext uri="{FF2B5EF4-FFF2-40B4-BE49-F238E27FC236}">
                <a16:creationId xmlns:a16="http://schemas.microsoft.com/office/drawing/2014/main" id="{A804BAE4-9014-2F4D-E21B-CCC43962041B}"/>
              </a:ext>
            </a:extLst>
          </p:cNvPr>
          <p:cNvSpPr>
            <a:spLocks noGrp="1"/>
          </p:cNvSpPr>
          <p:nvPr>
            <p:ph idx="1"/>
          </p:nvPr>
        </p:nvSpPr>
        <p:spPr/>
        <p:txBody>
          <a:bodyPr>
            <a:normAutofit/>
          </a:bodyPr>
          <a:lstStyle/>
          <a:p>
            <a:pPr marL="0" indent="0">
              <a:buNone/>
            </a:pPr>
            <a:r>
              <a:rPr lang="en-US" altLang="zh-CN" b="1" dirty="0"/>
              <a:t>Step 1</a:t>
            </a:r>
            <a:r>
              <a:rPr lang="en-US" altLang="zh-CN" dirty="0"/>
              <a:t>. Create the superclass entity, namely RESEARCHER.</a:t>
            </a:r>
          </a:p>
          <a:p>
            <a:pPr marL="0" indent="0">
              <a:buNone/>
            </a:pPr>
            <a:r>
              <a:rPr lang="en-US" altLang="zh-CN" b="1" dirty="0"/>
              <a:t>Step 2</a:t>
            </a:r>
            <a:r>
              <a:rPr lang="en-US" altLang="zh-CN" dirty="0"/>
              <a:t>. Create 3 subclasses, namely SUPERVISOR, CLINICIAN and PROGRAMMER.</a:t>
            </a:r>
          </a:p>
          <a:p>
            <a:pPr marL="0" indent="0">
              <a:buNone/>
            </a:pPr>
            <a:r>
              <a:rPr lang="en-US" altLang="zh-CN" b="1" dirty="0"/>
              <a:t>Step 3</a:t>
            </a:r>
            <a:r>
              <a:rPr lang="en-US" altLang="zh-CN" dirty="0"/>
              <a:t>. Add the appropriate relationships between superclass and subclasses.</a:t>
            </a:r>
            <a:endParaRPr lang="zh-CN" altLang="en-US" dirty="0"/>
          </a:p>
        </p:txBody>
      </p:sp>
      <p:sp>
        <p:nvSpPr>
          <p:cNvPr id="4" name="矩形 3">
            <a:extLst>
              <a:ext uri="{FF2B5EF4-FFF2-40B4-BE49-F238E27FC236}">
                <a16:creationId xmlns:a16="http://schemas.microsoft.com/office/drawing/2014/main" id="{E2DFB86E-7269-1881-AF69-83BC85C0FE91}"/>
              </a:ext>
            </a:extLst>
          </p:cNvPr>
          <p:cNvSpPr/>
          <p:nvPr/>
        </p:nvSpPr>
        <p:spPr>
          <a:xfrm>
            <a:off x="937853" y="4931313"/>
            <a:ext cx="9844362" cy="923330"/>
          </a:xfrm>
          <a:prstGeom prst="rect">
            <a:avLst/>
          </a:prstGeom>
          <a:noFill/>
        </p:spPr>
        <p:txBody>
          <a:bodyPr wrap="none" lIns="91440" tIns="45720" rIns="91440" bIns="45720">
            <a:spAutoFit/>
          </a:bodyPr>
          <a:lstStyle/>
          <a:p>
            <a:pPr algn="ctr"/>
            <a:r>
              <a:rPr lang="en-US" altLang="zh-CN" sz="5400" dirty="0">
                <a:ln w="0"/>
                <a:solidFill>
                  <a:schemeClr val="accent1"/>
                </a:solidFill>
                <a:effectLst>
                  <a:outerShdw blurRad="38100" dist="25400" dir="5400000" algn="ctr" rotWithShape="0">
                    <a:srgbClr val="6E747A">
                      <a:alpha val="43000"/>
                    </a:srgbClr>
                  </a:outerShdw>
                </a:effectLst>
              </a:rPr>
              <a:t>Let’s consider another scenario…</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414394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54ECB-A9EA-A918-2730-3A2D63B280C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A38B19F-8BFB-E091-06AB-270A497916D7}"/>
              </a:ext>
            </a:extLst>
          </p:cNvPr>
          <p:cNvSpPr>
            <a:spLocks noGrp="1"/>
          </p:cNvSpPr>
          <p:nvPr>
            <p:ph type="title"/>
          </p:nvPr>
        </p:nvSpPr>
        <p:spPr/>
        <p:txBody>
          <a:bodyPr/>
          <a:lstStyle/>
          <a:p>
            <a:r>
              <a:rPr lang="en-US" altLang="zh-CN" b="1" i="1" dirty="0"/>
              <a:t>Problem 9: Superclass and subclasses</a:t>
            </a:r>
            <a:endParaRPr lang="zh-CN" altLang="en-US" dirty="0"/>
          </a:p>
        </p:txBody>
      </p:sp>
      <p:sp>
        <p:nvSpPr>
          <p:cNvPr id="3" name="内容占位符 2">
            <a:extLst>
              <a:ext uri="{FF2B5EF4-FFF2-40B4-BE49-F238E27FC236}">
                <a16:creationId xmlns:a16="http://schemas.microsoft.com/office/drawing/2014/main" id="{BD812D3A-BF6E-319F-D7F2-FE010765A41D}"/>
              </a:ext>
            </a:extLst>
          </p:cNvPr>
          <p:cNvSpPr>
            <a:spLocks noGrp="1"/>
          </p:cNvSpPr>
          <p:nvPr>
            <p:ph idx="1"/>
          </p:nvPr>
        </p:nvSpPr>
        <p:spPr>
          <a:xfrm>
            <a:off x="838200" y="1825625"/>
            <a:ext cx="10515600" cy="4850478"/>
          </a:xfrm>
        </p:spPr>
        <p:txBody>
          <a:bodyPr>
            <a:normAutofit fontScale="92500" lnSpcReduction="10000"/>
          </a:bodyPr>
          <a:lstStyle/>
          <a:p>
            <a:pPr marL="0" indent="0">
              <a:lnSpc>
                <a:spcPct val="110000"/>
              </a:lnSpc>
              <a:buNone/>
            </a:pPr>
            <a:r>
              <a:rPr lang="en-US" altLang="zh-CN" b="1" u="sng" dirty="0">
                <a:effectLst>
                  <a:outerShdw blurRad="38100" dist="38100" dir="2700000" algn="tl">
                    <a:srgbClr val="000000">
                      <a:alpha val="43137"/>
                    </a:srgbClr>
                  </a:outerShdw>
                </a:effectLst>
              </a:rPr>
              <a:t>Business Rules</a:t>
            </a:r>
          </a:p>
          <a:p>
            <a:pPr>
              <a:lnSpc>
                <a:spcPct val="110000"/>
              </a:lnSpc>
            </a:pPr>
            <a:r>
              <a:rPr lang="en-US" altLang="zh-CN" dirty="0"/>
              <a:t>There are a number of researchers in a team. Researchers are mainly composed of supervisors, clinicians, and programmers. </a:t>
            </a:r>
            <a:r>
              <a:rPr lang="en-US" altLang="zh-CN" b="1" dirty="0"/>
              <a:t>Each employee can have one or more classification</a:t>
            </a:r>
            <a:r>
              <a:rPr lang="en-US" altLang="zh-CN" dirty="0"/>
              <a:t>. </a:t>
            </a:r>
          </a:p>
          <a:p>
            <a:pPr>
              <a:lnSpc>
                <a:spcPct val="110000"/>
              </a:lnSpc>
            </a:pPr>
            <a:r>
              <a:rPr lang="en-US" altLang="zh-CN" dirty="0"/>
              <a:t>For all researchers, we store the employee ID, name, office room number, and office phone number.</a:t>
            </a:r>
          </a:p>
          <a:p>
            <a:pPr>
              <a:lnSpc>
                <a:spcPct val="110000"/>
              </a:lnSpc>
            </a:pPr>
            <a:endParaRPr lang="en-US" altLang="zh-CN" dirty="0"/>
          </a:p>
          <a:p>
            <a:pPr marL="0" indent="0">
              <a:lnSpc>
                <a:spcPct val="110000"/>
              </a:lnSpc>
              <a:buNone/>
            </a:pPr>
            <a:r>
              <a:rPr lang="en-US" altLang="zh-CN" b="1" u="sng" dirty="0">
                <a:effectLst>
                  <a:outerShdw blurRad="38100" dist="38100" dir="2700000" algn="tl">
                    <a:srgbClr val="000000">
                      <a:alpha val="43137"/>
                    </a:srgbClr>
                  </a:outerShdw>
                </a:effectLst>
              </a:rPr>
              <a:t>Solution</a:t>
            </a:r>
          </a:p>
          <a:p>
            <a:pPr>
              <a:lnSpc>
                <a:spcPct val="110000"/>
              </a:lnSpc>
            </a:pPr>
            <a:r>
              <a:rPr lang="en-US" altLang="zh-CN" dirty="0"/>
              <a:t>The discriminator attribute is treated as a composite attribute. Each component is a Boolean variable (Y/N).</a:t>
            </a:r>
          </a:p>
        </p:txBody>
      </p:sp>
    </p:spTree>
    <p:extLst>
      <p:ext uri="{BB962C8B-B14F-4D97-AF65-F5344CB8AC3E}">
        <p14:creationId xmlns:p14="http://schemas.microsoft.com/office/powerpoint/2010/main" val="39603158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05B85-FEAC-97B3-5B96-6271FDCB923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0E58AC0-7410-933B-0491-819DC508F067}"/>
              </a:ext>
            </a:extLst>
          </p:cNvPr>
          <p:cNvSpPr>
            <a:spLocks noGrp="1"/>
          </p:cNvSpPr>
          <p:nvPr>
            <p:ph type="title"/>
          </p:nvPr>
        </p:nvSpPr>
        <p:spPr/>
        <p:txBody>
          <a:bodyPr/>
          <a:lstStyle/>
          <a:p>
            <a:r>
              <a:rPr lang="en-US" altLang="zh-CN" b="1" i="1" dirty="0"/>
              <a:t>Problem 9: Superclass and subclasses</a:t>
            </a:r>
            <a:endParaRPr lang="zh-CN" altLang="en-US" dirty="0"/>
          </a:p>
        </p:txBody>
      </p:sp>
      <p:sp>
        <p:nvSpPr>
          <p:cNvPr id="3" name="内容占位符 2">
            <a:extLst>
              <a:ext uri="{FF2B5EF4-FFF2-40B4-BE49-F238E27FC236}">
                <a16:creationId xmlns:a16="http://schemas.microsoft.com/office/drawing/2014/main" id="{ED64B510-6625-211D-9FB8-5038F2186AC0}"/>
              </a:ext>
            </a:extLst>
          </p:cNvPr>
          <p:cNvSpPr>
            <a:spLocks noGrp="1"/>
          </p:cNvSpPr>
          <p:nvPr>
            <p:ph idx="1"/>
          </p:nvPr>
        </p:nvSpPr>
        <p:spPr/>
        <p:txBody>
          <a:bodyPr>
            <a:normAutofit/>
          </a:bodyPr>
          <a:lstStyle/>
          <a:p>
            <a:pPr marL="0" indent="0">
              <a:buNone/>
            </a:pPr>
            <a:r>
              <a:rPr lang="en-US" altLang="zh-CN" b="1" u="sng" dirty="0">
                <a:effectLst>
                  <a:outerShdw blurRad="38100" dist="38100" dir="2700000" algn="tl">
                    <a:srgbClr val="000000">
                      <a:alpha val="43137"/>
                    </a:srgbClr>
                  </a:outerShdw>
                </a:effectLst>
              </a:rPr>
              <a:t>Summary</a:t>
            </a:r>
          </a:p>
          <a:p>
            <a:r>
              <a:rPr lang="en-US" altLang="zh-CN" b="1" dirty="0"/>
              <a:t>Composite attribute </a:t>
            </a:r>
            <a:r>
              <a:rPr lang="en-US" altLang="zh-CN" dirty="0"/>
              <a:t>such as Name or CLASSIFICATION under an overlap condition: </a:t>
            </a:r>
            <a:r>
              <a:rPr lang="en-US" altLang="zh-CN" dirty="0">
                <a:solidFill>
                  <a:srgbClr val="FF0000"/>
                </a:solidFill>
              </a:rPr>
              <a:t>() Round brackets</a:t>
            </a:r>
            <a:endParaRPr lang="zh-CN" altLang="zh-CN" dirty="0">
              <a:solidFill>
                <a:srgbClr val="FF0000"/>
              </a:solidFill>
            </a:endParaRPr>
          </a:p>
          <a:p>
            <a:r>
              <a:rPr lang="en-US" altLang="zh-CN" b="1" dirty="0"/>
              <a:t>Multivalued attribute </a:t>
            </a:r>
            <a:r>
              <a:rPr lang="en-US" altLang="zh-CN" dirty="0"/>
              <a:t>such as phone number: </a:t>
            </a:r>
            <a:r>
              <a:rPr lang="en-US" altLang="zh-CN" dirty="0">
                <a:solidFill>
                  <a:srgbClr val="FF0000"/>
                </a:solidFill>
              </a:rPr>
              <a:t>{ } Curly brackets</a:t>
            </a:r>
            <a:endParaRPr lang="zh-CN" altLang="zh-CN" dirty="0">
              <a:solidFill>
                <a:srgbClr val="FF0000"/>
              </a:solidFill>
            </a:endParaRPr>
          </a:p>
          <a:p>
            <a:r>
              <a:rPr lang="en-US" altLang="zh-CN" b="1" dirty="0"/>
              <a:t>Pre-defined value </a:t>
            </a:r>
            <a:r>
              <a:rPr lang="en-US" altLang="zh-CN" dirty="0"/>
              <a:t>such as Clinician level: </a:t>
            </a:r>
            <a:r>
              <a:rPr lang="en-US" altLang="zh-CN" dirty="0">
                <a:solidFill>
                  <a:srgbClr val="FF0000"/>
                </a:solidFill>
              </a:rPr>
              <a:t>[ ] Square brackets</a:t>
            </a:r>
            <a:endParaRPr lang="zh-CN" altLang="zh-CN" dirty="0">
              <a:solidFill>
                <a:srgbClr val="FF0000"/>
              </a:solidFill>
            </a:endParaRPr>
          </a:p>
          <a:p>
            <a:r>
              <a:rPr lang="en-US" altLang="zh-CN" b="1" dirty="0"/>
              <a:t>Discriminator attribute </a:t>
            </a:r>
            <a:r>
              <a:rPr lang="en-US" altLang="zh-CN" dirty="0"/>
              <a:t>such as CLASSIFICATION under a disjoint condition: </a:t>
            </a:r>
            <a:r>
              <a:rPr lang="en-US" altLang="zh-CN" dirty="0">
                <a:solidFill>
                  <a:srgbClr val="FF0000"/>
                </a:solidFill>
              </a:rPr>
              <a:t>No brackets </a:t>
            </a:r>
            <a:endParaRPr lang="zh-CN" altLang="zh-CN" dirty="0">
              <a:solidFill>
                <a:srgbClr val="FF0000"/>
              </a:solidFill>
            </a:endParaRPr>
          </a:p>
        </p:txBody>
      </p:sp>
    </p:spTree>
    <p:extLst>
      <p:ext uri="{BB962C8B-B14F-4D97-AF65-F5344CB8AC3E}">
        <p14:creationId xmlns:p14="http://schemas.microsoft.com/office/powerpoint/2010/main" val="3920875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37797-28C1-7249-C856-4277076164D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F0844EF-9F45-FFFE-DE4C-3B265963B9AF}"/>
              </a:ext>
            </a:extLst>
          </p:cNvPr>
          <p:cNvSpPr>
            <a:spLocks noGrp="1"/>
          </p:cNvSpPr>
          <p:nvPr>
            <p:ph type="title"/>
          </p:nvPr>
        </p:nvSpPr>
        <p:spPr>
          <a:xfrm>
            <a:off x="838200" y="365125"/>
            <a:ext cx="11353800" cy="1325563"/>
          </a:xfrm>
        </p:spPr>
        <p:txBody>
          <a:bodyPr/>
          <a:lstStyle/>
          <a:p>
            <a:r>
              <a:rPr lang="en-US" altLang="zh-CN" b="1" dirty="0">
                <a:effectLst>
                  <a:outerShdw blurRad="38100" dist="38100" dir="2700000" algn="tl">
                    <a:srgbClr val="000000">
                      <a:alpha val="43137"/>
                    </a:srgbClr>
                  </a:outerShdw>
                </a:effectLst>
              </a:rPr>
              <a:t>Practice time</a:t>
            </a:r>
            <a:endParaRPr lang="zh-CN" altLang="en-US" dirty="0">
              <a:effectLst>
                <a:outerShdw blurRad="38100" dist="38100" dir="2700000" algn="tl">
                  <a:srgbClr val="000000">
                    <a:alpha val="43137"/>
                  </a:srgbClr>
                </a:outerShdw>
              </a:effectLst>
            </a:endParaRPr>
          </a:p>
        </p:txBody>
      </p:sp>
      <p:sp>
        <p:nvSpPr>
          <p:cNvPr id="3" name="内容占位符 2">
            <a:extLst>
              <a:ext uri="{FF2B5EF4-FFF2-40B4-BE49-F238E27FC236}">
                <a16:creationId xmlns:a16="http://schemas.microsoft.com/office/drawing/2014/main" id="{295BF00A-83CA-8BEC-8A13-9E9F0B838F60}"/>
              </a:ext>
            </a:extLst>
          </p:cNvPr>
          <p:cNvSpPr>
            <a:spLocks noGrp="1"/>
          </p:cNvSpPr>
          <p:nvPr>
            <p:ph idx="1"/>
          </p:nvPr>
        </p:nvSpPr>
        <p:spPr>
          <a:xfrm>
            <a:off x="838199" y="1825625"/>
            <a:ext cx="10515599" cy="4351338"/>
          </a:xfrm>
        </p:spPr>
        <p:txBody>
          <a:bodyPr>
            <a:normAutofit/>
          </a:bodyPr>
          <a:lstStyle/>
          <a:p>
            <a:pPr>
              <a:lnSpc>
                <a:spcPct val="100000"/>
              </a:lnSpc>
            </a:pPr>
            <a:r>
              <a:rPr lang="en-US" altLang="zh-CN" dirty="0"/>
              <a:t>We've roughly addressed the last four problems in TASK 2, including how to represent </a:t>
            </a:r>
            <a:r>
              <a:rPr lang="en-US" altLang="zh-CN" b="1" dirty="0"/>
              <a:t>weak entities</a:t>
            </a:r>
            <a:r>
              <a:rPr lang="en-US" altLang="zh-CN" dirty="0"/>
              <a:t>, </a:t>
            </a:r>
            <a:r>
              <a:rPr lang="en-US" altLang="zh-CN" b="1" dirty="0"/>
              <a:t>composite attributes</a:t>
            </a:r>
            <a:r>
              <a:rPr lang="en-US" altLang="zh-CN" dirty="0"/>
              <a:t>, and </a:t>
            </a:r>
            <a:r>
              <a:rPr lang="en-US" altLang="zh-CN" b="1" dirty="0"/>
              <a:t>multivalued attributes</a:t>
            </a:r>
            <a:r>
              <a:rPr lang="en-US" altLang="zh-CN" dirty="0"/>
              <a:t>, as well as how to handle </a:t>
            </a:r>
            <a:r>
              <a:rPr lang="en-US" altLang="zh-CN" b="1" dirty="0"/>
              <a:t>superclass and subclasses</a:t>
            </a:r>
            <a:r>
              <a:rPr lang="en-US" altLang="zh-CN" dirty="0"/>
              <a:t>…</a:t>
            </a:r>
          </a:p>
          <a:p>
            <a:pPr>
              <a:lnSpc>
                <a:spcPct val="100000"/>
              </a:lnSpc>
            </a:pPr>
            <a:r>
              <a:rPr lang="en-US" altLang="zh-CN" dirty="0"/>
              <a:t>Please use the computers in the lab or your personal laptops to try out the tasks we just covered. </a:t>
            </a:r>
          </a:p>
          <a:p>
            <a:pPr>
              <a:lnSpc>
                <a:spcPct val="100000"/>
              </a:lnSpc>
            </a:pPr>
            <a:r>
              <a:rPr lang="en-US" altLang="zh-CN" dirty="0"/>
              <a:t>We’ll continue with the next part of the experiment </a:t>
            </a:r>
            <a:r>
              <a:rPr lang="en-US" altLang="zh-CN" dirty="0">
                <a:solidFill>
                  <a:srgbClr val="FF0000"/>
                </a:solidFill>
              </a:rPr>
              <a:t>in the next class</a:t>
            </a:r>
            <a:r>
              <a:rPr lang="en-US" altLang="zh-CN" dirty="0"/>
              <a:t>.</a:t>
            </a:r>
          </a:p>
        </p:txBody>
      </p:sp>
    </p:spTree>
    <p:extLst>
      <p:ext uri="{BB962C8B-B14F-4D97-AF65-F5344CB8AC3E}">
        <p14:creationId xmlns:p14="http://schemas.microsoft.com/office/powerpoint/2010/main" val="26197974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832A-295D-0EA1-B20A-9F1C0EBF5C8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CE8A831-EE04-65E3-BC49-C456FFB5E306}"/>
              </a:ext>
            </a:extLst>
          </p:cNvPr>
          <p:cNvSpPr>
            <a:spLocks noGrp="1"/>
          </p:cNvSpPr>
          <p:nvPr>
            <p:ph type="title"/>
          </p:nvPr>
        </p:nvSpPr>
        <p:spPr/>
        <p:txBody>
          <a:bodyPr/>
          <a:lstStyle/>
          <a:p>
            <a:r>
              <a:rPr lang="en-US" altLang="zh-CN" b="1" i="1" dirty="0"/>
              <a:t>Task3.	Conversion from ER/EER Diagram to Relational Schema</a:t>
            </a:r>
            <a:endParaRPr lang="zh-CN" altLang="en-US" dirty="0"/>
          </a:p>
        </p:txBody>
      </p:sp>
      <p:sp>
        <p:nvSpPr>
          <p:cNvPr id="3" name="内容占位符 2">
            <a:extLst>
              <a:ext uri="{FF2B5EF4-FFF2-40B4-BE49-F238E27FC236}">
                <a16:creationId xmlns:a16="http://schemas.microsoft.com/office/drawing/2014/main" id="{1C5B2BC2-28FC-1939-9BDF-A67512F1B1A0}"/>
              </a:ext>
            </a:extLst>
          </p:cNvPr>
          <p:cNvSpPr>
            <a:spLocks noGrp="1"/>
          </p:cNvSpPr>
          <p:nvPr>
            <p:ph idx="1"/>
          </p:nvPr>
        </p:nvSpPr>
        <p:spPr/>
        <p:txBody>
          <a:bodyPr>
            <a:normAutofit/>
          </a:bodyPr>
          <a:lstStyle/>
          <a:p>
            <a:pPr marL="0" indent="0">
              <a:buNone/>
            </a:pPr>
            <a:r>
              <a:rPr lang="en-US" altLang="zh-CN" b="1" u="sng" dirty="0">
                <a:effectLst>
                  <a:outerShdw blurRad="38100" dist="38100" dir="2700000" algn="tl">
                    <a:srgbClr val="000000">
                      <a:alpha val="43137"/>
                    </a:srgbClr>
                  </a:outerShdw>
                </a:effectLst>
              </a:rPr>
              <a:t>Business Rules</a:t>
            </a:r>
          </a:p>
          <a:p>
            <a:r>
              <a:rPr lang="en-US" altLang="zh-CN" dirty="0"/>
              <a:t>A customer can do business in multiple territories and a territory can have multiple customers.</a:t>
            </a:r>
          </a:p>
        </p:txBody>
      </p:sp>
      <p:pic>
        <p:nvPicPr>
          <p:cNvPr id="5" name="图片 4">
            <a:extLst>
              <a:ext uri="{FF2B5EF4-FFF2-40B4-BE49-F238E27FC236}">
                <a16:creationId xmlns:a16="http://schemas.microsoft.com/office/drawing/2014/main" id="{78D41730-F1A5-EDEA-90C6-7022240319A9}"/>
              </a:ext>
            </a:extLst>
          </p:cNvPr>
          <p:cNvPicPr>
            <a:picLocks noChangeAspect="1"/>
          </p:cNvPicPr>
          <p:nvPr/>
        </p:nvPicPr>
        <p:blipFill>
          <a:blip r:embed="rId2"/>
          <a:stretch>
            <a:fillRect/>
          </a:stretch>
        </p:blipFill>
        <p:spPr>
          <a:xfrm>
            <a:off x="838200" y="3650533"/>
            <a:ext cx="10262159" cy="1816202"/>
          </a:xfrm>
          <a:prstGeom prst="rect">
            <a:avLst/>
          </a:prstGeom>
        </p:spPr>
      </p:pic>
    </p:spTree>
    <p:extLst>
      <p:ext uri="{BB962C8B-B14F-4D97-AF65-F5344CB8AC3E}">
        <p14:creationId xmlns:p14="http://schemas.microsoft.com/office/powerpoint/2010/main" val="3296457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83ADB-CF1D-E2A8-90BA-048EC60161D7}"/>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844C3C2A-8050-1663-16BF-2325D051AF41}"/>
              </a:ext>
            </a:extLst>
          </p:cNvPr>
          <p:cNvSpPr>
            <a:spLocks noGrp="1"/>
          </p:cNvSpPr>
          <p:nvPr>
            <p:ph idx="1"/>
          </p:nvPr>
        </p:nvSpPr>
        <p:spPr>
          <a:xfrm>
            <a:off x="690716" y="281960"/>
            <a:ext cx="10515600" cy="4351338"/>
          </a:xfrm>
        </p:spPr>
        <p:txBody>
          <a:bodyPr>
            <a:normAutofit/>
          </a:bodyPr>
          <a:lstStyle/>
          <a:p>
            <a:pPr marL="0" indent="0">
              <a:buNone/>
            </a:pPr>
            <a:r>
              <a:rPr lang="en-US" altLang="zh-CN" b="1" u="sng" dirty="0">
                <a:effectLst>
                  <a:outerShdw blurRad="38100" dist="38100" dir="2700000" algn="tl">
                    <a:srgbClr val="000000">
                      <a:alpha val="43137"/>
                    </a:srgbClr>
                  </a:outerShdw>
                </a:effectLst>
              </a:rPr>
              <a:t>Business Rules</a:t>
            </a:r>
          </a:p>
          <a:p>
            <a:r>
              <a:rPr lang="en-US" altLang="zh-CN" dirty="0"/>
              <a:t>A customer can do business in multiple territories and a territory can have multiple customers.</a:t>
            </a:r>
          </a:p>
          <a:p>
            <a:pPr marL="0" indent="0">
              <a:buNone/>
            </a:pPr>
            <a:r>
              <a:rPr lang="en-US" altLang="zh-CN" b="1" u="sng" dirty="0">
                <a:effectLst>
                  <a:outerShdw blurRad="38100" dist="38100" dir="2700000" algn="tl">
                    <a:srgbClr val="000000">
                      <a:alpha val="43137"/>
                    </a:srgbClr>
                  </a:outerShdw>
                </a:effectLst>
              </a:rPr>
              <a:t>Solution</a:t>
            </a:r>
          </a:p>
          <a:p>
            <a:r>
              <a:rPr lang="en-US" altLang="zh-CN" dirty="0"/>
              <a:t>Since, this is a </a:t>
            </a:r>
            <a:r>
              <a:rPr lang="en-US" altLang="zh-CN" b="1" dirty="0"/>
              <a:t>many to many </a:t>
            </a:r>
            <a:r>
              <a:rPr lang="en-US" altLang="zh-CN" dirty="0"/>
              <a:t>cardinality, we need an </a:t>
            </a:r>
            <a:r>
              <a:rPr lang="en-US" altLang="zh-CN" b="1" dirty="0">
                <a:solidFill>
                  <a:srgbClr val="FF0000"/>
                </a:solidFill>
              </a:rPr>
              <a:t>associative entity (AE)</a:t>
            </a:r>
            <a:r>
              <a:rPr lang="en-US" altLang="zh-CN" dirty="0"/>
              <a:t> to track which customer is doing business in what territory.</a:t>
            </a:r>
            <a:endParaRPr lang="zh-CN" altLang="zh-CN" dirty="0">
              <a:solidFill>
                <a:srgbClr val="FF0000"/>
              </a:solidFill>
            </a:endParaRPr>
          </a:p>
        </p:txBody>
      </p:sp>
      <p:pic>
        <p:nvPicPr>
          <p:cNvPr id="10" name="图片 9">
            <a:extLst>
              <a:ext uri="{FF2B5EF4-FFF2-40B4-BE49-F238E27FC236}">
                <a16:creationId xmlns:a16="http://schemas.microsoft.com/office/drawing/2014/main" id="{1D03323E-8276-0D85-668B-74C6350FD5F6}"/>
              </a:ext>
            </a:extLst>
          </p:cNvPr>
          <p:cNvPicPr>
            <a:picLocks noChangeAspect="1"/>
          </p:cNvPicPr>
          <p:nvPr/>
        </p:nvPicPr>
        <p:blipFill>
          <a:blip r:embed="rId2"/>
          <a:stretch>
            <a:fillRect/>
          </a:stretch>
        </p:blipFill>
        <p:spPr>
          <a:xfrm>
            <a:off x="1636012" y="3510116"/>
            <a:ext cx="8241847" cy="3187065"/>
          </a:xfrm>
          <a:prstGeom prst="rect">
            <a:avLst/>
          </a:prstGeom>
        </p:spPr>
      </p:pic>
    </p:spTree>
    <p:extLst>
      <p:ext uri="{BB962C8B-B14F-4D97-AF65-F5344CB8AC3E}">
        <p14:creationId xmlns:p14="http://schemas.microsoft.com/office/powerpoint/2010/main" val="3977371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C6077-F7B8-F096-2060-33171BAF6BA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9CD4C76-44E5-3B74-87DB-D9E934202DC8}"/>
              </a:ext>
            </a:extLst>
          </p:cNvPr>
          <p:cNvSpPr>
            <a:spLocks noGrp="1"/>
          </p:cNvSpPr>
          <p:nvPr>
            <p:ph type="title"/>
          </p:nvPr>
        </p:nvSpPr>
        <p:spPr/>
        <p:txBody>
          <a:bodyPr/>
          <a:lstStyle/>
          <a:p>
            <a:r>
              <a:rPr lang="en-US" altLang="zh-CN" b="1" i="1" dirty="0"/>
              <a:t>Task3.	Conversion from ER/EER Diagram to Relational Schema</a:t>
            </a:r>
            <a:endParaRPr lang="zh-CN" altLang="en-US" dirty="0"/>
          </a:p>
        </p:txBody>
      </p:sp>
      <p:sp>
        <p:nvSpPr>
          <p:cNvPr id="3" name="内容占位符 2">
            <a:extLst>
              <a:ext uri="{FF2B5EF4-FFF2-40B4-BE49-F238E27FC236}">
                <a16:creationId xmlns:a16="http://schemas.microsoft.com/office/drawing/2014/main" id="{C1A6650F-7E79-FB2C-A312-09C82326F864}"/>
              </a:ext>
            </a:extLst>
          </p:cNvPr>
          <p:cNvSpPr>
            <a:spLocks noGrp="1"/>
          </p:cNvSpPr>
          <p:nvPr>
            <p:ph idx="1"/>
          </p:nvPr>
        </p:nvSpPr>
        <p:spPr/>
        <p:txBody>
          <a:bodyPr>
            <a:normAutofit/>
          </a:bodyPr>
          <a:lstStyle/>
          <a:p>
            <a:pPr marL="0" indent="0">
              <a:buNone/>
            </a:pPr>
            <a:r>
              <a:rPr lang="en-US" altLang="zh-CN" dirty="0"/>
              <a:t>We get the corresponding relational schema as follow.</a:t>
            </a:r>
          </a:p>
          <a:p>
            <a:pPr marL="0" indent="0">
              <a:buNone/>
            </a:pPr>
            <a:endParaRPr lang="en-US" altLang="zh-CN" dirty="0">
              <a:solidFill>
                <a:srgbClr val="FF0000"/>
              </a:solidFill>
            </a:endParaRPr>
          </a:p>
          <a:p>
            <a:pPr marL="0" indent="0">
              <a:buNone/>
            </a:pPr>
            <a:endParaRPr lang="en-US" altLang="zh-CN" dirty="0">
              <a:solidFill>
                <a:srgbClr val="FF0000"/>
              </a:solidFill>
            </a:endParaRPr>
          </a:p>
          <a:p>
            <a:pPr marL="0" indent="0">
              <a:buNone/>
            </a:pPr>
            <a:endParaRPr lang="en-US" altLang="zh-CN" dirty="0">
              <a:solidFill>
                <a:srgbClr val="FF0000"/>
              </a:solidFill>
            </a:endParaRPr>
          </a:p>
          <a:p>
            <a:pPr marL="0" indent="0">
              <a:buNone/>
            </a:pPr>
            <a:endParaRPr lang="en-US" altLang="zh-CN" dirty="0">
              <a:solidFill>
                <a:srgbClr val="FF0000"/>
              </a:solidFill>
            </a:endParaRPr>
          </a:p>
          <a:p>
            <a:pPr marL="0" indent="0">
              <a:buNone/>
            </a:pPr>
            <a:endParaRPr lang="en-US" altLang="zh-CN" dirty="0">
              <a:solidFill>
                <a:srgbClr val="FF0000"/>
              </a:solidFill>
            </a:endParaRPr>
          </a:p>
          <a:p>
            <a:pPr marL="0" indent="0">
              <a:buNone/>
            </a:pPr>
            <a:r>
              <a:rPr lang="en-US" altLang="zh-CN" dirty="0"/>
              <a:t>Reference ID arrows are always pointed from a Foreign key to the primary key of another table to which it is referencing.</a:t>
            </a:r>
            <a:endParaRPr lang="zh-CN" altLang="zh-CN" dirty="0"/>
          </a:p>
          <a:p>
            <a:pPr marL="0" indent="0">
              <a:buNone/>
            </a:pPr>
            <a:endParaRPr lang="en-US" altLang="zh-CN" dirty="0">
              <a:solidFill>
                <a:srgbClr val="FF0000"/>
              </a:solidFill>
            </a:endParaRPr>
          </a:p>
        </p:txBody>
      </p:sp>
      <p:pic>
        <p:nvPicPr>
          <p:cNvPr id="5" name="图片 4">
            <a:extLst>
              <a:ext uri="{FF2B5EF4-FFF2-40B4-BE49-F238E27FC236}">
                <a16:creationId xmlns:a16="http://schemas.microsoft.com/office/drawing/2014/main" id="{49326169-253D-E2F5-E6AA-BE73932F8998}"/>
              </a:ext>
            </a:extLst>
          </p:cNvPr>
          <p:cNvPicPr>
            <a:picLocks noChangeAspect="1"/>
          </p:cNvPicPr>
          <p:nvPr/>
        </p:nvPicPr>
        <p:blipFill>
          <a:blip r:embed="rId2"/>
          <a:stretch>
            <a:fillRect/>
          </a:stretch>
        </p:blipFill>
        <p:spPr>
          <a:xfrm>
            <a:off x="2328117" y="2426406"/>
            <a:ext cx="6670509" cy="2361903"/>
          </a:xfrm>
          <a:prstGeom prst="rect">
            <a:avLst/>
          </a:prstGeom>
        </p:spPr>
      </p:pic>
    </p:spTree>
    <p:extLst>
      <p:ext uri="{BB962C8B-B14F-4D97-AF65-F5344CB8AC3E}">
        <p14:creationId xmlns:p14="http://schemas.microsoft.com/office/powerpoint/2010/main" val="1995505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AED0F-3BFE-A43F-A2C2-E1B903901AB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2B548E8-24C7-096E-D751-B3FBF8091CC0}"/>
              </a:ext>
            </a:extLst>
          </p:cNvPr>
          <p:cNvSpPr>
            <a:spLocks noGrp="1"/>
          </p:cNvSpPr>
          <p:nvPr>
            <p:ph type="title"/>
          </p:nvPr>
        </p:nvSpPr>
        <p:spPr/>
        <p:txBody>
          <a:bodyPr/>
          <a:lstStyle/>
          <a:p>
            <a:r>
              <a:rPr lang="en-US" altLang="zh-CN" b="1" i="1" dirty="0"/>
              <a:t>Task3.	Conversion from ER/EER Diagram to Relational Schema</a:t>
            </a:r>
            <a:endParaRPr lang="zh-CN" altLang="en-US" dirty="0"/>
          </a:p>
        </p:txBody>
      </p:sp>
      <p:sp>
        <p:nvSpPr>
          <p:cNvPr id="3" name="内容占位符 2">
            <a:extLst>
              <a:ext uri="{FF2B5EF4-FFF2-40B4-BE49-F238E27FC236}">
                <a16:creationId xmlns:a16="http://schemas.microsoft.com/office/drawing/2014/main" id="{085290BB-4D1D-5DEE-24A6-3DAEE76C0E20}"/>
              </a:ext>
            </a:extLst>
          </p:cNvPr>
          <p:cNvSpPr>
            <a:spLocks noGrp="1"/>
          </p:cNvSpPr>
          <p:nvPr>
            <p:ph idx="1"/>
          </p:nvPr>
        </p:nvSpPr>
        <p:spPr/>
        <p:txBody>
          <a:bodyPr>
            <a:normAutofit/>
          </a:bodyPr>
          <a:lstStyle/>
          <a:p>
            <a:pPr marL="0" indent="0">
              <a:buNone/>
            </a:pPr>
            <a:r>
              <a:rPr lang="en-US" altLang="zh-CN" b="1" u="sng" dirty="0">
                <a:effectLst>
                  <a:outerShdw blurRad="38100" dist="38100" dir="2700000" algn="tl">
                    <a:srgbClr val="000000">
                      <a:alpha val="43137"/>
                    </a:srgbClr>
                  </a:outerShdw>
                </a:effectLst>
              </a:rPr>
              <a:t>Another scenario</a:t>
            </a:r>
          </a:p>
          <a:p>
            <a:r>
              <a:rPr lang="en-US" altLang="zh-CN" dirty="0"/>
              <a:t>In cases where a relationship itself has attributes, the conversion to relational schema requires </a:t>
            </a:r>
            <a:r>
              <a:rPr lang="en-US" altLang="zh-CN" dirty="0">
                <a:solidFill>
                  <a:srgbClr val="FF0000"/>
                </a:solidFill>
              </a:rPr>
              <a:t>an additional relation</a:t>
            </a:r>
            <a:r>
              <a:rPr lang="en-US" altLang="zh-CN" dirty="0"/>
              <a:t>. </a:t>
            </a:r>
          </a:p>
          <a:p>
            <a:r>
              <a:rPr lang="en-US" altLang="zh-CN" b="1" dirty="0"/>
              <a:t>Business Rules</a:t>
            </a:r>
            <a:r>
              <a:rPr lang="en-US" altLang="zh-CN" dirty="0"/>
              <a:t>	A customer may order an item or more than one item but each item must be ordered by one and only one customer. Company wants to keep track of </a:t>
            </a:r>
            <a:r>
              <a:rPr lang="en-US" altLang="zh-CN" b="1" dirty="0">
                <a:solidFill>
                  <a:srgbClr val="FF0000"/>
                </a:solidFill>
              </a:rPr>
              <a:t>Date of Purchase </a:t>
            </a:r>
            <a:r>
              <a:rPr lang="en-US" altLang="zh-CN" dirty="0"/>
              <a:t>between CUSTOMER and ITEM.</a:t>
            </a:r>
            <a:endParaRPr lang="zh-CN" altLang="zh-CN" dirty="0"/>
          </a:p>
          <a:p>
            <a:pPr marL="0" indent="0">
              <a:buNone/>
            </a:pPr>
            <a:endParaRPr lang="en-US" altLang="zh-CN" dirty="0"/>
          </a:p>
          <a:p>
            <a:pPr marL="0" indent="0">
              <a:buNone/>
            </a:pPr>
            <a:endParaRPr lang="zh-CN" altLang="zh-CN" dirty="0">
              <a:solidFill>
                <a:srgbClr val="FF0000"/>
              </a:solidFill>
            </a:endParaRPr>
          </a:p>
        </p:txBody>
      </p:sp>
      <p:pic>
        <p:nvPicPr>
          <p:cNvPr id="4" name="图片 3">
            <a:extLst>
              <a:ext uri="{FF2B5EF4-FFF2-40B4-BE49-F238E27FC236}">
                <a16:creationId xmlns:a16="http://schemas.microsoft.com/office/drawing/2014/main" id="{08324D56-AFE6-13E4-310E-0976F7855276}"/>
              </a:ext>
            </a:extLst>
          </p:cNvPr>
          <p:cNvPicPr>
            <a:picLocks noChangeAspect="1"/>
          </p:cNvPicPr>
          <p:nvPr/>
        </p:nvPicPr>
        <p:blipFill>
          <a:blip r:embed="rId2"/>
          <a:stretch>
            <a:fillRect/>
          </a:stretch>
        </p:blipFill>
        <p:spPr>
          <a:xfrm>
            <a:off x="6381136" y="4457713"/>
            <a:ext cx="4532826" cy="2134815"/>
          </a:xfrm>
          <a:prstGeom prst="rect">
            <a:avLst/>
          </a:prstGeom>
        </p:spPr>
      </p:pic>
    </p:spTree>
    <p:extLst>
      <p:ext uri="{BB962C8B-B14F-4D97-AF65-F5344CB8AC3E}">
        <p14:creationId xmlns:p14="http://schemas.microsoft.com/office/powerpoint/2010/main" val="22526562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C5A18-615E-E544-3056-1CECEF99E523}"/>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E1687783-E111-1887-0DCE-FEC7384AF7E8}"/>
              </a:ext>
            </a:extLst>
          </p:cNvPr>
          <p:cNvSpPr>
            <a:spLocks noGrp="1"/>
          </p:cNvSpPr>
          <p:nvPr>
            <p:ph idx="1"/>
          </p:nvPr>
        </p:nvSpPr>
        <p:spPr>
          <a:xfrm>
            <a:off x="838200" y="452284"/>
            <a:ext cx="10515600" cy="5724679"/>
          </a:xfrm>
        </p:spPr>
        <p:txBody>
          <a:bodyPr>
            <a:normAutofit/>
          </a:bodyPr>
          <a:lstStyle/>
          <a:p>
            <a:pPr marL="0" indent="0">
              <a:buNone/>
            </a:pPr>
            <a:r>
              <a:rPr lang="en-US" altLang="zh-CN" b="1" dirty="0"/>
              <a:t>Business Rules</a:t>
            </a:r>
            <a:r>
              <a:rPr lang="en-US" altLang="zh-CN" dirty="0"/>
              <a:t>	A customer may order an item or more than one item but each item must be ordered by one and only one customer. Company wants to keep track of </a:t>
            </a:r>
            <a:r>
              <a:rPr lang="en-US" altLang="zh-CN" b="1" dirty="0">
                <a:solidFill>
                  <a:srgbClr val="FF0000"/>
                </a:solidFill>
              </a:rPr>
              <a:t>Date of Purchase </a:t>
            </a:r>
            <a:r>
              <a:rPr lang="en-US" altLang="zh-CN" dirty="0"/>
              <a:t>between CUSTOMER and ITEM.</a:t>
            </a:r>
            <a:endParaRPr lang="en-US" altLang="zh-CN" b="1" u="sng" dirty="0">
              <a:effectLst>
                <a:outerShdw blurRad="38100" dist="38100" dir="2700000" algn="tl">
                  <a:srgbClr val="000000">
                    <a:alpha val="43137"/>
                  </a:srgbClr>
                </a:outerShdw>
              </a:effectLst>
            </a:endParaRPr>
          </a:p>
          <a:p>
            <a:r>
              <a:rPr lang="en-US" altLang="zh-CN" b="1" dirty="0"/>
              <a:t>Solution 1</a:t>
            </a:r>
            <a:r>
              <a:rPr lang="en-US" altLang="zh-CN" dirty="0"/>
              <a:t>	A new relation (e.g., PURCHASE) will be created, containing the primary keys of the participating entities (CUSTOMER_ID, ITEM_ID) as a composite primary key, together with the relationship attribute (</a:t>
            </a:r>
            <a:r>
              <a:rPr lang="en-US" altLang="zh-CN" dirty="0" err="1"/>
              <a:t>Date_of_Purchase</a:t>
            </a:r>
            <a:r>
              <a:rPr lang="en-US" altLang="zh-CN" dirty="0"/>
              <a:t>). </a:t>
            </a:r>
            <a:r>
              <a:rPr lang="en-US" altLang="zh-CN" b="1" dirty="0"/>
              <a:t>This enforces that one CUSTOMER can only buy the same ITEM once</a:t>
            </a:r>
            <a:r>
              <a:rPr lang="en-US" altLang="zh-CN" dirty="0"/>
              <a:t>. </a:t>
            </a:r>
          </a:p>
          <a:p>
            <a:pPr marL="0" indent="0">
              <a:buNone/>
            </a:pPr>
            <a:endParaRPr lang="zh-CN" altLang="zh-CN" dirty="0">
              <a:solidFill>
                <a:srgbClr val="FF0000"/>
              </a:solidFill>
            </a:endParaRPr>
          </a:p>
        </p:txBody>
      </p:sp>
      <p:pic>
        <p:nvPicPr>
          <p:cNvPr id="5" name="图片 4">
            <a:extLst>
              <a:ext uri="{FF2B5EF4-FFF2-40B4-BE49-F238E27FC236}">
                <a16:creationId xmlns:a16="http://schemas.microsoft.com/office/drawing/2014/main" id="{AA27C40B-3446-6A31-3C8E-F263054B2F4D}"/>
              </a:ext>
            </a:extLst>
          </p:cNvPr>
          <p:cNvPicPr>
            <a:picLocks noChangeAspect="1"/>
          </p:cNvPicPr>
          <p:nvPr/>
        </p:nvPicPr>
        <p:blipFill>
          <a:blip r:embed="rId2"/>
          <a:stretch>
            <a:fillRect/>
          </a:stretch>
        </p:blipFill>
        <p:spPr>
          <a:xfrm>
            <a:off x="838200" y="4427313"/>
            <a:ext cx="4532826" cy="2134815"/>
          </a:xfrm>
          <a:prstGeom prst="rect">
            <a:avLst/>
          </a:prstGeom>
        </p:spPr>
      </p:pic>
      <p:pic>
        <p:nvPicPr>
          <p:cNvPr id="7" name="图片 6">
            <a:extLst>
              <a:ext uri="{FF2B5EF4-FFF2-40B4-BE49-F238E27FC236}">
                <a16:creationId xmlns:a16="http://schemas.microsoft.com/office/drawing/2014/main" id="{F5066825-EC0E-695C-812A-717A5BFFA021}"/>
              </a:ext>
            </a:extLst>
          </p:cNvPr>
          <p:cNvPicPr>
            <a:picLocks noChangeAspect="1"/>
          </p:cNvPicPr>
          <p:nvPr/>
        </p:nvPicPr>
        <p:blipFill>
          <a:blip r:embed="rId3"/>
          <a:stretch>
            <a:fillRect/>
          </a:stretch>
        </p:blipFill>
        <p:spPr>
          <a:xfrm>
            <a:off x="6538452" y="4111738"/>
            <a:ext cx="4394724" cy="2617662"/>
          </a:xfrm>
          <a:prstGeom prst="rect">
            <a:avLst/>
          </a:prstGeom>
        </p:spPr>
      </p:pic>
      <p:sp>
        <p:nvSpPr>
          <p:cNvPr id="8" name="箭头: 右 7">
            <a:extLst>
              <a:ext uri="{FF2B5EF4-FFF2-40B4-BE49-F238E27FC236}">
                <a16:creationId xmlns:a16="http://schemas.microsoft.com/office/drawing/2014/main" id="{7D3F3D61-4EE3-E9FE-E04B-5182695BA9F8}"/>
              </a:ext>
            </a:extLst>
          </p:cNvPr>
          <p:cNvSpPr/>
          <p:nvPr/>
        </p:nvSpPr>
        <p:spPr>
          <a:xfrm>
            <a:off x="5525729" y="5220929"/>
            <a:ext cx="816077" cy="570271"/>
          </a:xfrm>
          <a:prstGeom prst="rightArrow">
            <a:avLst/>
          </a:prstGeom>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778078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64106-79A4-97C4-43F7-FA16446E2C71}"/>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4EB4F22C-2FE0-1B82-B180-66891C545325}"/>
              </a:ext>
            </a:extLst>
          </p:cNvPr>
          <p:cNvSpPr>
            <a:spLocks noGrp="1"/>
          </p:cNvSpPr>
          <p:nvPr>
            <p:ph idx="1"/>
          </p:nvPr>
        </p:nvSpPr>
        <p:spPr>
          <a:xfrm>
            <a:off x="838200" y="452284"/>
            <a:ext cx="10515600" cy="5724679"/>
          </a:xfrm>
        </p:spPr>
        <p:txBody>
          <a:bodyPr>
            <a:normAutofit/>
          </a:bodyPr>
          <a:lstStyle/>
          <a:p>
            <a:pPr marL="0" indent="0">
              <a:buNone/>
            </a:pPr>
            <a:r>
              <a:rPr lang="en-US" altLang="zh-CN" b="1" dirty="0"/>
              <a:t>Business Rules</a:t>
            </a:r>
            <a:r>
              <a:rPr lang="en-US" altLang="zh-CN" dirty="0"/>
              <a:t>	A customer may order an item or more than one item but each item must be ordered by one and only one customer. Company wants to keep track of </a:t>
            </a:r>
            <a:r>
              <a:rPr lang="en-US" altLang="zh-CN" b="1" dirty="0">
                <a:solidFill>
                  <a:srgbClr val="FF0000"/>
                </a:solidFill>
              </a:rPr>
              <a:t>Date of Purchase </a:t>
            </a:r>
            <a:r>
              <a:rPr lang="en-US" altLang="zh-CN" dirty="0"/>
              <a:t>between CUSTOMER and ITEM.</a:t>
            </a:r>
            <a:endParaRPr lang="en-US" altLang="zh-CN" b="1" u="sng" dirty="0">
              <a:effectLst>
                <a:outerShdw blurRad="38100" dist="38100" dir="2700000" algn="tl">
                  <a:srgbClr val="000000">
                    <a:alpha val="43137"/>
                  </a:srgbClr>
                </a:outerShdw>
              </a:effectLst>
            </a:endParaRPr>
          </a:p>
          <a:p>
            <a:r>
              <a:rPr lang="en-US" altLang="zh-CN" b="1" dirty="0"/>
              <a:t>Solution 2</a:t>
            </a:r>
            <a:r>
              <a:rPr lang="en-US" altLang="zh-CN" dirty="0"/>
              <a:t>	However, </a:t>
            </a:r>
            <a:r>
              <a:rPr lang="en-US" altLang="zh-CN" b="1" dirty="0"/>
              <a:t>if multiple purchases of the same ITEM by the same CUSTOMER are allowed</a:t>
            </a:r>
            <a:r>
              <a:rPr lang="en-US" altLang="zh-CN" dirty="0"/>
              <a:t>, it is often better to introduce a surrogate key (e.g., PURCHASE_ID) as the primary key of the PURCHASE table. In this case, CUSTOMER_ID and ITEM_ID become foreign keys rather than forming the composite primary key.</a:t>
            </a:r>
          </a:p>
          <a:p>
            <a:pPr marL="0" indent="0">
              <a:buNone/>
            </a:pPr>
            <a:endParaRPr lang="zh-CN" altLang="zh-CN" dirty="0">
              <a:solidFill>
                <a:srgbClr val="FF0000"/>
              </a:solidFill>
            </a:endParaRPr>
          </a:p>
        </p:txBody>
      </p:sp>
      <p:pic>
        <p:nvPicPr>
          <p:cNvPr id="4" name="图片 3">
            <a:extLst>
              <a:ext uri="{FF2B5EF4-FFF2-40B4-BE49-F238E27FC236}">
                <a16:creationId xmlns:a16="http://schemas.microsoft.com/office/drawing/2014/main" id="{F1B0107F-CBD7-C940-B125-B1A28B09BD16}"/>
              </a:ext>
            </a:extLst>
          </p:cNvPr>
          <p:cNvPicPr>
            <a:picLocks noChangeAspect="1"/>
          </p:cNvPicPr>
          <p:nvPr/>
        </p:nvPicPr>
        <p:blipFill>
          <a:blip r:embed="rId2"/>
          <a:stretch>
            <a:fillRect/>
          </a:stretch>
        </p:blipFill>
        <p:spPr>
          <a:xfrm>
            <a:off x="6414573" y="4372505"/>
            <a:ext cx="4939227" cy="2435597"/>
          </a:xfrm>
          <a:prstGeom prst="rect">
            <a:avLst/>
          </a:prstGeom>
        </p:spPr>
      </p:pic>
      <p:pic>
        <p:nvPicPr>
          <p:cNvPr id="5" name="图片 4">
            <a:extLst>
              <a:ext uri="{FF2B5EF4-FFF2-40B4-BE49-F238E27FC236}">
                <a16:creationId xmlns:a16="http://schemas.microsoft.com/office/drawing/2014/main" id="{32227E6D-98C0-0C69-F160-D342D52D750D}"/>
              </a:ext>
            </a:extLst>
          </p:cNvPr>
          <p:cNvPicPr>
            <a:picLocks noChangeAspect="1"/>
          </p:cNvPicPr>
          <p:nvPr/>
        </p:nvPicPr>
        <p:blipFill>
          <a:blip r:embed="rId3"/>
          <a:stretch>
            <a:fillRect/>
          </a:stretch>
        </p:blipFill>
        <p:spPr>
          <a:xfrm>
            <a:off x="915552" y="4555908"/>
            <a:ext cx="4532826" cy="2134815"/>
          </a:xfrm>
          <a:prstGeom prst="rect">
            <a:avLst/>
          </a:prstGeom>
        </p:spPr>
      </p:pic>
      <p:sp>
        <p:nvSpPr>
          <p:cNvPr id="6" name="箭头: 右 5">
            <a:extLst>
              <a:ext uri="{FF2B5EF4-FFF2-40B4-BE49-F238E27FC236}">
                <a16:creationId xmlns:a16="http://schemas.microsoft.com/office/drawing/2014/main" id="{C31F0E5D-1DAF-5E58-5FE2-8360E6FC276B}"/>
              </a:ext>
            </a:extLst>
          </p:cNvPr>
          <p:cNvSpPr/>
          <p:nvPr/>
        </p:nvSpPr>
        <p:spPr>
          <a:xfrm>
            <a:off x="5523437" y="5338179"/>
            <a:ext cx="816077" cy="570271"/>
          </a:xfrm>
          <a:prstGeom prst="rightArrow">
            <a:avLst/>
          </a:prstGeom>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8637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F9C4A-5A03-5F47-7F86-36CB46F870B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E857865-EF79-ED57-B691-90D1EC4A56C0}"/>
              </a:ext>
            </a:extLst>
          </p:cNvPr>
          <p:cNvSpPr>
            <a:spLocks noGrp="1"/>
          </p:cNvSpPr>
          <p:nvPr>
            <p:ph type="title"/>
          </p:nvPr>
        </p:nvSpPr>
        <p:spPr/>
        <p:txBody>
          <a:bodyPr/>
          <a:lstStyle/>
          <a:p>
            <a:r>
              <a:rPr lang="en-US" altLang="zh-CN" b="1" i="1" dirty="0"/>
              <a:t>Task4. Normalization Example</a:t>
            </a:r>
            <a:endParaRPr lang="zh-CN" altLang="en-US" dirty="0"/>
          </a:p>
        </p:txBody>
      </p:sp>
      <p:sp>
        <p:nvSpPr>
          <p:cNvPr id="3" name="内容占位符 2">
            <a:extLst>
              <a:ext uri="{FF2B5EF4-FFF2-40B4-BE49-F238E27FC236}">
                <a16:creationId xmlns:a16="http://schemas.microsoft.com/office/drawing/2014/main" id="{49CDAC0B-9769-3B73-D80A-F408F718E25F}"/>
              </a:ext>
            </a:extLst>
          </p:cNvPr>
          <p:cNvSpPr>
            <a:spLocks noGrp="1"/>
          </p:cNvSpPr>
          <p:nvPr>
            <p:ph idx="1"/>
          </p:nvPr>
        </p:nvSpPr>
        <p:spPr/>
        <p:txBody>
          <a:bodyPr>
            <a:normAutofit/>
          </a:bodyPr>
          <a:lstStyle/>
          <a:p>
            <a:r>
              <a:rPr lang="en-US" altLang="zh-CN" dirty="0"/>
              <a:t>There are four normal forms under this course.</a:t>
            </a:r>
            <a:endParaRPr lang="zh-CN" altLang="zh-CN" dirty="0"/>
          </a:p>
          <a:p>
            <a:pPr lvl="1"/>
            <a:r>
              <a:rPr lang="en-US" altLang="zh-CN" b="1" dirty="0">
                <a:solidFill>
                  <a:srgbClr val="FF0000"/>
                </a:solidFill>
              </a:rPr>
              <a:t>0NF</a:t>
            </a:r>
            <a:r>
              <a:rPr lang="en-US" altLang="zh-CN" dirty="0"/>
              <a:t>- If an entity has multi-value or composite attributes then it is in </a:t>
            </a:r>
            <a:r>
              <a:rPr lang="en-US" altLang="zh-CN" b="1" dirty="0"/>
              <a:t>0 normal form</a:t>
            </a:r>
            <a:r>
              <a:rPr lang="en-US" altLang="zh-CN" dirty="0"/>
              <a:t>.</a:t>
            </a:r>
            <a:endParaRPr lang="zh-CN" altLang="zh-CN" dirty="0"/>
          </a:p>
          <a:p>
            <a:pPr lvl="1"/>
            <a:r>
              <a:rPr lang="en-US" altLang="zh-CN" b="1" dirty="0">
                <a:solidFill>
                  <a:srgbClr val="FF0000"/>
                </a:solidFill>
              </a:rPr>
              <a:t>1NF</a:t>
            </a:r>
            <a:r>
              <a:rPr lang="en-US" altLang="zh-CN" dirty="0"/>
              <a:t>- If an entity does not have any multi-value or composite attributes, but it has partial dependency/</a:t>
            </a:r>
            <a:r>
              <a:rPr lang="en-US" altLang="zh-CN" dirty="0" err="1"/>
              <a:t>ies</a:t>
            </a:r>
            <a:r>
              <a:rPr lang="en-US" altLang="zh-CN" dirty="0"/>
              <a:t>, then it is in </a:t>
            </a:r>
            <a:r>
              <a:rPr lang="en-US" altLang="zh-CN" b="1" dirty="0"/>
              <a:t>1st normal form</a:t>
            </a:r>
            <a:r>
              <a:rPr lang="en-US" altLang="zh-CN" dirty="0"/>
              <a:t>.</a:t>
            </a:r>
            <a:endParaRPr lang="zh-CN" altLang="zh-CN" dirty="0"/>
          </a:p>
          <a:p>
            <a:pPr lvl="1"/>
            <a:r>
              <a:rPr lang="en-US" altLang="zh-CN" b="1" dirty="0">
                <a:solidFill>
                  <a:srgbClr val="FF0000"/>
                </a:solidFill>
              </a:rPr>
              <a:t>2NF</a:t>
            </a:r>
            <a:r>
              <a:rPr lang="en-US" altLang="zh-CN" dirty="0"/>
              <a:t>- If an entity does not have any multi-value or composite and partial dependency/</a:t>
            </a:r>
            <a:r>
              <a:rPr lang="en-US" altLang="zh-CN" dirty="0" err="1"/>
              <a:t>ies</a:t>
            </a:r>
            <a:r>
              <a:rPr lang="en-US" altLang="zh-CN" dirty="0"/>
              <a:t>, but has transitive dependency/</a:t>
            </a:r>
            <a:r>
              <a:rPr lang="en-US" altLang="zh-CN" dirty="0" err="1"/>
              <a:t>ies</a:t>
            </a:r>
            <a:r>
              <a:rPr lang="en-US" altLang="zh-CN" dirty="0"/>
              <a:t>, then it is in </a:t>
            </a:r>
            <a:r>
              <a:rPr lang="en-US" altLang="zh-CN" b="1" dirty="0"/>
              <a:t>2nd normal form</a:t>
            </a:r>
            <a:r>
              <a:rPr lang="en-US" altLang="zh-CN" dirty="0"/>
              <a:t>.</a:t>
            </a:r>
            <a:endParaRPr lang="zh-CN" altLang="zh-CN" dirty="0"/>
          </a:p>
          <a:p>
            <a:pPr lvl="1"/>
            <a:r>
              <a:rPr lang="en-US" altLang="zh-CN" b="1" dirty="0">
                <a:solidFill>
                  <a:srgbClr val="FF0000"/>
                </a:solidFill>
              </a:rPr>
              <a:t>3NF</a:t>
            </a:r>
            <a:r>
              <a:rPr lang="en-US" altLang="zh-CN" dirty="0"/>
              <a:t>- If an entity does not have any multi-value or composite and partial and transitive dependency/</a:t>
            </a:r>
            <a:r>
              <a:rPr lang="en-US" altLang="zh-CN" dirty="0" err="1"/>
              <a:t>ies</a:t>
            </a:r>
            <a:r>
              <a:rPr lang="en-US" altLang="zh-CN" dirty="0"/>
              <a:t> and all its non-unique attributes depend on primary key(composite or single) , then it is in </a:t>
            </a:r>
            <a:r>
              <a:rPr lang="en-US" altLang="zh-CN" b="1" dirty="0"/>
              <a:t>3rd normal form</a:t>
            </a:r>
            <a:r>
              <a:rPr lang="en-US" altLang="zh-CN" dirty="0"/>
              <a:t>.</a:t>
            </a:r>
            <a:endParaRPr lang="zh-CN" altLang="zh-CN" dirty="0"/>
          </a:p>
          <a:p>
            <a:endParaRPr lang="zh-CN" altLang="zh-CN" dirty="0">
              <a:solidFill>
                <a:srgbClr val="FF0000"/>
              </a:solidFill>
            </a:endParaRPr>
          </a:p>
        </p:txBody>
      </p:sp>
      <p:sp>
        <p:nvSpPr>
          <p:cNvPr id="5" name="矩形 4">
            <a:extLst>
              <a:ext uri="{FF2B5EF4-FFF2-40B4-BE49-F238E27FC236}">
                <a16:creationId xmlns:a16="http://schemas.microsoft.com/office/drawing/2014/main" id="{3B0888BE-AEA7-3BA4-68D4-2FD3C8722D2A}"/>
              </a:ext>
            </a:extLst>
          </p:cNvPr>
          <p:cNvSpPr/>
          <p:nvPr/>
        </p:nvSpPr>
        <p:spPr>
          <a:xfrm>
            <a:off x="1006304" y="5792242"/>
            <a:ext cx="10179390" cy="769441"/>
          </a:xfrm>
          <a:prstGeom prst="rect">
            <a:avLst/>
          </a:prstGeom>
          <a:noFill/>
        </p:spPr>
        <p:txBody>
          <a:bodyPr wrap="none" lIns="91440" tIns="45720" rIns="91440" bIns="45720">
            <a:spAutoFit/>
          </a:bodyPr>
          <a:lstStyle/>
          <a:p>
            <a:pPr algn="ctr"/>
            <a:r>
              <a:rPr lang="en-US" altLang="zh-CN" sz="4400" b="1" dirty="0">
                <a:ln w="0"/>
                <a:solidFill>
                  <a:schemeClr val="accent1"/>
                </a:solidFill>
                <a:effectLst>
                  <a:outerShdw blurRad="38100" dist="25400" dir="5400000" algn="ctr" rotWithShape="0">
                    <a:srgbClr val="6E747A">
                      <a:alpha val="43000"/>
                    </a:srgbClr>
                  </a:outerShdw>
                </a:effectLst>
              </a:rPr>
              <a:t>L</a:t>
            </a:r>
            <a:r>
              <a:rPr lang="en-US" altLang="zh-CN" sz="4400" b="1" cap="none" spc="0" dirty="0">
                <a:ln w="0"/>
                <a:solidFill>
                  <a:schemeClr val="accent1"/>
                </a:solidFill>
                <a:effectLst>
                  <a:outerShdw blurRad="38100" dist="25400" dir="5400000" algn="ctr" rotWithShape="0">
                    <a:srgbClr val="6E747A">
                      <a:alpha val="43000"/>
                    </a:srgbClr>
                  </a:outerShdw>
                </a:effectLst>
              </a:rPr>
              <a:t>et's use </a:t>
            </a:r>
            <a:r>
              <a:rPr lang="en-US" altLang="zh-CN" sz="4400" b="1" dirty="0">
                <a:ln w="0"/>
                <a:solidFill>
                  <a:schemeClr val="accent1"/>
                </a:solidFill>
                <a:effectLst>
                  <a:outerShdw blurRad="38100" dist="25400" dir="5400000" algn="ctr" rotWithShape="0">
                    <a:srgbClr val="6E747A">
                      <a:alpha val="43000"/>
                    </a:srgbClr>
                  </a:outerShdw>
                </a:effectLst>
              </a:rPr>
              <a:t>one</a:t>
            </a:r>
            <a:r>
              <a:rPr lang="en-US" altLang="zh-CN" sz="4400" b="1" cap="none" spc="0" dirty="0">
                <a:ln w="0"/>
                <a:solidFill>
                  <a:schemeClr val="accent1"/>
                </a:solidFill>
                <a:effectLst>
                  <a:outerShdw blurRad="38100" dist="25400" dir="5400000" algn="ctr" rotWithShape="0">
                    <a:srgbClr val="6E747A">
                      <a:alpha val="43000"/>
                    </a:srgbClr>
                  </a:outerShdw>
                </a:effectLst>
              </a:rPr>
              <a:t> example to explain these.</a:t>
            </a:r>
            <a:endParaRPr lang="zh-CN" altLang="en-US" sz="4400" b="1"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41668631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5D6A4-356D-2D22-746F-11DC70C0BD4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42AA679-B371-E62E-9C4E-F42F31EF97FB}"/>
              </a:ext>
            </a:extLst>
          </p:cNvPr>
          <p:cNvSpPr>
            <a:spLocks noGrp="1"/>
          </p:cNvSpPr>
          <p:nvPr>
            <p:ph type="title"/>
          </p:nvPr>
        </p:nvSpPr>
        <p:spPr/>
        <p:txBody>
          <a:bodyPr/>
          <a:lstStyle/>
          <a:p>
            <a:r>
              <a:rPr lang="en-US" altLang="zh-CN" b="1" i="1" dirty="0"/>
              <a:t>Task4. Normalization Example</a:t>
            </a:r>
            <a:endParaRPr lang="zh-CN" altLang="en-US" dirty="0"/>
          </a:p>
        </p:txBody>
      </p:sp>
      <p:sp>
        <p:nvSpPr>
          <p:cNvPr id="3" name="内容占位符 2">
            <a:extLst>
              <a:ext uri="{FF2B5EF4-FFF2-40B4-BE49-F238E27FC236}">
                <a16:creationId xmlns:a16="http://schemas.microsoft.com/office/drawing/2014/main" id="{685D2AFC-6087-B4DD-96DA-4F211DDD4E1A}"/>
              </a:ext>
            </a:extLst>
          </p:cNvPr>
          <p:cNvSpPr>
            <a:spLocks noGrp="1"/>
          </p:cNvSpPr>
          <p:nvPr>
            <p:ph idx="1"/>
          </p:nvPr>
        </p:nvSpPr>
        <p:spPr/>
        <p:txBody>
          <a:bodyPr>
            <a:normAutofit/>
          </a:bodyPr>
          <a:lstStyle/>
          <a:p>
            <a:r>
              <a:rPr lang="en-US" altLang="zh-CN" dirty="0"/>
              <a:t>Here is a single table which represents the customer </a:t>
            </a:r>
            <a:r>
              <a:rPr lang="en-US" altLang="zh-CN" b="1" i="1" dirty="0"/>
              <a:t>invoice</a:t>
            </a:r>
            <a:r>
              <a:rPr lang="en-US" altLang="zh-CN" dirty="0"/>
              <a:t> from a company, with the attributes recorded as column headings.</a:t>
            </a:r>
            <a:endParaRPr lang="zh-CN" altLang="zh-CN" dirty="0"/>
          </a:p>
        </p:txBody>
      </p:sp>
      <p:pic>
        <p:nvPicPr>
          <p:cNvPr id="4" name="图片 3">
            <a:extLst>
              <a:ext uri="{FF2B5EF4-FFF2-40B4-BE49-F238E27FC236}">
                <a16:creationId xmlns:a16="http://schemas.microsoft.com/office/drawing/2014/main" id="{CEEB8F18-F809-0AD6-EE3A-82D75760F3A8}"/>
              </a:ext>
            </a:extLst>
          </p:cNvPr>
          <p:cNvPicPr>
            <a:picLocks noChangeAspect="1"/>
          </p:cNvPicPr>
          <p:nvPr/>
        </p:nvPicPr>
        <p:blipFill>
          <a:blip r:embed="rId2"/>
          <a:stretch>
            <a:fillRect/>
          </a:stretch>
        </p:blipFill>
        <p:spPr>
          <a:xfrm>
            <a:off x="1005958" y="2747349"/>
            <a:ext cx="10180084" cy="3745526"/>
          </a:xfrm>
          <a:prstGeom prst="rect">
            <a:avLst/>
          </a:prstGeom>
        </p:spPr>
      </p:pic>
    </p:spTree>
    <p:extLst>
      <p:ext uri="{BB962C8B-B14F-4D97-AF65-F5344CB8AC3E}">
        <p14:creationId xmlns:p14="http://schemas.microsoft.com/office/powerpoint/2010/main" val="20487085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FEA06-BB2A-BA99-A435-01C536F8A0A4}"/>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4040A35F-C68C-6D0F-997F-03699FF5BFD2}"/>
              </a:ext>
            </a:extLst>
          </p:cNvPr>
          <p:cNvSpPr/>
          <p:nvPr/>
        </p:nvSpPr>
        <p:spPr>
          <a:xfrm>
            <a:off x="869950" y="2025650"/>
            <a:ext cx="9969500" cy="85725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8D3B5076-25D5-F48F-98FD-11F5B15BF0E6}"/>
              </a:ext>
            </a:extLst>
          </p:cNvPr>
          <p:cNvSpPr>
            <a:spLocks noGrp="1"/>
          </p:cNvSpPr>
          <p:nvPr>
            <p:ph idx="1"/>
          </p:nvPr>
        </p:nvSpPr>
        <p:spPr>
          <a:xfrm>
            <a:off x="742950" y="268774"/>
            <a:ext cx="10515600" cy="1845776"/>
          </a:xfrm>
        </p:spPr>
        <p:txBody>
          <a:bodyPr>
            <a:normAutofit/>
          </a:bodyPr>
          <a:lstStyle/>
          <a:p>
            <a:r>
              <a:rPr lang="en-US" altLang="zh-CN" dirty="0"/>
              <a:t>Firstly, check if there are any multi-value attributes present in this entity.</a:t>
            </a:r>
          </a:p>
          <a:p>
            <a:r>
              <a:rPr lang="en-US" altLang="zh-CN" dirty="0"/>
              <a:t>For example, Product ID is a multivalued attribute, so the relation is not in first normal form.</a:t>
            </a:r>
          </a:p>
        </p:txBody>
      </p:sp>
      <p:pic>
        <p:nvPicPr>
          <p:cNvPr id="4" name="图片 3">
            <a:extLst>
              <a:ext uri="{FF2B5EF4-FFF2-40B4-BE49-F238E27FC236}">
                <a16:creationId xmlns:a16="http://schemas.microsoft.com/office/drawing/2014/main" id="{6228A41C-9289-C2D8-CF9C-D021663220BA}"/>
              </a:ext>
            </a:extLst>
          </p:cNvPr>
          <p:cNvPicPr>
            <a:picLocks noChangeAspect="1"/>
          </p:cNvPicPr>
          <p:nvPr/>
        </p:nvPicPr>
        <p:blipFill>
          <a:blip r:embed="rId2"/>
          <a:stretch>
            <a:fillRect/>
          </a:stretch>
        </p:blipFill>
        <p:spPr>
          <a:xfrm>
            <a:off x="907016" y="3068657"/>
            <a:ext cx="10180084" cy="3745526"/>
          </a:xfrm>
          <a:prstGeom prst="rect">
            <a:avLst/>
          </a:prstGeom>
        </p:spPr>
      </p:pic>
      <p:sp>
        <p:nvSpPr>
          <p:cNvPr id="8" name="文本框 7">
            <a:extLst>
              <a:ext uri="{FF2B5EF4-FFF2-40B4-BE49-F238E27FC236}">
                <a16:creationId xmlns:a16="http://schemas.microsoft.com/office/drawing/2014/main" id="{DAFDE79E-815F-3110-ED65-8DBDF4647F07}"/>
              </a:ext>
            </a:extLst>
          </p:cNvPr>
          <p:cNvSpPr txBox="1"/>
          <p:nvPr/>
        </p:nvSpPr>
        <p:spPr>
          <a:xfrm>
            <a:off x="907016" y="1977221"/>
            <a:ext cx="10153650" cy="954107"/>
          </a:xfrm>
          <a:prstGeom prst="rect">
            <a:avLst/>
          </a:prstGeom>
          <a:noFill/>
        </p:spPr>
        <p:txBody>
          <a:bodyPr wrap="square">
            <a:spAutoFit/>
          </a:bodyPr>
          <a:lstStyle/>
          <a:p>
            <a:r>
              <a:rPr lang="en-US" altLang="zh-CN" sz="2800" b="1" dirty="0">
                <a:solidFill>
                  <a:srgbClr val="FF0000"/>
                </a:solidFill>
              </a:rPr>
              <a:t>0NF</a:t>
            </a:r>
            <a:r>
              <a:rPr lang="en-US" altLang="zh-CN" sz="2800" dirty="0"/>
              <a:t>- If an entity has multi-value or composite attributes then it is in </a:t>
            </a:r>
            <a:r>
              <a:rPr lang="en-US" altLang="zh-CN" sz="2800" b="1" dirty="0"/>
              <a:t>0 normal form</a:t>
            </a:r>
            <a:r>
              <a:rPr lang="en-US" altLang="zh-CN" sz="2800" dirty="0"/>
              <a:t>.</a:t>
            </a:r>
            <a:endParaRPr lang="zh-CN" altLang="zh-CN" sz="2800" dirty="0"/>
          </a:p>
        </p:txBody>
      </p:sp>
      <p:sp>
        <p:nvSpPr>
          <p:cNvPr id="10" name="矩形 9">
            <a:extLst>
              <a:ext uri="{FF2B5EF4-FFF2-40B4-BE49-F238E27FC236}">
                <a16:creationId xmlns:a16="http://schemas.microsoft.com/office/drawing/2014/main" id="{AF0D1BFE-405E-ECD9-C80A-B1125D93F1A7}"/>
              </a:ext>
            </a:extLst>
          </p:cNvPr>
          <p:cNvSpPr/>
          <p:nvPr/>
        </p:nvSpPr>
        <p:spPr>
          <a:xfrm>
            <a:off x="5676900" y="3187700"/>
            <a:ext cx="5238750" cy="34734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873012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36156-A19B-FE91-10C8-6B5AB1485660}"/>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3C7DD185-A645-C54E-5336-002F30743497}"/>
              </a:ext>
            </a:extLst>
          </p:cNvPr>
          <p:cNvSpPr/>
          <p:nvPr/>
        </p:nvSpPr>
        <p:spPr>
          <a:xfrm>
            <a:off x="831849" y="2493963"/>
            <a:ext cx="10207625" cy="85725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70D45427-AAB9-A7FC-D7F1-8B648B8899E4}"/>
              </a:ext>
            </a:extLst>
          </p:cNvPr>
          <p:cNvSpPr>
            <a:spLocks noGrp="1"/>
          </p:cNvSpPr>
          <p:nvPr>
            <p:ph idx="1"/>
          </p:nvPr>
        </p:nvSpPr>
        <p:spPr>
          <a:xfrm>
            <a:off x="742950" y="268774"/>
            <a:ext cx="10515600" cy="2095868"/>
          </a:xfrm>
        </p:spPr>
        <p:txBody>
          <a:bodyPr>
            <a:normAutofit fontScale="92500" lnSpcReduction="10000"/>
          </a:bodyPr>
          <a:lstStyle/>
          <a:p>
            <a:r>
              <a:rPr lang="en-US" altLang="zh-CN" dirty="0"/>
              <a:t>We'll eliminate the multivalued attribute and </a:t>
            </a:r>
            <a:r>
              <a:rPr lang="en-US" altLang="zh-CN" b="1" dirty="0"/>
              <a:t>create a new table</a:t>
            </a:r>
            <a:r>
              <a:rPr lang="en-US" altLang="zh-CN" dirty="0"/>
              <a:t>. </a:t>
            </a:r>
          </a:p>
          <a:p>
            <a:r>
              <a:rPr lang="en-US" altLang="zh-CN" dirty="0"/>
              <a:t>Now, this entity INVOICE has </a:t>
            </a:r>
            <a:r>
              <a:rPr lang="en-US" altLang="zh-CN" b="1" dirty="0"/>
              <a:t>a composite primary key (</a:t>
            </a:r>
            <a:r>
              <a:rPr lang="en-US" altLang="zh-CN" b="1" dirty="0" err="1"/>
              <a:t>OrderID</a:t>
            </a:r>
            <a:r>
              <a:rPr lang="en-US" altLang="zh-CN" b="1" dirty="0"/>
              <a:t>, </a:t>
            </a:r>
            <a:r>
              <a:rPr lang="en-US" altLang="zh-CN" b="1" dirty="0" err="1"/>
              <a:t>ProductID</a:t>
            </a:r>
            <a:r>
              <a:rPr lang="en-US" altLang="zh-CN" b="1" dirty="0"/>
              <a:t>) </a:t>
            </a:r>
            <a:r>
              <a:rPr lang="en-US" altLang="zh-CN" dirty="0"/>
              <a:t>because there is only one row in the table for any combination of values for these attributes. </a:t>
            </a:r>
          </a:p>
          <a:p>
            <a:r>
              <a:rPr lang="en-US" altLang="zh-CN" dirty="0"/>
              <a:t>So, the relation is in </a:t>
            </a:r>
            <a:r>
              <a:rPr lang="en-US" altLang="zh-CN" b="1" dirty="0"/>
              <a:t>first normal form </a:t>
            </a:r>
            <a:r>
              <a:rPr lang="en-US" altLang="zh-CN" dirty="0"/>
              <a:t>(at least).</a:t>
            </a:r>
            <a:endParaRPr lang="zh-CN" altLang="zh-CN" dirty="0"/>
          </a:p>
        </p:txBody>
      </p:sp>
      <p:sp>
        <p:nvSpPr>
          <p:cNvPr id="8" name="文本框 7">
            <a:extLst>
              <a:ext uri="{FF2B5EF4-FFF2-40B4-BE49-F238E27FC236}">
                <a16:creationId xmlns:a16="http://schemas.microsoft.com/office/drawing/2014/main" id="{A38374B9-F2BB-FFED-8E2B-33140ADAA4C0}"/>
              </a:ext>
            </a:extLst>
          </p:cNvPr>
          <p:cNvSpPr txBox="1"/>
          <p:nvPr/>
        </p:nvSpPr>
        <p:spPr>
          <a:xfrm>
            <a:off x="885824" y="2520216"/>
            <a:ext cx="10153650" cy="830997"/>
          </a:xfrm>
          <a:prstGeom prst="rect">
            <a:avLst/>
          </a:prstGeom>
          <a:noFill/>
        </p:spPr>
        <p:txBody>
          <a:bodyPr wrap="square">
            <a:spAutoFit/>
          </a:bodyPr>
          <a:lstStyle/>
          <a:p>
            <a:r>
              <a:rPr lang="en-US" altLang="zh-CN" sz="2400" b="1" dirty="0">
                <a:solidFill>
                  <a:srgbClr val="FF0000"/>
                </a:solidFill>
              </a:rPr>
              <a:t>1NF</a:t>
            </a:r>
            <a:r>
              <a:rPr lang="en-US" altLang="zh-CN" sz="2400" dirty="0"/>
              <a:t>- If an entity does not have any multi-value or composite attributes, but it has partial dependency/</a:t>
            </a:r>
            <a:r>
              <a:rPr lang="en-US" altLang="zh-CN" sz="2400" dirty="0" err="1"/>
              <a:t>ies</a:t>
            </a:r>
            <a:r>
              <a:rPr lang="en-US" altLang="zh-CN" sz="2400" dirty="0"/>
              <a:t>, then it is in </a:t>
            </a:r>
            <a:r>
              <a:rPr lang="en-US" altLang="zh-CN" sz="2400" b="1" dirty="0"/>
              <a:t>1st normal form</a:t>
            </a:r>
            <a:r>
              <a:rPr lang="en-US" altLang="zh-CN" sz="2400" dirty="0"/>
              <a:t>.</a:t>
            </a:r>
          </a:p>
        </p:txBody>
      </p:sp>
      <p:pic>
        <p:nvPicPr>
          <p:cNvPr id="2" name="图片 1">
            <a:extLst>
              <a:ext uri="{FF2B5EF4-FFF2-40B4-BE49-F238E27FC236}">
                <a16:creationId xmlns:a16="http://schemas.microsoft.com/office/drawing/2014/main" id="{48259999-B538-39EF-DB02-86BF651CAEAB}"/>
              </a:ext>
            </a:extLst>
          </p:cNvPr>
          <p:cNvPicPr>
            <a:picLocks noChangeAspect="1"/>
          </p:cNvPicPr>
          <p:nvPr/>
        </p:nvPicPr>
        <p:blipFill>
          <a:blip r:embed="rId2"/>
          <a:stretch>
            <a:fillRect/>
          </a:stretch>
        </p:blipFill>
        <p:spPr>
          <a:xfrm>
            <a:off x="1293629" y="3506787"/>
            <a:ext cx="8823826" cy="3224213"/>
          </a:xfrm>
          <a:prstGeom prst="rect">
            <a:avLst/>
          </a:prstGeom>
        </p:spPr>
      </p:pic>
    </p:spTree>
    <p:extLst>
      <p:ext uri="{BB962C8B-B14F-4D97-AF65-F5344CB8AC3E}">
        <p14:creationId xmlns:p14="http://schemas.microsoft.com/office/powerpoint/2010/main" val="19297071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7A6A9-7042-BF89-DEF4-AEA2B745CB38}"/>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538DC842-8AF6-9368-551A-EBA64A9E08E2}"/>
              </a:ext>
            </a:extLst>
          </p:cNvPr>
          <p:cNvSpPr/>
          <p:nvPr/>
        </p:nvSpPr>
        <p:spPr>
          <a:xfrm>
            <a:off x="806449" y="3535363"/>
            <a:ext cx="4692651" cy="3167062"/>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0FE3B648-85C5-2275-8FD7-416EAD050DFD}"/>
              </a:ext>
            </a:extLst>
          </p:cNvPr>
          <p:cNvSpPr>
            <a:spLocks noGrp="1"/>
          </p:cNvSpPr>
          <p:nvPr>
            <p:ph idx="1"/>
          </p:nvPr>
        </p:nvSpPr>
        <p:spPr>
          <a:xfrm>
            <a:off x="742950" y="268774"/>
            <a:ext cx="10515600" cy="854702"/>
          </a:xfrm>
        </p:spPr>
        <p:txBody>
          <a:bodyPr>
            <a:normAutofit lnSpcReduction="10000"/>
          </a:bodyPr>
          <a:lstStyle/>
          <a:p>
            <a:pPr marL="0" indent="0">
              <a:buNone/>
            </a:pPr>
            <a:r>
              <a:rPr lang="en-US" altLang="zh-CN" dirty="0"/>
              <a:t>However, the following partial dependencies exist, so the relation is not in second normal form. </a:t>
            </a:r>
            <a:endParaRPr lang="zh-CN" altLang="zh-CN" dirty="0"/>
          </a:p>
        </p:txBody>
      </p:sp>
      <p:sp>
        <p:nvSpPr>
          <p:cNvPr id="8" name="文本框 7">
            <a:extLst>
              <a:ext uri="{FF2B5EF4-FFF2-40B4-BE49-F238E27FC236}">
                <a16:creationId xmlns:a16="http://schemas.microsoft.com/office/drawing/2014/main" id="{F691CD7E-160B-61D0-15D7-53A2B490198F}"/>
              </a:ext>
            </a:extLst>
          </p:cNvPr>
          <p:cNvSpPr txBox="1"/>
          <p:nvPr/>
        </p:nvSpPr>
        <p:spPr>
          <a:xfrm>
            <a:off x="400049" y="3687733"/>
            <a:ext cx="5099051" cy="2862322"/>
          </a:xfrm>
          <a:prstGeom prst="rect">
            <a:avLst/>
          </a:prstGeom>
          <a:noFill/>
        </p:spPr>
        <p:txBody>
          <a:bodyPr wrap="square">
            <a:spAutoFit/>
          </a:bodyPr>
          <a:lstStyle/>
          <a:p>
            <a:pPr lvl="1"/>
            <a:r>
              <a:rPr lang="en-US" altLang="zh-CN" sz="2000" b="1" dirty="0">
                <a:solidFill>
                  <a:srgbClr val="FF0000"/>
                </a:solidFill>
              </a:rPr>
              <a:t>2NF</a:t>
            </a:r>
            <a:r>
              <a:rPr lang="en-US" altLang="zh-CN" sz="2000" dirty="0"/>
              <a:t>- If an entity does not have any multi-value or composite and partial dependency/</a:t>
            </a:r>
            <a:r>
              <a:rPr lang="en-US" altLang="zh-CN" sz="2000" dirty="0" err="1"/>
              <a:t>ies</a:t>
            </a:r>
            <a:r>
              <a:rPr lang="en-US" altLang="zh-CN" sz="2000" dirty="0"/>
              <a:t>, but has transitive dependency/</a:t>
            </a:r>
            <a:r>
              <a:rPr lang="en-US" altLang="zh-CN" sz="2000" dirty="0" err="1"/>
              <a:t>ies</a:t>
            </a:r>
            <a:r>
              <a:rPr lang="en-US" altLang="zh-CN" sz="2000" dirty="0"/>
              <a:t>, then it is in </a:t>
            </a:r>
            <a:r>
              <a:rPr lang="en-US" altLang="zh-CN" sz="2000" b="1" dirty="0"/>
              <a:t>2nd normal form</a:t>
            </a:r>
            <a:r>
              <a:rPr lang="en-US" altLang="zh-CN" sz="2000" dirty="0"/>
              <a:t>.</a:t>
            </a:r>
          </a:p>
          <a:p>
            <a:pPr lvl="1"/>
            <a:r>
              <a:rPr lang="en-US" altLang="zh-CN" sz="2000" dirty="0"/>
              <a:t>A </a:t>
            </a:r>
            <a:r>
              <a:rPr lang="en-US" altLang="zh-CN" sz="2000" b="1" dirty="0">
                <a:solidFill>
                  <a:srgbClr val="FF0000"/>
                </a:solidFill>
              </a:rPr>
              <a:t>partial functional dependency </a:t>
            </a:r>
            <a:r>
              <a:rPr lang="en-US" altLang="zh-CN" sz="2000" dirty="0"/>
              <a:t>exists when a </a:t>
            </a:r>
            <a:r>
              <a:rPr lang="en-US" altLang="zh-CN" sz="2000" dirty="0" err="1"/>
              <a:t>nonkey</a:t>
            </a:r>
            <a:r>
              <a:rPr lang="en-US" altLang="zh-CN" sz="2000" dirty="0"/>
              <a:t> attribute is functionally dependent on part (but not all) of the primary key.</a:t>
            </a:r>
            <a:endParaRPr lang="zh-CN" altLang="zh-CN" sz="2000" dirty="0"/>
          </a:p>
        </p:txBody>
      </p:sp>
      <p:pic>
        <p:nvPicPr>
          <p:cNvPr id="2" name="图片 1">
            <a:extLst>
              <a:ext uri="{FF2B5EF4-FFF2-40B4-BE49-F238E27FC236}">
                <a16:creationId xmlns:a16="http://schemas.microsoft.com/office/drawing/2014/main" id="{5BD41B37-6C6A-6A39-D2E0-E0D66D5CAC60}"/>
              </a:ext>
            </a:extLst>
          </p:cNvPr>
          <p:cNvPicPr>
            <a:picLocks noChangeAspect="1"/>
          </p:cNvPicPr>
          <p:nvPr/>
        </p:nvPicPr>
        <p:blipFill>
          <a:blip r:embed="rId2"/>
          <a:stretch>
            <a:fillRect/>
          </a:stretch>
        </p:blipFill>
        <p:spPr>
          <a:xfrm>
            <a:off x="5880099" y="3506788"/>
            <a:ext cx="6174105" cy="3224213"/>
          </a:xfrm>
          <a:prstGeom prst="rect">
            <a:avLst/>
          </a:prstGeom>
        </p:spPr>
      </p:pic>
      <p:pic>
        <p:nvPicPr>
          <p:cNvPr id="4" name="图片 3">
            <a:extLst>
              <a:ext uri="{FF2B5EF4-FFF2-40B4-BE49-F238E27FC236}">
                <a16:creationId xmlns:a16="http://schemas.microsoft.com/office/drawing/2014/main" id="{FB5E7AC2-9CC9-A187-9615-47D1519DDED8}"/>
              </a:ext>
            </a:extLst>
          </p:cNvPr>
          <p:cNvPicPr>
            <a:picLocks noChangeAspect="1"/>
          </p:cNvPicPr>
          <p:nvPr/>
        </p:nvPicPr>
        <p:blipFill>
          <a:blip r:embed="rId3"/>
          <a:stretch>
            <a:fillRect/>
          </a:stretch>
        </p:blipFill>
        <p:spPr>
          <a:xfrm>
            <a:off x="2648588" y="1123476"/>
            <a:ext cx="6463022" cy="582731"/>
          </a:xfrm>
          <a:prstGeom prst="rect">
            <a:avLst/>
          </a:prstGeom>
        </p:spPr>
      </p:pic>
      <p:sp>
        <p:nvSpPr>
          <p:cNvPr id="5" name="内容占位符 2">
            <a:extLst>
              <a:ext uri="{FF2B5EF4-FFF2-40B4-BE49-F238E27FC236}">
                <a16:creationId xmlns:a16="http://schemas.microsoft.com/office/drawing/2014/main" id="{55A41D42-7F6B-28AC-FAA7-2485F980B976}"/>
              </a:ext>
            </a:extLst>
          </p:cNvPr>
          <p:cNvSpPr txBox="1">
            <a:spLocks/>
          </p:cNvSpPr>
          <p:nvPr/>
        </p:nvSpPr>
        <p:spPr>
          <a:xfrm>
            <a:off x="742950" y="1789135"/>
            <a:ext cx="9353550" cy="1746227"/>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altLang="zh-CN" dirty="0"/>
              <a:t>(</a:t>
            </a:r>
            <a:r>
              <a:rPr lang="en-US" altLang="zh-CN" dirty="0" err="1"/>
              <a:t>OrderID</a:t>
            </a:r>
            <a:r>
              <a:rPr lang="en-US" altLang="zh-CN" dirty="0"/>
              <a:t>, </a:t>
            </a:r>
            <a:r>
              <a:rPr lang="en-US" altLang="zh-CN" dirty="0" err="1"/>
              <a:t>ProductID</a:t>
            </a:r>
            <a:r>
              <a:rPr lang="en-US" altLang="zh-CN" dirty="0"/>
              <a:t>) is the </a:t>
            </a:r>
            <a:r>
              <a:rPr lang="en-US" altLang="zh-CN" b="1" dirty="0"/>
              <a:t>composite primary key </a:t>
            </a:r>
            <a:r>
              <a:rPr lang="en-US" altLang="zh-CN" dirty="0"/>
              <a:t>of the entity. </a:t>
            </a:r>
          </a:p>
          <a:p>
            <a:pPr>
              <a:lnSpc>
                <a:spcPct val="110000"/>
              </a:lnSpc>
            </a:pPr>
            <a:r>
              <a:rPr lang="en-US" altLang="zh-CN" dirty="0"/>
              <a:t>However, the date on an order (</a:t>
            </a:r>
            <a:r>
              <a:rPr lang="en-US" altLang="zh-CN" dirty="0" err="1"/>
              <a:t>OrderDate</a:t>
            </a:r>
            <a:r>
              <a:rPr lang="en-US" altLang="zh-CN" dirty="0"/>
              <a:t>) is uniquely determined by the order number (</a:t>
            </a:r>
            <a:r>
              <a:rPr lang="en-US" altLang="zh-CN" dirty="0" err="1"/>
              <a:t>OrderID</a:t>
            </a:r>
            <a:r>
              <a:rPr lang="en-US" altLang="zh-CN" dirty="0"/>
              <a:t>) and has nothing to do with the </a:t>
            </a:r>
            <a:r>
              <a:rPr lang="en-US" altLang="zh-CN" dirty="0" err="1"/>
              <a:t>ProductID</a:t>
            </a:r>
            <a:r>
              <a:rPr lang="en-US" altLang="zh-CN" dirty="0"/>
              <a:t>!</a:t>
            </a:r>
          </a:p>
        </p:txBody>
      </p:sp>
      <p:sp>
        <p:nvSpPr>
          <p:cNvPr id="7" name="矩形 6">
            <a:extLst>
              <a:ext uri="{FF2B5EF4-FFF2-40B4-BE49-F238E27FC236}">
                <a16:creationId xmlns:a16="http://schemas.microsoft.com/office/drawing/2014/main" id="{FCB3E8ED-DB9D-4058-12BE-F5200EA51A5E}"/>
              </a:ext>
            </a:extLst>
          </p:cNvPr>
          <p:cNvSpPr/>
          <p:nvPr/>
        </p:nvSpPr>
        <p:spPr>
          <a:xfrm>
            <a:off x="10496550" y="2170658"/>
            <a:ext cx="1416050" cy="92551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CN" sz="1600" b="1" dirty="0">
                <a:ln w="0"/>
                <a:solidFill>
                  <a:schemeClr val="tx1"/>
                </a:solidFill>
                <a:effectLst>
                  <a:outerShdw blurRad="38100" dist="19050" dir="2700000" algn="tl" rotWithShape="0">
                    <a:schemeClr val="dk1">
                      <a:alpha val="40000"/>
                    </a:schemeClr>
                  </a:outerShdw>
                </a:effectLst>
              </a:rPr>
              <a:t>partial</a:t>
            </a:r>
          </a:p>
          <a:p>
            <a:pPr algn="ctr"/>
            <a:r>
              <a:rPr lang="en-US" altLang="zh-CN" sz="1600" b="1" dirty="0">
                <a:ln w="0"/>
                <a:solidFill>
                  <a:schemeClr val="tx1"/>
                </a:solidFill>
                <a:effectLst>
                  <a:outerShdw blurRad="38100" dist="19050" dir="2700000" algn="tl" rotWithShape="0">
                    <a:schemeClr val="dk1">
                      <a:alpha val="40000"/>
                    </a:schemeClr>
                  </a:outerShdw>
                </a:effectLst>
              </a:rPr>
              <a:t>functional</a:t>
            </a:r>
          </a:p>
          <a:p>
            <a:pPr algn="ctr"/>
            <a:r>
              <a:rPr lang="en-US" altLang="zh-CN" sz="1600" b="1" dirty="0">
                <a:ln w="0"/>
                <a:solidFill>
                  <a:schemeClr val="tx1"/>
                </a:solidFill>
                <a:effectLst>
                  <a:outerShdw blurRad="38100" dist="19050" dir="2700000" algn="tl" rotWithShape="0">
                    <a:schemeClr val="dk1">
                      <a:alpha val="40000"/>
                    </a:schemeClr>
                  </a:outerShdw>
                </a:effectLst>
              </a:rPr>
              <a:t>dependency</a:t>
            </a:r>
            <a:endParaRPr lang="zh-CN" altLang="en-US" sz="1600" b="1" dirty="0">
              <a:ln w="0"/>
              <a:solidFill>
                <a:schemeClr val="tx1"/>
              </a:solidFill>
              <a:effectLst>
                <a:outerShdw blurRad="38100" dist="19050" dir="2700000" algn="tl" rotWithShape="0">
                  <a:schemeClr val="dk1">
                    <a:alpha val="40000"/>
                  </a:schemeClr>
                </a:outerShdw>
              </a:effectLst>
            </a:endParaRPr>
          </a:p>
        </p:txBody>
      </p:sp>
      <p:sp>
        <p:nvSpPr>
          <p:cNvPr id="10" name="箭头: 右 9">
            <a:extLst>
              <a:ext uri="{FF2B5EF4-FFF2-40B4-BE49-F238E27FC236}">
                <a16:creationId xmlns:a16="http://schemas.microsoft.com/office/drawing/2014/main" id="{07895375-C958-97D8-53C8-3A3549FD3924}"/>
              </a:ext>
            </a:extLst>
          </p:cNvPr>
          <p:cNvSpPr/>
          <p:nvPr/>
        </p:nvSpPr>
        <p:spPr>
          <a:xfrm>
            <a:off x="9925050" y="2425700"/>
            <a:ext cx="431800" cy="4154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016233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12E5E-6ADE-3CB6-7D61-F665174F38F8}"/>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DED0516F-C422-AB49-8D30-AED7B57D0736}"/>
              </a:ext>
            </a:extLst>
          </p:cNvPr>
          <p:cNvSpPr>
            <a:spLocks noGrp="1"/>
          </p:cNvSpPr>
          <p:nvPr>
            <p:ph idx="1"/>
          </p:nvPr>
        </p:nvSpPr>
        <p:spPr>
          <a:xfrm>
            <a:off x="742950" y="268773"/>
            <a:ext cx="10515600" cy="2271228"/>
          </a:xfrm>
        </p:spPr>
        <p:txBody>
          <a:bodyPr>
            <a:normAutofit/>
          </a:bodyPr>
          <a:lstStyle/>
          <a:p>
            <a:pPr>
              <a:lnSpc>
                <a:spcPct val="100000"/>
              </a:lnSpc>
            </a:pPr>
            <a:r>
              <a:rPr lang="en-US" altLang="zh-CN" sz="2000" dirty="0"/>
              <a:t>To convert it to second normal form, we </a:t>
            </a:r>
            <a:r>
              <a:rPr lang="en-US" altLang="zh-CN" sz="2000" dirty="0">
                <a:solidFill>
                  <a:srgbClr val="FF0000"/>
                </a:solidFill>
              </a:rPr>
              <a:t>create a new relation</a:t>
            </a:r>
            <a:r>
              <a:rPr lang="en-US" altLang="zh-CN" sz="2000" b="1" dirty="0"/>
              <a:t> </a:t>
            </a:r>
            <a:r>
              <a:rPr lang="en-US" altLang="zh-CN" sz="2000" dirty="0"/>
              <a:t>for each primary key attribute that is a </a:t>
            </a:r>
            <a:r>
              <a:rPr lang="en-US" altLang="zh-CN" sz="2000" dirty="0">
                <a:solidFill>
                  <a:srgbClr val="FF0000"/>
                </a:solidFill>
              </a:rPr>
              <a:t>determinant in a partial dependency</a:t>
            </a:r>
            <a:r>
              <a:rPr lang="en-US" altLang="zh-CN" sz="2000" dirty="0"/>
              <a:t>.</a:t>
            </a:r>
          </a:p>
          <a:p>
            <a:pPr>
              <a:lnSpc>
                <a:spcPct val="100000"/>
              </a:lnSpc>
            </a:pPr>
            <a:r>
              <a:rPr lang="en-US" altLang="zh-CN" sz="2000" dirty="0"/>
              <a:t>Since </a:t>
            </a:r>
            <a:r>
              <a:rPr lang="en-US" altLang="zh-CN" sz="2000" dirty="0" err="1"/>
              <a:t>OrderedQuantity</a:t>
            </a:r>
            <a:r>
              <a:rPr lang="en-US" altLang="zh-CN" sz="2000" dirty="0"/>
              <a:t> is the only attribute that </a:t>
            </a:r>
            <a:r>
              <a:rPr lang="en-US" altLang="zh-CN" sz="2000" dirty="0">
                <a:solidFill>
                  <a:srgbClr val="FF0000"/>
                </a:solidFill>
              </a:rPr>
              <a:t>fully depends on the composite primary key </a:t>
            </a:r>
            <a:r>
              <a:rPr lang="en-US" altLang="zh-CN" sz="2000" dirty="0"/>
              <a:t>(</a:t>
            </a:r>
            <a:r>
              <a:rPr lang="en-US" altLang="zh-CN" sz="2000" dirty="0" err="1"/>
              <a:t>OrderID</a:t>
            </a:r>
            <a:r>
              <a:rPr lang="en-US" altLang="zh-CN" sz="2000" dirty="0"/>
              <a:t>, </a:t>
            </a:r>
            <a:r>
              <a:rPr lang="en-US" altLang="zh-CN" sz="2000" dirty="0" err="1"/>
              <a:t>ProductID</a:t>
            </a:r>
            <a:r>
              <a:rPr lang="en-US" altLang="zh-CN" sz="2000" dirty="0"/>
              <a:t>), we also create a new relation for this.</a:t>
            </a:r>
          </a:p>
          <a:p>
            <a:pPr>
              <a:lnSpc>
                <a:spcPct val="100000"/>
              </a:lnSpc>
            </a:pPr>
            <a:r>
              <a:rPr lang="en-US" altLang="zh-CN" sz="2000" dirty="0"/>
              <a:t>However, there exist </a:t>
            </a:r>
            <a:r>
              <a:rPr lang="en-US" altLang="zh-CN" sz="2000" dirty="0">
                <a:solidFill>
                  <a:srgbClr val="FF0000"/>
                </a:solidFill>
              </a:rPr>
              <a:t>transitive dependencies </a:t>
            </a:r>
            <a:r>
              <a:rPr lang="en-US" altLang="zh-CN" sz="2000" dirty="0"/>
              <a:t>in CUSTOMER ORDER relation. Thus, the CUSTOMER ORDER is in second normal form instead of third normal form. </a:t>
            </a:r>
          </a:p>
          <a:p>
            <a:pPr>
              <a:lnSpc>
                <a:spcPct val="100000"/>
              </a:lnSpc>
            </a:pPr>
            <a:endParaRPr lang="zh-CN" altLang="zh-CN" sz="2000" dirty="0"/>
          </a:p>
        </p:txBody>
      </p:sp>
      <p:pic>
        <p:nvPicPr>
          <p:cNvPr id="6" name="图片 5">
            <a:extLst>
              <a:ext uri="{FF2B5EF4-FFF2-40B4-BE49-F238E27FC236}">
                <a16:creationId xmlns:a16="http://schemas.microsoft.com/office/drawing/2014/main" id="{D4DB849C-62A9-0641-E8C3-8E2643D4F79F}"/>
              </a:ext>
            </a:extLst>
          </p:cNvPr>
          <p:cNvPicPr>
            <a:picLocks noChangeAspect="1"/>
          </p:cNvPicPr>
          <p:nvPr/>
        </p:nvPicPr>
        <p:blipFill>
          <a:blip r:embed="rId2"/>
          <a:stretch>
            <a:fillRect/>
          </a:stretch>
        </p:blipFill>
        <p:spPr>
          <a:xfrm>
            <a:off x="6719572" y="3728234"/>
            <a:ext cx="4807584" cy="2860993"/>
          </a:xfrm>
          <a:prstGeom prst="rect">
            <a:avLst/>
          </a:prstGeom>
        </p:spPr>
      </p:pic>
      <p:sp>
        <p:nvSpPr>
          <p:cNvPr id="11" name="矩形 10">
            <a:extLst>
              <a:ext uri="{FF2B5EF4-FFF2-40B4-BE49-F238E27FC236}">
                <a16:creationId xmlns:a16="http://schemas.microsoft.com/office/drawing/2014/main" id="{AD2E8744-B2B1-9938-D577-25CE3D139002}"/>
              </a:ext>
            </a:extLst>
          </p:cNvPr>
          <p:cNvSpPr/>
          <p:nvPr/>
        </p:nvSpPr>
        <p:spPr>
          <a:xfrm>
            <a:off x="664845" y="3728234"/>
            <a:ext cx="6054727" cy="2860993"/>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374D3A5A-3419-4604-58D3-8A88F70E2886}"/>
              </a:ext>
            </a:extLst>
          </p:cNvPr>
          <p:cNvSpPr txBox="1"/>
          <p:nvPr/>
        </p:nvSpPr>
        <p:spPr>
          <a:xfrm>
            <a:off x="742950" y="3728234"/>
            <a:ext cx="6054726" cy="2862322"/>
          </a:xfrm>
          <a:prstGeom prst="rect">
            <a:avLst/>
          </a:prstGeom>
          <a:noFill/>
        </p:spPr>
        <p:txBody>
          <a:bodyPr wrap="square">
            <a:spAutoFit/>
          </a:bodyPr>
          <a:lstStyle/>
          <a:p>
            <a:r>
              <a:rPr lang="en-US" altLang="zh-CN" sz="2000" b="1" dirty="0">
                <a:solidFill>
                  <a:srgbClr val="FF0000"/>
                </a:solidFill>
              </a:rPr>
              <a:t>3NF</a:t>
            </a:r>
            <a:r>
              <a:rPr lang="en-US" altLang="zh-CN" sz="2000" dirty="0"/>
              <a:t>- If an entity does not have any multi-value or composite and partial and transitive dependency/</a:t>
            </a:r>
            <a:r>
              <a:rPr lang="en-US" altLang="zh-CN" sz="2000" dirty="0" err="1"/>
              <a:t>ies</a:t>
            </a:r>
            <a:r>
              <a:rPr lang="en-US" altLang="zh-CN" sz="2000" dirty="0"/>
              <a:t> and all its non-unique attributes depend on primary key (composite or single) , then it is in </a:t>
            </a:r>
            <a:r>
              <a:rPr lang="en-US" altLang="zh-CN" sz="2000" b="1" dirty="0"/>
              <a:t>3rd normal form</a:t>
            </a:r>
            <a:r>
              <a:rPr lang="en-US" altLang="zh-CN" sz="2000" dirty="0"/>
              <a:t>.</a:t>
            </a:r>
          </a:p>
          <a:p>
            <a:r>
              <a:rPr lang="en-US" altLang="zh-CN" sz="2000" dirty="0"/>
              <a:t>A </a:t>
            </a:r>
            <a:r>
              <a:rPr lang="en-US" altLang="zh-CN" sz="2000" b="1" dirty="0">
                <a:solidFill>
                  <a:srgbClr val="FF0000"/>
                </a:solidFill>
              </a:rPr>
              <a:t>transitive dependency </a:t>
            </a:r>
            <a:r>
              <a:rPr lang="en-US" altLang="zh-CN" sz="2000" dirty="0"/>
              <a:t>in a relation is a functional dependency between the primary key and one or more </a:t>
            </a:r>
            <a:r>
              <a:rPr lang="en-US" altLang="zh-CN" sz="2000" dirty="0" err="1"/>
              <a:t>nonkey</a:t>
            </a:r>
            <a:r>
              <a:rPr lang="en-US" altLang="zh-CN" sz="2000" dirty="0"/>
              <a:t> attributes that are dependent on the primary key via another </a:t>
            </a:r>
            <a:r>
              <a:rPr lang="en-US" altLang="zh-CN" sz="2000" dirty="0" err="1"/>
              <a:t>nonkey</a:t>
            </a:r>
            <a:r>
              <a:rPr lang="en-US" altLang="zh-CN" sz="2000" dirty="0"/>
              <a:t> attribute.</a:t>
            </a:r>
            <a:endParaRPr lang="en-US" altLang="zh-CN" sz="2400" dirty="0"/>
          </a:p>
        </p:txBody>
      </p:sp>
      <p:pic>
        <p:nvPicPr>
          <p:cNvPr id="13" name="图片 12">
            <a:extLst>
              <a:ext uri="{FF2B5EF4-FFF2-40B4-BE49-F238E27FC236}">
                <a16:creationId xmlns:a16="http://schemas.microsoft.com/office/drawing/2014/main" id="{03560226-E82E-7AD6-D6FE-DEA33AB162AD}"/>
              </a:ext>
            </a:extLst>
          </p:cNvPr>
          <p:cNvPicPr>
            <a:picLocks noChangeAspect="1"/>
          </p:cNvPicPr>
          <p:nvPr/>
        </p:nvPicPr>
        <p:blipFill>
          <a:blip r:embed="rId3"/>
          <a:stretch>
            <a:fillRect/>
          </a:stretch>
        </p:blipFill>
        <p:spPr>
          <a:xfrm>
            <a:off x="2039086" y="2562860"/>
            <a:ext cx="7858024" cy="866140"/>
          </a:xfrm>
          <a:prstGeom prst="rect">
            <a:avLst/>
          </a:prstGeom>
        </p:spPr>
      </p:pic>
      <p:sp>
        <p:nvSpPr>
          <p:cNvPr id="2" name="矩形 1">
            <a:extLst>
              <a:ext uri="{FF2B5EF4-FFF2-40B4-BE49-F238E27FC236}">
                <a16:creationId xmlns:a16="http://schemas.microsoft.com/office/drawing/2014/main" id="{D8A8F787-2426-3D75-C480-6D814110537C}"/>
              </a:ext>
            </a:extLst>
          </p:cNvPr>
          <p:cNvSpPr/>
          <p:nvPr/>
        </p:nvSpPr>
        <p:spPr>
          <a:xfrm>
            <a:off x="6797676" y="5329084"/>
            <a:ext cx="4651374" cy="116020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014433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C562B-453E-8930-D931-1C27B2836592}"/>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B25B9266-792B-20C6-56BA-217BD3FE6491}"/>
              </a:ext>
            </a:extLst>
          </p:cNvPr>
          <p:cNvSpPr>
            <a:spLocks noGrp="1"/>
          </p:cNvSpPr>
          <p:nvPr>
            <p:ph idx="1"/>
          </p:nvPr>
        </p:nvSpPr>
        <p:spPr>
          <a:xfrm>
            <a:off x="742950" y="268772"/>
            <a:ext cx="10515600" cy="3985728"/>
          </a:xfrm>
        </p:spPr>
        <p:txBody>
          <a:bodyPr>
            <a:normAutofit/>
          </a:bodyPr>
          <a:lstStyle/>
          <a:p>
            <a:pPr marL="0" indent="0">
              <a:lnSpc>
                <a:spcPct val="120000"/>
              </a:lnSpc>
              <a:buNone/>
            </a:pPr>
            <a:r>
              <a:rPr lang="en-US" altLang="zh-CN" dirty="0"/>
              <a:t>We can easily remove transitive dependencies from a relation by means of a </a:t>
            </a:r>
            <a:r>
              <a:rPr lang="en-US" altLang="zh-CN" b="1" dirty="0"/>
              <a:t>three-step procedure</a:t>
            </a:r>
            <a:r>
              <a:rPr lang="en-US" altLang="zh-CN" dirty="0"/>
              <a:t>:</a:t>
            </a:r>
            <a:endParaRPr lang="zh-CN" altLang="zh-CN" dirty="0"/>
          </a:p>
          <a:p>
            <a:pPr>
              <a:lnSpc>
                <a:spcPct val="120000"/>
              </a:lnSpc>
            </a:pPr>
            <a:r>
              <a:rPr lang="en-US" altLang="zh-CN" b="1" dirty="0"/>
              <a:t>Step 1</a:t>
            </a:r>
            <a:r>
              <a:rPr lang="en-US" altLang="zh-CN" dirty="0"/>
              <a:t>. For each </a:t>
            </a:r>
            <a:r>
              <a:rPr lang="en-US" altLang="zh-CN" dirty="0" err="1"/>
              <a:t>nonkey</a:t>
            </a:r>
            <a:r>
              <a:rPr lang="en-US" altLang="zh-CN" dirty="0"/>
              <a:t> attribute that is a </a:t>
            </a:r>
            <a:r>
              <a:rPr lang="en-US" altLang="zh-CN" b="1" dirty="0"/>
              <a:t>determinant</a:t>
            </a:r>
            <a:r>
              <a:rPr lang="en-US" altLang="zh-CN" dirty="0"/>
              <a:t> in a relation, create a new relation. That attribute becomes the primary key of the new relation.</a:t>
            </a:r>
            <a:endParaRPr lang="zh-CN" altLang="zh-CN" dirty="0"/>
          </a:p>
        </p:txBody>
      </p:sp>
      <p:pic>
        <p:nvPicPr>
          <p:cNvPr id="6" name="图片 5">
            <a:extLst>
              <a:ext uri="{FF2B5EF4-FFF2-40B4-BE49-F238E27FC236}">
                <a16:creationId xmlns:a16="http://schemas.microsoft.com/office/drawing/2014/main" id="{458E7CA2-6799-4DC8-2EE2-4C2B79BDF944}"/>
              </a:ext>
            </a:extLst>
          </p:cNvPr>
          <p:cNvPicPr>
            <a:picLocks noChangeAspect="1"/>
          </p:cNvPicPr>
          <p:nvPr/>
        </p:nvPicPr>
        <p:blipFill>
          <a:blip r:embed="rId2"/>
          <a:stretch>
            <a:fillRect/>
          </a:stretch>
        </p:blipFill>
        <p:spPr>
          <a:xfrm>
            <a:off x="584848" y="4035733"/>
            <a:ext cx="6774767" cy="1905165"/>
          </a:xfrm>
          <a:prstGeom prst="rect">
            <a:avLst/>
          </a:prstGeom>
        </p:spPr>
      </p:pic>
      <p:pic>
        <p:nvPicPr>
          <p:cNvPr id="8" name="图片 7">
            <a:extLst>
              <a:ext uri="{FF2B5EF4-FFF2-40B4-BE49-F238E27FC236}">
                <a16:creationId xmlns:a16="http://schemas.microsoft.com/office/drawing/2014/main" id="{7B8DF87E-0532-9FE5-F598-ECBC735DD62E}"/>
              </a:ext>
            </a:extLst>
          </p:cNvPr>
          <p:cNvPicPr>
            <a:picLocks noChangeAspect="1"/>
          </p:cNvPicPr>
          <p:nvPr/>
        </p:nvPicPr>
        <p:blipFill>
          <a:blip r:embed="rId3"/>
          <a:srcRect t="57743"/>
          <a:stretch>
            <a:fillRect/>
          </a:stretch>
        </p:blipFill>
        <p:spPr>
          <a:xfrm>
            <a:off x="9095584" y="4418587"/>
            <a:ext cx="2613887" cy="898449"/>
          </a:xfrm>
          <a:prstGeom prst="rect">
            <a:avLst/>
          </a:prstGeom>
        </p:spPr>
      </p:pic>
      <p:sp>
        <p:nvSpPr>
          <p:cNvPr id="9" name="箭头: 右 8">
            <a:extLst>
              <a:ext uri="{FF2B5EF4-FFF2-40B4-BE49-F238E27FC236}">
                <a16:creationId xmlns:a16="http://schemas.microsoft.com/office/drawing/2014/main" id="{A935EFB3-1D67-6763-403E-B1070E322E69}"/>
              </a:ext>
            </a:extLst>
          </p:cNvPr>
          <p:cNvSpPr/>
          <p:nvPr/>
        </p:nvSpPr>
        <p:spPr>
          <a:xfrm>
            <a:off x="7819561" y="4582677"/>
            <a:ext cx="816077" cy="570271"/>
          </a:xfrm>
          <a:prstGeom prst="rightArrow">
            <a:avLst/>
          </a:prstGeom>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CF421846-E4DF-2527-68E7-E2DAF34E664B}"/>
              </a:ext>
            </a:extLst>
          </p:cNvPr>
          <p:cNvSpPr txBox="1"/>
          <p:nvPr/>
        </p:nvSpPr>
        <p:spPr>
          <a:xfrm>
            <a:off x="7440364" y="3967752"/>
            <a:ext cx="1574470" cy="646331"/>
          </a:xfrm>
          <a:prstGeom prst="rect">
            <a:avLst/>
          </a:prstGeom>
          <a:noFill/>
        </p:spPr>
        <p:txBody>
          <a:bodyPr wrap="none" rtlCol="0">
            <a:spAutoFit/>
          </a:bodyPr>
          <a:lstStyle/>
          <a:p>
            <a:pPr algn="ctr"/>
            <a:r>
              <a:rPr lang="en-US" altLang="zh-CN" b="1" dirty="0"/>
              <a:t>create a new </a:t>
            </a:r>
          </a:p>
          <a:p>
            <a:pPr algn="ctr"/>
            <a:r>
              <a:rPr lang="en-US" altLang="zh-CN" b="1" dirty="0"/>
              <a:t>relation</a:t>
            </a:r>
            <a:endParaRPr lang="zh-CN" altLang="en-US" b="1" dirty="0"/>
          </a:p>
        </p:txBody>
      </p:sp>
    </p:spTree>
    <p:extLst>
      <p:ext uri="{BB962C8B-B14F-4D97-AF65-F5344CB8AC3E}">
        <p14:creationId xmlns:p14="http://schemas.microsoft.com/office/powerpoint/2010/main" val="7854100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48EF9-A318-8637-FCB8-2634F730FAA1}"/>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2D4DB36B-2935-B56C-BCDD-D053D5CA884C}"/>
              </a:ext>
            </a:extLst>
          </p:cNvPr>
          <p:cNvSpPr>
            <a:spLocks noGrp="1"/>
          </p:cNvSpPr>
          <p:nvPr>
            <p:ph idx="1"/>
          </p:nvPr>
        </p:nvSpPr>
        <p:spPr>
          <a:xfrm>
            <a:off x="742950" y="268772"/>
            <a:ext cx="10515600" cy="3985728"/>
          </a:xfrm>
        </p:spPr>
        <p:txBody>
          <a:bodyPr>
            <a:normAutofit/>
          </a:bodyPr>
          <a:lstStyle/>
          <a:p>
            <a:pPr>
              <a:lnSpc>
                <a:spcPct val="120000"/>
              </a:lnSpc>
            </a:pPr>
            <a:r>
              <a:rPr lang="en-US" altLang="zh-CN" b="1" dirty="0"/>
              <a:t>Step 2</a:t>
            </a:r>
            <a:r>
              <a:rPr lang="en-US" altLang="zh-CN" dirty="0"/>
              <a:t>. </a:t>
            </a:r>
            <a:r>
              <a:rPr lang="en-US" altLang="zh-CN" u="sng" dirty="0"/>
              <a:t>Move</a:t>
            </a:r>
            <a:r>
              <a:rPr lang="en-US" altLang="zh-CN" dirty="0"/>
              <a:t> all of the </a:t>
            </a:r>
            <a:r>
              <a:rPr lang="en-US" altLang="zh-CN" u="sng" dirty="0"/>
              <a:t>attributes</a:t>
            </a:r>
            <a:r>
              <a:rPr lang="en-US" altLang="zh-CN" dirty="0"/>
              <a:t> that are functionally dependent only on </a:t>
            </a:r>
            <a:r>
              <a:rPr lang="en-US" altLang="zh-CN" b="1" dirty="0"/>
              <a:t>the primary key of the new relation </a:t>
            </a:r>
            <a:r>
              <a:rPr lang="en-US" altLang="zh-CN" u="sng" dirty="0"/>
              <a:t>from the old to the new relation</a:t>
            </a:r>
            <a:r>
              <a:rPr lang="en-US" altLang="zh-CN" dirty="0"/>
              <a:t>.</a:t>
            </a:r>
            <a:endParaRPr lang="zh-CN" altLang="zh-CN" dirty="0"/>
          </a:p>
        </p:txBody>
      </p:sp>
      <p:pic>
        <p:nvPicPr>
          <p:cNvPr id="2" name="图片 1">
            <a:extLst>
              <a:ext uri="{FF2B5EF4-FFF2-40B4-BE49-F238E27FC236}">
                <a16:creationId xmlns:a16="http://schemas.microsoft.com/office/drawing/2014/main" id="{FB757571-B3B5-C0D4-94CB-0AFC5EF0743D}"/>
              </a:ext>
            </a:extLst>
          </p:cNvPr>
          <p:cNvPicPr>
            <a:picLocks noChangeAspect="1"/>
          </p:cNvPicPr>
          <p:nvPr/>
        </p:nvPicPr>
        <p:blipFill>
          <a:blip r:embed="rId2"/>
          <a:stretch>
            <a:fillRect/>
          </a:stretch>
        </p:blipFill>
        <p:spPr>
          <a:xfrm>
            <a:off x="2431654" y="1931634"/>
            <a:ext cx="6774767" cy="1905165"/>
          </a:xfrm>
          <a:prstGeom prst="rect">
            <a:avLst/>
          </a:prstGeom>
        </p:spPr>
      </p:pic>
      <p:pic>
        <p:nvPicPr>
          <p:cNvPr id="7" name="图片 6">
            <a:extLst>
              <a:ext uri="{FF2B5EF4-FFF2-40B4-BE49-F238E27FC236}">
                <a16:creationId xmlns:a16="http://schemas.microsoft.com/office/drawing/2014/main" id="{A357B3BF-13B8-F6AD-63F9-A0CD61E6B7A6}"/>
              </a:ext>
            </a:extLst>
          </p:cNvPr>
          <p:cNvPicPr>
            <a:picLocks noChangeAspect="1"/>
          </p:cNvPicPr>
          <p:nvPr/>
        </p:nvPicPr>
        <p:blipFill>
          <a:blip r:embed="rId3"/>
          <a:stretch>
            <a:fillRect/>
          </a:stretch>
        </p:blipFill>
        <p:spPr>
          <a:xfrm>
            <a:off x="3121323" y="4605460"/>
            <a:ext cx="5395428" cy="2110923"/>
          </a:xfrm>
          <a:prstGeom prst="rect">
            <a:avLst/>
          </a:prstGeom>
        </p:spPr>
      </p:pic>
      <p:sp>
        <p:nvSpPr>
          <p:cNvPr id="8" name="箭头: 右 7">
            <a:extLst>
              <a:ext uri="{FF2B5EF4-FFF2-40B4-BE49-F238E27FC236}">
                <a16:creationId xmlns:a16="http://schemas.microsoft.com/office/drawing/2014/main" id="{234C12C4-7D51-FC21-14E9-AF6D8079D6F2}"/>
              </a:ext>
            </a:extLst>
          </p:cNvPr>
          <p:cNvSpPr/>
          <p:nvPr/>
        </p:nvSpPr>
        <p:spPr>
          <a:xfrm rot="5400000">
            <a:off x="5733243" y="3969364"/>
            <a:ext cx="535013" cy="570271"/>
          </a:xfrm>
          <a:prstGeom prst="rightArrow">
            <a:avLst/>
          </a:prstGeom>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120F430A-24D2-DAD2-F11E-3E6CFFAF8359}"/>
              </a:ext>
            </a:extLst>
          </p:cNvPr>
          <p:cNvSpPr txBox="1"/>
          <p:nvPr/>
        </p:nvSpPr>
        <p:spPr>
          <a:xfrm>
            <a:off x="6361471" y="3864593"/>
            <a:ext cx="4479012" cy="646331"/>
          </a:xfrm>
          <a:prstGeom prst="rect">
            <a:avLst/>
          </a:prstGeom>
          <a:noFill/>
        </p:spPr>
        <p:txBody>
          <a:bodyPr wrap="square" rtlCol="0">
            <a:spAutoFit/>
          </a:bodyPr>
          <a:lstStyle/>
          <a:p>
            <a:r>
              <a:rPr lang="en-US" altLang="zh-CN" b="1" dirty="0"/>
              <a:t>move </a:t>
            </a:r>
            <a:r>
              <a:rPr lang="en-US" altLang="zh-CN" b="1" dirty="0" err="1"/>
              <a:t>CustomerName</a:t>
            </a:r>
            <a:r>
              <a:rPr lang="en-US" altLang="zh-CN" b="1" dirty="0"/>
              <a:t>, </a:t>
            </a:r>
            <a:r>
              <a:rPr lang="en-US" altLang="zh-CN" b="1" dirty="0" err="1"/>
              <a:t>CustomerAddress</a:t>
            </a:r>
            <a:r>
              <a:rPr lang="en-US" altLang="zh-CN" b="1" dirty="0"/>
              <a:t> from </a:t>
            </a:r>
            <a:r>
              <a:rPr lang="en-US" altLang="zh-CN" b="1" i="1" dirty="0"/>
              <a:t>CUSTOMER ORDER </a:t>
            </a:r>
            <a:r>
              <a:rPr lang="en-US" altLang="zh-CN" b="1" dirty="0"/>
              <a:t>to </a:t>
            </a:r>
            <a:r>
              <a:rPr lang="en-US" altLang="zh-CN" b="1" i="1" dirty="0"/>
              <a:t>CUSTOMER</a:t>
            </a:r>
            <a:endParaRPr lang="zh-CN" altLang="en-US" b="1" i="1" dirty="0"/>
          </a:p>
        </p:txBody>
      </p:sp>
    </p:spTree>
    <p:extLst>
      <p:ext uri="{BB962C8B-B14F-4D97-AF65-F5344CB8AC3E}">
        <p14:creationId xmlns:p14="http://schemas.microsoft.com/office/powerpoint/2010/main" val="19309275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D35AC-8C0B-86FA-93C7-6B19D1DA26A6}"/>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CDF4E850-FA3D-3920-51D5-C99AFD9A13DE}"/>
              </a:ext>
            </a:extLst>
          </p:cNvPr>
          <p:cNvSpPr>
            <a:spLocks noGrp="1"/>
          </p:cNvSpPr>
          <p:nvPr>
            <p:ph idx="1"/>
          </p:nvPr>
        </p:nvSpPr>
        <p:spPr>
          <a:xfrm>
            <a:off x="742950" y="268772"/>
            <a:ext cx="10515600" cy="3985728"/>
          </a:xfrm>
        </p:spPr>
        <p:txBody>
          <a:bodyPr>
            <a:normAutofit/>
          </a:bodyPr>
          <a:lstStyle/>
          <a:p>
            <a:pPr>
              <a:lnSpc>
                <a:spcPct val="120000"/>
              </a:lnSpc>
            </a:pPr>
            <a:r>
              <a:rPr lang="en-US" altLang="zh-CN" b="1" dirty="0"/>
              <a:t>Step 3</a:t>
            </a:r>
            <a:r>
              <a:rPr lang="en-US" altLang="zh-CN" dirty="0"/>
              <a:t>. </a:t>
            </a:r>
            <a:r>
              <a:rPr lang="en-US" altLang="zh-CN" u="sng" dirty="0"/>
              <a:t>Leave the attribute</a:t>
            </a:r>
            <a:r>
              <a:rPr lang="en-US" altLang="zh-CN" dirty="0"/>
              <a:t> that </a:t>
            </a:r>
            <a:r>
              <a:rPr lang="en-US" altLang="zh-CN" b="1" dirty="0"/>
              <a:t>serves as a primary key in the new relation</a:t>
            </a:r>
            <a:r>
              <a:rPr lang="en-US" altLang="zh-CN" dirty="0"/>
              <a:t> </a:t>
            </a:r>
            <a:r>
              <a:rPr lang="en-US" altLang="zh-CN" u="sng" dirty="0"/>
              <a:t>in the old relation</a:t>
            </a:r>
            <a:r>
              <a:rPr lang="en-US" altLang="zh-CN" dirty="0"/>
              <a:t> to </a:t>
            </a:r>
            <a:r>
              <a:rPr lang="en-US" altLang="zh-CN" b="1" dirty="0"/>
              <a:t>serve as a foreign key </a:t>
            </a:r>
            <a:r>
              <a:rPr lang="en-US" altLang="zh-CN" dirty="0"/>
              <a:t>that allows you to associate the two relations.</a:t>
            </a:r>
            <a:endParaRPr lang="zh-CN" altLang="zh-CN" dirty="0"/>
          </a:p>
        </p:txBody>
      </p:sp>
      <p:pic>
        <p:nvPicPr>
          <p:cNvPr id="6" name="图片 5">
            <a:extLst>
              <a:ext uri="{FF2B5EF4-FFF2-40B4-BE49-F238E27FC236}">
                <a16:creationId xmlns:a16="http://schemas.microsoft.com/office/drawing/2014/main" id="{9EF82320-5134-AA59-60F6-E4179951E97D}"/>
              </a:ext>
            </a:extLst>
          </p:cNvPr>
          <p:cNvPicPr>
            <a:picLocks noChangeAspect="1"/>
          </p:cNvPicPr>
          <p:nvPr/>
        </p:nvPicPr>
        <p:blipFill>
          <a:blip r:embed="rId2"/>
          <a:stretch>
            <a:fillRect/>
          </a:stretch>
        </p:blipFill>
        <p:spPr>
          <a:xfrm>
            <a:off x="3382296" y="2004470"/>
            <a:ext cx="5737293" cy="1613412"/>
          </a:xfrm>
          <a:prstGeom prst="rect">
            <a:avLst/>
          </a:prstGeom>
        </p:spPr>
      </p:pic>
      <p:pic>
        <p:nvPicPr>
          <p:cNvPr id="8" name="图片 7">
            <a:extLst>
              <a:ext uri="{FF2B5EF4-FFF2-40B4-BE49-F238E27FC236}">
                <a16:creationId xmlns:a16="http://schemas.microsoft.com/office/drawing/2014/main" id="{41E164F0-CA9C-1DEC-8977-B4A7B7E2573D}"/>
              </a:ext>
            </a:extLst>
          </p:cNvPr>
          <p:cNvPicPr>
            <a:picLocks noChangeAspect="1"/>
          </p:cNvPicPr>
          <p:nvPr/>
        </p:nvPicPr>
        <p:blipFill>
          <a:blip r:embed="rId3"/>
          <a:stretch>
            <a:fillRect/>
          </a:stretch>
        </p:blipFill>
        <p:spPr>
          <a:xfrm>
            <a:off x="3503162" y="4524029"/>
            <a:ext cx="5616427" cy="2065199"/>
          </a:xfrm>
          <a:prstGeom prst="rect">
            <a:avLst/>
          </a:prstGeom>
        </p:spPr>
      </p:pic>
      <p:sp>
        <p:nvSpPr>
          <p:cNvPr id="9" name="箭头: 右 8">
            <a:extLst>
              <a:ext uri="{FF2B5EF4-FFF2-40B4-BE49-F238E27FC236}">
                <a16:creationId xmlns:a16="http://schemas.microsoft.com/office/drawing/2014/main" id="{CDF7C89A-A51E-A8D4-985C-F0C2F460BD41}"/>
              </a:ext>
            </a:extLst>
          </p:cNvPr>
          <p:cNvSpPr/>
          <p:nvPr/>
        </p:nvSpPr>
        <p:spPr>
          <a:xfrm rot="5400000">
            <a:off x="6113629" y="3817753"/>
            <a:ext cx="535013" cy="570271"/>
          </a:xfrm>
          <a:prstGeom prst="rightArrow">
            <a:avLst/>
          </a:prstGeom>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B3C7A572-6831-C875-8AE4-655934F2DB80}"/>
              </a:ext>
            </a:extLst>
          </p:cNvPr>
          <p:cNvSpPr/>
          <p:nvPr/>
        </p:nvSpPr>
        <p:spPr>
          <a:xfrm>
            <a:off x="9281690" y="4982948"/>
            <a:ext cx="1415773" cy="923330"/>
          </a:xfrm>
          <a:prstGeom prst="rect">
            <a:avLst/>
          </a:prstGeom>
          <a:noFill/>
        </p:spPr>
        <p:txBody>
          <a:bodyPr wrap="none" lIns="91440" tIns="45720" rIns="91440" bIns="45720">
            <a:spAutoFit/>
          </a:bodyPr>
          <a:lstStyle/>
          <a:p>
            <a:pPr algn="ctr"/>
            <a:r>
              <a:rPr lang="en-US" altLang="zh-CN" sz="5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3NF</a:t>
            </a:r>
            <a:endParaRPr lang="zh-CN" altLang="en-US" sz="54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13539B6D-7634-F03B-7462-F5EED0D01D8C}"/>
              </a:ext>
            </a:extLst>
          </p:cNvPr>
          <p:cNvSpPr txBox="1"/>
          <p:nvPr/>
        </p:nvSpPr>
        <p:spPr>
          <a:xfrm>
            <a:off x="6779538" y="3600699"/>
            <a:ext cx="4479012" cy="923330"/>
          </a:xfrm>
          <a:prstGeom prst="rect">
            <a:avLst/>
          </a:prstGeom>
          <a:noFill/>
        </p:spPr>
        <p:txBody>
          <a:bodyPr wrap="square" rtlCol="0">
            <a:spAutoFit/>
          </a:bodyPr>
          <a:lstStyle/>
          <a:p>
            <a:r>
              <a:rPr lang="en-US" altLang="zh-CN" b="1" dirty="0"/>
              <a:t>keep CustomerID (primary key in </a:t>
            </a:r>
            <a:r>
              <a:rPr lang="en-US" altLang="zh-CN" b="1" i="1" dirty="0"/>
              <a:t>CUSTOMER</a:t>
            </a:r>
            <a:r>
              <a:rPr lang="en-US" altLang="zh-CN" b="1" dirty="0"/>
              <a:t>) reserved in </a:t>
            </a:r>
            <a:r>
              <a:rPr lang="en-US" altLang="zh-CN" b="1" i="1" dirty="0"/>
              <a:t>ORDER</a:t>
            </a:r>
            <a:r>
              <a:rPr lang="en-US" altLang="zh-CN" b="1" dirty="0"/>
              <a:t> to associate the two tables</a:t>
            </a:r>
            <a:endParaRPr lang="zh-CN" altLang="en-US" b="1" dirty="0"/>
          </a:p>
        </p:txBody>
      </p:sp>
    </p:spTree>
    <p:extLst>
      <p:ext uri="{BB962C8B-B14F-4D97-AF65-F5344CB8AC3E}">
        <p14:creationId xmlns:p14="http://schemas.microsoft.com/office/powerpoint/2010/main" val="8667380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CB9EE-04C6-B347-2F76-C2F49C5C57E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0060461-A425-3017-8D88-3F676AAC1061}"/>
              </a:ext>
            </a:extLst>
          </p:cNvPr>
          <p:cNvSpPr>
            <a:spLocks noGrp="1"/>
          </p:cNvSpPr>
          <p:nvPr>
            <p:ph type="title"/>
          </p:nvPr>
        </p:nvSpPr>
        <p:spPr>
          <a:xfrm>
            <a:off x="838200" y="365125"/>
            <a:ext cx="11353800" cy="1325563"/>
          </a:xfrm>
        </p:spPr>
        <p:txBody>
          <a:bodyPr/>
          <a:lstStyle/>
          <a:p>
            <a:r>
              <a:rPr lang="en-US" altLang="zh-CN" b="1" dirty="0">
                <a:effectLst>
                  <a:outerShdw blurRad="38100" dist="38100" dir="2700000" algn="tl">
                    <a:srgbClr val="000000">
                      <a:alpha val="43137"/>
                    </a:srgbClr>
                  </a:outerShdw>
                </a:effectLst>
              </a:rPr>
              <a:t>Practice time</a:t>
            </a:r>
            <a:endParaRPr lang="zh-CN" altLang="en-US" dirty="0">
              <a:effectLst>
                <a:outerShdw blurRad="38100" dist="38100" dir="2700000" algn="tl">
                  <a:srgbClr val="000000">
                    <a:alpha val="43137"/>
                  </a:srgbClr>
                </a:outerShdw>
              </a:effectLst>
            </a:endParaRPr>
          </a:p>
        </p:txBody>
      </p:sp>
      <p:sp>
        <p:nvSpPr>
          <p:cNvPr id="3" name="内容占位符 2">
            <a:extLst>
              <a:ext uri="{FF2B5EF4-FFF2-40B4-BE49-F238E27FC236}">
                <a16:creationId xmlns:a16="http://schemas.microsoft.com/office/drawing/2014/main" id="{9F0ACAB6-6464-D515-9BFD-F67DD6EA793B}"/>
              </a:ext>
            </a:extLst>
          </p:cNvPr>
          <p:cNvSpPr>
            <a:spLocks noGrp="1"/>
          </p:cNvSpPr>
          <p:nvPr>
            <p:ph idx="1"/>
          </p:nvPr>
        </p:nvSpPr>
        <p:spPr>
          <a:xfrm>
            <a:off x="838199" y="1825625"/>
            <a:ext cx="10515599" cy="4351338"/>
          </a:xfrm>
        </p:spPr>
        <p:txBody>
          <a:bodyPr>
            <a:normAutofit/>
          </a:bodyPr>
          <a:lstStyle/>
          <a:p>
            <a:pPr>
              <a:lnSpc>
                <a:spcPct val="100000"/>
              </a:lnSpc>
            </a:pPr>
            <a:r>
              <a:rPr lang="en-US" altLang="zh-CN" dirty="0"/>
              <a:t>We've roughly addressed the last two Tasks, including conversion from ER/EER to relational schema, and normalization of relation.</a:t>
            </a:r>
          </a:p>
          <a:p>
            <a:pPr>
              <a:lnSpc>
                <a:spcPct val="100000"/>
              </a:lnSpc>
            </a:pPr>
            <a:r>
              <a:rPr lang="en-US" altLang="zh-CN" dirty="0"/>
              <a:t>Please use the computers in the lab or your personal laptops to try out the tasks we just covered. </a:t>
            </a:r>
          </a:p>
        </p:txBody>
      </p:sp>
    </p:spTree>
    <p:extLst>
      <p:ext uri="{BB962C8B-B14F-4D97-AF65-F5344CB8AC3E}">
        <p14:creationId xmlns:p14="http://schemas.microsoft.com/office/powerpoint/2010/main" val="16299906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0F6DD-6CFF-FEB9-1A33-F1875E1EA72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BAAF15F-EF84-77D1-249E-4AD6BCBA6380}"/>
              </a:ext>
            </a:extLst>
          </p:cNvPr>
          <p:cNvSpPr>
            <a:spLocks noGrp="1"/>
          </p:cNvSpPr>
          <p:nvPr>
            <p:ph type="title"/>
          </p:nvPr>
        </p:nvSpPr>
        <p:spPr>
          <a:xfrm>
            <a:off x="838200" y="365125"/>
            <a:ext cx="11353800" cy="1325563"/>
          </a:xfrm>
        </p:spPr>
        <p:txBody>
          <a:bodyPr/>
          <a:lstStyle/>
          <a:p>
            <a:r>
              <a:rPr lang="en-US" altLang="zh-CN" b="1" dirty="0">
                <a:effectLst>
                  <a:outerShdw blurRad="38100" dist="38100" dir="2700000" algn="tl">
                    <a:srgbClr val="000000">
                      <a:alpha val="43137"/>
                    </a:srgbClr>
                  </a:outerShdw>
                </a:effectLst>
              </a:rPr>
              <a:t>Practice time</a:t>
            </a:r>
            <a:endParaRPr lang="zh-CN" altLang="en-US" dirty="0">
              <a:effectLst>
                <a:outerShdw blurRad="38100" dist="38100" dir="2700000" algn="tl">
                  <a:srgbClr val="000000">
                    <a:alpha val="43137"/>
                  </a:srgbClr>
                </a:outerShdw>
              </a:effectLst>
            </a:endParaRPr>
          </a:p>
        </p:txBody>
      </p:sp>
      <p:sp>
        <p:nvSpPr>
          <p:cNvPr id="3" name="内容占位符 2">
            <a:extLst>
              <a:ext uri="{FF2B5EF4-FFF2-40B4-BE49-F238E27FC236}">
                <a16:creationId xmlns:a16="http://schemas.microsoft.com/office/drawing/2014/main" id="{616451F0-84DF-CE0C-D134-EE245FA96CBC}"/>
              </a:ext>
            </a:extLst>
          </p:cNvPr>
          <p:cNvSpPr>
            <a:spLocks noGrp="1"/>
          </p:cNvSpPr>
          <p:nvPr>
            <p:ph idx="1"/>
          </p:nvPr>
        </p:nvSpPr>
        <p:spPr>
          <a:xfrm>
            <a:off x="838199" y="1825625"/>
            <a:ext cx="10515599" cy="4351338"/>
          </a:xfrm>
        </p:spPr>
        <p:txBody>
          <a:bodyPr>
            <a:normAutofit/>
          </a:bodyPr>
          <a:lstStyle/>
          <a:p>
            <a:pPr>
              <a:lnSpc>
                <a:spcPct val="100000"/>
              </a:lnSpc>
            </a:pPr>
            <a:r>
              <a:rPr lang="en-US" altLang="zh-CN" dirty="0"/>
              <a:t>Sign-in</a:t>
            </a:r>
          </a:p>
          <a:p>
            <a:pPr>
              <a:lnSpc>
                <a:spcPct val="100000"/>
              </a:lnSpc>
            </a:pPr>
            <a:r>
              <a:rPr lang="en-US" altLang="zh-CN" dirty="0"/>
              <a:t>Q&amp;A</a:t>
            </a:r>
          </a:p>
          <a:p>
            <a:pPr>
              <a:lnSpc>
                <a:spcPct val="100000"/>
              </a:lnSpc>
            </a:pPr>
            <a:r>
              <a:rPr lang="en-US" altLang="zh-CN" dirty="0"/>
              <a:t>If you have finished all the lab tasks, you could leave the classroom quietly. Make sure to </a:t>
            </a:r>
            <a:r>
              <a:rPr lang="en-US" altLang="zh-CN" dirty="0">
                <a:solidFill>
                  <a:srgbClr val="FF0000"/>
                </a:solidFill>
              </a:rPr>
              <a:t>complete the lab report </a:t>
            </a:r>
            <a:r>
              <a:rPr lang="en-US" altLang="zh-CN" dirty="0"/>
              <a:t>and submit it on time.</a:t>
            </a:r>
          </a:p>
        </p:txBody>
      </p:sp>
    </p:spTree>
    <p:extLst>
      <p:ext uri="{BB962C8B-B14F-4D97-AF65-F5344CB8AC3E}">
        <p14:creationId xmlns:p14="http://schemas.microsoft.com/office/powerpoint/2010/main" val="378471385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2852</TotalTime>
  <Words>2780</Words>
  <Application>Microsoft Office PowerPoint</Application>
  <PresentationFormat>宽屏</PresentationFormat>
  <Paragraphs>208</Paragraphs>
  <Slides>42</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42</vt:i4>
      </vt:variant>
    </vt:vector>
  </HeadingPairs>
  <TitlesOfParts>
    <vt:vector size="47" baseType="lpstr">
      <vt:lpstr>等线</vt:lpstr>
      <vt:lpstr>等线 Light</vt:lpstr>
      <vt:lpstr>Arial</vt:lpstr>
      <vt:lpstr>Times New Roman</vt:lpstr>
      <vt:lpstr>Office 主题​​</vt:lpstr>
      <vt:lpstr>PowerPoint 演示文稿</vt:lpstr>
      <vt:lpstr>Database Management</vt:lpstr>
      <vt:lpstr>Notes</vt:lpstr>
      <vt:lpstr>Agenda</vt:lpstr>
      <vt:lpstr>Task 1. Preparation</vt:lpstr>
      <vt:lpstr>Task 1. Preparation</vt:lpstr>
      <vt:lpstr>Notice</vt:lpstr>
      <vt:lpstr>Task 2. Design and Drawing of ER/EER Diagram</vt:lpstr>
      <vt:lpstr>Problem 1. Unary relationship</vt:lpstr>
      <vt:lpstr>Problem 2. Binary relationship(1 to 1)</vt:lpstr>
      <vt:lpstr>Problem 3. Binary relationship(1 to many)</vt:lpstr>
      <vt:lpstr>Problem 4. Binary relationship(many to many)</vt:lpstr>
      <vt:lpstr>Notice</vt:lpstr>
      <vt:lpstr>Problem 5. Ternary relationship (many to many)</vt:lpstr>
      <vt:lpstr>PowerPoint 演示文稿</vt:lpstr>
      <vt:lpstr>Practice time</vt:lpstr>
      <vt:lpstr>Problem 6. Weak entities</vt:lpstr>
      <vt:lpstr>Problem 7. Composite attribute</vt:lpstr>
      <vt:lpstr>Problem 8. Multivalued attribute</vt:lpstr>
      <vt:lpstr>Problem 9: Superclass and subclasses</vt:lpstr>
      <vt:lpstr>Problem 9: Superclass and subclasses</vt:lpstr>
      <vt:lpstr>Problem 9: Superclass and subclasses</vt:lpstr>
      <vt:lpstr>Problem 9: Superclass and subclasses</vt:lpstr>
      <vt:lpstr>Problem 9: Superclass and subclasses</vt:lpstr>
      <vt:lpstr>Practice time</vt:lpstr>
      <vt:lpstr>Task3. Conversion from ER/EER Diagram to Relational Schema</vt:lpstr>
      <vt:lpstr>PowerPoint 演示文稿</vt:lpstr>
      <vt:lpstr>Task3. Conversion from ER/EER Diagram to Relational Schema</vt:lpstr>
      <vt:lpstr>Task3. Conversion from ER/EER Diagram to Relational Schema</vt:lpstr>
      <vt:lpstr>PowerPoint 演示文稿</vt:lpstr>
      <vt:lpstr>PowerPoint 演示文稿</vt:lpstr>
      <vt:lpstr>Task4. Normalization Example</vt:lpstr>
      <vt:lpstr>Task4. Normalization Example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Practice time</vt:lpstr>
      <vt:lpstr>Practice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涵彬 肖</dc:creator>
  <cp:lastModifiedBy>涵彬 肖</cp:lastModifiedBy>
  <cp:revision>11</cp:revision>
  <dcterms:created xsi:type="dcterms:W3CDTF">2025-09-20T05:55:28Z</dcterms:created>
  <dcterms:modified xsi:type="dcterms:W3CDTF">2025-09-28T09:34:52Z</dcterms:modified>
</cp:coreProperties>
</file>