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7" r:id="rId2"/>
    <p:sldId id="344" r:id="rId3"/>
    <p:sldId id="265" r:id="rId4"/>
    <p:sldId id="326" r:id="rId5"/>
    <p:sldId id="356" r:id="rId6"/>
    <p:sldId id="341" r:id="rId7"/>
    <p:sldId id="302" r:id="rId8"/>
    <p:sldId id="304" r:id="rId9"/>
    <p:sldId id="327" r:id="rId10"/>
    <p:sldId id="328" r:id="rId11"/>
    <p:sldId id="305" r:id="rId12"/>
    <p:sldId id="309" r:id="rId13"/>
    <p:sldId id="313" r:id="rId14"/>
    <p:sldId id="314" r:id="rId15"/>
    <p:sldId id="315" r:id="rId16"/>
    <p:sldId id="329" r:id="rId17"/>
    <p:sldId id="330" r:id="rId18"/>
    <p:sldId id="348" r:id="rId19"/>
    <p:sldId id="349" r:id="rId20"/>
    <p:sldId id="350" r:id="rId21"/>
    <p:sldId id="260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391" autoAdjust="0"/>
    <p:restoredTop sz="94660" autoAdjust="0"/>
  </p:normalViewPr>
  <p:slideViewPr>
    <p:cSldViewPr snapToGrid="0">
      <p:cViewPr varScale="1">
        <p:scale>
          <a:sx n="113" d="100"/>
          <a:sy n="113" d="100"/>
        </p:scale>
        <p:origin x="318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80"/>
    </p:cViewPr>
  </p:sorterViewPr>
  <p:notesViewPr>
    <p:cSldViewPr snapToGrid="0">
      <p:cViewPr varScale="1">
        <p:scale>
          <a:sx n="50" d="100"/>
          <a:sy n="50" d="100"/>
        </p:scale>
        <p:origin x="2708" y="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D9B9B0-506A-4A09-B349-EB49AAFAE3BC}" type="datetimeFigureOut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8071D6-F3B5-4E19-B03F-37F1818EAE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3889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86DA9B-5527-4510-B305-763C4D6E95B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24085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86DA9B-5527-4510-B305-763C4D6E95B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3535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86DA9B-5527-4510-B305-763C4D6E95B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2248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86DA9B-5527-4510-B305-763C4D6E95B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18297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86DA9B-5527-4510-B305-763C4D6E95B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61032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86DA9B-5527-4510-B305-763C4D6E95B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9607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86DA9B-5527-4510-B305-763C4D6E95B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32529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86DA9B-5527-4510-B305-763C4D6E95B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91349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86DA9B-5527-4510-B305-763C4D6E95B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57175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86DA9B-5527-4510-B305-763C4D6E95B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30046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86DA9B-5527-4510-B305-763C4D6E95B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84640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86DA9B-5527-4510-B305-763C4D6E95B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59629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86DA9B-5527-4510-B305-763C4D6E95B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8476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54D7E6-F376-4DEE-9A4E-EEDB9E3841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9B29BA9-B526-46A2-92DD-920CECD79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601E84-E0E1-4782-A1EC-96B4D71AE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E4B5A-D329-4943-A0DE-A33C0A9688CE}" type="datetime1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F0ED04-8BF7-42F6-A43F-34EE678E5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33838A-7D49-4562-AACC-45FEC1455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ABB12-639F-4AE0-B8E5-5E21435B82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6423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7D739B-B938-4E53-BE09-2634FED2F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BD4643-BFBC-4FE2-8E3B-DC4DD41AF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5DBDF2-D65F-4F43-84B0-A62F1BCF2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6E6A-12EC-4F85-B632-91704579DEC0}" type="datetime1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71D91F-BA62-4A22-8AAF-5AC7274D0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51A833-90E3-496C-9AD0-48F4ECD71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ABB12-639F-4AE0-B8E5-5E21435B82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201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2D32FF-A631-434A-BCB8-188C3FCD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3DB669-4D83-4508-8A0C-1449032FE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AAA50A-FCAA-45C8-BFE3-0B1A90AA3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E03E6-15FD-4044-A6A6-8F610021D130}" type="datetime1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02A3C8-DCAB-40A2-84CE-7E6EEF3EE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A772D8-D013-4C43-9628-C359BCD70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ABB12-639F-4AE0-B8E5-5E21435B82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6833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810B6A-894A-4613-B215-F6D040991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BC79BA-4953-4ABB-B948-9524017C1E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195AAF0-3521-49B6-8353-45467CA14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4EB32A-634B-466D-BCE1-B4414EE9A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A97D3-E133-4C3D-952F-035730054955}" type="datetime1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C6BF4E-456B-4BFB-B41A-D8C47F62D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3BECEB-52C8-41A9-94AA-CD3486B45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ABB12-639F-4AE0-B8E5-5E21435B82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8648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507227-5258-473D-BA6B-C56D033F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7A6580-C6E9-4E2D-9842-6ADE3EDCFE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E448937-E5FA-4116-A30C-36C57087F6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A71C1A3-F8BE-403E-9B69-EE95A8C0C2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84C4434-4014-4AE9-A243-BE248AF4D1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AEE89DD-ED3C-4C1E-8A14-870459BAF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84779-8E16-4F91-8481-1CB213F58901}" type="datetime1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4AB322E-0D68-4106-9C20-99EC04A0D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CFF616D-BDC4-4DC2-8DCC-E72B69DEB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ABB12-639F-4AE0-B8E5-5E21435B82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984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344BB0-4719-416C-ADB5-AD544EBCE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CF59F20-93F3-475A-B91F-4C112C7E8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D85D1-92E6-4C43-9E0C-F6957996FAF8}" type="datetime1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91E5DC3-0CAD-4114-A714-8F361389D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D8A78FB-7A85-4D55-B586-6781B7901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ABB12-639F-4AE0-B8E5-5E21435B82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2639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7591FED-AE5B-47E7-B73B-5F8410788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7AEB1-C8C4-4CCD-872C-78137A3C8F38}" type="datetime1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8AAA95E-6593-4FE3-AE9A-E69168EFC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FD65DD-2B7D-45CC-B71D-47827404E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ABB12-639F-4AE0-B8E5-5E21435B82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6969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2E1A4D-4134-40CB-BAD7-70CA6318A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0BC6E1-89E6-48BB-9492-C5CC6515C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C1623FE-B16B-4DBE-9353-FD49507B3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0A739A-E992-4050-99D5-B92FB237D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9B7C1-1CFE-4EE5-BFFC-A0C41F062B03}" type="datetime1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AF67B1-5F71-45FF-89BF-6DE3DFDCB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69B060-2BA5-4CC8-B9C0-EC87E73EC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ABB12-639F-4AE0-B8E5-5E21435B82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0230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68F668-D634-4C81-8BD2-48C42F4C5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8534B3A-0D7E-49CC-AB5A-5A00F52C95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6D90D4C-09D2-4865-AA7F-0466EC6F18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33458D-3350-45B1-95B2-8EB48E0F2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87498-4971-40D7-86BF-352430FF76C7}" type="datetime1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720F99B-C911-40A4-B6AF-4F3006F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0B1DCB-8EE4-48CC-8BE5-7A942C4F1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ABB12-639F-4AE0-B8E5-5E21435B82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9200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3080DE-4F23-4647-B3A2-8101EB192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51A9664-3439-454E-AA7A-B10DADF01C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0184F9-79A3-4C6D-A01F-45BF323C8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E4FA1-5421-4625-B8F6-8CC4D9249B15}" type="datetime1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E3AE3F-98F6-4FCD-ABD5-4DBBEFE81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594008-1415-4688-9DB1-F8A8C0B28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ABB12-639F-4AE0-B8E5-5E21435B82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1161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371080A-6A29-49A6-AEE1-363E0A73A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3D3C4C9-DBDF-42F2-93EC-349545F0E3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AB5A36-C3EA-4427-894C-CA16BE495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33956-14C1-41C5-AE54-A83D9AD882F3}" type="datetime1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E22FF9-5A32-4F19-9D57-92ACDB29A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1F9116-4051-4EB5-BDCD-CD61371FB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ABB12-639F-4AE0-B8E5-5E21435B82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3559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D973877-CB74-4BA8-815B-078A74570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5F1141-F7F0-4D97-9E1F-21BE3E8D2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994786-F951-435C-AE83-B897F223F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6552C4-4FFA-4552-A420-9702843C9B63}" type="datetime1">
              <a:rPr lang="zh-CN" altLang="en-US" smtClean="0"/>
              <a:t>2024/10/30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CC02CE-C2A9-494D-BE6C-61EBC3F71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AACD6E-EA20-4817-B505-4F2C310178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ABB12-639F-4AE0-B8E5-5E21435B82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8947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img.dutenews.com/a/10001/201907/2f728d9281fb707a6fbea574b4094882.png">
            <a:extLst>
              <a:ext uri="{FF2B5EF4-FFF2-40B4-BE49-F238E27FC236}">
                <a16:creationId xmlns:a16="http://schemas.microsoft.com/office/drawing/2014/main" id="{7113FD64-FA0C-4732-8506-B58287F48A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000B6D1F-6E25-448E-AA56-040243D5BD3D}"/>
              </a:ext>
            </a:extLst>
          </p:cNvPr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028" name="Picture 4" descr="查看源图像">
            <a:extLst>
              <a:ext uri="{FF2B5EF4-FFF2-40B4-BE49-F238E27FC236}">
                <a16:creationId xmlns:a16="http://schemas.microsoft.com/office/drawing/2014/main" id="{D94D2C4D-2816-4435-9139-BA85C84EA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460" y="0"/>
            <a:ext cx="451485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查看源图像">
            <a:extLst>
              <a:ext uri="{FF2B5EF4-FFF2-40B4-BE49-F238E27FC236}">
                <a16:creationId xmlns:a16="http://schemas.microsoft.com/office/drawing/2014/main" id="{1214C737-C392-497A-B462-091B91EBDC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39" t="17834" r="12739" b="18273"/>
          <a:stretch/>
        </p:blipFill>
        <p:spPr bwMode="auto">
          <a:xfrm>
            <a:off x="10129520" y="0"/>
            <a:ext cx="142202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2948A77-1748-4961-9C41-78E6970C3FDE}"/>
              </a:ext>
            </a:extLst>
          </p:cNvPr>
          <p:cNvSpPr txBox="1"/>
          <p:nvPr/>
        </p:nvSpPr>
        <p:spPr>
          <a:xfrm>
            <a:off x="9048752" y="1219200"/>
            <a:ext cx="3122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舒体" panose="02010601030101010101" pitchFamily="2" charset="-122"/>
                <a:ea typeface="方正舒体" panose="02010601030101010101" pitchFamily="2" charset="-122"/>
                <a:cs typeface="+mn-cs"/>
              </a:rPr>
              <a:t>规格严格 功夫到家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CFE034-0DFD-4738-A5F4-388D3BFC67F7}"/>
              </a:ext>
            </a:extLst>
          </p:cNvPr>
          <p:cNvSpPr/>
          <p:nvPr/>
        </p:nvSpPr>
        <p:spPr>
          <a:xfrm>
            <a:off x="0" y="4096357"/>
            <a:ext cx="12192000" cy="1219200"/>
          </a:xfrm>
          <a:prstGeom prst="rect">
            <a:avLst/>
          </a:prstGeom>
          <a:solidFill>
            <a:schemeClr val="tx1">
              <a:lumMod val="65000"/>
              <a:lumOff val="3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Elementary Chinese I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Practicing Class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2D6C4A0-A4A1-47FC-8DB9-F1395E4A8B41}"/>
              </a:ext>
            </a:extLst>
          </p:cNvPr>
          <p:cNvSpPr/>
          <p:nvPr/>
        </p:nvSpPr>
        <p:spPr>
          <a:xfrm>
            <a:off x="9641840" y="4858357"/>
            <a:ext cx="255016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7405DF1-1A5F-4090-95A9-F0A97D3EB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0ABB12-639F-4AE0-B8E5-5E21435B828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9348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查看源图像">
            <a:extLst>
              <a:ext uri="{FF2B5EF4-FFF2-40B4-BE49-F238E27FC236}">
                <a16:creationId xmlns:a16="http://schemas.microsoft.com/office/drawing/2014/main" id="{80C70D37-0FC3-4FD6-A24D-1C55634DF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9253" y="271774"/>
            <a:ext cx="2882747" cy="778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67A127B-A464-4CAB-80E4-534352DE3E2E}"/>
              </a:ext>
            </a:extLst>
          </p:cNvPr>
          <p:cNvSpPr txBox="1"/>
          <p:nvPr/>
        </p:nvSpPr>
        <p:spPr>
          <a:xfrm>
            <a:off x="482827" y="365277"/>
            <a:ext cx="43540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400" dirty="0">
                <a:solidFill>
                  <a:srgbClr val="8D311F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Family members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rgbClr val="8D311F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6975808-E72A-4525-A7A6-FD8275D73759}"/>
              </a:ext>
            </a:extLst>
          </p:cNvPr>
          <p:cNvCxnSpPr>
            <a:cxnSpLocks/>
          </p:cNvCxnSpPr>
          <p:nvPr/>
        </p:nvCxnSpPr>
        <p:spPr>
          <a:xfrm>
            <a:off x="539826" y="1219200"/>
            <a:ext cx="8769427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01422AF-4E47-4F57-BEF7-8BA70B3B5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0ABB12-639F-4AE0-B8E5-5E21435B828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2095784B-FB67-45DA-83FD-E8946C84719E}"/>
              </a:ext>
            </a:extLst>
          </p:cNvPr>
          <p:cNvGrpSpPr/>
          <p:nvPr/>
        </p:nvGrpSpPr>
        <p:grpSpPr>
          <a:xfrm>
            <a:off x="1210355" y="1428581"/>
            <a:ext cx="9271739" cy="5076281"/>
            <a:chOff x="1311955" y="1449033"/>
            <a:chExt cx="9271739" cy="5076281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FFA63B94-C7E3-43CD-90D1-ADBFC6453FD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1613" t="8307" r="2340" b="17777"/>
            <a:stretch/>
          </p:blipFill>
          <p:spPr>
            <a:xfrm>
              <a:off x="1311955" y="1456176"/>
              <a:ext cx="9271739" cy="5069138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C4F521B-88AC-4D98-A99B-3CFA5E7E9D9C}"/>
                </a:ext>
              </a:extLst>
            </p:cNvPr>
            <p:cNvSpPr/>
            <p:nvPr/>
          </p:nvSpPr>
          <p:spPr>
            <a:xfrm>
              <a:off x="1311955" y="1449033"/>
              <a:ext cx="3009900" cy="1590662"/>
            </a:xfrm>
            <a:prstGeom prst="rect">
              <a:avLst/>
            </a:prstGeom>
            <a:solidFill>
              <a:srgbClr val="FF95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04FE8C0B-C9A3-4685-A2FA-49D3618AF100}"/>
              </a:ext>
            </a:extLst>
          </p:cNvPr>
          <p:cNvSpPr/>
          <p:nvPr/>
        </p:nvSpPr>
        <p:spPr>
          <a:xfrm>
            <a:off x="2715305" y="6263456"/>
            <a:ext cx="1221428" cy="229267"/>
          </a:xfrm>
          <a:prstGeom prst="rect">
            <a:avLst/>
          </a:prstGeom>
          <a:solidFill>
            <a:srgbClr val="0B5D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B1EB834-F472-4A01-A55D-8EE9B8FCC37A}"/>
              </a:ext>
            </a:extLst>
          </p:cNvPr>
          <p:cNvSpPr/>
          <p:nvPr/>
        </p:nvSpPr>
        <p:spPr>
          <a:xfrm>
            <a:off x="1210355" y="6267684"/>
            <a:ext cx="1221428" cy="229267"/>
          </a:xfrm>
          <a:prstGeom prst="rect">
            <a:avLst/>
          </a:prstGeom>
          <a:solidFill>
            <a:srgbClr val="8F1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7BE86A3-7759-4D84-8262-A8A46706113D}"/>
              </a:ext>
            </a:extLst>
          </p:cNvPr>
          <p:cNvSpPr/>
          <p:nvPr/>
        </p:nvSpPr>
        <p:spPr>
          <a:xfrm>
            <a:off x="4364524" y="6275595"/>
            <a:ext cx="1221428" cy="229267"/>
          </a:xfrm>
          <a:prstGeom prst="rect">
            <a:avLst/>
          </a:prstGeom>
          <a:solidFill>
            <a:srgbClr val="5B1F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10F951F-4EF0-4CB2-8915-673A7C213CD3}"/>
              </a:ext>
            </a:extLst>
          </p:cNvPr>
          <p:cNvSpPr/>
          <p:nvPr/>
        </p:nvSpPr>
        <p:spPr>
          <a:xfrm>
            <a:off x="8487586" y="6275594"/>
            <a:ext cx="1221428" cy="229267"/>
          </a:xfrm>
          <a:prstGeom prst="rect">
            <a:avLst/>
          </a:prstGeom>
          <a:solidFill>
            <a:srgbClr val="A22C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E6AB3C1-FE53-4434-A122-058A50008D2D}"/>
              </a:ext>
            </a:extLst>
          </p:cNvPr>
          <p:cNvSpPr/>
          <p:nvPr/>
        </p:nvSpPr>
        <p:spPr>
          <a:xfrm>
            <a:off x="4571533" y="2752760"/>
            <a:ext cx="1221428" cy="242816"/>
          </a:xfrm>
          <a:prstGeom prst="rect">
            <a:avLst/>
          </a:prstGeom>
          <a:solidFill>
            <a:srgbClr val="009A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38C2725-3BE3-4A89-B6C6-05C56D71A1EB}"/>
              </a:ext>
            </a:extLst>
          </p:cNvPr>
          <p:cNvSpPr/>
          <p:nvPr/>
        </p:nvSpPr>
        <p:spPr>
          <a:xfrm>
            <a:off x="6625190" y="2752759"/>
            <a:ext cx="1221428" cy="242816"/>
          </a:xfrm>
          <a:prstGeom prst="rect">
            <a:avLst/>
          </a:prstGeom>
          <a:solidFill>
            <a:srgbClr val="F277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EC4A30A-26FB-4417-A58E-E36CF80101D8}"/>
              </a:ext>
            </a:extLst>
          </p:cNvPr>
          <p:cNvSpPr/>
          <p:nvPr/>
        </p:nvSpPr>
        <p:spPr>
          <a:xfrm>
            <a:off x="3660637" y="4558753"/>
            <a:ext cx="1221428" cy="242816"/>
          </a:xfrm>
          <a:prstGeom prst="rect">
            <a:avLst/>
          </a:prstGeom>
          <a:solidFill>
            <a:srgbClr val="F235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139F623-6F0B-4373-BB2E-40D93D63C872}"/>
              </a:ext>
            </a:extLst>
          </p:cNvPr>
          <p:cNvSpPr/>
          <p:nvPr/>
        </p:nvSpPr>
        <p:spPr>
          <a:xfrm>
            <a:off x="1858418" y="4572302"/>
            <a:ext cx="1221428" cy="229267"/>
          </a:xfrm>
          <a:prstGeom prst="rect">
            <a:avLst/>
          </a:prstGeom>
          <a:solidFill>
            <a:srgbClr val="0091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2F284B4-BEA5-4FF7-8AE6-97FD6E29EE4D}"/>
              </a:ext>
            </a:extLst>
          </p:cNvPr>
          <p:cNvSpPr/>
          <p:nvPr/>
        </p:nvSpPr>
        <p:spPr>
          <a:xfrm>
            <a:off x="5592592" y="4558753"/>
            <a:ext cx="1221428" cy="242816"/>
          </a:xfrm>
          <a:prstGeom prst="rect">
            <a:avLst/>
          </a:prstGeom>
          <a:solidFill>
            <a:srgbClr val="0091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6556A4B-B2CC-495B-8C7F-A79B339EDB7C}"/>
              </a:ext>
            </a:extLst>
          </p:cNvPr>
          <p:cNvSpPr/>
          <p:nvPr/>
        </p:nvSpPr>
        <p:spPr>
          <a:xfrm>
            <a:off x="9309253" y="4558753"/>
            <a:ext cx="1221428" cy="242816"/>
          </a:xfrm>
          <a:prstGeom prst="rect">
            <a:avLst/>
          </a:prstGeom>
          <a:solidFill>
            <a:srgbClr val="F035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F4B258D-26E6-4667-8414-C893081CF15B}"/>
              </a:ext>
            </a:extLst>
          </p:cNvPr>
          <p:cNvSpPr/>
          <p:nvPr/>
        </p:nvSpPr>
        <p:spPr>
          <a:xfrm>
            <a:off x="7524547" y="4572302"/>
            <a:ext cx="1221428" cy="229267"/>
          </a:xfrm>
          <a:prstGeom prst="rect">
            <a:avLst/>
          </a:prstGeom>
          <a:solidFill>
            <a:srgbClr val="048F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2B009B4-6B79-4F5C-8924-1E169F9B2C37}"/>
              </a:ext>
            </a:extLst>
          </p:cNvPr>
          <p:cNvSpPr txBox="1"/>
          <p:nvPr/>
        </p:nvSpPr>
        <p:spPr>
          <a:xfrm>
            <a:off x="4522421" y="6205561"/>
            <a:ext cx="1002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我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E4F1964-3588-4BC0-8965-B3941A49B2B5}"/>
              </a:ext>
            </a:extLst>
          </p:cNvPr>
          <p:cNvSpPr/>
          <p:nvPr/>
        </p:nvSpPr>
        <p:spPr>
          <a:xfrm>
            <a:off x="4792237" y="6205561"/>
            <a:ext cx="941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dirty="0" err="1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w</a:t>
            </a:r>
            <a:r>
              <a:rPr lang="en-US" altLang="zh-CN" kern="100" dirty="0" err="1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ǒ</a:t>
            </a: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04505B4-F3DC-4FAB-9836-4ED36A805F48}"/>
              </a:ext>
            </a:extLst>
          </p:cNvPr>
          <p:cNvSpPr txBox="1"/>
          <p:nvPr/>
        </p:nvSpPr>
        <p:spPr>
          <a:xfrm>
            <a:off x="2671750" y="6204613"/>
            <a:ext cx="1002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姐姐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EC5A18A-CFDC-4070-8598-E8A623EB11C2}"/>
              </a:ext>
            </a:extLst>
          </p:cNvPr>
          <p:cNvSpPr/>
          <p:nvPr/>
        </p:nvSpPr>
        <p:spPr>
          <a:xfrm>
            <a:off x="3105559" y="6204613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zh-CN" dirty="0" err="1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jiějie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）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785593F-A3EF-4E18-B402-BCC88AC49B6A}"/>
              </a:ext>
            </a:extLst>
          </p:cNvPr>
          <p:cNvSpPr txBox="1"/>
          <p:nvPr/>
        </p:nvSpPr>
        <p:spPr>
          <a:xfrm>
            <a:off x="1144318" y="6204613"/>
            <a:ext cx="1002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哥哥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463F2C5-FC81-4237-AA87-9C3FDFD79AC7}"/>
              </a:ext>
            </a:extLst>
          </p:cNvPr>
          <p:cNvSpPr/>
          <p:nvPr/>
        </p:nvSpPr>
        <p:spPr>
          <a:xfrm>
            <a:off x="1578127" y="6204613"/>
            <a:ext cx="11592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zh-CN" dirty="0" err="1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gēge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）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90E7D96-95D9-466C-9EBD-18C7FEC61917}"/>
              </a:ext>
            </a:extLst>
          </p:cNvPr>
          <p:cNvSpPr txBox="1"/>
          <p:nvPr/>
        </p:nvSpPr>
        <p:spPr>
          <a:xfrm>
            <a:off x="1775476" y="4494346"/>
            <a:ext cx="1002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爸爸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C2A9C5B-516D-4C48-BC8B-E62A45603382}"/>
              </a:ext>
            </a:extLst>
          </p:cNvPr>
          <p:cNvSpPr/>
          <p:nvPr/>
        </p:nvSpPr>
        <p:spPr>
          <a:xfrm>
            <a:off x="2209285" y="4494346"/>
            <a:ext cx="11157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zh-CN" dirty="0" err="1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bàba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）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7507075-4B7D-434B-B408-CEE25F357B59}"/>
              </a:ext>
            </a:extLst>
          </p:cNvPr>
          <p:cNvSpPr txBox="1"/>
          <p:nvPr/>
        </p:nvSpPr>
        <p:spPr>
          <a:xfrm>
            <a:off x="3525947" y="4494346"/>
            <a:ext cx="1002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妈妈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325F6AF-B0B5-42A7-8DC3-2DD4600F4E71}"/>
              </a:ext>
            </a:extLst>
          </p:cNvPr>
          <p:cNvSpPr/>
          <p:nvPr/>
        </p:nvSpPr>
        <p:spPr>
          <a:xfrm>
            <a:off x="3959756" y="4494346"/>
            <a:ext cx="1287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zh-CN" dirty="0" err="1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māma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）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5E93CCF-DC3C-42D4-85A1-30592B507BAD}"/>
              </a:ext>
            </a:extLst>
          </p:cNvPr>
          <p:cNvSpPr txBox="1"/>
          <p:nvPr/>
        </p:nvSpPr>
        <p:spPr>
          <a:xfrm>
            <a:off x="4448256" y="2668496"/>
            <a:ext cx="1002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爷爷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59F3192-5986-4AD5-8E30-298CF5C15CC3}"/>
              </a:ext>
            </a:extLst>
          </p:cNvPr>
          <p:cNvSpPr/>
          <p:nvPr/>
        </p:nvSpPr>
        <p:spPr>
          <a:xfrm>
            <a:off x="4882065" y="2668496"/>
            <a:ext cx="1133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zh-CN" dirty="0" err="1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yéye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）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7B2ABC12-D8C0-4308-BD36-63C2E9154F61}"/>
              </a:ext>
            </a:extLst>
          </p:cNvPr>
          <p:cNvSpPr txBox="1"/>
          <p:nvPr/>
        </p:nvSpPr>
        <p:spPr>
          <a:xfrm>
            <a:off x="6469322" y="2684343"/>
            <a:ext cx="1002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奶奶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A2CDBAF-5454-45F0-8100-6E532001B827}"/>
              </a:ext>
            </a:extLst>
          </p:cNvPr>
          <p:cNvSpPr/>
          <p:nvPr/>
        </p:nvSpPr>
        <p:spPr>
          <a:xfrm>
            <a:off x="6903131" y="2684343"/>
            <a:ext cx="12618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zh-CN" dirty="0" err="1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nǎinai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）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4B7544D-F228-4799-8B3F-0A59ECA06A88}"/>
              </a:ext>
            </a:extLst>
          </p:cNvPr>
          <p:cNvSpPr txBox="1"/>
          <p:nvPr/>
        </p:nvSpPr>
        <p:spPr>
          <a:xfrm>
            <a:off x="5517969" y="4489505"/>
            <a:ext cx="1002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伯伯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2E4ED5D-7AE3-4198-A758-C9F10BBED2D2}"/>
              </a:ext>
            </a:extLst>
          </p:cNvPr>
          <p:cNvSpPr/>
          <p:nvPr/>
        </p:nvSpPr>
        <p:spPr>
          <a:xfrm>
            <a:off x="5951778" y="4489505"/>
            <a:ext cx="11592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zh-CN" dirty="0" err="1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bóbo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）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1299555-A552-467D-AC38-3EBE01DD6FCF}"/>
              </a:ext>
            </a:extLst>
          </p:cNvPr>
          <p:cNvSpPr txBox="1"/>
          <p:nvPr/>
        </p:nvSpPr>
        <p:spPr>
          <a:xfrm>
            <a:off x="7408180" y="4483870"/>
            <a:ext cx="1002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叔叔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820F5F6-DEEC-4B86-BDE5-BDAF4B97D427}"/>
              </a:ext>
            </a:extLst>
          </p:cNvPr>
          <p:cNvSpPr/>
          <p:nvPr/>
        </p:nvSpPr>
        <p:spPr>
          <a:xfrm>
            <a:off x="7841989" y="4483870"/>
            <a:ext cx="13901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zh-CN" dirty="0" err="1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shūshu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）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9C3902D-3928-48AC-837F-B57730AB18D7}"/>
              </a:ext>
            </a:extLst>
          </p:cNvPr>
          <p:cNvSpPr txBox="1"/>
          <p:nvPr/>
        </p:nvSpPr>
        <p:spPr>
          <a:xfrm>
            <a:off x="9569363" y="4502269"/>
            <a:ext cx="1002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婶婶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031AEA9-2157-4336-A0A0-B2110D4264C4}"/>
              </a:ext>
            </a:extLst>
          </p:cNvPr>
          <p:cNvSpPr/>
          <p:nvPr/>
        </p:nvSpPr>
        <p:spPr>
          <a:xfrm>
            <a:off x="9062973" y="4791292"/>
            <a:ext cx="16466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zh-CN" dirty="0" err="1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shěnshen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）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4D4F24D4-FFC4-4C00-AD4E-51D872991D06}"/>
              </a:ext>
            </a:extLst>
          </p:cNvPr>
          <p:cNvSpPr txBox="1"/>
          <p:nvPr/>
        </p:nvSpPr>
        <p:spPr>
          <a:xfrm>
            <a:off x="8439594" y="6199937"/>
            <a:ext cx="1002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堂妹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005190D-3B0B-43EC-83CE-B1A89B7CCB24}"/>
              </a:ext>
            </a:extLst>
          </p:cNvPr>
          <p:cNvSpPr/>
          <p:nvPr/>
        </p:nvSpPr>
        <p:spPr>
          <a:xfrm>
            <a:off x="8776689" y="6199937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zh-CN" dirty="0" err="1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táng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dirty="0" err="1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mèi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）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76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  <p:bldP spid="30" grpId="0"/>
      <p:bldP spid="30" grpId="1"/>
      <p:bldP spid="32" grpId="0"/>
      <p:bldP spid="32" grpId="1"/>
      <p:bldP spid="34" grpId="0"/>
      <p:bldP spid="34" grpId="1"/>
      <p:bldP spid="36" grpId="0"/>
      <p:bldP spid="36" grpId="1"/>
      <p:bldP spid="38" grpId="0"/>
      <p:bldP spid="38" grpId="1"/>
      <p:bldP spid="40" grpId="0"/>
      <p:bldP spid="40" grpId="1"/>
      <p:bldP spid="42" grpId="0"/>
      <p:bldP spid="42" grpId="1"/>
      <p:bldP spid="44" grpId="0"/>
      <p:bldP spid="44" grpId="1"/>
      <p:bldP spid="46" grpId="0"/>
      <p:bldP spid="46" grpId="1"/>
      <p:bldP spid="48" grpId="0"/>
      <p:bldP spid="48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查看源图像">
            <a:extLst>
              <a:ext uri="{FF2B5EF4-FFF2-40B4-BE49-F238E27FC236}">
                <a16:creationId xmlns:a16="http://schemas.microsoft.com/office/drawing/2014/main" id="{80C70D37-0FC3-4FD6-A24D-1C55634DF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9253" y="271774"/>
            <a:ext cx="2882747" cy="778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6975808-E72A-4525-A7A6-FD8275D73759}"/>
              </a:ext>
            </a:extLst>
          </p:cNvPr>
          <p:cNvCxnSpPr>
            <a:cxnSpLocks/>
          </p:cNvCxnSpPr>
          <p:nvPr/>
        </p:nvCxnSpPr>
        <p:spPr>
          <a:xfrm>
            <a:off x="539826" y="1219200"/>
            <a:ext cx="8769427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01422AF-4E47-4F57-BEF7-8BA70B3B5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0ABB12-639F-4AE0-B8E5-5E21435B828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9A15455-0522-4147-A82D-BC95CBACD11F}"/>
              </a:ext>
            </a:extLst>
          </p:cNvPr>
          <p:cNvSpPr/>
          <p:nvPr/>
        </p:nvSpPr>
        <p:spPr>
          <a:xfrm>
            <a:off x="442299" y="1296542"/>
            <a:ext cx="1200363" cy="5991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家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几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口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哥哥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两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妹妹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lang="zh-CN" altLang="en-US" sz="2400" kern="1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大姐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二姐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lang="zh-CN" altLang="en-US" sz="2400" kern="1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做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lang="zh-CN" altLang="en-US" sz="2400" kern="1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工作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lang="zh-CN" altLang="en-US" sz="2400" kern="1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律师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英文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lang="zh-CN" altLang="en-US" sz="2400" kern="1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都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6D1303C-5C31-4C95-8AA6-BEB61CDF1D34}"/>
              </a:ext>
            </a:extLst>
          </p:cNvPr>
          <p:cNvSpPr/>
          <p:nvPr/>
        </p:nvSpPr>
        <p:spPr>
          <a:xfrm>
            <a:off x="1642663" y="1309274"/>
            <a:ext cx="2016024" cy="55964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Aft>
                <a:spcPts val="200"/>
              </a:spcAft>
              <a:tabLst>
                <a:tab pos="2146300" algn="l"/>
              </a:tabLst>
              <a:defRPr/>
            </a:pPr>
            <a:r>
              <a:rPr lang="en-US" altLang="zh-CN" sz="2400" kern="100" dirty="0" err="1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jiā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0">
              <a:spcAft>
                <a:spcPts val="200"/>
              </a:spcAft>
              <a:tabLst>
                <a:tab pos="2146300" algn="l"/>
              </a:tabLst>
              <a:defRPr/>
            </a:pPr>
            <a:r>
              <a:rPr lang="en-US" altLang="zh-CN" sz="2400" kern="100" dirty="0" err="1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jǐ</a:t>
            </a:r>
            <a:r>
              <a:rPr lang="en-US" altLang="zh-CN" sz="2400" kern="1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0">
              <a:spcAft>
                <a:spcPts val="200"/>
              </a:spcAft>
              <a:tabLst>
                <a:tab pos="2146300" algn="l"/>
              </a:tabLst>
              <a:defRPr/>
            </a:pPr>
            <a:r>
              <a:rPr lang="en-US" altLang="zh-CN" sz="2400" kern="100" dirty="0" err="1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kǒu</a:t>
            </a:r>
            <a:r>
              <a:rPr lang="en-US" altLang="zh-CN" sz="2400" kern="1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0">
              <a:spcAft>
                <a:spcPts val="200"/>
              </a:spcAft>
              <a:tabLst>
                <a:tab pos="2146300" algn="l"/>
              </a:tabLst>
              <a:defRPr/>
            </a:pPr>
            <a:r>
              <a:rPr lang="en-US" altLang="zh-CN" sz="2400" kern="100" dirty="0" err="1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gē</a:t>
            </a:r>
            <a:r>
              <a:rPr lang="en-US" altLang="zh-CN" sz="2400" kern="1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100" dirty="0" err="1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ge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0">
              <a:spcAft>
                <a:spcPts val="200"/>
              </a:spcAft>
              <a:tabLst>
                <a:tab pos="2146300" algn="l"/>
              </a:tabLst>
              <a:defRPr/>
            </a:pPr>
            <a:r>
              <a:rPr lang="en-US" altLang="zh-CN" sz="2400" kern="100" dirty="0" err="1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liǎng</a:t>
            </a:r>
            <a:endParaRPr lang="en-US" altLang="zh-CN" sz="2400" kern="100" dirty="0">
              <a:solidFill>
                <a:prstClr val="black"/>
              </a:solidFill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0">
              <a:spcAft>
                <a:spcPts val="200"/>
              </a:spcAft>
              <a:tabLst>
                <a:tab pos="2146300" algn="l"/>
              </a:tabLst>
              <a:defRPr/>
            </a:pPr>
            <a:r>
              <a:rPr lang="en-US" altLang="zh-CN" sz="2400" kern="100" dirty="0" err="1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mèi</a:t>
            </a:r>
            <a:r>
              <a:rPr lang="en-US" altLang="zh-CN" sz="2400" kern="1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100" dirty="0" err="1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mèi</a:t>
            </a:r>
            <a:endParaRPr lang="en-US" altLang="zh-CN" sz="2400" kern="100" dirty="0">
              <a:solidFill>
                <a:prstClr val="black"/>
              </a:solidFill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0">
              <a:spcAft>
                <a:spcPts val="200"/>
              </a:spcAft>
              <a:tabLst>
                <a:tab pos="2146300" algn="l"/>
              </a:tabLst>
              <a:defRPr/>
            </a:pPr>
            <a:r>
              <a:rPr lang="en-US" altLang="zh-CN" sz="2400" kern="100" dirty="0" err="1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hé</a:t>
            </a:r>
            <a:endParaRPr lang="en-US" altLang="zh-CN" sz="2400" kern="100" dirty="0">
              <a:solidFill>
                <a:prstClr val="black"/>
              </a:solidFill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0">
              <a:spcAft>
                <a:spcPts val="200"/>
              </a:spcAft>
              <a:tabLst>
                <a:tab pos="2146300" algn="l"/>
              </a:tabLst>
              <a:defRPr/>
            </a:pPr>
            <a:r>
              <a:rPr lang="en-US" altLang="zh-CN" sz="2400" kern="100" dirty="0" err="1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dà</a:t>
            </a:r>
            <a:r>
              <a:rPr lang="en-US" altLang="zh-CN" sz="2400" kern="1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100" dirty="0" err="1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jiě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0">
              <a:spcAft>
                <a:spcPts val="200"/>
              </a:spcAft>
              <a:tabLst>
                <a:tab pos="2146300" algn="l"/>
              </a:tabLst>
              <a:defRPr/>
            </a:pPr>
            <a:r>
              <a:rPr lang="en-US" altLang="zh-CN" sz="2400" kern="100" dirty="0" err="1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èr</a:t>
            </a:r>
            <a:r>
              <a:rPr lang="en-US" altLang="zh-CN" sz="2400" kern="1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100" dirty="0" err="1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jiě</a:t>
            </a:r>
            <a:endParaRPr lang="en-US" altLang="zh-CN" sz="2400" kern="100" dirty="0">
              <a:solidFill>
                <a:prstClr val="black"/>
              </a:solidFill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0">
              <a:spcAft>
                <a:spcPts val="200"/>
              </a:spcAft>
              <a:tabLst>
                <a:tab pos="2146300" algn="l"/>
              </a:tabLst>
              <a:defRPr/>
            </a:pPr>
            <a:r>
              <a:rPr lang="en-US" altLang="zh-CN" sz="2400" kern="100" dirty="0" err="1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zuò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0">
              <a:spcAft>
                <a:spcPts val="200"/>
              </a:spcAft>
              <a:tabLst>
                <a:tab pos="2146300" algn="l"/>
              </a:tabLst>
              <a:defRPr/>
            </a:pPr>
            <a:r>
              <a:rPr lang="en-US" altLang="zh-CN" sz="2400" kern="100" dirty="0" err="1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gōng</a:t>
            </a:r>
            <a:r>
              <a:rPr lang="en-US" altLang="zh-CN" sz="2400" kern="1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100" dirty="0" err="1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zuò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0">
              <a:spcAft>
                <a:spcPts val="200"/>
              </a:spcAft>
              <a:tabLst>
                <a:tab pos="2146300" algn="l"/>
              </a:tabLst>
              <a:defRPr/>
            </a:pPr>
            <a:r>
              <a:rPr lang="en-US" altLang="zh-CN" sz="2400" kern="100" dirty="0" err="1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lǜ</a:t>
            </a:r>
            <a:r>
              <a:rPr lang="en-US" altLang="zh-CN" sz="2400" kern="1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100" dirty="0" err="1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shī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0">
              <a:spcAft>
                <a:spcPts val="200"/>
              </a:spcAft>
              <a:tabLst>
                <a:tab pos="2146300" algn="l"/>
              </a:tabLst>
              <a:defRPr/>
            </a:pPr>
            <a:r>
              <a:rPr lang="en-US" altLang="zh-CN" sz="2400" kern="100" dirty="0" err="1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yīng</a:t>
            </a:r>
            <a:r>
              <a:rPr lang="en-US" altLang="zh-CN" sz="2400" kern="1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100" dirty="0" err="1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wén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0">
              <a:spcAft>
                <a:spcPts val="200"/>
              </a:spcAft>
              <a:tabLst>
                <a:tab pos="2146300" algn="l"/>
              </a:tabLst>
              <a:defRPr/>
            </a:pPr>
            <a:r>
              <a:rPr lang="en-US" altLang="zh-CN" sz="2400" kern="100" dirty="0" err="1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dōu</a:t>
            </a:r>
            <a:endParaRPr lang="en-US" altLang="zh-CN" sz="2400" kern="100" dirty="0">
              <a:solidFill>
                <a:prstClr val="black"/>
              </a:solidFill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5F1669C-889E-4FA6-AB23-2AAF4868ECDA}"/>
              </a:ext>
            </a:extLst>
          </p:cNvPr>
          <p:cNvSpPr/>
          <p:nvPr/>
        </p:nvSpPr>
        <p:spPr>
          <a:xfrm>
            <a:off x="3626322" y="1309274"/>
            <a:ext cx="2016024" cy="55964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lang="en-US" altLang="zh-CN" sz="2400" kern="1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lang="en-US" altLang="zh-CN" sz="2400" kern="100" noProof="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nu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lang="en-US" altLang="zh-CN" sz="2400" kern="100" noProof="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lang="en-US" altLang="zh-CN" sz="2400" kern="100" noProof="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lang="en-US" altLang="zh-CN" sz="2400" kern="1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nu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lang="en-US" altLang="zh-CN" sz="2400" kern="1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lang="en-US" altLang="zh-CN" sz="2400" kern="100" noProof="0" dirty="0" err="1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conj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lang="en-US" altLang="zh-CN" sz="2400" kern="100" noProof="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lang="en-US" altLang="zh-CN" sz="2400" kern="1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lang="en-US" altLang="zh-CN" sz="2400" kern="100" noProof="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lang="en-US" altLang="zh-CN" sz="2400" kern="100" noProof="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n/v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lang="en-US" altLang="zh-CN" sz="2400" kern="100" noProof="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lang="en-US" altLang="zh-CN" sz="2400" kern="1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lang="en-US" altLang="zh-CN" sz="2400" kern="1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adv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A6F2F76-0816-4EA7-A283-289AEF8DA9F1}"/>
              </a:ext>
            </a:extLst>
          </p:cNvPr>
          <p:cNvSpPr/>
          <p:nvPr/>
        </p:nvSpPr>
        <p:spPr>
          <a:xfrm>
            <a:off x="4798678" y="1309274"/>
            <a:ext cx="9021150" cy="55964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lang="en-US" altLang="zh-CN" sz="2400" kern="100" noProof="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family; home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lang="en-US" altLang="zh-CN" sz="2400" kern="1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how many; some; a few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measure</a:t>
            </a:r>
            <a:r>
              <a:rPr kumimoji="0" lang="en-US" altLang="zh-CN" sz="2400" b="0" i="0" u="none" strike="noStrike" kern="1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 word for number of family number</a:t>
            </a:r>
            <a:endParaRPr lang="en-US" altLang="zh-CN" sz="2400" kern="100" noProof="0" dirty="0">
              <a:solidFill>
                <a:prstClr val="black"/>
              </a:solidFill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kumimoji="0" lang="en-US" altLang="zh-CN" sz="2400" b="0" i="0" u="none" strike="noStrike" kern="1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older</a:t>
            </a:r>
            <a:r>
              <a:rPr kumimoji="0" lang="en-US" altLang="zh-CN" sz="2400" b="0" i="0" u="none" strike="noStrike" kern="100" cap="none" spc="0" normalizeH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 brother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lang="en-US" altLang="zh-CN" sz="2400" kern="100" noProof="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two; a couple of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lang="en-US" altLang="zh-CN" sz="2400" kern="1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younger sister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lang="en-US" altLang="zh-CN" sz="2400" kern="1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and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eldest sister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lang="en-US" altLang="zh-CN" sz="2400" kern="1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400" kern="100" noProof="0" dirty="0" err="1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econd</a:t>
            </a:r>
            <a:r>
              <a:rPr lang="en-US" altLang="zh-CN" sz="2400" kern="100" noProof="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 oldest sister 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lang="en-US" altLang="zh-CN" sz="2400" kern="100" noProof="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to do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kumimoji="0" lang="en-US" altLang="zh-CN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Job; to work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lang="en-US" altLang="zh-CN" sz="2400" kern="100" noProof="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lawyer 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lang="en-US" altLang="zh-CN" sz="2400" kern="100" noProof="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English (language)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lang="en-US" altLang="zh-CN" sz="2400" kern="1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both; all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67354B3-9CAF-419A-988E-49800D390F42}"/>
              </a:ext>
            </a:extLst>
          </p:cNvPr>
          <p:cNvSpPr txBox="1"/>
          <p:nvPr/>
        </p:nvSpPr>
        <p:spPr>
          <a:xfrm>
            <a:off x="539826" y="219240"/>
            <a:ext cx="44043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800" dirty="0">
                <a:solidFill>
                  <a:srgbClr val="8D311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词汇</a:t>
            </a: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rgbClr val="8D311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-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8D311F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Vocabulary </a:t>
            </a: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srgbClr val="8D311F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8498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查看源图像">
            <a:extLst>
              <a:ext uri="{FF2B5EF4-FFF2-40B4-BE49-F238E27FC236}">
                <a16:creationId xmlns:a16="http://schemas.microsoft.com/office/drawing/2014/main" id="{80C70D37-0FC3-4FD6-A24D-1C55634DF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9253" y="271774"/>
            <a:ext cx="2882747" cy="778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6975808-E72A-4525-A7A6-FD8275D73759}"/>
              </a:ext>
            </a:extLst>
          </p:cNvPr>
          <p:cNvCxnSpPr>
            <a:cxnSpLocks/>
          </p:cNvCxnSpPr>
          <p:nvPr/>
        </p:nvCxnSpPr>
        <p:spPr>
          <a:xfrm>
            <a:off x="539826" y="1219200"/>
            <a:ext cx="8769427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01422AF-4E47-4F57-BEF7-8BA70B3B5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0ABB12-639F-4AE0-B8E5-5E21435B828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9A15455-0522-4147-A82D-BC95CBACD11F}"/>
              </a:ext>
            </a:extLst>
          </p:cNvPr>
          <p:cNvSpPr/>
          <p:nvPr/>
        </p:nvSpPr>
        <p:spPr>
          <a:xfrm>
            <a:off x="511862" y="1549906"/>
            <a:ext cx="1259185" cy="16466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tabLst>
                <a:tab pos="2146300" algn="l"/>
              </a:tabLst>
              <a:defRPr/>
            </a:pPr>
            <a:r>
              <a:rPr lang="zh-CN" altLang="en-US" sz="2400" kern="1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大学生</a:t>
            </a:r>
            <a:endParaRPr lang="en-US" altLang="zh-CN" sz="2400" kern="100" noProof="0" dirty="0">
              <a:solidFill>
                <a:prstClr val="black"/>
              </a:solidFill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lang="zh-CN" altLang="en-US" sz="2400" kern="100" noProof="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大学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lang="zh-CN" altLang="en-US" sz="2400" kern="100" noProof="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医生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kumimoji="0" lang="zh-CN" altLang="en-US" sz="2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白英爱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6D1303C-5C31-4C95-8AA6-BEB61CDF1D34}"/>
              </a:ext>
            </a:extLst>
          </p:cNvPr>
          <p:cNvSpPr/>
          <p:nvPr/>
        </p:nvSpPr>
        <p:spPr>
          <a:xfrm>
            <a:off x="1651854" y="1549906"/>
            <a:ext cx="2016024" cy="16466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tabLst>
                <a:tab pos="2146300" algn="l"/>
              </a:tabLst>
              <a:defRPr/>
            </a:pPr>
            <a:r>
              <a:rPr lang="en-US" altLang="zh-CN" sz="2400" kern="100" dirty="0" err="1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dà</a:t>
            </a:r>
            <a:r>
              <a:rPr lang="en-US" altLang="zh-CN" sz="2400" kern="1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100" dirty="0" err="1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xué</a:t>
            </a:r>
            <a:r>
              <a:rPr lang="en-US" altLang="zh-CN" sz="2400" kern="1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100" dirty="0" err="1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shēng</a:t>
            </a:r>
            <a:endParaRPr lang="en-US" altLang="zh-CN" sz="2400" kern="100" dirty="0">
              <a:solidFill>
                <a:prstClr val="black"/>
              </a:solidFill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0">
              <a:spcAft>
                <a:spcPts val="200"/>
              </a:spcAft>
              <a:tabLst>
                <a:tab pos="2146300" algn="l"/>
              </a:tabLst>
              <a:defRPr/>
            </a:pPr>
            <a:r>
              <a:rPr lang="en-US" altLang="zh-CN" sz="2400" kern="100" dirty="0" err="1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dà</a:t>
            </a:r>
            <a:r>
              <a:rPr lang="en-US" altLang="zh-CN" sz="2400" kern="1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100" dirty="0" err="1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xué</a:t>
            </a:r>
            <a:endParaRPr lang="en-US" altLang="zh-CN" sz="2400" kern="100" dirty="0">
              <a:solidFill>
                <a:prstClr val="black"/>
              </a:solidFill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0">
              <a:spcAft>
                <a:spcPts val="200"/>
              </a:spcAft>
              <a:tabLst>
                <a:tab pos="2146300" algn="l"/>
              </a:tabLst>
              <a:defRPr/>
            </a:pPr>
            <a:r>
              <a:rPr lang="en-US" altLang="zh-CN" sz="2400" kern="100" dirty="0" err="1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yī</a:t>
            </a:r>
            <a:r>
              <a:rPr lang="en-US" altLang="zh-CN" sz="2400" kern="1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100" dirty="0" err="1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shēng</a:t>
            </a:r>
            <a:r>
              <a:rPr lang="en-US" altLang="zh-CN" sz="2400" kern="1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0">
              <a:spcAft>
                <a:spcPts val="200"/>
              </a:spcAft>
              <a:tabLst>
                <a:tab pos="2146300" algn="l"/>
              </a:tabLst>
              <a:defRPr/>
            </a:pPr>
            <a:r>
              <a:rPr lang="en-US" altLang="zh-CN" sz="2400" kern="100" dirty="0" err="1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bái</a:t>
            </a:r>
            <a:r>
              <a:rPr lang="en-US" altLang="zh-CN" sz="2400" kern="1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100" dirty="0" err="1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yīng'ài</a:t>
            </a:r>
            <a:endParaRPr lang="en-US" altLang="zh-CN" sz="2400" kern="100" dirty="0">
              <a:solidFill>
                <a:prstClr val="black"/>
              </a:solidFill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5F1669C-889E-4FA6-AB23-2AAF4868ECDA}"/>
              </a:ext>
            </a:extLst>
          </p:cNvPr>
          <p:cNvSpPr/>
          <p:nvPr/>
        </p:nvSpPr>
        <p:spPr>
          <a:xfrm>
            <a:off x="3586949" y="1549906"/>
            <a:ext cx="2016024" cy="16466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lang="en-US" altLang="zh-CN" sz="2400" kern="1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lang="en-US" altLang="zh-CN" sz="2400" kern="100" noProof="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lang="en-US" altLang="zh-CN" sz="2400" kern="1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lang="en-US" altLang="zh-CN" sz="2400" kern="100" noProof="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Proper noun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A6F2F76-0816-4EA7-A283-289AEF8DA9F1}"/>
              </a:ext>
            </a:extLst>
          </p:cNvPr>
          <p:cNvSpPr/>
          <p:nvPr/>
        </p:nvSpPr>
        <p:spPr>
          <a:xfrm>
            <a:off x="5917478" y="1558688"/>
            <a:ext cx="9021150" cy="16466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lang="en-US" altLang="zh-CN" sz="2400" kern="100" noProof="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college student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lang="en-US" altLang="zh-CN" sz="2400" kern="100" noProof="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university; college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lang="en-US" altLang="zh-CN" sz="2400" kern="1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doctor; physician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lang="en-US" altLang="zh-CN" sz="2400" kern="1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a personal name</a:t>
            </a:r>
            <a:endParaRPr kumimoji="0" lang="en-US" altLang="zh-CN" sz="2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CACB221-45B9-40F5-83C9-3503CF6B696C}"/>
              </a:ext>
            </a:extLst>
          </p:cNvPr>
          <p:cNvSpPr txBox="1"/>
          <p:nvPr/>
        </p:nvSpPr>
        <p:spPr>
          <a:xfrm>
            <a:off x="539826" y="219240"/>
            <a:ext cx="44043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800" dirty="0">
                <a:solidFill>
                  <a:srgbClr val="8D311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词汇</a:t>
            </a: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rgbClr val="8D311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-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8D311F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Vocabulary </a:t>
            </a: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srgbClr val="8D311F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56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3D2352-65E8-4EFE-B2A2-0BBB517DA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ABB12-639F-4AE0-B8E5-5E21435B8289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78734D8-8241-4856-9523-83266EE991DE}"/>
              </a:ext>
            </a:extLst>
          </p:cNvPr>
          <p:cNvSpPr/>
          <p:nvPr/>
        </p:nvSpPr>
        <p:spPr>
          <a:xfrm>
            <a:off x="5139071" y="2291433"/>
            <a:ext cx="2749471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Aft>
                <a:spcPts val="200"/>
              </a:spcAft>
              <a:tabLst>
                <a:tab pos="2146300" algn="l"/>
              </a:tabLst>
              <a:defRPr/>
            </a:pPr>
            <a:r>
              <a:rPr lang="zh-CN" altLang="en-US" sz="10000" kern="100" dirty="0"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哥哥</a:t>
            </a:r>
            <a:endParaRPr lang="en-US" altLang="zh-CN" sz="10000" kern="100" dirty="0"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6FA5971-E5F4-4F9F-ADD6-92A0F8F7E979}"/>
              </a:ext>
            </a:extLst>
          </p:cNvPr>
          <p:cNvSpPr/>
          <p:nvPr/>
        </p:nvSpPr>
        <p:spPr>
          <a:xfrm>
            <a:off x="1085231" y="2920017"/>
            <a:ext cx="1467068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Aft>
                <a:spcPts val="200"/>
              </a:spcAft>
              <a:tabLst>
                <a:tab pos="2146300" algn="l"/>
              </a:tabLst>
              <a:defRPr/>
            </a:pPr>
            <a:r>
              <a:rPr lang="zh-CN" altLang="en-US" sz="10000" kern="100" dirty="0"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做</a:t>
            </a:r>
            <a:endParaRPr lang="en-US" altLang="zh-CN" sz="10000" kern="100" dirty="0"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9698F1C-B6A8-40F3-B1B7-9EAFE162F871}"/>
              </a:ext>
            </a:extLst>
          </p:cNvPr>
          <p:cNvSpPr/>
          <p:nvPr/>
        </p:nvSpPr>
        <p:spPr>
          <a:xfrm>
            <a:off x="1280945" y="706424"/>
            <a:ext cx="2749471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Aft>
                <a:spcPts val="200"/>
              </a:spcAft>
              <a:tabLst>
                <a:tab pos="2146300" algn="l"/>
              </a:tabLst>
              <a:defRPr/>
            </a:pPr>
            <a:r>
              <a:rPr lang="zh-CN" altLang="en-US" sz="10000" kern="100" dirty="0"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律师</a:t>
            </a:r>
            <a:endParaRPr lang="en-US" altLang="zh-CN" sz="10000" kern="100" dirty="0"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CD83C2F-D676-4824-8E85-53F7D5F81A43}"/>
              </a:ext>
            </a:extLst>
          </p:cNvPr>
          <p:cNvSpPr/>
          <p:nvPr/>
        </p:nvSpPr>
        <p:spPr>
          <a:xfrm>
            <a:off x="3579779" y="4333544"/>
            <a:ext cx="1467068" cy="31957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Aft>
                <a:spcPts val="200"/>
              </a:spcAft>
              <a:tabLst>
                <a:tab pos="2146300" algn="l"/>
              </a:tabLst>
              <a:defRPr/>
            </a:pPr>
            <a:r>
              <a:rPr lang="zh-CN" altLang="en-US" sz="10000" kern="100" dirty="0"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两</a:t>
            </a:r>
          </a:p>
          <a:p>
            <a:pPr lvl="0">
              <a:spcAft>
                <a:spcPts val="200"/>
              </a:spcAft>
              <a:tabLst>
                <a:tab pos="2146300" algn="l"/>
              </a:tabLst>
              <a:defRPr/>
            </a:pPr>
            <a:endParaRPr lang="en-US" altLang="zh-CN" sz="10000" kern="100" dirty="0"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297AF53-6763-49B9-A0D2-8BE676CE0AF3}"/>
              </a:ext>
            </a:extLst>
          </p:cNvPr>
          <p:cNvSpPr/>
          <p:nvPr/>
        </p:nvSpPr>
        <p:spPr>
          <a:xfrm>
            <a:off x="8756567" y="4235687"/>
            <a:ext cx="2747868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tabLst>
                <a:tab pos="2146300" algn="l"/>
              </a:tabLst>
              <a:defRPr/>
            </a:pPr>
            <a:r>
              <a:rPr lang="zh-CN" altLang="en-US" sz="9600" kern="1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二姐</a:t>
            </a:r>
            <a:endParaRPr lang="en-US" altLang="zh-CN" sz="9600" kern="100" dirty="0">
              <a:solidFill>
                <a:prstClr val="black"/>
              </a:solidFill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B046766-68FB-436A-891E-DB6BF1BE2616}"/>
              </a:ext>
            </a:extLst>
          </p:cNvPr>
          <p:cNvSpPr/>
          <p:nvPr/>
        </p:nvSpPr>
        <p:spPr>
          <a:xfrm>
            <a:off x="4721264" y="438627"/>
            <a:ext cx="1467068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Aft>
                <a:spcPts val="200"/>
              </a:spcAft>
              <a:tabLst>
                <a:tab pos="2146300" algn="l"/>
              </a:tabLst>
              <a:defRPr/>
            </a:pPr>
            <a:r>
              <a:rPr lang="zh-CN" altLang="en-US" sz="10000" kern="100" dirty="0"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都</a:t>
            </a:r>
            <a:endParaRPr lang="en-US" altLang="zh-CN" sz="10000" kern="100" dirty="0"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58C5F46-6F87-4F64-806E-4007AC046341}"/>
              </a:ext>
            </a:extLst>
          </p:cNvPr>
          <p:cNvSpPr/>
          <p:nvPr/>
        </p:nvSpPr>
        <p:spPr>
          <a:xfrm>
            <a:off x="5745446" y="4622253"/>
            <a:ext cx="1467068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Aft>
                <a:spcPts val="200"/>
              </a:spcAft>
              <a:tabLst>
                <a:tab pos="2146300" algn="l"/>
              </a:tabLst>
              <a:defRPr/>
            </a:pPr>
            <a:r>
              <a:rPr lang="zh-CN" altLang="en-US" sz="10000" kern="100" dirty="0"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endParaRPr lang="en-US" altLang="zh-CN" sz="10000" kern="100" dirty="0"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60B93CD-8732-4E78-9D1E-8B71806E346B}"/>
              </a:ext>
            </a:extLst>
          </p:cNvPr>
          <p:cNvSpPr/>
          <p:nvPr/>
        </p:nvSpPr>
        <p:spPr>
          <a:xfrm>
            <a:off x="7289499" y="2191360"/>
            <a:ext cx="1467068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Aft>
                <a:spcPts val="200"/>
              </a:spcAft>
              <a:tabLst>
                <a:tab pos="2146300" algn="l"/>
              </a:tabLst>
              <a:defRPr/>
            </a:pPr>
            <a:r>
              <a:rPr lang="zh-CN" altLang="en-US" sz="10000" kern="100" dirty="0"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几</a:t>
            </a:r>
            <a:endParaRPr lang="en-US" altLang="zh-CN" sz="10000" kern="100" dirty="0"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41B8EE8-E48B-4D7D-9C7C-053801590D79}"/>
              </a:ext>
            </a:extLst>
          </p:cNvPr>
          <p:cNvSpPr/>
          <p:nvPr/>
        </p:nvSpPr>
        <p:spPr>
          <a:xfrm>
            <a:off x="1085231" y="4723835"/>
            <a:ext cx="2749471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Aft>
                <a:spcPts val="200"/>
              </a:spcAft>
              <a:tabLst>
                <a:tab pos="2146300" algn="l"/>
              </a:tabLst>
              <a:defRPr/>
            </a:pPr>
            <a:r>
              <a:rPr lang="zh-CN" altLang="en-US" sz="10000" kern="100" dirty="0"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妹妹</a:t>
            </a:r>
            <a:endParaRPr lang="en-US" altLang="zh-CN" sz="10000" kern="100" dirty="0"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51BAD51-3CF8-4D96-A265-C8F9A438308B}"/>
              </a:ext>
            </a:extLst>
          </p:cNvPr>
          <p:cNvSpPr/>
          <p:nvPr/>
        </p:nvSpPr>
        <p:spPr>
          <a:xfrm>
            <a:off x="2846245" y="2191360"/>
            <a:ext cx="1468672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Aft>
                <a:spcPts val="200"/>
              </a:spcAft>
              <a:tabLst>
                <a:tab pos="2146300" algn="l"/>
              </a:tabLst>
              <a:defRPr/>
            </a:pPr>
            <a:r>
              <a:rPr lang="zh-CN" altLang="en-US" sz="10000" kern="100" dirty="0"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家</a:t>
            </a:r>
            <a:endParaRPr lang="en-US" altLang="zh-CN" sz="10000" kern="100" dirty="0"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5AA8A3E-068C-48AA-A0C8-B22188B78705}"/>
              </a:ext>
            </a:extLst>
          </p:cNvPr>
          <p:cNvSpPr/>
          <p:nvPr/>
        </p:nvSpPr>
        <p:spPr>
          <a:xfrm>
            <a:off x="9345755" y="1873930"/>
            <a:ext cx="2749471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Aft>
                <a:spcPts val="200"/>
              </a:spcAft>
              <a:tabLst>
                <a:tab pos="2146300" algn="l"/>
              </a:tabLst>
              <a:defRPr/>
            </a:pPr>
            <a:r>
              <a:rPr lang="zh-CN" altLang="en-US" sz="10000" kern="100" dirty="0"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医生</a:t>
            </a:r>
            <a:endParaRPr lang="en-US" altLang="zh-CN" sz="10000" kern="100" dirty="0"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E1CE2A1-5099-46AB-828A-0A0684C4F3C0}"/>
              </a:ext>
            </a:extLst>
          </p:cNvPr>
          <p:cNvSpPr/>
          <p:nvPr/>
        </p:nvSpPr>
        <p:spPr>
          <a:xfrm>
            <a:off x="7502147" y="317109"/>
            <a:ext cx="4031873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Aft>
                <a:spcPts val="200"/>
              </a:spcAft>
              <a:tabLst>
                <a:tab pos="2146300" algn="l"/>
              </a:tabLst>
              <a:defRPr/>
            </a:pPr>
            <a:r>
              <a:rPr lang="zh-CN" altLang="en-US" sz="10000" kern="100" dirty="0"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大学生</a:t>
            </a:r>
            <a:endParaRPr lang="en-US" altLang="zh-CN" sz="10000" kern="100" dirty="0"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2A0512F-3D5E-433C-8092-79CED4F6F844}"/>
              </a:ext>
            </a:extLst>
          </p:cNvPr>
          <p:cNvSpPr/>
          <p:nvPr/>
        </p:nvSpPr>
        <p:spPr>
          <a:xfrm>
            <a:off x="211507" y="1918379"/>
            <a:ext cx="2749471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Aft>
                <a:spcPts val="200"/>
              </a:spcAft>
              <a:tabLst>
                <a:tab pos="2146300" algn="l"/>
              </a:tabLst>
              <a:defRPr/>
            </a:pPr>
            <a:r>
              <a:rPr lang="zh-CN" altLang="en-US" sz="10000" kern="100" dirty="0"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工作</a:t>
            </a:r>
            <a:endParaRPr lang="en-US" altLang="zh-CN" sz="10000" kern="100" dirty="0"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1372A69-92BB-4741-96BB-15B4530A6EB1}"/>
              </a:ext>
            </a:extLst>
          </p:cNvPr>
          <p:cNvSpPr/>
          <p:nvPr/>
        </p:nvSpPr>
        <p:spPr>
          <a:xfrm>
            <a:off x="3052022" y="787982"/>
            <a:ext cx="2749471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Aft>
                <a:spcPts val="200"/>
              </a:spcAft>
              <a:tabLst>
                <a:tab pos="2146300" algn="l"/>
              </a:tabLst>
              <a:defRPr/>
            </a:pPr>
            <a:r>
              <a:rPr lang="zh-CN" altLang="en-US" sz="10000" kern="100" dirty="0"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英文</a:t>
            </a:r>
            <a:endParaRPr lang="en-US" altLang="zh-CN" sz="10000" kern="100" dirty="0"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23113D8-D05A-46FB-9999-8202A1BAF92B}"/>
              </a:ext>
            </a:extLst>
          </p:cNvPr>
          <p:cNvSpPr/>
          <p:nvPr/>
        </p:nvSpPr>
        <p:spPr>
          <a:xfrm>
            <a:off x="6623196" y="3517936"/>
            <a:ext cx="1467068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Aft>
                <a:spcPts val="200"/>
              </a:spcAft>
              <a:tabLst>
                <a:tab pos="2146300" algn="l"/>
              </a:tabLst>
              <a:defRPr/>
            </a:pPr>
            <a:r>
              <a:rPr lang="zh-CN" altLang="en-US" sz="10000" kern="100" dirty="0"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endParaRPr lang="en-US" altLang="zh-CN" sz="10000" kern="100" dirty="0"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6EAAB98-6AD5-4E52-B6E1-E5A3E8B309B9}"/>
              </a:ext>
            </a:extLst>
          </p:cNvPr>
          <p:cNvSpPr/>
          <p:nvPr/>
        </p:nvSpPr>
        <p:spPr>
          <a:xfrm>
            <a:off x="7091974" y="5149152"/>
            <a:ext cx="2749471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Aft>
                <a:spcPts val="200"/>
              </a:spcAft>
              <a:tabLst>
                <a:tab pos="2146300" algn="l"/>
              </a:tabLst>
              <a:defRPr/>
            </a:pPr>
            <a:r>
              <a:rPr lang="zh-CN" altLang="en-US" sz="10000" kern="100" dirty="0"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大姐</a:t>
            </a:r>
            <a:endParaRPr lang="en-US" altLang="zh-CN" sz="10000" kern="100" dirty="0"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638DAF8-229E-426E-8DA8-1A3B2A609CC5}"/>
              </a:ext>
            </a:extLst>
          </p:cNvPr>
          <p:cNvSpPr/>
          <p:nvPr/>
        </p:nvSpPr>
        <p:spPr>
          <a:xfrm>
            <a:off x="8515132" y="2706596"/>
            <a:ext cx="1467068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Aft>
                <a:spcPts val="200"/>
              </a:spcAft>
              <a:tabLst>
                <a:tab pos="2146300" algn="l"/>
              </a:tabLst>
              <a:defRPr/>
            </a:pPr>
            <a:r>
              <a:rPr lang="zh-CN" altLang="en-US" sz="10000" kern="100" dirty="0"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口</a:t>
            </a:r>
            <a:endParaRPr lang="en-US" altLang="zh-CN" sz="10000" kern="100" dirty="0"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8CAFFC4-867D-49DC-BFFF-A878BDA33EBC}"/>
              </a:ext>
            </a:extLst>
          </p:cNvPr>
          <p:cNvSpPr/>
          <p:nvPr/>
        </p:nvSpPr>
        <p:spPr>
          <a:xfrm>
            <a:off x="5044393" y="3498310"/>
            <a:ext cx="4031873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Aft>
                <a:spcPts val="200"/>
              </a:spcAft>
              <a:tabLst>
                <a:tab pos="2146300" algn="l"/>
              </a:tabLst>
              <a:defRPr/>
            </a:pPr>
            <a:r>
              <a:rPr lang="zh-CN" altLang="en-US" sz="10000" kern="100" dirty="0"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白英爱</a:t>
            </a:r>
            <a:endParaRPr lang="en-US" altLang="zh-CN" sz="10000" kern="100" dirty="0"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4415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0"/>
                            </p:stCondLst>
                            <p:childTnLst>
                              <p:par>
                                <p:cTn id="20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000"/>
                            </p:stCondLst>
                            <p:childTnLst>
                              <p:par>
                                <p:cTn id="2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000"/>
                            </p:stCondLst>
                            <p:childTnLst>
                              <p:par>
                                <p:cTn id="26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8000"/>
                            </p:stCondLst>
                            <p:childTnLst>
                              <p:par>
                                <p:cTn id="2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9000"/>
                            </p:stCondLst>
                            <p:childTnLst>
                              <p:par>
                                <p:cTn id="32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0"/>
                            </p:stCondLst>
                            <p:childTnLst>
                              <p:par>
                                <p:cTn id="3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1000"/>
                            </p:stCondLst>
                            <p:childTnLst>
                              <p:par>
                                <p:cTn id="3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000"/>
                            </p:stCondLst>
                            <p:childTnLst>
                              <p:par>
                                <p:cTn id="4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3000"/>
                            </p:stCondLst>
                            <p:childTnLst>
                              <p:par>
                                <p:cTn id="44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4000"/>
                            </p:stCondLst>
                            <p:childTnLst>
                              <p:par>
                                <p:cTn id="4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0"/>
                            </p:stCondLst>
                            <p:childTnLst>
                              <p:par>
                                <p:cTn id="50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6000"/>
                            </p:stCondLst>
                            <p:childTnLst>
                              <p:par>
                                <p:cTn id="5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7000"/>
                            </p:stCondLst>
                            <p:childTnLst>
                              <p:par>
                                <p:cTn id="56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8000"/>
                            </p:stCondLst>
                            <p:childTnLst>
                              <p:par>
                                <p:cTn id="5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9000"/>
                            </p:stCondLst>
                            <p:childTnLst>
                              <p:par>
                                <p:cTn id="62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0"/>
                            </p:stCondLst>
                            <p:childTnLst>
                              <p:par>
                                <p:cTn id="6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1000"/>
                            </p:stCondLst>
                            <p:childTnLst>
                              <p:par>
                                <p:cTn id="6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2000"/>
                            </p:stCondLst>
                            <p:childTnLst>
                              <p:par>
                                <p:cTn id="7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3000"/>
                            </p:stCondLst>
                            <p:childTnLst>
                              <p:par>
                                <p:cTn id="74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4000"/>
                            </p:stCondLst>
                            <p:childTnLst>
                              <p:par>
                                <p:cTn id="7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5000"/>
                            </p:stCondLst>
                            <p:childTnLst>
                              <p:par>
                                <p:cTn id="80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6000"/>
                            </p:stCondLst>
                            <p:childTnLst>
                              <p:par>
                                <p:cTn id="8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7000"/>
                            </p:stCondLst>
                            <p:childTnLst>
                              <p:par>
                                <p:cTn id="86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8000"/>
                            </p:stCondLst>
                            <p:childTnLst>
                              <p:par>
                                <p:cTn id="8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9000"/>
                            </p:stCondLst>
                            <p:childTnLst>
                              <p:par>
                                <p:cTn id="92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30000"/>
                            </p:stCondLst>
                            <p:childTnLst>
                              <p:par>
                                <p:cTn id="9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1000"/>
                            </p:stCondLst>
                            <p:childTnLst>
                              <p:par>
                                <p:cTn id="9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32000"/>
                            </p:stCondLst>
                            <p:childTnLst>
                              <p:par>
                                <p:cTn id="10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33000"/>
                            </p:stCondLst>
                            <p:childTnLst>
                              <p:par>
                                <p:cTn id="104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34000"/>
                            </p:stCondLst>
                            <p:childTnLst>
                              <p:par>
                                <p:cTn id="10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5000"/>
                            </p:stCondLst>
                            <p:childTnLst>
                              <p:par>
                                <p:cTn id="110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8" grpId="0"/>
      <p:bldP spid="8" grpId="1"/>
      <p:bldP spid="9" grpId="0"/>
      <p:bldP spid="9" grpId="1"/>
      <p:bldP spid="10" grpId="0"/>
      <p:bldP spid="10" grpId="1"/>
      <p:bldP spid="11" grpId="0"/>
      <p:bldP spid="11" grpId="1"/>
      <p:bldP spid="12" grpId="0"/>
      <p:bldP spid="12" grpId="1"/>
      <p:bldP spid="13" grpId="0"/>
      <p:bldP spid="13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  <p:bldP spid="21" grpId="0"/>
      <p:bldP spid="21" grpId="1"/>
      <p:bldP spid="22" grpId="0"/>
      <p:bldP spid="22" grpId="1"/>
      <p:bldP spid="23" grpId="0"/>
      <p:bldP spid="23" grpId="1"/>
      <p:bldP spid="24" grpId="0"/>
      <p:bldP spid="24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查看源图像">
            <a:extLst>
              <a:ext uri="{FF2B5EF4-FFF2-40B4-BE49-F238E27FC236}">
                <a16:creationId xmlns:a16="http://schemas.microsoft.com/office/drawing/2014/main" id="{80C70D37-0FC3-4FD6-A24D-1C55634DF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9253" y="271774"/>
            <a:ext cx="2882747" cy="778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67A127B-A464-4CAB-80E4-534352DE3E2E}"/>
              </a:ext>
            </a:extLst>
          </p:cNvPr>
          <p:cNvSpPr txBox="1"/>
          <p:nvPr/>
        </p:nvSpPr>
        <p:spPr>
          <a:xfrm>
            <a:off x="539826" y="219240"/>
            <a:ext cx="44839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800" dirty="0">
                <a:solidFill>
                  <a:srgbClr val="8D311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对话</a:t>
            </a:r>
            <a:r>
              <a:rPr lang="en-US" altLang="zh-CN" sz="4800" dirty="0">
                <a:solidFill>
                  <a:srgbClr val="8D311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rgbClr val="8D311F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-</a:t>
            </a:r>
            <a:r>
              <a:rPr kumimoji="0" lang="en-US" altLang="zh-CN" sz="4000" b="0" i="0" u="none" strike="noStrike" kern="1200" cap="none" spc="0" normalizeH="0" baseline="0" noProof="0" dirty="0">
                <a:ln>
                  <a:noFill/>
                </a:ln>
                <a:solidFill>
                  <a:srgbClr val="8D311F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Dialogue 2</a:t>
            </a: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srgbClr val="8D311F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6975808-E72A-4525-A7A6-FD8275D73759}"/>
              </a:ext>
            </a:extLst>
          </p:cNvPr>
          <p:cNvCxnSpPr>
            <a:cxnSpLocks/>
          </p:cNvCxnSpPr>
          <p:nvPr/>
        </p:nvCxnSpPr>
        <p:spPr>
          <a:xfrm>
            <a:off x="539826" y="1084448"/>
            <a:ext cx="8769427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01422AF-4E47-4F57-BEF7-8BA70B3B5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0ABB12-639F-4AE0-B8E5-5E21435B828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5FADDA6-8588-4CAE-8392-3C64CD6FA260}"/>
              </a:ext>
            </a:extLst>
          </p:cNvPr>
          <p:cNvSpPr txBox="1"/>
          <p:nvPr/>
        </p:nvSpPr>
        <p:spPr>
          <a:xfrm>
            <a:off x="1025449" y="1050237"/>
            <a:ext cx="10626725" cy="660757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R="0" lvl="0" indent="0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effectLst/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</a:pPr>
            <a:r>
              <a:rPr lang="zh-CN" altLang="en-US" sz="2400" b="0" dirty="0"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白  英 爱</a:t>
            </a:r>
            <a:r>
              <a:rPr lang="en-US" altLang="zh-CN" sz="2400" b="0" dirty="0"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,</a:t>
            </a:r>
            <a:r>
              <a:rPr lang="zh-CN" altLang="en-US" sz="2400" b="0" dirty="0"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你 家 有几 口 人？</a:t>
            </a:r>
          </a:p>
          <a:p>
            <a:pPr>
              <a:lnSpc>
                <a:spcPct val="200000"/>
              </a:lnSpc>
            </a:pPr>
            <a:r>
              <a:rPr lang="zh-CN" altLang="en-US" sz="2400" b="0" dirty="0"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我 家 有  六口  人。我爸爸、我 妈妈、 一个 哥哥、</a:t>
            </a:r>
          </a:p>
          <a:p>
            <a:pPr>
              <a:lnSpc>
                <a:spcPct val="200000"/>
              </a:lnSpc>
            </a:pPr>
            <a:r>
              <a:rPr lang="zh-CN" altLang="en-US" sz="2400" b="0" dirty="0"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 两 个  妹妹 和 我。李 友，你 家有 几口 人？</a:t>
            </a:r>
          </a:p>
          <a:p>
            <a:pPr>
              <a:lnSpc>
                <a:spcPct val="200000"/>
              </a:lnSpc>
            </a:pPr>
            <a:r>
              <a:rPr lang="zh-CN" altLang="en-US" sz="2400" b="0" dirty="0"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我  家 有 五 口 人。爸爸、妈妈、大姐、二姐 和 我。</a:t>
            </a:r>
            <a:endParaRPr lang="en-US" altLang="zh-CN" sz="2400" b="0" dirty="0">
              <a:latin typeface="楷体" panose="02010609060101010101" pitchFamily="49" charset="-122"/>
              <a:ea typeface="楷体" panose="02010609060101010101" pitchFamily="49" charset="-122"/>
              <a:cs typeface="+mn-ea"/>
              <a:sym typeface="+mn-lt"/>
            </a:endParaRPr>
          </a:p>
          <a:p>
            <a:pPr>
              <a:lnSpc>
                <a:spcPct val="200000"/>
              </a:lnSpc>
            </a:pPr>
            <a:r>
              <a:rPr lang="zh-CN" altLang="en-US" sz="2400" b="0" dirty="0"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你爸爸 妈妈  做  什么   工作？</a:t>
            </a:r>
          </a:p>
          <a:p>
            <a:pPr>
              <a:lnSpc>
                <a:spcPct val="200000"/>
              </a:lnSpc>
            </a:pPr>
            <a:r>
              <a:rPr lang="zh-CN" altLang="en-US" sz="2400" b="0" dirty="0"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我 爸爸 是律师，妈妈  是 英  文 老师，</a:t>
            </a:r>
          </a:p>
          <a:p>
            <a:pPr>
              <a:lnSpc>
                <a:spcPct val="200000"/>
              </a:lnSpc>
            </a:pPr>
            <a:r>
              <a:rPr lang="zh-CN" altLang="en-US" sz="2400" b="0" dirty="0"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哥哥、妹妹  都 是 大 学 生。</a:t>
            </a:r>
          </a:p>
          <a:p>
            <a:pPr>
              <a:lnSpc>
                <a:spcPct val="200000"/>
              </a:lnSpc>
            </a:pPr>
            <a:r>
              <a:rPr lang="zh-CN" altLang="en-US" sz="2400" b="0" dirty="0"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+mn-lt"/>
              </a:rPr>
              <a:t>我  妈妈 也是 老师，我爸爸 是 医 生。</a:t>
            </a:r>
          </a:p>
          <a:p>
            <a:pPr>
              <a:lnSpc>
                <a:spcPct val="200000"/>
              </a:lnSpc>
            </a:pPr>
            <a:endParaRPr lang="zh-CN" altLang="en-US" sz="2400" b="0" dirty="0">
              <a:latin typeface="楷体" panose="02010609060101010101" pitchFamily="49" charset="-122"/>
              <a:ea typeface="楷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10C1F3B-90AA-4A27-9068-FD5664A25208}"/>
              </a:ext>
            </a:extLst>
          </p:cNvPr>
          <p:cNvSpPr txBox="1"/>
          <p:nvPr/>
        </p:nvSpPr>
        <p:spPr>
          <a:xfrm>
            <a:off x="1025449" y="1047171"/>
            <a:ext cx="5577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Bài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Yīng’ài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nǐ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jiā</a:t>
            </a:r>
            <a:r>
              <a:rPr lang="zh-CN" altLang="en-US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yǒu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jǐ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kǒu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rén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SG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zh-SG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F2A732A-8130-43C0-BEAC-325A5518961F}"/>
              </a:ext>
            </a:extLst>
          </p:cNvPr>
          <p:cNvSpPr txBox="1"/>
          <p:nvPr/>
        </p:nvSpPr>
        <p:spPr>
          <a:xfrm>
            <a:off x="1017733" y="1696191"/>
            <a:ext cx="7643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Wǒ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jiā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yǒu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liù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kǒu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rén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.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Wǒ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bàba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wǒ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māma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yí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ge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gēge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1" lang="zh-SG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1123101-AC13-4895-82BD-B1DBB66AEFD3}"/>
              </a:ext>
            </a:extLst>
          </p:cNvPr>
          <p:cNvSpPr txBox="1"/>
          <p:nvPr/>
        </p:nvSpPr>
        <p:spPr>
          <a:xfrm>
            <a:off x="1047788" y="2399537"/>
            <a:ext cx="73261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liǎng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ge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mèimei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hé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wǒ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Lǐ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Yǒu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nǐ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jiā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yǒu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jǐ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kǒu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rén</a:t>
            </a:r>
            <a:r>
              <a:rPr lang="zh-CN" altLang="zh-SG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zh-SG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84EB837-CA17-4427-8946-CDBA0D1E7C25}"/>
              </a:ext>
            </a:extLst>
          </p:cNvPr>
          <p:cNvSpPr txBox="1"/>
          <p:nvPr/>
        </p:nvSpPr>
        <p:spPr>
          <a:xfrm>
            <a:off x="1047788" y="3168999"/>
            <a:ext cx="106043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Wǒ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jiā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yǒu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wǔ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kǒu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rén</a:t>
            </a:r>
            <a:r>
              <a:rPr lang="zh-CN" alt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bàba</a:t>
            </a:r>
            <a:r>
              <a:rPr lang="zh-CN" alt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māma</a:t>
            </a:r>
            <a:r>
              <a:rPr lang="en-US" altLang="zh-SG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SG" sz="2400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dà</a:t>
            </a:r>
            <a:r>
              <a:rPr lang="zh-CN" alt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jiě</a:t>
            </a:r>
            <a:r>
              <a:rPr lang="zh-CN" alt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SG" sz="2400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èr</a:t>
            </a:r>
            <a:r>
              <a:rPr lang="zh-CN" alt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jiě</a:t>
            </a:r>
            <a:r>
              <a:rPr lang="en-US" altLang="zh-SG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hé</a:t>
            </a:r>
            <a:r>
              <a:rPr lang="en-US" altLang="zh-SG" sz="2400" kern="0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wǒ</a:t>
            </a:r>
            <a:r>
              <a:rPr lang="zh-CN" altLang="zh-S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zh-SG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zh-SG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zh-SG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B89D45C-8F0E-4BD8-ABB7-652D787E6E94}"/>
              </a:ext>
            </a:extLst>
          </p:cNvPr>
          <p:cNvSpPr txBox="1"/>
          <p:nvPr/>
        </p:nvSpPr>
        <p:spPr>
          <a:xfrm>
            <a:off x="1047788" y="3867125"/>
            <a:ext cx="54427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Nǐ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bàba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māma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zuò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shénme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gōngzuò</a:t>
            </a:r>
            <a:r>
              <a:rPr lang="zh-CN" altLang="zh-SG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zh-SG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15C067E-0A05-401E-9E25-2F124D4D27B2}"/>
              </a:ext>
            </a:extLst>
          </p:cNvPr>
          <p:cNvSpPr txBox="1"/>
          <p:nvPr/>
        </p:nvSpPr>
        <p:spPr>
          <a:xfrm>
            <a:off x="993180" y="4661169"/>
            <a:ext cx="60998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Wǒ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bàba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shì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lǜshī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māma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shì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Yīngwén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lǎoshī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SG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SG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5CD3ACA-7E5F-4BA3-96F6-0FDFBEFEFA63}"/>
              </a:ext>
            </a:extLst>
          </p:cNvPr>
          <p:cNvSpPr txBox="1"/>
          <p:nvPr/>
        </p:nvSpPr>
        <p:spPr>
          <a:xfrm>
            <a:off x="1017733" y="5335039"/>
            <a:ext cx="60998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gēge</a:t>
            </a:r>
            <a:r>
              <a:rPr lang="zh-CN" altLang="en-US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mèimei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dōu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shì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dàxuéshēng</a:t>
            </a:r>
            <a:r>
              <a:rPr lang="zh-CN" altLang="zh-SG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SG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CD09801-DB6E-45F1-9B0C-8B7552F8C39F}"/>
              </a:ext>
            </a:extLst>
          </p:cNvPr>
          <p:cNvSpPr txBox="1"/>
          <p:nvPr/>
        </p:nvSpPr>
        <p:spPr>
          <a:xfrm>
            <a:off x="993180" y="6110069"/>
            <a:ext cx="60998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Wǒ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māma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yě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shì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lǎoshī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wǒ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bàba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shì</a:t>
            </a:r>
            <a:r>
              <a:rPr lang="en-US" altLang="zh-SG" sz="24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SG" sz="24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yīshēng</a:t>
            </a:r>
            <a:r>
              <a:rPr lang="zh-CN" altLang="zh-SG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SG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515613E-3BD0-4D21-9DF4-80CF5300B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933" y="1111386"/>
            <a:ext cx="571529" cy="65408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4BDFA6F-E031-400A-A83F-FEF7382BD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516" y="6203916"/>
            <a:ext cx="571529" cy="65408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3FC73D9-10B2-4BC2-AF86-53729BD5C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251" y="3330609"/>
            <a:ext cx="571529" cy="65408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6C09F3B-1F86-4E5B-90F3-30D221B93D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442" y="1887552"/>
            <a:ext cx="501676" cy="571529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2D248002-7C06-47B2-8645-670A07F83E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933" y="4762384"/>
            <a:ext cx="501676" cy="57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769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31" grpId="0"/>
      <p:bldP spid="33" grpId="0"/>
      <p:bldP spid="34" grpId="0"/>
      <p:bldP spid="35" grpId="0"/>
      <p:bldP spid="3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查看源图像">
            <a:extLst>
              <a:ext uri="{FF2B5EF4-FFF2-40B4-BE49-F238E27FC236}">
                <a16:creationId xmlns:a16="http://schemas.microsoft.com/office/drawing/2014/main" id="{80C70D37-0FC3-4FD6-A24D-1C55634DF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9253" y="271774"/>
            <a:ext cx="2882747" cy="778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67A127B-A464-4CAB-80E4-534352DE3E2E}"/>
              </a:ext>
            </a:extLst>
          </p:cNvPr>
          <p:cNvSpPr txBox="1"/>
          <p:nvPr/>
        </p:nvSpPr>
        <p:spPr>
          <a:xfrm>
            <a:off x="539826" y="219240"/>
            <a:ext cx="90637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8D311F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一、句型演练</a:t>
            </a: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rgbClr val="8D311F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Sentence pattern drill</a:t>
            </a:r>
            <a:endParaRPr kumimoji="0" lang="zh-CN" altLang="en-US" sz="5400" b="0" i="0" u="none" strike="noStrike" kern="1200" cap="none" spc="0" normalizeH="0" baseline="0" noProof="0" dirty="0">
              <a:ln>
                <a:noFill/>
              </a:ln>
              <a:solidFill>
                <a:srgbClr val="8D311F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6975808-E72A-4525-A7A6-FD8275D73759}"/>
              </a:ext>
            </a:extLst>
          </p:cNvPr>
          <p:cNvCxnSpPr>
            <a:cxnSpLocks/>
          </p:cNvCxnSpPr>
          <p:nvPr/>
        </p:nvCxnSpPr>
        <p:spPr>
          <a:xfrm>
            <a:off x="539826" y="1219200"/>
            <a:ext cx="8769427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7693112D-4309-4BF6-8E24-532DF73F7565}"/>
              </a:ext>
            </a:extLst>
          </p:cNvPr>
          <p:cNvSpPr/>
          <p:nvPr/>
        </p:nvSpPr>
        <p:spPr>
          <a:xfrm>
            <a:off x="624993" y="1432929"/>
            <a:ext cx="65405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kumimoji="0" lang="en-US" altLang="zh-CN" sz="40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5.</a:t>
            </a:r>
            <a:r>
              <a:rPr lang="zh-CN" altLang="en-US" sz="4000" b="1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有 </a:t>
            </a:r>
            <a:r>
              <a:rPr lang="en-US" altLang="zh-CN" sz="4000" b="1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en-US" altLang="zh-CN" sz="40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to exist</a:t>
            </a:r>
            <a:r>
              <a:rPr lang="en-US" altLang="zh-CN" sz="4000" b="1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) </a:t>
            </a:r>
            <a:endParaRPr kumimoji="0" lang="zh-CN" altLang="zh-CN" sz="40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AC0847D-94D8-47CF-9CEC-552FDC917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0ABB12-639F-4AE0-B8E5-5E21435B828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9240F03-16A3-4363-B635-9742326A43A1}"/>
              </a:ext>
            </a:extLst>
          </p:cNvPr>
          <p:cNvSpPr/>
          <p:nvPr/>
        </p:nvSpPr>
        <p:spPr>
          <a:xfrm>
            <a:off x="1519340" y="2452660"/>
            <a:ext cx="10351818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我家 </a:t>
            </a:r>
            <a:r>
              <a:rPr lang="zh-CN" altLang="en-US" sz="4000" dirty="0">
                <a:latin typeface="楷体" panose="02010609060101010101" pitchFamily="49" charset="-122"/>
                <a:ea typeface="楷体" panose="02010609060101010101" pitchFamily="49" charset="-122"/>
              </a:rPr>
              <a:t>                       </a:t>
            </a:r>
            <a:r>
              <a:rPr lang="zh-CN" altLang="en-US" sz="40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五口人。 </a:t>
            </a:r>
            <a:endParaRPr lang="zh-CN" altLang="en-US" sz="4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40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李友家 </a:t>
            </a:r>
            <a:r>
              <a:rPr lang="zh-CN" altLang="en-US" sz="4000" dirty="0">
                <a:latin typeface="楷体" panose="02010609060101010101" pitchFamily="49" charset="-122"/>
                <a:ea typeface="楷体" panose="02010609060101010101" pitchFamily="49" charset="-122"/>
              </a:rPr>
              <a:t>                     </a:t>
            </a:r>
            <a:r>
              <a:rPr lang="zh-CN" altLang="en-US" sz="40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四口人。 </a:t>
            </a:r>
            <a:endParaRPr lang="zh-CN" altLang="en-US" sz="4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40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白英爱家 </a:t>
            </a:r>
            <a:r>
              <a:rPr lang="zh-CN" altLang="en-US" sz="4000" dirty="0">
                <a:latin typeface="楷体" panose="02010609060101010101" pitchFamily="49" charset="-122"/>
                <a:ea typeface="楷体" panose="02010609060101010101" pitchFamily="49" charset="-122"/>
              </a:rPr>
              <a:t>     </a:t>
            </a:r>
            <a:r>
              <a:rPr lang="zh-CN" altLang="en-US" sz="4000" b="1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有</a:t>
            </a:r>
            <a:r>
              <a:rPr lang="zh-CN" altLang="en-US" sz="40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4000" dirty="0">
                <a:latin typeface="楷体" panose="02010609060101010101" pitchFamily="49" charset="-122"/>
                <a:ea typeface="楷体" panose="02010609060101010101" pitchFamily="49" charset="-122"/>
              </a:rPr>
              <a:t>           </a:t>
            </a:r>
            <a:r>
              <a:rPr lang="zh-CN" altLang="en-US" sz="40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两个大学生。 </a:t>
            </a:r>
            <a:endParaRPr lang="zh-CN" altLang="en-US" sz="4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40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王朋家 </a:t>
            </a:r>
            <a:r>
              <a:rPr lang="zh-CN" altLang="en-US" sz="4000" dirty="0">
                <a:latin typeface="楷体" panose="02010609060101010101" pitchFamily="49" charset="-122"/>
                <a:ea typeface="楷体" panose="02010609060101010101" pitchFamily="49" charset="-122"/>
              </a:rPr>
              <a:t>                     </a:t>
            </a:r>
            <a:r>
              <a:rPr lang="zh-CN" altLang="en-US" sz="40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一个老师。 </a:t>
            </a:r>
            <a:endParaRPr lang="zh-CN" altLang="en-US" sz="4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40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王老师家 </a:t>
            </a:r>
            <a:r>
              <a:rPr lang="zh-CN" altLang="en-US" sz="4000" dirty="0">
                <a:latin typeface="楷体" panose="02010609060101010101" pitchFamily="49" charset="-122"/>
                <a:ea typeface="楷体" panose="02010609060101010101" pitchFamily="49" charset="-122"/>
              </a:rPr>
              <a:t>                   </a:t>
            </a:r>
            <a:r>
              <a:rPr lang="zh-CN" altLang="en-US" sz="40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一个律师。</a:t>
            </a:r>
            <a:endParaRPr kumimoji="0" lang="en-US" altLang="zh-CN" sz="40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5779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查看源图像">
            <a:extLst>
              <a:ext uri="{FF2B5EF4-FFF2-40B4-BE49-F238E27FC236}">
                <a16:creationId xmlns:a16="http://schemas.microsoft.com/office/drawing/2014/main" id="{80C70D37-0FC3-4FD6-A24D-1C55634DF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9253" y="271774"/>
            <a:ext cx="2882747" cy="778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67A127B-A464-4CAB-80E4-534352DE3E2E}"/>
              </a:ext>
            </a:extLst>
          </p:cNvPr>
          <p:cNvSpPr txBox="1"/>
          <p:nvPr/>
        </p:nvSpPr>
        <p:spPr>
          <a:xfrm>
            <a:off x="539826" y="219240"/>
            <a:ext cx="90637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8D311F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一、句型演练</a:t>
            </a: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rgbClr val="8D311F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Sentence pattern drill</a:t>
            </a:r>
            <a:endParaRPr kumimoji="0" lang="zh-CN" altLang="en-US" sz="5400" b="0" i="0" u="none" strike="noStrike" kern="1200" cap="none" spc="0" normalizeH="0" baseline="0" noProof="0" dirty="0">
              <a:ln>
                <a:noFill/>
              </a:ln>
              <a:solidFill>
                <a:srgbClr val="8D311F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6975808-E72A-4525-A7A6-FD8275D73759}"/>
              </a:ext>
            </a:extLst>
          </p:cNvPr>
          <p:cNvCxnSpPr>
            <a:cxnSpLocks/>
          </p:cNvCxnSpPr>
          <p:nvPr/>
        </p:nvCxnSpPr>
        <p:spPr>
          <a:xfrm>
            <a:off x="539826" y="1219200"/>
            <a:ext cx="8769427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7693112D-4309-4BF6-8E24-532DF73F7565}"/>
              </a:ext>
            </a:extLst>
          </p:cNvPr>
          <p:cNvSpPr/>
          <p:nvPr/>
        </p:nvSpPr>
        <p:spPr>
          <a:xfrm>
            <a:off x="259233" y="1425746"/>
            <a:ext cx="65405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kumimoji="0" lang="en-US" altLang="zh-CN" sz="40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7.</a:t>
            </a:r>
            <a:r>
              <a:rPr kumimoji="0" lang="zh-CN" altLang="en-US" sz="40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都</a:t>
            </a:r>
            <a:endParaRPr kumimoji="0" lang="zh-CN" altLang="zh-CN" sz="1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AC0847D-94D8-47CF-9CEC-552FDC917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0ABB12-639F-4AE0-B8E5-5E21435B828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9240F03-16A3-4363-B635-9742326A43A1}"/>
              </a:ext>
            </a:extLst>
          </p:cNvPr>
          <p:cNvSpPr/>
          <p:nvPr/>
        </p:nvSpPr>
        <p:spPr>
          <a:xfrm>
            <a:off x="463387" y="2340177"/>
            <a:ext cx="9216577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1. Example</a:t>
            </a:r>
            <a:r>
              <a:rPr lang="en-US" altLang="zh-CN" sz="32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zh-CN" altLang="en-US" sz="32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王朋是学生，李友也是学生。 </a:t>
            </a:r>
            <a:endParaRPr lang="zh-CN" altLang="en-US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32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             →王朋和李友</a:t>
            </a:r>
            <a:r>
              <a:rPr lang="zh-CN" altLang="en-US" sz="3200" b="1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都</a:t>
            </a:r>
            <a:r>
              <a:rPr lang="zh-CN" altLang="en-US" sz="32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是学生。</a:t>
            </a:r>
            <a:endParaRPr lang="en-US" altLang="zh-CN" sz="3200" dirty="0">
              <a:solidFill>
                <a:srgbClr val="000000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32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32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白老师是美国人，李老师也是美国人。 </a:t>
            </a:r>
            <a:endParaRPr lang="zh-CN" altLang="en-US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32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王朋有照片，李友也有照片。 </a:t>
            </a:r>
            <a:endParaRPr lang="zh-CN" altLang="en-US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32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李友是大学生，白英爱也是大学生。 </a:t>
            </a:r>
            <a:endParaRPr lang="zh-CN" altLang="en-US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32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王老师有女儿，白律师有女儿，李医生也有女儿。</a:t>
            </a:r>
            <a:endParaRPr kumimoji="0" lang="en-US" altLang="zh-CN" sz="32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D4C8FC3-46CA-4527-8FD3-2E4EA9733D60}"/>
              </a:ext>
            </a:extLst>
          </p:cNvPr>
          <p:cNvSpPr/>
          <p:nvPr/>
        </p:nvSpPr>
        <p:spPr>
          <a:xfrm>
            <a:off x="7556306" y="3879059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白老师和李老师都是美国人。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EF7A587-3807-485C-B3C5-9A326263BC22}"/>
              </a:ext>
            </a:extLst>
          </p:cNvPr>
          <p:cNvSpPr/>
          <p:nvPr/>
        </p:nvSpPr>
        <p:spPr>
          <a:xfrm>
            <a:off x="5869632" y="4381826"/>
            <a:ext cx="326243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王朋和李友都有照片。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1130E85-892D-4BA8-B475-3F10E959B9D8}"/>
              </a:ext>
            </a:extLst>
          </p:cNvPr>
          <p:cNvSpPr/>
          <p:nvPr/>
        </p:nvSpPr>
        <p:spPr>
          <a:xfrm>
            <a:off x="6900684" y="4819203"/>
            <a:ext cx="38779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李友和白英爱都是大学生。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F4F663-E998-4E5E-9B45-60CF11005A12}"/>
              </a:ext>
            </a:extLst>
          </p:cNvPr>
          <p:cNvSpPr/>
          <p:nvPr/>
        </p:nvSpPr>
        <p:spPr>
          <a:xfrm>
            <a:off x="573043" y="5839491"/>
            <a:ext cx="51090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王老师，白律师和李医生都有女儿。</a:t>
            </a:r>
          </a:p>
        </p:txBody>
      </p:sp>
    </p:spTree>
    <p:extLst>
      <p:ext uri="{BB962C8B-B14F-4D97-AF65-F5344CB8AC3E}">
        <p14:creationId xmlns:p14="http://schemas.microsoft.com/office/powerpoint/2010/main" val="1467185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查看源图像">
            <a:extLst>
              <a:ext uri="{FF2B5EF4-FFF2-40B4-BE49-F238E27FC236}">
                <a16:creationId xmlns:a16="http://schemas.microsoft.com/office/drawing/2014/main" id="{80C70D37-0FC3-4FD6-A24D-1C55634DF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9253" y="271774"/>
            <a:ext cx="2882747" cy="778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67A127B-A464-4CAB-80E4-534352DE3E2E}"/>
              </a:ext>
            </a:extLst>
          </p:cNvPr>
          <p:cNvSpPr txBox="1"/>
          <p:nvPr/>
        </p:nvSpPr>
        <p:spPr>
          <a:xfrm>
            <a:off x="539826" y="219240"/>
            <a:ext cx="90637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8D311F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一、句型演练</a:t>
            </a: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rgbClr val="8D311F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Sentence pattern drill</a:t>
            </a:r>
            <a:endParaRPr kumimoji="0" lang="zh-CN" altLang="en-US" sz="5400" b="0" i="0" u="none" strike="noStrike" kern="1200" cap="none" spc="0" normalizeH="0" baseline="0" noProof="0" dirty="0">
              <a:ln>
                <a:noFill/>
              </a:ln>
              <a:solidFill>
                <a:srgbClr val="8D311F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6975808-E72A-4525-A7A6-FD8275D73759}"/>
              </a:ext>
            </a:extLst>
          </p:cNvPr>
          <p:cNvCxnSpPr>
            <a:cxnSpLocks/>
          </p:cNvCxnSpPr>
          <p:nvPr/>
        </p:nvCxnSpPr>
        <p:spPr>
          <a:xfrm>
            <a:off x="539826" y="1219200"/>
            <a:ext cx="8769427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7693112D-4309-4BF6-8E24-532DF73F7565}"/>
              </a:ext>
            </a:extLst>
          </p:cNvPr>
          <p:cNvSpPr/>
          <p:nvPr/>
        </p:nvSpPr>
        <p:spPr>
          <a:xfrm>
            <a:off x="259233" y="1425746"/>
            <a:ext cx="65405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kumimoji="0" lang="en-US" altLang="zh-CN" sz="40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7.</a:t>
            </a:r>
            <a:r>
              <a:rPr kumimoji="0" lang="zh-CN" altLang="en-US" sz="40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都不</a:t>
            </a:r>
            <a:endParaRPr kumimoji="0" lang="zh-CN" altLang="zh-CN" sz="1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AC0847D-94D8-47CF-9CEC-552FDC917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0ABB12-639F-4AE0-B8E5-5E21435B828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9240F03-16A3-4363-B635-9742326A43A1}"/>
              </a:ext>
            </a:extLst>
          </p:cNvPr>
          <p:cNvSpPr/>
          <p:nvPr/>
        </p:nvSpPr>
        <p:spPr>
          <a:xfrm>
            <a:off x="118425" y="2457372"/>
            <a:ext cx="1030343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2. Example</a:t>
            </a:r>
            <a:r>
              <a:rPr lang="en-US" altLang="zh-CN" sz="32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zh-CN" altLang="en-US" sz="32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王朋不是老师，李友也不是老师。</a:t>
            </a:r>
            <a:endParaRPr lang="zh-CN" altLang="en-US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32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             →王朋和李友</a:t>
            </a:r>
            <a:r>
              <a:rPr lang="zh-CN" altLang="en-US" sz="3200" b="1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都不</a:t>
            </a:r>
            <a:r>
              <a:rPr lang="zh-CN" altLang="en-US" sz="32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r>
              <a:rPr lang="zh-CN" altLang="en-US" sz="32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老师</a:t>
            </a:r>
            <a:r>
              <a:rPr lang="zh-CN" altLang="en-US" sz="32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3200" dirty="0">
              <a:solidFill>
                <a:srgbClr val="000000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32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32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王朋不是美国人，白英爱也不是美国人。</a:t>
            </a:r>
          </a:p>
          <a:p>
            <a:r>
              <a:rPr lang="zh-CN" altLang="en-US" sz="32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这个男孩子不姓王，那个女孩子也不姓王。</a:t>
            </a:r>
          </a:p>
          <a:p>
            <a:r>
              <a:rPr lang="zh-CN" altLang="en-US" sz="32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我姐姐没有照片，我妹妹也没有照片。</a:t>
            </a:r>
          </a:p>
          <a:p>
            <a:r>
              <a:rPr lang="zh-CN" altLang="en-US" sz="32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王老师没有儿子，白律师没有儿子，李医生也没有儿子。</a:t>
            </a:r>
            <a:endParaRPr kumimoji="0" lang="en-US" altLang="zh-CN" sz="32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BF5053F-D69B-4D9C-8ECA-BCC58CB85F93}"/>
              </a:ext>
            </a:extLst>
          </p:cNvPr>
          <p:cNvSpPr/>
          <p:nvPr/>
        </p:nvSpPr>
        <p:spPr>
          <a:xfrm>
            <a:off x="7866819" y="3996254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王朋和白英爱都不是美国人。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71A4E4E-7771-4CF8-9F0E-7F013E6EB5F7}"/>
              </a:ext>
            </a:extLst>
          </p:cNvPr>
          <p:cNvSpPr/>
          <p:nvPr/>
        </p:nvSpPr>
        <p:spPr>
          <a:xfrm>
            <a:off x="7423517" y="4457919"/>
            <a:ext cx="51090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这个男孩子和那个女孩子都不姓王。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D5F67BC-79D5-4A71-B7B8-AC4C021A7FE3}"/>
              </a:ext>
            </a:extLst>
          </p:cNvPr>
          <p:cNvSpPr/>
          <p:nvPr/>
        </p:nvSpPr>
        <p:spPr>
          <a:xfrm>
            <a:off x="7251266" y="4919584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我姐姐和我妹妹都没有照片。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178926B-A3D7-455F-8E5F-1A25E13D5F5E}"/>
              </a:ext>
            </a:extLst>
          </p:cNvPr>
          <p:cNvSpPr/>
          <p:nvPr/>
        </p:nvSpPr>
        <p:spPr>
          <a:xfrm>
            <a:off x="593535" y="5996802"/>
            <a:ext cx="55707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王老师，白律师和李医生都没有儿子。</a:t>
            </a:r>
          </a:p>
        </p:txBody>
      </p:sp>
    </p:spTree>
    <p:extLst>
      <p:ext uri="{BB962C8B-B14F-4D97-AF65-F5344CB8AC3E}">
        <p14:creationId xmlns:p14="http://schemas.microsoft.com/office/powerpoint/2010/main" val="3000060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查看源图像">
            <a:extLst>
              <a:ext uri="{FF2B5EF4-FFF2-40B4-BE49-F238E27FC236}">
                <a16:creationId xmlns:a16="http://schemas.microsoft.com/office/drawing/2014/main" id="{80C70D37-0FC3-4FD6-A24D-1C55634DF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9253" y="271774"/>
            <a:ext cx="2882747" cy="778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67A127B-A464-4CAB-80E4-534352DE3E2E}"/>
              </a:ext>
            </a:extLst>
          </p:cNvPr>
          <p:cNvSpPr txBox="1"/>
          <p:nvPr/>
        </p:nvSpPr>
        <p:spPr>
          <a:xfrm>
            <a:off x="539826" y="219240"/>
            <a:ext cx="90637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8D311F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一、句型演练</a:t>
            </a: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rgbClr val="8D311F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Sentence pattern drill</a:t>
            </a:r>
            <a:endParaRPr kumimoji="0" lang="zh-CN" altLang="en-US" sz="5400" b="0" i="0" u="none" strike="noStrike" kern="1200" cap="none" spc="0" normalizeH="0" baseline="0" noProof="0" dirty="0">
              <a:ln>
                <a:noFill/>
              </a:ln>
              <a:solidFill>
                <a:srgbClr val="8D311F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6975808-E72A-4525-A7A6-FD8275D73759}"/>
              </a:ext>
            </a:extLst>
          </p:cNvPr>
          <p:cNvCxnSpPr>
            <a:cxnSpLocks/>
          </p:cNvCxnSpPr>
          <p:nvPr/>
        </p:nvCxnSpPr>
        <p:spPr>
          <a:xfrm>
            <a:off x="539826" y="1219200"/>
            <a:ext cx="8769427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7693112D-4309-4BF6-8E24-532DF73F7565}"/>
              </a:ext>
            </a:extLst>
          </p:cNvPr>
          <p:cNvSpPr/>
          <p:nvPr/>
        </p:nvSpPr>
        <p:spPr>
          <a:xfrm>
            <a:off x="259233" y="1425746"/>
            <a:ext cx="65405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kumimoji="0" lang="en-US" altLang="zh-CN" sz="40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7.</a:t>
            </a:r>
            <a:r>
              <a:rPr kumimoji="0" lang="zh-CN" altLang="en-US" sz="4000" b="1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不都</a:t>
            </a:r>
            <a:endParaRPr kumimoji="0" lang="zh-CN" altLang="zh-CN" sz="14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AC0847D-94D8-47CF-9CEC-552FDC917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0ABB12-639F-4AE0-B8E5-5E21435B828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9240F03-16A3-4363-B635-9742326A43A1}"/>
              </a:ext>
            </a:extLst>
          </p:cNvPr>
          <p:cNvSpPr/>
          <p:nvPr/>
        </p:nvSpPr>
        <p:spPr>
          <a:xfrm>
            <a:off x="999684" y="2133632"/>
            <a:ext cx="1093308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Example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zh-CN" altLang="en-US" sz="2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王朋是学生，高文中也是学生，高文中姐姐不是学生。 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             →王朋</a:t>
            </a:r>
            <a:r>
              <a:rPr lang="en-US" altLang="zh-CN" sz="2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2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高</a:t>
            </a:r>
            <a:r>
              <a:rPr lang="zh-CN" altLang="en-US" sz="280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文中和</a:t>
            </a:r>
            <a:r>
              <a:rPr lang="zh-CN" altLang="en-US" sz="280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高文忠姐姐</a:t>
            </a:r>
            <a:r>
              <a:rPr lang="zh-CN" altLang="en-US" sz="280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不</a:t>
            </a:r>
            <a:r>
              <a:rPr lang="zh-CN" altLang="en-US" sz="2800" b="1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都</a:t>
            </a:r>
            <a:r>
              <a:rPr lang="zh-CN" altLang="en-US" sz="280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r>
              <a:rPr lang="zh-CN" altLang="en-US" sz="2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学生。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我姐姐是学生，我妹妹也是学生，我哥哥是老师。</a:t>
            </a:r>
            <a:endParaRPr lang="en-US" altLang="zh-CN" sz="2800" dirty="0">
              <a:solidFill>
                <a:srgbClr val="000000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sz="2800" dirty="0">
              <a:solidFill>
                <a:srgbClr val="000000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我弟弟有照片，我姐姐也有照片，我妹妹没有照片。</a:t>
            </a:r>
            <a:endParaRPr lang="en-US" altLang="zh-CN" sz="2800" dirty="0">
              <a:solidFill>
                <a:srgbClr val="000000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sz="2800" dirty="0">
              <a:solidFill>
                <a:srgbClr val="000000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这个男孩子姓李，这个女孩子也姓李，那个男孩子不姓李。</a:t>
            </a:r>
            <a:endParaRPr lang="en-US" altLang="zh-CN" sz="2800" dirty="0">
              <a:solidFill>
                <a:srgbClr val="000000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sz="2800" dirty="0">
              <a:solidFill>
                <a:srgbClr val="000000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8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王老师有儿子，李老师也有儿子，白老师没有儿子。</a:t>
            </a:r>
            <a:endParaRPr kumimoji="0" lang="en-US" altLang="zh-CN" sz="28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E5AE065-BBCE-4691-9D35-934856AD15F9}"/>
              </a:ext>
            </a:extLst>
          </p:cNvPr>
          <p:cNvSpPr/>
          <p:nvPr/>
        </p:nvSpPr>
        <p:spPr>
          <a:xfrm>
            <a:off x="999684" y="3429000"/>
            <a:ext cx="55707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我姐姐，我妹妹和我哥哥不都是老师。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37E178-FB77-4566-9DC7-DB1A5FD985E6}"/>
              </a:ext>
            </a:extLst>
          </p:cNvPr>
          <p:cNvSpPr/>
          <p:nvPr/>
        </p:nvSpPr>
        <p:spPr>
          <a:xfrm>
            <a:off x="1003109" y="4304810"/>
            <a:ext cx="55707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我弟弟，我姐姐和我妹妹不都有照片。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DFA2B64-3FE5-4B86-ACB7-688394ED1823}"/>
              </a:ext>
            </a:extLst>
          </p:cNvPr>
          <p:cNvSpPr/>
          <p:nvPr/>
        </p:nvSpPr>
        <p:spPr>
          <a:xfrm>
            <a:off x="999683" y="5177135"/>
            <a:ext cx="81956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这个男孩子，这个女孩子和那个男孩子不都姓李。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0C91CC5-7895-4EAA-A67A-06EAF70D6A1C}"/>
              </a:ext>
            </a:extLst>
          </p:cNvPr>
          <p:cNvSpPr/>
          <p:nvPr/>
        </p:nvSpPr>
        <p:spPr>
          <a:xfrm>
            <a:off x="999684" y="5999318"/>
            <a:ext cx="55707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王老师，李老师和白老师不都有儿子。</a:t>
            </a:r>
          </a:p>
        </p:txBody>
      </p:sp>
    </p:spTree>
    <p:extLst>
      <p:ext uri="{BB962C8B-B14F-4D97-AF65-F5344CB8AC3E}">
        <p14:creationId xmlns:p14="http://schemas.microsoft.com/office/powerpoint/2010/main" val="1984069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查看源图像">
            <a:extLst>
              <a:ext uri="{FF2B5EF4-FFF2-40B4-BE49-F238E27FC236}">
                <a16:creationId xmlns:a16="http://schemas.microsoft.com/office/drawing/2014/main" id="{80C70D37-0FC3-4FD6-A24D-1C55634DF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9253" y="271774"/>
            <a:ext cx="2882747" cy="778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67A127B-A464-4CAB-80E4-534352DE3E2E}"/>
              </a:ext>
            </a:extLst>
          </p:cNvPr>
          <p:cNvSpPr txBox="1"/>
          <p:nvPr/>
        </p:nvSpPr>
        <p:spPr>
          <a:xfrm>
            <a:off x="539826" y="219240"/>
            <a:ext cx="90637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8D311F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一、句型演练</a:t>
            </a: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rgbClr val="8D311F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Sentence pattern drill</a:t>
            </a:r>
            <a:endParaRPr kumimoji="0" lang="zh-CN" altLang="en-US" sz="5400" b="0" i="0" u="none" strike="noStrike" kern="1200" cap="none" spc="0" normalizeH="0" baseline="0" noProof="0" dirty="0">
              <a:ln>
                <a:noFill/>
              </a:ln>
              <a:solidFill>
                <a:srgbClr val="8D311F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6975808-E72A-4525-A7A6-FD8275D73759}"/>
              </a:ext>
            </a:extLst>
          </p:cNvPr>
          <p:cNvCxnSpPr>
            <a:cxnSpLocks/>
          </p:cNvCxnSpPr>
          <p:nvPr/>
        </p:nvCxnSpPr>
        <p:spPr>
          <a:xfrm>
            <a:off x="539826" y="1219200"/>
            <a:ext cx="8769427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7693112D-4309-4BF6-8E24-532DF73F7565}"/>
              </a:ext>
            </a:extLst>
          </p:cNvPr>
          <p:cNvSpPr/>
          <p:nvPr/>
        </p:nvSpPr>
        <p:spPr>
          <a:xfrm>
            <a:off x="210584" y="1485028"/>
            <a:ext cx="1177083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kumimoji="0" lang="en-US" altLang="zh-CN" sz="32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Additional from Language Practice J: Personal Pronoun </a:t>
            </a:r>
            <a:r>
              <a:rPr kumimoji="0" lang="zh-CN" altLang="en-US" sz="32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几</a:t>
            </a:r>
            <a:endParaRPr kumimoji="0" lang="zh-CN" altLang="zh-CN" sz="32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AC0847D-94D8-47CF-9CEC-552FDC917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0ABB12-639F-4AE0-B8E5-5E21435B828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9240F03-16A3-4363-B635-9742326A43A1}"/>
              </a:ext>
            </a:extLst>
          </p:cNvPr>
          <p:cNvSpPr/>
          <p:nvPr/>
        </p:nvSpPr>
        <p:spPr>
          <a:xfrm>
            <a:off x="1014726" y="2518024"/>
            <a:ext cx="10022242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A.</a:t>
            </a:r>
            <a:r>
              <a:rPr lang="zh-CN" altLang="en-US" sz="32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    </a:t>
            </a:r>
            <a:r>
              <a:rPr lang="zh-CN" altLang="en-US" sz="32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你家有 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          </a:t>
            </a:r>
            <a:r>
              <a:rPr lang="zh-CN" altLang="en-US" sz="3200" b="1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几</a:t>
            </a:r>
            <a:r>
              <a:rPr lang="zh-CN" altLang="en-US" sz="32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口人</a:t>
            </a:r>
            <a:r>
              <a:rPr lang="en-US" altLang="zh-CN" sz="32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? </a:t>
            </a:r>
            <a:endParaRPr lang="zh-CN" altLang="en-US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B. 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32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我家有 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          </a:t>
            </a:r>
            <a:r>
              <a:rPr lang="zh-CN" altLang="en-US" sz="3200" dirty="0">
                <a:solidFill>
                  <a:srgbClr val="0070C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五</a:t>
            </a:r>
            <a:r>
              <a:rPr lang="zh-CN" altLang="en-US" sz="32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口人。</a:t>
            </a:r>
            <a:endParaRPr lang="en-US" altLang="zh-CN" sz="3200" dirty="0">
              <a:solidFill>
                <a:srgbClr val="000000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32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3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A.</a:t>
            </a:r>
            <a:r>
              <a:rPr lang="zh-CN" altLang="en-US" sz="3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   </a:t>
            </a:r>
            <a:r>
              <a:rPr lang="zh-CN" altLang="en-US" sz="32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王朋有 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          </a:t>
            </a:r>
            <a:r>
              <a:rPr lang="zh-CN" altLang="en-US" sz="3200" b="1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几</a:t>
            </a:r>
            <a:r>
              <a:rPr lang="zh-CN" altLang="en-US" sz="32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个妹妹？ </a:t>
            </a:r>
            <a:endParaRPr lang="en-US" altLang="zh-CN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3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B.</a:t>
            </a:r>
            <a:r>
              <a:rPr lang="zh-CN" altLang="en-US" sz="3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   </a:t>
            </a:r>
            <a:r>
              <a:rPr lang="zh-CN" altLang="en-US" sz="32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王朋有 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          </a:t>
            </a:r>
            <a:r>
              <a:rPr lang="zh-CN" altLang="en-US" sz="3200" dirty="0">
                <a:solidFill>
                  <a:srgbClr val="0070C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一</a:t>
            </a:r>
            <a:r>
              <a:rPr lang="zh-CN" altLang="en-US" sz="32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个妹妹。</a:t>
            </a:r>
            <a:endParaRPr lang="en-US" altLang="zh-CN" sz="3200" dirty="0">
              <a:solidFill>
                <a:srgbClr val="000000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sz="3200" dirty="0">
              <a:solidFill>
                <a:srgbClr val="000000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A. 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 </a:t>
            </a:r>
            <a:r>
              <a:rPr lang="zh-CN" altLang="en-US" sz="32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白英爱家有        </a:t>
            </a:r>
            <a:r>
              <a:rPr lang="zh-CN" altLang="en-US" sz="3200" b="1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几</a:t>
            </a:r>
            <a:r>
              <a:rPr lang="zh-CN" altLang="en-US" sz="32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个医生？ </a:t>
            </a:r>
            <a:endParaRPr lang="zh-CN" altLang="en-US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B. 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 </a:t>
            </a:r>
            <a:r>
              <a:rPr lang="zh-CN" altLang="en-US" sz="32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白英爱家有        </a:t>
            </a:r>
            <a:r>
              <a:rPr lang="zh-CN" altLang="en-US" sz="3200" dirty="0">
                <a:solidFill>
                  <a:srgbClr val="0070C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两</a:t>
            </a:r>
            <a:r>
              <a:rPr lang="zh-CN" altLang="en-US" sz="32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个医生。</a:t>
            </a:r>
            <a:endParaRPr kumimoji="0" lang="zh-CN" altLang="en-US" sz="32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142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查看源图像">
            <a:extLst>
              <a:ext uri="{FF2B5EF4-FFF2-40B4-BE49-F238E27FC236}">
                <a16:creationId xmlns:a16="http://schemas.microsoft.com/office/drawing/2014/main" id="{80C70D37-0FC3-4FD6-A24D-1C55634DF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9253" y="271774"/>
            <a:ext cx="2882747" cy="778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67A127B-A464-4CAB-80E4-534352DE3E2E}"/>
              </a:ext>
            </a:extLst>
          </p:cNvPr>
          <p:cNvSpPr txBox="1"/>
          <p:nvPr/>
        </p:nvSpPr>
        <p:spPr>
          <a:xfrm>
            <a:off x="539826" y="219240"/>
            <a:ext cx="928170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8D311F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二、其它训练 </a:t>
            </a: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rgbClr val="8D311F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IC additional exercise</a:t>
            </a:r>
            <a:endParaRPr kumimoji="0" lang="zh-CN" altLang="en-US" sz="5400" b="0" i="0" u="none" strike="noStrike" kern="1200" cap="none" spc="0" normalizeH="0" baseline="0" noProof="0" dirty="0">
              <a:ln>
                <a:noFill/>
              </a:ln>
              <a:solidFill>
                <a:srgbClr val="8D311F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6975808-E72A-4525-A7A6-FD8275D73759}"/>
              </a:ext>
            </a:extLst>
          </p:cNvPr>
          <p:cNvCxnSpPr>
            <a:cxnSpLocks/>
          </p:cNvCxnSpPr>
          <p:nvPr/>
        </p:nvCxnSpPr>
        <p:spPr>
          <a:xfrm>
            <a:off x="539826" y="1219200"/>
            <a:ext cx="8769427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7693112D-4309-4BF6-8E24-532DF73F7565}"/>
              </a:ext>
            </a:extLst>
          </p:cNvPr>
          <p:cNvSpPr/>
          <p:nvPr/>
        </p:nvSpPr>
        <p:spPr>
          <a:xfrm>
            <a:off x="-271704" y="1330919"/>
            <a:ext cx="1326372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kumimoji="0" lang="en-US" altLang="zh-CN" sz="36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Reading-Dialogue 2</a:t>
            </a:r>
            <a:endParaRPr kumimoji="0" lang="zh-CN" altLang="en-US" sz="36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572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endParaRPr kumimoji="0" lang="zh-CN" altLang="zh-CN" sz="12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AC0847D-94D8-47CF-9CEC-552FDC917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0ABB12-639F-4AE0-B8E5-5E21435B828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D840CB-35B2-495C-BD2D-D953408273CB}"/>
              </a:ext>
            </a:extLst>
          </p:cNvPr>
          <p:cNvSpPr/>
          <p:nvPr/>
        </p:nvSpPr>
        <p:spPr>
          <a:xfrm>
            <a:off x="876300" y="2229819"/>
            <a:ext cx="10439399" cy="46635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I. Suppose you are the intended recipient of the email. Read the message and then write a response (Interpersonal):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Sender: A friend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Subject: What do your parents do?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我爸爸妈妈都是老师。你爸爸妈妈做什么工作？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II. Read the passage and answer the questions: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李文英是大学生。她家有五口人。她的爸爸妈妈都是医生。她有两个哥哥，大哥是律师，二哥也是大学生。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True/False Questions: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(     ) 1. There are two doctors and two college students in Li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Wenying's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family.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(     ) 2. Li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Wenying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is the youngest child of the family.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FCD65BF-71F4-4288-BFA6-064BCE483E1C}"/>
              </a:ext>
            </a:extLst>
          </p:cNvPr>
          <p:cNvSpPr txBox="1"/>
          <p:nvPr/>
        </p:nvSpPr>
        <p:spPr>
          <a:xfrm flipH="1">
            <a:off x="1260819" y="5743597"/>
            <a:ext cx="13435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T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36DE427-3954-488C-B0B9-350366B4D57D}"/>
              </a:ext>
            </a:extLst>
          </p:cNvPr>
          <p:cNvSpPr txBox="1"/>
          <p:nvPr/>
        </p:nvSpPr>
        <p:spPr>
          <a:xfrm flipH="1">
            <a:off x="1292903" y="6107816"/>
            <a:ext cx="13435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T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2201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查看源图像">
            <a:extLst>
              <a:ext uri="{FF2B5EF4-FFF2-40B4-BE49-F238E27FC236}">
                <a16:creationId xmlns:a16="http://schemas.microsoft.com/office/drawing/2014/main" id="{80C70D37-0FC3-4FD6-A24D-1C55634DF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9253" y="271774"/>
            <a:ext cx="2882747" cy="778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67A127B-A464-4CAB-80E4-534352DE3E2E}"/>
              </a:ext>
            </a:extLst>
          </p:cNvPr>
          <p:cNvSpPr txBox="1"/>
          <p:nvPr/>
        </p:nvSpPr>
        <p:spPr>
          <a:xfrm>
            <a:off x="539826" y="219240"/>
            <a:ext cx="928170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8D311F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二、其它训练 </a:t>
            </a: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rgbClr val="8D311F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IC additional exercise</a:t>
            </a:r>
            <a:endParaRPr kumimoji="0" lang="zh-CN" altLang="en-US" sz="5400" b="0" i="0" u="none" strike="noStrike" kern="1200" cap="none" spc="0" normalizeH="0" baseline="0" noProof="0" dirty="0">
              <a:ln>
                <a:noFill/>
              </a:ln>
              <a:solidFill>
                <a:srgbClr val="8D311F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6975808-E72A-4525-A7A6-FD8275D73759}"/>
              </a:ext>
            </a:extLst>
          </p:cNvPr>
          <p:cNvCxnSpPr>
            <a:cxnSpLocks/>
          </p:cNvCxnSpPr>
          <p:nvPr/>
        </p:nvCxnSpPr>
        <p:spPr>
          <a:xfrm>
            <a:off x="539826" y="1219200"/>
            <a:ext cx="8769427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7693112D-4309-4BF6-8E24-532DF73F7565}"/>
              </a:ext>
            </a:extLst>
          </p:cNvPr>
          <p:cNvSpPr/>
          <p:nvPr/>
        </p:nvSpPr>
        <p:spPr>
          <a:xfrm>
            <a:off x="-271704" y="1330919"/>
            <a:ext cx="1326372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kumimoji="0" lang="en-US" altLang="zh-CN" sz="36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Writing and grammar exercise-Part 2</a:t>
            </a:r>
            <a:endParaRPr kumimoji="0" lang="zh-CN" altLang="en-US" sz="36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572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endParaRPr kumimoji="0" lang="zh-CN" altLang="zh-CN" sz="12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AC0847D-94D8-47CF-9CEC-552FDC917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0ABB12-639F-4AE0-B8E5-5E21435B828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D840CB-35B2-495C-BD2D-D953408273CB}"/>
              </a:ext>
            </a:extLst>
          </p:cNvPr>
          <p:cNvSpPr/>
          <p:nvPr/>
        </p:nvSpPr>
        <p:spPr>
          <a:xfrm>
            <a:off x="876300" y="2229819"/>
            <a:ext cx="11112500" cy="5371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>
              <a:lnSpc>
                <a:spcPct val="115000"/>
              </a:lnSpc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．</a:t>
            </a:r>
            <a:r>
              <a:rPr lang="en-US" altLang="zh-CN" sz="24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Rearrange the following Chinese words into sentences, using the English sentences as clues.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</a:p>
          <a:p>
            <a:pPr marL="228600" lvl="0">
              <a:lnSpc>
                <a:spcPct val="115000"/>
              </a:lnSpc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228600" lvl="0">
              <a:lnSpc>
                <a:spcPct val="115000"/>
              </a:lnSpc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    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）</a:t>
            </a:r>
            <a:r>
              <a:rPr lang="zh-CN" altLang="en-US" sz="24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姐姐	妹妹	我	是	都	大学生</a:t>
            </a:r>
            <a:endParaRPr lang="en-US" altLang="zh-CN" sz="2400" dirty="0">
              <a:solidFill>
                <a:prstClr val="black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228600" lvl="0">
              <a:lnSpc>
                <a:spcPct val="115000"/>
              </a:lnSpc>
              <a:defRPr/>
            </a:pPr>
            <a:r>
              <a:rPr lang="en-US" altLang="zh-CN" sz="24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           My older and younger sisters and I are all university students.</a:t>
            </a:r>
          </a:p>
          <a:p>
            <a:pPr marL="228600" lvl="0">
              <a:lnSpc>
                <a:spcPct val="115000"/>
              </a:lnSpc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	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我姐姐妹妹都是大学生。</a:t>
            </a: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228600" lvl="0">
              <a:lnSpc>
                <a:spcPct val="115000"/>
              </a:lnSpc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）</a:t>
            </a:r>
            <a:r>
              <a:rPr lang="zh-CN" altLang="en-US" sz="24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家	有	口	几	你	人</a:t>
            </a:r>
            <a:endParaRPr lang="en-US" altLang="zh-CN" sz="2400" dirty="0">
              <a:solidFill>
                <a:prstClr val="black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228600" lvl="0">
              <a:lnSpc>
                <a:spcPct val="115000"/>
              </a:lnSpc>
              <a:defRPr/>
            </a:pPr>
            <a:r>
              <a:rPr lang="en-US" altLang="zh-CN" sz="24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           How many people are there in your family?</a:t>
            </a:r>
          </a:p>
          <a:p>
            <a:pPr marL="228600" lvl="0">
              <a:lnSpc>
                <a:spcPct val="115000"/>
              </a:lnSpc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	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你家有几口人？</a:t>
            </a: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228600" lvl="0">
              <a:lnSpc>
                <a:spcPct val="115000"/>
              </a:lnSpc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5203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查看源图像">
            <a:extLst>
              <a:ext uri="{FF2B5EF4-FFF2-40B4-BE49-F238E27FC236}">
                <a16:creationId xmlns:a16="http://schemas.microsoft.com/office/drawing/2014/main" id="{80C70D37-0FC3-4FD6-A24D-1C55634DF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9253" y="271774"/>
            <a:ext cx="2882747" cy="778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67A127B-A464-4CAB-80E4-534352DE3E2E}"/>
              </a:ext>
            </a:extLst>
          </p:cNvPr>
          <p:cNvSpPr txBox="1"/>
          <p:nvPr/>
        </p:nvSpPr>
        <p:spPr>
          <a:xfrm>
            <a:off x="539826" y="219240"/>
            <a:ext cx="928170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8D311F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二、其它训练 </a:t>
            </a: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rgbClr val="8D311F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IC additional exercise</a:t>
            </a:r>
            <a:endParaRPr kumimoji="0" lang="zh-CN" altLang="en-US" sz="5400" b="0" i="0" u="none" strike="noStrike" kern="1200" cap="none" spc="0" normalizeH="0" baseline="0" noProof="0" dirty="0">
              <a:ln>
                <a:noFill/>
              </a:ln>
              <a:solidFill>
                <a:srgbClr val="8D311F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6975808-E72A-4525-A7A6-FD8275D73759}"/>
              </a:ext>
            </a:extLst>
          </p:cNvPr>
          <p:cNvCxnSpPr>
            <a:cxnSpLocks/>
          </p:cNvCxnSpPr>
          <p:nvPr/>
        </p:nvCxnSpPr>
        <p:spPr>
          <a:xfrm>
            <a:off x="539826" y="1219200"/>
            <a:ext cx="8769427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7693112D-4309-4BF6-8E24-532DF73F7565}"/>
              </a:ext>
            </a:extLst>
          </p:cNvPr>
          <p:cNvSpPr/>
          <p:nvPr/>
        </p:nvSpPr>
        <p:spPr>
          <a:xfrm>
            <a:off x="-271704" y="1330919"/>
            <a:ext cx="1326372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kumimoji="0" lang="en-US" altLang="zh-CN" sz="36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Writing and grammar exercise-Part 2</a:t>
            </a:r>
            <a:endParaRPr kumimoji="0" lang="zh-CN" altLang="en-US" sz="36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572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endParaRPr kumimoji="0" lang="zh-CN" altLang="zh-CN" sz="12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AC0847D-94D8-47CF-9CEC-552FDC917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0ABB12-639F-4AE0-B8E5-5E21435B828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D840CB-35B2-495C-BD2D-D953408273CB}"/>
              </a:ext>
            </a:extLst>
          </p:cNvPr>
          <p:cNvSpPr/>
          <p:nvPr/>
        </p:nvSpPr>
        <p:spPr>
          <a:xfrm>
            <a:off x="876300" y="2229819"/>
            <a:ext cx="11051540" cy="5371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>
              <a:lnSpc>
                <a:spcPct val="115000"/>
              </a:lnSpc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．</a:t>
            </a:r>
            <a:r>
              <a:rPr lang="en-US" altLang="zh-CN" sz="24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Rearrange the following Chinese words into sentences, using the English sentences as clues. </a:t>
            </a:r>
          </a:p>
          <a:p>
            <a:pPr marL="228600" lvl="0">
              <a:lnSpc>
                <a:spcPct val="115000"/>
              </a:lnSpc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228600" lvl="0">
              <a:lnSpc>
                <a:spcPct val="115000"/>
              </a:lnSpc>
              <a:defRPr/>
            </a:pPr>
            <a:r>
              <a:rPr lang="en-US" altLang="zh-CN" sz="24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     </a:t>
            </a:r>
            <a:r>
              <a:rPr lang="zh-CN" altLang="en-US" sz="24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zh-CN" sz="24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24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）什么	做	工作		你	妈妈</a:t>
            </a:r>
          </a:p>
          <a:p>
            <a:pPr marL="228600" lvl="0">
              <a:lnSpc>
                <a:spcPct val="115000"/>
              </a:lnSpc>
              <a:defRPr/>
            </a:pPr>
            <a:r>
              <a:rPr lang="zh-CN" altLang="en-US" sz="24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               </a:t>
            </a:r>
            <a:r>
              <a:rPr lang="en-US" altLang="zh-CN" sz="24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What does your mother do?</a:t>
            </a:r>
          </a:p>
          <a:p>
            <a:pPr marL="228600" lvl="0">
              <a:lnSpc>
                <a:spcPct val="115000"/>
              </a:lnSpc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          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你妈妈做什么工作？         </a:t>
            </a: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228600" lvl="0">
              <a:lnSpc>
                <a:spcPct val="115000"/>
              </a:lnSpc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 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</a:t>
            </a:r>
            <a:r>
              <a:rPr lang="zh-CN" altLang="en-US" sz="24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）他	妈妈	老师	是，妈妈	我	是	老师	也</a:t>
            </a:r>
          </a:p>
          <a:p>
            <a:pPr marL="228600" lvl="0">
              <a:lnSpc>
                <a:spcPct val="115000"/>
              </a:lnSpc>
              <a:defRPr/>
            </a:pPr>
            <a:r>
              <a:rPr lang="en-US" altLang="zh-CN" sz="24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               His mother is a teacher. My mother is a teacher, too.</a:t>
            </a:r>
          </a:p>
          <a:p>
            <a:pPr marL="228600" lvl="0">
              <a:lnSpc>
                <a:spcPct val="115000"/>
              </a:lnSpc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              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他妈妈是老师，我妈妈也是老师。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     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7376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查看源图像">
            <a:extLst>
              <a:ext uri="{FF2B5EF4-FFF2-40B4-BE49-F238E27FC236}">
                <a16:creationId xmlns:a16="http://schemas.microsoft.com/office/drawing/2014/main" id="{80C70D37-0FC3-4FD6-A24D-1C55634DF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9253" y="271774"/>
            <a:ext cx="2882747" cy="778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67A127B-A464-4CAB-80E4-534352DE3E2E}"/>
              </a:ext>
            </a:extLst>
          </p:cNvPr>
          <p:cNvSpPr txBox="1"/>
          <p:nvPr/>
        </p:nvSpPr>
        <p:spPr>
          <a:xfrm>
            <a:off x="539826" y="219240"/>
            <a:ext cx="928170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8D311F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二、其它训练 </a:t>
            </a: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rgbClr val="8D311F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IC additional exercise</a:t>
            </a:r>
            <a:endParaRPr kumimoji="0" lang="zh-CN" altLang="en-US" sz="5400" b="0" i="0" u="none" strike="noStrike" kern="1200" cap="none" spc="0" normalizeH="0" baseline="0" noProof="0" dirty="0">
              <a:ln>
                <a:noFill/>
              </a:ln>
              <a:solidFill>
                <a:srgbClr val="8D311F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6975808-E72A-4525-A7A6-FD8275D73759}"/>
              </a:ext>
            </a:extLst>
          </p:cNvPr>
          <p:cNvCxnSpPr>
            <a:cxnSpLocks/>
          </p:cNvCxnSpPr>
          <p:nvPr/>
        </p:nvCxnSpPr>
        <p:spPr>
          <a:xfrm>
            <a:off x="539826" y="1219200"/>
            <a:ext cx="8769427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7693112D-4309-4BF6-8E24-532DF73F7565}"/>
              </a:ext>
            </a:extLst>
          </p:cNvPr>
          <p:cNvSpPr/>
          <p:nvPr/>
        </p:nvSpPr>
        <p:spPr>
          <a:xfrm>
            <a:off x="-271704" y="1330919"/>
            <a:ext cx="1326372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kumimoji="0" lang="en-US" altLang="zh-CN" sz="36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Writing and grammar exercise-Part 2</a:t>
            </a:r>
            <a:endParaRPr kumimoji="0" lang="zh-CN" altLang="en-US" sz="36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572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endParaRPr kumimoji="0" lang="zh-CN" altLang="zh-CN" sz="12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AC0847D-94D8-47CF-9CEC-552FDC917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0ABB12-639F-4AE0-B8E5-5E21435B828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D840CB-35B2-495C-BD2D-D953408273CB}"/>
              </a:ext>
            </a:extLst>
          </p:cNvPr>
          <p:cNvSpPr/>
          <p:nvPr/>
        </p:nvSpPr>
        <p:spPr>
          <a:xfrm>
            <a:off x="539826" y="1838750"/>
            <a:ext cx="11935934" cy="615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>
              <a:lnSpc>
                <a:spcPct val="115000"/>
              </a:lnSpc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．</a:t>
            </a:r>
            <a:r>
              <a:rPr lang="zh-CN" altLang="en-US" sz="20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把下面的句子改为疑问句</a:t>
            </a:r>
          </a:p>
          <a:p>
            <a:pPr marL="228600" lvl="0">
              <a:lnSpc>
                <a:spcPct val="115000"/>
              </a:lnSpc>
              <a:defRPr/>
            </a:pPr>
            <a:r>
              <a:rPr lang="en-US" altLang="zh-CN" sz="20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Turn the following statements into questions.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228600" lvl="0">
              <a:lnSpc>
                <a:spcPct val="115000"/>
              </a:lnSpc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	</a:t>
            </a:r>
            <a:r>
              <a:rPr lang="zh-CN" altLang="en-US" sz="24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zh-CN" sz="24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zh-CN" altLang="en-US" sz="24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） 我家有四口人。</a:t>
            </a:r>
          </a:p>
          <a:p>
            <a:pPr marL="228600" lvl="0">
              <a:lnSpc>
                <a:spcPct val="115000"/>
              </a:lnSpc>
              <a:defRPr/>
            </a:pPr>
            <a:r>
              <a:rPr lang="zh-CN" altLang="en-US" sz="24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              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你家有几口人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?</a:t>
            </a:r>
            <a:endParaRPr lang="zh-CN" altLang="en-US" sz="2400" dirty="0">
              <a:solidFill>
                <a:srgbClr val="FF0000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228600" lvl="0">
              <a:lnSpc>
                <a:spcPct val="115000"/>
              </a:lnSpc>
              <a:defRPr/>
            </a:pPr>
            <a:r>
              <a:rPr lang="zh-CN" altLang="en-US" sz="24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    （</a:t>
            </a:r>
            <a:r>
              <a:rPr lang="en-US" altLang="zh-CN" sz="24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z="24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） 我大哥的女儿是律师。</a:t>
            </a:r>
          </a:p>
          <a:p>
            <a:pPr marL="228600" lvl="0">
              <a:lnSpc>
                <a:spcPct val="115000"/>
              </a:lnSpc>
              <a:defRPr/>
            </a:pPr>
            <a:r>
              <a:rPr lang="zh-CN" altLang="en-US" sz="24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             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你大哥的女儿做什么工作？</a:t>
            </a:r>
          </a:p>
          <a:p>
            <a:pPr marL="228600" lvl="0">
              <a:lnSpc>
                <a:spcPct val="115000"/>
              </a:lnSpc>
              <a:defRPr/>
            </a:pPr>
            <a:r>
              <a:rPr lang="zh-CN" altLang="en-US" sz="24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    （</a:t>
            </a:r>
            <a:r>
              <a:rPr lang="en-US" altLang="zh-CN" sz="24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zh-CN" altLang="en-US" sz="24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）我有两个弟弟。</a:t>
            </a:r>
          </a:p>
          <a:p>
            <a:pPr marL="228600" lvl="0">
              <a:lnSpc>
                <a:spcPct val="115000"/>
              </a:lnSpc>
              <a:defRPr/>
            </a:pPr>
            <a:r>
              <a:rPr lang="zh-CN" altLang="en-US" sz="24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             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你有弟弟吗？你有几个弟弟？我没有弟弟。</a:t>
            </a:r>
          </a:p>
          <a:p>
            <a:pPr marL="228600" lvl="0">
              <a:lnSpc>
                <a:spcPct val="115000"/>
              </a:lnSpc>
              <a:defRPr/>
            </a:pPr>
            <a:r>
              <a:rPr lang="zh-CN" altLang="en-US" sz="24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    （</a:t>
            </a:r>
            <a:r>
              <a:rPr lang="en-US" altLang="zh-CN" sz="24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</a:t>
            </a:r>
            <a:r>
              <a:rPr lang="zh-CN" altLang="en-US" sz="24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）他哥哥和姐姐都是医生。</a:t>
            </a:r>
          </a:p>
          <a:p>
            <a:pPr marL="228600" lvl="0">
              <a:lnSpc>
                <a:spcPct val="115000"/>
              </a:lnSpc>
              <a:defRPr/>
            </a:pPr>
            <a:r>
              <a:rPr lang="zh-CN" altLang="en-US" sz="24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             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他哥哥和姐姐做什么工作？他哥哥和姐姐都是医生吗？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9135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查看源图像">
            <a:extLst>
              <a:ext uri="{FF2B5EF4-FFF2-40B4-BE49-F238E27FC236}">
                <a16:creationId xmlns:a16="http://schemas.microsoft.com/office/drawing/2014/main" id="{80C70D37-0FC3-4FD6-A24D-1C55634DF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9253" y="271774"/>
            <a:ext cx="2882747" cy="778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67A127B-A464-4CAB-80E4-534352DE3E2E}"/>
              </a:ext>
            </a:extLst>
          </p:cNvPr>
          <p:cNvSpPr txBox="1"/>
          <p:nvPr/>
        </p:nvSpPr>
        <p:spPr>
          <a:xfrm>
            <a:off x="539826" y="219240"/>
            <a:ext cx="928170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8D311F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二、其它训练 </a:t>
            </a: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rgbClr val="8D311F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IC additional exercise</a:t>
            </a:r>
            <a:endParaRPr kumimoji="0" lang="zh-CN" altLang="en-US" sz="5400" b="0" i="0" u="none" strike="noStrike" kern="1200" cap="none" spc="0" normalizeH="0" baseline="0" noProof="0" dirty="0">
              <a:ln>
                <a:noFill/>
              </a:ln>
              <a:solidFill>
                <a:srgbClr val="8D311F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6975808-E72A-4525-A7A6-FD8275D73759}"/>
              </a:ext>
            </a:extLst>
          </p:cNvPr>
          <p:cNvCxnSpPr>
            <a:cxnSpLocks/>
          </p:cNvCxnSpPr>
          <p:nvPr/>
        </p:nvCxnSpPr>
        <p:spPr>
          <a:xfrm>
            <a:off x="539826" y="1219200"/>
            <a:ext cx="8769427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7693112D-4309-4BF6-8E24-532DF73F7565}"/>
              </a:ext>
            </a:extLst>
          </p:cNvPr>
          <p:cNvSpPr/>
          <p:nvPr/>
        </p:nvSpPr>
        <p:spPr>
          <a:xfrm>
            <a:off x="-271704" y="1330919"/>
            <a:ext cx="1326372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kumimoji="0" lang="en-US" altLang="zh-CN" sz="36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Translation exercise-Part 2</a:t>
            </a:r>
            <a:endParaRPr kumimoji="0" lang="zh-CN" altLang="en-US" sz="36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572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endParaRPr kumimoji="0" lang="zh-CN" altLang="zh-CN" sz="12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AC0847D-94D8-47CF-9CEC-552FDC917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0ABB12-639F-4AE0-B8E5-5E21435B828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D840CB-35B2-495C-BD2D-D953408273CB}"/>
              </a:ext>
            </a:extLst>
          </p:cNvPr>
          <p:cNvSpPr/>
          <p:nvPr/>
        </p:nvSpPr>
        <p:spPr>
          <a:xfrm>
            <a:off x="128033" y="2038081"/>
            <a:ext cx="11935934" cy="49466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There are six people in Bai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Ying’ai’s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family: her dad, her mom, an older brother, two younger sisters, and her. There are five people in Li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You’s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family: her dad, her mom, two older sisters, and her. Bai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Ying’ai’s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dad is a lawyer. Her mom is an English teacher. Her older brother and her younger sisters are all college students. Li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You’s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mom is also a teacher. Her dad is a doctor. How about you? How many people are there in your family?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11385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查看源图像">
            <a:extLst>
              <a:ext uri="{FF2B5EF4-FFF2-40B4-BE49-F238E27FC236}">
                <a16:creationId xmlns:a16="http://schemas.microsoft.com/office/drawing/2014/main" id="{80C70D37-0FC3-4FD6-A24D-1C55634DF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9253" y="271774"/>
            <a:ext cx="2882747" cy="778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67A127B-A464-4CAB-80E4-534352DE3E2E}"/>
              </a:ext>
            </a:extLst>
          </p:cNvPr>
          <p:cNvSpPr txBox="1"/>
          <p:nvPr/>
        </p:nvSpPr>
        <p:spPr>
          <a:xfrm>
            <a:off x="539826" y="219240"/>
            <a:ext cx="928170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8D311F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二、其它训练 </a:t>
            </a: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rgbClr val="8D311F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IC additional exercise</a:t>
            </a:r>
            <a:endParaRPr kumimoji="0" lang="zh-CN" altLang="en-US" sz="5400" b="0" i="0" u="none" strike="noStrike" kern="1200" cap="none" spc="0" normalizeH="0" baseline="0" noProof="0" dirty="0">
              <a:ln>
                <a:noFill/>
              </a:ln>
              <a:solidFill>
                <a:srgbClr val="8D311F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6975808-E72A-4525-A7A6-FD8275D73759}"/>
              </a:ext>
            </a:extLst>
          </p:cNvPr>
          <p:cNvCxnSpPr>
            <a:cxnSpLocks/>
          </p:cNvCxnSpPr>
          <p:nvPr/>
        </p:nvCxnSpPr>
        <p:spPr>
          <a:xfrm>
            <a:off x="539826" y="1219200"/>
            <a:ext cx="8769427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7693112D-4309-4BF6-8E24-532DF73F7565}"/>
              </a:ext>
            </a:extLst>
          </p:cNvPr>
          <p:cNvSpPr/>
          <p:nvPr/>
        </p:nvSpPr>
        <p:spPr>
          <a:xfrm>
            <a:off x="-271704" y="1330919"/>
            <a:ext cx="1326372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kumimoji="0" lang="en-US" altLang="zh-CN" sz="36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Translation exercise-Part 2</a:t>
            </a:r>
            <a:endParaRPr kumimoji="0" lang="zh-CN" altLang="en-US" sz="36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572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endParaRPr kumimoji="0" lang="zh-CN" altLang="zh-CN" sz="12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AC0847D-94D8-47CF-9CEC-552FDC917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0ABB12-639F-4AE0-B8E5-5E21435B828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D840CB-35B2-495C-BD2D-D953408273CB}"/>
              </a:ext>
            </a:extLst>
          </p:cNvPr>
          <p:cNvSpPr/>
          <p:nvPr/>
        </p:nvSpPr>
        <p:spPr>
          <a:xfrm>
            <a:off x="1007912" y="2883318"/>
            <a:ext cx="9742714" cy="2115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白英爱家有六口人：爸爸、妈妈、一个哥哥、两个妹妹和她。李友家有五口人：爸爸、妈妈、两个妹妹和她。白英爱的爸爸是律師，妈妈是英文老師，哥哥、妹妹都是大学生。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李友的妈妈也是老師，爸爸是医生。你呢，你家有几口人？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90809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查看源图像">
            <a:extLst>
              <a:ext uri="{FF2B5EF4-FFF2-40B4-BE49-F238E27FC236}">
                <a16:creationId xmlns:a16="http://schemas.microsoft.com/office/drawing/2014/main" id="{80C70D37-0FC3-4FD6-A24D-1C55634DF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9253" y="271774"/>
            <a:ext cx="2882747" cy="778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67A127B-A464-4CAB-80E4-534352DE3E2E}"/>
              </a:ext>
            </a:extLst>
          </p:cNvPr>
          <p:cNvSpPr txBox="1"/>
          <p:nvPr/>
        </p:nvSpPr>
        <p:spPr>
          <a:xfrm>
            <a:off x="539826" y="219240"/>
            <a:ext cx="795224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8D311F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三、练习册 </a:t>
            </a: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rgbClr val="8D311F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Workbook exercise</a:t>
            </a:r>
            <a:endParaRPr kumimoji="0" lang="zh-CN" altLang="en-US" sz="5400" b="0" i="0" u="none" strike="noStrike" kern="1200" cap="none" spc="0" normalizeH="0" baseline="0" noProof="0" dirty="0">
              <a:ln>
                <a:noFill/>
              </a:ln>
              <a:solidFill>
                <a:srgbClr val="8D311F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6975808-E72A-4525-A7A6-FD8275D73759}"/>
              </a:ext>
            </a:extLst>
          </p:cNvPr>
          <p:cNvCxnSpPr>
            <a:cxnSpLocks/>
          </p:cNvCxnSpPr>
          <p:nvPr/>
        </p:nvCxnSpPr>
        <p:spPr>
          <a:xfrm>
            <a:off x="539826" y="1219200"/>
            <a:ext cx="8769427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7693112D-4309-4BF6-8E24-532DF73F7565}"/>
              </a:ext>
            </a:extLst>
          </p:cNvPr>
          <p:cNvSpPr/>
          <p:nvPr/>
        </p:nvSpPr>
        <p:spPr>
          <a:xfrm>
            <a:off x="-271704" y="1330919"/>
            <a:ext cx="1326372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kumimoji="0" lang="en-US" altLang="zh-CN" sz="36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Writing and grammar exercise-Part 2</a:t>
            </a:r>
            <a:endParaRPr kumimoji="0" lang="zh-CN" altLang="en-US" sz="36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572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endParaRPr kumimoji="0" lang="zh-CN" altLang="zh-CN" sz="12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AC0847D-94D8-47CF-9CEC-552FDC917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0ABB12-639F-4AE0-B8E5-5E21435B828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D840CB-35B2-495C-BD2D-D953408273CB}"/>
              </a:ext>
            </a:extLst>
          </p:cNvPr>
          <p:cNvSpPr/>
          <p:nvPr/>
        </p:nvSpPr>
        <p:spPr>
          <a:xfrm>
            <a:off x="137414" y="2117561"/>
            <a:ext cx="12054586" cy="50882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marR="0" lvl="0" indent="-4572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UcPeriod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Answer the following questions about your siblings in complete sentences, using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有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or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没有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. If the answer is affirmative, state how many siblings you have.(INTERPERSONAL)</a:t>
            </a:r>
          </a:p>
          <a:p>
            <a:pPr marL="228600" marR="0" lvl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228600" marR="0" lvl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  EXAMPLES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：你有哥哥吗？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B: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我没有哥哥。</a:t>
            </a:r>
          </a:p>
          <a:p>
            <a:pPr marL="228600" marR="0" lvl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  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：你有哥哥吗？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A: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我有两个哥哥。</a:t>
            </a:r>
          </a:p>
          <a:p>
            <a:pPr marL="228600" marR="0" lvl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  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：你有哥哥吗？	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B: </a:t>
            </a:r>
            <a:r>
              <a:rPr kumimoji="0" lang="en-US" altLang="zh-CN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    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。</a:t>
            </a:r>
          </a:p>
          <a:p>
            <a:pPr marL="228600" lvl="0">
              <a:lnSpc>
                <a:spcPct val="115000"/>
              </a:lnSpc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  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：你有姐姐吗？	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B</a:t>
            </a:r>
            <a:r>
              <a:rPr lang="en-US" altLang="zh-CN" sz="24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: </a:t>
            </a:r>
            <a:r>
              <a:rPr lang="en-US" altLang="zh-CN" sz="2400" u="sng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           </a:t>
            </a:r>
            <a:r>
              <a:rPr lang="en-US" altLang="zh-CN" sz="2400" dirty="0">
                <a:solidFill>
                  <a:prstClr val="black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。</a:t>
            </a:r>
          </a:p>
          <a:p>
            <a:pPr marL="228600" marR="0" lvl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  3.   A: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你有弟弟吗？	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B: </a:t>
            </a:r>
            <a:r>
              <a:rPr kumimoji="0" lang="en-US" altLang="zh-CN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    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。</a:t>
            </a:r>
          </a:p>
          <a:p>
            <a:pPr marL="228600" marR="0" lvl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  4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：你有妹妹吗？	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B: </a:t>
            </a:r>
            <a:r>
              <a:rPr kumimoji="0" lang="en-US" altLang="zh-CN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    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。</a:t>
            </a:r>
          </a:p>
          <a:p>
            <a:pPr marL="228600" marR="0" lvl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232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查看源图像">
            <a:extLst>
              <a:ext uri="{FF2B5EF4-FFF2-40B4-BE49-F238E27FC236}">
                <a16:creationId xmlns:a16="http://schemas.microsoft.com/office/drawing/2014/main" id="{80C70D37-0FC3-4FD6-A24D-1C55634DF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9253" y="271774"/>
            <a:ext cx="2882747" cy="778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67A127B-A464-4CAB-80E4-534352DE3E2E}"/>
              </a:ext>
            </a:extLst>
          </p:cNvPr>
          <p:cNvSpPr txBox="1"/>
          <p:nvPr/>
        </p:nvSpPr>
        <p:spPr>
          <a:xfrm>
            <a:off x="539826" y="219240"/>
            <a:ext cx="795224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8D311F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三、练习册 </a:t>
            </a: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rgbClr val="8D311F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Workbook exercise</a:t>
            </a:r>
            <a:endParaRPr kumimoji="0" lang="zh-CN" altLang="en-US" sz="5400" b="0" i="0" u="none" strike="noStrike" kern="1200" cap="none" spc="0" normalizeH="0" baseline="0" noProof="0" dirty="0">
              <a:ln>
                <a:noFill/>
              </a:ln>
              <a:solidFill>
                <a:srgbClr val="8D311F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6975808-E72A-4525-A7A6-FD8275D73759}"/>
              </a:ext>
            </a:extLst>
          </p:cNvPr>
          <p:cNvCxnSpPr>
            <a:cxnSpLocks/>
          </p:cNvCxnSpPr>
          <p:nvPr/>
        </p:nvCxnSpPr>
        <p:spPr>
          <a:xfrm>
            <a:off x="539826" y="1219200"/>
            <a:ext cx="8769427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7693112D-4309-4BF6-8E24-532DF73F7565}"/>
              </a:ext>
            </a:extLst>
          </p:cNvPr>
          <p:cNvSpPr/>
          <p:nvPr/>
        </p:nvSpPr>
        <p:spPr>
          <a:xfrm>
            <a:off x="-271704" y="1330919"/>
            <a:ext cx="1326372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kumimoji="0" lang="en-US" altLang="zh-CN" sz="36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Writing and grammar exercise-Part 2</a:t>
            </a:r>
            <a:endParaRPr kumimoji="0" lang="zh-CN" altLang="en-US" sz="36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572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endParaRPr kumimoji="0" lang="zh-CN" altLang="zh-CN" sz="12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AC0847D-94D8-47CF-9CEC-552FDC917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0ABB12-639F-4AE0-B8E5-5E21435B828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D840CB-35B2-495C-BD2D-D953408273CB}"/>
              </a:ext>
            </a:extLst>
          </p:cNvPr>
          <p:cNvSpPr/>
          <p:nvPr/>
        </p:nvSpPr>
        <p:spPr>
          <a:xfrm>
            <a:off x="137414" y="2117561"/>
            <a:ext cx="12054586" cy="423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marR="0" lvl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B. Rewrite the following sentences using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都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.</a:t>
            </a:r>
          </a:p>
          <a:p>
            <a:pPr marL="228600" marR="0" lvl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EXAMPLES: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小高是学生，王朋也是学生。→小高和王朋都是学生。</a:t>
            </a:r>
          </a:p>
          <a:p>
            <a:pPr marL="228600" marR="0" lvl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228600" marR="0" lvl="0" indent="4320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．高文中有姐姐，李友也有姐姐。</a:t>
            </a:r>
          </a:p>
          <a:p>
            <a:pPr marL="228600" marR="0" lvl="0" indent="4320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．那个男孩子姓李，那个女孩子也姓李。</a:t>
            </a:r>
          </a:p>
          <a:p>
            <a:pPr marL="228600" marR="0" lvl="0" indent="4320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．李友没有我的照片，王朋也没有我的照片。</a:t>
            </a:r>
          </a:p>
          <a:p>
            <a:pPr marL="228600" marR="0" lvl="0" indent="4320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．她哥哥不是律师，她弟弟也不是律师。</a:t>
            </a:r>
          </a:p>
          <a:p>
            <a:pPr marL="228600" marR="0" lvl="0" indent="4320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5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．这个人不叫白英爱，那个人也不叫白英爱。</a:t>
            </a:r>
          </a:p>
          <a:p>
            <a:pPr marL="228600" marR="0" lvl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B121D9-0316-4746-AF24-C7525B139CB2}"/>
              </a:ext>
            </a:extLst>
          </p:cNvPr>
          <p:cNvSpPr/>
          <p:nvPr/>
        </p:nvSpPr>
        <p:spPr>
          <a:xfrm>
            <a:off x="6555124" y="3429000"/>
            <a:ext cx="35702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高文忠和李友都有姐姐。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A24D079-BCD5-42E8-8422-895001C4046F}"/>
              </a:ext>
            </a:extLst>
          </p:cNvPr>
          <p:cNvSpPr/>
          <p:nvPr/>
        </p:nvSpPr>
        <p:spPr>
          <a:xfrm>
            <a:off x="6555124" y="3889800"/>
            <a:ext cx="48013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那个男孩子和那个女孩子都姓李。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F87C52E-248B-47F2-AD0D-7771B437095E}"/>
              </a:ext>
            </a:extLst>
          </p:cNvPr>
          <p:cNvSpPr/>
          <p:nvPr/>
        </p:nvSpPr>
        <p:spPr>
          <a:xfrm>
            <a:off x="6972905" y="4303195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李友和王朋都没有我的照片。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7E3593B-3A90-4F7A-9153-767B13639958}"/>
              </a:ext>
            </a:extLst>
          </p:cNvPr>
          <p:cNvSpPr/>
          <p:nvPr/>
        </p:nvSpPr>
        <p:spPr>
          <a:xfrm>
            <a:off x="6972905" y="4763995"/>
            <a:ext cx="41857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她哥哥和她弟弟都不是律师。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C568729-C0BD-4B11-A1F1-C1B9B7C1496F}"/>
              </a:ext>
            </a:extLst>
          </p:cNvPr>
          <p:cNvSpPr/>
          <p:nvPr/>
        </p:nvSpPr>
        <p:spPr>
          <a:xfrm>
            <a:off x="7168039" y="5138107"/>
            <a:ext cx="44935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这个人和那个人都不叫白英爱。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5044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2" grpId="0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查看源图像">
            <a:extLst>
              <a:ext uri="{FF2B5EF4-FFF2-40B4-BE49-F238E27FC236}">
                <a16:creationId xmlns:a16="http://schemas.microsoft.com/office/drawing/2014/main" id="{80C70D37-0FC3-4FD6-A24D-1C55634DF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9253" y="271774"/>
            <a:ext cx="2882747" cy="778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67A127B-A464-4CAB-80E4-534352DE3E2E}"/>
              </a:ext>
            </a:extLst>
          </p:cNvPr>
          <p:cNvSpPr txBox="1"/>
          <p:nvPr/>
        </p:nvSpPr>
        <p:spPr>
          <a:xfrm>
            <a:off x="539826" y="219240"/>
            <a:ext cx="795224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8D311F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三、练习册 </a:t>
            </a: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rgbClr val="8D311F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Workbook exercise</a:t>
            </a:r>
            <a:endParaRPr kumimoji="0" lang="zh-CN" altLang="en-US" sz="5400" b="0" i="0" u="none" strike="noStrike" kern="1200" cap="none" spc="0" normalizeH="0" baseline="0" noProof="0" dirty="0">
              <a:ln>
                <a:noFill/>
              </a:ln>
              <a:solidFill>
                <a:srgbClr val="8D311F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6975808-E72A-4525-A7A6-FD8275D73759}"/>
              </a:ext>
            </a:extLst>
          </p:cNvPr>
          <p:cNvCxnSpPr>
            <a:cxnSpLocks/>
          </p:cNvCxnSpPr>
          <p:nvPr/>
        </p:nvCxnSpPr>
        <p:spPr>
          <a:xfrm>
            <a:off x="539826" y="1219200"/>
            <a:ext cx="8769427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7693112D-4309-4BF6-8E24-532DF73F7565}"/>
              </a:ext>
            </a:extLst>
          </p:cNvPr>
          <p:cNvSpPr/>
          <p:nvPr/>
        </p:nvSpPr>
        <p:spPr>
          <a:xfrm>
            <a:off x="-271704" y="1330919"/>
            <a:ext cx="1326372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572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r>
              <a:rPr kumimoji="0" lang="en-US" altLang="zh-CN" sz="36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Writing and grammar exercise-Part 2</a:t>
            </a:r>
            <a:endParaRPr kumimoji="0" lang="zh-CN" altLang="en-US" sz="3600" b="0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8572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>
                <a:tab pos="2146300" algn="l"/>
              </a:tabLst>
              <a:defRPr/>
            </a:pPr>
            <a:endParaRPr kumimoji="0" lang="zh-CN" altLang="zh-CN" sz="12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AC0847D-94D8-47CF-9CEC-552FDC917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0ABB12-639F-4AE0-B8E5-5E21435B828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D840CB-35B2-495C-BD2D-D953408273CB}"/>
              </a:ext>
            </a:extLst>
          </p:cNvPr>
          <p:cNvSpPr/>
          <p:nvPr/>
        </p:nvSpPr>
        <p:spPr>
          <a:xfrm>
            <a:off x="137414" y="2117561"/>
            <a:ext cx="12054586" cy="3389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marR="0" lvl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C. Fill in the blanks with the appropriate question words.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（什么、谁、谁的、几）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228600" marR="0" lvl="0" indent="4320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228600" marR="0" lvl="0" indent="4320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：他妹妹叫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______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名字？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：他妹妹叫高美美。</a:t>
            </a:r>
          </a:p>
          <a:p>
            <a:pPr marL="228600" marR="0" lvl="0" indent="4320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2.   A: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李老师家有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______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口人？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B: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他家有三口人。</a:t>
            </a:r>
          </a:p>
          <a:p>
            <a:pPr marL="228600" marR="0" lvl="0" indent="4320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：他爸爸做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______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工作？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：他爸爸是医生。</a:t>
            </a:r>
          </a:p>
          <a:p>
            <a:pPr marL="228600" marR="0" lvl="0" indent="4320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：那个美国人是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______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？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：他叫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David Smith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，是我的老师。</a:t>
            </a:r>
          </a:p>
          <a:p>
            <a:pPr marL="228600" marR="0" lvl="0" indent="43200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5.   A: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那是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______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照片？      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：那是白律师的照片。</a:t>
            </a:r>
          </a:p>
          <a:p>
            <a:pPr marL="22860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46A3969-E713-48CC-890F-A6C8A403BC81}"/>
              </a:ext>
            </a:extLst>
          </p:cNvPr>
          <p:cNvSpPr/>
          <p:nvPr/>
        </p:nvSpPr>
        <p:spPr>
          <a:xfrm>
            <a:off x="3267393" y="2967335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什么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B8468F-167C-41CC-9FAA-666FEEC44F11}"/>
              </a:ext>
            </a:extLst>
          </p:cNvPr>
          <p:cNvSpPr/>
          <p:nvPr/>
        </p:nvSpPr>
        <p:spPr>
          <a:xfrm>
            <a:off x="3421280" y="3429000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几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1821307-AD60-41B8-9AE0-164FA2641083}"/>
              </a:ext>
            </a:extLst>
          </p:cNvPr>
          <p:cNvSpPr/>
          <p:nvPr/>
        </p:nvSpPr>
        <p:spPr>
          <a:xfrm>
            <a:off x="3235519" y="3818920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什么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789FDFE-C6CE-4834-A4FD-0852C0CC6D40}"/>
              </a:ext>
            </a:extLst>
          </p:cNvPr>
          <p:cNvSpPr/>
          <p:nvPr/>
        </p:nvSpPr>
        <p:spPr>
          <a:xfrm>
            <a:off x="3715728" y="4237111"/>
            <a:ext cx="4924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谁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A65ADBF-6C89-490D-8BA1-3B34E3861976}"/>
              </a:ext>
            </a:extLst>
          </p:cNvPr>
          <p:cNvSpPr/>
          <p:nvPr/>
        </p:nvSpPr>
        <p:spPr>
          <a:xfrm flipH="1">
            <a:off x="2517169" y="4677307"/>
            <a:ext cx="13509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谁的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4408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2" grpId="0"/>
      <p:bldP spid="13" grpId="0"/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查看源图像">
            <a:extLst>
              <a:ext uri="{FF2B5EF4-FFF2-40B4-BE49-F238E27FC236}">
                <a16:creationId xmlns:a16="http://schemas.microsoft.com/office/drawing/2014/main" id="{7539C4B1-9F9F-4F87-BFF2-93C7DD3F73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6000" contrast="-3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88136"/>
            <a:ext cx="12192000" cy="6946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255D727-DD4B-4BBE-99F3-45C05A213674}"/>
              </a:ext>
            </a:extLst>
          </p:cNvPr>
          <p:cNvSpPr txBox="1"/>
          <p:nvPr/>
        </p:nvSpPr>
        <p:spPr>
          <a:xfrm>
            <a:off x="1677612" y="201586"/>
            <a:ext cx="20313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下课！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640AE98-8968-4FD1-8195-70FBD9886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0ABB12-639F-4AE0-B8E5-5E21435B828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784382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2020</Words>
  <Application>Microsoft Office PowerPoint</Application>
  <PresentationFormat>宽屏</PresentationFormat>
  <Paragraphs>331</Paragraphs>
  <Slides>21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DengXian</vt:lpstr>
      <vt:lpstr>DengXian</vt:lpstr>
      <vt:lpstr>等线 Light</vt:lpstr>
      <vt:lpstr>方正舒体</vt:lpstr>
      <vt:lpstr>华文新魏</vt:lpstr>
      <vt:lpstr>楷体</vt:lpstr>
      <vt:lpstr>宋体</vt:lpstr>
      <vt:lpstr>Arial</vt:lpstr>
      <vt:lpstr>Times New Roman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思思 袁</dc:creator>
  <cp:lastModifiedBy>Engui Zhao</cp:lastModifiedBy>
  <cp:revision>113</cp:revision>
  <dcterms:created xsi:type="dcterms:W3CDTF">2023-10-19T07:16:00Z</dcterms:created>
  <dcterms:modified xsi:type="dcterms:W3CDTF">2024-10-30T05:31:35Z</dcterms:modified>
</cp:coreProperties>
</file>